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3fe7414ef44b0" /><Relationship Type="http://schemas.openxmlformats.org/officeDocument/2006/relationships/extended-properties" Target="/docProps/app.xml" Id="R2adcc20a3d7d4a0d" /><Relationship Type="http://schemas.openxmlformats.org/officeDocument/2006/relationships/officeDocument" Target="/ppt/presentation.xml" Id="Rb543fba5dee4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e2b0290d641f9"/>
  </p:sldMasterIdLst>
  <p:notesMasterIdLst>
    <p:notesMasterId xmlns:r="http://schemas.openxmlformats.org/officeDocument/2006/relationships" r:id="R51465e86a21f4b4a"/>
  </p:notesMasterIdLst>
  <p:sldIdLst>
    <p:sldId xmlns:r="http://schemas.openxmlformats.org/officeDocument/2006/relationships" id="256" r:id="R60b66e363d5442b5"/>
    <p:sldId xmlns:r="http://schemas.openxmlformats.org/officeDocument/2006/relationships" id="257" r:id="Ra0300fde48004997"/>
    <p:sldId xmlns:r="http://schemas.openxmlformats.org/officeDocument/2006/relationships" id="258" r:id="R22d33a4d0f474ebd"/>
    <p:sldId xmlns:r="http://schemas.openxmlformats.org/officeDocument/2006/relationships" id="259" r:id="Ra680fd7ef3ba4c8f"/>
    <p:sldId xmlns:r="http://schemas.openxmlformats.org/officeDocument/2006/relationships" id="260" r:id="Rad23d2dcb19d4735"/>
    <p:sldId xmlns:r="http://schemas.openxmlformats.org/officeDocument/2006/relationships" id="261" r:id="R4df481f0136d46c4"/>
    <p:sldId xmlns:r="http://schemas.openxmlformats.org/officeDocument/2006/relationships" id="262" r:id="Rff588a6581554c41"/>
    <p:sldId xmlns:r="http://schemas.openxmlformats.org/officeDocument/2006/relationships" id="263" r:id="Rb4a71b8f8dcc44af"/>
    <p:sldId xmlns:r="http://schemas.openxmlformats.org/officeDocument/2006/relationships" id="264" r:id="R23376ce8e2f44ccd"/>
    <p:sldId xmlns:r="http://schemas.openxmlformats.org/officeDocument/2006/relationships" id="265" r:id="Rbae72b025feb4e7d"/>
    <p:sldId xmlns:r="http://schemas.openxmlformats.org/officeDocument/2006/relationships" id="266" r:id="R0781c173359c4ac8"/>
    <p:sldId xmlns:r="http://schemas.openxmlformats.org/officeDocument/2006/relationships" id="267" r:id="Rb4e85fe6f05247c3"/>
    <p:sldId xmlns:r="http://schemas.openxmlformats.org/officeDocument/2006/relationships" id="268" r:id="R5b4a7aeba37a4f25"/>
    <p:sldId xmlns:r="http://schemas.openxmlformats.org/officeDocument/2006/relationships" id="269" r:id="R8da0a7b3677041ae"/>
    <p:sldId xmlns:r="http://schemas.openxmlformats.org/officeDocument/2006/relationships" id="270" r:id="R35c90b28270d480b"/>
    <p:sldId xmlns:r="http://schemas.openxmlformats.org/officeDocument/2006/relationships" id="271" r:id="R8208341f7923456e"/>
    <p:sldId xmlns:r="http://schemas.openxmlformats.org/officeDocument/2006/relationships" id="272" r:id="Rfd020ddd4c9f423e"/>
    <p:sldId xmlns:r="http://schemas.openxmlformats.org/officeDocument/2006/relationships" id="273" r:id="R12c492f26a074fbe"/>
    <p:sldId xmlns:r="http://schemas.openxmlformats.org/officeDocument/2006/relationships" id="274" r:id="Ree026299a45e4331"/>
    <p:sldId xmlns:r="http://schemas.openxmlformats.org/officeDocument/2006/relationships" id="275" r:id="Rbdf45d5d0e4649fe"/>
    <p:sldId xmlns:r="http://schemas.openxmlformats.org/officeDocument/2006/relationships" id="276" r:id="R29dc1dbd17df4f33"/>
    <p:sldId xmlns:r="http://schemas.openxmlformats.org/officeDocument/2006/relationships" id="277" r:id="R7b4bf8e9db384001"/>
    <p:sldId xmlns:r="http://schemas.openxmlformats.org/officeDocument/2006/relationships" id="278" r:id="R2361975668874dfd"/>
    <p:sldId xmlns:r="http://schemas.openxmlformats.org/officeDocument/2006/relationships" id="279" r:id="Re029069db60f4eef"/>
    <p:sldId xmlns:r="http://schemas.openxmlformats.org/officeDocument/2006/relationships" id="280" r:id="R8e36fbdf2ea8426b"/>
    <p:sldId xmlns:r="http://schemas.openxmlformats.org/officeDocument/2006/relationships" id="281" r:id="R6d746fe1598a4eb4"/>
    <p:sldId xmlns:r="http://schemas.openxmlformats.org/officeDocument/2006/relationships" id="282" r:id="Rcc40da2d203d42e7"/>
    <p:sldId xmlns:r="http://schemas.openxmlformats.org/officeDocument/2006/relationships" id="283" r:id="R64402f93ab014179"/>
    <p:sldId xmlns:r="http://schemas.openxmlformats.org/officeDocument/2006/relationships" id="284" r:id="R7f5980fe96d84836"/>
    <p:sldId xmlns:r="http://schemas.openxmlformats.org/officeDocument/2006/relationships" id="285" r:id="R6edcad3c83b14d77"/>
    <p:sldId xmlns:r="http://schemas.openxmlformats.org/officeDocument/2006/relationships" id="286" r:id="R932bffa392434d87"/>
    <p:sldId xmlns:r="http://schemas.openxmlformats.org/officeDocument/2006/relationships" id="287" r:id="R16365e4e00e54d1d"/>
    <p:sldId xmlns:r="http://schemas.openxmlformats.org/officeDocument/2006/relationships" id="288" r:id="R0663460ac78d486c"/>
    <p:sldId xmlns:r="http://schemas.openxmlformats.org/officeDocument/2006/relationships" id="289" r:id="R03229307c3304eaa"/>
    <p:sldId xmlns:r="http://schemas.openxmlformats.org/officeDocument/2006/relationships" id="290" r:id="R530e1d184a844c68"/>
    <p:sldId xmlns:r="http://schemas.openxmlformats.org/officeDocument/2006/relationships" id="291" r:id="R87230857de304bb0"/>
    <p:sldId xmlns:r="http://schemas.openxmlformats.org/officeDocument/2006/relationships" id="292" r:id="Ra078afc436044b48"/>
    <p:sldId xmlns:r="http://schemas.openxmlformats.org/officeDocument/2006/relationships" id="293" r:id="R39b9364389214b32"/>
    <p:sldId xmlns:r="http://schemas.openxmlformats.org/officeDocument/2006/relationships" id="294" r:id="R106b47ad98434650"/>
    <p:sldId xmlns:r="http://schemas.openxmlformats.org/officeDocument/2006/relationships" id="295" r:id="R4070e78a53a64fd7"/>
    <p:sldId xmlns:r="http://schemas.openxmlformats.org/officeDocument/2006/relationships" id="296" r:id="R503194fa05d04722"/>
    <p:sldId xmlns:r="http://schemas.openxmlformats.org/officeDocument/2006/relationships" id="297" r:id="R983ffb2c43e0442b"/>
    <p:sldId xmlns:r="http://schemas.openxmlformats.org/officeDocument/2006/relationships" id="298" r:id="R292232e131444a01"/>
    <p:sldId xmlns:r="http://schemas.openxmlformats.org/officeDocument/2006/relationships" id="299" r:id="Rc32010b33a9a47cc"/>
    <p:sldId xmlns:r="http://schemas.openxmlformats.org/officeDocument/2006/relationships" id="300" r:id="R3431d7a2253c4a5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e2b0290d641f9" /><Relationship Type="http://schemas.openxmlformats.org/officeDocument/2006/relationships/theme" Target="/ppt/theme/theme1.xml" Id="R46b9ae1ca4fb47e2" /><Relationship Type="http://schemas.openxmlformats.org/officeDocument/2006/relationships/notesMaster" Target="/ppt/notesMasters/notesMaster1.xml" Id="R51465e86a21f4b4a" /><Relationship Type="http://schemas.openxmlformats.org/officeDocument/2006/relationships/presProps" Target="/ppt/presProps.xml" Id="R1c9ef6f4966c43d0" /><Relationship Type="http://schemas.openxmlformats.org/officeDocument/2006/relationships/viewProps" Target="/ppt/viewProps.xml" Id="Rbbcb1ca775964391" /><Relationship Type="http://schemas.openxmlformats.org/officeDocument/2006/relationships/tableStyles" Target="/ppt/tableStyles.xml" Id="R58501d2df23c4c59" /><Relationship Type="http://schemas.openxmlformats.org/officeDocument/2006/relationships/slide" Target="/ppt/slides/slide1.xml" Id="R60b66e363d5442b5" /><Relationship Type="http://schemas.openxmlformats.org/officeDocument/2006/relationships/slide" Target="/ppt/slides/slide2.xml" Id="Ra0300fde48004997" /><Relationship Type="http://schemas.openxmlformats.org/officeDocument/2006/relationships/slide" Target="/ppt/slides/slide3.xml" Id="R22d33a4d0f474ebd" /><Relationship Type="http://schemas.openxmlformats.org/officeDocument/2006/relationships/slide" Target="/ppt/slides/slide4.xml" Id="Ra680fd7ef3ba4c8f" /><Relationship Type="http://schemas.openxmlformats.org/officeDocument/2006/relationships/slide" Target="/ppt/slides/slide5.xml" Id="Rad23d2dcb19d4735" /><Relationship Type="http://schemas.openxmlformats.org/officeDocument/2006/relationships/slide" Target="/ppt/slides/slide6.xml" Id="R4df481f0136d46c4" /><Relationship Type="http://schemas.openxmlformats.org/officeDocument/2006/relationships/slide" Target="/ppt/slides/slide7.xml" Id="Rff588a6581554c41" /><Relationship Type="http://schemas.openxmlformats.org/officeDocument/2006/relationships/slide" Target="/ppt/slides/slide8.xml" Id="Rb4a71b8f8dcc44af" /><Relationship Type="http://schemas.openxmlformats.org/officeDocument/2006/relationships/slide" Target="/ppt/slides/slide9.xml" Id="R23376ce8e2f44ccd" /><Relationship Type="http://schemas.openxmlformats.org/officeDocument/2006/relationships/slide" Target="/ppt/slides/slide10.xml" Id="Rbae72b025feb4e7d" /><Relationship Type="http://schemas.openxmlformats.org/officeDocument/2006/relationships/slide" Target="/ppt/slides/slide11.xml" Id="R0781c173359c4ac8" /><Relationship Type="http://schemas.openxmlformats.org/officeDocument/2006/relationships/slide" Target="/ppt/slides/slide12.xml" Id="Rb4e85fe6f05247c3" /><Relationship Type="http://schemas.openxmlformats.org/officeDocument/2006/relationships/slide" Target="/ppt/slides/slide13.xml" Id="R5b4a7aeba37a4f25" /><Relationship Type="http://schemas.openxmlformats.org/officeDocument/2006/relationships/slide" Target="/ppt/slides/slide14.xml" Id="R8da0a7b3677041ae" /><Relationship Type="http://schemas.openxmlformats.org/officeDocument/2006/relationships/slide" Target="/ppt/slides/slide15.xml" Id="R35c90b28270d480b" /><Relationship Type="http://schemas.openxmlformats.org/officeDocument/2006/relationships/slide" Target="/ppt/slides/slide16.xml" Id="R8208341f7923456e" /><Relationship Type="http://schemas.openxmlformats.org/officeDocument/2006/relationships/slide" Target="/ppt/slides/slide17.xml" Id="Rfd020ddd4c9f423e" /><Relationship Type="http://schemas.openxmlformats.org/officeDocument/2006/relationships/slide" Target="/ppt/slides/slide18.xml" Id="R12c492f26a074fbe" /><Relationship Type="http://schemas.openxmlformats.org/officeDocument/2006/relationships/slide" Target="/ppt/slides/slide19.xml" Id="Ree026299a45e4331" /><Relationship Type="http://schemas.openxmlformats.org/officeDocument/2006/relationships/slide" Target="/ppt/slides/slide20.xml" Id="Rbdf45d5d0e4649fe" /><Relationship Type="http://schemas.openxmlformats.org/officeDocument/2006/relationships/slide" Target="/ppt/slides/slide21.xml" Id="R29dc1dbd17df4f33" /><Relationship Type="http://schemas.openxmlformats.org/officeDocument/2006/relationships/slide" Target="/ppt/slides/slide22.xml" Id="R7b4bf8e9db384001" /><Relationship Type="http://schemas.openxmlformats.org/officeDocument/2006/relationships/slide" Target="/ppt/slides/slide23.xml" Id="R2361975668874dfd" /><Relationship Type="http://schemas.openxmlformats.org/officeDocument/2006/relationships/slide" Target="/ppt/slides/slide24.xml" Id="Re029069db60f4eef" /><Relationship Type="http://schemas.openxmlformats.org/officeDocument/2006/relationships/slide" Target="/ppt/slides/slide25.xml" Id="R8e36fbdf2ea8426b" /><Relationship Type="http://schemas.openxmlformats.org/officeDocument/2006/relationships/slide" Target="/ppt/slides/slide26.xml" Id="R6d746fe1598a4eb4" /><Relationship Type="http://schemas.openxmlformats.org/officeDocument/2006/relationships/slide" Target="/ppt/slides/slide27.xml" Id="Rcc40da2d203d42e7" /><Relationship Type="http://schemas.openxmlformats.org/officeDocument/2006/relationships/slide" Target="/ppt/slides/slide28.xml" Id="R64402f93ab014179" /><Relationship Type="http://schemas.openxmlformats.org/officeDocument/2006/relationships/slide" Target="/ppt/slides/slide29.xml" Id="R7f5980fe96d84836" /><Relationship Type="http://schemas.openxmlformats.org/officeDocument/2006/relationships/slide" Target="/ppt/slides/slide30.xml" Id="R6edcad3c83b14d77" /><Relationship Type="http://schemas.openxmlformats.org/officeDocument/2006/relationships/slide" Target="/ppt/slides/slide31.xml" Id="R932bffa392434d87" /><Relationship Type="http://schemas.openxmlformats.org/officeDocument/2006/relationships/slide" Target="/ppt/slides/slide32.xml" Id="R16365e4e00e54d1d" /><Relationship Type="http://schemas.openxmlformats.org/officeDocument/2006/relationships/slide" Target="/ppt/slides/slide33.xml" Id="R0663460ac78d486c" /><Relationship Type="http://schemas.openxmlformats.org/officeDocument/2006/relationships/slide" Target="/ppt/slides/slide34.xml" Id="R03229307c3304eaa" /><Relationship Type="http://schemas.openxmlformats.org/officeDocument/2006/relationships/slide" Target="/ppt/slides/slide35.xml" Id="R530e1d184a844c68" /><Relationship Type="http://schemas.openxmlformats.org/officeDocument/2006/relationships/slide" Target="/ppt/slides/slide36.xml" Id="R87230857de304bb0" /><Relationship Type="http://schemas.openxmlformats.org/officeDocument/2006/relationships/slide" Target="/ppt/slides/slide37.xml" Id="Ra078afc436044b48" /><Relationship Type="http://schemas.openxmlformats.org/officeDocument/2006/relationships/slide" Target="/ppt/slides/slide38.xml" Id="R39b9364389214b32" /><Relationship Type="http://schemas.openxmlformats.org/officeDocument/2006/relationships/slide" Target="/ppt/slides/slide39.xml" Id="R106b47ad98434650" /><Relationship Type="http://schemas.openxmlformats.org/officeDocument/2006/relationships/slide" Target="/ppt/slides/slide40.xml" Id="R4070e78a53a64fd7" /><Relationship Type="http://schemas.openxmlformats.org/officeDocument/2006/relationships/slide" Target="/ppt/slides/slide41.xml" Id="R503194fa05d04722" /><Relationship Type="http://schemas.openxmlformats.org/officeDocument/2006/relationships/slide" Target="/ppt/slides/slide42.xml" Id="R983ffb2c43e0442b" /><Relationship Type="http://schemas.openxmlformats.org/officeDocument/2006/relationships/slide" Target="/ppt/slides/slide43.xml" Id="R292232e131444a01" /><Relationship Type="http://schemas.openxmlformats.org/officeDocument/2006/relationships/slide" Target="/ppt/slides/slide44.xml" Id="Rc32010b33a9a47cc" /><Relationship Type="http://schemas.openxmlformats.org/officeDocument/2006/relationships/slide" Target="/ppt/slides/slide45.xml" Id="R3431d7a2253c4a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c5520a6181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IH Colors">
  <a:themeElements>
    <a:clrScheme name="IH Colors">
      <a:dk1>
        <a:srgbClr val="110057"/>
      </a:dk1>
      <a:lt1>
        <a:srgbClr val="F7F5F9"/>
      </a:lt1>
      <a:dk2>
        <a:srgbClr val="4A00E2"/>
      </a:dk2>
      <a:lt2>
        <a:srgbClr val="FFFFFF"/>
      </a:lt2>
      <a:accent1>
        <a:srgbClr val="110057"/>
      </a:accent1>
      <a:accent2>
        <a:srgbClr val="4A00E2"/>
      </a:accent2>
      <a:accent3>
        <a:srgbClr val="FF0044"/>
      </a:accent3>
      <a:accent4>
        <a:srgbClr val="7CAFD0"/>
      </a:accent4>
      <a:accent5>
        <a:srgbClr val="FF5D55"/>
      </a:accent5>
      <a:accent6>
        <a:srgbClr val="FFBCB9"/>
      </a:accent6>
      <a:hlink>
        <a:srgbClr val="110057"/>
      </a:hlink>
      <a:folHlink>
        <a:srgbClr val="4A00E2"/>
      </a:folHlink>
    </a:clrScheme>
    <a:fontScheme name="I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H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7e8295c184590" /><Relationship Type="http://schemas.openxmlformats.org/officeDocument/2006/relationships/notesMaster" Target="/ppt/notesMasters/notesMaster1.xml" Id="R2c9844916fc943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e9619d54645a7" /><Relationship Type="http://schemas.openxmlformats.org/officeDocument/2006/relationships/notesMaster" Target="/ppt/notesMasters/notesMaster1.xml" Id="R6713554e68f3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e9e88f46f949e6" /><Relationship Type="http://schemas.openxmlformats.org/officeDocument/2006/relationships/notesMaster" Target="/ppt/notesMasters/notesMaster1.xml" Id="Rb7914ea217ca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fe254fad7429d" /><Relationship Type="http://schemas.openxmlformats.org/officeDocument/2006/relationships/notesMaster" Target="/ppt/notesMasters/notesMaster1.xml" Id="Re50343e3b60544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1234e0d4c47f3" /><Relationship Type="http://schemas.openxmlformats.org/officeDocument/2006/relationships/notesMaster" Target="/ppt/notesMasters/notesMaster1.xml" Id="R3a253b07486c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dbe4eaa31a4b48" /><Relationship Type="http://schemas.openxmlformats.org/officeDocument/2006/relationships/notesMaster" Target="/ppt/notesMasters/notesMaster1.xml" Id="R2006b913ff45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7961f9b6984608" /><Relationship Type="http://schemas.openxmlformats.org/officeDocument/2006/relationships/notesMaster" Target="/ppt/notesMasters/notesMaster1.xml" Id="Rcebf477203ce4f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c499ffe8b24776" /><Relationship Type="http://schemas.openxmlformats.org/officeDocument/2006/relationships/notesMaster" Target="/ppt/notesMasters/notesMaster1.xml" Id="Rb66599b4a5d64b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8ed44636341c3" /><Relationship Type="http://schemas.openxmlformats.org/officeDocument/2006/relationships/notesMaster" Target="/ppt/notesMasters/notesMaster1.xml" Id="R851901d23a1946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a1ca5001cb4941" /><Relationship Type="http://schemas.openxmlformats.org/officeDocument/2006/relationships/notesMaster" Target="/ppt/notesMasters/notesMaster1.xml" Id="Rbe84a104def044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eb0c0d520b4a76" /><Relationship Type="http://schemas.openxmlformats.org/officeDocument/2006/relationships/notesMaster" Target="/ppt/notesMasters/notesMaster1.xml" Id="R556f53cc297347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7367d509604226" /><Relationship Type="http://schemas.openxmlformats.org/officeDocument/2006/relationships/notesMaster" Target="/ppt/notesMasters/notesMaster1.xml" Id="R04389a19853f48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08348a196441ab" /><Relationship Type="http://schemas.openxmlformats.org/officeDocument/2006/relationships/notesMaster" Target="/ppt/notesMasters/notesMaster1.xml" Id="R8bc0fc93fabd4a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af45e6a4ec4ecc" /><Relationship Type="http://schemas.openxmlformats.org/officeDocument/2006/relationships/notesMaster" Target="/ppt/notesMasters/notesMaster1.xml" Id="R78f741746e7b41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89131e01d44aec" /><Relationship Type="http://schemas.openxmlformats.org/officeDocument/2006/relationships/notesMaster" Target="/ppt/notesMasters/notesMaster1.xml" Id="R4c035c08b01a46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b01e28d8194946" /><Relationship Type="http://schemas.openxmlformats.org/officeDocument/2006/relationships/notesMaster" Target="/ppt/notesMasters/notesMaster1.xml" Id="R176d3c0955b34f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93f9760c8a4f6e" /><Relationship Type="http://schemas.openxmlformats.org/officeDocument/2006/relationships/notesMaster" Target="/ppt/notesMasters/notesMaster1.xml" Id="Rf81ac5a0091248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1fe3f32e9741b2" /><Relationship Type="http://schemas.openxmlformats.org/officeDocument/2006/relationships/notesMaster" Target="/ppt/notesMasters/notesMaster1.xml" Id="R057f00554b034e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6deb58c54a4bb8" /><Relationship Type="http://schemas.openxmlformats.org/officeDocument/2006/relationships/notesMaster" Target="/ppt/notesMasters/notesMaster1.xml" Id="R7eb61291c7b644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734ed2b4ff4fce" /><Relationship Type="http://schemas.openxmlformats.org/officeDocument/2006/relationships/notesMaster" Target="/ppt/notesMasters/notesMaster1.xml" Id="Rc49c3ee5fa4a46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2bd271b4614fec" /><Relationship Type="http://schemas.openxmlformats.org/officeDocument/2006/relationships/notesMaster" Target="/ppt/notesMasters/notesMaster1.xml" Id="Rf89a9bfe1d99455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5c194817b44dbc" /><Relationship Type="http://schemas.openxmlformats.org/officeDocument/2006/relationships/notesMaster" Target="/ppt/notesMasters/notesMaster1.xml" Id="Rcefe4d89f8f244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7a4481b9514151" /><Relationship Type="http://schemas.openxmlformats.org/officeDocument/2006/relationships/notesMaster" Target="/ppt/notesMasters/notesMaster1.xml" Id="R81099b0fbc1e4a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1de9133c224f22" /><Relationship Type="http://schemas.openxmlformats.org/officeDocument/2006/relationships/notesMaster" Target="/ppt/notesMasters/notesMaster1.xml" Id="R0e4763659cf741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8d79cc620842d2" /><Relationship Type="http://schemas.openxmlformats.org/officeDocument/2006/relationships/notesMaster" Target="/ppt/notesMasters/notesMaster1.xml" Id="R282ef6948c8343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b2d0125d99480c" /><Relationship Type="http://schemas.openxmlformats.org/officeDocument/2006/relationships/notesMaster" Target="/ppt/notesMasters/notesMaster1.xml" Id="R3ccc352185c442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93c6e0b11546cb" /><Relationship Type="http://schemas.openxmlformats.org/officeDocument/2006/relationships/notesMaster" Target="/ppt/notesMasters/notesMaster1.xml" Id="Rb399d46ebc0947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1c88156f7f424e" /><Relationship Type="http://schemas.openxmlformats.org/officeDocument/2006/relationships/notesMaster" Target="/ppt/notesMasters/notesMaster1.xml" Id="Rb1a71b43a1a946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0e39e880904a82" /><Relationship Type="http://schemas.openxmlformats.org/officeDocument/2006/relationships/notesMaster" Target="/ppt/notesMasters/notesMaster1.xml" Id="R3f17d8017a3d44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6b140132ca34f1e" /><Relationship Type="http://schemas.openxmlformats.org/officeDocument/2006/relationships/notesMaster" Target="/ppt/notesMasters/notesMaster1.xml" Id="Rde3d55454cc04f3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50915e267848bb" /><Relationship Type="http://schemas.openxmlformats.org/officeDocument/2006/relationships/notesMaster" Target="/ppt/notesMasters/notesMaster1.xml" Id="R76c1e60674a94b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ca0d458d634983" /><Relationship Type="http://schemas.openxmlformats.org/officeDocument/2006/relationships/notesMaster" Target="/ppt/notesMasters/notesMaster1.xml" Id="R50ac9a0bb3ba4b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4679ce337f4acf" /><Relationship Type="http://schemas.openxmlformats.org/officeDocument/2006/relationships/notesMaster" Target="/ppt/notesMasters/notesMaster1.xml" Id="R58f946d75b9446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9d81db951214010" /><Relationship Type="http://schemas.openxmlformats.org/officeDocument/2006/relationships/notesMaster" Target="/ppt/notesMasters/notesMaster1.xml" Id="R2d2c84f430264a2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2c2e9537d44505" /><Relationship Type="http://schemas.openxmlformats.org/officeDocument/2006/relationships/notesMaster" Target="/ppt/notesMasters/notesMaster1.xml" Id="R85b0ced732b547f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4da6c5d7204392" /><Relationship Type="http://schemas.openxmlformats.org/officeDocument/2006/relationships/notesMaster" Target="/ppt/notesMasters/notesMaster1.xml" Id="R013d7d34a858469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d207019daf49e7" /><Relationship Type="http://schemas.openxmlformats.org/officeDocument/2006/relationships/notesMaster" Target="/ppt/notesMasters/notesMaster1.xml" Id="Rb65afa0bc26440b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41c168c3cff45bc" /><Relationship Type="http://schemas.openxmlformats.org/officeDocument/2006/relationships/notesMaster" Target="/ppt/notesMasters/notesMaster1.xml" Id="Rb1d30a22f6fd4c7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64ba7a74b54d2d" /><Relationship Type="http://schemas.openxmlformats.org/officeDocument/2006/relationships/notesMaster" Target="/ppt/notesMasters/notesMaster1.xml" Id="Rbb751b3b2387460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aabdca84414529" /><Relationship Type="http://schemas.openxmlformats.org/officeDocument/2006/relationships/notesMaster" Target="/ppt/notesMasters/notesMaster1.xml" Id="Rbed4566a7d3b483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86849fddcc34b56" /><Relationship Type="http://schemas.openxmlformats.org/officeDocument/2006/relationships/notesMaster" Target="/ppt/notesMasters/notesMaster1.xml" Id="R6b3d162a38834e9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dd362d567f74f58" /><Relationship Type="http://schemas.openxmlformats.org/officeDocument/2006/relationships/notesMaster" Target="/ppt/notesMasters/notesMaster1.xml" Id="R814b0a220a194a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3f259e99c994fb3" /><Relationship Type="http://schemas.openxmlformats.org/officeDocument/2006/relationships/notesMaster" Target="/ppt/notesMasters/notesMaster1.xml" Id="Rdcf4d426830249d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3f915d9a3b44c82" /><Relationship Type="http://schemas.openxmlformats.org/officeDocument/2006/relationships/notesMaster" Target="/ppt/notesMasters/notesMaster1.xml" Id="R8d13c170085046f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8e53b2bd9094777" /><Relationship Type="http://schemas.openxmlformats.org/officeDocument/2006/relationships/notesMaster" Target="/ppt/notesMasters/notesMaster1.xml" Id="R781992dfb6d6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around clinical and research use of prediction, not AI as replacement.</a:t>
            </a:r>
          </a:p>
          <a:p xmlns:a="http://schemas.openxmlformats.org/drawingml/2006/main">
            <a:r>
              <a:t>Key line: Prediction is useful only when it changes a decision, label, trial population, or estimator.</a:t>
            </a:r>
          </a:p>
          <a:p xmlns:a="http://schemas.openxmlformats.org/drawingml/2006/main">
            <a:r>
              <a:t>Transition: The first move is from prediction accuracy to prediction purpose.</a:t>
            </a:r>
          </a:p>
          <a:p xmlns:a="http://schemas.openxmlformats.org/drawingml/2006/main">
            <a:r>
              <a:t>Timing: Slides 1-4, 5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translation gap.</a:t>
            </a:r>
          </a:p>
          <a:p xmlns:a="http://schemas.openxmlformats.org/drawingml/2006/main">
            <a:r>
              <a:t>Key line: The hard question is not whether a model predicts; it is what the prediction is for.</a:t>
            </a:r>
          </a:p>
          <a:p xmlns:a="http://schemas.openxmlformats.org/drawingml/2006/main">
            <a:r>
              <a:t>Transition: Accuracy is necessary, but not the endpoint.</a:t>
            </a:r>
          </a:p>
          <a:p xmlns:a="http://schemas.openxmlformats.org/drawingml/2006/main">
            <a:r>
              <a:t>Speaker cue: I want to move quickly from model performance to the actual work prediction is supposed to do.</a:t>
            </a:r>
          </a:p>
          <a:p xmlns:a="http://schemas.openxmlformats.org/drawingml/2006/main">
            <a:r>
              <a:t>Timing: Slides 1-4, 5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Put discrimination low on the value ladder.</a:t>
            </a:r>
          </a:p>
          <a:p xmlns:a="http://schemas.openxmlformats.org/drawingml/2006/main">
            <a:r>
              <a:t>Key line: AUC is useful, but it is not the clinical endpoint.</a:t>
            </a:r>
          </a:p>
          <a:p xmlns:a="http://schemas.openxmlformats.org/drawingml/2006/main">
            <a:r>
              <a:t>Transition: A useful model needs a job.</a:t>
            </a:r>
          </a:p>
          <a:p xmlns:a="http://schemas.openxmlformats.org/drawingml/2006/main">
            <a:r>
              <a:t>Timing: Slides 1-4, 5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Preview the four jobs for prediction.</a:t>
            </a:r>
          </a:p>
          <a:p xmlns:a="http://schemas.openxmlformats.org/drawingml/2006/main">
            <a:r>
              <a:t>Key line: Prediction can guide action, define classes, enrich trials, or improve estimation.</a:t>
            </a:r>
          </a:p>
          <a:p xmlns:a="http://schemas.openxmlformats.org/drawingml/2006/main">
            <a:r>
              <a:t>Transition: Start with the familiar Wells Score.</a:t>
            </a:r>
          </a:p>
          <a:p xmlns:a="http://schemas.openxmlformats.org/drawingml/2006/main">
            <a:r>
              <a:t>Timing: Slides 1-4, 5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Bridge familiar clinical rules to machine learning.</a:t>
            </a:r>
          </a:p>
          <a:p xmlns:a="http://schemas.openxmlformats.org/drawingml/2006/main">
            <a:r>
              <a:t>Key line: Simple models can be powerful when the use case is right.</a:t>
            </a:r>
          </a:p>
          <a:p xmlns:a="http://schemas.openxmlformats.org/drawingml/2006/main">
            <a:r>
              <a:t>Transition: PE diagnosis created a high-leverage decision problem.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why suspected PE was a useful target.</a:t>
            </a:r>
          </a:p>
          <a:p xmlns:a="http://schemas.openxmlformats.org/drawingml/2006/main">
            <a:r>
              <a:t>Key line: The problem was not diagnosis in the abstract; it was deciding who needed CT.</a:t>
            </a:r>
          </a:p>
          <a:p xmlns:a="http://schemas.openxmlformats.org/drawingml/2006/main">
            <a:r>
              <a:t>Transition: The Wells Score became trusted through a concrete development pathway.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Make Wells historical and concrete.</a:t>
            </a:r>
          </a:p>
          <a:p xmlns:a="http://schemas.openxmlformats.org/drawingml/2006/main">
            <a:r>
              <a:t>Key line: Wells succeeded as logistic regression translated into a bedside workflow and then validated.</a:t>
            </a:r>
          </a:p>
          <a:p xmlns:a="http://schemas.openxmlformats.org/drawingml/2006/main">
            <a:r>
              <a:t>Transition: The model mechanics are simple enough to inspect.</a:t>
            </a:r>
          </a:p>
          <a:p xmlns:a="http://schemas.openxmlformats.org/drawingml/2006/main">
            <a:r>
              <a:t>Speaker cue: Wells is not impressive because it is complicated; it is impressive because the model was simplified into a decision and then earned trust in practice.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logistic regression as weighted predictors on a shared scale.</a:t>
            </a:r>
          </a:p>
          <a:p xmlns:a="http://schemas.openxmlformats.org/drawingml/2006/main">
            <a:r>
              <a:t>Key line: The score is a simplified, deployable form of a model.</a:t>
            </a:r>
          </a:p>
          <a:p xmlns:a="http://schemas.openxmlformats.org/drawingml/2006/main">
            <a:r>
              <a:t>Transition: The score mattered because it was attached to a narrow action.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Emphasize the specific action target.</a:t>
            </a:r>
          </a:p>
          <a:p xmlns:a="http://schemas.openxmlformats.org/drawingml/2006/main">
            <a:r>
              <a:t>Key line: Low score plus negative D-dimer identifies people who can avoid CT.</a:t>
            </a:r>
          </a:p>
          <a:p xmlns:a="http://schemas.openxmlformats.org/drawingml/2006/main">
            <a:r>
              <a:t>Transition: That is why the design principles are clinical.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Summarize why Wells worked.</a:t>
            </a:r>
          </a:p>
          <a:p xmlns:a="http://schemas.openxmlformats.org/drawingml/2006/main">
            <a:r>
              <a:t>Key line: The comparison is clinician alone versus clinician with a validated tool.</a:t>
            </a:r>
          </a:p>
          <a:p xmlns:a="http://schemas.openxmlformats.org/drawingml/2006/main">
            <a:r>
              <a:t>Transition: Clinical action is only one use of prediction.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the Wells section and return to the taxonomy.</a:t>
            </a:r>
          </a:p>
          <a:p xmlns:a="http://schemas.openxmlformats.org/drawingml/2006/main">
            <a:r>
              <a:t>Key line: Clinical action is one job; reference classes are another.</a:t>
            </a:r>
          </a:p>
          <a:p xmlns:a="http://schemas.openxmlformats.org/drawingml/2006/main">
            <a:r>
              <a:t>Transition: A disease label is a reference class.</a:t>
            </a:r>
          </a:p>
          <a:p xmlns:a="http://schemas.openxmlformats.org/drawingml/2006/main">
            <a:r>
              <a:t>Timing: Slides 5-11,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disease labels as reference classes.</a:t>
            </a:r>
          </a:p>
          <a:p xmlns:a="http://schemas.openxmlformats.org/drawingml/2006/main">
            <a:r>
              <a:t>Key line: The same patient can be grouped in many clinically meaningful ways.</a:t>
            </a:r>
          </a:p>
          <a:p xmlns:a="http://schemas.openxmlformats.org/drawingml/2006/main">
            <a:r>
              <a:t>Transition: The real question is which class is useful.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Make the reference-class problem practical.</a:t>
            </a:r>
          </a:p>
          <a:p xmlns:a="http://schemas.openxmlformats.org/drawingml/2006/main">
            <a:r>
              <a:t>Key line: The group we choose determines what probability or action means.</a:t>
            </a:r>
          </a:p>
          <a:p xmlns:a="http://schemas.openxmlformats.org/drawingml/2006/main">
            <a:r>
              <a:t>Transition: This leads directly into abnormality versus action thresholds.</a:t>
            </a:r>
          </a:p>
          <a:p xmlns:a="http://schemas.openxmlformats.org/drawingml/2006/main">
            <a:r>
              <a:t>Speaker cue: A probability is always about membership in some group, and the clinical question is whether that group is the useful one.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Separate abnormality thresholds from action thresholds.</a:t>
            </a:r>
          </a:p>
          <a:p xmlns:a="http://schemas.openxmlformats.org/drawingml/2006/main">
            <a:r>
              <a:t>Key line: A threshold can define physiology without defining treatment value.</a:t>
            </a:r>
          </a:p>
          <a:p xmlns:a="http://schemas.openxmlformats.org/drawingml/2006/main">
            <a:r>
              <a:t>Transition: Syndrome definitions are useful, but purpose-specific.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that syndromes can be useful and heterogeneous.</a:t>
            </a:r>
          </a:p>
          <a:p xmlns:a="http://schemas.openxmlformats.org/drawingml/2006/main">
            <a:r>
              <a:t>Key line: ARDS definitions can serve enrollment, prognosis, mechanism, response, or operations.</a:t>
            </a:r>
          </a:p>
          <a:p xmlns:a="http://schemas.openxmlformats.org/drawingml/2006/main">
            <a:r>
              <a:t>Transition: Validity depends on purpose.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Make phenotyping operational.</a:t>
            </a:r>
          </a:p>
          <a:p xmlns:a="http://schemas.openxmlformats.org/drawingml/2006/main">
            <a:r>
              <a:t>Key line: A phenotype is valid when it is fit for its purpose.</a:t>
            </a:r>
          </a:p>
          <a:p xmlns:a="http://schemas.openxmlformats.org/drawingml/2006/main">
            <a:r>
              <a:t>Transition: Prediction can create better classes.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Conclude the reference-class section.</a:t>
            </a:r>
          </a:p>
          <a:p xmlns:a="http://schemas.openxmlformats.org/drawingml/2006/main">
            <a:r>
              <a:t>Key line: Better labels are labels that do useful work.</a:t>
            </a:r>
          </a:p>
          <a:p xmlns:a="http://schemas.openxmlformats.org/drawingml/2006/main">
            <a:r>
              <a:t>Transition: Treatment decisions face the same group-to-individual problem.</a:t>
            </a:r>
          </a:p>
          <a:p xmlns:a="http://schemas.openxmlformats.org/drawingml/2006/main">
            <a:r>
              <a:t>Timing: Slides 12-17,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Set up treatment-rule translation.</a:t>
            </a:r>
          </a:p>
          <a:p xmlns:a="http://schemas.openxmlformats.org/drawingml/2006/main">
            <a:r>
              <a:t>Key line: Evidence comes from groups, but decisions face individuals.</a:t>
            </a:r>
          </a:p>
          <a:p xmlns:a="http://schemas.openxmlformats.org/drawingml/2006/main">
            <a:r>
              <a:t>Transition: There are three levels of ambition.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average-effect, risk-based, and effect-modeling rules.</a:t>
            </a:r>
          </a:p>
          <a:p xmlns:a="http://schemas.openxmlformats.org/drawingml/2006/main">
            <a:r>
              <a:t>Key line: The rules differ in ambition and data demands.</a:t>
            </a:r>
          </a:p>
          <a:p xmlns:a="http://schemas.openxmlformats.org/drawingml/2006/main">
            <a:r>
              <a:t>Transition: Begin with the NNT rule.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Reframe NNT without dismissing it.</a:t>
            </a:r>
          </a:p>
          <a:p xmlns:a="http://schemas.openxmlformats.org/drawingml/2006/main">
            <a:r>
              <a:t>Key line: NNT equals 50 is a population summary, not a patient property.</a:t>
            </a:r>
          </a:p>
          <a:p xmlns:a="http://schemas.openxmlformats.org/drawingml/2006/main">
            <a:r>
              <a:t>Transition: Baseline risk changes absolute benefit.</a:t>
            </a:r>
          </a:p>
          <a:p xmlns:a="http://schemas.openxmlformats.org/drawingml/2006/main">
            <a:r>
              <a:t>Speaker cue: NNT is useful for summarizing a trial, but it is not a property sitting inside the patient in front of us.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risk magnification of absolute benefit.</a:t>
            </a:r>
          </a:p>
          <a:p xmlns:a="http://schemas.openxmlformats.org/drawingml/2006/main">
            <a:r>
              <a:t>Key line: Same relative effect can produce very different ARR and NNT.</a:t>
            </a:r>
          </a:p>
          <a:p xmlns:a="http://schemas.openxmlformats.org/drawingml/2006/main">
            <a:r>
              <a:t>Transition: Benefits and harms may scale differently.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why risk can change benefit-harm tradeoffs.</a:t>
            </a:r>
          </a:p>
          <a:p xmlns:a="http://schemas.openxmlformats.org/drawingml/2006/main">
            <a:r>
              <a:t>Key line: Benefit may rise with baseline risk while burden does not rise as steeply.</a:t>
            </a:r>
          </a:p>
          <a:p xmlns:a="http://schemas.openxmlformats.org/drawingml/2006/main">
            <a:r>
              <a:t>Transition: CATE is the formal individualized target.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Define CATE clearly.</a:t>
            </a:r>
          </a:p>
          <a:p xmlns:a="http://schemas.openxmlformats.org/drawingml/2006/main">
            <a:r>
              <a:t>Key line: CATE is causal, not ordinary outcome prediction.</a:t>
            </a:r>
          </a:p>
          <a:p xmlns:a="http://schemas.openxmlformats.org/drawingml/2006/main">
            <a:r>
              <a:t>Transition: We do not observe individual causal effects.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missing counterfactual.</a:t>
            </a:r>
          </a:p>
          <a:p xmlns:a="http://schemas.openxmlformats.org/drawingml/2006/main">
            <a:r>
              <a:t>Key line: Individual causal effects are not directly observed.</a:t>
            </a:r>
          </a:p>
          <a:p xmlns:a="http://schemas.openxmlformats.org/drawingml/2006/main">
            <a:r>
              <a:t>Transition: Apparent response variation can be unstable.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Caution against overclaiming responder labels.</a:t>
            </a:r>
          </a:p>
          <a:p xmlns:a="http://schemas.openxmlformats.org/drawingml/2006/main">
            <a:r>
              <a:t>Key line: Observed response variation can be noise, adherence, or occasion effects.</a:t>
            </a:r>
          </a:p>
          <a:p xmlns:a="http://schemas.openxmlformats.org/drawingml/2006/main">
            <a:r>
              <a:t>Transition: This makes baseline-risk prediction the pragmatic first layer.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State the main treatment-rule claim.</a:t>
            </a:r>
          </a:p>
          <a:p xmlns:a="http://schemas.openxmlformats.org/drawingml/2006/main">
            <a:r>
              <a:t>Key line: Use more risk models before more effect models.</a:t>
            </a:r>
          </a:p>
          <a:p xmlns:a="http://schemas.openxmlformats.org/drawingml/2006/main">
            <a:r>
              <a:t>Transition: Baseline risk also improves trials.</a:t>
            </a:r>
          </a:p>
          <a:p xmlns:a="http://schemas.openxmlformats.org/drawingml/2006/main">
            <a:r>
              <a:t>Speaker cue: The point is not that treatment-effect modeling is wrong; it is that baseline risk is usually the first useful layer of personalization.</a:t>
            </a:r>
          </a:p>
          <a:p xmlns:a="http://schemas.openxmlformats.org/drawingml/2006/main">
            <a:r>
              <a:t>Timing: Slides 18-26, 10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Define prognostic enrichment.</a:t>
            </a:r>
          </a:p>
          <a:p xmlns:a="http://schemas.openxmlformats.org/drawingml/2006/main">
            <a:r>
              <a:t>Key line: Enrichment does not require predicting who responds.</a:t>
            </a:r>
          </a:p>
          <a:p xmlns:a="http://schemas.openxmlformats.org/drawingml/2006/main">
            <a:r>
              <a:t>Transition: Critical care trials especially need signal.</a:t>
            </a:r>
          </a:p>
          <a:p xmlns:a="http://schemas.openxmlformats.org/drawingml/2006/main">
            <a:r>
              <a:t>Timing: Slides 27-31,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Motivate trial efficiency in PCCM.</a:t>
            </a:r>
          </a:p>
          <a:p xmlns:a="http://schemas.openxmlformats.org/drawingml/2006/main">
            <a:r>
              <a:t>Key line: Heterogeneous syndromes, competing events, and noisy outcomes dilute signal.</a:t>
            </a:r>
          </a:p>
          <a:p xmlns:a="http://schemas.openxmlformats.org/drawingml/2006/main">
            <a:r>
              <a:t>Transition: Baseline risk is nuisance variation for estimation.</a:t>
            </a:r>
          </a:p>
          <a:p xmlns:a="http://schemas.openxmlformats.org/drawingml/2006/main">
            <a:r>
              <a:t>Timing: Slides 27-31,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baseline-risk adjustment as precision infrastructure.</a:t>
            </a:r>
          </a:p>
          <a:p xmlns:a="http://schemas.openxmlformats.org/drawingml/2006/main">
            <a:r>
              <a:t>Key line: Outcome equals treatment signal plus baseline risk plus residual noise.</a:t>
            </a:r>
          </a:p>
          <a:p xmlns:a="http://schemas.openxmlformats.org/drawingml/2006/main">
            <a:r>
              <a:t>Transition: The payoff is lower residual variation.</a:t>
            </a:r>
          </a:p>
          <a:p xmlns:a="http://schemas.openxmlformats.org/drawingml/2006/main">
            <a:r>
              <a:t>Timing: Slides 27-31,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Add the compact precision argument.</a:t>
            </a:r>
          </a:p>
          <a:p xmlns:a="http://schemas.openxmlformats.org/drawingml/2006/main">
            <a:r>
              <a:t>Key line: If residual SD falls by 20%, SE falls by 20%, roughly 1.56 times the information.</a:t>
            </a:r>
          </a:p>
          <a:p xmlns:a="http://schemas.openxmlformats.org/drawingml/2006/main">
            <a:r>
              <a:t>Transition: Risk models help trials twice.</a:t>
            </a:r>
          </a:p>
          <a:p xmlns:a="http://schemas.openxmlformats.org/drawingml/2006/main">
            <a:r>
              <a:t>Speaker cue: This is the estimator version of the same argument: baseline risk is not the treatment effect, but it can remove noise around the treatment effect.</a:t>
            </a:r>
          </a:p>
          <a:p xmlns:a="http://schemas.openxmlformats.org/drawingml/2006/main">
            <a:r>
              <a:t>Timing: Slides 27-31,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Distinguish enrichment from adjustment.</a:t>
            </a:r>
          </a:p>
          <a:p xmlns:a="http://schemas.openxmlformats.org/drawingml/2006/main">
            <a:r>
              <a:t>Key line: Enrichment chooses who enters; adjustment estimates more precisely after randomization.</a:t>
            </a:r>
          </a:p>
          <a:p xmlns:a="http://schemas.openxmlformats.org/drawingml/2006/main">
            <a:r>
              <a:t>Transition: ASCEND-MA is a prediction-to-action example.</a:t>
            </a:r>
          </a:p>
          <a:p xmlns:a="http://schemas.openxmlformats.org/drawingml/2006/main">
            <a:r>
              <a:t>Timing: Slides 27-31, 7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ASCEND-MA as implementation case study.</a:t>
            </a:r>
          </a:p>
          <a:p xmlns:a="http://schemas.openxmlformats.org/drawingml/2006/main">
            <a:r>
              <a:t>Key line: The outcome is not AUC; the outcome is operational, clinical, and economic impact.</a:t>
            </a:r>
          </a:p>
          <a:p xmlns:a="http://schemas.openxmlformats.org/drawingml/2006/main">
            <a:r>
              <a:t>Transition: The K23 applies the same logic to HRF transitions.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Anchor the K23 in a clinical transition gap.</a:t>
            </a:r>
          </a:p>
          <a:p xmlns:a="http://schemas.openxmlformats.org/drawingml/2006/main">
            <a:r>
              <a:t>Key line: HRF means hypercapnic respiratory failure; the burden is high and follow-up testing is low.</a:t>
            </a:r>
          </a:p>
          <a:p xmlns:a="http://schemas.openxmlformats.org/drawingml/2006/main">
            <a:r>
              <a:t>Transition: Aim 2 builds risk infrastructure.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Clarify Aim 2 as research infrastructure.</a:t>
            </a:r>
          </a:p>
          <a:p xmlns:a="http://schemas.openxmlformats.org/drawingml/2006/main">
            <a:r>
              <a:t>Key line: Aim 2 validates a risk model; it is not deploying a clinical action rule in the K23.</a:t>
            </a:r>
          </a:p>
          <a:p xmlns:a="http://schemas.openxmlformats.org/drawingml/2006/main">
            <a:r>
              <a:t>Transition: Aim 3 tests workflow feasibility.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Clarify Aim 3 enrollment and endpoints.</a:t>
            </a:r>
          </a:p>
          <a:p xmlns:a="http://schemas.openxmlformats.org/drawingml/2006/main">
            <a:r>
              <a:t>Key line: Aim 3 is criteria-based workflow feasibility, not model-triggered clinical action.</a:t>
            </a:r>
          </a:p>
          <a:p xmlns:a="http://schemas.openxmlformats.org/drawingml/2006/main">
            <a:r>
              <a:t>Transition: Together the aims build R01-ready assumptions.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Tie aims into a learning-health-system sequence.</a:t>
            </a:r>
          </a:p>
          <a:p xmlns:a="http://schemas.openxmlformats.org/drawingml/2006/main">
            <a:r>
              <a:t>Key line: Measure variation, validate risk infrastructure, test workflow feasibility, then run a pragmatic/hybrid R01.</a:t>
            </a:r>
          </a:p>
          <a:p xmlns:a="http://schemas.openxmlformats.org/drawingml/2006/main">
            <a:r>
              <a:t>Transition: Return to the four jobs.</a:t>
            </a:r>
          </a:p>
          <a:p xmlns:a="http://schemas.openxmlformats.org/drawingml/2006/main">
            <a:r>
              <a:t>Speaker cue: The K23 is the talk's framework turned into a staged research program: better classes first, then risk infrastructure, then feasible action.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Reinforce the closing taxonomy.</a:t>
            </a:r>
          </a:p>
          <a:p xmlns:a="http://schemas.openxmlformats.org/drawingml/2006/main">
            <a:r>
              <a:t>Key line: Judge prediction by the work it does.</a:t>
            </a:r>
          </a:p>
          <a:p xmlns:a="http://schemas.openxmlformats.org/drawingml/2006/main">
            <a:r>
              <a:t>Transition: Land the near-term baseline-risk claim.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with the thesis.</a:t>
            </a:r>
          </a:p>
          <a:p xmlns:a="http://schemas.openxmlformats.org/drawingml/2006/main">
            <a:r>
              <a:t>Key line: The near-term opportunity is better reference classes, trial populations, and estimators.</a:t>
            </a:r>
          </a:p>
          <a:p xmlns:a="http://schemas.openxmlformats.org/drawingml/2006/main">
            <a:r>
              <a:t>Transition: Invite discussion.</a:t>
            </a:r>
          </a:p>
          <a:p xmlns:a="http://schemas.openxmlformats.org/drawingml/2006/main">
            <a:r>
              <a:t>Timing: Slides 32-38, 8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the Wells decision-threshold logic.</a:t>
            </a:r>
          </a:p>
          <a:p xmlns:a="http://schemas.openxmlformats.org/drawingml/2006/main">
            <a:r>
              <a:t>Key line: The score and D-dimer are useful because they move post-test risk below an action threshold.</a:t>
            </a:r>
          </a:p>
          <a:p xmlns:a="http://schemas.openxmlformats.org/drawingml/2006/main">
            <a:r>
              <a:t>Transition: Return to the main Wells history if the audience does not need the math.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the AUC limitation claim.</a:t>
            </a:r>
          </a:p>
          <a:p xmlns:a="http://schemas.openxmlformats.org/drawingml/2006/main">
            <a:r>
              <a:t>Key line: Ranking patients is not the same as improving a decision.</a:t>
            </a:r>
          </a:p>
          <a:p xmlns:a="http://schemas.openxmlformats.org/drawingml/2006/main">
            <a:r>
              <a:t>Transition: Use this if someone asks why model performance metrics are not enough.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the subgroup-HTE caution.</a:t>
            </a:r>
          </a:p>
          <a:p xmlns:a="http://schemas.openxmlformats.org/drawingml/2006/main">
            <a:r>
              <a:t>Key line: A significant result in one subgroup and a non-significant result in another is not evidence of different effects.</a:t>
            </a:r>
          </a:p>
          <a:p xmlns:a="http://schemas.openxmlformats.org/drawingml/2006/main">
            <a:r>
              <a:t>Transition: Point back to CATE and interaction logic.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Define risk-based HTE versus CATE precisely.</a:t>
            </a:r>
          </a:p>
          <a:p xmlns:a="http://schemas.openxmlformats.org/drawingml/2006/main">
            <a:r>
              <a:t>Key line: Baseline risk can personalize absolute benefit without estimating treatment-effect heterogeneity.</a:t>
            </a:r>
          </a:p>
          <a:p xmlns:a="http://schemas.openxmlformats.org/drawingml/2006/main">
            <a:r>
              <a:t>Transition: Return to the pragmatic baseline-risk claim.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the covariate-adjustment precision argument.</a:t>
            </a:r>
          </a:p>
          <a:p xmlns:a="http://schemas.openxmlformats.org/drawingml/2006/main">
            <a:r>
              <a:t>Key line: Pre-randomization prognostic adjustment can reduce residual SD and therefore standard error.</a:t>
            </a:r>
          </a:p>
          <a:p xmlns:a="http://schemas.openxmlformats.org/drawingml/2006/main">
            <a:r>
              <a:t>Transition: Emphasize this is not post-treatment adjustment.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K23 Aim 2 validation endpoints.</a:t>
            </a:r>
          </a:p>
          <a:p xmlns:a="http://schemas.openxmlformats.org/drawingml/2006/main">
            <a:r>
              <a:t>Key line: Aim 2 validates risk infrastructure and calibration; it is not deployment.</a:t>
            </a:r>
          </a:p>
          <a:p xmlns:a="http://schemas.openxmlformats.org/drawingml/2006/main">
            <a:r>
              <a:t>Transition: Use if asked what model validation will measure.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Backup K23 Aim 3 feasibility endpoints.</a:t>
            </a:r>
          </a:p>
          <a:p xmlns:a="http://schemas.openxmlformats.org/drawingml/2006/main">
            <a:r>
              <a:t>Key line: Aim 3 tests criteria-based workflow feasibility, reach, fidelity, burden, and follow-up testing.</a:t>
            </a:r>
          </a:p>
          <a:p xmlns:a="http://schemas.openxmlformats.org/drawingml/2006/main">
            <a:r>
              <a:t>Transition: Use if asked what success means before a pragmatic R01.</a:t>
            </a:r>
          </a:p>
          <a:p xmlns:a="http://schemas.openxmlformats.org/drawingml/2006/main">
            <a:r>
              <a:t>Timing: Backup; use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96e4f6b754c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d569b5bb141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0f33e063a45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4357a4a064c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46298cda24f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d9a8460c643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1579b89234f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7c99cf8dd48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80bdeff3947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1c1aa2ee4426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9abe250ff462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d7a780b0140e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9f97d182c457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9ceb6a9d348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d9b268f4d433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9fde4cabe49c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8a854a7a9471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de47b4a241b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9ef901b6f411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e79b2afd7477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7024345d3445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1139a248341a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b2692ed4e4f8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d4a836c314da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5129247c2477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ca5183a9e47c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6521544b440a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984a84246455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cc24332384b3e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d549f02c34f9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6ce1ec3a940f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29c357f1744b9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f6ce6b60241ff" /></Relationships>
</file>

<file path=ppt/slideLayouts/slideLayout2.xml><?xml version="1.0" encoding="utf-8"?>
<p:sldLayout xmlns:p="http://schemas.openxmlformats.org/presentationml/2006/main">
  <p:cSld name="Statement Left_Image R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028F91B-5A56-43E3-9175-D8329F3DBB7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2E11C13-F863-4CFD-9471-7F5085E264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ECE7EE-E6AB-4E05-B27E-7BE2C692C6A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8" y="3186038"/>
            <a:ext cx="3846515" cy="127483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4684713" y="390524"/>
            <a:ext cx="4040187" cy="40703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56093"/>
            <a:ext cx="3846513" cy="2142471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3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1_Title and Content full width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3A84B9-6156-4066-82DA-4346F78B88D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0D1CA2-1571-4A25-9B69-F7E9CDF6AE9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20651" y="1676879"/>
            <a:ext cx="8315362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4BDCF7-5D25-4282-A7CC-2A9A700990F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565EFD-F33F-48E1-B3EF-BA305FC512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3E4D5F-28F3-4568-8520-2A57F167DE7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D58A102-113C-AD29-0E56-CB6BA465845D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430213" y="1266937"/>
            <a:ext cx="8305800" cy="40994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hree Column Process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71B8D2-9D1F-49F6-80F6-C2864DCD783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3" cy="7303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08A393-879B-4F9D-8927-2CC8893FDCC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E1414A-9239-4604-A244-A75D19F69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A1AF52-F3D6-4051-84A0-22464089763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9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 xmlns:a="http://schemas.openxmlformats.org/drawingml/2006/main"/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/>
          <p:nvPr>
            <p:ph type="body" idx="16"/>
          </p:nvPr>
        </p:nvSpPr>
        <p:spPr>
          <a:xfrm xmlns:a="http://schemas.openxmlformats.org/drawingml/2006/main">
            <a:off x="3264847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 xmlns:a="http://schemas.openxmlformats.org/drawingml/2006/main"/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6110596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3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Section Header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113649-D07C-4167-AE86-97DC7A4A51F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34829"/>
            <a:ext cx="4323816" cy="21395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665526-CF3A-4F5D-9C6E-698F078779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19100" y="3374282"/>
            <a:ext cx="4323816" cy="7704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CABC67-9A58-440F-9DA2-7C30B9DED45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823A63-B077-4F29-96A1-EFB1855A2BD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5E529A-7C1F-45BC-8953-3050BC679E5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Title Only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990945-C2CE-4AE3-9AD1-6B578ECE104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AC04EC7-AFFD-4ABD-BC3F-C2812FB8DC9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D4657FB-B1A9-4CF1-93C3-A0DCF40D492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36A4E05-BB86-44D6-878E-E5E3CE4B5E2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Statement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E27800-5BEB-4042-802D-C7BCC782B34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99389"/>
            <a:ext cx="4504056" cy="26394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4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1286BF-809B-4B12-BBE7-6AD36733FB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4E4724-104B-4C2B-96C6-52278BD950F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2C44A2-DB87-4440-A834-DECB948DC6C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Image Left_Text R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422150" y="390524"/>
            <a:ext cx="4040187" cy="40703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1BCC2F-D643-49CF-97EE-9D04F352A0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685652" y="393106"/>
            <a:ext cx="4039248" cy="7303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58B7CF-8C93-4E19-8D9D-4C78E79B295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D274E5-442E-4AB5-AD2D-3DA2E0AF1A0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EEF604-5D6A-4A9C-8281-D62EDB06B1F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4685652" y="1266937"/>
            <a:ext cx="4041648" cy="40927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685651" y="1676215"/>
            <a:ext cx="4039249" cy="27846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Statement Soft Blue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C6BF0C-5945-4FFF-B95D-63550064D2F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165F60-EF76-4750-A316-BF6F9B1D9C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120F2D-8620-4D81-AD88-63FDD34463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684714" y="833007"/>
            <a:ext cx="3732894" cy="185891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 xmlns:a="http://schemas.openxmlformats.org/drawingml/2006/main"/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56093"/>
            <a:ext cx="3846513" cy="3704782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36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ext Left_Chart R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C8B280-C11C-4AEA-A2BD-16793F035BE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BEAB4D-0CE4-41CF-9220-E396A76F5D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AD1497-ED50-423D-BB30-435AC5CBA33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8" y="1674813"/>
            <a:ext cx="2358285" cy="2786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400">
                <a:solidFill>
                  <a:schemeClr val="accent3"/>
                </a:solidFill>
              </a:defRPr>
            </a:lvl2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FA77CF-6FD1-45FE-4C52-66768063574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3200400" cy="811530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hank You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DC9023-F46A-4572-AA6C-1C60BD78D24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80339"/>
            <a:ext cx="4504056" cy="242844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5400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27368C-B713-4353-8A10-1ED0A9A6088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D522E7-2363-4A32-A0D6-D917EC1BC0F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3F305-3EB0-4F54-8AA5-78198A03F5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Title Slide 2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C188B0-58F1-41BF-9579-EF20E37A9CF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430212" y="1491239"/>
            <a:ext cx="4080828" cy="1241823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7D16256-6239-4D90-9FB2-E0E006CD026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430212" y="2978009"/>
            <a:ext cx="3423941" cy="14828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02F924-BE80-4714-8F65-901CE157BE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E5CA54-0EB6-407B-BB6A-11F1711AA1AB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30212" y="4623512"/>
            <a:ext cx="3086100" cy="107722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Statement Coral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C96F62-D3C3-4F60-8F5A-ACC673B0EFE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9E9563-34AE-4D60-86FD-03351A2A134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C3A989-97D1-44BA-AC36-4DE36BF80C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684714" y="833007"/>
            <a:ext cx="3732894" cy="185891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</a:lstStyle>
          <a:p xmlns:a="http://schemas.openxmlformats.org/drawingml/2006/main"/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56093"/>
            <a:ext cx="3846513" cy="3704782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Three Conten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16B2D7-A7C5-E04B-559B-CD89EFC1C2F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1" cy="730353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9C2D18-6293-B1CC-9520-5D129ECF51B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0085BA-A8E8-AD04-F15B-4C73A7232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1B2DAA-362B-4AE3-646B-5445FB14038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B0E76D0-9CFA-5F03-6303-5B7630D0CC1C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430213" y="1266937"/>
            <a:ext cx="5486400" cy="17730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3CBBA3-76D1-2BEB-60B4-65D1B36293E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20651" y="1676879"/>
            <a:ext cx="2627952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241FE7-6D13-BB09-56E4-1859A5BEB777}"/>
              </a:ext>
            </a:extLst>
          </p:cNvPr>
          <p:cNvSpPr/>
          <p:nvPr>
            <p:ph idx="15"/>
          </p:nvPr>
        </p:nvSpPr>
        <p:spPr>
          <a:xfrm xmlns:a="http://schemas.openxmlformats.org/drawingml/2006/main">
            <a:off x="3258800" y="1676879"/>
            <a:ext cx="2627952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DE4835-4455-AB1E-0A52-EF37D82F3078}"/>
              </a:ext>
            </a:extLst>
          </p:cNvPr>
          <p:cNvSpPr/>
          <p:nvPr>
            <p:ph idx="16"/>
          </p:nvPr>
        </p:nvSpPr>
        <p:spPr>
          <a:xfrm xmlns:a="http://schemas.openxmlformats.org/drawingml/2006/main">
            <a:off x="6096949" y="1676879"/>
            <a:ext cx="2627952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Full Slide Imag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/>
          <p:nvPr>
            <p:ph type="pic" idx="18"/>
          </p:nvPr>
        </p:nvSpPr>
        <p:spPr>
          <a:xfrm xmlns:a="http://schemas.openxmlformats.org/drawingml/2006/main">
            <a:off x="421898" y="392591"/>
            <a:ext cx="8303001" cy="40682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109728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C14A97-48A1-459B-986C-47AC4FFC406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5FD9F62-703E-46F9-A8AE-B46E64F9A34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9B82C9-6CC7-46D7-BD7F-161A1D849DC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itle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7F5B39-5A5A-470A-BCCF-6A66EC9CC9B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430212" y="1491239"/>
            <a:ext cx="4011159" cy="1241823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6472C19-8B98-4B7C-8B0F-94D8ABA5179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430212" y="2978009"/>
            <a:ext cx="3423941" cy="14828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024CD6-50FB-438C-B9B1-BA3684C1058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652548-E74F-4DD5-999C-C67C7DF19811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30212" y="4623512"/>
            <a:ext cx="3086100" cy="107722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Section Header 4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457200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36576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6D8639-02C8-4110-80DB-A84657C93B7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34829"/>
            <a:ext cx="4007621" cy="26394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804DF8-9AB4-4C14-A747-A360BA5084C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19100" y="3374282"/>
            <a:ext cx="4007621" cy="7704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9ED7DC-3B6E-4B4A-B622-BA0B9503A9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5B4523-942C-4B89-86EB-9E65ED6216C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E9BAE5-61DC-4F25-86F4-7185ABBE7CB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Text Left_Image R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EC8E1D-BE14-456D-A29B-A97A2FD36E7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9" y="393106"/>
            <a:ext cx="4039248" cy="7303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FDA5C6A-D191-47CE-A0D3-ED20865501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6C4423-7C2D-4B6D-9F3C-EB59D29BA40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95999B-A1F0-4936-8C91-1FF9E5DAA4D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430213" y="1266937"/>
            <a:ext cx="4041648" cy="40927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8" y="1676215"/>
            <a:ext cx="4039249" cy="27846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4684713" y="390524"/>
            <a:ext cx="4040187" cy="40703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Two Column Text With Images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D3D91AF-105B-FCD6-C4F5-C67B716D571D}"/>
              </a:ext>
            </a:extLst>
          </p:cNvPr>
          <p:cNvSpPr/>
          <p:nvPr>
            <p:ph type="pic" idx="18"/>
          </p:nvPr>
        </p:nvSpPr>
        <p:spPr>
          <a:xfrm xmlns:a="http://schemas.openxmlformats.org/drawingml/2006/main">
            <a:off x="3239646" y="390525"/>
            <a:ext cx="2651760" cy="21470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8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5316E6D-08B1-22AC-4C5B-625D1BB09A5A}"/>
              </a:ext>
            </a:extLst>
          </p:cNvPr>
          <p:cNvSpPr/>
          <p:nvPr>
            <p:ph type="pic" idx="23"/>
          </p:nvPr>
        </p:nvSpPr>
        <p:spPr>
          <a:xfrm xmlns:a="http://schemas.openxmlformats.org/drawingml/2006/main">
            <a:off x="6071116" y="390525"/>
            <a:ext cx="2651760" cy="21470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B696AE-4440-4A9C-B8E5-8307311324C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9" y="390525"/>
            <a:ext cx="2742846" cy="1751354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D3D94A-7C38-4371-B58E-901CB8A55F9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FA2DD1-47CC-4843-B37B-8E71A4391C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45B4DE1-6F5F-465D-9F53-373B4B6A3DD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3239646" y="2965695"/>
            <a:ext cx="2651760" cy="1495179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 xmlns:a="http://schemas.openxmlformats.org/drawingml/2006/main"/>
        </p:txBody>
      </p:sp>
      <p:sp>
        <p:nvSpPr>
          <p:cNvPr id="1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969F474-E424-3477-434A-09FACCF5C4A5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6093151" y="2965695"/>
            <a:ext cx="2651760" cy="1495179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Thank You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004E53-9282-436B-A294-A701E4CE099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80339"/>
            <a:ext cx="4504056" cy="242844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A677B2-818A-412B-9C66-9A5BB765C25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502FEB-2D7B-40C6-AB8F-D806754DBB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F9330F-06DA-4AAB-B61E-2EB18BB715D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Section Header 3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457200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36576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FAF49E-5D36-4A1E-BBFA-08AE253635A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34829"/>
            <a:ext cx="4007621" cy="26394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320DFD-DF13-4B45-8626-0E6ED2E5D5A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19100" y="3374282"/>
            <a:ext cx="4007621" cy="7704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0C9943-687F-4C5E-BA7F-06F48E7F602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374010-86AD-4383-A5F1-3BBB5DD6A1F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5F0173-B2D9-47F2-9EC2-6118AB29549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Statement Dark Blu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831073-9DDE-4DD8-8F6D-0B29E27032F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E2CC45-FC26-4AEA-B33B-9336AA99FD5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25C65E-DD7B-43F1-A6E0-5E36ABE3C6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684714" y="833007"/>
            <a:ext cx="3732894" cy="185891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</a:lstStyle>
          <a:p xmlns:a="http://schemas.openxmlformats.org/drawingml/2006/main"/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56093"/>
            <a:ext cx="3846513" cy="3704782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hree Column Text with images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4E278-FF3B-44D2-8A2A-E9E4EC59D0B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3" cy="730353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5FA67A-6A06-4EFB-A88C-196662764C3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B85A38-9170-402D-8B20-70CC3C6A3B7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ECCC67-47F0-40C5-B7F5-030AA22919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D3D91AF-105B-FCD6-C4F5-C67B716D571D}"/>
              </a:ext>
            </a:extLst>
          </p:cNvPr>
          <p:cNvSpPr/>
          <p:nvPr>
            <p:ph type="pic" idx="18"/>
          </p:nvPr>
        </p:nvSpPr>
        <p:spPr>
          <a:xfrm xmlns:a="http://schemas.openxmlformats.org/drawingml/2006/main">
            <a:off x="419098" y="2777384"/>
            <a:ext cx="2651760" cy="16834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10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306B345E-D8AD-5ABF-C286-5E6C94298122}"/>
              </a:ext>
            </a:extLst>
          </p:cNvPr>
          <p:cNvSpPr/>
          <p:nvPr>
            <p:ph type="pic" idx="19"/>
          </p:nvPr>
        </p:nvSpPr>
        <p:spPr>
          <a:xfrm xmlns:a="http://schemas.openxmlformats.org/drawingml/2006/main">
            <a:off x="3246119" y="2777384"/>
            <a:ext cx="2651760" cy="16834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11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774D32F3-07D7-A773-4B83-740E4AFDFF0B}"/>
              </a:ext>
            </a:extLst>
          </p:cNvPr>
          <p:cNvSpPr/>
          <p:nvPr>
            <p:ph type="pic" idx="20"/>
          </p:nvPr>
        </p:nvSpPr>
        <p:spPr>
          <a:xfrm xmlns:a="http://schemas.openxmlformats.org/drawingml/2006/main">
            <a:off x="6076058" y="2777384"/>
            <a:ext cx="2651760" cy="16834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17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8DACD0-57C1-A420-18D0-79585384046E}"/>
              </a:ext>
            </a:extLst>
          </p:cNvPr>
          <p:cNvSpPr/>
          <p:nvPr>
            <p:ph type="body" idx="21"/>
          </p:nvPr>
        </p:nvSpPr>
        <p:spPr>
          <a:xfrm xmlns:a="http://schemas.openxmlformats.org/drawingml/2006/main">
            <a:off x="3246120" y="1676217"/>
            <a:ext cx="2651760" cy="138049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 xmlns:a="http://schemas.openxmlformats.org/drawingml/2006/main"/>
        </p:txBody>
      </p:sp>
      <p:sp>
        <p:nvSpPr>
          <p:cNvPr id="1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4B27034-5514-D99C-E637-202A25B1FD6F}"/>
              </a:ext>
            </a:extLst>
          </p:cNvPr>
          <p:cNvSpPr/>
          <p:nvPr>
            <p:ph type="body" idx="22"/>
          </p:nvPr>
        </p:nvSpPr>
        <p:spPr>
          <a:xfrm xmlns:a="http://schemas.openxmlformats.org/drawingml/2006/main">
            <a:off x="6073141" y="1676216"/>
            <a:ext cx="2651760" cy="138049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9" y="1676217"/>
            <a:ext cx="2651760" cy="110116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buNone/>
              <a:defRPr/>
            </a:lvl3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Full Slide Image With Fram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/>
          <p:nvPr>
            <p:ph type="pic" idx="18"/>
          </p:nvPr>
        </p:nvSpPr>
        <p:spPr>
          <a:xfrm xmlns:a="http://schemas.openxmlformats.org/drawingml/2006/main">
            <a:off x="481430" y="454400"/>
            <a:ext cx="8182724" cy="39460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109728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6615BEC-BFFE-40A0-896D-1859B7CF0B0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106C210-D2AE-4ED2-8AE0-FB76AE4E12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6DF2AA-BC4C-412B-A9B2-7FB38AD1817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1_Statement Slide with bar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118872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9EAC8B-604F-446C-90A7-FE81009AE1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0C9A46-9BD5-42D4-8473-BFA2600B110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2B73FF-ADD7-4915-AF57-AFE6DC32F5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82A131D3-0540-078D-DF01-87FBF7750DB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30212" y="3621522"/>
            <a:ext cx="7891524" cy="730353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Two Conten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16B2D7-A7C5-E04B-559B-CD89EFC1C2F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1" cy="730353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9C2D18-6293-B1CC-9520-5D129ECF51B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0085BA-A8E8-AD04-F15B-4C73A7232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1B2DAA-362B-4AE3-646B-5445FB14038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9101A72-F511-75EC-76D5-2E936D99EC0F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430213" y="1266937"/>
            <a:ext cx="5486400" cy="40994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60B904-C450-B2E9-A6CE-57A860B5359F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20650" y="1676879"/>
            <a:ext cx="4051501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5F8D2A5-E174-5E97-4E01-7E5DC474CC5C}"/>
              </a:ext>
            </a:extLst>
          </p:cNvPr>
          <p:cNvSpPr/>
          <p:nvPr>
            <p:ph idx="15"/>
          </p:nvPr>
        </p:nvSpPr>
        <p:spPr>
          <a:xfrm xmlns:a="http://schemas.openxmlformats.org/drawingml/2006/main">
            <a:off x="4678652" y="1676879"/>
            <a:ext cx="4051501" cy="2783996"/>
          </a:xfrm>
        </p:spPr>
        <p:txBody>
          <a:bodyPr xmlns:a="http://schemas.openxmlformats.org/drawingml/2006/main"/>
          <a:lstStyle xmlns:a="http://schemas.openxmlformats.org/drawingml/2006/main">
            <a:lvl1pPr marL="171450" indent="-171450">
              <a:buChar char="•"/>
              <a:defRPr b="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Closing Slide 2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5DA20C-D2BC-4278-A683-99745DFDC7E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80339"/>
            <a:ext cx="4504056" cy="242844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5CCFA5-BA84-44CB-8799-9B9E38B053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DB09F4-8BB8-478D-A9D9-B4B47D736E1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13309C-0603-4A8B-AE17-85E6C745D58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Section Header 2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BA6E48-0072-4DCB-A783-EE24054F81E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734829"/>
            <a:ext cx="4323816" cy="21395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6169D6-5941-428B-9957-7C58356CD30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19100" y="3374282"/>
            <a:ext cx="4323816" cy="7704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9A4389-6B42-4143-B7CE-DB02A11BD1D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97C9A4-4018-4325-A122-006421F041C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D6693E-F378-42DB-890B-F9833E3EAB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Statement Slide 3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118872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5A5620-CF96-4211-8D85-F55D44C1029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99389"/>
            <a:ext cx="4504056" cy="26394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E97B07-F795-4B0D-B8A6-65DAD8CC6CA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AA1CA9-07B0-4834-A528-2F421358D62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9CFC8-BDCF-414C-A01F-C5D00109A3F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>
  <p:cSld name="Statement Left_Wide Image R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8913E0-EA09-48AA-B3DC-5B44452D080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AFD1625-3DE1-4332-9B93-B45D89F914D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02594C-7FBA-495E-9288-F90440F3A6E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8" y="2105248"/>
            <a:ext cx="2543840" cy="23556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600" u="sng">
                <a:solidFill>
                  <a:schemeClr val="tx1"/>
                </a:solidFill>
              </a:defRPr>
            </a:lvl2pPr>
          </a:lstStyle>
          <a:p xmlns:a="http://schemas.openxmlformats.org/drawingml/2006/main"/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3260651" y="390524"/>
            <a:ext cx="5464249" cy="40703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91440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170041-B313-4490-3EEE-D2CBF164833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9" y="733235"/>
            <a:ext cx="2743200" cy="1201369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 type="blank">
  <p:cSld name="Blank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4B001C-1ECE-49DA-8500-0E9EBEB7B43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D6068E7-D67D-4B32-9958-1E40A2E3AAC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BA7F0B-9047-45A4-9A5B-6A569C6451A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Three Column Process With Imag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/>
          <p:nvPr>
            <p:ph type="pic" idx="18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</p:spPr>
        <p:txBody>
          <a:bodyPr xmlns:a="http://schemas.openxmlformats.org/drawingml/2006/main" tIns="1097280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0AF498-7363-4878-BDBF-450680F0378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3" cy="7303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B29214-C51E-4BC3-8C13-99217A785A1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B72988-58A9-4620-9EBC-1A9A21E3FE0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A30386-1C86-40FA-A64B-9B414AE6063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419099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 xmlns:a="http://schemas.openxmlformats.org/drawingml/2006/main"/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/>
          <p:nvPr>
            <p:ph type="body" idx="16"/>
          </p:nvPr>
        </p:nvSpPr>
        <p:spPr>
          <a:xfrm xmlns:a="http://schemas.openxmlformats.org/drawingml/2006/main">
            <a:off x="3264847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 xmlns:a="http://schemas.openxmlformats.org/drawingml/2006/main"/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6110596" y="2520473"/>
            <a:ext cx="2138764" cy="19404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buNone/>
              <a:defRPr>
                <a:solidFill>
                  <a:schemeClr val="bg1"/>
                </a:solidFill>
              </a:defRPr>
            </a:lvl3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Closing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4AC206-B52C-4638-AB5D-D0DB33E19EC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80339"/>
            <a:ext cx="4504056" cy="242844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32705D-7162-4CAE-9E66-E63C3FB8280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8CAAFC-1B93-4FC8-BE7F-A109976E39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0B03A7-081C-4B1E-8977-583DF458541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Statement Slide 2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4A3A48-6C38-4E9D-9380-D48E59A13F4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100" y="699389"/>
            <a:ext cx="4504056" cy="263945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100000"/>
              </a:lnSpc>
              <a:buNone/>
              <a:defRPr sz="44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66327B-EAE1-491B-B413-2F52AF508A1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39307F-4B54-4D24-911B-26CFCB89DB9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3014DF-58AB-4131-940E-442C69BFA62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32d23b00f34c0e" /><Relationship Type="http://schemas.openxmlformats.org/officeDocument/2006/relationships/slideLayout" Target="/ppt/slideLayouts/slideLayout2.xml" Id="Rb7787733b96f4c01" /><Relationship Type="http://schemas.openxmlformats.org/officeDocument/2006/relationships/slideLayout" Target="/ppt/slideLayouts/slideLayout3.xml" Id="R38fa751a39614d13" /><Relationship Type="http://schemas.openxmlformats.org/officeDocument/2006/relationships/slideLayout" Target="/ppt/slideLayouts/slideLayout4.xml" Id="Ra9d38cfab1d84746" /><Relationship Type="http://schemas.openxmlformats.org/officeDocument/2006/relationships/slideLayout" Target="/ppt/slideLayouts/slideLayout5.xml" Id="R6ad88b6b16984ab3" /><Relationship Type="http://schemas.openxmlformats.org/officeDocument/2006/relationships/slideLayout" Target="/ppt/slideLayouts/slideLayout6.xml" Id="Re847bd4b7b1941b1" /><Relationship Type="http://schemas.openxmlformats.org/officeDocument/2006/relationships/slideLayout" Target="/ppt/slideLayouts/slideLayout7.xml" Id="Rfed88704596f425f" /><Relationship Type="http://schemas.openxmlformats.org/officeDocument/2006/relationships/slideLayout" Target="/ppt/slideLayouts/slideLayout8.xml" Id="R990207fde9414e37" /><Relationship Type="http://schemas.openxmlformats.org/officeDocument/2006/relationships/slideLayout" Target="/ppt/slideLayouts/slideLayout9.xml" Id="R8786709389804210" /><Relationship Type="http://schemas.openxmlformats.org/officeDocument/2006/relationships/slideLayout" Target="/ppt/slideLayouts/slideLayout10.xml" Id="R1ea632f532bd49ca" /><Relationship Type="http://schemas.openxmlformats.org/officeDocument/2006/relationships/slideLayout" Target="/ppt/slideLayouts/slideLayout11.xml" Id="R5e0ab5581d7f4b5d" /><Relationship Type="http://schemas.openxmlformats.org/officeDocument/2006/relationships/slideLayout" Target="/ppt/slideLayouts/slideLayout12.xml" Id="R5ffb69233f754c2d" /><Relationship Type="http://schemas.openxmlformats.org/officeDocument/2006/relationships/slideLayout" Target="/ppt/slideLayouts/slideLayout13.xml" Id="R461939c3adec488a" /><Relationship Type="http://schemas.openxmlformats.org/officeDocument/2006/relationships/slideLayout" Target="/ppt/slideLayouts/slideLayout14.xml" Id="Rc888b23c43ed44c6" /><Relationship Type="http://schemas.openxmlformats.org/officeDocument/2006/relationships/slideLayout" Target="/ppt/slideLayouts/slideLayout15.xml" Id="R774231a259e54b75" /><Relationship Type="http://schemas.openxmlformats.org/officeDocument/2006/relationships/slideLayout" Target="/ppt/slideLayouts/slideLayout16.xml" Id="Rf9e9b0a512544703" /><Relationship Type="http://schemas.openxmlformats.org/officeDocument/2006/relationships/slideLayout" Target="/ppt/slideLayouts/slideLayout17.xml" Id="R60bf00332143463a" /><Relationship Type="http://schemas.openxmlformats.org/officeDocument/2006/relationships/slideLayout" Target="/ppt/slideLayouts/slideLayout18.xml" Id="Rdd80099a7020407a" /><Relationship Type="http://schemas.openxmlformats.org/officeDocument/2006/relationships/slideLayout" Target="/ppt/slideLayouts/slideLayout19.xml" Id="Rd4f9de4b75f0407a" /><Relationship Type="http://schemas.openxmlformats.org/officeDocument/2006/relationships/slideLayout" Target="/ppt/slideLayouts/slideLayout20.xml" Id="Radf85328b2664888" /><Relationship Type="http://schemas.openxmlformats.org/officeDocument/2006/relationships/slideLayout" Target="/ppt/slideLayouts/slideLayout21.xml" Id="R8e34f79cb80a4937" /><Relationship Type="http://schemas.openxmlformats.org/officeDocument/2006/relationships/slideLayout" Target="/ppt/slideLayouts/slideLayout22.xml" Id="R000299d126734ec7" /><Relationship Type="http://schemas.openxmlformats.org/officeDocument/2006/relationships/slideLayout" Target="/ppt/slideLayouts/slideLayout23.xml" Id="R101fee5c9f494754" /><Relationship Type="http://schemas.openxmlformats.org/officeDocument/2006/relationships/slideLayout" Target="/ppt/slideLayouts/slideLayout24.xml" Id="R1b3eeee1a05f49a9" /><Relationship Type="http://schemas.openxmlformats.org/officeDocument/2006/relationships/slideLayout" Target="/ppt/slideLayouts/slideLayout25.xml" Id="R7f22604ed60e46d7" /><Relationship Type="http://schemas.openxmlformats.org/officeDocument/2006/relationships/slideLayout" Target="/ppt/slideLayouts/slideLayout26.xml" Id="R94e54631127547d3" /><Relationship Type="http://schemas.openxmlformats.org/officeDocument/2006/relationships/slideLayout" Target="/ppt/slideLayouts/slideLayout27.xml" Id="R41454a36f9f049cf" /><Relationship Type="http://schemas.openxmlformats.org/officeDocument/2006/relationships/slideLayout" Target="/ppt/slideLayouts/slideLayout28.xml" Id="R25944fb4a7b3440a" /><Relationship Type="http://schemas.openxmlformats.org/officeDocument/2006/relationships/slideLayout" Target="/ppt/slideLayouts/slideLayout29.xml" Id="R6bc512bf807b4dc2" /><Relationship Type="http://schemas.openxmlformats.org/officeDocument/2006/relationships/slideLayout" Target="/ppt/slideLayouts/slideLayout30.xml" Id="Rb81adee79f9f44be" /><Relationship Type="http://schemas.openxmlformats.org/officeDocument/2006/relationships/slideLayout" Target="/ppt/slideLayouts/slideLayout31.xml" Id="R2cb66179f9424465" /><Relationship Type="http://schemas.openxmlformats.org/officeDocument/2006/relationships/slideLayout" Target="/ppt/slideLayouts/slideLayout32.xml" Id="R32b34dae8cbe4cb6" /><Relationship Type="http://schemas.openxmlformats.org/officeDocument/2006/relationships/slideLayout" Target="/ppt/slideLayouts/slideLayout33.xml" Id="R89a3faa2a9c94693" /><Relationship Type="http://schemas.openxmlformats.org/officeDocument/2006/relationships/slideLayout" Target="/ppt/slideLayouts/slideLayout34.xml" Id="Rf7ebb5c891a647b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E9BC7E5-EBF6-40A6-9F96-CB04A78A54F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19098" y="393106"/>
            <a:ext cx="8305801" cy="730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4694C7-E966-47BD-A95F-C8BF3FEC86B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19099" y="1674813"/>
            <a:ext cx="5486400" cy="27848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647A20-376F-4F47-A028-6FB9EE700C0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500463" y="5430974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461B05-90E0-44BC-ACC3-5C9DC2F3EAA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923156" y="4767388"/>
            <a:ext cx="3086100" cy="107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70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68711C-06F4-45E3-B29B-297D354955F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439468" y="4767388"/>
            <a:ext cx="274320" cy="107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r">
              <a:buNone/>
              <a:defRPr sz="70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787733b96f4c01"/>
    <p:sldLayoutId xmlns:r="http://schemas.openxmlformats.org/officeDocument/2006/relationships" id="2147483650" r:id="R38fa751a39614d13"/>
    <p:sldLayoutId xmlns:r="http://schemas.openxmlformats.org/officeDocument/2006/relationships" id="2147483651" r:id="Ra9d38cfab1d84746"/>
    <p:sldLayoutId xmlns:r="http://schemas.openxmlformats.org/officeDocument/2006/relationships" id="2147483652" r:id="R6ad88b6b16984ab3"/>
    <p:sldLayoutId xmlns:r="http://schemas.openxmlformats.org/officeDocument/2006/relationships" id="2147483653" r:id="Re847bd4b7b1941b1"/>
    <p:sldLayoutId xmlns:r="http://schemas.openxmlformats.org/officeDocument/2006/relationships" id="2147483654" r:id="Rfed88704596f425f"/>
    <p:sldLayoutId xmlns:r="http://schemas.openxmlformats.org/officeDocument/2006/relationships" id="2147483655" r:id="R990207fde9414e37"/>
    <p:sldLayoutId xmlns:r="http://schemas.openxmlformats.org/officeDocument/2006/relationships" id="2147483656" r:id="R8786709389804210"/>
    <p:sldLayoutId xmlns:r="http://schemas.openxmlformats.org/officeDocument/2006/relationships" id="2147483657" r:id="R1ea632f532bd49ca"/>
    <p:sldLayoutId xmlns:r="http://schemas.openxmlformats.org/officeDocument/2006/relationships" id="2147483658" r:id="R5e0ab5581d7f4b5d"/>
    <p:sldLayoutId xmlns:r="http://schemas.openxmlformats.org/officeDocument/2006/relationships" id="2147483659" r:id="R5ffb69233f754c2d"/>
    <p:sldLayoutId xmlns:r="http://schemas.openxmlformats.org/officeDocument/2006/relationships" id="2147483660" r:id="R461939c3adec488a"/>
    <p:sldLayoutId xmlns:r="http://schemas.openxmlformats.org/officeDocument/2006/relationships" id="2147483661" r:id="Rc888b23c43ed44c6"/>
    <p:sldLayoutId xmlns:r="http://schemas.openxmlformats.org/officeDocument/2006/relationships" id="2147483662" r:id="R774231a259e54b75"/>
    <p:sldLayoutId xmlns:r="http://schemas.openxmlformats.org/officeDocument/2006/relationships" id="2147483663" r:id="Rf9e9b0a512544703"/>
    <p:sldLayoutId xmlns:r="http://schemas.openxmlformats.org/officeDocument/2006/relationships" id="2147483664" r:id="R60bf00332143463a"/>
    <p:sldLayoutId xmlns:r="http://schemas.openxmlformats.org/officeDocument/2006/relationships" id="2147483665" r:id="Rdd80099a7020407a"/>
    <p:sldLayoutId xmlns:r="http://schemas.openxmlformats.org/officeDocument/2006/relationships" id="2147483666" r:id="Rd4f9de4b75f0407a"/>
    <p:sldLayoutId xmlns:r="http://schemas.openxmlformats.org/officeDocument/2006/relationships" id="2147483667" r:id="Radf85328b2664888"/>
    <p:sldLayoutId xmlns:r="http://schemas.openxmlformats.org/officeDocument/2006/relationships" id="2147483668" r:id="R8e34f79cb80a4937"/>
    <p:sldLayoutId xmlns:r="http://schemas.openxmlformats.org/officeDocument/2006/relationships" id="2147483669" r:id="R000299d126734ec7"/>
    <p:sldLayoutId xmlns:r="http://schemas.openxmlformats.org/officeDocument/2006/relationships" id="2147483670" r:id="R101fee5c9f494754"/>
    <p:sldLayoutId xmlns:r="http://schemas.openxmlformats.org/officeDocument/2006/relationships" id="2147483671" r:id="R1b3eeee1a05f49a9"/>
    <p:sldLayoutId xmlns:r="http://schemas.openxmlformats.org/officeDocument/2006/relationships" id="2147483672" r:id="R7f22604ed60e46d7"/>
    <p:sldLayoutId xmlns:r="http://schemas.openxmlformats.org/officeDocument/2006/relationships" id="2147483673" r:id="R94e54631127547d3"/>
    <p:sldLayoutId xmlns:r="http://schemas.openxmlformats.org/officeDocument/2006/relationships" id="2147483674" r:id="R41454a36f9f049cf"/>
    <p:sldLayoutId xmlns:r="http://schemas.openxmlformats.org/officeDocument/2006/relationships" id="2147483675" r:id="R25944fb4a7b3440a"/>
    <p:sldLayoutId xmlns:r="http://schemas.openxmlformats.org/officeDocument/2006/relationships" id="2147483676" r:id="R6bc512bf807b4dc2"/>
    <p:sldLayoutId xmlns:r="http://schemas.openxmlformats.org/officeDocument/2006/relationships" id="2147483677" r:id="Rb81adee79f9f44be"/>
    <p:sldLayoutId xmlns:r="http://schemas.openxmlformats.org/officeDocument/2006/relationships" id="2147483678" r:id="R2cb66179f9424465"/>
    <p:sldLayoutId xmlns:r="http://schemas.openxmlformats.org/officeDocument/2006/relationships" id="2147483679" r:id="R32b34dae8cbe4cb6"/>
    <p:sldLayoutId xmlns:r="http://schemas.openxmlformats.org/officeDocument/2006/relationships" id="2147483680" r:id="R89a3faa2a9c94693"/>
    <p:sldLayoutId xmlns:r="http://schemas.openxmlformats.org/officeDocument/2006/relationships" id="2147483681" r:id="Rf7ebb5c891a6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8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>
        <a:lnSpc>
          <a:spcPct val="100000"/>
        </a:lnSpc>
        <a:spcBef>
          <a:spcPts val="1200"/>
        </a:spcBef>
        <a:buChar char="•"/>
        <a:defRPr sz="180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2763" indent="-171450" algn="l">
        <a:lnSpc>
          <a:spcPct val="100000"/>
        </a:lnSpc>
        <a:spcBef>
          <a:spcPts val="12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lnSpc>
          <a:spcPct val="100000"/>
        </a:lnSpc>
        <a:spcBef>
          <a:spcPts val="12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lnSpc>
          <a:spcPct val="100000"/>
        </a:lnSpc>
        <a:spcBef>
          <a:spcPts val="12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lnSpc>
          <a:spcPct val="100000"/>
        </a:lnSpc>
        <a:spcBef>
          <a:spcPts val="12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61fa0d799264fe3" /><Relationship Type="http://schemas.openxmlformats.org/officeDocument/2006/relationships/notesSlide" Target="/ppt/notesSlides/notesSlide1.xml" Id="Rfcf30253963f49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b75edb5e24c1d" /><Relationship Type="http://schemas.openxmlformats.org/officeDocument/2006/relationships/notesSlide" Target="/ppt/notesSlides/notesSlide2.xml" Id="R73465ed6da14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e7630097b4d64" /><Relationship Type="http://schemas.openxmlformats.org/officeDocument/2006/relationships/notesSlide" Target="/ppt/notesSlides/notesSlide3.xml" Id="Rd3736dff960047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5c27913ab4ef8" /><Relationship Type="http://schemas.openxmlformats.org/officeDocument/2006/relationships/image" Target="/ppt/media/image.png" Id="R6a5248f54f90433e" /><Relationship Type="http://schemas.openxmlformats.org/officeDocument/2006/relationships/notesSlide" Target="/ppt/notesSlides/notesSlide4.xml" Id="R22cfa24230f5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1f7c1a0864307" /><Relationship Type="http://schemas.openxmlformats.org/officeDocument/2006/relationships/notesSlide" Target="/ppt/notesSlides/notesSlide5.xml" Id="Rba48cb5f8cb4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9ac0b6f286489d" /><Relationship Type="http://schemas.openxmlformats.org/officeDocument/2006/relationships/notesSlide" Target="/ppt/notesSlides/notesSlide6.xml" Id="R10a86af4230b45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13eaa8cc9489c" /><Relationship Type="http://schemas.openxmlformats.org/officeDocument/2006/relationships/notesSlide" Target="/ppt/notesSlides/notesSlide7.xml" Id="Rd11c8f2849d049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f45988dc44d8b" /><Relationship Type="http://schemas.openxmlformats.org/officeDocument/2006/relationships/notesSlide" Target="/ppt/notesSlides/notesSlide8.xml" Id="R55bf0b81aeea42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590fe10f64218" /><Relationship Type="http://schemas.openxmlformats.org/officeDocument/2006/relationships/notesSlide" Target="/ppt/notesSlides/notesSlide9.xml" Id="Rc69cf6b1476c4b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feb203063427f" /><Relationship Type="http://schemas.openxmlformats.org/officeDocument/2006/relationships/notesSlide" Target="/ppt/notesSlides/notesSlide10.xml" Id="Rd12a4cc5c7a34c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38bf7959246e9" /><Relationship Type="http://schemas.openxmlformats.org/officeDocument/2006/relationships/image" Target="/ppt/media/image.png" Id="R732fe1c2941544d1" /><Relationship Type="http://schemas.openxmlformats.org/officeDocument/2006/relationships/notesSlide" Target="/ppt/notesSlides/notesSlide11.xml" Id="Rff81c14a36d741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b76cb606548d0" /><Relationship Type="http://schemas.openxmlformats.org/officeDocument/2006/relationships/notesSlide" Target="/ppt/notesSlides/notesSlide12.xml" Id="Re2383827703b40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0607dbbbd4220" /><Relationship Type="http://schemas.openxmlformats.org/officeDocument/2006/relationships/notesSlide" Target="/ppt/notesSlides/notesSlide13.xml" Id="Rcc69d3c64cbe40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8791ef0714d27" /><Relationship Type="http://schemas.openxmlformats.org/officeDocument/2006/relationships/notesSlide" Target="/ppt/notesSlides/notesSlide14.xml" Id="R171a55160bf64b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be47c384f4099" /><Relationship Type="http://schemas.openxmlformats.org/officeDocument/2006/relationships/notesSlide" Target="/ppt/notesSlides/notesSlide15.xml" Id="Rd4d39da386d147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04ee446a54bfa" /><Relationship Type="http://schemas.openxmlformats.org/officeDocument/2006/relationships/notesSlide" Target="/ppt/notesSlides/notesSlide16.xml" Id="R22ebc49be54144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e1bc0fb37425d" /><Relationship Type="http://schemas.openxmlformats.org/officeDocument/2006/relationships/notesSlide" Target="/ppt/notesSlides/notesSlide17.xml" Id="R6b08a0baafbc4b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be2658daa4ba7" /><Relationship Type="http://schemas.openxmlformats.org/officeDocument/2006/relationships/notesSlide" Target="/ppt/notesSlides/notesSlide18.xml" Id="R65330110f6a14a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0c475bddc4bfb" /><Relationship Type="http://schemas.openxmlformats.org/officeDocument/2006/relationships/notesSlide" Target="/ppt/notesSlides/notesSlide19.xml" Id="R327e47af2c6142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9196db26ba2c4964" /><Relationship Type="http://schemas.openxmlformats.org/officeDocument/2006/relationships/notesSlide" Target="/ppt/notesSlides/notesSlide20.xml" Id="R0c07aa5f9bee4f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0b80286b84227" /><Relationship Type="http://schemas.openxmlformats.org/officeDocument/2006/relationships/notesSlide" Target="/ppt/notesSlides/notesSlide21.xml" Id="Refd773819e094e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8dc3a32884a93" /><Relationship Type="http://schemas.openxmlformats.org/officeDocument/2006/relationships/notesSlide" Target="/ppt/notesSlides/notesSlide22.xml" Id="R594043acabb24f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9c3291eeed4d90" /><Relationship Type="http://schemas.openxmlformats.org/officeDocument/2006/relationships/notesSlide" Target="/ppt/notesSlides/notesSlide23.xml" Id="R3ba9975096d146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0dacf50e342a0" /><Relationship Type="http://schemas.openxmlformats.org/officeDocument/2006/relationships/notesSlide" Target="/ppt/notesSlides/notesSlide24.xml" Id="R5323c526ad1d48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9d8a5c44b4889" /><Relationship Type="http://schemas.openxmlformats.org/officeDocument/2006/relationships/notesSlide" Target="/ppt/notesSlides/notesSlide25.xml" Id="R4d40925e443741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f389aa6ca4740" /><Relationship Type="http://schemas.openxmlformats.org/officeDocument/2006/relationships/notesSlide" Target="/ppt/notesSlides/notesSlide26.xml" Id="R91d29ae322d64b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f06a5778240bf" /><Relationship Type="http://schemas.openxmlformats.org/officeDocument/2006/relationships/image" Target="/ppt/media/image.png" Id="R7b575ed9a98549a8" /><Relationship Type="http://schemas.openxmlformats.org/officeDocument/2006/relationships/notesSlide" Target="/ppt/notesSlides/notesSlide27.xml" Id="Ra2dd161ecddb42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6cae7b15d4f52" /><Relationship Type="http://schemas.openxmlformats.org/officeDocument/2006/relationships/notesSlide" Target="/ppt/notesSlides/notesSlide28.xml" Id="Rf4318aecf6b543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6094337fe4b00" /><Relationship Type="http://schemas.openxmlformats.org/officeDocument/2006/relationships/notesSlide" Target="/ppt/notesSlides/notesSlide29.xml" Id="Rb66ebcbf9eb344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23e279db74b38" /><Relationship Type="http://schemas.openxmlformats.org/officeDocument/2006/relationships/notesSlide" Target="/ppt/notesSlides/notesSlide30.xml" Id="Rb8a50e3e1a4f40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da68eab2c449e" /><Relationship Type="http://schemas.openxmlformats.org/officeDocument/2006/relationships/notesSlide" Target="/ppt/notesSlides/notesSlide31.xml" Id="Rd6d3f1db92aa45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c479de7fe4dee" /><Relationship Type="http://schemas.openxmlformats.org/officeDocument/2006/relationships/image" Target="/ppt/media/image.png" Id="R249d85f18f8143d5" /><Relationship Type="http://schemas.openxmlformats.org/officeDocument/2006/relationships/notesSlide" Target="/ppt/notesSlides/notesSlide32.xml" Id="Ra9e6a9707cfd433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2893608850544cd" /><Relationship Type="http://schemas.openxmlformats.org/officeDocument/2006/relationships/notesSlide" Target="/ppt/notesSlides/notesSlide33.xml" Id="R708e185651d544e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23c78c74d4888" /><Relationship Type="http://schemas.openxmlformats.org/officeDocument/2006/relationships/notesSlide" Target="/ppt/notesSlides/notesSlide34.xml" Id="Rfbf5ae4fc9264b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8bb80773024fbc" /><Relationship Type="http://schemas.openxmlformats.org/officeDocument/2006/relationships/notesSlide" Target="/ppt/notesSlides/notesSlide35.xml" Id="Rbc8fa88140cc48a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54a59abd74f88" /><Relationship Type="http://schemas.openxmlformats.org/officeDocument/2006/relationships/image" Target="/ppt/media/image.png" Id="Rf5852c3ad31340fc" /><Relationship Type="http://schemas.openxmlformats.org/officeDocument/2006/relationships/notesSlide" Target="/ppt/notesSlides/notesSlide36.xml" Id="Re9ec685d75d946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37bc64eeb4134" /><Relationship Type="http://schemas.openxmlformats.org/officeDocument/2006/relationships/image" Target="/ppt/media/image.png" Id="Rbee95b5f33244f66" /><Relationship Type="http://schemas.openxmlformats.org/officeDocument/2006/relationships/notesSlide" Target="/ppt/notesSlides/notesSlide37.xml" Id="R033f702c6ec04f3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417a2cc51fa94cfd" /><Relationship Type="http://schemas.openxmlformats.org/officeDocument/2006/relationships/notesSlide" Target="/ppt/notesSlides/notesSlide38.xml" Id="R4248cd3def8245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41f5c29fa4fe8" /><Relationship Type="http://schemas.openxmlformats.org/officeDocument/2006/relationships/notesSlide" Target="/ppt/notesSlides/notesSlide39.xml" Id="R159a6095e22a4d8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232ccd7bd469c" /><Relationship Type="http://schemas.openxmlformats.org/officeDocument/2006/relationships/notesSlide" Target="/ppt/notesSlides/notesSlide40.xml" Id="R6e732ff689b24f3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e564f6edc445c" /><Relationship Type="http://schemas.openxmlformats.org/officeDocument/2006/relationships/notesSlide" Target="/ppt/notesSlides/notesSlide41.xml" Id="Rb6d5884f35764db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9d33cb8c045f8" /><Relationship Type="http://schemas.openxmlformats.org/officeDocument/2006/relationships/notesSlide" Target="/ppt/notesSlides/notesSlide42.xml" Id="R3d987df0efd04f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1830dce634b33" /><Relationship Type="http://schemas.openxmlformats.org/officeDocument/2006/relationships/notesSlide" Target="/ppt/notesSlides/notesSlide43.xml" Id="Rf5c39d5b615d41c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e9e34869e4b6d" /><Relationship Type="http://schemas.openxmlformats.org/officeDocument/2006/relationships/notesSlide" Target="/ppt/notesSlides/notesSlide44.xml" Id="R886fc86a8f0440f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df421fe2a104e23" /><Relationship Type="http://schemas.openxmlformats.org/officeDocument/2006/relationships/notesSlide" Target="/ppt/notesSlides/notesSlide45.xml" Id="R0d4d68e50d4542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0069EB-2D75-942F-1FE6-F814822BA7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30212" y="1491239"/>
            <a:ext cx="4080828" cy="124182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 and Action</a:t>
            </a:r>
          </a:p>
        </p:txBody>
      </p:sp>
      <p:sp>
        <p:nvSpPr>
          <p:cNvPr id="3" name="Subtitle 11">
            <a:extLst xmlns:a="http://schemas.openxmlformats.org/drawingml/2006/main">
              <a:ext uri="{FF2B5EF4-FFF2-40B4-BE49-F238E27FC236}">
                <a16:creationId xmlns:a16="http://schemas.microsoft.com/office/drawing/2014/main" id="{7EDE6D9F-0BD1-1C3E-7464-392758114D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30212" y="2978009"/>
            <a:ext cx="4002451" cy="148286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 for Clinical Care and Research</a:t>
            </a:r>
          </a:p>
          <a:p xmlns:a="http://schemas.openxmlformats.org/drawingml/2006/main"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Robert Locke, MD</a:t>
            </a:r>
          </a:p>
          <a:p xmlns:a="http://schemas.openxmlformats.org/drawingml/2006/main"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May 29, 2026</a:t>
            </a:r>
          </a:p>
        </p:txBody>
      </p:sp>
      <p:sp>
        <p:nvSpPr>
          <p:cNvPr id="4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5B18E5B-78E8-44CE-911C-C017FEE776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30212" y="4623512"/>
            <a:ext cx="3086100" cy="107722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Intermountain Health</a:t>
            </a:r>
          </a:p>
        </p:txBody>
      </p:sp>
    </p:spTree>
    <p:extLst>
      <p:ext uri="{BB962C8B-B14F-4D97-AF65-F5344CB8AC3E}">
        <p14:creationId xmlns:p14="http://schemas.microsoft.com/office/powerpoint/2010/main" val="42897427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Prediction is not the endpoint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Core frame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Arrow: Chevron 6">
            <a:extLst xmlns:a="http://schemas.openxmlformats.org/drawingml/2006/main">
              <a:ext uri="{FF2B5EF4-FFF2-40B4-BE49-F238E27FC236}">
                <a16:creationId xmlns:a16="http://schemas.microsoft.com/office/drawing/2014/main" id="{D9A09346-E7BD-C340-D564-4B76B87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05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8" name="Arrow: Chevron 7">
            <a:extLst xmlns:a="http://schemas.openxmlformats.org/drawingml/2006/main">
              <a:ext uri="{FF2B5EF4-FFF2-40B4-BE49-F238E27FC236}">
                <a16:creationId xmlns:a16="http://schemas.microsoft.com/office/drawing/2014/main" id="{948C8F22-186F-5974-4262-AC38B0C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284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Arrow: Chevron 8">
            <a:extLst xmlns:a="http://schemas.openxmlformats.org/drawingml/2006/main">
              <a:ext uri="{FF2B5EF4-FFF2-40B4-BE49-F238E27FC236}">
                <a16:creationId xmlns:a16="http://schemas.microsoft.com/office/drawing/2014/main" id="{6B08A204-B64D-3DAB-2B0B-34F366F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63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0A8AB116-D3C8-46CA-5365-47990F6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42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 care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0251F-81A9-45B2-8FCC-98F6FB17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The hard question is what the prediction is for.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Accuracy is necessary. It is not sufficient.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5050-1B92-44C4-9096-C48A8515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90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4EE17-128A-45BB-8C52-18B662A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240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Discrimination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DD562-E1CB-4F89-97A6-16C941F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62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BE186-02C0-443F-A52E-5F494FB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955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BB0F1-13DC-4465-A2DC-6E87A80F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33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79B4A-04BB-402C-954B-72DCCE4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utility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8A2C3-8B98-4CF7-8DDD-851AA41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05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4B829-5E3F-44A7-B827-427BE7F8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Workflow adoption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9EDCF-A9BA-42B3-9A24-DC1750A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76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2AED7-FF73-4891-8F46-02154A3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Patient / trial impact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09A9A-D316-4AAC-8AFC-51D1ADE9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AUC is a starting point, not the destination.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3A685-1C71-4E84-A7B1-A976B6AD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AUC is one slice of model performance, not the clinical endpoint.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Four useful jobs for prediction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Four prediction jobs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248f54f90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248f54f90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248f54f90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248f54f9043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action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Disease definitions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enrichment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estimation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FA2BE-6D07-461F-B14F-D408AA6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D90DB-C248-487F-AB6A-F0D5057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A4107-FA18-453B-8A47-B5444EB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CBD40-1B0C-4486-9BE0-317969D0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decision rules are machine learning in plain clothes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5599E60-7352-B8C8-E748-E3378C20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540" y="2161954"/>
            <a:ext cx="1346790" cy="1346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Clinical rule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A4600D1-0731-5441-DB55-11853C9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149" y="2161954"/>
            <a:ext cx="1346790" cy="1346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logic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63B97E4-7461-7FBD-6749-3F0FEC45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758" y="2161954"/>
            <a:ext cx="1346790" cy="1346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to action</a:t>
            </a:r>
          </a:p>
        </p:txBody>
      </p:sp>
      <p:sp>
        <p:nvSpPr>
          <p:cNvPr id="10" name="Plus Sign 9">
            <a:extLst xmlns:a="http://schemas.openxmlformats.org/drawingml/2006/main">
              <a:ext uri="{FF2B5EF4-FFF2-40B4-BE49-F238E27FC236}">
                <a16:creationId xmlns:a16="http://schemas.microsoft.com/office/drawing/2014/main" id="{A6C560B9-93EC-C63C-B4C1-CFB82F85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2" y="2696008"/>
            <a:ext cx="279714" cy="283044"/>
          </a:xfrm>
          <a:prstGeom xmlns:a="http://schemas.openxmlformats.org/drawingml/2006/main" prst="mathPlus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Equals 11">
            <a:extLst xmlns:a="http://schemas.openxmlformats.org/drawingml/2006/main">
              <a:ext uri="{FF2B5EF4-FFF2-40B4-BE49-F238E27FC236}">
                <a16:creationId xmlns:a16="http://schemas.microsoft.com/office/drawing/2014/main" id="{1DCA32D8-01F0-6CD5-DF56-C32D9A3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82" y="2696008"/>
            <a:ext cx="279714" cy="283044"/>
          </a:xfrm>
          <a:prstGeom xmlns:a="http://schemas.openxmlformats.org/drawingml/2006/main" prst="mathEqual">
            <a:avLst>
              <a:gd name="adj1" fmla="val 21837"/>
              <a:gd name="adj2" fmla="val 11760"/>
            </a:avLst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DA16B5-04BC-FB87-BAA5-EBEC0E713A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65EBB6-DDC7-AF6C-E9FA-9C47BDDAC3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B86DC-5EC4-458E-AFD7-2B5366F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Simple models can be powerful when the use case is right.</a:t>
            </a:r>
          </a:p>
        </p:txBody>
      </p:sp>
    </p:spTree>
    <p:extLst>
      <p:ext uri="{BB962C8B-B14F-4D97-AF65-F5344CB8AC3E}">
        <p14:creationId xmlns:p14="http://schemas.microsoft.com/office/powerpoint/2010/main" val="976533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PE diagnosis had a high-leverage decision problem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2084A-ACC0-C34F-AC91-2998D5A5F3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42AD3-BE0B-FFD4-EACF-7943D5D41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Symptoms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Chest pain, dyspnea, tachycardia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Broad differential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PE, pneumonia, ACS, anxiety, others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CT scan?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Radiation, cost, throughput, incidental findings, missed PE risk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B811005-648B-9CA6-E786-3E66E14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CD8024A-9990-0A3C-F8D4-F18B859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47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134A6DD-156C-6F19-E64C-BD96B65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596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38113-2DB3-4EB0-B61F-06F7B19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PE is dangerous, nonspecific, and CT-for-all is undesirable.</a:t>
            </a:r>
          </a:p>
        </p:txBody>
      </p:sp>
    </p:spTree>
    <p:extLst>
      <p:ext uri="{BB962C8B-B14F-4D97-AF65-F5344CB8AC3E}">
        <p14:creationId xmlns:p14="http://schemas.microsoft.com/office/powerpoint/2010/main" val="19706253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 brief history of the Wells Score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28234-6F38-4E2D-B4CA-E85291F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4A00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A4358-4B70-4197-BB5C-68D7ADD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Clinical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0CB9F-AFB3-4638-8E4A-A600037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25CF3-E711-4077-A6C1-3F338CD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FF0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8293C-3ED2-47AC-9E42-B31ABA6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6D61F-2619-4B68-84FD-528C7A1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7D0FC-DF00-45A4-A94A-4084F907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 w="0">
            <a:solidFill>
              <a:srgbClr val="FF5D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2C77F-4E16-44CC-87D2-0937AE7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Rounded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370F2-C87A-43E0-9F19-9D538FF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FD753-C0E8-4DA9-8A7F-2086A266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7CAF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8F3DD-45C7-47EF-B423-D37B6DC3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D-dimer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CD75D-4C45-4661-86EC-32F80B01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EE61C-2CC5-4BFA-8766-9D3CE7E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11906">
            <a:solidFill>
              <a:srgbClr val="4A00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E1AE6-FB48-46A7-BDA9-77BC2914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B7C00-9DCC-4C33-A928-809678A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A0CA8-F304-48DC-91C2-6AA5FEF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4A00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151D7-6088-46D4-B646-6955153A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52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Guideline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uptake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FBF05-09AB-4B7A-AFEC-6AF91BBF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Logistic regression became trusted because it was simplified, paired with D-dimer, validated, and adopted in practice.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5FE2D-7E8C-4845-8B54-3C83766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48125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00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0044"/>
                </a:solidFill>
                <a:latin typeface="Arial"/>
                <a:ea typeface="Arial"/>
                <a:cs typeface="Arial"/>
              </a:rPr>
              <a:t>Low score + negative D-dimer → no CT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Under the hood: weighted predictors on a shared scale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9A290-2ADA-4792-9EDE-F2FA414A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733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0057"/>
                </a:solidFill>
                <a:latin typeface="STIX Two Math"/>
                <a:ea typeface="STIX Two Math"/>
                <a:cs typeface="STIX Two Math"/>
              </a:rPr>
              <a:t>logit(P(PE)) = β₀ + β₁X₁ + … + βkXk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80B44-F9E2-4F30-AAD3-F0831C0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5CD35-9E5B-4BEE-B5F3-7511675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rounded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FB55A-BEA5-4FEA-ADF5-7B756271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89BC1-A4F6-440C-89FF-B04FB02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A2774-54D1-4ECF-8482-7D94C2D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bedside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821CB-468A-4669-94C7-D541CD0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D342C-0BE2-40C2-AFDD-4B8D3635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80E38-EEA1-4EEF-821A-6340614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specific action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It did not solve 'Does this patient have PE?'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4729-7D7C-4442-8244-B9B0F18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476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CAE0F-FB22-4475-BDBB-EDD6DBC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3171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Overbroad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2C218-36FC-4D0E-AC06-394DA2AB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317182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Predict PE perfectly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32245-2B81-4146-B94F-AD959AD4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1F77C-F849-47AF-8517-901A48A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3476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746F-8D99-480F-8637-70D929C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04975"/>
            <a:ext cx="3171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Narrow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16482-B2EF-4DCB-9961-424CCBFA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28825"/>
            <a:ext cx="317182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Identify patients who can avoid CT after low pretest probability plus negative D-dimer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The design principles were clinical, not just statistical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Wells Score case study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F59F0-AB2A-4628-97DA-CC39D8B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3B32A-A824-4B03-93EB-6C5729A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EB26F-1EB3-4F4C-B2E2-024031E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764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73858-D8C6-47ED-893B-67BD71C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Deployable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5B8E3-6A29-497C-A9AE-F5A35FB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A841B-ADED-4EA7-9B80-22D3BEB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Interpretable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3EF16-9EBA-40AE-800A-0CD29488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764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7CA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6B4F9-7FBA-4ADF-A63F-123E1EF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Portable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FE7C7-CD0F-489D-9BF6-FF26C93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4A00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FC0A9-FAA6-4214-BEDF-9620997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Validated in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4B1EF-E265-452F-A961-B4D14E6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Clinician alone vs clinician with 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A4241-737D-4C95-AA28-183B0324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Correct comparison: clinician alone vs clinician with tool.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action is only one job for prediction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Four prediction jobs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e1c2941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e1c2941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e1c2941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e1c2941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action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Disease definitions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enrichment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estimation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1E287-B145-423A-BE57-642E99A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F7A82-7959-40DB-9AD6-663C92A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109A71-9285-405D-B8CE-7D2F8E8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F874C-0424-4F72-8F95-FBFAFDC4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 disease label is a reference class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Reference classes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386FF-1311-4A6A-AEA1-1285E207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240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110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8A476-F8AA-4F25-B9B6-2E49F4C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52675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Which class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should guide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5F1F0-B8AE-4F7D-9BAC-B6D6AB0D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668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6B822-2DD1-4DCA-8EC2-309B1BC7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80022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COPD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188B2-8BE2-4AFB-B431-C12FA8F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E1667-C46A-420A-BD79-857B900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hypercapnic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0D478-778E-4C98-94BE-C7632E8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668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AF622-768B-4E55-9B64-BC8B84CD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60020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obese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EE800-7A0D-45BB-9C3E-BC44834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99B35-FB9F-4A9A-8AAA-B3BCD71D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7647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post-ICU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0690C-7359-440E-9F4E-35CDA60E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7F389-6F99-47BE-B5F6-D0EDDF4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high utilizer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83F2C-F80D-4774-9048-9B961624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F2A4A-8857-4B50-8F39-86857C9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9572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sleep-disordered breathing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A0EF1-52D3-49F0-BD8D-5C76945F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5AF91-8A9E-40C3-AAE0-8DF50393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908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rural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The reference-class problem: which group should this patient be compared to?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Reference classes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C5363-314B-4558-9510-1773977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0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C43EE-ABA6-4A65-A271-5EBCEE79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81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28B0F-B233-4915-916E-9C11E398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71625"/>
            <a:ext cx="1762125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10478">
            <a:solidFill>
              <a:srgbClr val="FF0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6B0CA-6680-424C-BC04-317F0D0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335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Physiologic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abnormality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9D75A-0F87-4708-A00F-70ACED6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285875"/>
            <a:ext cx="1762125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10478">
            <a:solidFill>
              <a:srgbClr val="7CAF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9F5B1-5760-44AD-A104-D47F309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Diagnostic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syndrome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EF5B1-6667-4E32-9559-FFFBE5EE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1762125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10478">
            <a:solidFill>
              <a:srgbClr val="7271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2A470-F3A9-45B1-88B1-777F843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335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Prognosis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38C3B-E34B-424A-A634-1EB7111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762125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8FF"/>
          </a:solidFill>
          <a:ln xmlns:a="http://schemas.openxmlformats.org/drawingml/2006/main" w="10478">
            <a:solidFill>
              <a:srgbClr val="4A00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89621-388C-4E80-BEF7-3FF962A5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Treatment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0D04A-C4FB-4307-ADC5-7CEF08E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1762125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2E0"/>
          </a:solidFill>
          <a:ln xmlns:a="http://schemas.openxmlformats.org/drawingml/2006/main" w="10478">
            <a:solidFill>
              <a:srgbClr val="FF5D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1BBF9-E783-4945-B6F0-A7ADDB6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Care-delivery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need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8A8D7-15EC-4815-A1F8-560E5E4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Which reference class is useful for this purpose?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Thresholds define purposes, not automatic actions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Disease definitions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63343-F379-4658-B6E6-FF12141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C6C22-7055-4AA3-825D-0439E14A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35B8-A808-4E12-8860-80F05DD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525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18ADA-6B11-4D0D-B8FE-2F5C772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defines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C45EF-F868-4DCC-8295-EB8BCF3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3525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E4123-F8BB-4EE5-8C48-241F225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does not automatically define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03BE6-A253-45C1-B138-8B96645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A0291-A90E-4B2C-A374-690300E9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PaCO₂ &gt; 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DFEFE-8741-4222-98BE-461B2C0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EAACB-372A-42A1-A444-79512E67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Physiologic abnormality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DF77A-80CA-4D59-8810-DEF53A63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318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D446D-2050-487A-90BF-B5A4FED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478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Treatment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7799C-16D2-4682-A943-68A09CE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19F27-8FD1-4E18-9740-C86D17A6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FEV1/FVC &lt; 0.70 or LLN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99642-B8EC-43AF-94D3-9D4A3D40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D47C9-5D15-45CC-9F80-67B62D65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Airflow obstruction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6653F-7465-43B5-8E9F-B4A44F6A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62200"/>
            <a:ext cx="318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548DB-8170-488B-BD89-FEBED0B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Expected benefit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A9044-051B-402F-A15B-B6F25CF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84AF3-4779-4A11-B8AC-ACB7D43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ASCVD risk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B1AFD-E7ED-424B-B5B0-2F3DB02C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12884-5F50-49F6-B4A5-68A44626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Treatment eligibility /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F158D-020C-4B08-B322-A75E700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71800"/>
            <a:ext cx="318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CA8BF-D13E-4C2B-9146-3B01D23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Simple abnormality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47279-3645-4076-9F16-7C7DE1C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The same measurement can support different reference classes depending on the job.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99CB35-8809-DBBD-69ED-F4ACD0F2A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Syndrome definitions are tools for different jobs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0A26ED-551A-00BF-70FB-90C2DC814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ARDS definitions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BE349D-02E8-7395-98A7-6A02A980A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A5533-3F32-4543-80E3-79BA6A69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81125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110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5A21-9658-443E-A60D-1CFB15C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9542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46C74-55C7-466F-A3F4-A636938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A0573-4BCC-4264-A2E1-E2F6977F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47925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enrollment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600D0-C3A8-4921-82BA-AE1684D6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33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BDD3E-F1DE-429C-94DA-92664B48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47925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Prognosis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5E10C-2518-49BD-8667-D1F8904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B9C06-8BEB-4A15-AEB6-0952A50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Treatment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63AA8-A95C-4FA0-8ED3-1589153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7CAF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73FDD-C1FE-415B-AE6E-CC98818F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47925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Mechanistic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9236D-82B5-4906-8610-CDB6C462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4A00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0FE6E-2480-48D1-AB82-06D833E0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Operational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0BD60-F385-4639-A5CB-C6A2B92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-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BB55E-1C83-43B0-A952-C7B6BC8C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-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F9986-921B-45CF-B7B8-30FD5B4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3D746-6818-453A-9BA0-F972236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46FA5-9E69-4FA7-B841-F09537EF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A2DD4-5130-484C-8243-10D1F94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29125"/>
            <a:ext cx="657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Validity depends on purpose, reliability, feasibility, and consequences of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C4C80-F9EB-4536-9CBA-E31FF0F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43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Purpose-specific validity</a:t>
            </a:r>
          </a:p>
        </p:txBody>
      </p:sp>
    </p:spTree>
    <p:extLst>
      <p:ext uri="{BB962C8B-B14F-4D97-AF65-F5344CB8AC3E}">
        <p14:creationId xmlns:p14="http://schemas.microsoft.com/office/powerpoint/2010/main" val="11592841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The right definition depends on the job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Computable phenotypes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Arrow: Chevron 6">
            <a:extLst xmlns:a="http://schemas.openxmlformats.org/drawingml/2006/main">
              <a:ext uri="{FF2B5EF4-FFF2-40B4-BE49-F238E27FC236}">
                <a16:creationId xmlns:a16="http://schemas.microsoft.com/office/drawing/2014/main" id="{D9A09346-E7BD-C340-D564-4B76B87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05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8" name="Arrow: Chevron 7">
            <a:extLst xmlns:a="http://schemas.openxmlformats.org/drawingml/2006/main">
              <a:ext uri="{FF2B5EF4-FFF2-40B4-BE49-F238E27FC236}">
                <a16:creationId xmlns:a16="http://schemas.microsoft.com/office/drawing/2014/main" id="{948C8F22-186F-5974-4262-AC38B0C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284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Phenotype definition</a:t>
            </a:r>
          </a:p>
        </p:txBody>
      </p:sp>
      <p:sp>
        <p:nvSpPr>
          <p:cNvPr id="9" name="Arrow: Chevron 8">
            <a:extLst xmlns:a="http://schemas.openxmlformats.org/drawingml/2006/main">
              <a:ext uri="{FF2B5EF4-FFF2-40B4-BE49-F238E27FC236}">
                <a16:creationId xmlns:a16="http://schemas.microsoft.com/office/drawing/2014/main" id="{6B08A204-B64D-3DAB-2B0B-34F366F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63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target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0A8AB116-D3C8-46CA-5365-47990F6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42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Acceptable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5B597-CAFD-45B4-BD90-BB115EE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 phenotype is valid when it is fit for purpose.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Prediction can create better reference classes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Reference classes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ED8FB-E25D-49A9-9F3F-517298B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Broad disease 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C14A-A923-456F-8E19-64BA91FA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Risk-stratified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42EC4-AE63-4DF2-B8CF-8EA3101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BBC05-19DB-4F20-A608-C7A687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1C83F-9B4C-4E27-A0B0-8730E52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AA00B-F543-426B-B84A-DEE553C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0676C-2948-40E8-9B2A-5C6378B7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BE3C2-94FA-405E-9C3A-17EBB56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50BEF-45FF-4FF1-A419-C4FF4822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098EE-FD9A-4CB8-B2B0-190463AF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E4F04-7C69-4F48-A6B1-5EA45DB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8FAA0-B133-4D8F-B05E-EC4F04B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CA9DE-97E7-4E59-AFBE-7E47B5CC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EF33E-7689-45BC-91A8-6E8162DB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454AB-C706-4EF8-9963-DA248A6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EADFC-B51F-4F7C-AB38-877F9C6C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49217-EBFC-4BF5-9FBC-0778F88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6BC4D-D3D1-4750-8C4C-D38D4F95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8C2FE-90CD-4A8D-9B8B-6B77AC9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0026F-A4CB-4E68-ADFC-3D185B14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0DC6D4-211D-4777-B80C-8324673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BABE4-825B-43A1-8F0D-4C6F9F0C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38C28-7DFF-48E7-85A1-1DFFC3F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E06D5-BBD3-424F-BAA4-E41936D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13ADA-5EC3-4878-AFFC-0700635E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0AA01-48D4-4E6B-BA96-239806D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61E23-38DB-4651-BB1D-515C3AD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AF8F4-97ED-41F5-9859-3E2519E1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DBD97-4B8B-40B0-8F01-842FC09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D0FB8-13EF-47ED-9ECB-3972FFAC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616353-195F-4486-8A50-8B4BCA93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5FFADB-C4C4-4FC8-93D5-4B7936C5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E7AC8D-938A-47EF-9BDC-88B4CEEA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E5849C-925A-4056-8BCA-B3E7ACF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2B97FB-7D97-45FA-9D50-0BCF6BF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DBE03A-9530-4604-A8FF-1038660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8E486E-CF85-4699-A6C0-F610796F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14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CB9C05-979B-4F42-B07A-F761087D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6BA7C-FA83-4769-9BB2-9C0B609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D30286-0C84-4B0A-B78B-CAB7C959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387656-0917-4549-BF7D-8132BA68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B34D41-9999-4B51-8F0F-0083219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E5E319-911C-426B-88BF-336D99C9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8AD196-143D-4243-ACC2-B8CD8995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C1CCD7-833A-45F6-B39A-76E8CAA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457592-E8B1-4B1B-A9E2-AB3FB10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E9DE43-5E1D-4EDD-BB6D-EC17DF3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B47B39-F793-41F7-A1AB-228AEF2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969D09-B9B1-446C-80BB-0D16290B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3571C5-7BC9-4FCA-90D9-5221913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FD32B3-E858-4406-BCE8-F2A360F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03EC10-4EBD-4475-A1C3-19E02C3A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341AB2-D745-4C68-902F-DBCFACC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71BEC1-34C6-4839-B09E-D3F8A628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D04EA5-F761-400D-9507-04FBA16F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F47160-F673-4703-8461-2092E6F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C56B97-B4DA-4017-B8E2-3D4604C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CAB416-7FD3-4B79-9C58-FEC5921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4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08CD88-EC3A-42E2-AE1A-1A0CBFA4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B7459E-7D99-4B5A-B6DD-FAFE771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7F27C5-6FB1-43DD-9B9E-71B70780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2533C0-385A-43BE-AF3D-5058C30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1D4610-6DA4-4A45-AAA7-B3B535A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19E483-6ED0-4A02-BF8F-1479463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3C83205-133B-4D6D-BE63-6E34C28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E3894B-BA7D-40E6-8E20-6CF6429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BB5748-7BD4-4EEA-A196-E9FF4F6E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9F56F1-067C-436B-B92F-0927FAAF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A843A8-AED2-40B2-9C4D-6A9AF12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D2797F-3E94-4826-B742-6918920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F91854-5B10-4BF0-83EE-B771957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FCA00E-75F2-4DEC-BDCC-AE1AFB2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066173-C3DE-4E02-B80E-F3CD7F1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Better labels are labels that do useful work.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7952E0-347D-4D06-B5A8-E31EF9F6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Reference-class design rule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Evidence comes from groups. Decisions face individuals.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Kent 2023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BBFE-A776-482F-8164-12A6D6D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D2DDA-A0B3-4531-BFC7-0F88919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0D997-211F-418E-B432-D69D776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549D5-D185-4C68-81FB-D05DA6DE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6DB2-E7C9-43CC-9782-FC32A36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B6539-B073-4303-B96D-5A5B6B1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EEC59-1AF3-42E3-ABF1-15B0645B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56DB3-970F-48A1-8413-EC339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ECBBF-AD25-4C91-8414-F17208E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C9DE-53F7-4BCF-9DAA-2E8939F9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70E07-07E1-4BAD-8043-CCA1FB24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DF728-A817-42E9-8D47-152CC558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67134-278E-494C-982A-0E0F9D9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64132-986D-40E7-9366-D0B21DCF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559F5-44BE-4E82-AAA8-F1F30B4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725B9-9C57-4930-B9F4-F607B7D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E0F83-E896-40D7-A7C8-B6BA1D4B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4F16C-3E90-4CE2-A6F6-765721F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E2E9B-2AC5-47F6-B800-73D0A2C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A1360-6ED0-4912-90BC-BD7E756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523B3-4917-4641-BD59-F49388BF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C0E78-A486-4C0B-A6DE-C2D9FA18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FA8A8-4921-49FB-BDC9-3C581D70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BE181-3B37-4BBF-A417-5D595CD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97EDF-38E9-4FAB-BBD5-F52AA94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EA6F05-5ECF-4137-AD17-FAEA3D47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702C2-DD5D-448E-8C0A-D935C98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72C43-3DC3-4018-B71F-7997538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3F2A0-751D-4BA9-903B-F6544A58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1F30C9-0CB8-4779-AFCA-EE1ECED0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AE8B8-52D7-4EB7-B968-4E851ED6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0B6708-B2F0-4161-A254-6F229F63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DFD553-098B-4743-88DD-D65C286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62F3C-F1B0-46C3-8F6B-D2A2DF51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85B78-0F42-46F3-8840-0B8ECD9C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6DE97-1577-4F13-B1BA-F1B1F5F7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500595-9356-40CD-A1E4-682A4C47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BE3CA4-5CC5-435C-B582-8BF2EEFE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B2B14-C3F0-4C20-86AB-648F539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2FE75B-EC98-4E23-8BCD-5033CC97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FEB26A-0E74-4333-A02D-0C19AF0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AB5619-16D7-4718-BD20-8E3F492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62CB2E-0BF6-47F3-B74C-264F947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600D55-AE97-45CB-BB4C-F413E1E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006A79-D745-4574-87E0-05048865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816B04-6FEC-49B1-80D3-D296971C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BB3586-ED9E-42B5-8647-6D0F90D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CBDCAD-FF81-409F-8A59-757034FB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C6724D-A460-4D6D-BCFD-7384E17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C61285-2FE3-4878-B7D6-6A7C3ECA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683760-12A0-4337-B8A3-265E5A11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BB2362-37EF-4666-9B78-24CEB1C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2F1732-BFFF-409B-8F77-122318D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A8CFDB-14CB-4464-AF1A-67FBAF43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49163B-1CA0-4B2C-94D5-6876F3D7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7D9A80-49DB-405A-9BDE-A9B390B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B73451-E01D-480C-A0D0-32E282F5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FC5921-B935-40A1-8775-5798CAF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2EAF0F-34DA-4E2A-9C35-1077200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763908-D965-4D00-8C9F-4B8EF414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49322B-1521-480C-83AD-140A67EF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36CEB1-3FD8-4244-8D09-7535EE8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64A73F-B7E4-402A-AFC2-5C77C86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AB62DF-CC03-40BB-B9E0-50DA827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CA69B5-83A0-4FE7-9015-8A3C8388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8513E9-4923-4351-8D6B-A544CA3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9EF263-7746-4101-82E6-E4AC69F5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54F89F-ED6F-47D5-9594-51C79A6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04A77E-CA2A-4D5B-8557-A0ED9200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9B77B0-CD89-4265-965C-056F4D1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F55BD8-5374-439E-985C-4A52BD8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5F15A84-9B30-4EBB-B471-335C115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225277-82E1-477F-AAB8-24C52DD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732298-F4EE-430E-B3A1-27A6E23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7275A4-80EC-42BB-8992-D293DBAE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3AD709-6055-408F-9E14-F707284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6BBCF3-1101-4578-8E2E-91DDC13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7B5AF3-297D-4362-8423-C2E735F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BEFB38-D116-4D09-A1D8-9C0DFA77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AB590C-E72E-45F8-BC76-04247B1E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8449A9-511D-4B9D-8B68-83A5591C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4205A83-739E-4487-801E-788C5FB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4F4BDA-9922-4A33-AE8B-AA8C768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6E1547-9700-42C1-8D68-BFC8C33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E46704-3A5E-4035-BD38-D7DD600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11C808-C1AE-4CC6-B780-7A62D5A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40A5B5-365B-4F66-AB7A-9977548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45F1DC-CA13-4C4F-A598-C5134CB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7D8BF0-B7ED-480B-85CD-9848108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31187A-9175-473C-8641-5B5607BB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2A6699F-FC42-4AB7-B88B-1068A64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71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population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7F58DC5-625D-4361-B433-F6B2195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9A9ABB-EE35-408D-8EFD-8537033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9525">
            <a:solidFill>
              <a:srgbClr val="11005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D4CBF6-C4AA-4D60-85C8-6139537B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This patient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D16B28-B60C-4CDC-AC8A-302F7CA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Evidence comes from groups; clinical decisions are made for individuals.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Three levels of ambition for individualized care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Treatment rules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EA6EF-4D6E-4BC9-9DD4-7B20D3B4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54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888E7-A9D7-4964-9D96-88EB98D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234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10395-5282-45EC-BEB3-46D764A3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476375"/>
            <a:ext cx="254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94FE5-7C5E-42AD-B630-F01E2B4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250" y="1552575"/>
            <a:ext cx="234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2EA63-4B9F-43C3-9276-18779A8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476375"/>
            <a:ext cx="254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3D5E4-FC93-4577-9EE6-784D3836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552575"/>
            <a:ext cx="234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BD20D-65E4-4E04-80C0-79FBE9F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032D-D24B-472D-85D1-68DE538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Average-effect / NNT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634B5-3A3C-4D2F-A62D-AFC20E1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8764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82E51-0C99-460F-870C-9FE9B64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19526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Apply trial average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A8278-0895-4659-A78F-AB22CB47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8764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9D3B0-0C59-4B0E-BDB5-F9A535E6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19526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Ignores baseline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E4F2D-5ED8-4FCA-A266-08E6E04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98F1B-D303-4432-9FCC-D3975929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Risk-based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A2ACD-5AA8-4553-96FD-321D88E9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4860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32384-F03B-458C-8ABA-04D38C6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25622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ARR scales with baseline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1D929-F127-448D-9A3F-99A78E03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24860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36F66-BA73-4228-A06C-CC89B14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25622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Assumes stable relative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EE883-A182-476B-9AA5-D4E32EC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F0F78-A1D0-446C-930C-3A284C55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CATE / effect-modeling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005AE-61DA-4E6F-A84D-548F048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30956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97690-96DC-4326-B165-614D6ABC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1718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Estimate CATE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F5A08-6CAD-4B62-BB17-9DA70BC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3095625"/>
            <a:ext cx="25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4608D-8DE0-4459-AD5E-D6995BBD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3171825"/>
            <a:ext cx="231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Hard, noisy, fragile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EA48B5-543D-E3A1-5A27-326FA542E8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rules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ED3621-66A2-10E0-67AD-D25A74E80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C724315-2B19-3AFC-9060-EADAE62887C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population summary,</a:t>
            </a:r>
          </a:p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 patient property.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F080BBA5-8DF2-C6A5-1851-219768B0F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NNT = 50</a:t>
            </a:r>
          </a:p>
        </p:txBody>
      </p:sp>
    </p:spTree>
    <p:extLst>
      <p:ext uri="{BB962C8B-B14F-4D97-AF65-F5344CB8AC3E}">
        <p14:creationId xmlns:p14="http://schemas.microsoft.com/office/powerpoint/2010/main" val="374423068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Same relative effect. Different absolute benefit.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Risk-based treatment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9D75-FBB8-486F-8E44-7C53ED4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15E24-BC6C-40BB-BEAC-1D26ACFE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5732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879C1-95D9-4C35-A48B-E2D4AB98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17C58-5F2F-451D-B112-62FE6BB8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5732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E7F1A-CBC9-448F-9884-1B551E7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DAECF-A3D4-44D0-958A-C2FB90BF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5732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9C75D-E1BA-43BB-9032-43DB781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EA856-4C9A-4C99-86D9-5431E23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5732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62C7D-2CD8-404B-A6CA-6F42DE4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0FE9C-0840-4A5C-9B81-85611FD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73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32523-0E30-4C09-AD22-50773D2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811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6AE5C-A9AD-4282-8EAD-F16413A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573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DD210-5961-4FF0-BF9D-AF3BDE8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11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0C339-63CA-49DC-AD66-45310105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573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E60F6-2FF7-4D61-BE1D-E214D15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811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69D82-2D93-4C71-9662-CA7FBBA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573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8B36B-DEFC-42B3-B87A-2A135F3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18E6C-961B-4D83-86E5-17C43FE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0F365-3ECE-4B5E-B41A-5C0597EC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764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90522-8BD9-4C1A-9026-62B7ABB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26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4B328-394E-45F2-8316-88FD9F7B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64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009B2-AFCF-4361-A371-7F65A470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B516B-AEE1-456D-9AA9-6B22F1F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764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A6367-00C4-4C51-B028-337DFBB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526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25C61-3FB5-45CA-9E82-CAE9876B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DA802-FB0E-4FF4-8888-D48EED7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479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8CE68-8ADC-4D40-9015-BCE6ACD7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717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9A7C5-F889-4CD6-A507-76A2B1E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479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A0004-A706-401B-B7C1-E610703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17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DC70D0-E239-4EE4-A57A-476D009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06B8FA-A795-47B8-8713-ABC44BF9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71775"/>
            <a:ext cx="1857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A25905-945C-4EC8-8980-50222F8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47975"/>
            <a:ext cx="162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8C95EB-3CCD-48C1-8598-0C6BA99B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Risk-based treatment; illustrative RRR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10154-097E-4389-997F-D2505E32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ARR by baseline 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FC9EC0-D0C6-447E-BA0D-62E3D52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2% risk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8EE23E-81BA-45D2-88E7-3C0E3C95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766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DEAE85-B6C6-4473-B585-747A280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31059C-021C-401C-A606-9FDE594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20% risk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AEBAB5-C387-4909-B583-B7695A81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714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E7DC52-1D44-4FD5-B54C-B121168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38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614CBE-2822-456B-80AE-D432797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40% risk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59CF27-1166-4B32-AF80-6DAEC0E0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745E46-AEFD-45FB-B361-FA224C9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55AA96-CB8D-4022-8DF5-A3ED9D8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8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ARR(x) ≈ p₀(x) × RRR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Benefit and harm often scale differently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Risk-based treatment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3D03-1889-4CB0-B1C6-600D162B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616B4-4FCE-4352-9785-B4FB6191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AD7F0-18CD-4704-BA55-1F922F24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8FA4A-B7C8-4424-B57D-9BBB715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Expected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276B4-4CA9-49CD-8F18-A560F0E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FDF59-1A9E-437B-B7A8-ABCB1A9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334A7-EEC3-4AAC-BD3B-557D5D5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501C2-88B1-4942-8765-67E1B79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706B6-A33C-4815-8348-E85D3105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6DD05-A421-4923-92A9-E06183EA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C1A3E-DCB8-41E7-863C-834FB47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11E24-F077-4184-80C5-4D581C71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31F3C-6742-42E8-A559-D25D1365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05742-2DEC-4270-B9DF-5259C9E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4291E-86A4-4ED5-808B-9568773D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79BF7-C0BD-4DE5-BFD4-92617C8E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3B72A-BF13-4A71-BBA5-E0485BED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7BB8D-C672-4B90-87FF-07D95DA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26AF8-5C69-4204-A31B-430CE0DA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5CF9D-9D2B-474A-84BD-A3DB86A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7CBD5-C41B-4BAD-A700-683472B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5EDD6-CF8E-4B88-BE65-EB86A7F9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6CC29-948C-4BB9-96D3-FA07B834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004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0044"/>
                </a:solidFill>
                <a:latin typeface="Arial"/>
                <a:ea typeface="Arial"/>
                <a:cs typeface="Arial"/>
              </a:rPr>
              <a:t>Benefit rises with baseline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F6F93-2591-4928-857F-30A0CDD4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Burden may be flatter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86AE5-D94B-4AB0-ABF3-64FC0EE4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F55E9-6263-4E4D-8DB6-16D27B83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100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Action when expected benefit exceeds burden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16CB60-DEBB-F8EE-06E5-6A6BD63E87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CATE / HTE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754C4A-3A3B-2AB0-83AB-49E4BC62D1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aspirational target: CATE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7A8CE-FA3E-4EAE-835C-B9BD13C3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95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tau(x) = E[Y(1) - Y(0) | X = x]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8CD51-E0E8-4C6F-BEB0-5BC26FE1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benefit conditional on covariates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5E0C4-E8E8-4793-B720-71DA115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CATE is causal, not ordinary outcome prediction.</a:t>
            </a:r>
          </a:p>
        </p:txBody>
      </p:sp>
    </p:spTree>
    <p:extLst>
      <p:ext uri="{BB962C8B-B14F-4D97-AF65-F5344CB8AC3E}">
        <p14:creationId xmlns:p14="http://schemas.microsoft.com/office/powerpoint/2010/main" val="38454623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We observe outcomes, not individual causal effects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Potential outcomes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FC0C2-1AA1-49A2-A3C2-8AE7C5ED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3429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CBEC8-56E7-42B5-A237-721E637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Patient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284FF-4044-44CF-9063-0A3ED0B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1242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Observed: treated outcome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Missing: untreated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59054-2885-4B0E-873C-85280F7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24000"/>
            <a:ext cx="3429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4A00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EF325-9686-4E42-BD4C-9E793C8F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Patient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0C0F7-070E-4296-B643-8BA99AF3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31242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Observed: untreated outcome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Missing: treated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E8A7A-E1A4-487F-96FE-183F445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Individual causal effects are not directly observed.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5C71C-E5FC-47A4-9794-7FB5957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Fundamental problem of causal inference.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'Responder' is often an unstable label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Senn 2015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9B23F-8AA1-450D-9974-4DF737F6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Same patient, different occasions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99F48-7E8F-4F2F-A272-AA06D4A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05BD2-D60C-48EA-A698-2069D9E0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00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21F6-CAB2-48D8-91C6-CA9DC77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19050" cy="-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808-C884-4B00-BDA6-3C769A96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0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CC1AB-0C38-4EF6-A823-6716FC0A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24250"/>
            <a:ext cx="19050" cy="-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27AAC-C6CF-49F7-BA15-32DCA96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65DE2-49BF-4449-81B9-ABA7830F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19050" cy="-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69644-C954-4979-8C4D-2F9BC8F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00810-5303-4009-A99F-00612129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24250"/>
            <a:ext cx="19050" cy="-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B6D57-DCD3-4C82-B4EC-69512B9B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76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F8109-172F-4563-8298-B3F3457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19050" cy="-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C2D6F-41D9-4406-93E6-44A29F9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5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2DA5D-787B-43C4-96DB-43C292A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9050" cy="-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FC835-E0B6-45A6-9280-895A14F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05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83F99-1CBE-4152-8EC6-067DA97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9050" cy="-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42E00-AC11-40B9-A628-F133209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81119-A04B-4C5D-B535-182D0A19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050" cy="-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4D910-F4E1-4448-A604-D867077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28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6C443-7F28-476A-97B5-C6EB231B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24250"/>
            <a:ext cx="19050" cy="-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EDFB3-FDEC-45D8-9AEB-D323071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528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367D8-42C6-4B30-BB70-E68DB200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86225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Observed response variation != stable personal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06AE1-796F-467D-930C-519F0E0B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Observed response variation can reflect measurement error, disease fluctuation, adherence, and occasion effects.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Use more risk models before more effect models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Main claim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19C95-62D5-4AE6-B913-E74A9B6F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714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5FF1A-76AB-46F7-A816-3D401079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3448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0EAFB-E5F9-48ED-97A1-3F9D41D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4480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- Easier to validate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- Useful for targeting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- Useful for trial design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- Useful for adjustment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1FE44-7B29-48E4-ADB8-00E1F469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3667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7271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B831C-19B3-46F8-A210-827DF7A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543050"/>
            <a:ext cx="3400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Treatment-effect prediction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7F3C2-1838-46BF-AC40-7F389D2C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57375"/>
            <a:ext cx="34004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- Causal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- Data-hungry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- Fragile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- Often underpowered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7CDD1-1E5A-4F28-8759-41BD861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 is usually the first useful layer of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Enroll patients likely to experience the outcome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Trial enrichment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75ed9a985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75ed9a985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75ed9a985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75ed9a985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eligible patients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model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Higher-risk cohort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events / feasibility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10F31-509F-4AC6-8C59-2CCF4466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Prognostic enrichment does not require predicting who responds.</a:t>
            </a:r>
          </a:p>
        </p:txBody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Critical care trials are signal-poor and noise-rich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Trial design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B8EA2-8BCD-4CA3-B79E-9EE238F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FDF13-4607-4ED5-AF3D-C60B7347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5BA62-B6D3-4CA3-9AF7-53C2572B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19669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1CF9D-3E98-44A3-AC62-BB14D4A6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2719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BEEFF-E9A7-405F-9264-F0D19F69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090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E1859-A0EB-453C-998F-3D0E9406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88" y="2843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0AA4F-8862-4757-876E-0291E79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145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995D0-5299-4F9B-8E68-AA8A2559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9670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75A5E-779C-4E59-B034-0F4950AC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338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F8AFE-FAF2-4F42-969B-DD38E784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0908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B799C-3700-4756-8B94-0281C137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462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3CE58-DF82-4B53-9C51-AD9CEF3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3214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489B1-C273-45BD-A50B-9D39DB9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25860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E30BA-2F1A-45B6-9BED-F82965E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88" y="3338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02A24-0D2F-4359-A2CB-3789977B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27098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EAE7F-AEE1-40C6-A4CB-E98CEF31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2081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16599-6F0F-4F93-9E5A-AB7DD7F8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2833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B5474-7BD6-4BFF-8749-DBA52ED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22050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F24B0-E8A6-41AE-8A26-43CAAF2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363" y="2957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1D3C7-8B74-4B91-8B13-E5B93332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3288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90AD0-4A7C-4282-A9BF-EC8F866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30813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58DBA-4708-4D42-8A4E-A706ED5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088" y="2452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5B0A4-CAAA-4537-A0CA-306B21D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663" y="32051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C034B-D561-4A2B-B5B0-6FD45A3E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576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46924-370C-4EE4-BC9D-12B6DAA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68A0F-49EB-468E-BD2F-A191A40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88" y="27003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6B4BC-ADA6-4412-89ED-DACFE30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071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35B25-1DB6-42D7-874F-D4C39113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28241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A132A3-7245-4422-853D-044E2FAD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2195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E3E5B-56FE-4547-BDED-CBAE0C1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294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D621FD-3F76-4B75-8DC0-20E40FB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23193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5CFEB-3212-4F40-9D04-FD0B916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38" y="3071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CF0E4A-5269-498F-B025-4F291D5C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24431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0F3771-7209-493F-B4AD-BDF78D3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3195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EE5E8D-1F42-40C2-A1B3-324354F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566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B404E-1097-49D5-A380-86DC5EFC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33194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7E1182-2DA8-42C7-8383-A6F5716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713" y="2690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6E86F-B1A6-416B-BFE9-FEC1C4A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0621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96A779-5F3D-4EEA-80BE-63AF0F59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2814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96D2EA-6C81-4630-87F9-692A7BB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2185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169822-D99A-4CC7-A758-4517D9DC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29384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D06AD-B9D8-492D-B573-71D4B25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88" y="2309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DE32AE-0DD5-425C-9CA0-691A43A6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3" y="3062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9D307E-4C22-41BC-8C39-DA543B7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33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1234EA-FDC4-4D27-AC38-F7EF056C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186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25F58-6DAB-4F43-B92C-B4F35032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25574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68FAFD-B4A8-44B4-A5D6-50F07BF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63" y="3309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25EFDB-2AB1-4851-B25B-30D96BCA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681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2F84DF-F257-4131-BA2D-BFCC765F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52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6284C9-043E-4EFD-ABBA-27E3807E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2805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C0072B-2594-46B8-8025-ED3ED3F9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21764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C24BD2-5B30-4AF5-A27F-EA1D3F7C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2928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4CE8EC-ACB8-44EC-9AEF-2E92D5E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300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2BAA8E-BE7C-4CA7-B909-B2A29CA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3052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F6EA79-3771-44C8-B4E3-FE0197C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242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E72935-022B-42CA-8DD8-B7E040EF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3176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572ADD-193A-41C8-BFDF-5BF5F72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213" y="2547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CC69F2-62D3-4C37-A1FA-1B77C2E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300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63F17C-4C6B-433A-A03C-156554D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2671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1EB17D-1C69-4277-8B55-BFB598A8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043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0D7BEE-6C3B-40DE-ACD0-BE9B098D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13" y="2795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FA9F33-FC9A-44E4-97B2-F323FFCE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2166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28750F-82DB-4533-A0E8-7C6388D4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919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696B21-171B-418F-9B9F-1C9C54D1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290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7DF42A-D02E-4D11-B192-A05DBD6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43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4AD208-6CE8-4F8C-94E3-2029BF78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2414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C1EE27-DDF7-487F-B656-71E2C38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3167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E3AE87-D78B-4445-AA35-FDE1DF1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2538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F62B6C-F0D6-4D23-A9BD-26A6580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15B8D7-45BD-4BCB-9AB8-0DBD84D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662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222368-462A-4A0F-AC32-AF32154E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63" y="2033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AF9E85-8FDE-47C7-BFEA-8EDA168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2786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AA22AD-A135-440D-9BE8-A14F766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3" y="2157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A7F226-3DB0-4117-8C91-2CBAB6F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2909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79F41C-DD8E-45D6-908D-0D17C51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2281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94F150-8E8B-45BE-97AB-19F8D010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138" y="30337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F34CFF-1CAC-415F-86F3-80C312A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05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64BE130-5F85-45A1-AA73-F368CB51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1575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6E0893-9610-47A2-BDCE-BAE41B3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2528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11EE99-123D-4B25-94CF-96BC455F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281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86C2256-EDF7-405A-9F49-F2C0B3B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26527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480ACD-728D-4AB1-AB3D-11BD62B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2024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AE816A-CF18-49BD-A619-3C0ADAB7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27765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456D3E-D88C-4403-8ABA-30D592E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2147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2F8ED5-843E-4B45-B461-7183D88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900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255330-1FAC-4BAE-99B2-98303305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88" y="22717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48C63C-7328-4DA6-9EC8-529CD57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3024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7F88A49-14CC-4583-B5F9-B6C844E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038" y="23955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4E2A46-AEAB-4A2D-A8E2-AB44B71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3148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1018BD-5F43-4A33-902E-739CACC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2519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93633B-5D72-41AA-9529-F1F4B9D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271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AF7FFD-91CB-4220-A378-53B560E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643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4E86B9-FE35-4A66-9A4B-99118B0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20145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D8A86A-15B0-48E3-9F3F-B659BCC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767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32C466-DA84-4E7D-9A46-4D2BC61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138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608AE9-E0D2-4F17-B77C-61D016A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38" y="2890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A9B2B09-6891-4B12-ACB8-F70DD692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2262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5886D4-16EE-46B9-B8F7-2724E25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3014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63ECFE6-58C3-4F81-BBBC-3BEB81CC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386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5321BF-002A-4CDC-8A93-A338DA07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138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7638BB-A2B4-45D4-A0CD-88D58ED0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2509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57F962-B616-4755-AAE3-93823CB3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262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6B8163-51E5-4E68-829D-C00182E4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663" y="2633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448EBE-DA76-48E4-829C-B9C731C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005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13B764B-BCFE-4E2A-A764-FF62279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757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035A88B-A75B-436B-B648-4713A5C0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2128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DD2E6D-00EE-4873-9C8B-9FD2B86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2881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9FFB5F6-07AA-4565-98D7-26612D5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2252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B46F17-D219-4F52-A1BC-DB483A0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005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F49D9D9-A34B-4A8D-8A77-D3456FC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376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BD42316-F7D2-4BB3-94E1-02DF5B6A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128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B9F6609-09D5-4935-AEBF-7923CD4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2500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11072DA-72B0-40DC-9D91-6D009A5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252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30B4F97-D6C4-441F-9485-E2BFA442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2624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1DC6F41-1993-463F-8559-4B6F04F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1995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BC1D53D-B061-4330-BEED-992411A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747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C4C1F6B-85AE-4D07-A57B-5ABF95C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3" y="2119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388E058-9A2D-4177-A3DA-2A0E7B43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2871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9849EA2-09C8-4590-AD84-F51BCFF9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243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B98FD74-4F43-490C-A68A-3DC8E0E7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2995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9F2FC9A-2C71-49CA-9C69-2E46E95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366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9A40BFD-D1B6-4234-9723-274722E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3119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F3C8E7D-98F3-4280-AD3F-AE8FF68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2490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5E6704-FD1E-4553-8035-4BF4E724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3243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BEE7921-EBFA-477B-97BB-11E96A82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2614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961F8F1-63A6-4404-B11A-40829C20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985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E22F06B-016B-453A-8AD8-76B0131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2738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F4903D-2E7D-4896-A891-BD755C5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038" y="2109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DC83E6-FF60-41BE-A782-31DA2D8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2862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B8890E1-4A4B-4427-8EDD-1C15419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233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1C6999B-9063-45F7-8B5F-CA6703FF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9860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3EC3E36-A631-41D9-BB37-3F9A1B9D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2357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FBE97B9-9622-47A9-B490-3B0F96E0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1099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943B011-44FE-4E65-AF78-476850CF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2481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E349195-9407-4804-BB52-6C8F07DE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233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5E6B080-A9CE-4DF3-AAF3-3E563668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638" y="26050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C577816-B805-4850-B179-CE1FF625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1976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C855586-4353-4B8B-8B0B-CD130FA3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27289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6B5897D-CCFD-4D81-A336-A5FF5585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2100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7EBBC95-D352-4EB7-8440-16217CFC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852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811E5DF-A480-4343-829C-24960FB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513" y="22240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D0C2F1A-7DB1-4269-B064-93E6AB30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9765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47726EC-ADC3-4A60-991A-2A57A9A1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479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A04174A-CE97-41E7-829E-384D45C0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00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0044"/>
                </a:solidFill>
                <a:latin typeface="Arial"/>
                <a:ea typeface="Arial"/>
                <a:cs typeface="Arial"/>
              </a:rPr>
              <a:t>Small treatment signal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4A54CAA-7931-406F-91E6-D15DB48B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Heterogeneous syndromes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C57755A-4FC1-4B30-B7A1-B2DFB892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Competing events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854F8A5-5B2F-4E84-95FF-9A816A3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Noisy outcomes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89583E-B6F0-4B84-8792-E496701F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Limited sample sizes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EC826A2-33D6-4057-AC1F-A3F6CA4E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Operational variation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A5CBFF5-02B1-4BCE-ACB8-32B732B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Heterogeneous syndromes, competing events, noisy outcomes, limited sample sizes, operational variation.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 is nuisance variation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Efficient estimation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Arrow: Chevron 6">
            <a:extLst xmlns:a="http://schemas.openxmlformats.org/drawingml/2006/main">
              <a:ext uri="{FF2B5EF4-FFF2-40B4-BE49-F238E27FC236}">
                <a16:creationId xmlns:a16="http://schemas.microsoft.com/office/drawing/2014/main" id="{D9A09346-E7BD-C340-D564-4B76B87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05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Arrow: Chevron 7">
            <a:extLst xmlns:a="http://schemas.openxmlformats.org/drawingml/2006/main">
              <a:ext uri="{FF2B5EF4-FFF2-40B4-BE49-F238E27FC236}">
                <a16:creationId xmlns:a16="http://schemas.microsoft.com/office/drawing/2014/main" id="{948C8F22-186F-5974-4262-AC38B0C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284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signal</a:t>
            </a:r>
          </a:p>
        </p:txBody>
      </p:sp>
      <p:sp>
        <p:nvSpPr>
          <p:cNvPr id="9" name="Arrow: Chevron 8">
            <a:extLst xmlns:a="http://schemas.openxmlformats.org/drawingml/2006/main">
              <a:ext uri="{FF2B5EF4-FFF2-40B4-BE49-F238E27FC236}">
                <a16:creationId xmlns:a16="http://schemas.microsoft.com/office/drawing/2014/main" id="{6B08A204-B64D-3DAB-2B0B-34F366F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63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risk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0A8AB116-D3C8-46CA-5365-47990F6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42" y="2571750"/>
            <a:ext cx="2176130" cy="86611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 noise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E477C-9E66-44E1-9511-61F8134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Outcome = treatment signal + baseline risk + residual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1F583-5F76-4AD2-91D8-117215C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Adjusting for pre-randomization baseline risk reduces residual noise.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Precision comes from reducing residual variation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Efficient estimation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2F98F-A593-46C6-B768-C2C21CE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5730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SE ∝ residual SD / √n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D9339-8F99-48AF-87C3-254E02B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Unadjusted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1415B-C16D-427E-A5C5-FCC68E4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7BD31-8D93-4A71-BC75-8167339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9F173-AE90-4E32-A67D-9E66C73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4898D-FFF5-4876-880F-9D4D642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C9CC-AE73-46FA-B7E5-A4994F9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30239-04B9-4A4F-A10B-5FB99FB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A5036-82A3-4044-86B0-80A807D7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125AD-F32D-41D5-85FE-EE6445D6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DC588-4958-4A10-A947-0670F37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736F4-7B38-4873-83F5-298EEC6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9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8665-5B02-4AE6-9E5B-18D0FDF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71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79A7E-C130-4083-AA35-938AAAA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4DB7E-6212-4F3B-9B24-5F96E378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B94A2-6F67-4FA3-AF12-052F061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003DE-2D9C-4DB0-A99F-3FCA5AF7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28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57F8A-7D67-4774-80A5-95BF3B35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04E1C-6B5B-4635-9928-B3B3BDA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33CBD-BFD8-45AE-A8BC-1F6AF4F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51200-36AF-454B-B816-F32F0BA5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31B5A-409E-4E6A-8ECC-8E0EE44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590E3F-A568-4B68-8E20-81C7670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071A2-94CD-4F72-BB3C-0310A9A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3988-E6F9-4606-87B9-68D26FDE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42CFD-5DB9-4D40-8E00-F7C2DEB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8F0F03-7214-4D24-9967-7ECD682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C386FB-1CFD-4E94-962F-A6E62A87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751AE9-411F-4DB9-8626-10FB83E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AA0CB-177E-4BE9-972C-293CA44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475A4F-94D5-46D3-ACE9-BD0E7D9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A28E93-0B2E-4616-A34A-4BBEAF6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BAE94-E876-4B9F-971D-F0428AF9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2E9887-3D82-482D-B444-494F04F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74BDB6-A99F-400C-811D-9092772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CE6870-F7BB-4237-8C88-C8A7CCD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894088-2903-46BB-BB2D-6739D57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7B545-98DE-4169-9BD7-F6B88A84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6B1B02-1131-43C8-95D0-94C9EC42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FE7133-D93E-46A6-BB7C-C06766C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6C4942-D9FF-4719-B254-F02702A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245C01-AD02-4987-8CB5-7EB1F0E4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15483-8FCC-485C-85B3-E7F5CB2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1B4A1C-9B83-4700-A484-94DE6C3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87F005-3C86-461F-AC3A-71E4A64E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B8C2AE-95C2-4547-BA27-9AE65B3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F2FD30-AF98-4F4B-8814-FB99C2D2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257EA-D14E-4CED-A441-0A3A695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58DEA4-E886-494F-8C1A-6936E89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008175-9DCC-4D5B-B8B3-EA7FAC87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Risk-adjusted residuals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FE4251-42FE-48BA-9A48-9A854F4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B07A68-34FF-4A49-9562-9E3216A1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40C882-C306-4AC0-A891-4524282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44FD9F-4116-442F-9FDD-A000264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67FEB1-D398-4A0B-B5DF-D590A5B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96D13E-2E6E-4BE5-9B55-D42D4A10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D2CE0F-D74B-4021-9C35-40B261D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F09A70-D005-4F7E-85A5-4E2DED5B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EB9F17-876F-4266-A081-AC436605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7AAFEC-6D0C-49ED-BE7F-C4BD7A4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1F124B-9E88-4766-8780-C87DAB3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FE51ED-178B-4CCC-979A-5D5DE70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8ECB40-4DC4-43E3-8459-FC6EAB2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252F50-8684-472C-9FC1-9D29A41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BFC0CE-5680-443D-9E99-4480C1D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28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A62928-B9B9-4796-8547-D6B13625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0E5397-285D-42A0-A9E7-424B726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776BD1-1920-4C2E-8D88-D0CFB755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9BCC5D-2129-4735-9A58-907A8AB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5F7CDA-A64E-40DB-A3D1-9E543A2D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90A8EA3-AE7A-499F-A732-AE01830B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089DB0-BF08-4FEB-9C85-6E5F9281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E861F1-3969-46F1-A9C9-2AA9DDD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FB7A0A-E79D-496D-AF28-BC4953AD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067B5D-C465-4309-BFC8-4918D95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B02D55-2245-4C3F-881E-222EA72A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FD3CA7-72AF-40EF-8750-A91B1F6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3AF9A6-CAA7-4028-8F75-A7E87245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235C53-AB85-4333-85B9-8696DBCE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63AAF3-A56D-4B52-A2D6-DA5BE6A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C50057-DB44-432F-915A-225BC690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DDB6755-B2FA-42F6-A2B3-05BA537E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F4E03D2-7295-4B9A-90CC-A323FD6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EC98A6-AD21-401C-B400-A1F6C2B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C231FB-FCBC-4DA0-8DBB-1CC86AB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9063A0-B425-4A43-91F9-A19640A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5F1157-ED07-4C62-BBCA-9862203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1AD42F-FA3D-432A-8B7D-0260B5C4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9C52E1-5AAF-42AF-A151-7790D97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21C6A82-EDA0-49F7-8CB7-BBC03A7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520D35-E53B-45B9-9D1D-80386A9E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77A080-E8D7-4189-BE85-ECBD4AB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36995F-073F-4748-A8CB-64E80970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8B99CAC-5ACB-4185-887D-45405EC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61D416-0B2B-4B30-A9BA-E21D27BE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7EA0CD-8A9C-45A3-ABA8-BF599C6B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CF6D552-B469-43BE-A786-B4D934D9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F1404D-8908-4142-BB8F-CDFA9843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657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20% lower residual SD → 20% lower SE → ≈1.56× information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 helps trials in two different ways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Trial design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8FE1-4DF7-40DE-81C6-A70AB938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86FEB-2E07-431F-BDD9-3E7AB06B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Enrichment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17E61-EF57-4062-9219-D7D62FA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31623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Choose who enters the trial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Select higher-risk patients to increase outcome events or feasibility.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0D958-622F-480A-ADB4-CBDCED8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66875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4A00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D3A4D-85A1-424B-A9E8-418C4C26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81175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Adjustment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6136E-83EC-491A-A262-1700B8BF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31623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Estimate more precisely among those randomized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Adjust away pre-randomization nuisance variation.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ASCEND-MA: prediction → action → oversight → evaluation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ASCEND-MA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85f18f81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85f18f81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85f18f81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85f18f81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</a:t>
            </a:r>
          </a:p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PRM score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 gaps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oversight</a:t>
            </a:r>
          </a:p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RN review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 algn="ctr">
              <a:buNone/>
            </a:pPr>
            <a:r>
              <a:rPr sz="6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pragmatic ITT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DD952-C5D8-4668-A892-DDFB6FA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Outcome is not AUC; outcome is utilization, spending, care-process, and clinical impact.</a:t>
            </a:r>
          </a:p>
        </p:txBody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Hypercapnic respiratory failure has a transition-care gap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2084A-ACC0-C34F-AC91-2998D5A5F3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HRF transition care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42AD3-BE0B-FFD4-EACF-7943D5D41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HRF = hypercapnic respiratory failure</a:t>
            </a:r>
          </a:p>
          <a:p xmlns:a="http://schemas.openxmlformats.org/drawingml/2006/main">
            <a:pPr algn="l">
              <a:buNone/>
            </a:pPr>
            <a:r>
              <a:rPr sz="97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recognized during acute illness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Discharge gap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Cause often unknown or multifactorial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Diffuse responsibility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Low testing, missed routing, readmission risk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B811005-648B-9CA6-E786-3E66E14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CD8024A-9990-0A3C-F8D4-F18B859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47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134A6DD-156C-6F19-E64C-BD96B65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596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4EED4-CA45-427B-B087-2719C113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Specific 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10B54-85FB-4229-83BD-6615D99D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4AEFC-A339-4162-A2FA-E6CC4F9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481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~1 in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758FC-9A69-4BEB-A06B-CBFDF44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62425"/>
            <a:ext cx="1685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30-day readmission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C62A6-4597-4242-BAC9-4E16D66F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4A00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FD99A-11EE-4158-803D-03026016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481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~10×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4F6A2-E55D-4B02-A99B-4B17E350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62425"/>
            <a:ext cx="1685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age-expected mortality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E051D-5D00-4A1C-927F-BD98DAB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7CAF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A32DA-148C-40E1-BDA4-81F2429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15% / 10%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7075D-D204-4140-B085-2C465A4B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62425"/>
            <a:ext cx="1685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PFT / sleep testing</a:t>
            </a:r>
          </a:p>
        </p:txBody>
      </p:sp>
    </p:spTree>
    <p:extLst>
      <p:ext uri="{BB962C8B-B14F-4D97-AF65-F5344CB8AC3E}">
        <p14:creationId xmlns:p14="http://schemas.microsoft.com/office/powerpoint/2010/main" val="197062539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99CB35-8809-DBBD-69ED-F4ACD0F2A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Aim 2: validate risk infrastructure, not deployment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0A26ED-551A-00BF-70FB-90C2DC814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Aim 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BE349D-02E8-7395-98A7-6A02A980A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2542DCF7-F748-D60D-9AB8-52E9B1B8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194" y="2042445"/>
            <a:ext cx="3666144" cy="230736"/>
          </a:xfrm>
          <a:custGeom xmlns:a="http://schemas.openxmlformats.org/drawingml/2006/main">
            <a:rect l="l" t="t" r="r" b="b"/>
            <a:pathLst>
              <a:path w="3683237" h="230736">
                <a:moveTo>
                  <a:pt x="0" y="230736"/>
                </a:moveTo>
                <a:lnTo>
                  <a:pt x="0" y="0"/>
                </a:lnTo>
                <a:lnTo>
                  <a:pt x="3683237" y="0"/>
                </a:lnTo>
                <a:lnTo>
                  <a:pt x="3683237" y="222191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8" name="Straight Connector 18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rot="0">
            <a:off x="4398948" y="1824039"/>
            <a:ext cx="0" cy="4402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cxn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444EF9FD-569D-D012-3B77-7BC86DE1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2624" y="2571750"/>
            <a:ext cx="213646" cy="1333678"/>
          </a:xfrm>
          <a:custGeom xmlns:a="http://schemas.openxmlformats.org/drawingml/2006/main">
            <a:rect l="l" t="t" r="r" b="b"/>
            <a:pathLst>
              <a:path w="205099" h="1350235">
                <a:moveTo>
                  <a:pt x="0" y="0"/>
                </a:moveTo>
                <a:lnTo>
                  <a:pt x="0" y="1350235"/>
                </a:lnTo>
                <a:lnTo>
                  <a:pt x="205099" y="1350235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5" name="Straight Connector 24"/>
          <p:cNvCxnSpPr>
            <a:endCxn xmlns:a="http://schemas.openxmlformats.org/drawingml/2006/main" id="12" idx="1"/>
          </p:cNvCxnSpPr>
          <p:nvPr/>
        </p:nvCxnSpPr>
        <p:spPr>
          <a:xfrm xmlns:a="http://schemas.openxmlformats.org/drawingml/2006/main" rot="0">
            <a:off x="1982624" y="3165724"/>
            <a:ext cx="217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cxnSp>
      <p:sp>
        <p:nvSpPr>
          <p:cNvPr id="30" name="Freeform: Shape 29">
            <a:extLst xmlns:a="http://schemas.openxmlformats.org/drawingml/2006/main">
              <a:ext uri="{FF2B5EF4-FFF2-40B4-BE49-F238E27FC236}">
                <a16:creationId xmlns:a16="http://schemas.microsoft.com/office/drawing/2014/main" id="{5EFAA1FC-F374-544B-C89F-768879C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7061" y="2571750"/>
            <a:ext cx="213646" cy="1333678"/>
          </a:xfrm>
          <a:custGeom xmlns:a="http://schemas.openxmlformats.org/drawingml/2006/main">
            <a:rect l="l" t="t" r="r" b="b"/>
            <a:pathLst>
              <a:path w="205099" h="1350235">
                <a:moveTo>
                  <a:pt x="0" y="0"/>
                </a:moveTo>
                <a:lnTo>
                  <a:pt x="0" y="1350235"/>
                </a:lnTo>
                <a:lnTo>
                  <a:pt x="205099" y="1350235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C2C19038-149C-4FC6-A45D-7E97F50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7061" y="3165724"/>
            <a:ext cx="217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3" name="Freeform: Shape 32">
            <a:extLst xmlns:a="http://schemas.openxmlformats.org/drawingml/2006/main">
              <a:ext uri="{FF2B5EF4-FFF2-40B4-BE49-F238E27FC236}">
                <a16:creationId xmlns:a16="http://schemas.microsoft.com/office/drawing/2014/main" id="{5249E440-1D9D-DBB3-B4B1-D1C90AC9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467" y="2571750"/>
            <a:ext cx="213646" cy="1333678"/>
          </a:xfrm>
          <a:custGeom xmlns:a="http://schemas.openxmlformats.org/drawingml/2006/main">
            <a:rect l="l" t="t" r="r" b="b"/>
            <a:pathLst>
              <a:path w="205099" h="1350235">
                <a:moveTo>
                  <a:pt x="0" y="0"/>
                </a:moveTo>
                <a:lnTo>
                  <a:pt x="0" y="1350235"/>
                </a:lnTo>
                <a:lnTo>
                  <a:pt x="205099" y="1350235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E09C6037-0141-4018-9D57-5AB0A84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467" y="3165724"/>
            <a:ext cx="217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7687EF-4AA9-05CF-6B7C-0DBB2AB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6057" y="1516565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Pre-discharge data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68E1B4-31AA-C807-F97A-3817CCF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6057" y="2264276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Mortality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9B429E-014B-248E-A4DB-0C4826EC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620" y="2264276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EHR + claims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288D8DE-DAAA-83EB-F9CE-74EA52E8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948" y="2264276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Time-to-event model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D505FE-3C20-3947-F748-B3A752F2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981" y="3011987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HRF acute care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7E4EA67-7D15-5809-69B6-A7BE737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44" y="3011987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Readmission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F7A8E42-2D2C-15C6-AC8C-D9BBCD0F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872" y="3011987"/>
            <a:ext cx="1405782" cy="30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3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Calibration / subgroups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8C589-C273-405A-BEF3-D188B03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Specific Aims; Research Strategy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87778C-EB10-4B5F-AE68-77044B46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Research infrastructure — not a deployed clinical action rule</a:t>
            </a:r>
          </a:p>
        </p:txBody>
      </p:sp>
    </p:spTree>
    <p:extLst>
      <p:ext uri="{BB962C8B-B14F-4D97-AF65-F5344CB8AC3E}">
        <p14:creationId xmlns:p14="http://schemas.microsoft.com/office/powerpoint/2010/main" val="11592841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Aim 3: criteria-based workflow feasibility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2084A-ACC0-C34F-AC91-2998D5A5F3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Aim 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42AD3-BE0B-FFD4-EACF-7943D5D41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Eligibility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HRF code, no prior PFT/sleep study, prior exacerbation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Navigator workflow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PFT, sleep testing, echo, oxygen/NIV/DME review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Feasibility endpoints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Reach, fidelity, acceptability, burden, 90-day testing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B811005-648B-9CA6-E786-3E66E14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CD8024A-9990-0A3C-F8D4-F18B859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47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134A6DD-156C-6F19-E64C-BD96B65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596" y="1939763"/>
            <a:ext cx="444025" cy="4440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B356E-AE4A-4E6F-9CE2-49B6CD3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6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Specific 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01026-20A6-405F-B789-147C6DF5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Criteria-based enrollment — not model-triggered clinical action</a:t>
            </a:r>
          </a:p>
        </p:txBody>
      </p:sp>
    </p:spTree>
    <p:extLst>
      <p:ext uri="{BB962C8B-B14F-4D97-AF65-F5344CB8AC3E}">
        <p14:creationId xmlns:p14="http://schemas.microsoft.com/office/powerpoint/2010/main" val="197062539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The K23 builds a learning-health-system sequence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K23 to R01 sequence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2c3ad313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2c3ad313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2c3ad313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2c3ad313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care</a:t>
            </a:r>
          </a:p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risk</a:t>
            </a:r>
          </a:p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workflow</a:t>
            </a:r>
          </a:p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Pragmatic /</a:t>
            </a:r>
          </a:p>
          <a:p xmlns:a="http://schemas.openxmlformats.org/drawingml/2006/main">
            <a:pPr algn="ctr">
              <a:buNone/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R01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12D0C-C52F-4618-A1E6-5F26F15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R01 inputs: sites/process targets → enrichment/stratification → workflow assumptions</a:t>
            </a:r>
          </a:p>
        </p:txBody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Prediction models should be judged by the work they do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Closing taxonomy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7300"/>
            <a:ext cx="1346200" cy="13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95b5f3324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628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95b5f3324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09821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95b5f3324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88014" y="2571750"/>
            <a:ext cx="2176131" cy="87309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95b5f3324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66206" y="2571750"/>
            <a:ext cx="2176131" cy="87309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BE512B0-DDB6-30CA-92B2-2AB354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33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action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EF40CB-16E3-B2D7-D876-6AF9FD0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495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Disease definitions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5034C2-D7D7-7EB2-2E95-969A64F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892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Trial enrichment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0CF9A8-E3DA-14AD-2DDD-6610505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369" y="2780010"/>
            <a:ext cx="1346790" cy="43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Efficient estimation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F9010-0320-44FE-A3FA-648C24E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34136-42D4-4E92-B17A-16FF1C3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B02C2-A356-425B-9739-D56B7FB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875A3-46C7-498D-8331-2CBFC5D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106670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near-term opportunity is baseline-risk prediction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081675-9B34-2BD6-3DF7-971E8548AE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6F7D4D-D99E-9A00-55F4-DA02791973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25A1-B6B0-496F-A4DE-17AF0C5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42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most credible near-term path is better reference classes, better trial populations, and better estimators.</a:t>
            </a:r>
          </a:p>
        </p:txBody>
      </p:sp>
    </p:spTree>
    <p:extLst>
      <p:ext uri="{BB962C8B-B14F-4D97-AF65-F5344CB8AC3E}">
        <p14:creationId xmlns:p14="http://schemas.microsoft.com/office/powerpoint/2010/main" val="10999694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A1. Wells decision-threshold math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Wells decision math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6BA04-AB7D-4907-A678-0A63D1EC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43C64-8448-4B96-B23C-AE9C405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E9D6C-6CAF-45DC-B923-DB1EB3A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Pretest risk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Clinical score maps symptoms and signs to estimated PE probability.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69265-4B9E-4FD5-84FD-EFCE24B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Test result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Negative D-dimer multiplies pretest odds downward.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C2E06-BA6F-4DFC-BAB7-76657C43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143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7CAFD0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If post-test risk is below the miss threshold, avoid 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6407B-9CDC-4054-8E55-EBDEDD6F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574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93210-4B00-4B16-A976-269533B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574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784E5-7CFD-475F-8202-0C6BE56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post-test odds = pretest odds × LR−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AD6E5-9BF6-4F4A-A2AC-0245AEF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00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0044"/>
                </a:solidFill>
                <a:latin typeface="Arial"/>
                <a:ea typeface="Arial"/>
                <a:cs typeface="Arial"/>
              </a:rPr>
              <a:t>Low clinical score + negative D-dimer → risk below no-CT threshold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A2. Why AUC is not clinical utility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AUC and utility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34A7B-8E7A-4C8F-B886-8C1B0BD0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BFA30-CD50-496A-8C85-12910FD9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44569-4C26-4ADF-85BE-48B2E4AA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AUC asks whether cases rank above non-cases.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C8B87-531C-4650-9420-B83DB24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DB75C-C290-4788-909F-69157D3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0889C-14F9-485E-8A9C-0FA2B3E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56EEF-D9C1-45AF-87BF-387D7D1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69C53-2813-467D-84FE-933B9AA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B7C36-F4B1-4EE1-AC95-A711ABA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5E392-149D-435F-8456-A6B61F4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0D892-5D9D-4BB7-B415-CCAC85BB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9E5B1-F2F7-40FE-83A0-89017D6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248CB-83A7-4430-8892-9855160B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D7EB5-B229-4536-B293-71E2FB5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04986-8D50-4A97-BFDE-689A132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90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False-positive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02190-0060-4653-BD26-62679051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True-positive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A37DD-58F5-4596-91AA-9552B2E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Discrimination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90B23-C177-463F-8416-2EFCD04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764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2FC3B-18D6-4625-9261-4D0324A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717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Decision threshold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C1315-60B4-436A-A3E9-FD820691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670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Workflow fit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E6B8D-4DB4-4C1F-934C-4F8C0BBA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623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Patient / system 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24364-B445-4A39-A6DB-E3780503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Utility starts when ranking changes an action.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A3. Subgroup forest plots can mislead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subgroup interpretation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F4A44-25A8-4B1E-BB71-0027CBB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3216B-3EB2-4CF8-A377-ADFAD21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2243E-5326-40E6-9CDF-F6AFEE9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Same trial, two subgroups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25755-012A-4738-9572-B5B9658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B10D1-9014-4F97-B4FA-E48BF66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Subgroup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A8646-7405-460F-ADD8-9DBA1D9C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1809750"/>
            <a:ext cx="46863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2FCBD-CEA7-4FEB-8418-BE3DB0E5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0" y="173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D5FA8-73F5-4F53-B061-7033EA2E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954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004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0044"/>
                </a:solidFill>
                <a:latin typeface="Arial"/>
                <a:ea typeface="Arial"/>
                <a:cs typeface="Arial"/>
              </a:rPr>
              <a:t>p &lt; 0.05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05473-384C-4436-B324-45DFBB2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Subgroup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7A9B7-C85A-47D1-9BEE-3E15A56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940" y="2552700"/>
            <a:ext cx="8458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5BDC1-DAAA-4239-AEDF-5122AE78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76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EC530-F468-42C7-85F4-B2FA97A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p = 0.18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D0333-80BF-4197-B446-0E0E8C11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24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CE39D-254C-4A41-B3CD-E5E6A59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AF361-2240-416A-B1A5-ECC2F3FF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30748-B5E6-44EF-98CF-5B23CEA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242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Different p-values do not prove different effects.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699B5-9278-4EBC-829E-B831F64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Ask for an interaction or CATE target, not subgroup-by-subgroup significance.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A4. Risk-based HTE vs CATE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risk-based HTE vs CATE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88D97-FA92-4B7C-8F99-C4F32E3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5DFCC-72D3-4E12-8C6F-85E7156F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21BDA-2413-439C-85DB-79DAFDB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449EA-1D48-4D62-990D-3708559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82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FE1F-7BBD-49AC-8355-3D24834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82832-55AB-49C1-B015-184DCEB8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38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FA98A-8BA6-489B-B80D-89F161C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Baseline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3D7D6-D934-4D6D-B75F-6EFD416F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How likely is the outcome without treatment?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83971-7380-45F7-A541-AB4D870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52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p₀(x)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BA742-AB35-4E9D-B0EC-43A085C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526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Targeting, enrichment, adjustment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82E46-0E0A-4BDB-984B-5DC2619D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Risk-based HTE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8BFCF-ED03-438D-8C1C-2EA6BEE0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Does absolute benefit grow with baseline risk?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6272D-8C47-4FB6-9712-88BBC5E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ARR(x) ≈ p₀(x) × RRR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7774F-F842-4FF1-972A-956FCAA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669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Personalize expected benefit if relative effect is 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97D81-81A9-41B3-8787-B9EF8B6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4B0AA-D5A9-42EB-BA5E-6911D5D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Does treatment effect itself vary by covariates?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DB83-B5F3-4A8F-84B8-A6708AF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81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τ(x) = E[Y(1) − Y(0) | X = x]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40232-010B-4DD5-85CD-AB835BA2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Causal effect modeling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84494-B0AD-42D3-9CA4-2776A64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Risk-based care can personalize absolute benefit without proving treatment-effect heterogeneity.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A5. Covariate adjustment and precision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covariate adjustment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DC73F-83BF-4AE3-87B7-5F85D823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BF063-7BF7-4829-950F-ED023FE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B53EC-98B5-4453-A55E-212F33EA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19062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SE ∝ residual SD / √n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4D5EF-B4FD-47CB-BAE7-5908BD0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Before adjustment</a:t>
            </a:r>
          </a:p>
          <a:p xmlns:a="http://schemas.openxmlformats.org/drawingml/2006/main">
            <a:pPr algn="l"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Outcome variation includes treatment signal, baseline risk, and residual noise.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B76A4-D46E-4EB2-B5BE-8F86562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After adjustment</a:t>
            </a:r>
          </a:p>
          <a:p xmlns:a="http://schemas.openxmlformats.org/drawingml/2006/main">
            <a:pPr algn="l">
              <a:defRPr sz="1125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Pre-randomization prognostic covariates reduce residual variation around the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93121-9FA7-438E-8505-F0744CB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56774-4C8D-4636-8FBE-934DA027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20% residual SD reduction → 20% SE reduction → 1 / 0.8² ≈ 1.56×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E829B-6CF4-4B6C-B1A8-74091E1A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72717A"/>
                </a:solidFill>
                <a:latin typeface="Arial"/>
                <a:ea typeface="Arial"/>
                <a:cs typeface="Arial"/>
              </a:rPr>
              <a:t>Use baseline / pre-randomization covariates; do not adjust for post-treatment mediators.</a:t>
            </a:r>
          </a:p>
        </p:txBody>
      </p:sp>
    </p:spTree>
    <p:extLst>
      <p:ext uri="{BB962C8B-B14F-4D97-AF65-F5344CB8AC3E}">
        <p14:creationId xmlns:p14="http://schemas.microsoft.com/office/powerpoint/2010/main" val="299583133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99CB35-8809-DBBD-69ED-F4ACD0F2A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A6. K23 Aim 2 validation metrics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0A26ED-551A-00BF-70FB-90C2DC814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K23 Aim 2 metrics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BE349D-02E8-7395-98A7-6A02A980A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D02C5-5238-488A-8017-B22A27F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4C0DC-88E2-4D96-B5DD-B72BCCB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9E023-B9BD-4DF7-AE3D-2546E4B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76708-F7D3-4082-AEA2-21FEC6A5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28587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8F781-F0D9-4607-95D1-9EE7713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28587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0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A2761-5393-4571-BAD1-5FD40FE1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10090-195A-4ECD-9CA5-EA7C0CF5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4307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Readmission, mortality, HRF acute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F2732-E012-4195-BD35-EA78B8D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4307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Defines the prediction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75646-170C-4112-AB78-F018141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Model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10219-85DD-47BD-83DA-C60E3EE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0027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Calibration, discrimination, time-to-event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04542-BDBD-4DE1-BFC0-F9BFC5D4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0027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Checks risk 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57CF7-B00C-40E1-99D8-EC83151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428C9-4FEC-4033-8C94-6499146B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5747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Subgroups, sites, missingness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0B82B-B51D-432B-BEE0-E7C710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5747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Prepares for R01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20EC0-325C-42CB-80F1-060A13BC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Use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C4B96-9D5D-4154-98EE-7365C815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No clinical deployment 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EC843-FAB5-44E3-97A9-F41DAF71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85725" tIns="47625" rIns="85725" bIns="47625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Avoids overclaiming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6225D-F7B6-405E-91DF-E2D0C6D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657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Aim 2 validates risk infrastructure — not a deployed clinical action rule.</a:t>
            </a:r>
          </a:p>
        </p:txBody>
      </p:sp>
    </p:spTree>
    <p:extLst>
      <p:ext uri="{BB962C8B-B14F-4D97-AF65-F5344CB8AC3E}">
        <p14:creationId xmlns:p14="http://schemas.microsoft.com/office/powerpoint/2010/main" val="1159284140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10057"/>
                </a:solidFill>
                <a:latin typeface="Arial"/>
                <a:ea typeface="Arial"/>
                <a:cs typeface="Arial"/>
              </a:rPr>
              <a:t>A7. K23 Aim 3 feasibility endpoints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2084A-ACC0-C34F-AC91-2998D5A5F3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Appendix: K23 Aim 3 endpoints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42AD3-BE0B-FFD4-EACF-7943D5D41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sz="600">
                <a:solidFill>
                  <a:srgbClr val="72717A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5C45A-E2BD-4F1D-B421-B122F52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687FB-A92A-4F0A-B529-5F064764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2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2717A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DE30D-132D-4F1C-9F53-96E8D93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143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7E2ED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Eligibility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HRF code, no prior PFT/sleep study, prior exacerbation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542E0-1C83-4B63-9D7E-E7FCF525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143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Navigator workflow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PFT, sleep testing, echo, oxygen/NIV/DME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3A684-983F-4ADC-AD60-7CFF5C8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143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FD0"/>
          </a:solidFill>
          <a:ln xmlns:a="http://schemas.openxmlformats.org/drawingml/2006/main" w="9525">
            <a:solidFill>
              <a:srgbClr val="7CAFD0"/>
            </a:solidFill>
            <a:prstDash val="solid"/>
          </a:ln>
        </p:spPr>
        <p:txBody>
          <a:bodyPr xmlns:a="http://schemas.openxmlformats.org/drawingml/2006/main" lIns="133350" tIns="114300" rIns="133350" bIns="952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Feasibility endpoints</a:t>
            </a:r>
          </a:p>
          <a:p xmlns:a="http://schemas.openxmlformats.org/drawingml/2006/main">
            <a:pPr algn="l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Reach, fidelity, acceptability, burden, 90-day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B8189-4D30-4FCB-A779-2DC1FC3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574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AE152-200B-4515-847F-E97B255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574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EC32D-4AA7-4F71-9B2B-782CB93A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B9"/>
          </a:solidFill>
          <a:ln xmlns:a="http://schemas.openxmlformats.org/drawingml/2006/main" w="9525">
            <a:solidFill>
              <a:srgbClr val="FF004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0057"/>
                </a:solidFill>
                <a:latin typeface="Arial"/>
                <a:ea typeface="Arial"/>
                <a:cs typeface="Arial"/>
              </a:rPr>
              <a:t>Criteria-based enrollment — not model-triggered clinical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1F48F-4DF3-49C3-9CA5-46AE62D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0057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10057"/>
                </a:solidFill>
                <a:latin typeface="Arial"/>
                <a:ea typeface="Arial"/>
                <a:cs typeface="Arial"/>
              </a:rPr>
              <a:t>Success means the workflow is feasible enough to support a pragmatic / hybrid R01.</a:t>
            </a:r>
          </a:p>
        </p:txBody>
      </p:sp>
    </p:spTree>
    <p:extLst>
      <p:ext uri="{BB962C8B-B14F-4D97-AF65-F5344CB8AC3E}">
        <p14:creationId xmlns:p14="http://schemas.microsoft.com/office/powerpoint/2010/main" val="1970625391"/>
      </p:ext>
    </p:extLst>
  </p:cSld>
</p:sld>
</file>

<file path=ppt/theme/theme1.xml><?xml version="1.0" encoding="utf-8"?>
<a:theme xmlns:a="http://schemas.openxmlformats.org/drawingml/2006/main" name="IH Colors">
  <a:themeElements>
    <a:clrScheme name="IH Colors">
      <a:dk1>
        <a:srgbClr val="110057"/>
      </a:dk1>
      <a:lt1>
        <a:srgbClr val="F7F5F9"/>
      </a:lt1>
      <a:dk2>
        <a:srgbClr val="4A00E2"/>
      </a:dk2>
      <a:lt2>
        <a:srgbClr val="FFFFFF"/>
      </a:lt2>
      <a:accent1>
        <a:srgbClr val="110057"/>
      </a:accent1>
      <a:accent2>
        <a:srgbClr val="4A00E2"/>
      </a:accent2>
      <a:accent3>
        <a:srgbClr val="FF0044"/>
      </a:accent3>
      <a:accent4>
        <a:srgbClr val="7CAFD0"/>
      </a:accent4>
      <a:accent5>
        <a:srgbClr val="FF5D55"/>
      </a:accent5>
      <a:accent6>
        <a:srgbClr val="FFBCB9"/>
      </a:accent6>
      <a:hlink>
        <a:srgbClr val="110057"/>
      </a:hlink>
      <a:folHlink>
        <a:srgbClr val="4A00E2"/>
      </a:folHlink>
    </a:clrScheme>
    <a:fontScheme name="I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H Color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2026-05-29T23:17:08.4020000Z</dcterms:created>
  <dcterms:modified xsi:type="dcterms:W3CDTF">2026-05-29T23:17:08.4020000Z</dcterms:modified>
</coreProperties>
</file>