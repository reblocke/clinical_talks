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954" r:id="rId2"/>
    <p:sldId id="926" r:id="rId3"/>
    <p:sldId id="933" r:id="rId4"/>
    <p:sldId id="940" r:id="rId5"/>
    <p:sldId id="966" r:id="rId6"/>
    <p:sldId id="876" r:id="rId7"/>
    <p:sldId id="862" r:id="rId8"/>
    <p:sldId id="960" r:id="rId9"/>
    <p:sldId id="9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38"/>
    <p:restoredTop sz="80297"/>
  </p:normalViewPr>
  <p:slideViewPr>
    <p:cSldViewPr snapToGrid="0">
      <p:cViewPr varScale="1">
        <p:scale>
          <a:sx n="98" d="100"/>
          <a:sy n="98" d="100"/>
        </p:scale>
        <p:origin x="143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43F77F-9A3C-E740-9DB0-E9D6C9A5452C}"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0C85-FC02-4C4E-8B1A-6BB950A69184}" type="slidenum">
              <a:rPr lang="en-US" smtClean="0"/>
              <a:t>‹#›</a:t>
            </a:fld>
            <a:endParaRPr lang="en-US"/>
          </a:p>
        </p:txBody>
      </p:sp>
    </p:spTree>
    <p:extLst>
      <p:ext uri="{BB962C8B-B14F-4D97-AF65-F5344CB8AC3E}">
        <p14:creationId xmlns:p14="http://schemas.microsoft.com/office/powerpoint/2010/main" val="407130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FORMATTED TALK — Slide 1 (Title / Introduction)</a:t>
            </a: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Hi, everyone. My name is Brian Locke. I'm going to talk for about ten minutes on my research program here at Intermountain.</a:t>
            </a:r>
          </a:p>
          <a:p>
            <a:r>
              <a:rPr lang="en-US" sz="1200" b="0" i="1" kern="1200" dirty="0">
                <a:solidFill>
                  <a:schemeClr val="tx1"/>
                </a:solidFill>
                <a:effectLst/>
                <a:latin typeface="+mn-lt"/>
                <a:ea typeface="+mn-ea"/>
                <a:cs typeface="+mn-cs"/>
              </a:rPr>
              <a:t>In terms of jumping in — since we don't have a lot of time — I think I've met most folks on the call, but for those I haven't: I'm Brian. I joined Intermountain roughly two years ago. I have backgrounds in computer science and clinical investigation. I practice in the Shock Trauma ICU and also down in the Schmidt Chest Clinic, where I have a subspecialty clinic in chronic respiratory failure — so patients who need home ventilation, have obesity hypoventilation syndrome, or any other combination. Essentially, the population we're going to talk about today.</a:t>
            </a:r>
          </a:p>
          <a:p>
            <a:r>
              <a:rPr lang="en-US" sz="1200" b="0" i="1" kern="1200" dirty="0">
                <a:solidFill>
                  <a:schemeClr val="tx1"/>
                </a:solidFill>
                <a:effectLst/>
                <a:latin typeface="+mn-lt"/>
                <a:ea typeface="+mn-ea"/>
                <a:cs typeface="+mn-cs"/>
              </a:rPr>
              <a:t>My research focuses primarily on trying to better capture data out of the health record to support research on hypercapnic respiratory failure, which right now primarily means describing the disease burden, costs, and care processes that are occurring. Although my hope is to build that up into a program that tests interventions to improve their care.</a:t>
            </a:r>
          </a:p>
          <a:p>
            <a:r>
              <a:rPr lang="en-US" sz="1200" b="0" i="1" kern="1200" dirty="0">
                <a:solidFill>
                  <a:schemeClr val="tx1"/>
                </a:solidFill>
                <a:effectLst/>
                <a:latin typeface="+mn-lt"/>
                <a:ea typeface="+mn-ea"/>
                <a:cs typeface="+mn-cs"/>
              </a:rPr>
              <a:t>So, just to jump to our topic — the scale of the problem. Hypercapnic respiratory failure has a substantial health burden that actually doesn't receive much attention as an all-cause syndrome, and I'll talk about why I think it should. If we think about how often hypercapnic respiratory failure occurs, the best period prevalence estimates put it at somewhere around 150 cases per 100,000 people per year — and I think that's probably a bit of an underestimate. Just as a reference, that's probably about double the rate of decompensated cirrhosis, which is something we also take care of a lot in Shock Trauma. It carries substantial mortality — about 20% in the two months after. And about a quarter of patients are readmitted within 60 days, usually with recurrent hypercapnic respiratory failure.</a:t>
            </a:r>
          </a:p>
          <a:p>
            <a:r>
              <a:rPr lang="en-US" sz="1200" b="0" i="1" kern="1200" dirty="0">
                <a:solidFill>
                  <a:schemeClr val="tx1"/>
                </a:solidFill>
                <a:effectLst/>
                <a:latin typeface="+mn-lt"/>
                <a:ea typeface="+mn-ea"/>
                <a:cs typeface="+mn-cs"/>
              </a:rPr>
              <a:t>If we look in Utah, we find evidence that there is quite substantial diagnostic burden. When we looked at the all-payer claims data, we see around 15,000 cases diagnosed by ICD code, which is a substantial undercount in Utah. More pertinent to us, in the Intermountain–Select Health co-insured population, there are about 1,000 cases per year in the Canyons region if you include blood gas criteria. And by that criterion, these admissions cost about $50,000 per index hospitalization.</a:t>
            </a:r>
          </a:p>
          <a:p>
            <a:r>
              <a:rPr lang="en-US" sz="1200" b="0" i="1" kern="1200" dirty="0">
                <a:solidFill>
                  <a:schemeClr val="tx1"/>
                </a:solidFill>
                <a:effectLst/>
                <a:latin typeface="+mn-lt"/>
                <a:ea typeface="+mn-ea"/>
                <a:cs typeface="+mn-cs"/>
              </a:rPr>
              <a:t>So — can better healthcare delivery improve these outcomes? I think there's a big reason to suspect so. When we look at what currently happens with these patients, it's really only about a third — or a quarter, or one in five — who actually have preexisting diagnoses before they come into the hospital. In some ways it's similar to decompensated cirrhosis, in that it's not usually somebody who's never had lung disease. But it's a big problem because the clinical practice guidelines that recommend different strategies of care presume that the diagnosis has already been firmly established. When one of these patients comes into the hospital, it's not possible to get all the testing they would need for that diagnosis — for example, sleep testing has to occur as an outpatient.</a:t>
            </a:r>
          </a:p>
          <a:p>
            <a:r>
              <a:rPr lang="en-US" sz="1200" b="0" i="1" kern="1200" dirty="0">
                <a:solidFill>
                  <a:schemeClr val="tx1"/>
                </a:solidFill>
                <a:effectLst/>
                <a:latin typeface="+mn-lt"/>
                <a:ea typeface="+mn-ea"/>
                <a:cs typeface="+mn-cs"/>
              </a:rPr>
              <a:t>If we look statewide at how many people who have an ICD code for hypercapnic respiratory failure go on to get the correct testing, we see only 15% get pulmonary function testing, 10% get sleep testing — very low. About a half get echocardiograms, so that's better. Part of the reason is that there's a transfer of care that has to happen between the inpatient teams and the correct specialist, and often the correct specialist isn't known. So when we think about what to do here, I think there's significant room for improvement.</a:t>
            </a:r>
          </a:p>
          <a:p>
            <a:r>
              <a:rPr lang="en-US" sz="1200" b="0" i="1" kern="1200" dirty="0">
                <a:solidFill>
                  <a:schemeClr val="tx1"/>
                </a:solidFill>
                <a:effectLst/>
                <a:latin typeface="+mn-lt"/>
                <a:ea typeface="+mn-ea"/>
                <a:cs typeface="+mn-cs"/>
              </a:rPr>
              <a:t>I mentioned a couple of times that the way we identify patients matters a lot. This is prior work from our group, including Sam and Ithan, that was published in CHEST relatively recently. One of the key findings is that if you look through the literature at what methods people have used to identify patients with hypercapnic respiratory failure in health record data, the different strategies select non-overlapping people. The main reason is that the different diagnostic tests — arterial blood gases, venous blood gases — or whether you try to select an even narrower group based on whether they ultimately needed intervention — none of those have good sensitivity for the underlying condition in practice.</a:t>
            </a:r>
          </a:p>
          <a:p>
            <a:r>
              <a:rPr lang="en-US" sz="1200" b="0" i="1" kern="1200" dirty="0">
                <a:solidFill>
                  <a:schemeClr val="tx1"/>
                </a:solidFill>
                <a:effectLst/>
                <a:latin typeface="+mn-lt"/>
                <a:ea typeface="+mn-ea"/>
                <a:cs typeface="+mn-cs"/>
              </a:rPr>
              <a:t>Companion work presented at a machine learning conference showed that you can use a variety of data elements from the health record — bicarbonate, risk factors, prior diagnoses — and do a decent job of identifying these people, or at least a more stable job.</a:t>
            </a:r>
          </a:p>
          <a:p>
            <a:r>
              <a:rPr lang="en-US" sz="1200" b="0" i="1" kern="1200" dirty="0">
                <a:solidFill>
                  <a:schemeClr val="tx1"/>
                </a:solidFill>
                <a:effectLst/>
                <a:latin typeface="+mn-lt"/>
                <a:ea typeface="+mn-ea"/>
                <a:cs typeface="+mn-cs"/>
              </a:rPr>
              <a:t>So why does it matter? We really need a different workflow for how we manage these patients. On the clinical side of the research program, the clinic serves a dual purpose: it addresses a gap in how these patients are managed, but my goal would also be to use it to generate evidence. Right now, the Schmidt Chest Clinic is set up to care for some of these patients. We're identifying patients primarily by word of mouth and through the inpatient respiratory therapy teams. There's an AVAPS protocol that can lead to my clinic. The strategy is that the inpatient clinical teams identify patients, they talk with our pulmonary disease navigators — Megan Hepworth is the primary one — and then myself or Gabriel Norton, an APP in clinic, handle issues that occur in that peri-discharge period. We quarterback the immediate workup with the goal of saying: this care has traditionally been scattered, and there hasn't been clear ownership of, say, a patient who doesn't come to get the needed workup. Who's going to reach out to them? That hasn't been totally clear.</a:t>
            </a:r>
          </a:p>
          <a:p>
            <a:r>
              <a:rPr lang="en-US" sz="1200" b="0" i="1" kern="1200" dirty="0">
                <a:solidFill>
                  <a:schemeClr val="tx1"/>
                </a:solidFill>
                <a:effectLst/>
                <a:latin typeface="+mn-lt"/>
                <a:ea typeface="+mn-ea"/>
                <a:cs typeface="+mn-cs"/>
              </a:rPr>
              <a:t>The research side is supported through the PCCM seed grant, and I've been using that for two parallel data streams. One I call AIM-High, which is a collaboration with Select Health. We've linked Intermountain and Select Health data, and we've looked back using those various case definitions I talked about earlier. Our goal is to characterize the economics — costs and expenditures — for this group and also do some risk prediction and stratification. Clearly, not all patients who have high CO₂ in the hospital are at comparable risk. I suspect there are patterns of both patient characteristics and health system characteristics that can stratify who's at highest risk — because those are the people we want to identify in practice so they can, for example, be referred into my clinic. We're cleaning the data right now and hopeful to have results in the next few months.</a:t>
            </a:r>
          </a:p>
          <a:p>
            <a:r>
              <a:rPr lang="en-US" sz="1200" b="0" i="1" kern="1200" dirty="0">
                <a:solidFill>
                  <a:schemeClr val="tx1"/>
                </a:solidFill>
                <a:effectLst/>
                <a:latin typeface="+mn-lt"/>
                <a:ea typeface="+mn-ea"/>
                <a:cs typeface="+mn-cs"/>
              </a:rPr>
              <a:t>The second pipeline is the CO₂-PATH Cohort, which uses Utah Population Database data. We've gotten regulatory authorization for statewide linkage with both the Intermountain and University of Utah data. This will be a substantially bigger cohort but with less outcome resolution. Our main aim is to more deeply characterize the statewide burden of disease and what care people are currently getting. I actually have a meeting later today with the Utah Population Database to go through some data specifications. We're moving a bit slower than on the Select Health side, but moving forward.</a:t>
            </a:r>
          </a:p>
          <a:p>
            <a:r>
              <a:rPr lang="en-US" sz="1200" b="0" i="1" kern="1200" dirty="0">
                <a:solidFill>
                  <a:schemeClr val="tx1"/>
                </a:solidFill>
                <a:effectLst/>
                <a:latin typeface="+mn-lt"/>
                <a:ea typeface="+mn-ea"/>
                <a:cs typeface="+mn-cs"/>
              </a:rPr>
              <a:t>These two research projects are in support of a K23 that I'm going to be resubmitting later this year. It submitted last year, right around the time all of the chaos from the administration transition came through. I talked to a program officer earlier this year who was actually quite enthusiastic about just resubmitting. The three aims are: a discharge risk stratification aim primarily built on the Select Health cohort; a post-discharge management variation characterization aimed at establishing what people are currently doing and what could be done; and then to pilot a small nudge — I think it'll most likely be nudging a subset of potentially eligible patients to come see me in clinic in a more randomized or risk-targeted fashion.</a:t>
            </a:r>
          </a:p>
          <a:p>
            <a:r>
              <a:rPr lang="en-US" sz="1200" b="0" i="1" kern="1200" dirty="0">
                <a:solidFill>
                  <a:schemeClr val="tx1"/>
                </a:solidFill>
                <a:effectLst/>
                <a:latin typeface="+mn-lt"/>
                <a:ea typeface="+mn-ea"/>
                <a:cs typeface="+mn-cs"/>
              </a:rPr>
              <a:t>My hope from those objectives is to get more experience analyzing variation, akin to what Ethan and Elizabeth Monroe have been doing in sepsis, and then more embedded trial design and prospective study experience. The hope would be to build this up into a more definitive efficacy pragmatic trial.</a:t>
            </a:r>
          </a:p>
          <a:p>
            <a:r>
              <a:rPr lang="en-US" sz="1200" b="0" i="1" kern="1200" dirty="0">
                <a:solidFill>
                  <a:schemeClr val="tx1"/>
                </a:solidFill>
                <a:effectLst/>
                <a:latin typeface="+mn-lt"/>
                <a:ea typeface="+mn-ea"/>
                <a:cs typeface="+mn-cs"/>
              </a:rPr>
              <a:t>Another parallel stream that may not go through the NIH — maybe a separate grant for a different funder — is that obesity is a major risk factor here, and most patients with hypercapnic respiratory failure already have an FD designation. So GLP-1 efficacy in this group is a major unanswered question, and I think that's another stream I'm looking into. My goal is to continue to develop as a technologist and methodologist in those spaces.</a:t>
            </a:r>
          </a:p>
          <a:p>
            <a:r>
              <a:rPr lang="en-US" sz="1200" b="0" i="1" kern="1200" dirty="0">
                <a:solidFill>
                  <a:schemeClr val="tx1"/>
                </a:solidFill>
                <a:effectLst/>
                <a:latin typeface="+mn-lt"/>
                <a:ea typeface="+mn-ea"/>
                <a:cs typeface="+mn-cs"/>
              </a:rPr>
              <a:t>So with all of that, I'll end there and give thanks to the different groups that have supported this and the data team, some of whom I've mentioned and there are more. With that, I'd be happy to take any questions.</a:t>
            </a:r>
          </a:p>
          <a:p>
            <a:br>
              <a:rPr lang="en-US" dirty="0"/>
            </a:br>
            <a:endParaRPr lang="en-US" dirty="0"/>
          </a:p>
          <a:p>
            <a:r>
              <a:rPr lang="en-US" sz="1200" b="1" i="0" kern="1200" dirty="0">
                <a:solidFill>
                  <a:schemeClr val="tx1"/>
                </a:solidFill>
                <a:effectLst/>
                <a:latin typeface="+mn-lt"/>
                <a:ea typeface="+mn-ea"/>
                <a:cs typeface="+mn-cs"/>
              </a:rPr>
              <a:t>Feedback</a:t>
            </a:r>
          </a:p>
          <a:p>
            <a:r>
              <a:rPr lang="en-US" sz="1200" b="1" i="0" kern="1200" dirty="0">
                <a:solidFill>
                  <a:schemeClr val="tx1"/>
                </a:solidFill>
                <a:effectLst/>
                <a:latin typeface="+mn-lt"/>
                <a:ea typeface="+mn-ea"/>
                <a:cs typeface="+mn-cs"/>
              </a:rPr>
              <a:t>Overall Impression:</a:t>
            </a:r>
            <a:r>
              <a:rPr lang="en-US" sz="1200" b="0" i="0" kern="1200" dirty="0">
                <a:solidFill>
                  <a:schemeClr val="tx1"/>
                </a:solidFill>
                <a:effectLst/>
                <a:latin typeface="+mn-lt"/>
                <a:ea typeface="+mn-ea"/>
                <a:cs typeface="+mn-cs"/>
              </a:rPr>
              <a:t> This is a strong, well-organized 10-minute research overview. You clearly communicate the clinical problem, your unique position to address it, and a credible roadmap from descriptive work → K23 → pragmatic trial. The audience (Research Leadership Team) should come away understanding both the significance and your trajectory. A few notes:</a:t>
            </a:r>
          </a:p>
          <a:p>
            <a:r>
              <a:rPr lang="en-US" sz="1200" b="1" i="0" kern="1200" dirty="0">
                <a:solidFill>
                  <a:schemeClr val="tx1"/>
                </a:solidFill>
                <a:effectLst/>
                <a:latin typeface="+mn-lt"/>
                <a:ea typeface="+mn-ea"/>
                <a:cs typeface="+mn-cs"/>
              </a:rPr>
              <a:t>Strengths</a:t>
            </a:r>
          </a:p>
          <a:p>
            <a:r>
              <a:rPr lang="en-US" sz="1200" b="1" i="0" kern="1200" dirty="0">
                <a:solidFill>
                  <a:schemeClr val="tx1"/>
                </a:solidFill>
                <a:effectLst/>
                <a:latin typeface="+mn-lt"/>
                <a:ea typeface="+mn-ea"/>
                <a:cs typeface="+mn-cs"/>
              </a:rPr>
              <a:t>Compelling problem framing.</a:t>
            </a:r>
            <a:r>
              <a:rPr lang="en-US" sz="1200" b="0" i="0" kern="1200" dirty="0">
                <a:solidFill>
                  <a:schemeClr val="tx1"/>
                </a:solidFill>
                <a:effectLst/>
                <a:latin typeface="+mn-lt"/>
                <a:ea typeface="+mn-ea"/>
                <a:cs typeface="+mn-cs"/>
              </a:rPr>
              <a:t> The cirrhosis comparison is an excellent anchor — it instantly conveys severity to an audience of clinical researchers. The cost figure ($50K/admission) and readmission rate (25% at 60 days) land well.</a:t>
            </a:r>
          </a:p>
          <a:p>
            <a:r>
              <a:rPr lang="en-US" sz="1200" b="1" i="0" kern="1200" dirty="0">
                <a:solidFill>
                  <a:schemeClr val="tx1"/>
                </a:solidFill>
                <a:effectLst/>
                <a:latin typeface="+mn-lt"/>
                <a:ea typeface="+mn-ea"/>
                <a:cs typeface="+mn-cs"/>
              </a:rPr>
              <a:t>Clear research architecture.</a:t>
            </a:r>
            <a:r>
              <a:rPr lang="en-US" sz="1200" b="0" i="0" kern="1200" dirty="0">
                <a:solidFill>
                  <a:schemeClr val="tx1"/>
                </a:solidFill>
                <a:effectLst/>
                <a:latin typeface="+mn-lt"/>
                <a:ea typeface="+mn-ea"/>
                <a:cs typeface="+mn-cs"/>
              </a:rPr>
              <a:t> The two-pipeline structure (AIM-High with Select Health + CO₂-PATH with UPDB) is easy to follow and shows thoughtful study design with complementary strengths (depth vs. breadth).</a:t>
            </a:r>
          </a:p>
          <a:p>
            <a:r>
              <a:rPr lang="en-US" sz="1200" b="1" i="0" kern="1200" dirty="0">
                <a:solidFill>
                  <a:schemeClr val="tx1"/>
                </a:solidFill>
                <a:effectLst/>
                <a:latin typeface="+mn-lt"/>
                <a:ea typeface="+mn-ea"/>
                <a:cs typeface="+mn-cs"/>
              </a:rPr>
              <a:t>Honest about the knowledge </a:t>
            </a:r>
            <a:r>
              <a:rPr lang="en-US" sz="1200" b="1" i="0" kern="1200" dirty="0" err="1">
                <a:solidFill>
                  <a:schemeClr val="tx1"/>
                </a:solidFill>
                <a:effectLst/>
                <a:latin typeface="+mn-lt"/>
                <a:ea typeface="+mn-ea"/>
                <a:cs typeface="+mn-cs"/>
              </a:rPr>
              <a:t>gap.</a:t>
            </a:r>
            <a:r>
              <a:rPr lang="en-US" sz="1200" b="0" i="0" kern="1200" dirty="0" err="1">
                <a:solidFill>
                  <a:schemeClr val="tx1"/>
                </a:solidFill>
                <a:effectLst/>
                <a:latin typeface="+mn-lt"/>
                <a:ea typeface="+mn-ea"/>
                <a:cs typeface="+mn-cs"/>
              </a:rPr>
              <a:t>Citing</a:t>
            </a:r>
            <a:r>
              <a:rPr lang="en-US" sz="1200" b="0" i="0" kern="1200" dirty="0">
                <a:solidFill>
                  <a:schemeClr val="tx1"/>
                </a:solidFill>
                <a:effectLst/>
                <a:latin typeface="+mn-lt"/>
                <a:ea typeface="+mn-ea"/>
                <a:cs typeface="+mn-cs"/>
              </a:rPr>
              <a:t> the non-overlapping case definitions and low diagnostic testing rates (15% PFTs, 10% sleep) is powerful evidence that the field needs your work.</a:t>
            </a:r>
          </a:p>
          <a:p>
            <a:r>
              <a:rPr lang="en-US" sz="1200" b="1" i="0" kern="1200" dirty="0">
                <a:solidFill>
                  <a:schemeClr val="tx1"/>
                </a:solidFill>
                <a:effectLst/>
                <a:latin typeface="+mn-lt"/>
                <a:ea typeface="+mn-ea"/>
                <a:cs typeface="+mn-cs"/>
              </a:rPr>
              <a:t>Clinical-research integration.</a:t>
            </a:r>
            <a:r>
              <a:rPr lang="en-US" sz="1200" b="0" i="0" kern="1200" dirty="0">
                <a:solidFill>
                  <a:schemeClr val="tx1"/>
                </a:solidFill>
                <a:effectLst/>
                <a:latin typeface="+mn-lt"/>
                <a:ea typeface="+mn-ea"/>
                <a:cs typeface="+mn-cs"/>
              </a:rPr>
              <a:t> Framing the Schmidt Chest Clinic as both a clinical service and a research vehicle is smart for this audience.</a:t>
            </a:r>
          </a:p>
          <a:p>
            <a:r>
              <a:rPr lang="en-US" sz="1200" b="1" i="0" kern="1200" dirty="0">
                <a:solidFill>
                  <a:schemeClr val="tx1"/>
                </a:solidFill>
                <a:effectLst/>
                <a:latin typeface="+mn-lt"/>
                <a:ea typeface="+mn-ea"/>
                <a:cs typeface="+mn-cs"/>
              </a:rPr>
              <a:t>Areas to Tighten</a:t>
            </a:r>
          </a:p>
          <a:p>
            <a:r>
              <a:rPr lang="en-US" sz="1200" b="1" i="0" kern="1200" dirty="0">
                <a:solidFill>
                  <a:schemeClr val="tx1"/>
                </a:solidFill>
                <a:effectLst/>
                <a:latin typeface="+mn-lt"/>
                <a:ea typeface="+mn-ea"/>
                <a:cs typeface="+mn-cs"/>
              </a:rPr>
              <a:t>The opening runs long before the "hook."</a:t>
            </a:r>
            <a:r>
              <a:rPr lang="en-US" sz="1200" b="0" i="0" kern="1200" dirty="0">
                <a:solidFill>
                  <a:schemeClr val="tx1"/>
                </a:solidFill>
                <a:effectLst/>
                <a:latin typeface="+mn-lt"/>
                <a:ea typeface="+mn-ea"/>
                <a:cs typeface="+mn-cs"/>
              </a:rPr>
              <a:t> You spend roughly 90 seconds on introductions and background before you get to the scale of the problem. For a 10-minute talk, consider trimming the intro to ~30 seconds ("I'm Brian Locke, I joined two years ago, I practice in Shock Trauma and the Schmidt Chest Clinic in chronic respiratory failure") and getting to the 150/100K prevalence faster. The audience already received your title slide — trust it.</a:t>
            </a:r>
          </a:p>
          <a:p>
            <a:r>
              <a:rPr lang="en-US" sz="1200" b="1" i="0" kern="1200" dirty="0">
                <a:solidFill>
                  <a:schemeClr val="tx1"/>
                </a:solidFill>
                <a:effectLst/>
                <a:latin typeface="+mn-lt"/>
                <a:ea typeface="+mn-ea"/>
                <a:cs typeface="+mn-cs"/>
              </a:rPr>
              <a:t>The diagnostic gap section </a:t>
            </a:r>
            <a:r>
              <a:rPr lang="en-US" sz="1200" b="1" i="0" kern="1200" dirty="0" err="1">
                <a:solidFill>
                  <a:schemeClr val="tx1"/>
                </a:solidFill>
                <a:effectLst/>
                <a:latin typeface="+mn-lt"/>
                <a:ea typeface="+mn-ea"/>
                <a:cs typeface="+mn-cs"/>
              </a:rPr>
              <a:t>meanders.</a:t>
            </a:r>
            <a:r>
              <a:rPr lang="en-US" sz="1200" b="0" i="0" kern="1200" dirty="0" err="1">
                <a:solidFill>
                  <a:schemeClr val="tx1"/>
                </a:solidFill>
                <a:effectLst/>
                <a:latin typeface="+mn-lt"/>
                <a:ea typeface="+mn-ea"/>
                <a:cs typeface="+mn-cs"/>
              </a:rPr>
              <a:t>You</a:t>
            </a:r>
            <a:r>
              <a:rPr lang="en-US" sz="1200" b="0" i="0" kern="1200" dirty="0">
                <a:solidFill>
                  <a:schemeClr val="tx1"/>
                </a:solidFill>
                <a:effectLst/>
                <a:latin typeface="+mn-lt"/>
                <a:ea typeface="+mn-ea"/>
                <a:cs typeface="+mn-cs"/>
              </a:rPr>
              <a:t> make the critical point — patients aren't getting tested — but then immediately pivot to the case definition problem. Consider separating these clearly: (a) </a:t>
            </a:r>
            <a:r>
              <a:rPr lang="en-US" sz="1200" b="0" i="1" kern="1200" dirty="0">
                <a:solidFill>
                  <a:schemeClr val="tx1"/>
                </a:solidFill>
                <a:effectLst/>
                <a:latin typeface="+mn-lt"/>
                <a:ea typeface="+mn-ea"/>
                <a:cs typeface="+mn-cs"/>
              </a:rPr>
              <a:t>"Patients aren't getting diagnosed or worked up"</a:t>
            </a:r>
            <a:r>
              <a:rPr lang="en-US" sz="1200" b="0" i="0" kern="1200" dirty="0">
                <a:solidFill>
                  <a:schemeClr val="tx1"/>
                </a:solidFill>
                <a:effectLst/>
                <a:latin typeface="+mn-lt"/>
                <a:ea typeface="+mn-ea"/>
                <a:cs typeface="+mn-cs"/>
              </a:rPr>
              <a:t> → data on low testing rates; (b) </a:t>
            </a:r>
            <a:r>
              <a:rPr lang="en-US" sz="1200" b="0" i="1" kern="1200" dirty="0">
                <a:solidFill>
                  <a:schemeClr val="tx1"/>
                </a:solidFill>
                <a:effectLst/>
                <a:latin typeface="+mn-lt"/>
                <a:ea typeface="+mn-ea"/>
                <a:cs typeface="+mn-cs"/>
              </a:rPr>
              <a:t>"And even in research, we can't agree on who these patients are"</a:t>
            </a:r>
            <a:r>
              <a:rPr lang="en-US" sz="1200" b="0" i="0" kern="1200" dirty="0">
                <a:solidFill>
                  <a:schemeClr val="tx1"/>
                </a:solidFill>
                <a:effectLst/>
                <a:latin typeface="+mn-lt"/>
                <a:ea typeface="+mn-ea"/>
                <a:cs typeface="+mn-cs"/>
              </a:rPr>
              <a:t> → the CHEST paper. Right now they blend together and dilute each other.</a:t>
            </a:r>
          </a:p>
          <a:p>
            <a:r>
              <a:rPr lang="en-US" sz="1200" b="1" i="0" kern="1200" dirty="0">
                <a:solidFill>
                  <a:schemeClr val="tx1"/>
                </a:solidFill>
                <a:effectLst/>
                <a:latin typeface="+mn-lt"/>
                <a:ea typeface="+mn-ea"/>
                <a:cs typeface="+mn-cs"/>
              </a:rPr>
              <a:t>Verbal hedging dilutes </a:t>
            </a:r>
            <a:r>
              <a:rPr lang="en-US" sz="1200" b="1" i="0" kern="1200" dirty="0" err="1">
                <a:solidFill>
                  <a:schemeClr val="tx1"/>
                </a:solidFill>
                <a:effectLst/>
                <a:latin typeface="+mn-lt"/>
                <a:ea typeface="+mn-ea"/>
                <a:cs typeface="+mn-cs"/>
              </a:rPr>
              <a:t>authority.</a:t>
            </a:r>
            <a:r>
              <a:rPr lang="en-US" sz="1200" b="0" i="0" kern="1200" dirty="0" err="1">
                <a:solidFill>
                  <a:schemeClr val="tx1"/>
                </a:solidFill>
                <a:effectLst/>
                <a:latin typeface="+mn-lt"/>
                <a:ea typeface="+mn-ea"/>
                <a:cs typeface="+mn-cs"/>
              </a:rPr>
              <a:t>Phrases</a:t>
            </a:r>
            <a:r>
              <a:rPr lang="en-US" sz="1200" b="0" i="0" kern="1200" dirty="0">
                <a:solidFill>
                  <a:schemeClr val="tx1"/>
                </a:solidFill>
                <a:effectLst/>
                <a:latin typeface="+mn-lt"/>
                <a:ea typeface="+mn-ea"/>
                <a:cs typeface="+mn-cs"/>
              </a:rPr>
              <a:t> like "I think probably," "you know," "sort of," "a bit of" appear frequently. A few are natural and human — but in a 10-minute slot, they add up. The most impactful statements in your talk are the direct ones ("These admissions cost $50,000 per index hospitalization"). Try to match that directness more consistently, especially for your main claims.</a:t>
            </a:r>
          </a:p>
          <a:p>
            <a:r>
              <a:rPr lang="en-US" sz="1200" b="1" i="0" kern="1200" dirty="0">
                <a:solidFill>
                  <a:schemeClr val="tx1"/>
                </a:solidFill>
                <a:effectLst/>
                <a:latin typeface="+mn-lt"/>
                <a:ea typeface="+mn-ea"/>
                <a:cs typeface="+mn-cs"/>
              </a:rPr>
              <a:t>The K23 aims need a punchier delivery.</a:t>
            </a:r>
            <a:r>
              <a:rPr lang="en-US" sz="1200" b="0" i="0" kern="1200" dirty="0">
                <a:solidFill>
                  <a:schemeClr val="tx1"/>
                </a:solidFill>
                <a:effectLst/>
                <a:latin typeface="+mn-lt"/>
                <a:ea typeface="+mn-ea"/>
                <a:cs typeface="+mn-cs"/>
              </a:rPr>
              <a:t> This is arguably the most important part for your audience, but it arrives when you're running low on time and the framing becomes somewhat list-like. Consider a brief setup sentence: </a:t>
            </a:r>
            <a:r>
              <a:rPr lang="en-US" sz="1200" b="0" i="1" kern="1200" dirty="0">
                <a:solidFill>
                  <a:schemeClr val="tx1"/>
                </a:solidFill>
                <a:effectLst/>
                <a:latin typeface="+mn-lt"/>
                <a:ea typeface="+mn-ea"/>
                <a:cs typeface="+mn-cs"/>
              </a:rPr>
              <a:t>"The K23 has three aims that build on each other: risk stratification, variation characterization, and a pilot nudge intervention."</a:t>
            </a:r>
            <a:r>
              <a:rPr lang="en-US" sz="1200" b="0" i="0" kern="1200" dirty="0">
                <a:solidFill>
                  <a:schemeClr val="tx1"/>
                </a:solidFill>
                <a:effectLst/>
                <a:latin typeface="+mn-lt"/>
                <a:ea typeface="+mn-ea"/>
                <a:cs typeface="+mn-cs"/>
              </a:rPr>
              <a:t> Then elaborate briefly on each rather than threading them into a single run-on thought.</a:t>
            </a:r>
          </a:p>
          <a:p>
            <a:r>
              <a:rPr lang="en-US" sz="1200" b="1" i="0" kern="1200" dirty="0">
                <a:solidFill>
                  <a:schemeClr val="tx1"/>
                </a:solidFill>
                <a:effectLst/>
                <a:latin typeface="+mn-lt"/>
                <a:ea typeface="+mn-ea"/>
                <a:cs typeface="+mn-cs"/>
              </a:rPr>
              <a:t>The GLP-1 mention feels tacked </a:t>
            </a:r>
            <a:r>
              <a:rPr lang="en-US" sz="1200" b="1" i="0" kern="1200" dirty="0" err="1">
                <a:solidFill>
                  <a:schemeClr val="tx1"/>
                </a:solidFill>
                <a:effectLst/>
                <a:latin typeface="+mn-lt"/>
                <a:ea typeface="+mn-ea"/>
                <a:cs typeface="+mn-cs"/>
              </a:rPr>
              <a:t>on.</a:t>
            </a:r>
            <a:r>
              <a:rPr lang="en-US" sz="1200" b="0" i="0" kern="1200" dirty="0" err="1">
                <a:solidFill>
                  <a:schemeClr val="tx1"/>
                </a:solidFill>
                <a:effectLst/>
                <a:latin typeface="+mn-lt"/>
                <a:ea typeface="+mn-ea"/>
                <a:cs typeface="+mn-cs"/>
              </a:rPr>
              <a:t>It's</a:t>
            </a:r>
            <a:r>
              <a:rPr lang="en-US" sz="1200" b="0" i="0" kern="1200" dirty="0">
                <a:solidFill>
                  <a:schemeClr val="tx1"/>
                </a:solidFill>
                <a:effectLst/>
                <a:latin typeface="+mn-lt"/>
                <a:ea typeface="+mn-ea"/>
                <a:cs typeface="+mn-cs"/>
              </a:rPr>
              <a:t> an exciting idea but comes as a tangent right before you close. Either give it a real 30-second setup earlier (perhaps when discussing obesity as a risk factor) or save it for Q&amp;A. Dropping it in the last minute without context may confuse rather than excite.</a:t>
            </a:r>
          </a:p>
          <a:p>
            <a:r>
              <a:rPr lang="en-US" sz="1200" b="1" i="0" kern="1200" dirty="0">
                <a:solidFill>
                  <a:schemeClr val="tx1"/>
                </a:solidFill>
                <a:effectLst/>
                <a:latin typeface="+mn-lt"/>
                <a:ea typeface="+mn-ea"/>
                <a:cs typeface="+mn-cs"/>
              </a:rPr>
              <a:t>The close is too soft.</a:t>
            </a:r>
            <a:r>
              <a:rPr lang="en-US" sz="1200" b="0" i="0" kern="1200" dirty="0">
                <a:solidFill>
                  <a:schemeClr val="tx1"/>
                </a:solidFill>
                <a:effectLst/>
                <a:latin typeface="+mn-lt"/>
                <a:ea typeface="+mn-ea"/>
                <a:cs typeface="+mn-cs"/>
              </a:rPr>
              <a:t> "I'll sort of end there" undersells a strong talk. Consider a one-sentence summary statement: </a:t>
            </a:r>
            <a:r>
              <a:rPr lang="en-US" sz="1200" b="0" i="1" kern="1200" dirty="0">
                <a:solidFill>
                  <a:schemeClr val="tx1"/>
                </a:solidFill>
                <a:effectLst/>
                <a:latin typeface="+mn-lt"/>
                <a:ea typeface="+mn-ea"/>
                <a:cs typeface="+mn-cs"/>
              </a:rPr>
              <a:t>"In summary, hypercapnic respiratory failure is common, costly, and undertreated — and we're building the data infrastructure and clinical workflows to change that."</a:t>
            </a:r>
            <a:r>
              <a:rPr lang="en-US" sz="1200" b="0" i="0" kern="1200" dirty="0">
                <a:solidFill>
                  <a:schemeClr val="tx1"/>
                </a:solidFill>
                <a:effectLst/>
                <a:latin typeface="+mn-lt"/>
                <a:ea typeface="+mn-ea"/>
                <a:cs typeface="+mn-cs"/>
              </a:rPr>
              <a:t> Then thank people and open for questions.</a:t>
            </a:r>
          </a:p>
          <a:p>
            <a:r>
              <a:rPr lang="en-US" sz="1200" b="1" i="0" kern="1200" dirty="0">
                <a:solidFill>
                  <a:schemeClr val="tx1"/>
                </a:solidFill>
                <a:effectLst/>
                <a:latin typeface="+mn-lt"/>
                <a:ea typeface="+mn-ea"/>
                <a:cs typeface="+mn-cs"/>
              </a:rPr>
              <a:t>Time Management</a:t>
            </a:r>
          </a:p>
          <a:p>
            <a:r>
              <a:rPr lang="en-US" sz="1200" b="0" i="0" kern="1200" dirty="0">
                <a:solidFill>
                  <a:schemeClr val="tx1"/>
                </a:solidFill>
                <a:effectLst/>
                <a:latin typeface="+mn-lt"/>
                <a:ea typeface="+mn-ea"/>
                <a:cs typeface="+mn-cs"/>
              </a:rPr>
              <a:t>This transcription runs closer to </a:t>
            </a:r>
            <a:r>
              <a:rPr lang="en-US" sz="1200" b="1" i="0" kern="1200" dirty="0">
                <a:solidFill>
                  <a:schemeClr val="tx1"/>
                </a:solidFill>
                <a:effectLst/>
                <a:latin typeface="+mn-lt"/>
                <a:ea typeface="+mn-ea"/>
                <a:cs typeface="+mn-cs"/>
              </a:rPr>
              <a:t>12–13 minutes</a:t>
            </a:r>
            <a:r>
              <a:rPr lang="en-US" sz="1200" b="0" i="0" kern="1200" dirty="0">
                <a:solidFill>
                  <a:schemeClr val="tx1"/>
                </a:solidFill>
                <a:effectLst/>
                <a:latin typeface="+mn-lt"/>
                <a:ea typeface="+mn-ea"/>
                <a:cs typeface="+mn-cs"/>
              </a:rPr>
              <a:t> of spoken delivery. If you have a hard 10-minute cap, the easiest cuts are: (a) shorten the personal introduction, (b) condense the case-definition discussion to one sentence + one visual reference, and (c) cut the GLP-1 aside to Q&amp;A.</a:t>
            </a:r>
          </a:p>
          <a:p>
            <a:endParaRPr lang="en-US" dirty="0"/>
          </a:p>
        </p:txBody>
      </p:sp>
      <p:sp>
        <p:nvSpPr>
          <p:cNvPr id="4" name="Slide Number Placeholder 3"/>
          <p:cNvSpPr>
            <a:spLocks noGrp="1"/>
          </p:cNvSpPr>
          <p:nvPr>
            <p:ph type="sldNum" sz="quarter" idx="5"/>
          </p:nvPr>
        </p:nvSpPr>
        <p:spPr/>
        <p:txBody>
          <a:bodyPr/>
          <a:lstStyle/>
          <a:p>
            <a:fld id="{D9F161F6-7AD5-774A-B12A-C32F3626F083}" type="slidenum">
              <a:rPr lang="en-US" smtClean="0"/>
              <a:t>1</a:t>
            </a:fld>
            <a:endParaRPr lang="en-US"/>
          </a:p>
        </p:txBody>
      </p:sp>
    </p:spTree>
    <p:extLst>
      <p:ext uri="{BB962C8B-B14F-4D97-AF65-F5344CB8AC3E}">
        <p14:creationId xmlns:p14="http://schemas.microsoft.com/office/powerpoint/2010/main" val="327364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a:t>
            </a:fld>
            <a:endParaRPr lang="en-US"/>
          </a:p>
        </p:txBody>
      </p:sp>
    </p:spTree>
    <p:extLst>
      <p:ext uri="{BB962C8B-B14F-4D97-AF65-F5344CB8AC3E}">
        <p14:creationId xmlns:p14="http://schemas.microsoft.com/office/powerpoint/2010/main" val="432073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grant-making schema: </a:t>
            </a:r>
          </a:p>
          <a:p>
            <a:pPr marL="171450" indent="-171450">
              <a:buFontTx/>
              <a:buChar char="-"/>
            </a:pPr>
            <a:r>
              <a:rPr lang="en-US" dirty="0"/>
              <a:t>How big is the problem</a:t>
            </a:r>
          </a:p>
          <a:p>
            <a:pPr marL="171450" indent="-171450">
              <a:buFontTx/>
              <a:buChar char="-"/>
            </a:pPr>
            <a:r>
              <a:rPr lang="en-US" dirty="0"/>
              <a:t>How solvable is it? </a:t>
            </a:r>
          </a:p>
          <a:p>
            <a:pPr marL="171450" indent="-171450">
              <a:buFontTx/>
              <a:buChar char="-"/>
            </a:pPr>
            <a:r>
              <a:rPr lang="en-US" dirty="0"/>
              <a:t>How many people are working to solve it?  (</a:t>
            </a:r>
            <a:r>
              <a:rPr lang="en-US" dirty="0" err="1"/>
              <a:t>ie</a:t>
            </a:r>
            <a:r>
              <a:rPr lang="en-US" dirty="0"/>
              <a:t> if we spend a bit more resources on this problem, will it make a difference?)</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a:t>
            </a:fld>
            <a:endParaRPr lang="en-US"/>
          </a:p>
        </p:txBody>
      </p:sp>
    </p:spTree>
    <p:extLst>
      <p:ext uri="{BB962C8B-B14F-4D97-AF65-F5344CB8AC3E}">
        <p14:creationId xmlns:p14="http://schemas.microsoft.com/office/powerpoint/2010/main" val="3572119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E131E-07F3-5664-79C0-FDB531D95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95914-BACB-DBC9-2EEC-E9A62FF68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C25D0-3E9B-15BC-C3E2-B326440FDDA4}"/>
              </a:ext>
            </a:extLst>
          </p:cNvPr>
          <p:cNvSpPr>
            <a:spLocks noGrp="1"/>
          </p:cNvSpPr>
          <p:nvPr>
            <p:ph type="body" idx="1"/>
          </p:nvPr>
        </p:nvSpPr>
        <p:spPr/>
        <p:txBody>
          <a:bodyPr/>
          <a:lstStyle/>
          <a:p>
            <a:r>
              <a:rPr lang="en-US" dirty="0"/>
              <a:t>SO WHAT — THE EVIDENCE GAP</a:t>
            </a:r>
          </a:p>
          <a:p>
            <a:endParaRPr lang="en-US" dirty="0"/>
          </a:p>
          <a:p>
            <a:r>
              <a:rPr lang="en-US" dirty="0"/>
              <a:t>Current guidelines assume a known etiology. Most patients arrive without one. The result: low rates of diagnostic workup, fragmented post-discharge care, and no systematic framework for identifying who benefits from early intervention.</a:t>
            </a:r>
          </a:p>
        </p:txBody>
      </p:sp>
      <p:sp>
        <p:nvSpPr>
          <p:cNvPr id="4" name="Slide Number Placeholder 3">
            <a:extLst>
              <a:ext uri="{FF2B5EF4-FFF2-40B4-BE49-F238E27FC236}">
                <a16:creationId xmlns:a16="http://schemas.microsoft.com/office/drawing/2014/main" id="{5FBBA1CA-A056-27F6-9D71-C9F9F6B2D3DF}"/>
              </a:ext>
            </a:extLst>
          </p:cNvPr>
          <p:cNvSpPr>
            <a:spLocks noGrp="1"/>
          </p:cNvSpPr>
          <p:nvPr>
            <p:ph type="sldNum" sz="quarter" idx="5"/>
          </p:nvPr>
        </p:nvSpPr>
        <p:spPr/>
        <p:txBody>
          <a:bodyPr/>
          <a:lstStyle/>
          <a:p>
            <a:fld id="{7F4F0C85-FC02-4C4E-8B1A-6BB950A69184}" type="slidenum">
              <a:rPr lang="en-US" smtClean="0"/>
              <a:t>5</a:t>
            </a:fld>
            <a:endParaRPr lang="en-US"/>
          </a:p>
        </p:txBody>
      </p:sp>
    </p:spTree>
    <p:extLst>
      <p:ext uri="{BB962C8B-B14F-4D97-AF65-F5344CB8AC3E}">
        <p14:creationId xmlns:p14="http://schemas.microsoft.com/office/powerpoint/2010/main" val="2042520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9</a:t>
            </a:fld>
            <a:endParaRPr lang="en-US"/>
          </a:p>
        </p:txBody>
      </p:sp>
    </p:spTree>
    <p:extLst>
      <p:ext uri="{BB962C8B-B14F-4D97-AF65-F5344CB8AC3E}">
        <p14:creationId xmlns:p14="http://schemas.microsoft.com/office/powerpoint/2010/main" val="417931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5348-91FF-6C2E-FEC2-A4D06ACC1E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B4C7B7-E89F-F4F0-807C-64BC84E7B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E20536-36D8-4517-7CBA-D1D1FE79AA6A}"/>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4F267A02-C6E7-9718-CF81-08A1D9DC4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7E473-F494-4E27-99C0-34A7224EE648}"/>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35070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13E5E-87FF-669F-CD7D-0F9A0A4C2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E7506-158E-D90F-7C22-96F88463A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84CAD-4E34-35ED-7479-C217BC4CF424}"/>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2B966E64-638E-9908-DD52-847A5E59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DB6E3-CBDC-35EC-8B7A-D382270FFEC9}"/>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81963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CA8F-2DCA-3843-87D9-545D32C71B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607785-68F3-8D14-0473-201C157326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5D7C5-69EB-BDF0-68F0-47385ECEAB14}"/>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BF497610-B8EB-655B-702E-90BCB3633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E839B-7B8A-171C-C48E-D074C316E5A0}"/>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090672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8C8A-4833-A169-AE97-84765B12E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EA08F-D104-669A-DBAA-8E18E5DB2E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ACF25B-E93F-8B3E-B55A-CA6BBD038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89BAB2-09BD-B5F3-C781-0CAA8B93B47C}"/>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CA08199A-76A8-F9C6-3CBE-B94069C3F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A505F-DB9A-56C6-47D9-C7C21031B5F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84266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3D23-41D5-4BC3-1858-46F186F566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0242BC-6CBD-BA1B-73EB-DEB623610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9DD13-1EC5-8FA5-A585-795E20FA2F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17523-1C91-FF9F-3E5E-D9E9CB5478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840271-BC78-7113-442B-7E800D70D8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CC412E-37C1-6F23-B888-5A5550A87767}"/>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8" name="Footer Placeholder 7">
            <a:extLst>
              <a:ext uri="{FF2B5EF4-FFF2-40B4-BE49-F238E27FC236}">
                <a16:creationId xmlns:a16="http://schemas.microsoft.com/office/drawing/2014/main" id="{7C1DAEB4-7FA6-4763-9630-004C576D8E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5CA12-92B0-C366-F5FF-87CC247FDD27}"/>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522635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9CA6-8559-C196-DB12-F8D9FD6B72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718351-13AC-869F-69B6-05626F93C1C5}"/>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4" name="Footer Placeholder 3">
            <a:extLst>
              <a:ext uri="{FF2B5EF4-FFF2-40B4-BE49-F238E27FC236}">
                <a16:creationId xmlns:a16="http://schemas.microsoft.com/office/drawing/2014/main" id="{FF2CF895-E559-CFE5-9F05-C3205D7995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5669C-783B-D7DC-4E0B-3238F9B4513F}"/>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52991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19D8A-437A-6967-C3A8-3C65A63AD2BC}"/>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3" name="Footer Placeholder 2">
            <a:extLst>
              <a:ext uri="{FF2B5EF4-FFF2-40B4-BE49-F238E27FC236}">
                <a16:creationId xmlns:a16="http://schemas.microsoft.com/office/drawing/2014/main" id="{0FFD7AEE-C060-E81C-9B7F-7EDD5875ED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D60FF4-0997-396D-873D-8FFA0B244D8D}"/>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12578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E8D0-4D60-7EEF-DEC9-2EEC152F97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D59E60-6E29-3269-21E1-2AE5E3D11E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641270-F766-A002-ACE7-A288947BA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1C9E1-8F22-FAFC-D736-D36D59F582F1}"/>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9E2AEB03-65A7-A691-B57C-345171197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D322C-18A9-E0B2-C2FF-BA0E732822B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174077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C4D6-197F-000C-6AC9-EDD71C72D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37D2BF-B6D9-F30C-3103-DE6BE2FE9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384A07-3318-090A-7317-30B9E5A24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FF879-3FFD-ACB5-B7E1-99E787256AF8}"/>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7002E427-0147-39DA-E6F9-C401377B3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C63E81-1FD0-4C8F-1567-D4F8698F3AA2}"/>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3110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B687-78D0-E8C2-CAF9-D106A47E7F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1FB3F2-A480-DE47-AF7D-5AC821EC7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A20EC-5A59-1252-989C-E16961F7EEED}"/>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F6715AE4-305A-141F-EAFB-6FAACDE4D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5F7FE-1B7B-B2FA-ABC0-D2723703092A}"/>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73554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9CA5E-75F2-933A-DB7F-33148E920B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3FD5A6-F9DB-4951-59AC-E2DB6D4512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52A90-B6B6-9B79-25C0-073FD7053DAF}"/>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D35A74F2-473E-18FD-136F-19EC4C2F4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115F1-5F18-09D3-DDC8-6A4F8376EFDC}"/>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587467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D145F-B434-8F43-2809-AE977E4D2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F45D8-71D2-87F1-506E-3E629AF96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7E5F3-CFBD-0583-3550-1C624EDFC0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CD3542C5-C1D2-E987-DA18-3467DE522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E4A7B8-F248-2A95-60D5-0FBFBE570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3790D0-B9BD-1747-B3D5-7F13B94238DC}" type="slidenum">
              <a:rPr lang="en-US" smtClean="0"/>
              <a:t>‹#›</a:t>
            </a:fld>
            <a:endParaRPr lang="en-US"/>
          </a:p>
        </p:txBody>
      </p:sp>
      <p:sp>
        <p:nvSpPr>
          <p:cNvPr id="900" name="Accent Bar"/>
          <p:cNvSpPr/>
          <p:nvPr/>
        </p:nvSpPr>
        <p:spPr>
          <a:xfrm>
            <a:off x="0" y="6705600"/>
            <a:ext cx="12192000" cy="152400"/>
          </a:xfrm>
          <a:prstGeom prst="rect">
            <a:avLst/>
          </a:prstGeom>
          <a:solidFill>
            <a:srgbClr val="0D7377"/>
          </a:solidFill>
          <a:ln>
            <a:noFill/>
          </a:ln>
        </p:spPr>
        <p:txBody>
          <a:bodyPr/>
          <a:lstStyle/>
          <a:p>
            <a:endParaRPr lang="en-US"/>
          </a:p>
        </p:txBody>
      </p:sp>
      <p:sp>
        <p:nvSpPr>
          <p:cNvPr id="901" name="Top Accent"/>
          <p:cNvSpPr/>
          <p:nvPr/>
        </p:nvSpPr>
        <p:spPr>
          <a:xfrm>
            <a:off x="457200" y="1371600"/>
            <a:ext cx="101600" cy="27432"/>
          </a:xfrm>
          <a:prstGeom prst="rect">
            <a:avLst/>
          </a:prstGeom>
          <a:solidFill>
            <a:srgbClr val="0D7377"/>
          </a:solidFill>
          <a:ln>
            <a:noFill/>
          </a:ln>
        </p:spPr>
        <p:txBody>
          <a:bodyPr/>
          <a:lstStyle/>
          <a:p>
            <a:endParaRPr lang="en-US"/>
          </a:p>
        </p:txBody>
      </p:sp>
      <p:sp>
        <p:nvSpPr>
          <p:cNvPr id="7" name="IH Accent Bar"/>
          <p:cNvSpPr/>
          <p:nvPr userDrawn="1"/>
        </p:nvSpPr>
        <p:spPr>
          <a:xfrm>
            <a:off x="0" y="6662100"/>
            <a:ext cx="12192000" cy="91440"/>
          </a:xfrm>
          <a:prstGeom prst="rect">
            <a:avLst/>
          </a:prstGeom>
          <a:solidFill>
            <a:srgbClr val="4A00E2"/>
          </a:solidFill>
          <a:ln>
            <a:noFill/>
          </a:ln>
        </p:spPr>
        <p:txBody>
          <a:bodyPr/>
          <a:lstStyle/>
          <a:p>
            <a:endParaRPr lang="en-US"/>
          </a:p>
        </p:txBody>
      </p:sp>
      <p:sp>
        <p:nvSpPr>
          <p:cNvPr id="8" name="IH Top Accent"/>
          <p:cNvSpPr/>
          <p:nvPr userDrawn="1"/>
        </p:nvSpPr>
        <p:spPr>
          <a:xfrm>
            <a:off x="0" y="0"/>
            <a:ext cx="182880" cy="6858000"/>
          </a:xfrm>
          <a:prstGeom prst="rect">
            <a:avLst/>
          </a:prstGeom>
          <a:gradFill>
            <a:gsLst>
              <a:gs pos="0">
                <a:srgbClr val="110057"/>
              </a:gs>
              <a:gs pos="50000">
                <a:srgbClr val="4A00E2"/>
              </a:gs>
              <a:gs pos="100000">
                <a:srgbClr val="FF0044"/>
              </a:gs>
            </a:gsLst>
            <a:lin ang="5400000" scaled="1"/>
          </a:gradFill>
          <a:ln>
            <a:noFill/>
          </a:ln>
        </p:spPr>
        <p:txBody>
          <a:bodyPr/>
          <a:lstStyle/>
          <a:p>
            <a:endParaRPr lang="en-US"/>
          </a:p>
        </p:txBody>
      </p:sp>
    </p:spTree>
    <p:extLst>
      <p:ext uri="{BB962C8B-B14F-4D97-AF65-F5344CB8AC3E}">
        <p14:creationId xmlns:p14="http://schemas.microsoft.com/office/powerpoint/2010/main" val="5163326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11005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1005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10057"/>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10057"/>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0057">
            <a:alpha val="100000"/>
          </a:srgb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949279-7160-3C4B-9AD0-5A922D346777}"/>
              </a:ext>
            </a:extLst>
          </p:cNvPr>
          <p:cNvSpPr txBox="1"/>
          <p:nvPr/>
        </p:nvSpPr>
        <p:spPr>
          <a:xfrm>
            <a:off x="762000" y="1270000"/>
            <a:ext cx="5842000" cy="1077218"/>
          </a:xfrm>
          <a:prstGeom prst="rect">
            <a:avLst/>
          </a:prstGeom>
          <a:noFill/>
        </p:spPr>
        <p:txBody>
          <a:bodyPr vertOverflow="overflow" vert="horz" wrap="square" rtlCol="0" anchor="t">
            <a:spAutoFit/>
          </a:bodyPr>
          <a:lstStyle/>
          <a:p>
            <a:pPr algn="l"/>
            <a:r>
              <a:rPr lang="en-US" sz="3200" b="1" dirty="0">
                <a:solidFill>
                  <a:srgbClr val="FFFFFF"/>
                </a:solidFill>
                <a:latin typeface="Arial"/>
                <a:cs typeface="Arial"/>
              </a:rPr>
              <a:t>Hypercapnic Respiratory Failure</a:t>
            </a:r>
          </a:p>
        </p:txBody>
      </p:sp>
      <p:sp>
        <p:nvSpPr>
          <p:cNvPr id="8" name="TextBox 7">
            <a:extLst>
              <a:ext uri="{FF2B5EF4-FFF2-40B4-BE49-F238E27FC236}">
                <a16:creationId xmlns:a16="http://schemas.microsoft.com/office/drawing/2014/main" id="{532D1CBF-38E5-7942-99AE-A6C8870FED72}"/>
              </a:ext>
            </a:extLst>
          </p:cNvPr>
          <p:cNvSpPr txBox="1"/>
          <p:nvPr/>
        </p:nvSpPr>
        <p:spPr>
          <a:xfrm>
            <a:off x="762000" y="2410717"/>
            <a:ext cx="5842000" cy="369332"/>
          </a:xfrm>
          <a:prstGeom prst="rect">
            <a:avLst/>
          </a:prstGeom>
          <a:noFill/>
        </p:spPr>
        <p:txBody>
          <a:bodyPr vertOverflow="overflow" vert="horz" wrap="square" rtlCol="0" anchor="t">
            <a:spAutoFit/>
          </a:bodyPr>
          <a:lstStyle/>
          <a:p>
            <a:pPr algn="l"/>
            <a:r>
              <a:rPr lang="en-US" dirty="0">
                <a:solidFill>
                  <a:srgbClr val="FFFFFF"/>
                </a:solidFill>
                <a:latin typeface="Arial"/>
                <a:cs typeface="Arial"/>
              </a:rPr>
              <a:t>Research Program at Intermountain Health</a:t>
            </a:r>
          </a:p>
        </p:txBody>
      </p:sp>
      <p:sp>
        <p:nvSpPr>
          <p:cNvPr id="10" name="TextBox 9">
            <a:extLst>
              <a:ext uri="{FF2B5EF4-FFF2-40B4-BE49-F238E27FC236}">
                <a16:creationId xmlns:a16="http://schemas.microsoft.com/office/drawing/2014/main" id="{97889B6C-300B-8541-8E37-5093EDD69217}"/>
              </a:ext>
            </a:extLst>
          </p:cNvPr>
          <p:cNvSpPr txBox="1"/>
          <p:nvPr/>
        </p:nvSpPr>
        <p:spPr>
          <a:xfrm>
            <a:off x="762000" y="3059448"/>
            <a:ext cx="5842000" cy="406400"/>
          </a:xfrm>
          <a:prstGeom prst="rect">
            <a:avLst/>
          </a:prstGeom>
          <a:noFill/>
        </p:spPr>
        <p:txBody>
          <a:bodyPr vertOverflow="overflow" vert="horz" wrap="square" rtlCol="0" anchor="t">
            <a:spAutoFit/>
          </a:bodyPr>
          <a:lstStyle/>
          <a:p>
            <a:pPr algn="l"/>
            <a:r>
              <a:rPr lang="en-US" b="1">
                <a:solidFill>
                  <a:srgbClr val="FFFFFF"/>
                </a:solidFill>
                <a:latin typeface="Arial"/>
                <a:cs typeface="Arial"/>
              </a:rPr>
              <a:t>Brian W. Locke, MD MSCI</a:t>
            </a:r>
          </a:p>
        </p:txBody>
      </p:sp>
      <p:sp>
        <p:nvSpPr>
          <p:cNvPr id="11" name="TextBox 10">
            <a:extLst>
              <a:ext uri="{FF2B5EF4-FFF2-40B4-BE49-F238E27FC236}">
                <a16:creationId xmlns:a16="http://schemas.microsoft.com/office/drawing/2014/main" id="{990D32D7-0A78-ED45-99E4-C07755940DE3}"/>
              </a:ext>
            </a:extLst>
          </p:cNvPr>
          <p:cNvSpPr txBox="1"/>
          <p:nvPr/>
        </p:nvSpPr>
        <p:spPr>
          <a:xfrm>
            <a:off x="762000" y="3478548"/>
            <a:ext cx="5588000" cy="738664"/>
          </a:xfrm>
          <a:prstGeom prst="rect">
            <a:avLst/>
          </a:prstGeom>
          <a:noFill/>
        </p:spPr>
        <p:txBody>
          <a:bodyPr vertOverflow="overflow" vert="horz" wrap="square" rtlCol="0" anchor="t">
            <a:spAutoFit/>
          </a:bodyPr>
          <a:lstStyle/>
          <a:p>
            <a:pPr algn="l"/>
            <a:r>
              <a:rPr lang="en-US" sz="1400" dirty="0">
                <a:solidFill>
                  <a:srgbClr val="D4C8E8"/>
                </a:solidFill>
                <a:latin typeface="Arial"/>
                <a:cs typeface="Arial"/>
              </a:rPr>
              <a:t>Assistant Professor of Research
Shock Trauma ICU &amp; Schmidt Chest Clinic
Pulmonary &amp; Critical Care, Intermountain Medical Center</a:t>
            </a:r>
          </a:p>
        </p:txBody>
      </p:sp>
      <p:sp>
        <p:nvSpPr>
          <p:cNvPr id="12" name="TextBox 11">
            <a:extLst>
              <a:ext uri="{FF2B5EF4-FFF2-40B4-BE49-F238E27FC236}">
                <a16:creationId xmlns:a16="http://schemas.microsoft.com/office/drawing/2014/main" id="{4B6DD8C4-656F-D34F-B4BA-4C4656814FB4}"/>
              </a:ext>
            </a:extLst>
          </p:cNvPr>
          <p:cNvSpPr txBox="1"/>
          <p:nvPr/>
        </p:nvSpPr>
        <p:spPr>
          <a:xfrm>
            <a:off x="762000" y="4407712"/>
            <a:ext cx="5588000" cy="523220"/>
          </a:xfrm>
          <a:prstGeom prst="rect">
            <a:avLst/>
          </a:prstGeom>
          <a:noFill/>
        </p:spPr>
        <p:txBody>
          <a:bodyPr vertOverflow="overflow" vert="horz" wrap="square" rtlCol="0" anchor="t">
            <a:spAutoFit/>
          </a:bodyPr>
          <a:lstStyle/>
          <a:p>
            <a:pPr algn="l"/>
            <a:r>
              <a:rPr lang="en-US" sz="1400" i="1" dirty="0">
                <a:solidFill>
                  <a:srgbClr val="C4B8D9"/>
                </a:solidFill>
                <a:latin typeface="Arial"/>
                <a:cs typeface="Arial"/>
              </a:rPr>
              <a:t>COI: Equity in Mountain Biometrics (automated data harmonization) — unrelated to this work</a:t>
            </a:r>
          </a:p>
        </p:txBody>
      </p:sp>
      <p:sp>
        <p:nvSpPr>
          <p:cNvPr id="13" name="TextBox 12">
            <a:extLst>
              <a:ext uri="{FF2B5EF4-FFF2-40B4-BE49-F238E27FC236}">
                <a16:creationId xmlns:a16="http://schemas.microsoft.com/office/drawing/2014/main" id="{E9B08D1A-0C96-3C41-8947-8B28F2C62E8D}"/>
              </a:ext>
            </a:extLst>
          </p:cNvPr>
          <p:cNvSpPr txBox="1"/>
          <p:nvPr/>
        </p:nvSpPr>
        <p:spPr>
          <a:xfrm>
            <a:off x="762000" y="5032532"/>
            <a:ext cx="5588000" cy="304800"/>
          </a:xfrm>
          <a:prstGeom prst="rect">
            <a:avLst/>
          </a:prstGeom>
          <a:noFill/>
        </p:spPr>
        <p:txBody>
          <a:bodyPr vertOverflow="overflow" vert="horz" wrap="square" rtlCol="0" anchor="t">
            <a:spAutoFit/>
          </a:bodyPr>
          <a:lstStyle/>
          <a:p>
            <a:pPr algn="l"/>
            <a:r>
              <a:rPr lang="en-US" sz="1400" dirty="0">
                <a:solidFill>
                  <a:srgbClr val="C4B8D9"/>
                </a:solidFill>
                <a:latin typeface="Arial"/>
                <a:cs typeface="Arial"/>
              </a:rPr>
              <a:t>Research Leadership Team — Mar 2026</a:t>
            </a:r>
          </a:p>
        </p:txBody>
      </p:sp>
      <p:sp>
        <p:nvSpPr>
          <p:cNvPr id="4" name="Rectangle 3">
            <a:extLst>
              <a:ext uri="{FF2B5EF4-FFF2-40B4-BE49-F238E27FC236}">
                <a16:creationId xmlns:a16="http://schemas.microsoft.com/office/drawing/2014/main" id="{CC3174D3-72F8-6442-B799-27571097B14E}"/>
              </a:ext>
            </a:extLst>
          </p:cNvPr>
          <p:cNvSpPr/>
          <p:nvPr/>
        </p:nvSpPr>
        <p:spPr>
          <a:xfrm>
            <a:off x="762000" y="2946400"/>
            <a:ext cx="762000" cy="381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E79E9197-41E2-0C44-B569-88722BCD25A3}"/>
              </a:ext>
            </a:extLst>
          </p:cNvPr>
          <p:cNvSpPr txBox="1"/>
          <p:nvPr/>
        </p:nvSpPr>
        <p:spPr>
          <a:xfrm>
            <a:off x="762000" y="6223000"/>
            <a:ext cx="5080000" cy="254000"/>
          </a:xfrm>
          <a:prstGeom prst="rect">
            <a:avLst/>
          </a:prstGeom>
          <a:noFill/>
        </p:spPr>
        <p:txBody>
          <a:bodyPr vertOverflow="overflow" vert="horz" wrap="square" rtlCol="0" anchor="t">
            <a:spAutoFit/>
          </a:bodyPr>
          <a:lstStyle/>
          <a:p>
            <a:pPr algn="l"/>
            <a:r>
              <a:rPr lang="en-US" sz="1400" i="1">
                <a:solidFill>
                  <a:srgbClr val="A090C0"/>
                </a:solidFill>
                <a:latin typeface="Arial"/>
                <a:cs typeface="Arial"/>
              </a:rPr>
              <a:t>Confidential and property of Intermountain Health</a:t>
            </a:r>
          </a:p>
        </p:txBody>
      </p:sp>
      <p:sp>
        <p:nvSpPr>
          <p:cNvPr id="15" name="Rectangle 14">
            <a:extLst>
              <a:ext uri="{FF2B5EF4-FFF2-40B4-BE49-F238E27FC236}">
                <a16:creationId xmlns:a16="http://schemas.microsoft.com/office/drawing/2014/main" id="{B2CB8598-9BA9-DF4F-8FAE-7358FCE34732}"/>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2" name="CO2 Buildup Glow"/>
          <p:cNvSpPr/>
          <p:nvPr/>
        </p:nvSpPr>
        <p:spPr>
          <a:xfrm>
            <a:off x="5867400" y="2273300"/>
            <a:ext cx="2184400" cy="2184400"/>
          </a:xfrm>
          <a:prstGeom prst="ellipse">
            <a:avLst/>
          </a:prstGeom>
          <a:solidFill>
            <a:srgbClr val="FF4444">
              <a:alpha val="22000"/>
            </a:srgbClr>
          </a:solidFill>
          <a:ln>
            <a:noFill/>
          </a:ln>
        </p:spPr>
        <p:txBody>
          <a:bodyPr/>
          <a:lstStyle/>
          <a:p>
            <a:endParaRPr lang="en-US"/>
          </a:p>
        </p:txBody>
      </p:sp>
      <p:sp>
        <p:nvSpPr>
          <p:cNvPr id="413" name="CO2 Buildup Outer"/>
          <p:cNvSpPr/>
          <p:nvPr/>
        </p:nvSpPr>
        <p:spPr>
          <a:xfrm>
            <a:off x="5715000" y="2120900"/>
            <a:ext cx="2489200" cy="2489200"/>
          </a:xfrm>
          <a:prstGeom prst="ellipse">
            <a:avLst/>
          </a:prstGeom>
          <a:solidFill>
            <a:srgbClr val="FF2200">
              <a:alpha val="12000"/>
            </a:srgbClr>
          </a:solidFill>
          <a:ln>
            <a:noFill/>
          </a:ln>
        </p:spPr>
        <p:txBody>
          <a:bodyPr/>
          <a:lstStyle/>
          <a:p>
            <a:endParaRPr lang="en-US"/>
          </a:p>
        </p:txBody>
      </p:sp>
      <p:sp>
        <p:nvSpPr>
          <p:cNvPr id="400" name="Pulmonary Gear"/>
          <p:cNvSpPr/>
          <p:nvPr/>
        </p:nvSpPr>
        <p:spPr>
          <a:xfrm>
            <a:off x="6096000" y="2501900"/>
            <a:ext cx="1727200" cy="1727200"/>
          </a:xfrm>
          <a:prstGeom prst="gear9">
            <a:avLst/>
          </a:prstGeom>
          <a:solidFill>
            <a:srgbClr val="5BA4CC"/>
          </a:solidFill>
          <a:ln w="15875">
            <a:solidFill>
              <a:srgbClr val="4A8FB5"/>
            </a:solidFill>
          </a:ln>
        </p:spPr>
        <p:txBody>
          <a:bodyPr wrap="square" lIns="0" tIns="0" rIns="0" bIns="0" anchor="ctr" anchorCtr="1"/>
          <a:lstStyle/>
          <a:p>
            <a:pPr algn="ctr"/>
            <a:r>
              <a:rPr lang="en-US" sz="1100" b="1" dirty="0">
                <a:solidFill>
                  <a:srgbClr val="FFFFFF"/>
                </a:solidFill>
                <a:latin typeface="Arial"/>
              </a:rPr>
              <a:t>Pulmonary</a:t>
            </a:r>
          </a:p>
        </p:txBody>
      </p:sp>
      <p:sp>
        <p:nvSpPr>
          <p:cNvPr id="401" name="Circulation Gear"/>
          <p:cNvSpPr/>
          <p:nvPr/>
        </p:nvSpPr>
        <p:spPr>
          <a:xfrm>
            <a:off x="7569200" y="2501900"/>
            <a:ext cx="1727200" cy="1727200"/>
          </a:xfrm>
          <a:prstGeom prst="gear9">
            <a:avLst/>
          </a:prstGeom>
          <a:solidFill>
            <a:srgbClr val="CC2244"/>
          </a:solidFill>
          <a:ln w="15875">
            <a:solidFill>
              <a:srgbClr val="AA1A38"/>
            </a:solidFill>
          </a:ln>
        </p:spPr>
        <p:txBody>
          <a:bodyPr wrap="square" lIns="0" tIns="0" rIns="0" bIns="0" anchor="ctr" anchorCtr="1"/>
          <a:lstStyle/>
          <a:p>
            <a:pPr algn="ctr"/>
            <a:r>
              <a:rPr lang="en-US" sz="1100" b="1" dirty="0">
                <a:solidFill>
                  <a:srgbClr val="FFFFFF"/>
                </a:solidFill>
                <a:latin typeface="Arial"/>
              </a:rPr>
              <a:t>Circulation</a:t>
            </a:r>
          </a:p>
        </p:txBody>
      </p:sp>
      <p:sp>
        <p:nvSpPr>
          <p:cNvPr id="402" name="Muscle Gear"/>
          <p:cNvSpPr/>
          <p:nvPr/>
        </p:nvSpPr>
        <p:spPr>
          <a:xfrm>
            <a:off x="9042400" y="2501900"/>
            <a:ext cx="1727200" cy="1727200"/>
          </a:xfrm>
          <a:prstGeom prst="gear9">
            <a:avLst/>
          </a:prstGeom>
          <a:solidFill>
            <a:srgbClr val="4A00E2"/>
          </a:solidFill>
          <a:ln w="15875">
            <a:solidFill>
              <a:srgbClr val="3800B0"/>
            </a:solidFill>
          </a:ln>
        </p:spPr>
        <p:txBody>
          <a:bodyPr wrap="square" lIns="0" tIns="0" rIns="0" bIns="0" anchor="ctr" anchorCtr="1"/>
          <a:lstStyle/>
          <a:p>
            <a:pPr algn="ctr"/>
            <a:r>
              <a:rPr lang="en-US" sz="1100" b="1" dirty="0">
                <a:solidFill>
                  <a:srgbClr val="FFFFFF"/>
                </a:solidFill>
                <a:latin typeface="Arial"/>
              </a:rPr>
              <a:t>Muscle</a:t>
            </a:r>
          </a:p>
        </p:txBody>
      </p:sp>
      <p:sp>
        <p:nvSpPr>
          <p:cNvPr id="415" name="Attribution"/>
          <p:cNvSpPr/>
          <p:nvPr/>
        </p:nvSpPr>
        <p:spPr>
          <a:xfrm>
            <a:off x="7289800" y="4675544"/>
            <a:ext cx="2286000" cy="123111"/>
          </a:xfrm>
          <a:prstGeom prst="rect">
            <a:avLst/>
          </a:prstGeom>
          <a:noFill/>
          <a:ln>
            <a:noFill/>
          </a:ln>
        </p:spPr>
        <p:txBody>
          <a:bodyPr wrap="square" lIns="0" tIns="0" rIns="0" bIns="0" anchor="ctr" anchorCtr="1">
            <a:spAutoFit/>
          </a:bodyPr>
          <a:lstStyle/>
          <a:p>
            <a:pPr algn="ctr"/>
            <a:r>
              <a:rPr lang="en-US" sz="800" i="1" dirty="0">
                <a:solidFill>
                  <a:srgbClr val="8A7BB8"/>
                </a:solidFill>
                <a:latin typeface="Arial"/>
              </a:rPr>
              <a:t>adapted from Wasserman et al.</a:t>
            </a:r>
          </a:p>
        </p:txBody>
      </p:sp>
      <p:sp>
        <p:nvSpPr>
          <p:cNvPr id="420" name="O2 Flow"/>
          <p:cNvSpPr/>
          <p:nvPr/>
        </p:nvSpPr>
        <p:spPr>
          <a:xfrm>
            <a:off x="6159500" y="2231767"/>
            <a:ext cx="4546600" cy="184666"/>
          </a:xfrm>
          <a:prstGeom prst="rect">
            <a:avLst/>
          </a:prstGeom>
          <a:noFill/>
          <a:ln>
            <a:noFill/>
          </a:ln>
        </p:spPr>
        <p:txBody>
          <a:bodyPr wrap="square" lIns="0" tIns="0" rIns="0" bIns="0" anchor="ctr" anchorCtr="1">
            <a:spAutoFit/>
          </a:bodyPr>
          <a:lstStyle/>
          <a:p>
            <a:pPr algn="ctr"/>
            <a:r>
              <a:rPr lang="en-US" sz="1200" b="1" dirty="0">
                <a:solidFill>
                  <a:srgbClr val="B8E0F8"/>
                </a:solidFill>
                <a:latin typeface="Arial"/>
              </a:rPr>
              <a:t>O₂ →</a:t>
            </a:r>
          </a:p>
        </p:txBody>
      </p:sp>
      <p:sp>
        <p:nvSpPr>
          <p:cNvPr id="421" name="CO2 Buildup"/>
          <p:cNvSpPr/>
          <p:nvPr/>
        </p:nvSpPr>
        <p:spPr>
          <a:xfrm>
            <a:off x="6159500" y="4339967"/>
            <a:ext cx="4546600" cy="184666"/>
          </a:xfrm>
          <a:prstGeom prst="rect">
            <a:avLst/>
          </a:prstGeom>
          <a:noFill/>
          <a:ln>
            <a:noFill/>
          </a:ln>
        </p:spPr>
        <p:txBody>
          <a:bodyPr wrap="square" lIns="0" tIns="0" rIns="0" bIns="0" anchor="ctr" anchorCtr="1">
            <a:spAutoFit/>
          </a:bodyPr>
          <a:lstStyle/>
          <a:p>
            <a:pPr algn="ctr"/>
            <a:r>
              <a:rPr lang="en-US" sz="1200" b="1" dirty="0">
                <a:solidFill>
                  <a:srgbClr val="FF7777"/>
                </a:solidFill>
                <a:latin typeface="Arial"/>
              </a:rPr>
              <a:t>← CO₂ buildup</a:t>
            </a:r>
          </a:p>
        </p:txBody>
      </p:sp>
    </p:spTree>
    <p:extLst>
      <p:ext uri="{BB962C8B-B14F-4D97-AF65-F5344CB8AC3E}">
        <p14:creationId xmlns:p14="http://schemas.microsoft.com/office/powerpoint/2010/main" val="150801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836AA61-91E9-A14E-B438-59309171B7D8}"/>
              </a:ext>
            </a:extLst>
          </p:cNvPr>
          <p:cNvSpPr/>
          <p:nvPr/>
        </p:nvSpPr>
        <p:spPr>
          <a:xfrm>
            <a:off x="635000" y="1206500"/>
            <a:ext cx="2159000" cy="2159000"/>
          </a:xfrm>
          <a:prstGeom prst="ellipse">
            <a:avLst/>
          </a:prstGeom>
          <a:blipFill>
            <a:blip r:embed="rId3"/>
            <a:stretch>
              <a:fillRect/>
            </a:stretch>
          </a:blip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endParaRPr lang="en-US" sz="4000" b="1" dirty="0">
              <a:solidFill>
                <a:srgbClr val="4A00E2"/>
              </a:solidFill>
              <a:latin typeface="Arial"/>
              <a:cs typeface="Arial"/>
            </a:endParaRPr>
          </a:p>
        </p:txBody>
      </p:sp>
      <p:sp>
        <p:nvSpPr>
          <p:cNvPr id="19" name="TextBox 18">
            <a:extLst>
              <a:ext uri="{FF2B5EF4-FFF2-40B4-BE49-F238E27FC236}">
                <a16:creationId xmlns:a16="http://schemas.microsoft.com/office/drawing/2014/main" id="{37A88D11-FC99-1D44-A3B9-0E9C7817CD30}"/>
              </a:ext>
            </a:extLst>
          </p:cNvPr>
          <p:cNvSpPr txBox="1"/>
          <p:nvPr/>
        </p:nvSpPr>
        <p:spPr>
          <a:xfrm>
            <a:off x="3175000" y="254000"/>
            <a:ext cx="5080000" cy="279400"/>
          </a:xfrm>
          <a:prstGeom prst="rect">
            <a:avLst/>
          </a:prstGeom>
          <a:noFill/>
        </p:spPr>
        <p:txBody>
          <a:bodyPr vertOverflow="overflow" vert="horz" wrap="square" rtlCol="0" anchor="t">
            <a:noAutofit/>
          </a:bodyPr>
          <a:lstStyle/>
          <a:p>
            <a:pPr algn="l"/>
            <a:r>
              <a:rPr lang="en-US" sz="1400" b="1" dirty="0">
                <a:solidFill>
                  <a:srgbClr val="4A00E2"/>
                </a:solidFill>
                <a:latin typeface="Arial"/>
                <a:cs typeface="Arial"/>
              </a:rPr>
              <a:t>ABOUT</a:t>
            </a:r>
          </a:p>
        </p:txBody>
      </p:sp>
      <p:sp>
        <p:nvSpPr>
          <p:cNvPr id="20" name="TextBox 19">
            <a:extLst>
              <a:ext uri="{FF2B5EF4-FFF2-40B4-BE49-F238E27FC236}">
                <a16:creationId xmlns:a16="http://schemas.microsoft.com/office/drawing/2014/main" id="{2A26F8D6-6A61-1D48-B987-8993EAEF6248}"/>
              </a:ext>
            </a:extLst>
          </p:cNvPr>
          <p:cNvSpPr txBox="1"/>
          <p:nvPr/>
        </p:nvSpPr>
        <p:spPr>
          <a:xfrm>
            <a:off x="3175000" y="558800"/>
            <a:ext cx="7620000" cy="431800"/>
          </a:xfrm>
          <a:prstGeom prst="rect">
            <a:avLst/>
          </a:prstGeom>
          <a:noFill/>
        </p:spPr>
        <p:txBody>
          <a:bodyPr vertOverflow="overflow" vert="horz" wrap="square" rtlCol="0" anchor="t">
            <a:noAutofit/>
          </a:bodyPr>
          <a:lstStyle/>
          <a:p>
            <a:pPr algn="l"/>
            <a:r>
              <a:rPr lang="en-US" sz="2400" b="1">
                <a:solidFill>
                  <a:srgbClr val="110057"/>
                </a:solidFill>
                <a:latin typeface="Arial"/>
                <a:cs typeface="Arial"/>
              </a:rPr>
              <a:t>Brian W. Locke, MD MSCI</a:t>
            </a:r>
          </a:p>
        </p:txBody>
      </p:sp>
      <p:sp>
        <p:nvSpPr>
          <p:cNvPr id="21" name="TextBox 20">
            <a:extLst>
              <a:ext uri="{FF2B5EF4-FFF2-40B4-BE49-F238E27FC236}">
                <a16:creationId xmlns:a16="http://schemas.microsoft.com/office/drawing/2014/main" id="{127BD2E5-CF9F-4445-AEDA-8FD6E351A585}"/>
              </a:ext>
            </a:extLst>
          </p:cNvPr>
          <p:cNvSpPr txBox="1"/>
          <p:nvPr/>
        </p:nvSpPr>
        <p:spPr>
          <a:xfrm>
            <a:off x="3175000" y="990600"/>
            <a:ext cx="8382000" cy="254000"/>
          </a:xfrm>
          <a:prstGeom prst="rect">
            <a:avLst/>
          </a:prstGeom>
          <a:noFill/>
        </p:spPr>
        <p:txBody>
          <a:bodyPr vertOverflow="overflow" vert="horz" wrap="square" rtlCol="0" anchor="t">
            <a:noAutofit/>
          </a:bodyPr>
          <a:lstStyle/>
          <a:p>
            <a:pPr algn="l"/>
            <a:r>
              <a:rPr lang="en-US" sz="1400">
                <a:solidFill>
                  <a:srgbClr val="6B5B8A"/>
                </a:solidFill>
                <a:latin typeface="Arial"/>
                <a:cs typeface="Arial"/>
              </a:rPr>
              <a:t>Assistant Professor of Research · Pulmonary &amp; Critical Care · Intermountain Medical Center</a:t>
            </a:r>
          </a:p>
        </p:txBody>
      </p:sp>
      <p:sp>
        <p:nvSpPr>
          <p:cNvPr id="22" name="Rectangle 21">
            <a:extLst>
              <a:ext uri="{FF2B5EF4-FFF2-40B4-BE49-F238E27FC236}">
                <a16:creationId xmlns:a16="http://schemas.microsoft.com/office/drawing/2014/main" id="{F210D7AE-EEF6-EE4B-A915-83CAC185F47E}"/>
              </a:ext>
            </a:extLst>
          </p:cNvPr>
          <p:cNvSpPr/>
          <p:nvPr/>
        </p:nvSpPr>
        <p:spPr>
          <a:xfrm>
            <a:off x="3175000" y="1333500"/>
            <a:ext cx="1270000" cy="3175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8A4BA73A-5FE7-0A45-BCF0-15FA5B0428CF}"/>
              </a:ext>
            </a:extLst>
          </p:cNvPr>
          <p:cNvSpPr txBox="1"/>
          <p:nvPr/>
        </p:nvSpPr>
        <p:spPr>
          <a:xfrm>
            <a:off x="3175000" y="1498600"/>
            <a:ext cx="8382000" cy="913070"/>
          </a:xfrm>
          <a:prstGeom prst="rect">
            <a:avLst/>
          </a:prstGeom>
          <a:noFill/>
        </p:spPr>
        <p:txBody>
          <a:bodyPr vertOverflow="overflow" vert="horz" wrap="square" rtlCol="0" anchor="t">
            <a:spAutoFit/>
          </a:bodyPr>
          <a:lstStyle/>
          <a:p>
            <a:pPr algn="l">
              <a:spcAft>
                <a:spcPts val="500"/>
              </a:spcAft>
              <a:buNone/>
            </a:pPr>
            <a:r>
              <a:rPr lang="en-US" sz="1500" dirty="0">
                <a:solidFill>
                  <a:srgbClr val="110057"/>
                </a:solidFill>
                <a:latin typeface="Arial"/>
                <a:cs typeface="Arial"/>
              </a:rPr>
              <a:t>MD (Colorado)  · MSCI Clinical Investigation (Utah)  · BS Computer Science (Colorado)</a:t>
            </a:r>
          </a:p>
          <a:p>
            <a:pPr algn="l">
              <a:spcAft>
                <a:spcPts val="500"/>
              </a:spcAft>
              <a:buNone/>
            </a:pPr>
            <a:r>
              <a:rPr lang="en-US" sz="1500" dirty="0">
                <a:solidFill>
                  <a:srgbClr val="110057"/>
                </a:solidFill>
                <a:latin typeface="Arial"/>
                <a:cs typeface="Arial"/>
              </a:rPr>
              <a:t>Shock Trauma ICU + Schmidt Chest Clinic (chronic respiratory failure, HMV, OHS)</a:t>
            </a:r>
          </a:p>
          <a:p>
            <a:pPr algn="l">
              <a:spcAft>
                <a:spcPts val="500"/>
              </a:spcAft>
              <a:buNone/>
            </a:pPr>
            <a:r>
              <a:rPr lang="en-US" sz="1500" dirty="0">
                <a:solidFill>
                  <a:srgbClr val="110057"/>
                </a:solidFill>
                <a:latin typeface="Arial"/>
                <a:cs typeface="Arial"/>
              </a:rPr>
              <a:t>Core faculty, U of Utah PCCM Fellowship · Medical Machine Intelligence Lab</a:t>
            </a:r>
          </a:p>
        </p:txBody>
      </p:sp>
      <p:sp>
        <p:nvSpPr>
          <p:cNvPr id="24" name="Rectangle 23">
            <a:extLst>
              <a:ext uri="{FF2B5EF4-FFF2-40B4-BE49-F238E27FC236}">
                <a16:creationId xmlns:a16="http://schemas.microsoft.com/office/drawing/2014/main" id="{D0A548FF-6097-BD45-91CC-8D7F0F9A5B1C}"/>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ounded Rectangle 24">
            <a:extLst>
              <a:ext uri="{FF2B5EF4-FFF2-40B4-BE49-F238E27FC236}">
                <a16:creationId xmlns:a16="http://schemas.microsoft.com/office/drawing/2014/main" id="{9D003111-F030-4F48-921B-D293CFAFE817}"/>
              </a:ext>
            </a:extLst>
          </p:cNvPr>
          <p:cNvSpPr/>
          <p:nvPr/>
        </p:nvSpPr>
        <p:spPr>
          <a:xfrm>
            <a:off x="508000" y="3530600"/>
            <a:ext cx="11176000" cy="1272724"/>
          </a:xfrm>
          <a:prstGeom prst="roundRect">
            <a:avLst/>
          </a:prstGeom>
          <a:solidFill>
            <a:srgbClr val="EEEA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08A1555B-EAA2-6748-9D4D-B9B089A615C8}"/>
              </a:ext>
            </a:extLst>
          </p:cNvPr>
          <p:cNvSpPr txBox="1"/>
          <p:nvPr/>
        </p:nvSpPr>
        <p:spPr>
          <a:xfrm>
            <a:off x="698500" y="3632200"/>
            <a:ext cx="10795000" cy="1069524"/>
          </a:xfrm>
          <a:prstGeom prst="rect">
            <a:avLst/>
          </a:prstGeom>
          <a:noFill/>
        </p:spPr>
        <p:txBody>
          <a:bodyPr vertOverflow="overflow" vert="horz" wrap="square" rtlCol="0" anchor="t">
            <a:spAutoFit/>
          </a:bodyPr>
          <a:lstStyle/>
          <a:p>
            <a:pPr algn="l">
              <a:buNone/>
            </a:pPr>
            <a:r>
              <a:rPr lang="en-US" sz="1400" b="1" dirty="0">
                <a:solidFill>
                  <a:srgbClr val="4A00E2"/>
                </a:solidFill>
                <a:latin typeface="Arial"/>
                <a:cs typeface="Arial"/>
              </a:rPr>
              <a:t>Research focus</a:t>
            </a:r>
          </a:p>
          <a:p>
            <a:pPr algn="l">
              <a:spcBef>
                <a:spcPts val="300"/>
              </a:spcBef>
              <a:buFont typeface="Arial"/>
              <a:buChar char="•"/>
            </a:pPr>
            <a:r>
              <a:rPr lang="en-US" sz="1400" dirty="0">
                <a:solidFill>
                  <a:srgbClr val="110057"/>
                </a:solidFill>
                <a:latin typeface="Arial"/>
                <a:cs typeface="Arial"/>
              </a:rPr>
              <a:t>EHR phenotyping &amp; diagnostic modeling for hypercapnic respiratory failure</a:t>
            </a:r>
          </a:p>
          <a:p>
            <a:pPr algn="l">
              <a:spcBef>
                <a:spcPts val="300"/>
              </a:spcBef>
              <a:buFont typeface="Arial"/>
              <a:buChar char="•"/>
            </a:pPr>
            <a:r>
              <a:rPr lang="en-US" sz="1400" dirty="0">
                <a:solidFill>
                  <a:srgbClr val="110057"/>
                </a:solidFill>
                <a:latin typeface="Arial"/>
                <a:cs typeface="Arial"/>
              </a:rPr>
              <a:t>Building toward embedded pragmatic trials at Intermountain</a:t>
            </a:r>
          </a:p>
          <a:p>
            <a:pPr algn="l">
              <a:spcBef>
                <a:spcPts val="300"/>
              </a:spcBef>
              <a:buFont typeface="Arial"/>
              <a:buChar char="•"/>
            </a:pPr>
            <a:r>
              <a:rPr lang="en-US" sz="1400" dirty="0">
                <a:solidFill>
                  <a:srgbClr val="110057"/>
                </a:solidFill>
                <a:latin typeface="Arial"/>
                <a:cs typeface="Arial"/>
              </a:rPr>
              <a:t>Dedicated chronic respiratory failure subspecialist for Intermountain</a:t>
            </a:r>
          </a:p>
        </p:txBody>
      </p:sp>
    </p:spTree>
    <p:extLst>
      <p:ext uri="{BB962C8B-B14F-4D97-AF65-F5344CB8AC3E}">
        <p14:creationId xmlns:p14="http://schemas.microsoft.com/office/powerpoint/2010/main" val="3298814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C60959-346C-AA41-A54A-E115C45605E3}"/>
              </a:ext>
            </a:extLst>
          </p:cNvPr>
          <p:cNvSpPr txBox="1"/>
          <p:nvPr/>
        </p:nvSpPr>
        <p:spPr>
          <a:xfrm>
            <a:off x="762000" y="571500"/>
            <a:ext cx="5080000" cy="330200"/>
          </a:xfrm>
          <a:prstGeom prst="rect">
            <a:avLst/>
          </a:prstGeom>
          <a:noFill/>
        </p:spPr>
        <p:txBody>
          <a:bodyPr vertOverflow="overflow" vert="horz" wrap="square" rtlCol="0" anchor="t">
            <a:noAutofit/>
          </a:bodyPr>
          <a:lstStyle/>
          <a:p>
            <a:pPr algn="l"/>
            <a:r>
              <a:rPr lang="en-US" sz="1600" b="1" dirty="0">
                <a:solidFill>
                  <a:srgbClr val="4A00E2"/>
                </a:solidFill>
                <a:latin typeface="Arial"/>
                <a:cs typeface="Arial"/>
              </a:rPr>
              <a:t>The Scale of the Problem</a:t>
            </a:r>
          </a:p>
        </p:txBody>
      </p:sp>
      <p:sp>
        <p:nvSpPr>
          <p:cNvPr id="5" name="TextBox 4">
            <a:extLst>
              <a:ext uri="{FF2B5EF4-FFF2-40B4-BE49-F238E27FC236}">
                <a16:creationId xmlns:a16="http://schemas.microsoft.com/office/drawing/2014/main" id="{3A847715-A46F-6346-9E2C-3EE6470AE037}"/>
              </a:ext>
            </a:extLst>
          </p:cNvPr>
          <p:cNvSpPr txBox="1"/>
          <p:nvPr/>
        </p:nvSpPr>
        <p:spPr>
          <a:xfrm>
            <a:off x="762000" y="914400"/>
            <a:ext cx="8890000" cy="533400"/>
          </a:xfrm>
          <a:prstGeom prst="rect">
            <a:avLst/>
          </a:prstGeom>
          <a:noFill/>
        </p:spPr>
        <p:txBody>
          <a:bodyPr vertOverflow="overflow" vert="horz" wrap="square" rtlCol="0" anchor="t">
            <a:noAutofit/>
          </a:bodyPr>
          <a:lstStyle/>
          <a:p>
            <a:pPr algn="l"/>
            <a:r>
              <a:rPr lang="en-US" sz="2800" b="1" dirty="0">
                <a:solidFill>
                  <a:srgbClr val="110057"/>
                </a:solidFill>
                <a:latin typeface="Arial"/>
              </a:rPr>
              <a:t>A national burden, a local reality</a:t>
            </a:r>
          </a:p>
        </p:txBody>
      </p:sp>
      <p:sp>
        <p:nvSpPr>
          <p:cNvPr id="6" name="Rectangle 5">
            <a:extLst>
              <a:ext uri="{FF2B5EF4-FFF2-40B4-BE49-F238E27FC236}">
                <a16:creationId xmlns:a16="http://schemas.microsoft.com/office/drawing/2014/main" id="{7107A4E2-1F73-5941-82EF-314EC0187D1E}"/>
              </a:ext>
            </a:extLst>
          </p:cNvPr>
          <p:cNvSpPr/>
          <p:nvPr/>
        </p:nvSpPr>
        <p:spPr>
          <a:xfrm>
            <a:off x="762000" y="1587500"/>
            <a:ext cx="1524000" cy="381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6E395864-3979-F544-BD8C-C99C784FB486}"/>
              </a:ext>
            </a:extLst>
          </p:cNvPr>
          <p:cNvSpPr/>
          <p:nvPr/>
        </p:nvSpPr>
        <p:spPr>
          <a:xfrm>
            <a:off x="762000" y="2006600"/>
            <a:ext cx="3390900" cy="24130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89244F39-AD4A-C84A-B07B-F41B1C9DF70F}"/>
              </a:ext>
            </a:extLst>
          </p:cNvPr>
          <p:cNvSpPr txBox="1"/>
          <p:nvPr/>
        </p:nvSpPr>
        <p:spPr>
          <a:xfrm>
            <a:off x="952500" y="2159000"/>
            <a:ext cx="3009900" cy="533400"/>
          </a:xfrm>
          <a:prstGeom prst="rect">
            <a:avLst/>
          </a:prstGeom>
          <a:noFill/>
        </p:spPr>
        <p:txBody>
          <a:bodyPr vertOverflow="overflow" vert="horz" wrap="square" rtlCol="0" anchor="t">
            <a:noAutofit/>
          </a:bodyPr>
          <a:lstStyle/>
          <a:p>
            <a:pPr algn="l"/>
            <a:r>
              <a:rPr lang="en-US" sz="2600" b="1" dirty="0">
                <a:solidFill>
                  <a:srgbClr val="FFFFFF"/>
                </a:solidFill>
                <a:latin typeface="Arial"/>
              </a:rPr>
              <a:t>~200/100K</a:t>
            </a:r>
          </a:p>
        </p:txBody>
      </p:sp>
      <p:sp>
        <p:nvSpPr>
          <p:cNvPr id="10" name="TextBox 9">
            <a:extLst>
              <a:ext uri="{FF2B5EF4-FFF2-40B4-BE49-F238E27FC236}">
                <a16:creationId xmlns:a16="http://schemas.microsoft.com/office/drawing/2014/main" id="{4200C666-B55F-C44A-8E6B-4A7CBDA5F9CE}"/>
              </a:ext>
            </a:extLst>
          </p:cNvPr>
          <p:cNvSpPr txBox="1"/>
          <p:nvPr/>
        </p:nvSpPr>
        <p:spPr>
          <a:xfrm>
            <a:off x="952500" y="2692400"/>
            <a:ext cx="3009900" cy="279400"/>
          </a:xfrm>
          <a:prstGeom prst="rect">
            <a:avLst/>
          </a:prstGeom>
          <a:noFill/>
        </p:spPr>
        <p:txBody>
          <a:bodyPr vertOverflow="overflow" vert="horz" wrap="square" rtlCol="0" anchor="t">
            <a:noAutofit/>
          </a:bodyPr>
          <a:lstStyle/>
          <a:p>
            <a:pPr algn="l"/>
            <a:r>
              <a:rPr lang="en-US" sz="1400" b="1" dirty="0">
                <a:solidFill>
                  <a:srgbClr val="FFFFFF"/>
                </a:solidFill>
                <a:latin typeface="Arial"/>
                <a:cs typeface="Arial"/>
              </a:rPr>
              <a:t>GLOBALLY</a:t>
            </a:r>
          </a:p>
        </p:txBody>
      </p:sp>
      <p:sp>
        <p:nvSpPr>
          <p:cNvPr id="11" name="TextBox 10">
            <a:extLst>
              <a:ext uri="{FF2B5EF4-FFF2-40B4-BE49-F238E27FC236}">
                <a16:creationId xmlns:a16="http://schemas.microsoft.com/office/drawing/2014/main" id="{36D06C95-5A9C-3448-8877-2339FE3FAB52}"/>
              </a:ext>
            </a:extLst>
          </p:cNvPr>
          <p:cNvSpPr txBox="1"/>
          <p:nvPr/>
        </p:nvSpPr>
        <p:spPr>
          <a:xfrm>
            <a:off x="952500" y="2997200"/>
            <a:ext cx="3009900" cy="1143000"/>
          </a:xfrm>
          <a:prstGeom prst="rect">
            <a:avLst/>
          </a:prstGeom>
          <a:noFill/>
        </p:spPr>
        <p:txBody>
          <a:bodyPr vertOverflow="overflow" vert="horz" wrap="square" rtlCol="0" anchor="t">
            <a:noAutofit/>
          </a:bodyPr>
          <a:lstStyle/>
          <a:p>
            <a:pPr algn="l"/>
            <a:r>
              <a:rPr lang="en-US" sz="1400" dirty="0">
                <a:solidFill>
                  <a:srgbClr val="FFFFFF"/>
                </a:solidFill>
                <a:latin typeface="Arial"/>
                <a:cs typeface="Arial"/>
              </a:rPr>
              <a:t>person-years period prevalence</a:t>
            </a:r>
          </a:p>
          <a:p>
            <a:pPr algn="l"/>
            <a:r>
              <a:rPr lang="en-US" sz="1400" dirty="0">
                <a:solidFill>
                  <a:srgbClr val="E8E0F5"/>
                </a:solidFill>
                <a:latin typeface="Arial"/>
                <a:cs typeface="Arial"/>
              </a:rPr>
              <a:t>Comparable to decompensated cirrhosis; 20% 2-month mortality</a:t>
            </a:r>
          </a:p>
        </p:txBody>
      </p:sp>
      <p:sp>
        <p:nvSpPr>
          <p:cNvPr id="12" name="Rounded Rectangle 11">
            <a:extLst>
              <a:ext uri="{FF2B5EF4-FFF2-40B4-BE49-F238E27FC236}">
                <a16:creationId xmlns:a16="http://schemas.microsoft.com/office/drawing/2014/main" id="{9AC2EED7-F346-1544-98E4-D344FAD96001}"/>
              </a:ext>
            </a:extLst>
          </p:cNvPr>
          <p:cNvSpPr/>
          <p:nvPr/>
        </p:nvSpPr>
        <p:spPr>
          <a:xfrm>
            <a:off x="4406900" y="2006600"/>
            <a:ext cx="3390900" cy="2413000"/>
          </a:xfrm>
          <a:prstGeom prst="roundRect">
            <a:avLst/>
          </a:prstGeom>
          <a:solidFill>
            <a:srgbClr val="3A0AB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26D9A084-DBB4-A441-A1A6-3483CED172A1}"/>
              </a:ext>
            </a:extLst>
          </p:cNvPr>
          <p:cNvSpPr txBox="1"/>
          <p:nvPr/>
        </p:nvSpPr>
        <p:spPr>
          <a:xfrm>
            <a:off x="4597400" y="2159000"/>
            <a:ext cx="3009900" cy="533400"/>
          </a:xfrm>
          <a:prstGeom prst="rect">
            <a:avLst/>
          </a:prstGeom>
          <a:noFill/>
        </p:spPr>
        <p:txBody>
          <a:bodyPr vertOverflow="overflow" vert="horz" wrap="square" rtlCol="0" anchor="t">
            <a:noAutofit/>
          </a:bodyPr>
          <a:lstStyle/>
          <a:p>
            <a:pPr algn="l"/>
            <a:r>
              <a:rPr lang="en-US" sz="2600" b="1" dirty="0">
                <a:solidFill>
                  <a:srgbClr val="FFFFFF"/>
                </a:solidFill>
                <a:latin typeface="Arial"/>
              </a:rPr>
              <a:t>14,876</a:t>
            </a:r>
          </a:p>
        </p:txBody>
      </p:sp>
      <p:sp>
        <p:nvSpPr>
          <p:cNvPr id="14" name="TextBox 13">
            <a:extLst>
              <a:ext uri="{FF2B5EF4-FFF2-40B4-BE49-F238E27FC236}">
                <a16:creationId xmlns:a16="http://schemas.microsoft.com/office/drawing/2014/main" id="{7D3FFF89-19F8-A546-814B-51160A161812}"/>
              </a:ext>
            </a:extLst>
          </p:cNvPr>
          <p:cNvSpPr txBox="1"/>
          <p:nvPr/>
        </p:nvSpPr>
        <p:spPr>
          <a:xfrm>
            <a:off x="4597400" y="2692400"/>
            <a:ext cx="3009900" cy="279400"/>
          </a:xfrm>
          <a:prstGeom prst="rect">
            <a:avLst/>
          </a:prstGeom>
          <a:noFill/>
        </p:spPr>
        <p:txBody>
          <a:bodyPr vertOverflow="overflow" vert="horz" wrap="square" rtlCol="0" anchor="t">
            <a:noAutofit/>
          </a:bodyPr>
          <a:lstStyle/>
          <a:p>
            <a:pPr algn="l"/>
            <a:r>
              <a:rPr lang="en-US" sz="1400" b="1" dirty="0">
                <a:solidFill>
                  <a:srgbClr val="FFFFFF"/>
                </a:solidFill>
                <a:latin typeface="Arial"/>
                <a:cs typeface="Arial"/>
              </a:rPr>
              <a:t>IN UTAH</a:t>
            </a:r>
          </a:p>
        </p:txBody>
      </p:sp>
      <p:sp>
        <p:nvSpPr>
          <p:cNvPr id="15" name="TextBox 14">
            <a:extLst>
              <a:ext uri="{FF2B5EF4-FFF2-40B4-BE49-F238E27FC236}">
                <a16:creationId xmlns:a16="http://schemas.microsoft.com/office/drawing/2014/main" id="{B1974127-2182-1F42-9A25-8E9503280D91}"/>
              </a:ext>
            </a:extLst>
          </p:cNvPr>
          <p:cNvSpPr txBox="1"/>
          <p:nvPr/>
        </p:nvSpPr>
        <p:spPr>
          <a:xfrm>
            <a:off x="4597400" y="2997200"/>
            <a:ext cx="3009900" cy="1143000"/>
          </a:xfrm>
          <a:prstGeom prst="rect">
            <a:avLst/>
          </a:prstGeom>
          <a:noFill/>
        </p:spPr>
        <p:txBody>
          <a:bodyPr vertOverflow="overflow" vert="horz" wrap="square" rtlCol="0" anchor="t">
            <a:noAutofit/>
          </a:bodyPr>
          <a:lstStyle/>
          <a:p>
            <a:pPr algn="l"/>
            <a:r>
              <a:rPr lang="en-US" sz="1400" dirty="0">
                <a:solidFill>
                  <a:srgbClr val="FFFFFF"/>
                </a:solidFill>
                <a:latin typeface="Arial"/>
                <a:cs typeface="Arial"/>
              </a:rPr>
              <a:t>cases by ICD code (2015–2019)</a:t>
            </a:r>
          </a:p>
          <a:p>
            <a:pPr algn="l"/>
            <a:r>
              <a:rPr lang="en-US" sz="1400" dirty="0">
                <a:solidFill>
                  <a:srgbClr val="E8E0F5"/>
                </a:solidFill>
                <a:latin typeface="Arial"/>
                <a:cs typeface="Arial"/>
              </a:rPr>
              <a:t>ICD only — does not capture blood-gas-identified cases</a:t>
            </a:r>
          </a:p>
        </p:txBody>
      </p:sp>
      <p:sp>
        <p:nvSpPr>
          <p:cNvPr id="16" name="Rounded Rectangle 15">
            <a:extLst>
              <a:ext uri="{FF2B5EF4-FFF2-40B4-BE49-F238E27FC236}">
                <a16:creationId xmlns:a16="http://schemas.microsoft.com/office/drawing/2014/main" id="{3F16512E-C806-1F42-8057-DBE971158CD6}"/>
              </a:ext>
            </a:extLst>
          </p:cNvPr>
          <p:cNvSpPr/>
          <p:nvPr/>
        </p:nvSpPr>
        <p:spPr>
          <a:xfrm>
            <a:off x="8051800" y="2006600"/>
            <a:ext cx="3390900" cy="2413000"/>
          </a:xfrm>
          <a:prstGeom prst="round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B24331FB-60C3-EF46-A0ED-95045AEFF9B2}"/>
              </a:ext>
            </a:extLst>
          </p:cNvPr>
          <p:cNvSpPr txBox="1"/>
          <p:nvPr/>
        </p:nvSpPr>
        <p:spPr>
          <a:xfrm>
            <a:off x="8242300" y="2159000"/>
            <a:ext cx="3009900" cy="533400"/>
          </a:xfrm>
          <a:prstGeom prst="rect">
            <a:avLst/>
          </a:prstGeom>
          <a:noFill/>
        </p:spPr>
        <p:txBody>
          <a:bodyPr vertOverflow="overflow" vert="horz" wrap="square" rtlCol="0" anchor="t">
            <a:noAutofit/>
          </a:bodyPr>
          <a:lstStyle/>
          <a:p>
            <a:pPr algn="l"/>
            <a:r>
              <a:rPr lang="en-US" sz="2600" b="1" dirty="0">
                <a:solidFill>
                  <a:srgbClr val="FFFFFF"/>
                </a:solidFill>
                <a:latin typeface="Arial"/>
              </a:rPr>
              <a:t>~1,000 per year</a:t>
            </a:r>
          </a:p>
        </p:txBody>
      </p:sp>
      <p:sp>
        <p:nvSpPr>
          <p:cNvPr id="18" name="TextBox 17">
            <a:extLst>
              <a:ext uri="{FF2B5EF4-FFF2-40B4-BE49-F238E27FC236}">
                <a16:creationId xmlns:a16="http://schemas.microsoft.com/office/drawing/2014/main" id="{27360CA1-2571-1545-8D37-9F2BDCBF65C1}"/>
              </a:ext>
            </a:extLst>
          </p:cNvPr>
          <p:cNvSpPr txBox="1"/>
          <p:nvPr/>
        </p:nvSpPr>
        <p:spPr>
          <a:xfrm>
            <a:off x="8242300" y="2692400"/>
            <a:ext cx="3009900" cy="279400"/>
          </a:xfrm>
          <a:prstGeom prst="rect">
            <a:avLst/>
          </a:prstGeom>
          <a:noFill/>
        </p:spPr>
        <p:txBody>
          <a:bodyPr vertOverflow="overflow" vert="horz" wrap="square" rtlCol="0" anchor="t">
            <a:noAutofit/>
          </a:bodyPr>
          <a:lstStyle/>
          <a:p>
            <a:pPr algn="l"/>
            <a:r>
              <a:rPr lang="en-US" sz="1400" b="1" dirty="0">
                <a:solidFill>
                  <a:srgbClr val="FFFFFF"/>
                </a:solidFill>
                <a:latin typeface="Arial"/>
                <a:cs typeface="Arial"/>
              </a:rPr>
              <a:t>IH / SELECTHEALTH</a:t>
            </a:r>
          </a:p>
        </p:txBody>
      </p:sp>
      <p:sp>
        <p:nvSpPr>
          <p:cNvPr id="19" name="TextBox 18">
            <a:extLst>
              <a:ext uri="{FF2B5EF4-FFF2-40B4-BE49-F238E27FC236}">
                <a16:creationId xmlns:a16="http://schemas.microsoft.com/office/drawing/2014/main" id="{C8EC487C-BAC7-F74C-85FA-F80D65348B35}"/>
              </a:ext>
            </a:extLst>
          </p:cNvPr>
          <p:cNvSpPr txBox="1"/>
          <p:nvPr/>
        </p:nvSpPr>
        <p:spPr>
          <a:xfrm>
            <a:off x="8242300" y="2997200"/>
            <a:ext cx="3009900" cy="892552"/>
          </a:xfrm>
          <a:prstGeom prst="rect">
            <a:avLst/>
          </a:prstGeom>
          <a:noFill/>
        </p:spPr>
        <p:txBody>
          <a:bodyPr vertOverflow="overflow" vert="horz" wrap="square" rtlCol="0" anchor="t">
            <a:spAutoFit/>
          </a:bodyPr>
          <a:lstStyle/>
          <a:p>
            <a:pPr algn="l"/>
            <a:r>
              <a:rPr lang="en-US" sz="1400" dirty="0">
                <a:solidFill>
                  <a:srgbClr val="FFFFFF"/>
                </a:solidFill>
                <a:latin typeface="Arial"/>
                <a:cs typeface="Arial"/>
              </a:rPr>
              <a:t>Canyons region, coinsured; ICD + blood gas</a:t>
            </a:r>
          </a:p>
          <a:p>
            <a:pPr algn="l"/>
            <a:r>
              <a:rPr lang="en-US" sz="1400" b="1" dirty="0">
                <a:solidFill>
                  <a:srgbClr val="FFD966"/>
                </a:solidFill>
                <a:latin typeface="Arial"/>
                <a:cs typeface="Arial"/>
              </a:rPr>
              <a:t>$50K per index hospitalization</a:t>
            </a:r>
          </a:p>
          <a:p>
            <a:pPr algn="l"/>
            <a:r>
              <a:rPr lang="en-US" sz="1200" dirty="0">
                <a:solidFill>
                  <a:srgbClr val="E8E0F5"/>
                </a:solidFill>
                <a:latin typeface="Arial"/>
                <a:cs typeface="Arial"/>
              </a:rPr>
              <a:t>Spending elevated months before admission — modifiable window</a:t>
            </a:r>
          </a:p>
        </p:txBody>
      </p:sp>
      <p:sp>
        <p:nvSpPr>
          <p:cNvPr id="20" name="TextBox 19">
            <a:extLst>
              <a:ext uri="{FF2B5EF4-FFF2-40B4-BE49-F238E27FC236}">
                <a16:creationId xmlns:a16="http://schemas.microsoft.com/office/drawing/2014/main" id="{7B34E493-3907-E24A-874F-0AF79D3C7A19}"/>
              </a:ext>
            </a:extLst>
          </p:cNvPr>
          <p:cNvSpPr txBox="1"/>
          <p:nvPr/>
        </p:nvSpPr>
        <p:spPr>
          <a:xfrm>
            <a:off x="762000" y="4699000"/>
            <a:ext cx="8890000" cy="276999"/>
          </a:xfrm>
          <a:prstGeom prst="rect">
            <a:avLst/>
          </a:prstGeom>
          <a:noFill/>
        </p:spPr>
        <p:txBody>
          <a:bodyPr vertOverflow="overflow" vert="horz" wrap="square" rtlCol="0" anchor="t">
            <a:spAutoFit/>
          </a:bodyPr>
          <a:lstStyle/>
          <a:p>
            <a:pPr algn="l"/>
            <a:r>
              <a:rPr lang="en-US" sz="1200" i="1" dirty="0">
                <a:solidFill>
                  <a:srgbClr val="6B5B8A"/>
                </a:solidFill>
                <a:latin typeface="Arial"/>
                <a:cs typeface="Arial"/>
              </a:rPr>
              <a:t>Chung et al. AJRCCM; Locke et al. ATS 2025; Locke et al. ATS 2026  |  UPDB, TriNetX, IH/SelectHealth</a:t>
            </a:r>
          </a:p>
        </p:txBody>
      </p:sp>
      <p:sp>
        <p:nvSpPr>
          <p:cNvPr id="21" name="Rectangle 20">
            <a:extLst>
              <a:ext uri="{FF2B5EF4-FFF2-40B4-BE49-F238E27FC236}">
                <a16:creationId xmlns:a16="http://schemas.microsoft.com/office/drawing/2014/main" id="{CC1C4191-3D14-2545-99C8-299E69A8687F}"/>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CEF7BAFA-3E63-C54A-BC22-C8DE1F633C99}"/>
              </a:ext>
            </a:extLst>
          </p:cNvPr>
          <p:cNvSpPr txBox="1"/>
          <p:nvPr/>
        </p:nvSpPr>
        <p:spPr>
          <a:xfrm>
            <a:off x="762000" y="5026799"/>
            <a:ext cx="8890000" cy="279400"/>
          </a:xfrm>
          <a:prstGeom prst="rect">
            <a:avLst/>
          </a:prstGeom>
          <a:noFill/>
        </p:spPr>
        <p:txBody>
          <a:bodyPr vertOverflow="overflow" vert="horz" wrap="square" rtlCol="0" anchor="t">
            <a:noAutofit/>
          </a:bodyPr>
          <a:lstStyle/>
          <a:p>
            <a:pPr algn="l"/>
            <a:r>
              <a:rPr lang="en-US" sz="1400" b="1" dirty="0">
                <a:solidFill>
                  <a:srgbClr val="4A00E2"/>
                </a:solidFill>
                <a:latin typeface="Arial"/>
                <a:cs typeface="Arial"/>
              </a:rPr>
              <a:t>Can health services research and better care organization improve these outcomes? →</a:t>
            </a:r>
          </a:p>
        </p:txBody>
      </p:sp>
    </p:spTree>
    <p:extLst>
      <p:ext uri="{BB962C8B-B14F-4D97-AF65-F5344CB8AC3E}">
        <p14:creationId xmlns:p14="http://schemas.microsoft.com/office/powerpoint/2010/main" val="140828226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3CA9C7-03F1-1B45-BF1E-78BBA9C51013}"/>
              </a:ext>
            </a:extLst>
          </p:cNvPr>
          <p:cNvSpPr txBox="1"/>
          <p:nvPr/>
        </p:nvSpPr>
        <p:spPr>
          <a:xfrm>
            <a:off x="762000" y="254000"/>
            <a:ext cx="5080000" cy="338554"/>
          </a:xfrm>
          <a:prstGeom prst="rect">
            <a:avLst/>
          </a:prstGeom>
          <a:noFill/>
        </p:spPr>
        <p:txBody>
          <a:bodyPr vertOverflow="overflow" vert="horz" wrap="square" rtlCol="0" anchor="t">
            <a:spAutoFit/>
          </a:bodyPr>
          <a:lstStyle/>
          <a:p>
            <a:pPr algn="l"/>
            <a:r>
              <a:rPr lang="en-US" sz="1600" b="1" dirty="0">
                <a:solidFill>
                  <a:srgbClr val="4A00E2"/>
                </a:solidFill>
                <a:latin typeface="Arial"/>
                <a:cs typeface="Arial"/>
              </a:rPr>
              <a:t>OUR PRIOR WORK</a:t>
            </a:r>
          </a:p>
        </p:txBody>
      </p:sp>
      <p:sp>
        <p:nvSpPr>
          <p:cNvPr id="5" name="TextBox 4">
            <a:extLst>
              <a:ext uri="{FF2B5EF4-FFF2-40B4-BE49-F238E27FC236}">
                <a16:creationId xmlns:a16="http://schemas.microsoft.com/office/drawing/2014/main" id="{340B80F7-C58D-6D4A-BB0D-095C441CEBAE}"/>
              </a:ext>
            </a:extLst>
          </p:cNvPr>
          <p:cNvSpPr txBox="1"/>
          <p:nvPr/>
        </p:nvSpPr>
        <p:spPr>
          <a:xfrm>
            <a:off x="762000" y="609600"/>
            <a:ext cx="10668000" cy="707886"/>
          </a:xfrm>
          <a:prstGeom prst="rect">
            <a:avLst/>
          </a:prstGeom>
          <a:noFill/>
        </p:spPr>
        <p:txBody>
          <a:bodyPr vertOverflow="overflow" vert="horz" wrap="square" rtlCol="0" anchor="t">
            <a:spAutoFit/>
          </a:bodyPr>
          <a:lstStyle/>
          <a:p>
            <a:pPr algn="l"/>
            <a:r>
              <a:rPr lang="en-US" sz="2000" b="1">
                <a:solidFill>
                  <a:srgbClr val="110057"/>
                </a:solidFill>
                <a:latin typeface="Arial"/>
                <a:cs typeface="Arial"/>
              </a:rPr>
              <a:t>The Consistency of Hypercapnic Respiratory Failure Case Definitions in Electronic Health Record Data</a:t>
            </a:r>
          </a:p>
        </p:txBody>
      </p:sp>
      <p:sp>
        <p:nvSpPr>
          <p:cNvPr id="23" name="Rectangle 22">
            <a:extLst>
              <a:ext uri="{FF2B5EF4-FFF2-40B4-BE49-F238E27FC236}">
                <a16:creationId xmlns:a16="http://schemas.microsoft.com/office/drawing/2014/main" id="{84F02AE4-4867-B449-B293-9D97CD026432}"/>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CD0CF540-CD3D-5D4E-9991-F922A28460C7}"/>
              </a:ext>
            </a:extLst>
          </p:cNvPr>
          <p:cNvSpPr txBox="1"/>
          <p:nvPr/>
        </p:nvSpPr>
        <p:spPr>
          <a:xfrm>
            <a:off x="762000" y="1346200"/>
            <a:ext cx="10668000" cy="276999"/>
          </a:xfrm>
          <a:prstGeom prst="rect">
            <a:avLst/>
          </a:prstGeom>
          <a:noFill/>
        </p:spPr>
        <p:txBody>
          <a:bodyPr vertOverflow="overflow" vert="horz" wrap="square" rtlCol="0" anchor="t">
            <a:spAutoFit/>
          </a:bodyPr>
          <a:lstStyle/>
          <a:p>
            <a:pPr algn="l">
              <a:buNone/>
            </a:pPr>
            <a:r>
              <a:rPr lang="en-US" sz="1200" b="1" dirty="0">
                <a:solidFill>
                  <a:srgbClr val="110057"/>
                </a:solidFill>
                <a:latin typeface="Arial"/>
                <a:cs typeface="Arial"/>
              </a:rPr>
              <a:t>Locke BW</a:t>
            </a:r>
            <a:r>
              <a:rPr lang="en-US" sz="1200" dirty="0">
                <a:solidFill>
                  <a:srgbClr val="555555"/>
                </a:solidFill>
                <a:latin typeface="Arial"/>
                <a:cs typeface="Arial"/>
              </a:rPr>
              <a:t>, Richards WW, Gouripeddi R, Brown JP, Finkelstein J, Sundar KM, </a:t>
            </a:r>
            <a:r>
              <a:rPr lang="en-US" sz="1200" b="1" dirty="0">
                <a:solidFill>
                  <a:srgbClr val="110057"/>
                </a:solidFill>
                <a:latin typeface="Arial"/>
                <a:cs typeface="Arial"/>
              </a:rPr>
              <a:t>Peltan ID</a:t>
            </a:r>
            <a:r>
              <a:rPr lang="en-US" sz="1200" dirty="0">
                <a:solidFill>
                  <a:srgbClr val="555555"/>
                </a:solidFill>
                <a:latin typeface="Arial"/>
                <a:cs typeface="Arial"/>
              </a:rPr>
              <a:t>, </a:t>
            </a:r>
            <a:r>
              <a:rPr lang="en-US" sz="1200" b="1" dirty="0">
                <a:solidFill>
                  <a:srgbClr val="110057"/>
                </a:solidFill>
                <a:latin typeface="Arial"/>
                <a:cs typeface="Arial"/>
              </a:rPr>
              <a:t>Brown SM</a:t>
            </a:r>
          </a:p>
        </p:txBody>
      </p:sp>
      <p:sp>
        <p:nvSpPr>
          <p:cNvPr id="6" name="Rounded Rectangle 5">
            <a:extLst>
              <a:ext uri="{FF2B5EF4-FFF2-40B4-BE49-F238E27FC236}">
                <a16:creationId xmlns:a16="http://schemas.microsoft.com/office/drawing/2014/main" id="{7499CC07-EBD8-394F-95AF-76BFC9DCEE96}"/>
              </a:ext>
            </a:extLst>
          </p:cNvPr>
          <p:cNvSpPr/>
          <p:nvPr/>
        </p:nvSpPr>
        <p:spPr>
          <a:xfrm>
            <a:off x="762000" y="1879600"/>
            <a:ext cx="10668000" cy="1016000"/>
          </a:xfrm>
          <a:prstGeom prst="roundRect">
            <a:avLst/>
          </a:prstGeom>
          <a:solidFill>
            <a:srgbClr val="F3F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E346B36E-C521-3444-99B0-13D949872135}"/>
              </a:ext>
            </a:extLst>
          </p:cNvPr>
          <p:cNvSpPr/>
          <p:nvPr/>
        </p:nvSpPr>
        <p:spPr>
          <a:xfrm>
            <a:off x="762000" y="1879600"/>
            <a:ext cx="10668000" cy="508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7124E2C8-46FC-9B49-A4C7-9B6DE723C60C}"/>
              </a:ext>
            </a:extLst>
          </p:cNvPr>
          <p:cNvSpPr txBox="1"/>
          <p:nvPr/>
        </p:nvSpPr>
        <p:spPr>
          <a:xfrm>
            <a:off x="952500" y="2006600"/>
            <a:ext cx="10287000" cy="279400"/>
          </a:xfrm>
          <a:prstGeom prst="rect">
            <a:avLst/>
          </a:prstGeom>
          <a:noFill/>
        </p:spPr>
        <p:txBody>
          <a:bodyPr vertOverflow="overflow" vert="horz" wrap="square" rtlCol="0" anchor="t">
            <a:noAutofit/>
          </a:bodyPr>
          <a:lstStyle/>
          <a:p>
            <a:pPr algn="l">
              <a:buNone/>
            </a:pPr>
            <a:r>
              <a:rPr lang="en-US" sz="1600" b="1" dirty="0">
                <a:solidFill>
                  <a:srgbClr val="110057"/>
                </a:solidFill>
                <a:latin typeface="Arial"/>
                <a:cs typeface="Arial"/>
              </a:rPr>
              <a:t>Key Finding</a:t>
            </a:r>
          </a:p>
        </p:txBody>
      </p:sp>
      <p:sp>
        <p:nvSpPr>
          <p:cNvPr id="10" name="TextBox 9">
            <a:extLst>
              <a:ext uri="{FF2B5EF4-FFF2-40B4-BE49-F238E27FC236}">
                <a16:creationId xmlns:a16="http://schemas.microsoft.com/office/drawing/2014/main" id="{7821EC88-7EC0-DD4D-B332-59B01BB8D5B4}"/>
              </a:ext>
            </a:extLst>
          </p:cNvPr>
          <p:cNvSpPr txBox="1"/>
          <p:nvPr/>
        </p:nvSpPr>
        <p:spPr>
          <a:xfrm>
            <a:off x="952500" y="2311400"/>
            <a:ext cx="10287000" cy="508000"/>
          </a:xfrm>
          <a:prstGeom prst="rect">
            <a:avLst/>
          </a:prstGeom>
          <a:noFill/>
        </p:spPr>
        <p:txBody>
          <a:bodyPr vertOverflow="overflow" vert="horz" wrap="square" rtlCol="0" anchor="t">
            <a:noAutofit/>
          </a:bodyPr>
          <a:lstStyle/>
          <a:p>
            <a:pPr algn="l">
              <a:buNone/>
            </a:pPr>
            <a:r>
              <a:rPr lang="en-US" sz="1500" dirty="0">
                <a:solidFill>
                  <a:srgbClr val="110057"/>
                </a:solidFill>
                <a:latin typeface="Arial"/>
                <a:cs typeface="Arial"/>
              </a:rPr>
              <a:t>Published case definitions for hypercapnic respiratory failure identify </a:t>
            </a:r>
            <a:r>
              <a:rPr lang="en-US" sz="1500" b="1" dirty="0">
                <a:solidFill>
                  <a:srgbClr val="4A00E2"/>
                </a:solidFill>
                <a:latin typeface="Arial"/>
                <a:cs typeface="Arial"/>
              </a:rPr>
              <a:t>meaningfully different cohorts</a:t>
            </a:r>
            <a:r>
              <a:rPr lang="en-US" sz="1500" dirty="0">
                <a:solidFill>
                  <a:srgbClr val="110057"/>
                </a:solidFill>
                <a:latin typeface="Arial"/>
                <a:cs typeface="Arial"/>
              </a:rPr>
              <a:t>, limiting literature synthesis and agreement on who should be studied or counted</a:t>
            </a:r>
          </a:p>
        </p:txBody>
      </p:sp>
      <p:sp>
        <p:nvSpPr>
          <p:cNvPr id="11" name="Rounded Rectangle 10">
            <a:extLst>
              <a:ext uri="{FF2B5EF4-FFF2-40B4-BE49-F238E27FC236}">
                <a16:creationId xmlns:a16="http://schemas.microsoft.com/office/drawing/2014/main" id="{F47EA317-F3A1-A64C-A4C8-9B7FCF01E4A4}"/>
              </a:ext>
            </a:extLst>
          </p:cNvPr>
          <p:cNvSpPr/>
          <p:nvPr/>
        </p:nvSpPr>
        <p:spPr>
          <a:xfrm>
            <a:off x="762000" y="3022600"/>
            <a:ext cx="5232400" cy="2971800"/>
          </a:xfrm>
          <a:prstGeom prst="roundRect">
            <a:avLst/>
          </a:prstGeom>
          <a:solidFill>
            <a:srgbClr val="F3F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FCF7DB52-34E7-504A-91FC-5208C0AAA90D}"/>
              </a:ext>
            </a:extLst>
          </p:cNvPr>
          <p:cNvSpPr txBox="1"/>
          <p:nvPr/>
        </p:nvSpPr>
        <p:spPr>
          <a:xfrm>
            <a:off x="914400" y="3124200"/>
            <a:ext cx="4927600" cy="254000"/>
          </a:xfrm>
          <a:prstGeom prst="rect">
            <a:avLst/>
          </a:prstGeom>
          <a:noFill/>
        </p:spPr>
        <p:txBody>
          <a:bodyPr vertOverflow="overflow" vert="horz" wrap="square" rtlCol="0" anchor="t">
            <a:noAutofit/>
          </a:bodyPr>
          <a:lstStyle/>
          <a:p>
            <a:pPr algn="l">
              <a:buNone/>
            </a:pPr>
            <a:r>
              <a:rPr lang="en-US" sz="1500" b="1" dirty="0">
                <a:solidFill>
                  <a:srgbClr val="110057"/>
                </a:solidFill>
                <a:latin typeface="Arial"/>
                <a:cs typeface="Arial"/>
              </a:rPr>
              <a:t>Agreement Between Definitions</a:t>
            </a:r>
          </a:p>
        </p:txBody>
      </p:sp>
      <p:sp>
        <p:nvSpPr>
          <p:cNvPr id="13" name="TextBox 12">
            <a:extLst>
              <a:ext uri="{FF2B5EF4-FFF2-40B4-BE49-F238E27FC236}">
                <a16:creationId xmlns:a16="http://schemas.microsoft.com/office/drawing/2014/main" id="{AFB12501-D79A-8945-A961-DEF66579F4AC}"/>
              </a:ext>
            </a:extLst>
          </p:cNvPr>
          <p:cNvSpPr txBox="1"/>
          <p:nvPr/>
        </p:nvSpPr>
        <p:spPr>
          <a:xfrm>
            <a:off x="914400" y="3378200"/>
            <a:ext cx="4927600" cy="406400"/>
          </a:xfrm>
          <a:prstGeom prst="rect">
            <a:avLst/>
          </a:prstGeom>
          <a:noFill/>
        </p:spPr>
        <p:txBody>
          <a:bodyPr vertOverflow="overflow" vert="horz" wrap="square" rtlCol="0" anchor="t">
            <a:noAutofit/>
          </a:bodyPr>
          <a:lstStyle/>
          <a:p>
            <a:pPr algn="l">
              <a:buNone/>
            </a:pPr>
            <a:r>
              <a:rPr lang="en-US" sz="1200" dirty="0">
                <a:solidFill>
                  <a:srgbClr val="555555"/>
                </a:solidFill>
                <a:latin typeface="Arial"/>
                <a:cs typeface="Arial"/>
              </a:rPr>
              <a:t>Pairwise Cohen's κ across six definitions — agreement ranges from slight to moderate</a:t>
            </a:r>
          </a:p>
        </p:txBody>
      </p:sp>
      <p:sp>
        <p:nvSpPr>
          <p:cNvPr id="14" name="Rounded Rectangle 13">
            <a:extLst>
              <a:ext uri="{FF2B5EF4-FFF2-40B4-BE49-F238E27FC236}">
                <a16:creationId xmlns:a16="http://schemas.microsoft.com/office/drawing/2014/main" id="{E139BC5F-865F-F04E-AC8C-B3EC74CC5326}"/>
              </a:ext>
            </a:extLst>
          </p:cNvPr>
          <p:cNvSpPr/>
          <p:nvPr/>
        </p:nvSpPr>
        <p:spPr>
          <a:xfrm>
            <a:off x="6197600" y="3022600"/>
            <a:ext cx="5232400" cy="2971800"/>
          </a:xfrm>
          <a:prstGeom prst="roundRect">
            <a:avLst/>
          </a:prstGeom>
          <a:solidFill>
            <a:srgbClr val="F3F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2352D696-EDB4-8F46-BB26-DCDE67A5F4C5}"/>
              </a:ext>
            </a:extLst>
          </p:cNvPr>
          <p:cNvSpPr txBox="1"/>
          <p:nvPr/>
        </p:nvSpPr>
        <p:spPr>
          <a:xfrm>
            <a:off x="6350000" y="3124200"/>
            <a:ext cx="4927600" cy="254000"/>
          </a:xfrm>
          <a:prstGeom prst="rect">
            <a:avLst/>
          </a:prstGeom>
          <a:noFill/>
        </p:spPr>
        <p:txBody>
          <a:bodyPr vertOverflow="overflow" vert="horz" wrap="square" rtlCol="0" anchor="t">
            <a:noAutofit/>
          </a:bodyPr>
          <a:lstStyle/>
          <a:p>
            <a:pPr algn="l"/>
            <a:r>
              <a:rPr lang="en-US" sz="1400" b="1">
                <a:solidFill>
                  <a:srgbClr val="110057"/>
                </a:solidFill>
                <a:latin typeface="Arial"/>
                <a:cs typeface="Arial"/>
              </a:rPr>
              <a:t>Companion: Diagnostic Model</a:t>
            </a:r>
          </a:p>
        </p:txBody>
      </p:sp>
      <p:sp>
        <p:nvSpPr>
          <p:cNvPr id="16" name="TextBox 15">
            <a:extLst>
              <a:ext uri="{FF2B5EF4-FFF2-40B4-BE49-F238E27FC236}">
                <a16:creationId xmlns:a16="http://schemas.microsoft.com/office/drawing/2014/main" id="{4AD5F53E-76B2-0149-9DB7-9CE2FD8FF4D5}"/>
              </a:ext>
            </a:extLst>
          </p:cNvPr>
          <p:cNvSpPr txBox="1"/>
          <p:nvPr/>
        </p:nvSpPr>
        <p:spPr>
          <a:xfrm>
            <a:off x="6350000" y="3378200"/>
            <a:ext cx="4927600" cy="406400"/>
          </a:xfrm>
          <a:prstGeom prst="rect">
            <a:avLst/>
          </a:prstGeom>
          <a:noFill/>
        </p:spPr>
        <p:txBody>
          <a:bodyPr vertOverflow="overflow" vert="horz" wrap="square" rtlCol="0" anchor="t">
            <a:noAutofit/>
          </a:bodyPr>
          <a:lstStyle/>
          <a:p>
            <a:pPr algn="l">
              <a:buNone/>
            </a:pPr>
            <a:r>
              <a:rPr lang="en-US" sz="1100" dirty="0">
                <a:solidFill>
                  <a:srgbClr val="555555"/>
                </a:solidFill>
                <a:latin typeface="Arial"/>
                <a:cs typeface="Arial"/>
              </a:rPr>
              <a:t>Random forest predictions, ROC, &amp; calibration for ML identification of unrecognized hypercapnia (Locke et al. LNAI 2024)</a:t>
            </a:r>
          </a:p>
        </p:txBody>
      </p:sp>
      <p:sp>
        <p:nvSpPr>
          <p:cNvPr id="17" name="Rectangle 16">
            <a:extLst>
              <a:ext uri="{FF2B5EF4-FFF2-40B4-BE49-F238E27FC236}">
                <a16:creationId xmlns:a16="http://schemas.microsoft.com/office/drawing/2014/main" id="{3F0438F3-8D04-5148-A456-04E23A055CC1}"/>
              </a:ext>
            </a:extLst>
          </p:cNvPr>
          <p:cNvSpPr/>
          <p:nvPr/>
        </p:nvSpPr>
        <p:spPr>
          <a:xfrm>
            <a:off x="762000" y="6096000"/>
            <a:ext cx="10668000" cy="19050"/>
          </a:xfrm>
          <a:prstGeom prst="rect">
            <a:avLst/>
          </a:prstGeom>
          <a:solidFill>
            <a:srgbClr val="D0D0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2DEE4025-177F-F546-8044-BEC7D2E99FE6}"/>
              </a:ext>
            </a:extLst>
          </p:cNvPr>
          <p:cNvSpPr txBox="1"/>
          <p:nvPr/>
        </p:nvSpPr>
        <p:spPr>
          <a:xfrm>
            <a:off x="762000" y="6172200"/>
            <a:ext cx="10668000" cy="323165"/>
          </a:xfrm>
          <a:prstGeom prst="rect">
            <a:avLst/>
          </a:prstGeom>
          <a:noFill/>
        </p:spPr>
        <p:txBody>
          <a:bodyPr vertOverflow="overflow" vert="horz" wrap="square" rtlCol="0" anchor="t">
            <a:spAutoFit/>
          </a:bodyPr>
          <a:lstStyle/>
          <a:p>
            <a:pPr algn="l">
              <a:buNone/>
            </a:pPr>
            <a:r>
              <a:rPr lang="en-US" sz="1500" b="1" dirty="0">
                <a:solidFill>
                  <a:srgbClr val="4A00E2"/>
                </a:solidFill>
                <a:latin typeface="Arial"/>
                <a:cs typeface="Arial"/>
              </a:rPr>
              <a:t>So what are we doing about it?  </a:t>
            </a:r>
            <a:r>
              <a:rPr lang="en-US" sz="1500" dirty="0">
                <a:solidFill>
                  <a:srgbClr val="110057"/>
                </a:solidFill>
                <a:latin typeface="Arial"/>
                <a:cs typeface="Arial"/>
              </a:rPr>
              <a:t>A new clinic + funded research to quantify practice patterns at Intermountain </a:t>
            </a:r>
            <a:r>
              <a:rPr lang="en-US" sz="1500" dirty="0">
                <a:solidFill>
                  <a:srgbClr val="4A00E2"/>
                </a:solidFill>
                <a:latin typeface="Arial"/>
                <a:cs typeface="Arial"/>
              </a:rPr>
              <a:t>→</a:t>
            </a:r>
          </a:p>
        </p:txBody>
      </p:sp>
      <p:pic>
        <p:nvPicPr>
          <p:cNvPr id="21" name="Picture 20">
            <a:extLst>
              <a:ext uri="{FF2B5EF4-FFF2-40B4-BE49-F238E27FC236}">
                <a16:creationId xmlns:a16="http://schemas.microsoft.com/office/drawing/2014/main" id="{659C04AD-6880-9F25-FCD7-C730A9FC8437}"/>
              </a:ext>
            </a:extLst>
          </p:cNvPr>
          <p:cNvPicPr>
            <a:picLocks noChangeAspect="1"/>
          </p:cNvPicPr>
          <p:nvPr/>
        </p:nvPicPr>
        <p:blipFill>
          <a:blip r:embed="rId2"/>
          <a:stretch>
            <a:fillRect/>
          </a:stretch>
        </p:blipFill>
        <p:spPr>
          <a:xfrm>
            <a:off x="2068554" y="3835400"/>
            <a:ext cx="2619291" cy="2057400"/>
          </a:xfrm>
          <a:prstGeom prst="rect">
            <a:avLst/>
          </a:prstGeom>
        </p:spPr>
      </p:pic>
      <p:pic>
        <p:nvPicPr>
          <p:cNvPr id="30" name="RF Predictions"/>
          <p:cNvPicPr>
            <a:picLocks noChangeAspect="1"/>
          </p:cNvPicPr>
          <p:nvPr/>
        </p:nvPicPr>
        <p:blipFill>
          <a:blip r:embed="rId3"/>
          <a:srcRect l="50000" t="7000" b="67000"/>
          <a:stretch>
            <a:fillRect/>
          </a:stretch>
        </p:blipFill>
        <p:spPr>
          <a:xfrm>
            <a:off x="6324600" y="4597400"/>
            <a:ext cx="1600200" cy="1200150"/>
          </a:xfrm>
          <a:prstGeom prst="rect">
            <a:avLst/>
          </a:prstGeom>
        </p:spPr>
      </p:pic>
      <p:pic>
        <p:nvPicPr>
          <p:cNvPr id="31" name="RF Discrimination"/>
          <p:cNvPicPr>
            <a:picLocks noChangeAspect="1"/>
          </p:cNvPicPr>
          <p:nvPr/>
        </p:nvPicPr>
        <p:blipFill>
          <a:blip r:embed="rId3"/>
          <a:srcRect l="50000" t="33000" b="40000"/>
          <a:stretch>
            <a:fillRect/>
          </a:stretch>
        </p:blipFill>
        <p:spPr>
          <a:xfrm>
            <a:off x="8001000" y="4546600"/>
            <a:ext cx="1600200" cy="1248640"/>
          </a:xfrm>
          <a:prstGeom prst="rect">
            <a:avLst/>
          </a:prstGeom>
        </p:spPr>
      </p:pic>
      <p:pic>
        <p:nvPicPr>
          <p:cNvPr id="32" name="RF Calibration"/>
          <p:cNvPicPr>
            <a:picLocks noChangeAspect="1"/>
          </p:cNvPicPr>
          <p:nvPr/>
        </p:nvPicPr>
        <p:blipFill>
          <a:blip r:embed="rId3"/>
          <a:srcRect l="50000" t="61000" b="16000"/>
          <a:stretch>
            <a:fillRect/>
          </a:stretch>
        </p:blipFill>
        <p:spPr>
          <a:xfrm>
            <a:off x="9677400" y="4635500"/>
            <a:ext cx="1600200" cy="1066800"/>
          </a:xfrm>
          <a:prstGeom prst="rect">
            <a:avLst/>
          </a:prstGeom>
        </p:spPr>
      </p:pic>
    </p:spTree>
    <p:extLst>
      <p:ext uri="{BB962C8B-B14F-4D97-AF65-F5344CB8AC3E}">
        <p14:creationId xmlns:p14="http://schemas.microsoft.com/office/powerpoint/2010/main" val="1980161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E8662CD0-1534-4C4A-BE4C-7152393E32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707370-608F-9640-A16E-D0F41F8DD7D6}"/>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AE3F055-2F0C-1E43-91F3-957CC4690C69}"/>
              </a:ext>
            </a:extLst>
          </p:cNvPr>
          <p:cNvSpPr txBox="1"/>
          <p:nvPr/>
        </p:nvSpPr>
        <p:spPr>
          <a:xfrm>
            <a:off x="762000" y="508000"/>
            <a:ext cx="5080000" cy="304800"/>
          </a:xfrm>
          <a:prstGeom prst="rect">
            <a:avLst/>
          </a:prstGeom>
          <a:noFill/>
        </p:spPr>
        <p:txBody>
          <a:bodyPr vertOverflow="overflow" vert="horz" wrap="square" rtlCol="0" anchor="t">
            <a:noAutofit/>
          </a:bodyPr>
          <a:lstStyle/>
          <a:p>
            <a:pPr algn="l"/>
            <a:r>
              <a:rPr lang="en-US" sz="1600" b="1" dirty="0">
                <a:solidFill>
                  <a:srgbClr val="4A00E2"/>
                </a:solidFill>
                <a:latin typeface="Arial"/>
                <a:cs typeface="Arial"/>
              </a:rPr>
              <a:t>A Promising Problem to Solve</a:t>
            </a:r>
          </a:p>
        </p:txBody>
      </p:sp>
      <p:sp>
        <p:nvSpPr>
          <p:cNvPr id="5" name="TextBox 4">
            <a:extLst>
              <a:ext uri="{FF2B5EF4-FFF2-40B4-BE49-F238E27FC236}">
                <a16:creationId xmlns:a16="http://schemas.microsoft.com/office/drawing/2014/main" id="{AFF12FDD-5773-484E-B0A7-E587916DE304}"/>
              </a:ext>
            </a:extLst>
          </p:cNvPr>
          <p:cNvSpPr txBox="1"/>
          <p:nvPr/>
        </p:nvSpPr>
        <p:spPr>
          <a:xfrm>
            <a:off x="762000" y="838200"/>
            <a:ext cx="10668000" cy="457200"/>
          </a:xfrm>
          <a:prstGeom prst="rect">
            <a:avLst/>
          </a:prstGeom>
          <a:noFill/>
        </p:spPr>
        <p:txBody>
          <a:bodyPr vertOverflow="overflow" vert="horz" wrap="square" rtlCol="0" anchor="t">
            <a:noAutofit/>
          </a:bodyPr>
          <a:lstStyle/>
          <a:p>
            <a:pPr algn="l"/>
            <a:r>
              <a:rPr lang="en-US" sz="2600" b="1" dirty="0">
                <a:solidFill>
                  <a:srgbClr val="110057"/>
                </a:solidFill>
                <a:latin typeface="Arial"/>
              </a:rPr>
              <a:t>Solvable and overlooked</a:t>
            </a:r>
          </a:p>
        </p:txBody>
      </p:sp>
      <p:sp>
        <p:nvSpPr>
          <p:cNvPr id="6" name="Rectangle 5">
            <a:extLst>
              <a:ext uri="{FF2B5EF4-FFF2-40B4-BE49-F238E27FC236}">
                <a16:creationId xmlns:a16="http://schemas.microsoft.com/office/drawing/2014/main" id="{C7B1A65A-90AB-6A4A-BD67-6CE382E80EBE}"/>
              </a:ext>
            </a:extLst>
          </p:cNvPr>
          <p:cNvSpPr/>
          <p:nvPr/>
        </p:nvSpPr>
        <p:spPr>
          <a:xfrm>
            <a:off x="762000" y="1397000"/>
            <a:ext cx="1524000" cy="381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6DF659F5-1ADA-6742-B99F-5C10420A1A24}"/>
              </a:ext>
            </a:extLst>
          </p:cNvPr>
          <p:cNvSpPr/>
          <p:nvPr/>
        </p:nvSpPr>
        <p:spPr>
          <a:xfrm>
            <a:off x="762000" y="1625600"/>
            <a:ext cx="5334000" cy="20955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16B8A6B0-21FF-3A46-B537-9CC35954AD7C}"/>
              </a:ext>
            </a:extLst>
          </p:cNvPr>
          <p:cNvSpPr/>
          <p:nvPr/>
        </p:nvSpPr>
        <p:spPr>
          <a:xfrm>
            <a:off x="952500" y="1727200"/>
            <a:ext cx="457200" cy="457200"/>
          </a:xfrm>
          <a:prstGeom prst="ellipse">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Arial"/>
                <a:cs typeface="Arial"/>
              </a:rPr>
              <a:t>!</a:t>
            </a:r>
          </a:p>
        </p:txBody>
      </p:sp>
      <p:sp>
        <p:nvSpPr>
          <p:cNvPr id="10" name="TextBox 9">
            <a:extLst>
              <a:ext uri="{FF2B5EF4-FFF2-40B4-BE49-F238E27FC236}">
                <a16:creationId xmlns:a16="http://schemas.microsoft.com/office/drawing/2014/main" id="{8A30834D-F542-CE4B-9D5A-AE40FA66D9C4}"/>
              </a:ext>
            </a:extLst>
          </p:cNvPr>
          <p:cNvSpPr txBox="1"/>
          <p:nvPr/>
        </p:nvSpPr>
        <p:spPr>
          <a:xfrm>
            <a:off x="1524000" y="1803400"/>
            <a:ext cx="4381500" cy="304800"/>
          </a:xfrm>
          <a:prstGeom prst="rect">
            <a:avLst/>
          </a:prstGeom>
          <a:noFill/>
        </p:spPr>
        <p:txBody>
          <a:bodyPr vertOverflow="overflow" vert="horz" wrap="square" rtlCol="0" anchor="t">
            <a:noAutofit/>
          </a:bodyPr>
          <a:lstStyle/>
          <a:p>
            <a:pPr algn="l"/>
            <a:r>
              <a:rPr lang="en-US" sz="1600" b="1" dirty="0">
                <a:solidFill>
                  <a:srgbClr val="110057"/>
                </a:solidFill>
                <a:latin typeface="Arial"/>
                <a:cs typeface="Arial"/>
              </a:rPr>
              <a:t>Overlooked: A paradigm gap</a:t>
            </a:r>
          </a:p>
        </p:txBody>
      </p:sp>
      <p:sp>
        <p:nvSpPr>
          <p:cNvPr id="11" name="TextBox 10">
            <a:extLst>
              <a:ext uri="{FF2B5EF4-FFF2-40B4-BE49-F238E27FC236}">
                <a16:creationId xmlns:a16="http://schemas.microsoft.com/office/drawing/2014/main" id="{09E501C9-150D-0848-91A6-4320CBB71D41}"/>
              </a:ext>
            </a:extLst>
          </p:cNvPr>
          <p:cNvSpPr txBox="1"/>
          <p:nvPr/>
        </p:nvSpPr>
        <p:spPr>
          <a:xfrm>
            <a:off x="952500" y="2260600"/>
            <a:ext cx="4953000" cy="1169551"/>
          </a:xfrm>
          <a:prstGeom prst="rect">
            <a:avLst/>
          </a:prstGeom>
          <a:noFill/>
        </p:spPr>
        <p:txBody>
          <a:bodyPr vertOverflow="overflow" vert="horz" wrap="square" rtlCol="0" anchor="t">
            <a:spAutoFit/>
          </a:bodyPr>
          <a:lstStyle/>
          <a:p>
            <a:pPr marL="0" indent="0" algn="l">
              <a:buNone/>
            </a:pPr>
            <a:r>
              <a:rPr lang="en-US" sz="1400" dirty="0">
                <a:solidFill>
                  <a:srgbClr val="3D2460"/>
                </a:solidFill>
                <a:latin typeface="Arial"/>
                <a:cs typeface="Arial"/>
              </a:rPr>
              <a:t>Patients arrive undifferentiated — guidelines can't help.</a:t>
            </a:r>
          </a:p>
          <a:p>
            <a:pPr marL="171450" indent="-171450" algn="l">
              <a:buFont typeface="Arial"/>
              <a:buChar char="•"/>
            </a:pPr>
            <a:r>
              <a:rPr lang="en-US" sz="1400" b="1" dirty="0">
                <a:solidFill>
                  <a:srgbClr val="4A00E2"/>
                </a:solidFill>
                <a:latin typeface="Arial"/>
                <a:cs typeface="Arial"/>
              </a:rPr>
              <a:t>Only 31% PFTs, 21% sleep testing</a:t>
            </a:r>
            <a:r>
              <a:rPr lang="en-US" sz="1400" dirty="0">
                <a:solidFill>
                  <a:srgbClr val="6B5B8A"/>
                </a:solidFill>
                <a:latin typeface="Arial"/>
                <a:cs typeface="Arial"/>
              </a:rPr>
              <a:t> in 5 yrs pre-diagnosis</a:t>
            </a:r>
          </a:p>
          <a:p>
            <a:pPr marL="171450" indent="-171450" algn="l">
              <a:buFont typeface="Arial"/>
              <a:buChar char="•"/>
            </a:pPr>
            <a:r>
              <a:rPr lang="en-US" sz="1400" dirty="0">
                <a:solidFill>
                  <a:srgbClr val="6B5B8A"/>
                </a:solidFill>
                <a:latin typeface="Arial"/>
                <a:cs typeface="Arial"/>
              </a:rPr>
              <a:t>CPGs address single diseases — not undifferentiated patients</a:t>
            </a:r>
          </a:p>
          <a:p>
            <a:pPr marL="171450" indent="-171450" algn="l">
              <a:buFont typeface="Arial"/>
              <a:buChar char="•"/>
            </a:pPr>
            <a:r>
              <a:rPr lang="en-US" sz="1400" dirty="0">
                <a:solidFill>
                  <a:srgbClr val="6B5B8A"/>
                </a:solidFill>
                <a:latin typeface="Arial"/>
                <a:cs typeface="Arial"/>
              </a:rPr>
              <a:t>These patients fall outside existing evidence</a:t>
            </a:r>
          </a:p>
        </p:txBody>
      </p:sp>
      <p:sp>
        <p:nvSpPr>
          <p:cNvPr id="12" name="Rounded Rectangle 11">
            <a:extLst>
              <a:ext uri="{FF2B5EF4-FFF2-40B4-BE49-F238E27FC236}">
                <a16:creationId xmlns:a16="http://schemas.microsoft.com/office/drawing/2014/main" id="{29DEE9E4-B0DE-6649-B2A1-D316474EBD85}"/>
              </a:ext>
            </a:extLst>
          </p:cNvPr>
          <p:cNvSpPr/>
          <p:nvPr/>
        </p:nvSpPr>
        <p:spPr>
          <a:xfrm>
            <a:off x="6350000" y="1625600"/>
            <a:ext cx="5334000" cy="2095500"/>
          </a:xfrm>
          <a:prstGeom prst="round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DE43CF9D-2C93-D241-AAFE-B88B60261940}"/>
              </a:ext>
            </a:extLst>
          </p:cNvPr>
          <p:cNvSpPr/>
          <p:nvPr/>
        </p:nvSpPr>
        <p:spPr>
          <a:xfrm>
            <a:off x="6540500" y="1727200"/>
            <a:ext cx="457200" cy="457200"/>
          </a:xfrm>
          <a:prstGeom prst="ellipse">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Arial"/>
                <a:cs typeface="Arial"/>
              </a:rPr>
              <a:t>↑</a:t>
            </a:r>
          </a:p>
        </p:txBody>
      </p:sp>
      <p:sp>
        <p:nvSpPr>
          <p:cNvPr id="14" name="TextBox 13">
            <a:extLst>
              <a:ext uri="{FF2B5EF4-FFF2-40B4-BE49-F238E27FC236}">
                <a16:creationId xmlns:a16="http://schemas.microsoft.com/office/drawing/2014/main" id="{E5867782-E019-BA48-B048-E7675AD19BA8}"/>
              </a:ext>
            </a:extLst>
          </p:cNvPr>
          <p:cNvSpPr txBox="1"/>
          <p:nvPr/>
        </p:nvSpPr>
        <p:spPr>
          <a:xfrm>
            <a:off x="7112000" y="1803400"/>
            <a:ext cx="4381500" cy="304800"/>
          </a:xfrm>
          <a:prstGeom prst="rect">
            <a:avLst/>
          </a:prstGeom>
          <a:noFill/>
        </p:spPr>
        <p:txBody>
          <a:bodyPr vertOverflow="overflow" vert="horz" wrap="square" rtlCol="0" anchor="t">
            <a:noAutofit/>
          </a:bodyPr>
          <a:lstStyle/>
          <a:p>
            <a:pPr algn="l"/>
            <a:r>
              <a:rPr lang="en-US" sz="1600" b="1" dirty="0">
                <a:solidFill>
                  <a:srgbClr val="110057"/>
                </a:solidFill>
                <a:latin typeface="Arial"/>
                <a:cs typeface="Arial"/>
              </a:rPr>
              <a:t>Solvable: Missing the window</a:t>
            </a:r>
          </a:p>
        </p:txBody>
      </p:sp>
      <p:sp>
        <p:nvSpPr>
          <p:cNvPr id="15" name="TextBox 14">
            <a:extLst>
              <a:ext uri="{FF2B5EF4-FFF2-40B4-BE49-F238E27FC236}">
                <a16:creationId xmlns:a16="http://schemas.microsoft.com/office/drawing/2014/main" id="{1807881C-27E6-DF43-B36E-9450509CB0D9}"/>
              </a:ext>
            </a:extLst>
          </p:cNvPr>
          <p:cNvSpPr txBox="1"/>
          <p:nvPr/>
        </p:nvSpPr>
        <p:spPr>
          <a:xfrm>
            <a:off x="6540500" y="2260600"/>
            <a:ext cx="4889500" cy="1169550"/>
          </a:xfrm>
          <a:prstGeom prst="rect">
            <a:avLst/>
          </a:prstGeom>
          <a:noFill/>
        </p:spPr>
        <p:txBody>
          <a:bodyPr vertOverflow="overflow" vert="horz" wrap="square" rtlCol="0" anchor="t">
            <a:spAutoFit/>
          </a:bodyPr>
          <a:lstStyle/>
          <a:p>
            <a:pPr marL="0" indent="0" algn="l">
              <a:buNone/>
            </a:pPr>
            <a:r>
              <a:rPr lang="en-US" sz="1400" dirty="0">
                <a:solidFill>
                  <a:srgbClr val="3D2460"/>
                </a:solidFill>
                <a:latin typeface="Arial"/>
                <a:cs typeface="Arial"/>
              </a:rPr>
              <a:t>Low testing implies low management — patients are being missed.</a:t>
            </a:r>
          </a:p>
          <a:p>
            <a:pPr marL="171450" indent="-171450" algn="l">
              <a:buFont typeface="Arial"/>
              <a:buChar char="•"/>
            </a:pPr>
            <a:r>
              <a:rPr lang="en-US" sz="1400" b="1" dirty="0">
                <a:solidFill>
                  <a:srgbClr val="4A00E2"/>
                </a:solidFill>
                <a:latin typeface="Arial"/>
                <a:cs typeface="Arial"/>
              </a:rPr>
              <a:t>~15% PFTs, ~10% sleep testing</a:t>
            </a:r>
            <a:r>
              <a:rPr lang="en-US" sz="1400" dirty="0">
                <a:solidFill>
                  <a:srgbClr val="6B5B8A"/>
                </a:solidFill>
                <a:latin typeface="Arial"/>
                <a:cs typeface="Arial"/>
              </a:rPr>
              <a:t> in 1 yr after</a:t>
            </a:r>
          </a:p>
          <a:p>
            <a:pPr marL="171450" indent="-171450" algn="l">
              <a:buFont typeface="Arial"/>
              <a:buChar char="•"/>
            </a:pPr>
            <a:r>
              <a:rPr lang="en-US" sz="1400" dirty="0">
                <a:solidFill>
                  <a:srgbClr val="6B5B8A"/>
                </a:solidFill>
                <a:latin typeface="Arial"/>
                <a:cs typeface="Arial"/>
              </a:rPr>
              <a:t>Discharge handoffs are complicated and error-prone</a:t>
            </a:r>
          </a:p>
          <a:p>
            <a:pPr marL="171450" indent="-171450" algn="l">
              <a:buFont typeface="Arial"/>
              <a:buChar char="•"/>
            </a:pPr>
            <a:r>
              <a:rPr lang="en-US" sz="1400" dirty="0">
                <a:solidFill>
                  <a:srgbClr val="6B5B8A"/>
                </a:solidFill>
                <a:latin typeface="Arial"/>
                <a:cs typeface="Arial"/>
              </a:rPr>
              <a:t>Many who might benefit are simply never evaluated</a:t>
            </a:r>
          </a:p>
        </p:txBody>
      </p:sp>
      <p:sp>
        <p:nvSpPr>
          <p:cNvPr id="16" name="Rounded Rectangle 15">
            <a:extLst>
              <a:ext uri="{FF2B5EF4-FFF2-40B4-BE49-F238E27FC236}">
                <a16:creationId xmlns:a16="http://schemas.microsoft.com/office/drawing/2014/main" id="{8ADAC05E-829A-FE44-80D7-74790776A538}"/>
              </a:ext>
            </a:extLst>
          </p:cNvPr>
          <p:cNvSpPr/>
          <p:nvPr/>
        </p:nvSpPr>
        <p:spPr>
          <a:xfrm>
            <a:off x="762000" y="3811150"/>
            <a:ext cx="10922000" cy="7620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673878B3-C7D1-E94B-BFCF-0782802925D2}"/>
              </a:ext>
            </a:extLst>
          </p:cNvPr>
          <p:cNvSpPr txBox="1"/>
          <p:nvPr/>
        </p:nvSpPr>
        <p:spPr>
          <a:xfrm>
            <a:off x="952500" y="3912750"/>
            <a:ext cx="10541000" cy="307777"/>
          </a:xfrm>
          <a:prstGeom prst="rect">
            <a:avLst/>
          </a:prstGeom>
          <a:noFill/>
        </p:spPr>
        <p:txBody>
          <a:bodyPr vertOverflow="overflow" vert="horz" wrap="square" rtlCol="0" anchor="t">
            <a:spAutoFit/>
          </a:bodyPr>
          <a:lstStyle/>
          <a:p>
            <a:pPr algn="l"/>
            <a:r>
              <a:rPr lang="en-US" sz="1400" b="1" dirty="0">
                <a:solidFill>
                  <a:srgbClr val="FFFFFF"/>
                </a:solidFill>
                <a:latin typeface="Arial"/>
                <a:cs typeface="Arial"/>
              </a:rPr>
              <a:t>Utah (n = 14,876):  </a:t>
            </a:r>
            <a:r>
              <a:rPr lang="en-US" sz="1400" dirty="0">
                <a:solidFill>
                  <a:srgbClr val="E8E0F5"/>
                </a:solidFill>
                <a:latin typeface="Arial"/>
                <a:cs typeface="Arial"/>
              </a:rPr>
              <a:t>TTE ~50–63% vs. PFT/sleep ~10–31% — gap is specific to outpatient workup</a:t>
            </a:r>
          </a:p>
        </p:txBody>
      </p:sp>
      <p:sp>
        <p:nvSpPr>
          <p:cNvPr id="18" name="TextBox 17">
            <a:extLst>
              <a:ext uri="{FF2B5EF4-FFF2-40B4-BE49-F238E27FC236}">
                <a16:creationId xmlns:a16="http://schemas.microsoft.com/office/drawing/2014/main" id="{89F4C1D5-4FF1-704D-9555-37ED0213F5C8}"/>
              </a:ext>
            </a:extLst>
          </p:cNvPr>
          <p:cNvSpPr txBox="1"/>
          <p:nvPr/>
        </p:nvSpPr>
        <p:spPr>
          <a:xfrm>
            <a:off x="762000" y="4725550"/>
            <a:ext cx="10160000" cy="279400"/>
          </a:xfrm>
          <a:prstGeom prst="rect">
            <a:avLst/>
          </a:prstGeom>
          <a:noFill/>
        </p:spPr>
        <p:txBody>
          <a:bodyPr vertOverflow="overflow" vert="horz" wrap="square" rtlCol="0" anchor="t">
            <a:noAutofit/>
          </a:bodyPr>
          <a:lstStyle/>
          <a:p>
            <a:pPr algn="l"/>
            <a:r>
              <a:rPr lang="en-US" sz="1400" i="1" dirty="0">
                <a:solidFill>
                  <a:srgbClr val="8A8A8A"/>
                </a:solidFill>
                <a:latin typeface="Arial"/>
                <a:cs typeface="Arial"/>
              </a:rPr>
              <a:t>Locke et al., ATS 2025 — Utah APCD + Health Facilities Database, 2015–2019</a:t>
            </a:r>
          </a:p>
        </p:txBody>
      </p:sp>
    </p:spTree>
    <p:extLst>
      <p:ext uri="{BB962C8B-B14F-4D97-AF65-F5344CB8AC3E}">
        <p14:creationId xmlns:p14="http://schemas.microsoft.com/office/powerpoint/2010/main" val="60517536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207EE28-7687-BB42-B56A-B7DF4636A01C}"/>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2224CDB2-AD36-CB47-8D37-75AB2DB57ECD}"/>
              </a:ext>
            </a:extLst>
          </p:cNvPr>
          <p:cNvSpPr txBox="1"/>
          <p:nvPr/>
        </p:nvSpPr>
        <p:spPr>
          <a:xfrm>
            <a:off x="762000" y="254000"/>
            <a:ext cx="6350000" cy="279400"/>
          </a:xfrm>
          <a:prstGeom prst="rect">
            <a:avLst/>
          </a:prstGeom>
          <a:noFill/>
        </p:spPr>
        <p:txBody>
          <a:bodyPr vertOverflow="overflow" vert="horz" wrap="square" rtlCol="0" anchor="t">
            <a:spAutoFit/>
          </a:bodyPr>
          <a:lstStyle/>
          <a:p>
            <a:pPr algn="l"/>
            <a:r>
              <a:rPr lang="en-US" sz="1400" b="1">
                <a:solidFill>
                  <a:srgbClr val="6B5B8A"/>
                </a:solidFill>
                <a:latin typeface="Arial"/>
                <a:cs typeface="Arial"/>
              </a:rPr>
              <a:t>Chronic Respiratory Failure Clinic</a:t>
            </a:r>
          </a:p>
        </p:txBody>
      </p:sp>
      <p:sp>
        <p:nvSpPr>
          <p:cNvPr id="20" name="TextBox 19">
            <a:extLst>
              <a:ext uri="{FF2B5EF4-FFF2-40B4-BE49-F238E27FC236}">
                <a16:creationId xmlns:a16="http://schemas.microsoft.com/office/drawing/2014/main" id="{979D432E-07DD-E84A-9BE1-B0E3254889CD}"/>
              </a:ext>
            </a:extLst>
          </p:cNvPr>
          <p:cNvSpPr txBox="1"/>
          <p:nvPr/>
        </p:nvSpPr>
        <p:spPr>
          <a:xfrm>
            <a:off x="762000" y="558800"/>
            <a:ext cx="10668000" cy="457200"/>
          </a:xfrm>
          <a:prstGeom prst="rect">
            <a:avLst/>
          </a:prstGeom>
          <a:noFill/>
        </p:spPr>
        <p:txBody>
          <a:bodyPr vertOverflow="overflow" vert="horz" wrap="square" rtlCol="0" anchor="t">
            <a:spAutoFit/>
          </a:bodyPr>
          <a:lstStyle/>
          <a:p>
            <a:pPr algn="l"/>
            <a:r>
              <a:rPr lang="en-US" sz="2200" b="1">
                <a:solidFill>
                  <a:srgbClr val="110057"/>
                </a:solidFill>
                <a:latin typeface="Arial"/>
                <a:cs typeface="Arial"/>
              </a:rPr>
              <a:t>A new clinic to simplify care and generate evidence</a:t>
            </a:r>
          </a:p>
        </p:txBody>
      </p:sp>
      <p:sp>
        <p:nvSpPr>
          <p:cNvPr id="21" name="TextBox 20">
            <a:extLst>
              <a:ext uri="{FF2B5EF4-FFF2-40B4-BE49-F238E27FC236}">
                <a16:creationId xmlns:a16="http://schemas.microsoft.com/office/drawing/2014/main" id="{C51033A4-4D63-7B46-92B6-D373486466AE}"/>
              </a:ext>
            </a:extLst>
          </p:cNvPr>
          <p:cNvSpPr txBox="1"/>
          <p:nvPr/>
        </p:nvSpPr>
        <p:spPr>
          <a:xfrm>
            <a:off x="762000" y="1041400"/>
            <a:ext cx="10668000" cy="254000"/>
          </a:xfrm>
          <a:prstGeom prst="rect">
            <a:avLst/>
          </a:prstGeom>
          <a:noFill/>
        </p:spPr>
        <p:txBody>
          <a:bodyPr vertOverflow="overflow" vert="horz" wrap="square" rtlCol="0" anchor="t">
            <a:spAutoFit/>
          </a:bodyPr>
          <a:lstStyle/>
          <a:p>
            <a:pPr algn="l"/>
            <a:r>
              <a:rPr lang="en-US" sz="1400" dirty="0">
                <a:solidFill>
                  <a:srgbClr val="6B5B8A"/>
                </a:solidFill>
                <a:latin typeface="Arial"/>
                <a:cs typeface="Arial"/>
              </a:rPr>
              <a:t>Schmidt Chest Clinic at IMED  |  New subspecialty clinic  |  Pulmonary disease navigators + dedicated providers</a:t>
            </a:r>
          </a:p>
        </p:txBody>
      </p:sp>
      <p:sp>
        <p:nvSpPr>
          <p:cNvPr id="22" name="Oval 21">
            <a:extLst>
              <a:ext uri="{FF2B5EF4-FFF2-40B4-BE49-F238E27FC236}">
                <a16:creationId xmlns:a16="http://schemas.microsoft.com/office/drawing/2014/main" id="{F90EA9FD-A49A-5B48-885D-F2952EBF03C4}"/>
              </a:ext>
            </a:extLst>
          </p:cNvPr>
          <p:cNvSpPr/>
          <p:nvPr/>
        </p:nvSpPr>
        <p:spPr>
          <a:xfrm>
            <a:off x="1841500" y="1714500"/>
            <a:ext cx="1524000" cy="1524000"/>
          </a:xfrm>
          <a:prstGeom prst="ellipse">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Arial"/>
                <a:cs typeface="Arial"/>
              </a:rPr>
              <a:t>Identify</a:t>
            </a:r>
          </a:p>
        </p:txBody>
      </p:sp>
      <p:sp>
        <p:nvSpPr>
          <p:cNvPr id="23" name="Right Arrow 22">
            <a:extLst>
              <a:ext uri="{FF2B5EF4-FFF2-40B4-BE49-F238E27FC236}">
                <a16:creationId xmlns:a16="http://schemas.microsoft.com/office/drawing/2014/main" id="{34982F1C-CFF3-3549-A75E-5DB1B2DD22A0}"/>
              </a:ext>
            </a:extLst>
          </p:cNvPr>
          <p:cNvSpPr/>
          <p:nvPr/>
        </p:nvSpPr>
        <p:spPr>
          <a:xfrm>
            <a:off x="3467100" y="2311400"/>
            <a:ext cx="1701800" cy="330200"/>
          </a:xfrm>
          <a:prstGeom prst="rightArrow">
            <a:avLst/>
          </a:prstGeom>
          <a:solidFill>
            <a:srgbClr val="D4C8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0DF58A40-A8D6-614E-A89E-E08B4A8D777E}"/>
              </a:ext>
            </a:extLst>
          </p:cNvPr>
          <p:cNvSpPr txBox="1"/>
          <p:nvPr/>
        </p:nvSpPr>
        <p:spPr>
          <a:xfrm>
            <a:off x="1397000" y="3365500"/>
            <a:ext cx="2413000" cy="1016000"/>
          </a:xfrm>
          <a:prstGeom prst="rect">
            <a:avLst/>
          </a:prstGeom>
          <a:noFill/>
          <a:ln>
            <a:noFill/>
          </a:ln>
        </p:spPr>
        <p:txBody>
          <a:bodyPr vertOverflow="overflow" vert="horz" wrap="square" rtlCol="0" anchor="t">
            <a:spAutoFit/>
          </a:bodyPr>
          <a:lstStyle/>
          <a:p>
            <a:pPr algn="ctr"/>
            <a:r>
              <a:rPr lang="en-US" sz="1400" dirty="0">
                <a:solidFill>
                  <a:srgbClr val="110057"/>
                </a:solidFill>
                <a:latin typeface="Arial"/>
                <a:cs typeface="Arial"/>
              </a:rPr>
              <a:t>Word of mouth and inpatient RT today; criteria-based as evidence develops</a:t>
            </a:r>
          </a:p>
        </p:txBody>
      </p:sp>
      <p:sp>
        <p:nvSpPr>
          <p:cNvPr id="25" name="Oval 24">
            <a:extLst>
              <a:ext uri="{FF2B5EF4-FFF2-40B4-BE49-F238E27FC236}">
                <a16:creationId xmlns:a16="http://schemas.microsoft.com/office/drawing/2014/main" id="{C245083A-9DD4-CD43-B799-C724AC750C33}"/>
              </a:ext>
            </a:extLst>
          </p:cNvPr>
          <p:cNvSpPr/>
          <p:nvPr/>
        </p:nvSpPr>
        <p:spPr>
          <a:xfrm>
            <a:off x="5270500" y="1714500"/>
            <a:ext cx="1524000" cy="1524000"/>
          </a:xfrm>
          <a:prstGeom prst="ellipse">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Arial"/>
                <a:cs typeface="Arial"/>
              </a:rPr>
              <a:t>Navigate</a:t>
            </a:r>
          </a:p>
        </p:txBody>
      </p:sp>
      <p:sp>
        <p:nvSpPr>
          <p:cNvPr id="26" name="Right Arrow 25">
            <a:extLst>
              <a:ext uri="{FF2B5EF4-FFF2-40B4-BE49-F238E27FC236}">
                <a16:creationId xmlns:a16="http://schemas.microsoft.com/office/drawing/2014/main" id="{16A9B17F-38C9-DF43-A710-22F39450465E}"/>
              </a:ext>
            </a:extLst>
          </p:cNvPr>
          <p:cNvSpPr/>
          <p:nvPr/>
        </p:nvSpPr>
        <p:spPr>
          <a:xfrm>
            <a:off x="6896100" y="2311400"/>
            <a:ext cx="1701800" cy="330200"/>
          </a:xfrm>
          <a:prstGeom prst="rightArrow">
            <a:avLst/>
          </a:prstGeom>
          <a:solidFill>
            <a:srgbClr val="D4C8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F496A741-48F7-8140-B78F-334F2211FA80}"/>
              </a:ext>
            </a:extLst>
          </p:cNvPr>
          <p:cNvSpPr txBox="1"/>
          <p:nvPr/>
        </p:nvSpPr>
        <p:spPr>
          <a:xfrm>
            <a:off x="4826000" y="3365500"/>
            <a:ext cx="2413000" cy="1016000"/>
          </a:xfrm>
          <a:prstGeom prst="rect">
            <a:avLst/>
          </a:prstGeom>
          <a:noFill/>
          <a:ln>
            <a:noFill/>
          </a:ln>
        </p:spPr>
        <p:txBody>
          <a:bodyPr vertOverflow="overflow" vert="horz" wrap="square" rtlCol="0" anchor="t">
            <a:spAutoFit/>
          </a:bodyPr>
          <a:lstStyle/>
          <a:p>
            <a:pPr algn="ctr"/>
            <a:r>
              <a:rPr lang="en-US" sz="1400" dirty="0">
                <a:solidFill>
                  <a:srgbClr val="110057"/>
                </a:solidFill>
                <a:latin typeface="Arial"/>
                <a:cs typeface="Arial"/>
              </a:rPr>
              <a:t>PDNs, Dr. Locke, and G. Norton handle equipment, triage, and referrals</a:t>
            </a:r>
          </a:p>
        </p:txBody>
      </p:sp>
      <p:sp>
        <p:nvSpPr>
          <p:cNvPr id="28" name="Oval 27">
            <a:extLst>
              <a:ext uri="{FF2B5EF4-FFF2-40B4-BE49-F238E27FC236}">
                <a16:creationId xmlns:a16="http://schemas.microsoft.com/office/drawing/2014/main" id="{AD8B5CD0-3B6C-8540-ACD0-DE8E18832C77}"/>
              </a:ext>
            </a:extLst>
          </p:cNvPr>
          <p:cNvSpPr/>
          <p:nvPr/>
        </p:nvSpPr>
        <p:spPr>
          <a:xfrm>
            <a:off x="8699500" y="1714500"/>
            <a:ext cx="1524000" cy="1524000"/>
          </a:xfrm>
          <a:prstGeom prst="ellipse">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Evaluate
&amp; Manage</a:t>
            </a:r>
          </a:p>
        </p:txBody>
      </p:sp>
      <p:sp>
        <p:nvSpPr>
          <p:cNvPr id="29" name="TextBox 28">
            <a:extLst>
              <a:ext uri="{FF2B5EF4-FFF2-40B4-BE49-F238E27FC236}">
                <a16:creationId xmlns:a16="http://schemas.microsoft.com/office/drawing/2014/main" id="{4014E0C2-5720-2447-B2A4-D1BBC8C837E8}"/>
              </a:ext>
            </a:extLst>
          </p:cNvPr>
          <p:cNvSpPr txBox="1"/>
          <p:nvPr/>
        </p:nvSpPr>
        <p:spPr>
          <a:xfrm>
            <a:off x="8255000" y="3365500"/>
            <a:ext cx="2413000" cy="1016000"/>
          </a:xfrm>
          <a:prstGeom prst="rect">
            <a:avLst/>
          </a:prstGeom>
          <a:noFill/>
          <a:ln>
            <a:noFill/>
          </a:ln>
        </p:spPr>
        <p:txBody>
          <a:bodyPr vertOverflow="overflow" vert="horz" wrap="square" rtlCol="0" anchor="t">
            <a:spAutoFit/>
          </a:bodyPr>
          <a:lstStyle/>
          <a:p>
            <a:pPr algn="ctr"/>
            <a:r>
              <a:rPr lang="en-US" sz="1400" dirty="0">
                <a:solidFill>
                  <a:srgbClr val="110057"/>
                </a:solidFill>
                <a:latin typeface="Arial"/>
                <a:cs typeface="Arial"/>
              </a:rPr>
              <a:t>Structured workup with a clear point of contact for post-discharge issues</a:t>
            </a:r>
          </a:p>
        </p:txBody>
      </p:sp>
      <p:sp>
        <p:nvSpPr>
          <p:cNvPr id="2" name="Rectangle 1">
            <a:extLst>
              <a:ext uri="{FF2B5EF4-FFF2-40B4-BE49-F238E27FC236}">
                <a16:creationId xmlns:a16="http://schemas.microsoft.com/office/drawing/2014/main" id="{3D2A8E77-4F92-344A-8A27-61F9E52E1AEB}"/>
              </a:ext>
            </a:extLst>
          </p:cNvPr>
          <p:cNvSpPr/>
          <p:nvPr/>
        </p:nvSpPr>
        <p:spPr>
          <a:xfrm>
            <a:off x="762000" y="4699000"/>
            <a:ext cx="10668000" cy="19050"/>
          </a:xfrm>
          <a:prstGeom prst="rect">
            <a:avLst/>
          </a:prstGeom>
          <a:solidFill>
            <a:srgbClr val="D4C8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9B713583-D8BA-E345-A059-624E6769CD6E}"/>
              </a:ext>
            </a:extLst>
          </p:cNvPr>
          <p:cNvSpPr txBox="1"/>
          <p:nvPr/>
        </p:nvSpPr>
        <p:spPr>
          <a:xfrm>
            <a:off x="762000" y="4826000"/>
            <a:ext cx="10668000" cy="558800"/>
          </a:xfrm>
          <a:prstGeom prst="rect">
            <a:avLst/>
          </a:prstGeom>
          <a:noFill/>
        </p:spPr>
        <p:txBody>
          <a:bodyPr vertOverflow="overflow" vert="horz" wrap="square" rtlCol="0" anchor="t">
            <a:noAutofit/>
          </a:bodyPr>
          <a:lstStyle/>
          <a:p>
            <a:pPr algn="l">
              <a:spcAft>
                <a:spcPts val="200"/>
              </a:spcAft>
              <a:buNone/>
            </a:pPr>
            <a:r>
              <a:rPr lang="en-US" sz="1400" dirty="0">
                <a:solidFill>
                  <a:srgbClr val="4A3D6B"/>
                </a:solidFill>
                <a:latin typeface="Arial"/>
                <a:cs typeface="Arial"/>
              </a:rPr>
              <a:t>Consolidates scattered care: including post-discharge device qualification that currently has no clear ownership pathway</a:t>
            </a:r>
          </a:p>
          <a:p>
            <a:pPr algn="l">
              <a:buNone/>
            </a:pPr>
            <a:r>
              <a:rPr lang="en-US" sz="1400" dirty="0">
                <a:solidFill>
                  <a:srgbClr val="6B5B8A"/>
                </a:solidFill>
                <a:latin typeface="Arial"/>
                <a:cs typeface="Arial"/>
              </a:rPr>
              <a:t>Payer-linked data lets us measure whether it works and what it costs</a:t>
            </a:r>
          </a:p>
        </p:txBody>
      </p:sp>
    </p:spTree>
    <p:extLst>
      <p:ext uri="{BB962C8B-B14F-4D97-AF65-F5344CB8AC3E}">
        <p14:creationId xmlns:p14="http://schemas.microsoft.com/office/powerpoint/2010/main" val="1338410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25D41C3-0AB3-2540-8871-287B11E54351}"/>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ounded Rectangle 1">
            <a:extLst>
              <a:ext uri="{FF2B5EF4-FFF2-40B4-BE49-F238E27FC236}">
                <a16:creationId xmlns:a16="http://schemas.microsoft.com/office/drawing/2014/main" id="{1E37E7F6-D6BD-DA49-9103-38D87A94C0B5}"/>
              </a:ext>
            </a:extLst>
          </p:cNvPr>
          <p:cNvSpPr/>
          <p:nvPr/>
        </p:nvSpPr>
        <p:spPr>
          <a:xfrm>
            <a:off x="558800" y="1270000"/>
            <a:ext cx="11074400" cy="3581400"/>
          </a:xfrm>
          <a:prstGeom prst="roundRect">
            <a:avLst/>
          </a:prstGeom>
          <a:noFill/>
          <a:ln w="12700" cap="flat" cmpd="sng" algn="ctr">
            <a:solidFill>
              <a:srgbClr val="C4B5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4E069D41-D49C-D94B-B262-CE9030CB4764}"/>
              </a:ext>
            </a:extLst>
          </p:cNvPr>
          <p:cNvSpPr txBox="1"/>
          <p:nvPr/>
        </p:nvSpPr>
        <p:spPr>
          <a:xfrm>
            <a:off x="762000" y="279400"/>
            <a:ext cx="3810000" cy="279400"/>
          </a:xfrm>
          <a:prstGeom prst="rect">
            <a:avLst/>
          </a:prstGeom>
          <a:noFill/>
        </p:spPr>
        <p:txBody>
          <a:bodyPr vertOverflow="overflow" vert="horz" wrap="square" rtlCol="0" anchor="t">
            <a:spAutoFit/>
          </a:bodyPr>
          <a:lstStyle/>
          <a:p>
            <a:pPr algn="l"/>
            <a:r>
              <a:rPr lang="en-US" sz="1400" b="1" dirty="0">
                <a:solidFill>
                  <a:srgbClr val="6B5B8A"/>
                </a:solidFill>
                <a:latin typeface="Arial"/>
                <a:cs typeface="Arial"/>
              </a:rPr>
              <a:t>PCCM Seed Grant</a:t>
            </a:r>
          </a:p>
        </p:txBody>
      </p:sp>
      <p:sp>
        <p:nvSpPr>
          <p:cNvPr id="5" name="TextBox 4">
            <a:extLst>
              <a:ext uri="{FF2B5EF4-FFF2-40B4-BE49-F238E27FC236}">
                <a16:creationId xmlns:a16="http://schemas.microsoft.com/office/drawing/2014/main" id="{CBB1F9B3-69FD-C04B-9FAE-FC9F08A0221E}"/>
              </a:ext>
            </a:extLst>
          </p:cNvPr>
          <p:cNvSpPr txBox="1"/>
          <p:nvPr/>
        </p:nvSpPr>
        <p:spPr>
          <a:xfrm>
            <a:off x="762000" y="609600"/>
            <a:ext cx="8890000" cy="461665"/>
          </a:xfrm>
          <a:prstGeom prst="rect">
            <a:avLst/>
          </a:prstGeom>
          <a:noFill/>
        </p:spPr>
        <p:txBody>
          <a:bodyPr vertOverflow="overflow" vert="horz" wrap="square" rtlCol="0" anchor="t">
            <a:spAutoFit/>
          </a:bodyPr>
          <a:lstStyle/>
          <a:p>
            <a:pPr algn="l"/>
            <a:r>
              <a:rPr lang="en-US" sz="2400" b="1" dirty="0">
                <a:solidFill>
                  <a:srgbClr val="110057"/>
                </a:solidFill>
                <a:latin typeface="Arial"/>
              </a:rPr>
              <a:t>Two research programs</a:t>
            </a:r>
          </a:p>
        </p:txBody>
      </p:sp>
      <p:sp>
        <p:nvSpPr>
          <p:cNvPr id="25" name="TextBox 24">
            <a:extLst>
              <a:ext uri="{FF2B5EF4-FFF2-40B4-BE49-F238E27FC236}">
                <a16:creationId xmlns:a16="http://schemas.microsoft.com/office/drawing/2014/main" id="{A095BB98-7070-164E-A985-BCEF631B138B}"/>
              </a:ext>
            </a:extLst>
          </p:cNvPr>
          <p:cNvSpPr txBox="1"/>
          <p:nvPr/>
        </p:nvSpPr>
        <p:spPr>
          <a:xfrm>
            <a:off x="635000" y="5359400"/>
            <a:ext cx="10922000" cy="304800"/>
          </a:xfrm>
          <a:prstGeom prst="rect">
            <a:avLst/>
          </a:prstGeom>
          <a:noFill/>
        </p:spPr>
        <p:txBody>
          <a:bodyPr vertOverflow="overflow" vert="horz" wrap="square" rtlCol="0" anchor="t">
            <a:spAutoFit/>
          </a:bodyPr>
          <a:lstStyle/>
          <a:p>
            <a:pPr algn="ctr"/>
            <a:r>
              <a:rPr lang="en-US" sz="1400" b="1" dirty="0">
                <a:solidFill>
                  <a:srgbClr val="110057"/>
                </a:solidFill>
                <a:latin typeface="Arial"/>
                <a:cs typeface="Arial"/>
              </a:rPr>
              <a:t>Both programs build toward NHLBI K23 career development award</a:t>
            </a:r>
          </a:p>
        </p:txBody>
      </p:sp>
      <p:sp>
        <p:nvSpPr>
          <p:cNvPr id="7" name="Rounded Rectangle 6">
            <a:extLst>
              <a:ext uri="{FF2B5EF4-FFF2-40B4-BE49-F238E27FC236}">
                <a16:creationId xmlns:a16="http://schemas.microsoft.com/office/drawing/2014/main" id="{D0C72CD6-7030-5241-9DBC-A9B10D5F6DEE}"/>
              </a:ext>
            </a:extLst>
          </p:cNvPr>
          <p:cNvSpPr/>
          <p:nvPr/>
        </p:nvSpPr>
        <p:spPr>
          <a:xfrm>
            <a:off x="736600" y="1447800"/>
            <a:ext cx="5207000" cy="3327400"/>
          </a:xfrm>
          <a:prstGeom prst="roundRect">
            <a:avLst/>
          </a:prstGeom>
          <a:solidFill>
            <a:srgbClr val="FFFFFF"/>
          </a:solidFill>
          <a:ln w="12700" cap="flat" cmpd="sng" algn="ctr">
            <a:solidFill>
              <a:srgbClr val="D4C8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9134CCA2-C349-094A-9FBE-F92E7F599427}"/>
              </a:ext>
            </a:extLst>
          </p:cNvPr>
          <p:cNvSpPr/>
          <p:nvPr/>
        </p:nvSpPr>
        <p:spPr>
          <a:xfrm>
            <a:off x="736600" y="1447800"/>
            <a:ext cx="5207000" cy="635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9525C513-9F8E-AC4E-BABC-80F0D01644A7}"/>
              </a:ext>
            </a:extLst>
          </p:cNvPr>
          <p:cNvSpPr txBox="1"/>
          <p:nvPr/>
        </p:nvSpPr>
        <p:spPr>
          <a:xfrm>
            <a:off x="889000" y="1625600"/>
            <a:ext cx="4902200" cy="381000"/>
          </a:xfrm>
          <a:prstGeom prst="rect">
            <a:avLst/>
          </a:prstGeom>
          <a:noFill/>
        </p:spPr>
        <p:txBody>
          <a:bodyPr vertOverflow="overflow" vert="horz" wrap="square" rtlCol="0" anchor="t">
            <a:spAutoFit/>
          </a:bodyPr>
          <a:lstStyle/>
          <a:p>
            <a:pPr algn="l"/>
            <a:r>
              <a:rPr lang="en-US" sz="2000" b="1" dirty="0">
                <a:solidFill>
                  <a:srgbClr val="110057"/>
                </a:solidFill>
                <a:latin typeface="Arial"/>
              </a:rPr>
              <a:t>AIM-HIGH</a:t>
            </a:r>
          </a:p>
        </p:txBody>
      </p:sp>
      <p:sp>
        <p:nvSpPr>
          <p:cNvPr id="10" name="TextBox 9">
            <a:extLst>
              <a:ext uri="{FF2B5EF4-FFF2-40B4-BE49-F238E27FC236}">
                <a16:creationId xmlns:a16="http://schemas.microsoft.com/office/drawing/2014/main" id="{A98380F3-0F60-7C47-8162-1877171BBE3B}"/>
              </a:ext>
            </a:extLst>
          </p:cNvPr>
          <p:cNvSpPr txBox="1"/>
          <p:nvPr/>
        </p:nvSpPr>
        <p:spPr>
          <a:xfrm>
            <a:off x="889000" y="2006600"/>
            <a:ext cx="4902200" cy="508000"/>
          </a:xfrm>
          <a:prstGeom prst="rect">
            <a:avLst/>
          </a:prstGeom>
          <a:noFill/>
        </p:spPr>
        <p:txBody>
          <a:bodyPr vertOverflow="overflow" vert="horz" wrap="square" rtlCol="0" anchor="t">
            <a:spAutoFit/>
          </a:bodyPr>
          <a:lstStyle/>
          <a:p>
            <a:pPr algn="l"/>
            <a:r>
              <a:rPr lang="en-US" sz="1400" i="1" dirty="0">
                <a:solidFill>
                  <a:srgbClr val="6B5B8A"/>
                </a:solidFill>
                <a:latin typeface="Arial"/>
                <a:cs typeface="Arial"/>
              </a:rPr>
              <a:t>AI for Modifiable Health Indicators in Groups with High Needs</a:t>
            </a:r>
          </a:p>
        </p:txBody>
      </p:sp>
      <p:sp>
        <p:nvSpPr>
          <p:cNvPr id="11" name="TextBox 10">
            <a:extLst>
              <a:ext uri="{FF2B5EF4-FFF2-40B4-BE49-F238E27FC236}">
                <a16:creationId xmlns:a16="http://schemas.microsoft.com/office/drawing/2014/main" id="{17DFFE2E-912B-D048-AF4C-8EDF5E29D232}"/>
              </a:ext>
            </a:extLst>
          </p:cNvPr>
          <p:cNvSpPr txBox="1"/>
          <p:nvPr/>
        </p:nvSpPr>
        <p:spPr>
          <a:xfrm>
            <a:off x="889000" y="2540000"/>
            <a:ext cx="4902200" cy="1785104"/>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Data:</a:t>
            </a:r>
            <a:r>
              <a:rPr lang="en-US" sz="1400" dirty="0">
                <a:solidFill>
                  <a:srgbClr val="3D2460"/>
                </a:solidFill>
                <a:latin typeface="Arial"/>
                <a:cs typeface="Arial"/>
              </a:rPr>
              <a:t>  IH + Select Health linked clinical and claims records</a:t>
            </a:r>
          </a:p>
          <a:p>
            <a:pPr marL="171450" indent="-171450" algn="l">
              <a:buFont typeface="Arial"/>
              <a:buChar char="•"/>
            </a:pPr>
            <a:r>
              <a:rPr lang="en-US" sz="1400" dirty="0">
                <a:solidFill>
                  <a:srgbClr val="3D2460"/>
                </a:solidFill>
                <a:latin typeface="Arial"/>
                <a:cs typeface="Arial"/>
              </a:rPr>
              <a:t>~7,000 cases by ABG/VBG/ICD (2016–2024)</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Goals:</a:t>
            </a:r>
            <a:r>
              <a:rPr lang="en-US" sz="1400" dirty="0">
                <a:solidFill>
                  <a:srgbClr val="3D2460"/>
                </a:solidFill>
                <a:latin typeface="Arial"/>
                <a:cs typeface="Arial"/>
              </a:rPr>
              <a:t>  Risk prediction, economics, ML phenotyping</a:t>
            </a:r>
          </a:p>
          <a:p>
            <a:pPr marL="171450" indent="-171450" algn="l">
              <a:buFont typeface="Arial"/>
              <a:buChar char="•"/>
            </a:pPr>
            <a:r>
              <a:rPr lang="en-US" sz="1400" dirty="0">
                <a:solidFill>
                  <a:srgbClr val="3D2460"/>
                </a:solidFill>
                <a:latin typeface="Arial"/>
                <a:cs typeface="Arial"/>
              </a:rPr>
              <a:t>30-day readmission, 1-yr mortality, cost</a:t>
            </a:r>
          </a:p>
          <a:p>
            <a:pPr marL="171450" indent="-171450" algn="l">
              <a:buFont typeface="Arial"/>
              <a:buChar char="•"/>
            </a:pPr>
            <a:r>
              <a:rPr lang="en-US" sz="1400" dirty="0">
                <a:solidFill>
                  <a:srgbClr val="3D2460"/>
                </a:solidFill>
                <a:latin typeface="Arial"/>
                <a:cs typeface="Arial"/>
              </a:rPr>
              <a:t>High-risk phenotypes for targeted intervention</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Status:</a:t>
            </a:r>
            <a:r>
              <a:rPr lang="en-US" sz="1400" dirty="0">
                <a:solidFill>
                  <a:srgbClr val="3D2460"/>
                </a:solidFill>
                <a:latin typeface="Arial"/>
                <a:cs typeface="Arial"/>
              </a:rPr>
              <a:t>  Data cleaning underway; IH–SH linkage being escalated</a:t>
            </a:r>
          </a:p>
        </p:txBody>
      </p:sp>
      <p:sp>
        <p:nvSpPr>
          <p:cNvPr id="12" name="Rounded Rectangle 11">
            <a:extLst>
              <a:ext uri="{FF2B5EF4-FFF2-40B4-BE49-F238E27FC236}">
                <a16:creationId xmlns:a16="http://schemas.microsoft.com/office/drawing/2014/main" id="{D1FEF60B-B79A-EC46-9BA2-D7F5AA8810A4}"/>
              </a:ext>
            </a:extLst>
          </p:cNvPr>
          <p:cNvSpPr/>
          <p:nvPr/>
        </p:nvSpPr>
        <p:spPr>
          <a:xfrm>
            <a:off x="889000" y="4381500"/>
            <a:ext cx="4902200" cy="3048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ctr"/>
            <a:r>
              <a:rPr lang="en-US" sz="1400" b="1" dirty="0">
                <a:solidFill>
                  <a:srgbClr val="FFFFFF"/>
                </a:solidFill>
                <a:latin typeface="Arial"/>
                <a:cs typeface="Arial"/>
              </a:rPr>
              <a:t>DATA CLEANING • LINKAGE IN PROGRESS</a:t>
            </a:r>
          </a:p>
        </p:txBody>
      </p:sp>
      <p:sp>
        <p:nvSpPr>
          <p:cNvPr id="13" name="Rounded Rectangle 12">
            <a:extLst>
              <a:ext uri="{FF2B5EF4-FFF2-40B4-BE49-F238E27FC236}">
                <a16:creationId xmlns:a16="http://schemas.microsoft.com/office/drawing/2014/main" id="{16B0CE91-B154-C04A-BE1E-35ADB7C7D2A3}"/>
              </a:ext>
            </a:extLst>
          </p:cNvPr>
          <p:cNvSpPr/>
          <p:nvPr/>
        </p:nvSpPr>
        <p:spPr>
          <a:xfrm>
            <a:off x="6248400" y="1447800"/>
            <a:ext cx="5207000" cy="3327400"/>
          </a:xfrm>
          <a:prstGeom prst="roundRect">
            <a:avLst/>
          </a:prstGeom>
          <a:solidFill>
            <a:srgbClr val="FFFFFF"/>
          </a:solidFill>
          <a:ln w="12700" cap="flat" cmpd="sng" algn="ctr">
            <a:solidFill>
              <a:srgbClr val="D4C8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1BD3CB93-1981-F645-A843-9B31CA468A26}"/>
              </a:ext>
            </a:extLst>
          </p:cNvPr>
          <p:cNvSpPr/>
          <p:nvPr/>
        </p:nvSpPr>
        <p:spPr>
          <a:xfrm>
            <a:off x="6248400" y="1447800"/>
            <a:ext cx="5207000" cy="635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7140C1CE-8961-9642-A9A4-9E51D7CF3A7F}"/>
              </a:ext>
            </a:extLst>
          </p:cNvPr>
          <p:cNvSpPr txBox="1"/>
          <p:nvPr/>
        </p:nvSpPr>
        <p:spPr>
          <a:xfrm>
            <a:off x="6400800" y="1625600"/>
            <a:ext cx="4902200" cy="381000"/>
          </a:xfrm>
          <a:prstGeom prst="rect">
            <a:avLst/>
          </a:prstGeom>
          <a:noFill/>
        </p:spPr>
        <p:txBody>
          <a:bodyPr vertOverflow="overflow" vert="horz" wrap="square" rtlCol="0" anchor="t">
            <a:spAutoFit/>
          </a:bodyPr>
          <a:lstStyle/>
          <a:p>
            <a:pPr algn="l"/>
            <a:r>
              <a:rPr lang="en-US" sz="2000" b="1" dirty="0">
                <a:solidFill>
                  <a:srgbClr val="110057"/>
                </a:solidFill>
                <a:latin typeface="Arial"/>
              </a:rPr>
              <a:t>CO₂-PATH</a:t>
            </a:r>
          </a:p>
        </p:txBody>
      </p:sp>
      <p:sp>
        <p:nvSpPr>
          <p:cNvPr id="16" name="TextBox 15">
            <a:extLst>
              <a:ext uri="{FF2B5EF4-FFF2-40B4-BE49-F238E27FC236}">
                <a16:creationId xmlns:a16="http://schemas.microsoft.com/office/drawing/2014/main" id="{DAD5A198-DD8C-414E-88EB-3CB087DE6A3F}"/>
              </a:ext>
            </a:extLst>
          </p:cNvPr>
          <p:cNvSpPr txBox="1"/>
          <p:nvPr/>
        </p:nvSpPr>
        <p:spPr>
          <a:xfrm>
            <a:off x="6400800" y="2006600"/>
            <a:ext cx="4902200" cy="508000"/>
          </a:xfrm>
          <a:prstGeom prst="rect">
            <a:avLst/>
          </a:prstGeom>
          <a:noFill/>
        </p:spPr>
        <p:txBody>
          <a:bodyPr vertOverflow="overflow" vert="horz" wrap="square" rtlCol="0" anchor="t">
            <a:spAutoFit/>
          </a:bodyPr>
          <a:lstStyle/>
          <a:p>
            <a:pPr algn="l"/>
            <a:r>
              <a:rPr lang="en-US" sz="1400" i="1" dirty="0">
                <a:solidFill>
                  <a:srgbClr val="6B5B8A"/>
                </a:solidFill>
                <a:latin typeface="Arial"/>
                <a:cs typeface="Arial"/>
              </a:rPr>
              <a:t>Post-Acute Trajectories of Hypercapnia</a:t>
            </a:r>
          </a:p>
        </p:txBody>
      </p:sp>
      <p:sp>
        <p:nvSpPr>
          <p:cNvPr id="17" name="TextBox 16">
            <a:extLst>
              <a:ext uri="{FF2B5EF4-FFF2-40B4-BE49-F238E27FC236}">
                <a16:creationId xmlns:a16="http://schemas.microsoft.com/office/drawing/2014/main" id="{1B98DE3C-125A-8141-9ED8-E06394F295F6}"/>
              </a:ext>
            </a:extLst>
          </p:cNvPr>
          <p:cNvSpPr txBox="1"/>
          <p:nvPr/>
        </p:nvSpPr>
        <p:spPr>
          <a:xfrm>
            <a:off x="6400800" y="2540000"/>
            <a:ext cx="4902200" cy="1569660"/>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Data:</a:t>
            </a:r>
            <a:r>
              <a:rPr lang="en-US" sz="1400" dirty="0">
                <a:solidFill>
                  <a:srgbClr val="3D2460"/>
                </a:solidFill>
                <a:latin typeface="Arial"/>
                <a:cs typeface="Arial"/>
              </a:rPr>
              <a:t>  Statewide UPDB cohort linking IH + UHealth EDWs</a:t>
            </a:r>
          </a:p>
          <a:p>
            <a:pPr marL="171450" indent="-171450" algn="l">
              <a:buFont typeface="Arial"/>
              <a:buChar char="•"/>
            </a:pPr>
            <a:r>
              <a:rPr lang="en-US" sz="1400" dirty="0">
                <a:solidFill>
                  <a:srgbClr val="3D2460"/>
                </a:solidFill>
                <a:latin typeface="Arial"/>
                <a:cs typeface="Arial"/>
              </a:rPr>
              <a:t>~100K patients across all Utah hospitals</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Goals:</a:t>
            </a:r>
            <a:r>
              <a:rPr lang="en-US" sz="1400" dirty="0">
                <a:solidFill>
                  <a:srgbClr val="3D2460"/>
                </a:solidFill>
                <a:latin typeface="Arial"/>
                <a:cs typeface="Arial"/>
              </a:rPr>
              <a:t>  Post-discharge patterns across facilities</a:t>
            </a:r>
          </a:p>
          <a:p>
            <a:pPr marL="171450" indent="-171450" algn="l">
              <a:buFont typeface="Arial"/>
              <a:buChar char="•"/>
            </a:pPr>
            <a:r>
              <a:rPr lang="en-US" sz="1400" dirty="0">
                <a:solidFill>
                  <a:srgbClr val="3D2460"/>
                </a:solidFill>
                <a:latin typeface="Arial"/>
                <a:cs typeface="Arial"/>
              </a:rPr>
              <a:t>Diagnostic testing rates and facility-level variation</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Status:</a:t>
            </a:r>
            <a:r>
              <a:rPr lang="en-US" sz="1400" dirty="0">
                <a:solidFill>
                  <a:srgbClr val="3D2460"/>
                </a:solidFill>
                <a:latin typeface="Arial"/>
                <a:cs typeface="Arial"/>
              </a:rPr>
              <a:t>  Regulatory authorization complete; data acquisition underway</a:t>
            </a:r>
          </a:p>
        </p:txBody>
      </p:sp>
      <p:sp>
        <p:nvSpPr>
          <p:cNvPr id="18" name="Rounded Rectangle 17">
            <a:extLst>
              <a:ext uri="{FF2B5EF4-FFF2-40B4-BE49-F238E27FC236}">
                <a16:creationId xmlns:a16="http://schemas.microsoft.com/office/drawing/2014/main" id="{18510118-4CA1-894C-9EB9-CCD2FA399A72}"/>
              </a:ext>
            </a:extLst>
          </p:cNvPr>
          <p:cNvSpPr/>
          <p:nvPr/>
        </p:nvSpPr>
        <p:spPr>
          <a:xfrm>
            <a:off x="6400800" y="4381500"/>
            <a:ext cx="4902200" cy="3048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ctr"/>
            <a:r>
              <a:rPr lang="en-US" sz="1400" b="1" dirty="0">
                <a:solidFill>
                  <a:srgbClr val="FFFFFF"/>
                </a:solidFill>
                <a:latin typeface="Arial"/>
                <a:cs typeface="Arial"/>
              </a:rPr>
              <a:t>IRB APPROVED • BEGINNING DATA ACQUISITION</a:t>
            </a:r>
          </a:p>
        </p:txBody>
      </p:sp>
      <p:sp>
        <p:nvSpPr>
          <p:cNvPr id="6" name="Down Arrow 5">
            <a:extLst>
              <a:ext uri="{FF2B5EF4-FFF2-40B4-BE49-F238E27FC236}">
                <a16:creationId xmlns:a16="http://schemas.microsoft.com/office/drawing/2014/main" id="{73149C38-C04C-8E4E-8379-57F3BA9F8876}"/>
              </a:ext>
            </a:extLst>
          </p:cNvPr>
          <p:cNvSpPr/>
          <p:nvPr/>
        </p:nvSpPr>
        <p:spPr>
          <a:xfrm>
            <a:off x="5842000" y="5016500"/>
            <a:ext cx="508000" cy="279400"/>
          </a:xfrm>
          <a:prstGeom prst="downArrow">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CB70FC46-62A3-7349-B231-6D4C1D64AE82}"/>
              </a:ext>
            </a:extLst>
          </p:cNvPr>
          <p:cNvSpPr txBox="1"/>
          <p:nvPr/>
        </p:nvSpPr>
        <p:spPr>
          <a:xfrm>
            <a:off x="3937000" y="1117600"/>
            <a:ext cx="4318000" cy="304800"/>
          </a:xfrm>
          <a:prstGeom prst="rect">
            <a:avLst/>
          </a:prstGeom>
          <a:solidFill>
            <a:srgbClr val="F7F5F9"/>
          </a:solidFill>
          <a:ln>
            <a:noFill/>
          </a:ln>
        </p:spPr>
        <p:txBody>
          <a:bodyPr vertOverflow="overflow" vert="horz" wrap="none" rtlCol="0" anchor="ctr" anchorCtr="0">
            <a:noAutofit/>
          </a:bodyPr>
          <a:lstStyle/>
          <a:p>
            <a:pPr algn="ctr"/>
            <a:r>
              <a:rPr lang="en-US" sz="1400" b="1" dirty="0">
                <a:solidFill>
                  <a:srgbClr val="110057"/>
                </a:solidFill>
                <a:latin typeface="Arial"/>
                <a:cs typeface="Arial"/>
              </a:rPr>
              <a:t>FUND-Hypercapnia  •  2024–2027</a:t>
            </a:r>
          </a:p>
        </p:txBody>
      </p:sp>
    </p:spTree>
    <p:extLst>
      <p:ext uri="{BB962C8B-B14F-4D97-AF65-F5344CB8AC3E}">
        <p14:creationId xmlns:p14="http://schemas.microsoft.com/office/powerpoint/2010/main" val="1467352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86B9790-15EB-8E44-A609-2C856AFD906F}"/>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A4E30769-783F-B848-B7E9-CCA1F4B54920}"/>
              </a:ext>
            </a:extLst>
          </p:cNvPr>
          <p:cNvSpPr txBox="1"/>
          <p:nvPr/>
        </p:nvSpPr>
        <p:spPr>
          <a:xfrm>
            <a:off x="762000" y="254000"/>
            <a:ext cx="3810000" cy="279400"/>
          </a:xfrm>
          <a:prstGeom prst="rect">
            <a:avLst/>
          </a:prstGeom>
          <a:noFill/>
        </p:spPr>
        <p:txBody>
          <a:bodyPr vertOverflow="overflow" vert="horz" wrap="square" rtlCol="0" anchor="t">
            <a:spAutoFit/>
          </a:bodyPr>
          <a:lstStyle/>
          <a:p>
            <a:pPr algn="l"/>
            <a:r>
              <a:rPr lang="en-US" sz="1400" b="1" dirty="0">
                <a:solidFill>
                  <a:srgbClr val="4A00E2"/>
                </a:solidFill>
                <a:latin typeface="Arial"/>
                <a:cs typeface="Arial"/>
              </a:rPr>
              <a:t>LOOKING AHEAD</a:t>
            </a:r>
          </a:p>
        </p:txBody>
      </p:sp>
      <p:sp>
        <p:nvSpPr>
          <p:cNvPr id="3" name="TextBox 2">
            <a:extLst>
              <a:ext uri="{FF2B5EF4-FFF2-40B4-BE49-F238E27FC236}">
                <a16:creationId xmlns:a16="http://schemas.microsoft.com/office/drawing/2014/main" id="{6A23366D-42BA-4140-A4AB-AB13595B08F2}"/>
              </a:ext>
            </a:extLst>
          </p:cNvPr>
          <p:cNvSpPr txBox="1"/>
          <p:nvPr/>
        </p:nvSpPr>
        <p:spPr>
          <a:xfrm>
            <a:off x="762000" y="558800"/>
            <a:ext cx="8890000" cy="508000"/>
          </a:xfrm>
          <a:prstGeom prst="rect">
            <a:avLst/>
          </a:prstGeom>
          <a:noFill/>
        </p:spPr>
        <p:txBody>
          <a:bodyPr vertOverflow="overflow" vert="horz" wrap="square" rtlCol="0" anchor="t">
            <a:spAutoFit/>
          </a:bodyPr>
          <a:lstStyle/>
          <a:p>
            <a:pPr algn="l"/>
            <a:r>
              <a:rPr lang="en-US" sz="2600" b="1" dirty="0">
                <a:solidFill>
                  <a:srgbClr val="110057"/>
                </a:solidFill>
                <a:latin typeface="Arial"/>
                <a:cs typeface="Arial"/>
              </a:rPr>
              <a:t>Research trajectory</a:t>
            </a:r>
          </a:p>
        </p:txBody>
      </p:sp>
      <p:sp>
        <p:nvSpPr>
          <p:cNvPr id="4" name="Rectangle 3">
            <a:extLst>
              <a:ext uri="{FF2B5EF4-FFF2-40B4-BE49-F238E27FC236}">
                <a16:creationId xmlns:a16="http://schemas.microsoft.com/office/drawing/2014/main" id="{DA979418-871E-F14C-8C5A-7EC458E61CD2}"/>
              </a:ext>
            </a:extLst>
          </p:cNvPr>
          <p:cNvSpPr/>
          <p:nvPr/>
        </p:nvSpPr>
        <p:spPr>
          <a:xfrm>
            <a:off x="762000" y="1143000"/>
            <a:ext cx="1524000" cy="381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ounded Rectangle 4">
            <a:extLst>
              <a:ext uri="{FF2B5EF4-FFF2-40B4-BE49-F238E27FC236}">
                <a16:creationId xmlns:a16="http://schemas.microsoft.com/office/drawing/2014/main" id="{917BB45C-614C-F84A-8ADC-C4A29E1B8B09}"/>
              </a:ext>
            </a:extLst>
          </p:cNvPr>
          <p:cNvSpPr/>
          <p:nvPr/>
        </p:nvSpPr>
        <p:spPr>
          <a:xfrm>
            <a:off x="584200" y="1397000"/>
            <a:ext cx="3632200" cy="3429000"/>
          </a:xfrm>
          <a:prstGeom prst="roundRect">
            <a:avLst/>
          </a:prstGeom>
          <a:solidFill>
            <a:srgbClr val="FFFFFF"/>
          </a:solidFill>
          <a:ln w="19050" cap="flat" cmpd="sng" algn="ctr">
            <a:solidFill>
              <a:srgbClr val="E0E0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7EDD40A-DF31-4A4E-8E1F-24AC0CA70270}"/>
              </a:ext>
            </a:extLst>
          </p:cNvPr>
          <p:cNvSpPr/>
          <p:nvPr/>
        </p:nvSpPr>
        <p:spPr>
          <a:xfrm>
            <a:off x="584200" y="1397000"/>
            <a:ext cx="3632200" cy="762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F829851-56CE-F743-8EAB-E048369E3BBB}"/>
              </a:ext>
            </a:extLst>
          </p:cNvPr>
          <p:cNvSpPr txBox="1"/>
          <p:nvPr/>
        </p:nvSpPr>
        <p:spPr>
          <a:xfrm>
            <a:off x="736600" y="1549400"/>
            <a:ext cx="3327400" cy="355600"/>
          </a:xfrm>
          <a:prstGeom prst="rect">
            <a:avLst/>
          </a:prstGeom>
          <a:noFill/>
        </p:spPr>
        <p:txBody>
          <a:bodyPr vertOverflow="overflow" vert="horz" wrap="square" rtlCol="0" anchor="t">
            <a:spAutoFit/>
          </a:bodyPr>
          <a:lstStyle/>
          <a:p>
            <a:pPr algn="l"/>
            <a:r>
              <a:rPr lang="en-US" sz="1800" b="1" dirty="0">
                <a:solidFill>
                  <a:srgbClr val="4A00E2"/>
                </a:solidFill>
                <a:latin typeface="Arial"/>
                <a:cs typeface="Arial"/>
              </a:rPr>
              <a:t>Now (through 2026)</a:t>
            </a:r>
          </a:p>
        </p:txBody>
      </p:sp>
      <p:sp>
        <p:nvSpPr>
          <p:cNvPr id="8" name="Rounded Rectangle 7">
            <a:extLst>
              <a:ext uri="{FF2B5EF4-FFF2-40B4-BE49-F238E27FC236}">
                <a16:creationId xmlns:a16="http://schemas.microsoft.com/office/drawing/2014/main" id="{054F8CEF-C04E-F844-BDAA-207B13EB8E6C}"/>
              </a:ext>
            </a:extLst>
          </p:cNvPr>
          <p:cNvSpPr/>
          <p:nvPr/>
        </p:nvSpPr>
        <p:spPr>
          <a:xfrm>
            <a:off x="4483100" y="1397000"/>
            <a:ext cx="3632200" cy="3429000"/>
          </a:xfrm>
          <a:prstGeom prst="roundRect">
            <a:avLst/>
          </a:prstGeom>
          <a:solidFill>
            <a:srgbClr val="FFFFFF"/>
          </a:solidFill>
          <a:ln w="19050" cap="flat" cmpd="sng" algn="ctr">
            <a:solidFill>
              <a:srgbClr val="E0E0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DB6CF8CF-66D1-754E-83E9-24D3B027712D}"/>
              </a:ext>
            </a:extLst>
          </p:cNvPr>
          <p:cNvSpPr/>
          <p:nvPr/>
        </p:nvSpPr>
        <p:spPr>
          <a:xfrm>
            <a:off x="4483100" y="1397000"/>
            <a:ext cx="3632200" cy="762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B62B755A-E642-F94B-A6BE-F633B0673477}"/>
              </a:ext>
            </a:extLst>
          </p:cNvPr>
          <p:cNvSpPr txBox="1"/>
          <p:nvPr/>
        </p:nvSpPr>
        <p:spPr>
          <a:xfrm>
            <a:off x="4635500" y="1549400"/>
            <a:ext cx="3327400" cy="355600"/>
          </a:xfrm>
          <a:prstGeom prst="rect">
            <a:avLst/>
          </a:prstGeom>
          <a:noFill/>
        </p:spPr>
        <p:txBody>
          <a:bodyPr vertOverflow="overflow" vert="horz" wrap="square" rtlCol="0" anchor="t">
            <a:spAutoFit/>
          </a:bodyPr>
          <a:lstStyle/>
          <a:p>
            <a:pPr algn="l"/>
            <a:r>
              <a:rPr lang="en-US" sz="1800" b="1" dirty="0">
                <a:solidFill>
                  <a:srgbClr val="FF0044"/>
                </a:solidFill>
                <a:latin typeface="Arial"/>
                <a:cs typeface="Arial"/>
              </a:rPr>
              <a:t>K23 (2026–2031)</a:t>
            </a:r>
          </a:p>
        </p:txBody>
      </p:sp>
      <p:sp>
        <p:nvSpPr>
          <p:cNvPr id="11" name="Rounded Rectangle 10">
            <a:extLst>
              <a:ext uri="{FF2B5EF4-FFF2-40B4-BE49-F238E27FC236}">
                <a16:creationId xmlns:a16="http://schemas.microsoft.com/office/drawing/2014/main" id="{6ABD8C7A-1204-5740-AA67-318AFCEEF007}"/>
              </a:ext>
            </a:extLst>
          </p:cNvPr>
          <p:cNvSpPr/>
          <p:nvPr/>
        </p:nvSpPr>
        <p:spPr>
          <a:xfrm>
            <a:off x="8382000" y="1397000"/>
            <a:ext cx="3632200" cy="3429000"/>
          </a:xfrm>
          <a:prstGeom prst="roundRect">
            <a:avLst/>
          </a:prstGeom>
          <a:solidFill>
            <a:srgbClr val="FFFFFF"/>
          </a:solidFill>
          <a:ln w="19050" cap="flat" cmpd="sng" algn="ctr">
            <a:solidFill>
              <a:srgbClr val="E0E0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3A2AA7BD-9D32-8444-9E1B-24AD138BFBF4}"/>
              </a:ext>
            </a:extLst>
          </p:cNvPr>
          <p:cNvSpPr/>
          <p:nvPr/>
        </p:nvSpPr>
        <p:spPr>
          <a:xfrm>
            <a:off x="8382000" y="1397000"/>
            <a:ext cx="3632200" cy="76200"/>
          </a:xfrm>
          <a:prstGeom prst="rect">
            <a:avLst/>
          </a:prstGeom>
          <a:solidFill>
            <a:srgbClr val="6B5B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1125CD48-5281-7E44-84AE-D9E0F3770444}"/>
              </a:ext>
            </a:extLst>
          </p:cNvPr>
          <p:cNvSpPr txBox="1"/>
          <p:nvPr/>
        </p:nvSpPr>
        <p:spPr>
          <a:xfrm>
            <a:off x="8534400" y="1549400"/>
            <a:ext cx="3327400" cy="355600"/>
          </a:xfrm>
          <a:prstGeom prst="rect">
            <a:avLst/>
          </a:prstGeom>
          <a:noFill/>
        </p:spPr>
        <p:txBody>
          <a:bodyPr vertOverflow="overflow" vert="horz" wrap="square" rtlCol="0" anchor="t">
            <a:spAutoFit/>
          </a:bodyPr>
          <a:lstStyle/>
          <a:p>
            <a:pPr algn="l"/>
            <a:r>
              <a:rPr lang="en-US" sz="1800" b="1" dirty="0">
                <a:solidFill>
                  <a:srgbClr val="6B5B8A"/>
                </a:solidFill>
                <a:latin typeface="Arial"/>
                <a:cs typeface="Arial"/>
              </a:rPr>
              <a:t>Building toward</a:t>
            </a:r>
          </a:p>
        </p:txBody>
      </p:sp>
      <p:sp>
        <p:nvSpPr>
          <p:cNvPr id="15" name="TextBox 14">
            <a:extLst>
              <a:ext uri="{FF2B5EF4-FFF2-40B4-BE49-F238E27FC236}">
                <a16:creationId xmlns:a16="http://schemas.microsoft.com/office/drawing/2014/main" id="{ADA6BE10-7887-2047-AAC3-100CCDB42688}"/>
              </a:ext>
            </a:extLst>
          </p:cNvPr>
          <p:cNvSpPr txBox="1"/>
          <p:nvPr/>
        </p:nvSpPr>
        <p:spPr>
          <a:xfrm>
            <a:off x="736600" y="2006600"/>
            <a:ext cx="3327400" cy="1918474"/>
          </a:xfrm>
          <a:prstGeom prst="rect">
            <a:avLst/>
          </a:prstGeom>
          <a:noFill/>
        </p:spPr>
        <p:txBody>
          <a:bodyPr vertOverflow="overflow" vert="horz" wrap="square" rtlCol="0" anchor="t">
            <a:spAutoFit/>
          </a:bodyPr>
          <a:lstStyle/>
          <a:p>
            <a:pPr algn="l">
              <a:spcBef>
                <a:spcPts val="100"/>
              </a:spcBef>
              <a:spcAft>
                <a:spcPts val="100"/>
              </a:spcAft>
              <a:buFont typeface="Arial"/>
              <a:buChar char="•"/>
            </a:pPr>
            <a:r>
              <a:rPr lang="en-US" sz="1400" dirty="0">
                <a:solidFill>
                  <a:srgbClr val="110057"/>
                </a:solidFill>
                <a:latin typeface="Arial"/>
                <a:cs typeface="Arial"/>
              </a:rPr>
              <a:t>AIM-HIGH: risk prediction &amp; ML phenotyping (IH–SelectHealth data)</a:t>
            </a:r>
          </a:p>
          <a:p>
            <a:pPr algn="l">
              <a:spcBef>
                <a:spcPts val="100"/>
              </a:spcBef>
              <a:spcAft>
                <a:spcPts val="100"/>
              </a:spcAft>
              <a:buFont typeface="Arial"/>
              <a:buChar char="•"/>
            </a:pPr>
            <a:r>
              <a:rPr lang="en-US" sz="1400" dirty="0">
                <a:solidFill>
                  <a:srgbClr val="110057"/>
                </a:solidFill>
                <a:latin typeface="Arial"/>
                <a:cs typeface="Arial"/>
              </a:rPr>
              <a:t>CO₂-PATH: post-discharge trajectories (UPDB)</a:t>
            </a:r>
          </a:p>
          <a:p>
            <a:pPr algn="l">
              <a:spcBef>
                <a:spcPts val="100"/>
              </a:spcBef>
              <a:spcAft>
                <a:spcPts val="100"/>
              </a:spcAft>
              <a:buFont typeface="Arial"/>
              <a:buChar char="•"/>
            </a:pPr>
            <a:r>
              <a:rPr lang="en-US" sz="1400" dirty="0">
                <a:solidFill>
                  <a:srgbClr val="110057"/>
                </a:solidFill>
                <a:latin typeface="Arial"/>
                <a:cs typeface="Arial"/>
              </a:rPr>
              <a:t>Continued TriNetX prototyping</a:t>
            </a:r>
          </a:p>
          <a:p>
            <a:pPr algn="l">
              <a:spcBef>
                <a:spcPts val="100"/>
              </a:spcBef>
              <a:spcAft>
                <a:spcPts val="100"/>
              </a:spcAft>
              <a:buFont typeface="Arial"/>
              <a:buChar char="•"/>
            </a:pPr>
            <a:r>
              <a:rPr lang="en-US" sz="1400" dirty="0">
                <a:solidFill>
                  <a:srgbClr val="110057"/>
                </a:solidFill>
                <a:latin typeface="Arial"/>
                <a:cs typeface="Arial"/>
              </a:rPr>
              <a:t>IMED clinic as intervention &amp; enrollment platform</a:t>
            </a:r>
          </a:p>
          <a:p>
            <a:pPr algn="l">
              <a:spcBef>
                <a:spcPts val="100"/>
              </a:spcBef>
              <a:spcAft>
                <a:spcPts val="100"/>
              </a:spcAft>
              <a:buFont typeface="Arial"/>
              <a:buChar char="•"/>
            </a:pPr>
            <a:r>
              <a:rPr lang="en-US" sz="1400" dirty="0">
                <a:solidFill>
                  <a:srgbClr val="110057"/>
                </a:solidFill>
                <a:latin typeface="Arial"/>
                <a:cs typeface="Arial"/>
              </a:rPr>
              <a:t>K23 resubmission preparation</a:t>
            </a:r>
          </a:p>
        </p:txBody>
      </p:sp>
      <p:sp>
        <p:nvSpPr>
          <p:cNvPr id="16" name="TextBox 15">
            <a:extLst>
              <a:ext uri="{FF2B5EF4-FFF2-40B4-BE49-F238E27FC236}">
                <a16:creationId xmlns:a16="http://schemas.microsoft.com/office/drawing/2014/main" id="{C454386F-5052-4548-9491-61703EB10732}"/>
              </a:ext>
            </a:extLst>
          </p:cNvPr>
          <p:cNvSpPr txBox="1"/>
          <p:nvPr/>
        </p:nvSpPr>
        <p:spPr>
          <a:xfrm>
            <a:off x="4635500" y="2006600"/>
            <a:ext cx="3327400" cy="2021066"/>
          </a:xfrm>
          <a:prstGeom prst="rect">
            <a:avLst/>
          </a:prstGeom>
          <a:noFill/>
        </p:spPr>
        <p:txBody>
          <a:bodyPr vertOverflow="overflow" vert="horz" wrap="square" rtlCol="0" anchor="t">
            <a:spAutoFit/>
          </a:bodyPr>
          <a:lstStyle/>
          <a:p>
            <a:pPr algn="l">
              <a:spcBef>
                <a:spcPts val="100"/>
              </a:spcBef>
              <a:spcAft>
                <a:spcPts val="100"/>
              </a:spcAft>
              <a:buNone/>
            </a:pPr>
            <a:r>
              <a:rPr lang="en-US" sz="1400" i="1" dirty="0">
                <a:solidFill>
                  <a:srgbClr val="4A3D6B"/>
                </a:solidFill>
                <a:latin typeface="Arial"/>
                <a:cs typeface="Arial"/>
              </a:rPr>
              <a:t>Research aims</a:t>
            </a:r>
          </a:p>
          <a:p>
            <a:pPr algn="l">
              <a:spcBef>
                <a:spcPts val="100"/>
              </a:spcBef>
              <a:spcAft>
                <a:spcPts val="100"/>
              </a:spcAft>
              <a:buFont typeface="Arial"/>
              <a:buChar char="•"/>
            </a:pPr>
            <a:r>
              <a:rPr lang="en-US" sz="1400" dirty="0">
                <a:solidFill>
                  <a:srgbClr val="110057"/>
                </a:solidFill>
                <a:latin typeface="Arial"/>
                <a:cs typeface="Arial"/>
              </a:rPr>
              <a:t>Discharge risk stratification</a:t>
            </a:r>
          </a:p>
          <a:p>
            <a:pPr algn="l">
              <a:spcBef>
                <a:spcPts val="100"/>
              </a:spcBef>
              <a:spcAft>
                <a:spcPts val="100"/>
              </a:spcAft>
              <a:buFont typeface="Arial"/>
              <a:buChar char="•"/>
            </a:pPr>
            <a:r>
              <a:rPr lang="en-US" sz="1400" dirty="0">
                <a:solidFill>
                  <a:srgbClr val="110057"/>
                </a:solidFill>
                <a:latin typeface="Arial"/>
                <a:cs typeface="Arial"/>
              </a:rPr>
              <a:t>Post-discharge management variation</a:t>
            </a:r>
          </a:p>
          <a:p>
            <a:pPr algn="l">
              <a:spcBef>
                <a:spcPts val="100"/>
              </a:spcBef>
              <a:spcAft>
                <a:spcPts val="100"/>
              </a:spcAft>
              <a:buFont typeface="Arial"/>
              <a:buChar char="•"/>
            </a:pPr>
            <a:r>
              <a:rPr lang="en-US" sz="1400" dirty="0">
                <a:solidFill>
                  <a:srgbClr val="110057"/>
                </a:solidFill>
                <a:latin typeface="Arial"/>
                <a:cs typeface="Arial"/>
              </a:rPr>
              <a:t>Pilot embedded trial</a:t>
            </a:r>
          </a:p>
          <a:p>
            <a:pPr algn="l">
              <a:spcBef>
                <a:spcPts val="300"/>
              </a:spcBef>
              <a:spcAft>
                <a:spcPts val="100"/>
              </a:spcAft>
              <a:buNone/>
            </a:pPr>
            <a:r>
              <a:rPr lang="en-US" sz="1400" i="1" dirty="0">
                <a:solidFill>
                  <a:srgbClr val="4A3D6B"/>
                </a:solidFill>
                <a:latin typeface="Arial"/>
                <a:cs typeface="Arial"/>
              </a:rPr>
              <a:t>Learning objectives</a:t>
            </a:r>
          </a:p>
          <a:p>
            <a:pPr algn="l">
              <a:spcBef>
                <a:spcPts val="100"/>
              </a:spcBef>
              <a:spcAft>
                <a:spcPts val="100"/>
              </a:spcAft>
              <a:buFont typeface="Arial"/>
              <a:buChar char="•"/>
            </a:pPr>
            <a:r>
              <a:rPr lang="en-US" sz="1400" dirty="0">
                <a:solidFill>
                  <a:srgbClr val="110057"/>
                </a:solidFill>
                <a:latin typeface="Arial"/>
                <a:cs typeface="Arial"/>
              </a:rPr>
              <a:t>Multi-source outcomes ascertainment</a:t>
            </a:r>
          </a:p>
          <a:p>
            <a:pPr algn="l">
              <a:spcBef>
                <a:spcPts val="100"/>
              </a:spcBef>
              <a:spcAft>
                <a:spcPts val="100"/>
              </a:spcAft>
              <a:buFont typeface="Arial"/>
              <a:buChar char="•"/>
            </a:pPr>
            <a:r>
              <a:rPr lang="en-US" sz="1400" dirty="0">
                <a:solidFill>
                  <a:srgbClr val="110057"/>
                </a:solidFill>
                <a:latin typeface="Arial"/>
                <a:cs typeface="Arial"/>
              </a:rPr>
              <a:t>Practice variation analysis</a:t>
            </a:r>
          </a:p>
          <a:p>
            <a:pPr algn="l">
              <a:spcBef>
                <a:spcPts val="100"/>
              </a:spcBef>
              <a:spcAft>
                <a:spcPts val="100"/>
              </a:spcAft>
              <a:buFont typeface="Arial"/>
              <a:buChar char="•"/>
            </a:pPr>
            <a:r>
              <a:rPr lang="en-US" sz="1400" dirty="0">
                <a:solidFill>
                  <a:srgbClr val="110057"/>
                </a:solidFill>
                <a:latin typeface="Arial"/>
                <a:cs typeface="Arial"/>
              </a:rPr>
              <a:t>Embedded trial design &amp; execution</a:t>
            </a:r>
          </a:p>
        </p:txBody>
      </p:sp>
      <p:sp>
        <p:nvSpPr>
          <p:cNvPr id="17" name="TextBox 16">
            <a:extLst>
              <a:ext uri="{FF2B5EF4-FFF2-40B4-BE49-F238E27FC236}">
                <a16:creationId xmlns:a16="http://schemas.microsoft.com/office/drawing/2014/main" id="{28D546A7-D9F4-9149-8A9C-936C0C10FA87}"/>
              </a:ext>
            </a:extLst>
          </p:cNvPr>
          <p:cNvSpPr txBox="1"/>
          <p:nvPr/>
        </p:nvSpPr>
        <p:spPr>
          <a:xfrm>
            <a:off x="8534400" y="2006600"/>
            <a:ext cx="3327400" cy="2323713"/>
          </a:xfrm>
          <a:prstGeom prst="rect">
            <a:avLst/>
          </a:prstGeom>
          <a:noFill/>
        </p:spPr>
        <p:txBody>
          <a:bodyPr vertOverflow="overflow" vert="horz" wrap="square" rtlCol="0" anchor="t">
            <a:spAutoFit/>
          </a:bodyPr>
          <a:lstStyle/>
          <a:p>
            <a:pPr algn="l">
              <a:spcBef>
                <a:spcPts val="100"/>
              </a:spcBef>
              <a:spcAft>
                <a:spcPts val="100"/>
              </a:spcAft>
              <a:buFont typeface="Arial"/>
              <a:buChar char="•"/>
            </a:pPr>
            <a:r>
              <a:rPr lang="en-US" sz="1400" dirty="0">
                <a:solidFill>
                  <a:srgbClr val="110057"/>
                </a:solidFill>
                <a:latin typeface="Arial"/>
                <a:cs typeface="Arial"/>
              </a:rPr>
              <a:t>Pragmatic trials optimizing post-discharge care</a:t>
            </a:r>
          </a:p>
          <a:p>
            <a:pPr algn="l">
              <a:spcBef>
                <a:spcPts val="100"/>
              </a:spcBef>
              <a:spcAft>
                <a:spcPts val="100"/>
              </a:spcAft>
              <a:buFont typeface="Arial"/>
              <a:buChar char="•"/>
            </a:pPr>
            <a:r>
              <a:rPr lang="en-US" sz="1400" dirty="0">
                <a:solidFill>
                  <a:srgbClr val="110057"/>
                </a:solidFill>
                <a:latin typeface="Arial"/>
                <a:cs typeface="Arial"/>
              </a:rPr>
              <a:t>Scalable interventions: referral pathways, workup bundles, tele-pulmonary</a:t>
            </a:r>
          </a:p>
          <a:p>
            <a:pPr algn="l">
              <a:spcBef>
                <a:spcPts val="100"/>
              </a:spcBef>
              <a:spcAft>
                <a:spcPts val="100"/>
              </a:spcAft>
              <a:buFont typeface="Arial"/>
              <a:buChar char="•"/>
            </a:pPr>
            <a:r>
              <a:rPr lang="en-US" sz="1400" dirty="0">
                <a:solidFill>
                  <a:srgbClr val="110057"/>
                </a:solidFill>
                <a:latin typeface="Arial"/>
                <a:cs typeface="Arial"/>
              </a:rPr>
              <a:t>GLP-1RA/metabolic therapies: ~60% have indication; effectiveness unknown (non-NIH funding)</a:t>
            </a:r>
          </a:p>
          <a:p>
            <a:pPr algn="l">
              <a:spcBef>
                <a:spcPts val="100"/>
              </a:spcBef>
              <a:spcAft>
                <a:spcPts val="100"/>
              </a:spcAft>
              <a:buFont typeface="Arial"/>
              <a:buChar char="•"/>
            </a:pPr>
            <a:r>
              <a:rPr lang="en-US" sz="1400" dirty="0">
                <a:solidFill>
                  <a:srgbClr val="110057"/>
                </a:solidFill>
                <a:latin typeface="Arial"/>
                <a:cs typeface="Arial"/>
              </a:rPr>
              <a:t>Technologist &amp; methodologist advancing care-transition best practices</a:t>
            </a:r>
          </a:p>
        </p:txBody>
      </p:sp>
    </p:spTree>
    <p:extLst>
      <p:ext uri="{BB962C8B-B14F-4D97-AF65-F5344CB8AC3E}">
        <p14:creationId xmlns:p14="http://schemas.microsoft.com/office/powerpoint/2010/main" val="3963216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00D1E-D709-CB43-A3F4-A9C7B269BDBB}"/>
              </a:ext>
            </a:extLst>
          </p:cNvPr>
          <p:cNvSpPr/>
          <p:nvPr/>
        </p:nvSpPr>
        <p:spPr>
          <a:xfrm>
            <a:off x="0" y="6731000"/>
            <a:ext cx="12192000" cy="127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6" name="Graphic 5">
            <a:extLst>
              <a:ext uri="{FF2B5EF4-FFF2-40B4-BE49-F238E27FC236}">
                <a16:creationId xmlns:a16="http://schemas.microsoft.com/office/drawing/2014/main" id="{253D0738-529D-E98F-A328-9465AD6D8C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96500" y="2286000"/>
            <a:ext cx="1016000" cy="457200"/>
          </a:xfrm>
          <a:prstGeom prst="rect">
            <a:avLst/>
          </a:prstGeom>
        </p:spPr>
      </p:pic>
      <p:pic>
        <p:nvPicPr>
          <p:cNvPr id="7" name="Picture 10" descr="Anastasia Prokofyeva">
            <a:extLst>
              <a:ext uri="{FF2B5EF4-FFF2-40B4-BE49-F238E27FC236}">
                <a16:creationId xmlns:a16="http://schemas.microsoft.com/office/drawing/2014/main" id="{6C6C6B13-3EC7-9100-7226-AF03284ACE5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0160000" y="3403600"/>
            <a:ext cx="8890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Anastasia Prokofyeva">
            <a:extLst>
              <a:ext uri="{FF2B5EF4-FFF2-40B4-BE49-F238E27FC236}">
                <a16:creationId xmlns:a16="http://schemas.microsoft.com/office/drawing/2014/main" id="{FA048BE3-D6A5-BB07-AC3E-2E917A9C8A5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10160000" y="3759200"/>
            <a:ext cx="8890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A91F544-55D8-60B3-45B1-108ED04153C3}"/>
              </a:ext>
            </a:extLst>
          </p:cNvPr>
          <p:cNvPicPr>
            <a:picLocks noChangeAspect="1"/>
          </p:cNvPicPr>
          <p:nvPr/>
        </p:nvPicPr>
        <p:blipFill>
          <a:blip r:embed="rId6"/>
          <a:stretch>
            <a:fillRect/>
          </a:stretch>
        </p:blipFill>
        <p:spPr>
          <a:xfrm>
            <a:off x="10160000" y="2857500"/>
            <a:ext cx="889000" cy="419100"/>
          </a:xfrm>
          <a:prstGeom prst="rect">
            <a:avLst/>
          </a:prstGeom>
        </p:spPr>
      </p:pic>
      <p:pic>
        <p:nvPicPr>
          <p:cNvPr id="3" name="Picture 2">
            <a:extLst>
              <a:ext uri="{FF2B5EF4-FFF2-40B4-BE49-F238E27FC236}">
                <a16:creationId xmlns:a16="http://schemas.microsoft.com/office/drawing/2014/main" id="{F95FC9FB-E8E7-6856-DBFA-649CC5ED1E60}"/>
              </a:ext>
            </a:extLst>
          </p:cNvPr>
          <p:cNvPicPr>
            <a:picLocks noChangeAspect="1"/>
          </p:cNvPicPr>
          <p:nvPr/>
        </p:nvPicPr>
        <p:blipFill>
          <a:blip r:embed="rId7"/>
          <a:stretch>
            <a:fillRect/>
          </a:stretch>
        </p:blipFill>
        <p:spPr>
          <a:xfrm>
            <a:off x="10160000" y="1397000"/>
            <a:ext cx="762000" cy="762000"/>
          </a:xfrm>
          <a:prstGeom prst="rect">
            <a:avLst/>
          </a:prstGeom>
        </p:spPr>
      </p:pic>
      <p:sp>
        <p:nvSpPr>
          <p:cNvPr id="13" name="TextBox 12">
            <a:extLst>
              <a:ext uri="{FF2B5EF4-FFF2-40B4-BE49-F238E27FC236}">
                <a16:creationId xmlns:a16="http://schemas.microsoft.com/office/drawing/2014/main" id="{F3785DC9-B8F8-4C4F-B342-E504D1141BEA}"/>
              </a:ext>
            </a:extLst>
          </p:cNvPr>
          <p:cNvSpPr txBox="1"/>
          <p:nvPr/>
        </p:nvSpPr>
        <p:spPr>
          <a:xfrm>
            <a:off x="762000" y="254000"/>
            <a:ext cx="5080000" cy="307777"/>
          </a:xfrm>
          <a:prstGeom prst="rect">
            <a:avLst/>
          </a:prstGeom>
          <a:noFill/>
        </p:spPr>
        <p:txBody>
          <a:bodyPr vertOverflow="overflow" vert="horz" wrap="square" rtlCol="0" anchor="t">
            <a:spAutoFit/>
          </a:bodyPr>
          <a:lstStyle/>
          <a:p>
            <a:pPr algn="l"/>
            <a:r>
              <a:rPr lang="en-US" sz="1400" b="1" dirty="0">
                <a:solidFill>
                  <a:srgbClr val="6B5B8A"/>
                </a:solidFill>
                <a:latin typeface="Arial"/>
                <a:cs typeface="Arial"/>
              </a:rPr>
              <a:t>ACKNOWLEDGEMENTS</a:t>
            </a:r>
          </a:p>
        </p:txBody>
      </p:sp>
      <p:sp>
        <p:nvSpPr>
          <p:cNvPr id="14" name="TextBox 13">
            <a:extLst>
              <a:ext uri="{FF2B5EF4-FFF2-40B4-BE49-F238E27FC236}">
                <a16:creationId xmlns:a16="http://schemas.microsoft.com/office/drawing/2014/main" id="{5E5835BB-46B0-8D46-8DB1-3B9926EE4455}"/>
              </a:ext>
            </a:extLst>
          </p:cNvPr>
          <p:cNvSpPr txBox="1"/>
          <p:nvPr/>
        </p:nvSpPr>
        <p:spPr>
          <a:xfrm>
            <a:off x="762000" y="584200"/>
            <a:ext cx="7620000" cy="461665"/>
          </a:xfrm>
          <a:prstGeom prst="rect">
            <a:avLst/>
          </a:prstGeom>
          <a:noFill/>
        </p:spPr>
        <p:txBody>
          <a:bodyPr vertOverflow="overflow" vert="horz" wrap="square" rtlCol="0" anchor="t">
            <a:spAutoFit/>
          </a:bodyPr>
          <a:lstStyle/>
          <a:p>
            <a:pPr algn="l"/>
            <a:r>
              <a:rPr lang="en-US" sz="2400" b="1" dirty="0">
                <a:solidFill>
                  <a:srgbClr val="110057"/>
                </a:solidFill>
                <a:latin typeface="Arial"/>
                <a:cs typeface="Arial"/>
              </a:rPr>
              <a:t>Thank you  —  Questions?</a:t>
            </a:r>
          </a:p>
        </p:txBody>
      </p:sp>
      <p:sp>
        <p:nvSpPr>
          <p:cNvPr id="15" name="Rectangle 14">
            <a:extLst>
              <a:ext uri="{FF2B5EF4-FFF2-40B4-BE49-F238E27FC236}">
                <a16:creationId xmlns:a16="http://schemas.microsoft.com/office/drawing/2014/main" id="{6D9C59BC-1AA9-AB4B-B3DC-08CB6F6A5430}"/>
              </a:ext>
            </a:extLst>
          </p:cNvPr>
          <p:cNvSpPr/>
          <p:nvPr/>
        </p:nvSpPr>
        <p:spPr>
          <a:xfrm>
            <a:off x="762000" y="1117600"/>
            <a:ext cx="1524000" cy="381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7B6A858E-A214-044F-A977-49C66B4FBDD0}"/>
              </a:ext>
            </a:extLst>
          </p:cNvPr>
          <p:cNvSpPr txBox="1"/>
          <p:nvPr/>
        </p:nvSpPr>
        <p:spPr>
          <a:xfrm>
            <a:off x="508000" y="1371600"/>
            <a:ext cx="3937000" cy="369332"/>
          </a:xfrm>
          <a:prstGeom prst="rect">
            <a:avLst/>
          </a:prstGeom>
          <a:noFill/>
        </p:spPr>
        <p:txBody>
          <a:bodyPr vertOverflow="overflow" vert="horz" wrap="square" rtlCol="0" anchor="t">
            <a:spAutoFit/>
          </a:bodyPr>
          <a:lstStyle/>
          <a:p>
            <a:pPr algn="l"/>
            <a:r>
              <a:rPr lang="en-US" sz="1800" b="1" dirty="0">
                <a:solidFill>
                  <a:srgbClr val="110057"/>
                </a:solidFill>
                <a:latin typeface="Arial"/>
                <a:cs typeface="Arial"/>
              </a:rPr>
              <a:t>Funding &amp; Data</a:t>
            </a:r>
          </a:p>
        </p:txBody>
      </p:sp>
      <p:sp>
        <p:nvSpPr>
          <p:cNvPr id="17" name="TextBox 16">
            <a:extLst>
              <a:ext uri="{FF2B5EF4-FFF2-40B4-BE49-F238E27FC236}">
                <a16:creationId xmlns:a16="http://schemas.microsoft.com/office/drawing/2014/main" id="{91D2B746-6143-C742-93BA-157DD18EB83F}"/>
              </a:ext>
            </a:extLst>
          </p:cNvPr>
          <p:cNvSpPr txBox="1"/>
          <p:nvPr/>
        </p:nvSpPr>
        <p:spPr>
          <a:xfrm>
            <a:off x="508000" y="1778000"/>
            <a:ext cx="4000500" cy="1508105"/>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PCCM Seed Grant</a:t>
            </a:r>
            <a:r>
              <a:rPr lang="en-US" sz="1400" dirty="0">
                <a:solidFill>
                  <a:srgbClr val="3D2460"/>
                </a:solidFill>
                <a:latin typeface="Arial"/>
                <a:cs typeface="Arial"/>
              </a:rPr>
              <a:t>  (FUND-Hypercapnia)</a:t>
            </a:r>
          </a:p>
          <a:p>
            <a:pPr marL="0" indent="0" algn="l">
              <a:buNone/>
            </a:pPr>
            <a:r>
              <a:rPr lang="en-US" sz="1400" b="1" dirty="0">
                <a:solidFill>
                  <a:srgbClr val="110057"/>
                </a:solidFill>
                <a:latin typeface="Arial"/>
                <a:cs typeface="Arial"/>
              </a:rPr>
              <a:t>ATS ASPIRE Fellowship</a:t>
            </a:r>
          </a:p>
          <a:p>
            <a:pPr marL="0" indent="0" algn="l">
              <a:buNone/>
            </a:pPr>
            <a:r>
              <a:rPr lang="en-US" sz="1400" b="1" dirty="0">
                <a:solidFill>
                  <a:srgbClr val="110057"/>
                </a:solidFill>
                <a:latin typeface="Arial"/>
                <a:cs typeface="Arial"/>
              </a:rPr>
              <a:t>NIH/NHLBI T32</a:t>
            </a:r>
            <a:r>
              <a:rPr lang="en-US" sz="1400" dirty="0">
                <a:solidFill>
                  <a:srgbClr val="3D2460"/>
                </a:solidFill>
                <a:latin typeface="Arial"/>
                <a:cs typeface="Arial"/>
              </a:rPr>
              <a:t>  |  </a:t>
            </a:r>
            <a:r>
              <a:rPr lang="en-US" sz="1400" b="1" dirty="0">
                <a:solidFill>
                  <a:srgbClr val="110057"/>
                </a:solidFill>
                <a:latin typeface="Arial"/>
                <a:cs typeface="Arial"/>
              </a:rPr>
              <a:t>HCI P30</a:t>
            </a:r>
          </a:p>
          <a:p>
            <a:pPr marL="0" indent="0" algn="l">
              <a:buNone/>
            </a:pPr>
            <a:endParaRPr lang="en-US" sz="800" dirty="0">
              <a:latin typeface="Arial"/>
            </a:endParaRPr>
          </a:p>
          <a:p>
            <a:pPr marL="0" indent="0" algn="l">
              <a:buNone/>
            </a:pPr>
            <a:r>
              <a:rPr lang="en-US" sz="1400" b="1" dirty="0">
                <a:solidFill>
                  <a:srgbClr val="110057"/>
                </a:solidFill>
                <a:latin typeface="Arial"/>
                <a:cs typeface="Arial"/>
              </a:rPr>
              <a:t>Data</a:t>
            </a:r>
          </a:p>
          <a:p>
            <a:pPr marL="0" indent="0" algn="l">
              <a:buNone/>
            </a:pPr>
            <a:r>
              <a:rPr lang="en-US" sz="1400" dirty="0">
                <a:solidFill>
                  <a:srgbClr val="3D2460"/>
                </a:solidFill>
                <a:latin typeface="Arial"/>
                <a:cs typeface="Arial"/>
              </a:rPr>
              <a:t>Utah Population Database (UPDB)</a:t>
            </a:r>
          </a:p>
          <a:p>
            <a:pPr marL="0" indent="0" algn="l">
              <a:buNone/>
            </a:pPr>
            <a:r>
              <a:rPr lang="en-US" sz="1400" dirty="0">
                <a:solidFill>
                  <a:srgbClr val="3D2460"/>
                </a:solidFill>
                <a:latin typeface="Arial"/>
                <a:cs typeface="Arial"/>
              </a:rPr>
              <a:t>IH – Select Health Claims Linkage</a:t>
            </a:r>
          </a:p>
        </p:txBody>
      </p:sp>
      <p:sp>
        <p:nvSpPr>
          <p:cNvPr id="18" name="TextBox 17">
            <a:extLst>
              <a:ext uri="{FF2B5EF4-FFF2-40B4-BE49-F238E27FC236}">
                <a16:creationId xmlns:a16="http://schemas.microsoft.com/office/drawing/2014/main" id="{4EAF0F30-7D7B-BE4D-B845-5DE35D3A948A}"/>
              </a:ext>
            </a:extLst>
          </p:cNvPr>
          <p:cNvSpPr txBox="1"/>
          <p:nvPr/>
        </p:nvSpPr>
        <p:spPr>
          <a:xfrm>
            <a:off x="4826000" y="1371600"/>
            <a:ext cx="3556000" cy="355600"/>
          </a:xfrm>
          <a:prstGeom prst="rect">
            <a:avLst/>
          </a:prstGeom>
          <a:noFill/>
        </p:spPr>
        <p:txBody>
          <a:bodyPr vertOverflow="overflow" vert="horz" wrap="square" rtlCol="0" anchor="t">
            <a:spAutoFit/>
          </a:bodyPr>
          <a:lstStyle/>
          <a:p>
            <a:pPr algn="l"/>
            <a:r>
              <a:rPr lang="en-US" sz="1800" b="1" dirty="0">
                <a:solidFill>
                  <a:srgbClr val="110057"/>
                </a:solidFill>
                <a:latin typeface="Arial"/>
                <a:cs typeface="Arial"/>
              </a:rPr>
              <a:t>Team &amp; Supporters</a:t>
            </a:r>
          </a:p>
        </p:txBody>
      </p:sp>
      <p:sp>
        <p:nvSpPr>
          <p:cNvPr id="19" name="TextBox 18">
            <a:extLst>
              <a:ext uri="{FF2B5EF4-FFF2-40B4-BE49-F238E27FC236}">
                <a16:creationId xmlns:a16="http://schemas.microsoft.com/office/drawing/2014/main" id="{3C7530EF-D90B-6A4F-8DEC-385009661EAF}"/>
              </a:ext>
            </a:extLst>
          </p:cNvPr>
          <p:cNvSpPr txBox="1"/>
          <p:nvPr/>
        </p:nvSpPr>
        <p:spPr>
          <a:xfrm>
            <a:off x="4826000" y="1778000"/>
            <a:ext cx="4826000" cy="2092881"/>
          </a:xfrm>
          <a:prstGeom prst="rect">
            <a:avLst/>
          </a:prstGeom>
          <a:noFill/>
        </p:spPr>
        <p:txBody>
          <a:bodyPr vertOverflow="overflow" vert="horz" wrap="square" rtlCol="0" anchor="t">
            <a:spAutoFit/>
          </a:bodyPr>
          <a:lstStyle/>
          <a:p>
            <a:pPr marL="0" indent="0" algn="l">
              <a:buNone/>
            </a:pPr>
            <a:r>
              <a:rPr lang="en-US" sz="1400" b="1" dirty="0">
                <a:solidFill>
                  <a:srgbClr val="110057"/>
                </a:solidFill>
                <a:latin typeface="Arial"/>
                <a:cs typeface="Arial"/>
              </a:rPr>
              <a:t>Intermountain Health</a:t>
            </a:r>
          </a:p>
          <a:p>
            <a:pPr marL="0" indent="0" algn="l">
              <a:buNone/>
            </a:pPr>
            <a:r>
              <a:rPr lang="en-US" sz="1400" dirty="0">
                <a:solidFill>
                  <a:srgbClr val="3D2460"/>
                </a:solidFill>
                <a:latin typeface="Arial"/>
                <a:cs typeface="Arial"/>
              </a:rPr>
              <a:t>I. Peltan, MD MSc  •  S. Brown, MD MSc  •  H. Frost, MD PhD  •  N. Green</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Select Health</a:t>
            </a:r>
          </a:p>
          <a:p>
            <a:pPr marL="0" indent="0" algn="l">
              <a:buNone/>
            </a:pPr>
            <a:r>
              <a:rPr lang="en-US" sz="1400" dirty="0">
                <a:solidFill>
                  <a:srgbClr val="3D2460"/>
                </a:solidFill>
                <a:latin typeface="Arial"/>
                <a:cs typeface="Arial"/>
              </a:rPr>
              <a:t>R. Fowers, PhD  •  D. Hedges, PhD</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University of Utah / RGE</a:t>
            </a:r>
          </a:p>
          <a:p>
            <a:pPr marL="0" indent="0" algn="l">
              <a:buNone/>
            </a:pPr>
            <a:r>
              <a:rPr lang="en-US" sz="1400" dirty="0">
                <a:solidFill>
                  <a:srgbClr val="3D2460"/>
                </a:solidFill>
                <a:latin typeface="Arial"/>
                <a:cs typeface="Arial"/>
              </a:rPr>
              <a:t>R. Gouripeddi, MBBS MSc  •  M. Madsen</a:t>
            </a:r>
          </a:p>
          <a:p>
            <a:pPr marL="0" indent="0" algn="l">
              <a:buNone/>
            </a:pPr>
            <a:r>
              <a:rPr lang="en-US" sz="1400" dirty="0">
                <a:solidFill>
                  <a:srgbClr val="3D2460"/>
                </a:solidFill>
                <a:latin typeface="Arial"/>
                <a:cs typeface="Arial"/>
              </a:rPr>
              <a:t>B. Jones, MD MSc  •  D. Anderson, MD  •  M. Gibson</a:t>
            </a:r>
          </a:p>
          <a:p>
            <a:pPr marL="0" indent="0" algn="l">
              <a:buNone/>
            </a:pPr>
            <a:endParaRPr lang="en-US" sz="600" dirty="0">
              <a:latin typeface="Arial"/>
            </a:endParaRPr>
          </a:p>
          <a:p>
            <a:pPr marL="0" indent="0" algn="l">
              <a:buNone/>
            </a:pPr>
            <a:r>
              <a:rPr lang="en-US" sz="1400" b="1" dirty="0">
                <a:solidFill>
                  <a:srgbClr val="110057"/>
                </a:solidFill>
                <a:latin typeface="Arial"/>
                <a:cs typeface="Arial"/>
              </a:rPr>
              <a:t>UC Davis</a:t>
            </a:r>
            <a:r>
              <a:rPr lang="en-US" sz="1400" dirty="0">
                <a:solidFill>
                  <a:srgbClr val="3D2460"/>
                </a:solidFill>
                <a:latin typeface="Arial"/>
                <a:cs typeface="Arial"/>
              </a:rPr>
              <a:t>  —  K. Sundar, MD</a:t>
            </a:r>
          </a:p>
        </p:txBody>
      </p:sp>
      <p:sp>
        <p:nvSpPr>
          <p:cNvPr id="21" name="Rounded Rectangle 20">
            <a:extLst>
              <a:ext uri="{FF2B5EF4-FFF2-40B4-BE49-F238E27FC236}">
                <a16:creationId xmlns:a16="http://schemas.microsoft.com/office/drawing/2014/main" id="{EFAAB6BD-7199-F546-AB18-A83569332495}"/>
              </a:ext>
            </a:extLst>
          </p:cNvPr>
          <p:cNvSpPr/>
          <p:nvPr/>
        </p:nvSpPr>
        <p:spPr>
          <a:xfrm>
            <a:off x="508000" y="5461000"/>
            <a:ext cx="11176000" cy="6350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5E04A053-9E38-4A45-BFA3-8837620C757E}"/>
              </a:ext>
            </a:extLst>
          </p:cNvPr>
          <p:cNvSpPr txBox="1"/>
          <p:nvPr/>
        </p:nvSpPr>
        <p:spPr>
          <a:xfrm>
            <a:off x="698500" y="5609223"/>
            <a:ext cx="10795000" cy="338554"/>
          </a:xfrm>
          <a:prstGeom prst="rect">
            <a:avLst/>
          </a:prstGeom>
          <a:noFill/>
        </p:spPr>
        <p:txBody>
          <a:bodyPr vertOverflow="overflow" vert="horz" wrap="square" rtlCol="0" anchor="ctr" anchorCtr="0">
            <a:spAutoFit/>
          </a:bodyPr>
          <a:lstStyle/>
          <a:p>
            <a:pPr algn="ctr"/>
            <a:r>
              <a:rPr lang="en-US" sz="1600" dirty="0">
                <a:solidFill>
                  <a:srgbClr val="FFFFFF"/>
                </a:solidFill>
                <a:latin typeface="Arial"/>
                <a:cs typeface="Arial"/>
              </a:rPr>
              <a:t>brian.locke@imail.org  |  Epic: Brian Locke  |  Re: referral &amp; research partnerships</a:t>
            </a:r>
          </a:p>
        </p:txBody>
      </p:sp>
      <p:sp>
        <p:nvSpPr>
          <p:cNvPr id="23" name="Rectangle 22">
            <a:extLst>
              <a:ext uri="{FF2B5EF4-FFF2-40B4-BE49-F238E27FC236}">
                <a16:creationId xmlns:a16="http://schemas.microsoft.com/office/drawing/2014/main" id="{AC5F6660-A2CA-2646-BD30-7381966A55AB}"/>
              </a:ext>
            </a:extLst>
          </p:cNvPr>
          <p:cNvSpPr/>
          <p:nvPr/>
        </p:nvSpPr>
        <p:spPr>
          <a:xfrm>
            <a:off x="4635500" y="1460500"/>
            <a:ext cx="25400" cy="2794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069509028"/>
      </p:ext>
    </p:extLst>
  </p:cSld>
  <p:clrMapOvr>
    <a:masterClrMapping/>
  </p:clrMapOvr>
</p:sld>
</file>

<file path=ppt/theme/theme1.xml><?xml version="1.0" encoding="utf-8"?>
<a:theme xmlns:a="http://schemas.openxmlformats.org/drawingml/2006/main" name="Office Theme">
  <a:themeElements>
    <a:clrScheme name="IH Colors">
      <a:dk1>
        <a:srgbClr val="110057"/>
      </a:dk1>
      <a:lt1>
        <a:srgbClr val="F7F5F9"/>
      </a:lt1>
      <a:dk2>
        <a:srgbClr val="4A00E2"/>
      </a:dk2>
      <a:lt2>
        <a:srgbClr val="FFFFFF"/>
      </a:lt2>
      <a:accent1>
        <a:srgbClr val="110057"/>
      </a:accent1>
      <a:accent2>
        <a:srgbClr val="4A00E2"/>
      </a:accent2>
      <a:accent3>
        <a:srgbClr val="FF0044"/>
      </a:accent3>
      <a:accent4>
        <a:srgbClr val="7CAFD0"/>
      </a:accent4>
      <a:accent5>
        <a:srgbClr val="FF5D55"/>
      </a:accent5>
      <a:accent6>
        <a:srgbClr val="FFBCB9"/>
      </a:accent6>
      <a:hlink>
        <a:srgbClr val="110057"/>
      </a:hlink>
      <a:folHlink>
        <a:srgbClr val="4A00E2"/>
      </a:folHlink>
    </a:clrScheme>
    <a:fontScheme name="IH Office Fonts">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C0DFD0EC-DB28-6E42-8750-A4B42AB3FD42}">
  <we:reference id="wa200000113" version="1.0.0.0" store="en-US" storeType="OMEX"/>
  <we:alternateReferences>
    <we:reference id="wa200000113" version="1.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B48D85D-ABA3-EE41-81D7-A4D3100239D8}">
  <we:reference id="wa104051163" version="1.2.0.3" store="en-US" storeType="OMEX"/>
  <we:alternateReferences>
    <we:reference id="WA104051163" version="1.2.0.3"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08137F25-8E34-BF44-9389-ADDC6C55A7CA}">
  <we:reference id="wa200010001" version="1.0.0.0" store="en-US" storeType="OMEX"/>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6741</TotalTime>
  <Words>3497</Words>
  <Application>Microsoft Macintosh PowerPoint</Application>
  <PresentationFormat>Widescreen</PresentationFormat>
  <Paragraphs>200</Paragraphs>
  <Slides>9</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Locke</dc:creator>
  <cp:lastModifiedBy>Brian Locke</cp:lastModifiedBy>
  <cp:revision>29</cp:revision>
  <dcterms:created xsi:type="dcterms:W3CDTF">2025-08-09T21:24:58Z</dcterms:created>
  <dcterms:modified xsi:type="dcterms:W3CDTF">2026-03-13T16:12:32Z</dcterms:modified>
</cp:coreProperties>
</file>