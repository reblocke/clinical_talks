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1"/>
  </p:sldMasterIdLst>
  <p:notesMasterIdLst>
    <p:notesMasterId r:id="rId11"/>
  </p:notesMasterIdLst>
  <p:sldIdLst>
    <p:sldId id="954" r:id="rId2"/>
    <p:sldId id="926" r:id="rId3"/>
    <p:sldId id="933" r:id="rId4"/>
    <p:sldId id="956" r:id="rId5"/>
    <p:sldId id="940" r:id="rId6"/>
    <p:sldId id="876" r:id="rId7"/>
    <p:sldId id="862" r:id="rId8"/>
    <p:sldId id="960" r:id="rId9"/>
    <p:sldId id="965"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540"/>
    <p:restoredTop sz="80297"/>
  </p:normalViewPr>
  <p:slideViewPr>
    <p:cSldViewPr snapToGrid="0">
      <p:cViewPr varScale="1">
        <p:scale>
          <a:sx n="94" d="100"/>
          <a:sy n="94" d="100"/>
        </p:scale>
        <p:origin x="208" y="5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43F77F-9A3C-E740-9DB0-E9D6C9A5452C}" type="datetimeFigureOut">
              <a:rPr lang="en-US" smtClean="0"/>
              <a:t>3/7/26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F4F0C85-FC02-4C4E-8B1A-6BB950A69184}" type="slidenum">
              <a:rPr lang="en-US" smtClean="0"/>
              <a:t>‹#›</a:t>
            </a:fld>
            <a:endParaRPr lang="en-US"/>
          </a:p>
        </p:txBody>
      </p:sp>
    </p:spTree>
    <p:extLst>
      <p:ext uri="{BB962C8B-B14F-4D97-AF65-F5344CB8AC3E}">
        <p14:creationId xmlns:p14="http://schemas.microsoft.com/office/powerpoint/2010/main" val="4071300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Transcript of the talk: (dictated, forgive errors)</a:t>
            </a:r>
          </a:p>
          <a:p>
            <a:endParaRPr lang="en-US" dirty="0"/>
          </a:p>
          <a:p>
            <a:r>
              <a:rPr lang="en-US" dirty="0"/>
              <a:t>My name is Brian Locke. I’m an assistant professor working in the Shock Trauma ICU and the Schmidt Chest Clinic, and today I’m giving an update on hypercapnic respiratory failure. I have a conflict of interest with a local startup doing machine learning unrelated to this talk. I want to acknowledge support from the American Thoracic Society, the NIH, and our Pulmonary and Critical Care Medicine seed grant, and to thank the Utah Population Database and its funders. For those following along in </a:t>
            </a:r>
            <a:r>
              <a:rPr lang="en-US" dirty="0" err="1"/>
              <a:t>NotebookLM</a:t>
            </a:r>
            <a:r>
              <a:rPr lang="en-US" dirty="0"/>
              <a:t>, Google’s large language model environment, I’ve uploaded key literature so you can query or review the synthesized notes while we go.</a:t>
            </a:r>
          </a:p>
          <a:p>
            <a:br>
              <a:rPr lang="en-US" dirty="0"/>
            </a:br>
            <a:endParaRPr lang="en-US" dirty="0"/>
          </a:p>
          <a:p>
            <a:r>
              <a:rPr lang="en-US" dirty="0"/>
              <a:t>I’ll start with background and the current state of hypercapnic respiratory failure, move to what we’re doing clinically and in research, and end with new CMS national coverage determinations for respiratory assist devices and home mechanical ventilators—changes most private payers will soon mirror—so we can discuss how to qualify patients for devices.</a:t>
            </a:r>
          </a:p>
          <a:p>
            <a:br>
              <a:rPr lang="en-US" dirty="0"/>
            </a:br>
            <a:endParaRPr lang="en-US" dirty="0"/>
          </a:p>
          <a:p>
            <a:r>
              <a:rPr lang="en-US" dirty="0"/>
              <a:t>First, definitions. Hypercapnic respiratory failure is a syndrome—the pattern of signs and symptoms that accompany a CO₂ level that is too high—reflecting failed homeostasis: an imbalance between tissue CO₂ production and alveolar ventilation that allows </a:t>
            </a:r>
            <a:r>
              <a:rPr lang="en-US" dirty="0" err="1"/>
              <a:t>PaCO</a:t>
            </a:r>
            <a:r>
              <a:rPr lang="en-US" dirty="0"/>
              <a:t>₂ to rise. Hypercapnia itself is a finding defined against the distribution of normal values. Because “normal” shifts with altitude, the threshold for abnormality is lower here than at sea level; using 41–42 mmHg in Salt Lake City is appropriate. Payers don’t adjust coverage criteria for elevation, which may not matter for borderline cases clinically, but it matters for how we interpret a clinic </a:t>
            </a:r>
            <a:r>
              <a:rPr lang="en-US" dirty="0" err="1"/>
              <a:t>PaCO</a:t>
            </a:r>
            <a:r>
              <a:rPr lang="en-US" dirty="0"/>
              <a:t>₂ of 43–44 mmHg locally—that’s abnormal. Although one might imagine adding criteria (for example, excluding cases where elevated </a:t>
            </a:r>
            <a:r>
              <a:rPr lang="en-US" dirty="0" err="1"/>
              <a:t>PaCO</a:t>
            </a:r>
            <a:r>
              <a:rPr lang="en-US" dirty="0"/>
              <a:t>₂ is a proportional response to metabolic alkalosis—what I’d call “respiratory success”), </a:t>
            </a:r>
            <a:r>
              <a:rPr lang="en-US" dirty="0" err="1"/>
              <a:t>TriNetX</a:t>
            </a:r>
            <a:r>
              <a:rPr lang="en-US" dirty="0"/>
              <a:t> data suggest isolated, compensatory hypercapnia is rare. In practice, the syndrome is defined by a high CO₂.</a:t>
            </a:r>
          </a:p>
          <a:p>
            <a:br>
              <a:rPr lang="en-US" dirty="0"/>
            </a:br>
            <a:endParaRPr lang="en-US" dirty="0"/>
          </a:p>
          <a:p>
            <a:r>
              <a:rPr lang="en-US" dirty="0"/>
              <a:t>I prefer the term ventilatory failure because homeostasis can fail without overt hypercapnia when the physiologic context calls for a lower </a:t>
            </a:r>
            <a:r>
              <a:rPr lang="en-US" dirty="0" err="1"/>
              <a:t>PaCO</a:t>
            </a:r>
            <a:r>
              <a:rPr lang="en-US" dirty="0"/>
              <a:t>₂. The framework I use is supply versus demand: can the patient sustain the ventilation the situation requires? Demand depends on three variables: the dead-space fraction (the portion of each breath wasted for CO₂ exchange), tissue CO₂ production, and the target </a:t>
            </a:r>
            <a:r>
              <a:rPr lang="en-US" dirty="0" err="1"/>
              <a:t>PaCO</a:t>
            </a:r>
            <a:r>
              <a:rPr lang="en-US" dirty="0"/>
              <a:t>₂ appropriate to the situation. If dead space increases, required ventilation rises. If CO₂ production rises, required ventilation rises proportionally. If the target </a:t>
            </a:r>
            <a:r>
              <a:rPr lang="en-US" dirty="0" err="1"/>
              <a:t>PaCO</a:t>
            </a:r>
            <a:r>
              <a:rPr lang="en-US" dirty="0"/>
              <a:t>₂ is lower, required ventilation climbs nonlinearly.</a:t>
            </a:r>
          </a:p>
          <a:p>
            <a:br>
              <a:rPr lang="en-US" dirty="0"/>
            </a:br>
            <a:endParaRPr lang="en-US" dirty="0"/>
          </a:p>
          <a:p>
            <a:r>
              <a:rPr lang="en-US" dirty="0"/>
              <a:t>Supply—the maximal sustainable ventilation—depends on respiratory muscle capacity and mechanical advantage, the stability of respiratory control, and the loads on the system. Loads include resistive loads (like breathing through a straw), elastic loads (inflating a stiff lung or chest wall), and, in many acute settings, threshold and inertial loads. Opioids and sleep alter control stability; COPD with hyperinflation, neuromuscular disease, and pleural or chest wall disease alter mechanics. Patients whose chronic loads push them close to their sustainable limit have little physiologic reserve. Think of a person with COPD whose FEV₁ is well under a liter: a small increase in demand can precipitate failure. Those are the patients who need close attention, as highlighted by prior work in this area.</a:t>
            </a:r>
          </a:p>
          <a:p>
            <a:br>
              <a:rPr lang="en-US" dirty="0"/>
            </a:br>
            <a:endParaRPr lang="en-US" dirty="0"/>
          </a:p>
          <a:p>
            <a:r>
              <a:rPr lang="en-US" dirty="0"/>
              <a:t>It’s worth dwelling on the goal </a:t>
            </a:r>
            <a:r>
              <a:rPr lang="en-US" dirty="0" err="1"/>
              <a:t>PaCO</a:t>
            </a:r>
            <a:r>
              <a:rPr lang="en-US" dirty="0"/>
              <a:t>₂. Mathematically, a higher </a:t>
            </a:r>
            <a:r>
              <a:rPr lang="en-US" dirty="0" err="1"/>
              <a:t>PaCO</a:t>
            </a:r>
            <a:r>
              <a:rPr lang="en-US" dirty="0"/>
              <a:t>₂ target lowers required ventilation, which can seem counterintuitive. Elevated CO₂ signals a response to some underlying stress, but from a mechanics standpoint, higher alveolar CO₂ allows each exhaled breath to carry a higher CO₂ concentration, reducing the total ventilation needed to maintain steady state. That’s the rationale for permissive hypercapnia in lung-protective ventilation: allowing </a:t>
            </a:r>
            <a:r>
              <a:rPr lang="en-US" dirty="0" err="1"/>
              <a:t>PaCO</a:t>
            </a:r>
            <a:r>
              <a:rPr lang="en-US" dirty="0"/>
              <a:t>₂ to rise lets us reduce ventilatory pressures. Evidence from ECMO cohorts and from patients with kidney injury suggests that for a given CO₂ rise, lack of metabolic compensation portends worse outcomes in ARDS, partly reflecting multi-organ failure and partly the ongoing mechanical stress on lungs. This raises a question: if higher </a:t>
            </a:r>
            <a:r>
              <a:rPr lang="en-US" dirty="0" err="1"/>
              <a:t>PaCO</a:t>
            </a:r>
            <a:r>
              <a:rPr lang="en-US" dirty="0"/>
              <a:t>₂ lowers ventilatory work and pH can be maintained at any </a:t>
            </a:r>
            <a:r>
              <a:rPr lang="en-US" dirty="0" err="1"/>
              <a:t>PaCO</a:t>
            </a:r>
            <a:r>
              <a:rPr lang="en-US" dirty="0"/>
              <a:t>₂ with sufficient bicarbonate, why isn’t the set point much higher—why not a </a:t>
            </a:r>
            <a:r>
              <a:rPr lang="en-US" dirty="0" err="1"/>
              <a:t>PaCO</a:t>
            </a:r>
            <a:r>
              <a:rPr lang="en-US" dirty="0"/>
              <a:t>₂ of 90 with a bicarbonate of 45? The answer likely lies in oxygen. By the alveolar gas equation, CO₂ “occupies space” that would otherwise contribute to alveolar oxygen; at room air (</a:t>
            </a:r>
            <a:r>
              <a:rPr lang="en-US" dirty="0" err="1"/>
              <a:t>FiO</a:t>
            </a:r>
            <a:r>
              <a:rPr lang="en-US" dirty="0"/>
              <a:t>₂ 0.21), a higher </a:t>
            </a:r>
            <a:r>
              <a:rPr lang="en-US" dirty="0" err="1"/>
              <a:t>PaCO</a:t>
            </a:r>
            <a:r>
              <a:rPr lang="en-US" dirty="0"/>
              <a:t>₂ erodes the oxygenation buffer. The transition from acute to chronic hypercapnia seems to involve a control-system calculation that balances the effort of breathing against the cost of reduced oxygen margin. In chronic respiratory failure, the old “can’t breathe/won’t breathe” dichotomy doesn’t help.</a:t>
            </a:r>
          </a:p>
          <a:p>
            <a:br>
              <a:rPr lang="en-US" dirty="0"/>
            </a:br>
            <a:endParaRPr lang="en-US" dirty="0"/>
          </a:p>
          <a:p>
            <a:r>
              <a:rPr lang="en-US" dirty="0"/>
              <a:t>Severe hypercapnia as a survivable state is relatively new in medicine. Before supplemental oxygen, significant hypercapnia generally meant death. Only about 75 years ago did clinicians begin to recognize and treat it. Hannah Wunsch’s The Autumn Ghost recounts how, during the early polio epidemics, somnolence and unresponsiveness were attributed to encephalitis (“</a:t>
            </a:r>
            <a:r>
              <a:rPr lang="en-US" dirty="0" err="1"/>
              <a:t>cerebrelia</a:t>
            </a:r>
            <a:r>
              <a:rPr lang="en-US" dirty="0"/>
              <a:t>”) until clinicians provided manual positive-pressure breaths and patients woke up—revealing CO₂ retention as the true cause and inaugurating modern critical care.</a:t>
            </a:r>
          </a:p>
          <a:p>
            <a:br>
              <a:rPr lang="en-US" dirty="0"/>
            </a:br>
            <a:endParaRPr lang="en-US" dirty="0"/>
          </a:p>
          <a:p>
            <a:r>
              <a:rPr lang="en-US" dirty="0"/>
              <a:t>I argue that hypercapnic respiratory failure management is a large, solvable, and neglected problem. On scale: an Australian study in the Blue Journal estimated a population-standardized period prevalence of </a:t>
            </a:r>
            <a:r>
              <a:rPr lang="en-US" dirty="0" err="1"/>
              <a:t>PaCO</a:t>
            </a:r>
            <a:r>
              <a:rPr lang="en-US" dirty="0"/>
              <a:t>₂ ≥45 mmHg (excluding iatrogenic causes) of 150 per 100,000 person-years—higher than decompensated cirrhosis in the United States, which is roughly 100 per 100,000. A limitation is that not every patient with hypercapnia gets a blood gas, so ascertainment is imperfect. The only study I know that checked blood gases without clinical indication—a 2005 Denver VA study of consecutive admissions with BMI ≥35—found elevation-adjusted hypercapnia in about a third of patients, with only about one in ten recognized clinically.</a:t>
            </a:r>
          </a:p>
          <a:p>
            <a:br>
              <a:rPr lang="en-US" dirty="0"/>
            </a:br>
            <a:endParaRPr lang="en-US" dirty="0"/>
          </a:p>
          <a:p>
            <a:r>
              <a:rPr lang="en-US" dirty="0"/>
              <a:t>Our group used the Utah Population Database to estimate pre‑COVID yearly period prevalence of ICD codes for hypercapnic respiratory failure in Utah; there were about 4,000–5,000 codes per year across five primary codes, which normalizes to roughly 150 per 100,000—again, in that same ballpark. </a:t>
            </a:r>
            <a:r>
              <a:rPr lang="en-US" dirty="0" err="1"/>
              <a:t>TriNetX</a:t>
            </a:r>
            <a:r>
              <a:rPr lang="en-US" dirty="0"/>
              <a:t> analyses help interpret this: among patients with hypercapnia on blood gas, about a third in the ED and about 40% in inpatient settings receive an ICD code for hypercapnic respiratory failure, suggesting code-based counts may underestimate the true burden by up to a factor of three.</a:t>
            </a:r>
          </a:p>
          <a:p>
            <a:br>
              <a:rPr lang="en-US" dirty="0"/>
            </a:br>
            <a:endParaRPr lang="en-US" dirty="0"/>
          </a:p>
          <a:p>
            <a:r>
              <a:rPr lang="en-US" dirty="0"/>
              <a:t>Outcomes are concerning across etiologies. A single-center study from Vermont of inpatients with an ICD code for hypercapnic respiratory failure showed a 30‑day readmission rate of about 25%, similar to heart failure and higher than myocardial infarction, with two-thirds readmitted for recurrent hypercapnia. In the Michigan health system, even compensated hypercapnia on blood gas was associated with increased mortality; a </a:t>
            </a:r>
            <a:r>
              <a:rPr lang="en-US" dirty="0" err="1"/>
              <a:t>PaCO</a:t>
            </a:r>
            <a:r>
              <a:rPr lang="en-US" dirty="0"/>
              <a:t>₂ in the 50–65 mmHg range carried a risk roughly comparable to decompensated cirrhosis, with higher </a:t>
            </a:r>
            <a:r>
              <a:rPr lang="en-US" dirty="0" err="1"/>
              <a:t>PaCO</a:t>
            </a:r>
            <a:r>
              <a:rPr lang="en-US" dirty="0"/>
              <a:t>₂ worse and milder elevations somewhat better. In </a:t>
            </a:r>
            <a:r>
              <a:rPr lang="en-US" dirty="0" err="1"/>
              <a:t>TriNetX</a:t>
            </a:r>
            <a:r>
              <a:rPr lang="en-US" dirty="0"/>
              <a:t> data, among about 30,000 patients with hypercapnic respiratory failure codes (mean age ~65), two‑month mortality was 20% and climbed to about 30% by nine months.</a:t>
            </a:r>
          </a:p>
          <a:p>
            <a:br>
              <a:rPr lang="en-US" dirty="0"/>
            </a:br>
            <a:endParaRPr lang="en-US" dirty="0"/>
          </a:p>
          <a:p>
            <a:r>
              <a:rPr lang="en-US" dirty="0"/>
              <a:t>These patients are also expensive to care for. Office of Inspector General reports document dramatic growth in use of home mechanical ventilators and noninvasive respiratory assist devices beginning around 2013, with more than a hundred‑fold increases relative to 2009 baselines. Comprehensive cost estimates are lacking, which is why one of our first seed‑grant projects is an economic analysis linking Intermountain Health records to Select Health claims. We call this AIM‑HIGH (Artificial Intelligence for Modifiable Health Indicators in Groups with High Needs), starting with hypercapnic respiratory failure and extending to other high‑utilization conditions, using machine learning to identify patients at risk and intervene.</a:t>
            </a:r>
          </a:p>
          <a:p>
            <a:br>
              <a:rPr lang="en-US" dirty="0"/>
            </a:br>
            <a:endParaRPr lang="en-US" dirty="0"/>
          </a:p>
          <a:p>
            <a:r>
              <a:rPr lang="en-US" dirty="0"/>
              <a:t>Therapeutic options exist, although the evidence base is uneven. Guidelines for obesity hypoventilation recommend treatment despite surprisingly low levels of evidence. There are randomized trials in neuromuscular weakness (and in cystic fibrosis, though not discussed today), and there is a dozen‑plus trials of long‑term noninvasive ventilation in chronic stable hypercapnic respiratory failure that are generally supportive when done appropriately. It is not all NIV. Weight‑loss interventions matter for the sleep‑disordered breathing component of hypercapnia. The FDA has approved </a:t>
            </a:r>
            <a:r>
              <a:rPr lang="en-US" dirty="0" err="1"/>
              <a:t>tirzepatide</a:t>
            </a:r>
            <a:r>
              <a:rPr lang="en-US" dirty="0"/>
              <a:t> for obstructive sleep apnea, and our meta‑analysis shows a dose‑dependent improvement in OSA with both surgical and medical weight loss. Although we don’t yet know the exact fraction of hypercapnia attributable to sleep apnea, several cohorts that systematically tested ICU survivors of hypercapnic respiratory failure found that the majority had moderate to severe OSA. Even outside strict OHS definitions, sleep apnea likely plays a substantial causal role that we systematically miss without testing.</a:t>
            </a:r>
          </a:p>
          <a:p>
            <a:br>
              <a:rPr lang="en-US" dirty="0"/>
            </a:br>
            <a:endParaRPr lang="en-US" dirty="0"/>
          </a:p>
          <a:p>
            <a:r>
              <a:rPr lang="en-US" dirty="0"/>
              <a:t>These needs have prompted a movement to formalize a subspecialty in chronic respiratory failure. An </a:t>
            </a:r>
            <a:r>
              <a:rPr lang="en-US" dirty="0" err="1"/>
              <a:t>AnnalsATS</a:t>
            </a:r>
            <a:r>
              <a:rPr lang="en-US" dirty="0"/>
              <a:t> piece last year makes the case: roughly 300 clinicians nationwide specialize in managing chronic respiratory failure—far too few for current needs—and care requires both device expertise and structured processes around DME ordering and respiratory therapy support. Subspecialty designation could solidify a research paradigm and allow us to advocate for structural changes.</a:t>
            </a:r>
          </a:p>
          <a:p>
            <a:br>
              <a:rPr lang="en-US" dirty="0"/>
            </a:br>
            <a:endParaRPr lang="en-US" dirty="0"/>
          </a:p>
          <a:p>
            <a:r>
              <a:rPr lang="en-US" dirty="0"/>
              <a:t>Two evidence gaps hinder effective care. First, real patients usually have multiple contributing causes for hypercapnia, but most trials target single‑cause cohorts. Trials of hypercapnic COPD often enroll patients with average BMIs around 25 and exclude comorbid sleep apnea; the definition of OHS, in turn, excludes patients with even modest contributions from heart failure or COPD. What should we do for someone with COPD, heart failure, and sleep‑disordered breathing? The evidence rarely applies cleanly, so we extrapolate. Second, the evidence presupposes a definitive diagnosis, whereas in practice hypercapnic respiratory failure often precedes the diagnosis of the causative condition. Patients are admitted without prior spirometry, sleep testing, or sometimes even an established outpatient relationship; they’re stabilized and discharged; testing is ordered but often not completed; and care transitions create opportunities to fall through the cracks.</a:t>
            </a:r>
          </a:p>
          <a:p>
            <a:br>
              <a:rPr lang="en-US" dirty="0"/>
            </a:br>
            <a:endParaRPr lang="en-US" dirty="0"/>
          </a:p>
          <a:p>
            <a:r>
              <a:rPr lang="en-US" dirty="0"/>
              <a:t>We examined statewide testing patterns using the Utah Population Database and the All‑Payer Claims Database (covering ~90% of commercially insured patients and ~70% of other care from 2015–2019). Among patients with inpatient or ED encounters coded for hypercapnic respiratory failure, roughly two‑thirds had an echocardiogram in the five years before the index event, but only about one in three had spirometry and about one in five had sleep testing. In the year after the event—including the index hospitalization—about half received an echocardiogram, but only ~one in eight had spirometry and ~one in ten had sleep testing. These figures likely underestimate testing only slightly (e.g., in‑migrants), and they underscore a system‑level gap. Our CO₂‑PATH cohort (Post‑Acute Trajectories of Hypercapnia) is designed to define the denominator rigorously, follow trajectories after discharge, benchmark testing and outcomes across the state, and, crucially, help distinguish frailty markers from ventilatory targets that can alter risk.</a:t>
            </a:r>
          </a:p>
          <a:p>
            <a:br>
              <a:rPr lang="en-US" dirty="0"/>
            </a:br>
            <a:endParaRPr lang="en-US" dirty="0"/>
          </a:p>
          <a:p>
            <a:r>
              <a:rPr lang="en-US" dirty="0"/>
              <a:t>The usual post‑discharge workflow helps explain low completion rates. An inpatient team prescribes a home mechanical ventilator; the DME company receives the order and sends a respiratory therapist to set up equipment and educate the family; referrals go to PDNs and to pulmonary clinic; PFTs are typically ordered before the pulmonary visit; sleep referrals are placed and often misunderstood by patients who presented with daytime dyspnea. Many steps occur before any specialist discussion, and each step can derail. This argues for two parallel efforts: measure how the system is performing now (CO₂‑PATH) and move toward risk‑based referrals and early empiric management when indicated.</a:t>
            </a:r>
          </a:p>
          <a:p>
            <a:br>
              <a:rPr lang="en-US" dirty="0"/>
            </a:br>
            <a:endParaRPr lang="en-US" dirty="0"/>
          </a:p>
          <a:p>
            <a:r>
              <a:rPr lang="en-US" dirty="0"/>
              <a:t>Based on ICD counts, I estimate 5,000–6,000 hypercapnic respiratory failure cases present to acute care or ED settings within Intermountain annually. Not all require specialty care—some are transient, iatrogenic, or manageable in primary or general pulmonary care—but we need to identify the subset at high risk of readmission if we don’t intervene. AIM‑HIGH, which links Intermountain clinical data with Select Health claims, is designed to stratify that risk and target resources.</a:t>
            </a:r>
          </a:p>
          <a:p>
            <a:br>
              <a:rPr lang="en-US" dirty="0"/>
            </a:br>
            <a:endParaRPr lang="en-US" dirty="0"/>
          </a:p>
          <a:p>
            <a:r>
              <a:rPr lang="en-US" dirty="0"/>
              <a:t>In the Schmidt Clinic, I spend most of my time managing chronic respiratory failure. Our three main referral streams are high‑risk post‑discharge patients via the pulmonary disease navigators (Claire Davies and Megan Hepworth), internal referrals for potential NIV starts, and a neuromuscular clinic. We don’t have an ALS center at Intermountain, so those patients go to the university, but other neuromuscular patients come to our clinic. We could accept more referrals from PM&amp;R, post‑acute facilities, and patients initially triaged to sleep clinics for suspected OHS who are ultimately determined not to have a primary sleep‑breathing disorder. Much of this care can be handled remotely. Device downloads provide rich information; paired with video visits, we can deliver high‑fidelity care and potentially expand our geographic reach.</a:t>
            </a:r>
          </a:p>
          <a:p>
            <a:br>
              <a:rPr lang="en-US" dirty="0"/>
            </a:br>
            <a:endParaRPr lang="en-US" dirty="0"/>
          </a:p>
          <a:p>
            <a:r>
              <a:rPr lang="en-US" dirty="0"/>
              <a:t>To close, I want to clarify device categories and the new coverage rules. “Respiratory assist device” is a term coined when CPAP for sleep apnea and hospital ventilators had distinct roles; CMS wanted to avoid paying for home ventilators for the entire sleep apnea population. The community adopted “RAD” to signal that these were not ventilators. The technology has matured: modern RADs can do bilevel, backup rates, and volume‑assured pressure support (volume‑targeted pressure support). Some capabilities still require a home mechanical ventilator, such as AVAPS‑AE (volume assurance with adjustable EPAP) and other advanced modes used in severe disease. RADs typically cap maximum inspiratory pressures around 30 cm H₂O, which sounds high until you recall that contemporary COPD NIV trials have mean IPAPs in the mid‑20s and about a quarter of patients above 30. RAD settings can be changed remotely; HMV settings generally cannot. RADs are capped‑rental and eventually owned by the patient; HMVs fall under frequent‑and‑substantial‑servicing rental and include bundled respiratory therapy support.</a:t>
            </a:r>
          </a:p>
          <a:p>
            <a:br>
              <a:rPr lang="en-US" dirty="0"/>
            </a:br>
            <a:endParaRPr lang="en-US" dirty="0"/>
          </a:p>
          <a:p>
            <a:r>
              <a:rPr lang="en-US" dirty="0"/>
              <a:t>Historically, RAD qualification pathways were fragmented (restrictive thoracic disorders, hypercapnic COPD, hypoventilation), with requirements that often didn’t match the indication—for example, obligate nocturnal hypoxemia in COPD candidates. CMS recently approved a new national coverage determination. Neuromuscular criteria are unchanged: a qualifying diagnosis plus either hypercapnia, nocturnal hypoxemia, or spirometry criteria. The COPD bucket is now effectively “all chronic respiratory failure,” which is confusing but pragmatic. There are two paths: outpatient and discharge. The outpatient path doesn’t require PFTs; it does require stable daytime </a:t>
            </a:r>
            <a:r>
              <a:rPr lang="en-US" dirty="0" err="1"/>
              <a:t>PaCO</a:t>
            </a:r>
            <a:r>
              <a:rPr lang="en-US" dirty="0"/>
              <a:t>₂ ≥52 mmHg and a determination that sleep apnea isn’t the sole cause (not necessarily proven by polysomnography or nocturnal oximetry). The discharge path requires full RAD settings documented within 24 hours of discharge and a clinical judgment that the device is needed to avoid symptoms or rapid CO₂ rise. Both paths now include re‑qualification every six months, including average use of at least five hours per 24 hours and documented improvement in CO₂, exacerbations, or symptoms—which will increase clinic volume and require workflow adjustments.</a:t>
            </a:r>
          </a:p>
          <a:p>
            <a:br>
              <a:rPr lang="en-US" dirty="0"/>
            </a:br>
            <a:endParaRPr lang="en-US" dirty="0"/>
          </a:p>
          <a:p>
            <a:r>
              <a:rPr lang="en-US" dirty="0"/>
              <a:t>HMV previously had an easier bar: a qualifying condition plus a statement that interruption of support would quickly lead to serious harm or death. That disparity helped drive HMV use upward, not always because patients needed ventilators, but because RAD qualification was onerous. Under the updated rules, neuromuscular indications for HMV are unchanged. For non‑neuromuscular chronic respiratory failure, the outpatient path now requires meeting RAD criteria plus at least one additional need (an advanced mode, higher IPAP requirements, or failure of RAD), and in our setting, oxygen needs above roughly 36% (about 4 L/min) can also support the case when combined with one of those criteria. The discharge path hinges on documented inpatient use of the HMV within 24 hours and capabilities that exceed what a RAD can provide, with full settings documented. Ongoing follow‑up requirements align with those for RADs.</a:t>
            </a:r>
          </a:p>
          <a:p>
            <a:br>
              <a:rPr lang="en-US" dirty="0"/>
            </a:br>
            <a:endParaRPr lang="en-US" dirty="0"/>
          </a:p>
          <a:p>
            <a:r>
              <a:rPr lang="en-US" dirty="0"/>
              <a:t>If you’re interested in collaborating on hypercapnia research, have ideas about referrals, or want to discuss specific patients, please reach out in the EHR (soon via Epic) or by email. This is a team effort: our pulmonary disease navigators, Claire Davies and Megan Hepworth, do a tremendous amount of the day‑to‑day work, and our research partners span Intermountain, Select Health, the University of Utah, and UC Davis. I’m happy to take questions.</a:t>
            </a:r>
          </a:p>
          <a:p>
            <a:endParaRPr lang="en-US" dirty="0"/>
          </a:p>
        </p:txBody>
      </p:sp>
      <p:sp>
        <p:nvSpPr>
          <p:cNvPr id="4" name="Slide Number Placeholder 3"/>
          <p:cNvSpPr>
            <a:spLocks noGrp="1"/>
          </p:cNvSpPr>
          <p:nvPr>
            <p:ph type="sldNum" sz="quarter" idx="5"/>
          </p:nvPr>
        </p:nvSpPr>
        <p:spPr/>
        <p:txBody>
          <a:bodyPr/>
          <a:lstStyle/>
          <a:p>
            <a:fld id="{D9F161F6-7AD5-774A-B12A-C32F3626F083}" type="slidenum">
              <a:rPr lang="en-US" smtClean="0"/>
              <a:t>1</a:t>
            </a:fld>
            <a:endParaRPr lang="en-US"/>
          </a:p>
        </p:txBody>
      </p:sp>
    </p:spTree>
    <p:extLst>
      <p:ext uri="{BB962C8B-B14F-4D97-AF65-F5344CB8AC3E}">
        <p14:creationId xmlns:p14="http://schemas.microsoft.com/office/powerpoint/2010/main" val="32736449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2</a:t>
            </a:fld>
            <a:endParaRPr lang="en-US"/>
          </a:p>
        </p:txBody>
      </p:sp>
    </p:spTree>
    <p:extLst>
      <p:ext uri="{BB962C8B-B14F-4D97-AF65-F5344CB8AC3E}">
        <p14:creationId xmlns:p14="http://schemas.microsoft.com/office/powerpoint/2010/main" val="4320730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grant-making schema: </a:t>
            </a:r>
          </a:p>
          <a:p>
            <a:pPr marL="171450" indent="-171450">
              <a:buFontTx/>
              <a:buChar char="-"/>
            </a:pPr>
            <a:r>
              <a:rPr lang="en-US" dirty="0"/>
              <a:t>How big is the problem</a:t>
            </a:r>
          </a:p>
          <a:p>
            <a:pPr marL="171450" indent="-171450">
              <a:buFontTx/>
              <a:buChar char="-"/>
            </a:pPr>
            <a:r>
              <a:rPr lang="en-US" dirty="0"/>
              <a:t>How solvable is it? </a:t>
            </a:r>
          </a:p>
          <a:p>
            <a:pPr marL="171450" indent="-171450">
              <a:buFontTx/>
              <a:buChar char="-"/>
            </a:pPr>
            <a:r>
              <a:rPr lang="en-US" dirty="0"/>
              <a:t>How many people are working to solve it?  (</a:t>
            </a:r>
            <a:r>
              <a:rPr lang="en-US" dirty="0" err="1"/>
              <a:t>ie</a:t>
            </a:r>
            <a:r>
              <a:rPr lang="en-US" dirty="0"/>
              <a:t> if we spend a bit more resources on this problem, will it make a difference?)</a:t>
            </a:r>
          </a:p>
          <a:p>
            <a:pPr marL="171450" indent="-171450">
              <a:buFontTx/>
              <a:buChar char="-"/>
            </a:pPr>
            <a:endParaRPr lang="en-US" dirty="0"/>
          </a:p>
          <a:p>
            <a:pPr marL="171450" indent="-171450">
              <a:buFontTx/>
              <a:buChar char="-"/>
            </a:pPr>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3</a:t>
            </a:fld>
            <a:endParaRPr lang="en-US"/>
          </a:p>
        </p:txBody>
      </p:sp>
    </p:spTree>
    <p:extLst>
      <p:ext uri="{BB962C8B-B14F-4D97-AF65-F5344CB8AC3E}">
        <p14:creationId xmlns:p14="http://schemas.microsoft.com/office/powerpoint/2010/main" val="35721193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E131E-07F3-5664-79C0-FDB531D953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595914-BACB-DBC9-2EEC-E9A62FF68E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7C25D0-3E9B-15BC-C3E2-B326440FDDA4}"/>
              </a:ext>
            </a:extLst>
          </p:cNvPr>
          <p:cNvSpPr>
            <a:spLocks noGrp="1"/>
          </p:cNvSpPr>
          <p:nvPr>
            <p:ph type="body" idx="1"/>
          </p:nvPr>
        </p:nvSpPr>
        <p:spPr/>
        <p:txBody>
          <a:bodyPr/>
          <a:lstStyle/>
          <a:p>
            <a:pPr marL="171450" indent="-171450">
              <a:buFontTx/>
              <a:buChar char="-"/>
            </a:pPr>
            <a:endParaRPr lang="en-US" dirty="0"/>
          </a:p>
        </p:txBody>
      </p:sp>
      <p:sp>
        <p:nvSpPr>
          <p:cNvPr id="4" name="Slide Number Placeholder 3">
            <a:extLst>
              <a:ext uri="{FF2B5EF4-FFF2-40B4-BE49-F238E27FC236}">
                <a16:creationId xmlns:a16="http://schemas.microsoft.com/office/drawing/2014/main" id="{5FBBA1CA-A056-27F6-9D71-C9F9F6B2D3DF}"/>
              </a:ext>
            </a:extLst>
          </p:cNvPr>
          <p:cNvSpPr>
            <a:spLocks noGrp="1"/>
          </p:cNvSpPr>
          <p:nvPr>
            <p:ph type="sldNum" sz="quarter" idx="5"/>
          </p:nvPr>
        </p:nvSpPr>
        <p:spPr/>
        <p:txBody>
          <a:bodyPr/>
          <a:lstStyle/>
          <a:p>
            <a:fld id="{7F4F0C85-FC02-4C4E-8B1A-6BB950A69184}" type="slidenum">
              <a:rPr lang="en-US" smtClean="0"/>
              <a:t>4</a:t>
            </a:fld>
            <a:endParaRPr lang="en-US"/>
          </a:p>
        </p:txBody>
      </p:sp>
    </p:spTree>
    <p:extLst>
      <p:ext uri="{BB962C8B-B14F-4D97-AF65-F5344CB8AC3E}">
        <p14:creationId xmlns:p14="http://schemas.microsoft.com/office/powerpoint/2010/main" val="20425201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F4F0C85-FC02-4C4E-8B1A-6BB950A69184}" type="slidenum">
              <a:rPr lang="en-US" smtClean="0"/>
              <a:t>9</a:t>
            </a:fld>
            <a:endParaRPr lang="en-US"/>
          </a:p>
        </p:txBody>
      </p:sp>
    </p:spTree>
    <p:extLst>
      <p:ext uri="{BB962C8B-B14F-4D97-AF65-F5344CB8AC3E}">
        <p14:creationId xmlns:p14="http://schemas.microsoft.com/office/powerpoint/2010/main" val="41793130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C5348-91FF-6C2E-FEC2-A4D06ACC1E5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BB4C7B7-E89F-F4F0-807C-64BC84E7B2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5E20536-36D8-4517-7CBA-D1D1FE79AA6A}"/>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4F267A02-C6E7-9718-CF81-08A1D9DC46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C37E473-F494-4E27-99C0-34A7224EE648}"/>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3507014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113E5E-87FF-669F-CD7D-0F9A0A4C2FA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ECE7506-158E-D90F-7C22-96F88463A9E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684CAD-4E34-35ED-7479-C217BC4CF424}"/>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2B966E64-638E-9908-DD52-847A5E599D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7DB6E3-CBDC-35EC-8B7A-D382270FFEC9}"/>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8196375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B3CA8F-2DCA-3843-87D9-545D32C71B9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F607785-68F3-8D14-0473-201C157326A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355D7C5-69EB-BDF0-68F0-47385ECEAB14}"/>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BF497610-B8EB-655B-702E-90BCB36339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E839B-7B8A-171C-C48E-D074C316E5A0}"/>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0906726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A08C8A-4833-A169-AE97-84765B12E1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4BEA08F-D104-669A-DBAA-8E18E5DB2E6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EACF25B-E93F-8B3E-B55A-CA6BBD038DC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789BAB2-09BD-B5F3-C781-0CAA8B93B47C}"/>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6" name="Footer Placeholder 5">
            <a:extLst>
              <a:ext uri="{FF2B5EF4-FFF2-40B4-BE49-F238E27FC236}">
                <a16:creationId xmlns:a16="http://schemas.microsoft.com/office/drawing/2014/main" id="{CA08199A-76A8-F9C6-3CBE-B94069C3F2F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F1A505F-DB9A-56C6-47D9-C7C21031B5F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8426641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3B3D23-41D5-4BC3-1858-46F186F566D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D0242BC-6CBD-BA1B-73EB-DEB6236102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339DD13-1EC5-8FA5-A585-795E20FA2F0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0717523-1C91-FF9F-3E5E-D9E9CB54787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840271-BC78-7113-442B-7E800D70D8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71CC412E-37C1-6F23-B888-5A5550A87767}"/>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8" name="Footer Placeholder 7">
            <a:extLst>
              <a:ext uri="{FF2B5EF4-FFF2-40B4-BE49-F238E27FC236}">
                <a16:creationId xmlns:a16="http://schemas.microsoft.com/office/drawing/2014/main" id="{7C1DAEB4-7FA6-4763-9630-004C576D8E0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95CA12-92B0-C366-F5FF-87CC247FDD27}"/>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5226352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A9CA6-8559-C196-DB12-F8D9FD6B72B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4718351-13AC-869F-69B6-05626F93C1C5}"/>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4" name="Footer Placeholder 3">
            <a:extLst>
              <a:ext uri="{FF2B5EF4-FFF2-40B4-BE49-F238E27FC236}">
                <a16:creationId xmlns:a16="http://schemas.microsoft.com/office/drawing/2014/main" id="{FF2CF895-E559-CFE5-9F05-C3205D7995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D15669C-783B-D7DC-4E0B-3238F9B4513F}"/>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529910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819D8A-437A-6967-C3A8-3C65A63AD2BC}"/>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3" name="Footer Placeholder 2">
            <a:extLst>
              <a:ext uri="{FF2B5EF4-FFF2-40B4-BE49-F238E27FC236}">
                <a16:creationId xmlns:a16="http://schemas.microsoft.com/office/drawing/2014/main" id="{0FFD7AEE-C060-E81C-9B7F-7EDD5875ED7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DD60FF4-0997-396D-873D-8FFA0B244D8D}"/>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21257845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C3E8D0-4D60-7EEF-DEC9-2EEC152F97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5D59E60-6E29-3269-21E1-2AE5E3D11E9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4641270-F766-A002-ACE7-A288947BAA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E1C9E1-8F22-FAFC-D736-D36D59F582F1}"/>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6" name="Footer Placeholder 5">
            <a:extLst>
              <a:ext uri="{FF2B5EF4-FFF2-40B4-BE49-F238E27FC236}">
                <a16:creationId xmlns:a16="http://schemas.microsoft.com/office/drawing/2014/main" id="{9E2AEB03-65A7-A691-B57C-3451711970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AD322C-18A9-E0B2-C2FF-BA0E732822BB}"/>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1740777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6C4D6-197F-000C-6AC9-EDD71C72D48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237D2BF-B6D9-F30C-3103-DE6BE2FE90E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9384A07-3318-090A-7317-30B9E5A2420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3AFF879-3FFD-ACB5-B7E1-99E787256AF8}"/>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6" name="Footer Placeholder 5">
            <a:extLst>
              <a:ext uri="{FF2B5EF4-FFF2-40B4-BE49-F238E27FC236}">
                <a16:creationId xmlns:a16="http://schemas.microsoft.com/office/drawing/2014/main" id="{7002E427-0147-39DA-E6F9-C401377B3E3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BC63E81-1FD0-4C8F-1567-D4F8698F3AA2}"/>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31107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FB687-78D0-E8C2-CAF9-D106A47E7FC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91FB3F2-A480-DE47-AF7D-5AC821EC76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CA20EC-5A59-1252-989C-E16961F7EEED}"/>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F6715AE4-305A-141F-EAFB-6FAACDE4D0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55F7FE-1B7B-B2FA-ABC0-D2723703092A}"/>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7355420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1C9CA5E-75F2-933A-DB7F-33148E920B7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33FD5A6-F9DB-4951-59AC-E2DB6D45124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652A90-B6B6-9B79-25C0-073FD7053DAF}"/>
              </a:ext>
            </a:extLst>
          </p:cNvPr>
          <p:cNvSpPr>
            <a:spLocks noGrp="1"/>
          </p:cNvSpPr>
          <p:nvPr>
            <p:ph type="dt" sz="half" idx="10"/>
          </p:nvPr>
        </p:nvSpPr>
        <p:spPr/>
        <p:txBody>
          <a:body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D35A74F2-473E-18FD-136F-19EC4C2F46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29115F1-5F18-09D3-DDC8-6A4F8376EFDC}"/>
              </a:ext>
            </a:extLst>
          </p:cNvPr>
          <p:cNvSpPr>
            <a:spLocks noGrp="1"/>
          </p:cNvSpPr>
          <p:nvPr>
            <p:ph type="sldNum" sz="quarter" idx="12"/>
          </p:nvPr>
        </p:nvSpPr>
        <p:spPr/>
        <p:txBody>
          <a:bodyPr/>
          <a:lstStyle/>
          <a:p>
            <a:fld id="{5E3790D0-B9BD-1747-B3D5-7F13B94238DC}" type="slidenum">
              <a:rPr lang="en-US" smtClean="0"/>
              <a:t>‹#›</a:t>
            </a:fld>
            <a:endParaRPr lang="en-US"/>
          </a:p>
        </p:txBody>
      </p:sp>
    </p:spTree>
    <p:extLst>
      <p:ext uri="{BB962C8B-B14F-4D97-AF65-F5344CB8AC3E}">
        <p14:creationId xmlns:p14="http://schemas.microsoft.com/office/powerpoint/2010/main" val="35874678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7F5F9"/>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4D145F-B434-8F43-2809-AE977E4D2EF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D5F45D8-71D2-87F1-506E-3E629AF96C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D77E5F3-CFBD-0583-3550-1C624EDFC06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B5031F0-EA56-3740-A29C-52740243DB2E}" type="datetimeFigureOut">
              <a:rPr lang="en-US" smtClean="0"/>
              <a:t>3/8/26</a:t>
            </a:fld>
            <a:endParaRPr lang="en-US"/>
          </a:p>
        </p:txBody>
      </p:sp>
      <p:sp>
        <p:nvSpPr>
          <p:cNvPr id="5" name="Footer Placeholder 4">
            <a:extLst>
              <a:ext uri="{FF2B5EF4-FFF2-40B4-BE49-F238E27FC236}">
                <a16:creationId xmlns:a16="http://schemas.microsoft.com/office/drawing/2014/main" id="{CD3542C5-C1D2-E987-DA18-3467DE5222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DE4A7B8-F248-2A95-60D5-0FBFBE57040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E3790D0-B9BD-1747-B3D5-7F13B94238DC}" type="slidenum">
              <a:rPr lang="en-US" smtClean="0"/>
              <a:t>‹#›</a:t>
            </a:fld>
            <a:endParaRPr lang="en-US"/>
          </a:p>
        </p:txBody>
      </p:sp>
      <p:sp>
        <p:nvSpPr>
          <p:cNvPr id="900" name="Accent Bar"/>
          <p:cNvSpPr/>
          <p:nvPr/>
        </p:nvSpPr>
        <p:spPr>
          <a:xfrm>
            <a:off x="0" y="6705600"/>
            <a:ext cx="12192000" cy="152400"/>
          </a:xfrm>
          <a:prstGeom prst="rect">
            <a:avLst/>
          </a:prstGeom>
          <a:solidFill>
            <a:srgbClr val="0D7377"/>
          </a:solidFill>
          <a:ln>
            <a:noFill/>
          </a:ln>
        </p:spPr>
        <p:txBody>
          <a:bodyPr/>
          <a:lstStyle/>
          <a:p>
            <a:endParaRPr lang="en-US"/>
          </a:p>
        </p:txBody>
      </p:sp>
      <p:sp>
        <p:nvSpPr>
          <p:cNvPr id="901" name="Top Accent"/>
          <p:cNvSpPr/>
          <p:nvPr/>
        </p:nvSpPr>
        <p:spPr>
          <a:xfrm>
            <a:off x="457200" y="1371600"/>
            <a:ext cx="101600" cy="27432"/>
          </a:xfrm>
          <a:prstGeom prst="rect">
            <a:avLst/>
          </a:prstGeom>
          <a:solidFill>
            <a:srgbClr val="0D7377"/>
          </a:solidFill>
          <a:ln>
            <a:noFill/>
          </a:ln>
        </p:spPr>
        <p:txBody>
          <a:bodyPr/>
          <a:lstStyle/>
          <a:p>
            <a:endParaRPr lang="en-US"/>
          </a:p>
        </p:txBody>
      </p:sp>
      <p:sp>
        <p:nvSpPr>
          <p:cNvPr id="7" name="IH Accent Bar"/>
          <p:cNvSpPr/>
          <p:nvPr userDrawn="1"/>
        </p:nvSpPr>
        <p:spPr>
          <a:xfrm>
            <a:off x="0" y="6662100"/>
            <a:ext cx="12192000" cy="91440"/>
          </a:xfrm>
          <a:prstGeom prst="rect">
            <a:avLst/>
          </a:prstGeom>
          <a:solidFill>
            <a:srgbClr val="4A00E2"/>
          </a:solidFill>
          <a:ln>
            <a:noFill/>
          </a:ln>
        </p:spPr>
        <p:txBody>
          <a:bodyPr/>
          <a:lstStyle/>
          <a:p>
            <a:endParaRPr lang="en-US"/>
          </a:p>
        </p:txBody>
      </p:sp>
      <p:sp>
        <p:nvSpPr>
          <p:cNvPr id="8" name="IH Top Accent"/>
          <p:cNvSpPr/>
          <p:nvPr userDrawn="1"/>
        </p:nvSpPr>
        <p:spPr>
          <a:xfrm>
            <a:off x="0" y="0"/>
            <a:ext cx="182880" cy="6858000"/>
          </a:xfrm>
          <a:prstGeom prst="rect">
            <a:avLst/>
          </a:prstGeom>
          <a:gradFill>
            <a:gsLst>
              <a:gs pos="0">
                <a:srgbClr val="110057"/>
              </a:gs>
              <a:gs pos="50000">
                <a:srgbClr val="4A00E2"/>
              </a:gs>
              <a:gs pos="100000">
                <a:srgbClr val="FF0044"/>
              </a:gs>
            </a:gsLst>
            <a:lin ang="5400000" scaled="1"/>
          </a:gradFill>
          <a:ln>
            <a:noFill/>
          </a:ln>
        </p:spPr>
        <p:txBody>
          <a:bodyPr/>
          <a:lstStyle/>
          <a:p>
            <a:endParaRPr lang="en-US"/>
          </a:p>
        </p:txBody>
      </p:sp>
    </p:spTree>
    <p:extLst>
      <p:ext uri="{BB962C8B-B14F-4D97-AF65-F5344CB8AC3E}">
        <p14:creationId xmlns:p14="http://schemas.microsoft.com/office/powerpoint/2010/main" val="51633268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90000"/>
        </a:lnSpc>
        <a:spcBef>
          <a:spcPct val="0"/>
        </a:spcBef>
        <a:buNone/>
        <a:defRPr sz="4400" kern="1200">
          <a:solidFill>
            <a:srgbClr val="110057"/>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rgbClr val="110057"/>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rgbClr val="110057"/>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rgbClr val="110057"/>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rgbClr val="110057"/>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10057">
            <a:alpha val="100000"/>
          </a:srgbClr>
        </a:solidFill>
        <a:effectLst/>
      </p:bgPr>
    </p:bg>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49949279-7160-3C4B-9AD0-5A922D346777}"/>
              </a:ext>
            </a:extLst>
          </p:cNvPr>
          <p:cNvSpPr txBox="1"/>
          <p:nvPr/>
        </p:nvSpPr>
        <p:spPr>
          <a:xfrm>
            <a:off x="762000" y="1270000"/>
            <a:ext cx="5842000" cy="1077218"/>
          </a:xfrm>
          <a:prstGeom prst="rect">
            <a:avLst/>
          </a:prstGeom>
          <a:noFill/>
        </p:spPr>
        <p:txBody>
          <a:bodyPr vertOverflow="overflow" vert="horz" wrap="square" rtlCol="0" anchor="t">
            <a:spAutoFit/>
          </a:bodyPr>
          <a:lstStyle/>
          <a:p>
            <a:pPr algn="l"/>
            <a:r>
              <a:rPr lang="en-US" sz="3200" b="1" dirty="0">
                <a:solidFill>
                  <a:srgbClr val="FFFFFF"/>
                </a:solidFill>
                <a:latin typeface="Arial"/>
                <a:cs typeface="Arial"/>
              </a:rPr>
              <a:t>Hypercapnic Respiratory Failure</a:t>
            </a:r>
          </a:p>
        </p:txBody>
      </p:sp>
      <p:sp>
        <p:nvSpPr>
          <p:cNvPr id="8" name="TextBox 7">
            <a:extLst>
              <a:ext uri="{FF2B5EF4-FFF2-40B4-BE49-F238E27FC236}">
                <a16:creationId xmlns:a16="http://schemas.microsoft.com/office/drawing/2014/main" id="{532D1CBF-38E5-7942-99AE-A6C8870FED72}"/>
              </a:ext>
            </a:extLst>
          </p:cNvPr>
          <p:cNvSpPr txBox="1"/>
          <p:nvPr/>
        </p:nvSpPr>
        <p:spPr>
          <a:xfrm>
            <a:off x="762000" y="2410717"/>
            <a:ext cx="5842000" cy="369332"/>
          </a:xfrm>
          <a:prstGeom prst="rect">
            <a:avLst/>
          </a:prstGeom>
          <a:noFill/>
        </p:spPr>
        <p:txBody>
          <a:bodyPr vertOverflow="overflow" vert="horz" wrap="square" rtlCol="0" anchor="t">
            <a:spAutoFit/>
          </a:bodyPr>
          <a:lstStyle/>
          <a:p>
            <a:pPr algn="l"/>
            <a:r>
              <a:rPr lang="en-US" dirty="0">
                <a:solidFill>
                  <a:srgbClr val="FFFFFF"/>
                </a:solidFill>
                <a:latin typeface="Arial"/>
                <a:cs typeface="Arial"/>
              </a:rPr>
              <a:t>Research Program at Intermountain Health</a:t>
            </a:r>
          </a:p>
        </p:txBody>
      </p:sp>
      <p:sp>
        <p:nvSpPr>
          <p:cNvPr id="10" name="TextBox 9">
            <a:extLst>
              <a:ext uri="{FF2B5EF4-FFF2-40B4-BE49-F238E27FC236}">
                <a16:creationId xmlns:a16="http://schemas.microsoft.com/office/drawing/2014/main" id="{97889B6C-300B-8541-8E37-5093EDD69217}"/>
              </a:ext>
            </a:extLst>
          </p:cNvPr>
          <p:cNvSpPr txBox="1"/>
          <p:nvPr/>
        </p:nvSpPr>
        <p:spPr>
          <a:xfrm>
            <a:off x="762000" y="3059448"/>
            <a:ext cx="5842000" cy="406400"/>
          </a:xfrm>
          <a:prstGeom prst="rect">
            <a:avLst/>
          </a:prstGeom>
          <a:noFill/>
        </p:spPr>
        <p:txBody>
          <a:bodyPr vertOverflow="overflow" vert="horz" wrap="square" rtlCol="0" anchor="t">
            <a:spAutoFit/>
          </a:bodyPr>
          <a:lstStyle/>
          <a:p>
            <a:pPr algn="l"/>
            <a:r>
              <a:rPr lang="en-US" b="1">
                <a:solidFill>
                  <a:srgbClr val="FFFFFF"/>
                </a:solidFill>
                <a:latin typeface="Arial"/>
                <a:cs typeface="Arial"/>
              </a:rPr>
              <a:t>Brian W. Locke, MD MSCI</a:t>
            </a:r>
          </a:p>
        </p:txBody>
      </p:sp>
      <p:sp>
        <p:nvSpPr>
          <p:cNvPr id="11" name="TextBox 10">
            <a:extLst>
              <a:ext uri="{FF2B5EF4-FFF2-40B4-BE49-F238E27FC236}">
                <a16:creationId xmlns:a16="http://schemas.microsoft.com/office/drawing/2014/main" id="{990D32D7-0A78-ED45-99E4-C07755940DE3}"/>
              </a:ext>
            </a:extLst>
          </p:cNvPr>
          <p:cNvSpPr txBox="1"/>
          <p:nvPr/>
        </p:nvSpPr>
        <p:spPr>
          <a:xfrm>
            <a:off x="762000" y="3478548"/>
            <a:ext cx="5588000" cy="738664"/>
          </a:xfrm>
          <a:prstGeom prst="rect">
            <a:avLst/>
          </a:prstGeom>
          <a:noFill/>
        </p:spPr>
        <p:txBody>
          <a:bodyPr vertOverflow="overflow" vert="horz" wrap="square" rtlCol="0" anchor="t">
            <a:spAutoFit/>
          </a:bodyPr>
          <a:lstStyle/>
          <a:p>
            <a:pPr algn="l"/>
            <a:r>
              <a:rPr lang="en-US" sz="1400" dirty="0">
                <a:solidFill>
                  <a:srgbClr val="D4C8E8"/>
                </a:solidFill>
                <a:latin typeface="Arial"/>
                <a:cs typeface="Arial"/>
              </a:rPr>
              <a:t>Assistant Professor of Research
Shock Trauma ICU &amp; Schmidt Chest Clinic
Pulmonary &amp; Critical Care, Intermountain Medical Center</a:t>
            </a:r>
          </a:p>
        </p:txBody>
      </p:sp>
      <p:sp>
        <p:nvSpPr>
          <p:cNvPr id="12" name="TextBox 11">
            <a:extLst>
              <a:ext uri="{FF2B5EF4-FFF2-40B4-BE49-F238E27FC236}">
                <a16:creationId xmlns:a16="http://schemas.microsoft.com/office/drawing/2014/main" id="{4B6DD8C4-656F-D34F-B4BA-4C4656814FB4}"/>
              </a:ext>
            </a:extLst>
          </p:cNvPr>
          <p:cNvSpPr txBox="1"/>
          <p:nvPr/>
        </p:nvSpPr>
        <p:spPr>
          <a:xfrm>
            <a:off x="762000" y="4407712"/>
            <a:ext cx="5588000" cy="523220"/>
          </a:xfrm>
          <a:prstGeom prst="rect">
            <a:avLst/>
          </a:prstGeom>
          <a:noFill/>
        </p:spPr>
        <p:txBody>
          <a:bodyPr vertOverflow="overflow" vert="horz" wrap="square" rtlCol="0" anchor="t">
            <a:spAutoFit/>
          </a:bodyPr>
          <a:lstStyle/>
          <a:p>
            <a:pPr algn="l"/>
            <a:r>
              <a:rPr lang="en-US" sz="1400" i="1" dirty="0">
                <a:solidFill>
                  <a:srgbClr val="C4B8D9"/>
                </a:solidFill>
                <a:latin typeface="Arial"/>
                <a:cs typeface="Arial"/>
              </a:rPr>
              <a:t>COI: Mountain Biometrics (automated data harmonization) — unrelated to this work</a:t>
            </a:r>
          </a:p>
        </p:txBody>
      </p:sp>
      <p:sp>
        <p:nvSpPr>
          <p:cNvPr id="13" name="TextBox 12">
            <a:extLst>
              <a:ext uri="{FF2B5EF4-FFF2-40B4-BE49-F238E27FC236}">
                <a16:creationId xmlns:a16="http://schemas.microsoft.com/office/drawing/2014/main" id="{E9B08D1A-0C96-3C41-8947-8B28F2C62E8D}"/>
              </a:ext>
            </a:extLst>
          </p:cNvPr>
          <p:cNvSpPr txBox="1"/>
          <p:nvPr/>
        </p:nvSpPr>
        <p:spPr>
          <a:xfrm>
            <a:off x="762000" y="5032532"/>
            <a:ext cx="5588000" cy="304800"/>
          </a:xfrm>
          <a:prstGeom prst="rect">
            <a:avLst/>
          </a:prstGeom>
          <a:noFill/>
        </p:spPr>
        <p:txBody>
          <a:bodyPr vertOverflow="overflow" vert="horz" wrap="square" rtlCol="0" anchor="t">
            <a:spAutoFit/>
          </a:bodyPr>
          <a:lstStyle/>
          <a:p>
            <a:pPr algn="l"/>
            <a:r>
              <a:rPr lang="en-US" sz="1400" dirty="0">
                <a:solidFill>
                  <a:srgbClr val="C4B8D9"/>
                </a:solidFill>
                <a:latin typeface="Arial"/>
                <a:cs typeface="Arial"/>
              </a:rPr>
              <a:t>Research Leadership Team — Mar 2026</a:t>
            </a:r>
          </a:p>
        </p:txBody>
      </p:sp>
      <p:sp>
        <p:nvSpPr>
          <p:cNvPr id="4" name="Rectangle 3">
            <a:extLst>
              <a:ext uri="{FF2B5EF4-FFF2-40B4-BE49-F238E27FC236}">
                <a16:creationId xmlns:a16="http://schemas.microsoft.com/office/drawing/2014/main" id="{CC3174D3-72F8-6442-B799-27571097B14E}"/>
              </a:ext>
            </a:extLst>
          </p:cNvPr>
          <p:cNvSpPr/>
          <p:nvPr/>
        </p:nvSpPr>
        <p:spPr>
          <a:xfrm>
            <a:off x="762000" y="2946400"/>
            <a:ext cx="762000" cy="381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E79E9197-41E2-0C44-B569-88722BCD25A3}"/>
              </a:ext>
            </a:extLst>
          </p:cNvPr>
          <p:cNvSpPr txBox="1"/>
          <p:nvPr/>
        </p:nvSpPr>
        <p:spPr>
          <a:xfrm>
            <a:off x="762000" y="6223000"/>
            <a:ext cx="5080000" cy="254000"/>
          </a:xfrm>
          <a:prstGeom prst="rect">
            <a:avLst/>
          </a:prstGeom>
          <a:noFill/>
        </p:spPr>
        <p:txBody>
          <a:bodyPr vertOverflow="overflow" vert="horz" wrap="square" rtlCol="0" anchor="t">
            <a:spAutoFit/>
          </a:bodyPr>
          <a:lstStyle/>
          <a:p>
            <a:pPr algn="l"/>
            <a:r>
              <a:rPr lang="en-US" sz="1400" i="1">
                <a:solidFill>
                  <a:srgbClr val="A090C0"/>
                </a:solidFill>
                <a:latin typeface="Arial"/>
                <a:cs typeface="Arial"/>
              </a:rPr>
              <a:t>Confidential and property of Intermountain Health</a:t>
            </a:r>
          </a:p>
        </p:txBody>
      </p:sp>
      <p:sp>
        <p:nvSpPr>
          <p:cNvPr id="15" name="Rectangle 14">
            <a:extLst>
              <a:ext uri="{FF2B5EF4-FFF2-40B4-BE49-F238E27FC236}">
                <a16:creationId xmlns:a16="http://schemas.microsoft.com/office/drawing/2014/main" id="{B2CB8598-9BA9-DF4F-8FAE-7358FCE34732}"/>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12" name="CO2 Buildup Glow"/>
          <p:cNvSpPr/>
          <p:nvPr/>
        </p:nvSpPr>
        <p:spPr>
          <a:xfrm>
            <a:off x="5867400" y="2273300"/>
            <a:ext cx="2184400" cy="2184400"/>
          </a:xfrm>
          <a:prstGeom prst="ellipse">
            <a:avLst/>
          </a:prstGeom>
          <a:solidFill>
            <a:srgbClr val="FF4444">
              <a:alpha val="22000"/>
            </a:srgbClr>
          </a:solidFill>
          <a:ln>
            <a:noFill/>
          </a:ln>
        </p:spPr>
        <p:txBody>
          <a:bodyPr/>
          <a:lstStyle/>
          <a:p>
            <a:endParaRPr lang="en-US"/>
          </a:p>
        </p:txBody>
      </p:sp>
      <p:sp>
        <p:nvSpPr>
          <p:cNvPr id="413" name="CO2 Buildup Outer"/>
          <p:cNvSpPr/>
          <p:nvPr/>
        </p:nvSpPr>
        <p:spPr>
          <a:xfrm>
            <a:off x="5715000" y="2120900"/>
            <a:ext cx="2489200" cy="2489200"/>
          </a:xfrm>
          <a:prstGeom prst="ellipse">
            <a:avLst/>
          </a:prstGeom>
          <a:solidFill>
            <a:srgbClr val="FF2200">
              <a:alpha val="12000"/>
            </a:srgbClr>
          </a:solidFill>
          <a:ln>
            <a:noFill/>
          </a:ln>
        </p:spPr>
        <p:txBody>
          <a:bodyPr/>
          <a:lstStyle/>
          <a:p>
            <a:endParaRPr lang="en-US"/>
          </a:p>
        </p:txBody>
      </p:sp>
      <p:sp>
        <p:nvSpPr>
          <p:cNvPr id="400" name="Pulmonary Gear"/>
          <p:cNvSpPr/>
          <p:nvPr/>
        </p:nvSpPr>
        <p:spPr>
          <a:xfrm>
            <a:off x="6096000" y="2501900"/>
            <a:ext cx="1727200" cy="1727200"/>
          </a:xfrm>
          <a:prstGeom prst="gear9">
            <a:avLst/>
          </a:prstGeom>
          <a:solidFill>
            <a:srgbClr val="5BA4CC"/>
          </a:solidFill>
          <a:ln w="15875">
            <a:solidFill>
              <a:srgbClr val="4A8FB5"/>
            </a:solidFill>
          </a:ln>
        </p:spPr>
        <p:txBody>
          <a:bodyPr wrap="square" lIns="0" tIns="0" rIns="0" bIns="0" anchor="ctr" anchorCtr="1"/>
          <a:lstStyle/>
          <a:p>
            <a:pPr algn="ctr"/>
            <a:r>
              <a:rPr lang="en-US" sz="1100" b="1" dirty="0">
                <a:solidFill>
                  <a:srgbClr val="FFFFFF"/>
                </a:solidFill>
                <a:latin typeface="Arial"/>
              </a:rPr>
              <a:t>Pulmonary</a:t>
            </a:r>
          </a:p>
        </p:txBody>
      </p:sp>
      <p:sp>
        <p:nvSpPr>
          <p:cNvPr id="401" name="Circulation Gear"/>
          <p:cNvSpPr/>
          <p:nvPr/>
        </p:nvSpPr>
        <p:spPr>
          <a:xfrm>
            <a:off x="7569200" y="2501900"/>
            <a:ext cx="1727200" cy="1727200"/>
          </a:xfrm>
          <a:prstGeom prst="gear9">
            <a:avLst/>
          </a:prstGeom>
          <a:solidFill>
            <a:srgbClr val="CC2244"/>
          </a:solidFill>
          <a:ln w="15875">
            <a:solidFill>
              <a:srgbClr val="AA1A38"/>
            </a:solidFill>
          </a:ln>
        </p:spPr>
        <p:txBody>
          <a:bodyPr wrap="square" lIns="0" tIns="0" rIns="0" bIns="0" anchor="ctr" anchorCtr="1"/>
          <a:lstStyle/>
          <a:p>
            <a:pPr algn="ctr"/>
            <a:r>
              <a:rPr lang="en-US" sz="1100" b="1" dirty="0">
                <a:solidFill>
                  <a:srgbClr val="FFFFFF"/>
                </a:solidFill>
                <a:latin typeface="Arial"/>
              </a:rPr>
              <a:t>Circulation</a:t>
            </a:r>
          </a:p>
        </p:txBody>
      </p:sp>
      <p:sp>
        <p:nvSpPr>
          <p:cNvPr id="402" name="Muscle Gear"/>
          <p:cNvSpPr/>
          <p:nvPr/>
        </p:nvSpPr>
        <p:spPr>
          <a:xfrm>
            <a:off x="9042400" y="2501900"/>
            <a:ext cx="1727200" cy="1727200"/>
          </a:xfrm>
          <a:prstGeom prst="gear9">
            <a:avLst/>
          </a:prstGeom>
          <a:solidFill>
            <a:srgbClr val="4A00E2"/>
          </a:solidFill>
          <a:ln w="15875">
            <a:solidFill>
              <a:srgbClr val="3800B0"/>
            </a:solidFill>
          </a:ln>
        </p:spPr>
        <p:txBody>
          <a:bodyPr wrap="square" lIns="0" tIns="0" rIns="0" bIns="0" anchor="ctr" anchorCtr="1"/>
          <a:lstStyle/>
          <a:p>
            <a:pPr algn="ctr"/>
            <a:r>
              <a:rPr lang="en-US" sz="1100" b="1" dirty="0">
                <a:solidFill>
                  <a:srgbClr val="FFFFFF"/>
                </a:solidFill>
                <a:latin typeface="Arial"/>
              </a:rPr>
              <a:t>Muscle</a:t>
            </a:r>
          </a:p>
        </p:txBody>
      </p:sp>
      <p:sp>
        <p:nvSpPr>
          <p:cNvPr id="415" name="Attribution"/>
          <p:cNvSpPr/>
          <p:nvPr/>
        </p:nvSpPr>
        <p:spPr>
          <a:xfrm>
            <a:off x="7289800" y="4675544"/>
            <a:ext cx="2286000" cy="123111"/>
          </a:xfrm>
          <a:prstGeom prst="rect">
            <a:avLst/>
          </a:prstGeom>
          <a:noFill/>
          <a:ln>
            <a:noFill/>
          </a:ln>
        </p:spPr>
        <p:txBody>
          <a:bodyPr wrap="square" lIns="0" tIns="0" rIns="0" bIns="0" anchor="ctr" anchorCtr="1">
            <a:spAutoFit/>
          </a:bodyPr>
          <a:lstStyle/>
          <a:p>
            <a:pPr algn="ctr"/>
            <a:r>
              <a:rPr lang="en-US" sz="800" i="1" dirty="0">
                <a:solidFill>
                  <a:srgbClr val="8A7BB8"/>
                </a:solidFill>
                <a:latin typeface="Arial"/>
              </a:rPr>
              <a:t>adapted from Wasserman et al.</a:t>
            </a:r>
          </a:p>
        </p:txBody>
      </p:sp>
      <p:sp>
        <p:nvSpPr>
          <p:cNvPr id="420" name="O2 Flow"/>
          <p:cNvSpPr/>
          <p:nvPr/>
        </p:nvSpPr>
        <p:spPr>
          <a:xfrm>
            <a:off x="6159500" y="2231767"/>
            <a:ext cx="4546600" cy="184666"/>
          </a:xfrm>
          <a:prstGeom prst="rect">
            <a:avLst/>
          </a:prstGeom>
          <a:noFill/>
          <a:ln>
            <a:noFill/>
          </a:ln>
        </p:spPr>
        <p:txBody>
          <a:bodyPr wrap="square" lIns="0" tIns="0" rIns="0" bIns="0" anchor="ctr" anchorCtr="1">
            <a:spAutoFit/>
          </a:bodyPr>
          <a:lstStyle/>
          <a:p>
            <a:pPr algn="ctr"/>
            <a:r>
              <a:rPr lang="en-US" sz="1200" b="1" dirty="0">
                <a:solidFill>
                  <a:srgbClr val="B8E0F8"/>
                </a:solidFill>
                <a:latin typeface="Arial"/>
              </a:rPr>
              <a:t>O₂ →</a:t>
            </a:r>
          </a:p>
        </p:txBody>
      </p:sp>
      <p:sp>
        <p:nvSpPr>
          <p:cNvPr id="421" name="CO2 Buildup"/>
          <p:cNvSpPr/>
          <p:nvPr/>
        </p:nvSpPr>
        <p:spPr>
          <a:xfrm>
            <a:off x="6159500" y="4339967"/>
            <a:ext cx="4546600" cy="184666"/>
          </a:xfrm>
          <a:prstGeom prst="rect">
            <a:avLst/>
          </a:prstGeom>
          <a:noFill/>
          <a:ln>
            <a:noFill/>
          </a:ln>
        </p:spPr>
        <p:txBody>
          <a:bodyPr wrap="square" lIns="0" tIns="0" rIns="0" bIns="0" anchor="ctr" anchorCtr="1">
            <a:spAutoFit/>
          </a:bodyPr>
          <a:lstStyle/>
          <a:p>
            <a:pPr algn="ctr"/>
            <a:r>
              <a:rPr lang="en-US" sz="1200" b="1" dirty="0">
                <a:solidFill>
                  <a:srgbClr val="FF7777"/>
                </a:solidFill>
                <a:latin typeface="Arial"/>
              </a:rPr>
              <a:t>← CO₂ buildup</a:t>
            </a:r>
          </a:p>
        </p:txBody>
      </p:sp>
    </p:spTree>
    <p:extLst>
      <p:ext uri="{BB962C8B-B14F-4D97-AF65-F5344CB8AC3E}">
        <p14:creationId xmlns:p14="http://schemas.microsoft.com/office/powerpoint/2010/main" val="15080154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2" name="Oval 1">
            <a:extLst>
              <a:ext uri="{FF2B5EF4-FFF2-40B4-BE49-F238E27FC236}">
                <a16:creationId xmlns:a16="http://schemas.microsoft.com/office/drawing/2014/main" id="{4836AA61-91E9-A14E-B438-59309171B7D8}"/>
              </a:ext>
            </a:extLst>
          </p:cNvPr>
          <p:cNvSpPr/>
          <p:nvPr/>
        </p:nvSpPr>
        <p:spPr>
          <a:xfrm>
            <a:off x="635000" y="1206500"/>
            <a:ext cx="2159000" cy="2159000"/>
          </a:xfrm>
          <a:prstGeom prst="ellipse">
            <a:avLst/>
          </a:prstGeom>
          <a:blipFill>
            <a:blip r:embed="rId3"/>
            <a:stretch>
              <a:fillRect/>
            </a:stretch>
          </a:blip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endParaRPr lang="en-US" sz="4000" b="1" dirty="0">
              <a:solidFill>
                <a:srgbClr val="4A00E2"/>
              </a:solidFill>
              <a:latin typeface="Arial"/>
              <a:cs typeface="Arial"/>
            </a:endParaRPr>
          </a:p>
        </p:txBody>
      </p:sp>
      <p:sp>
        <p:nvSpPr>
          <p:cNvPr id="19" name="TextBox 18">
            <a:extLst>
              <a:ext uri="{FF2B5EF4-FFF2-40B4-BE49-F238E27FC236}">
                <a16:creationId xmlns:a16="http://schemas.microsoft.com/office/drawing/2014/main" id="{37A88D11-FC99-1D44-A3B9-0E9C7817CD30}"/>
              </a:ext>
            </a:extLst>
          </p:cNvPr>
          <p:cNvSpPr txBox="1"/>
          <p:nvPr/>
        </p:nvSpPr>
        <p:spPr>
          <a:xfrm>
            <a:off x="3175000" y="254000"/>
            <a:ext cx="5080000" cy="279400"/>
          </a:xfrm>
          <a:prstGeom prst="rect">
            <a:avLst/>
          </a:prstGeom>
          <a:noFill/>
        </p:spPr>
        <p:txBody>
          <a:bodyPr vertOverflow="overflow" vert="horz" wrap="square" rtlCol="0" anchor="t">
            <a:noAutofit/>
          </a:bodyPr>
          <a:lstStyle/>
          <a:p>
            <a:pPr algn="l"/>
            <a:r>
              <a:rPr lang="en-US" sz="1400" b="1" dirty="0">
                <a:solidFill>
                  <a:srgbClr val="4A00E2"/>
                </a:solidFill>
                <a:latin typeface="Arial"/>
                <a:cs typeface="Arial"/>
              </a:rPr>
              <a:t>ABOUT</a:t>
            </a:r>
          </a:p>
        </p:txBody>
      </p:sp>
      <p:sp>
        <p:nvSpPr>
          <p:cNvPr id="20" name="TextBox 19">
            <a:extLst>
              <a:ext uri="{FF2B5EF4-FFF2-40B4-BE49-F238E27FC236}">
                <a16:creationId xmlns:a16="http://schemas.microsoft.com/office/drawing/2014/main" id="{2A26F8D6-6A61-1D48-B987-8993EAEF6248}"/>
              </a:ext>
            </a:extLst>
          </p:cNvPr>
          <p:cNvSpPr txBox="1"/>
          <p:nvPr/>
        </p:nvSpPr>
        <p:spPr>
          <a:xfrm>
            <a:off x="3175000" y="558800"/>
            <a:ext cx="7620000" cy="431800"/>
          </a:xfrm>
          <a:prstGeom prst="rect">
            <a:avLst/>
          </a:prstGeom>
          <a:noFill/>
        </p:spPr>
        <p:txBody>
          <a:bodyPr vertOverflow="overflow" vert="horz" wrap="square" rtlCol="0" anchor="t">
            <a:noAutofit/>
          </a:bodyPr>
          <a:lstStyle/>
          <a:p>
            <a:pPr algn="l"/>
            <a:r>
              <a:rPr lang="en-US" sz="2400" b="1">
                <a:solidFill>
                  <a:srgbClr val="110057"/>
                </a:solidFill>
                <a:latin typeface="Arial"/>
                <a:cs typeface="Arial"/>
              </a:rPr>
              <a:t>Brian W. Locke, MD MSCI</a:t>
            </a:r>
          </a:p>
        </p:txBody>
      </p:sp>
      <p:sp>
        <p:nvSpPr>
          <p:cNvPr id="21" name="TextBox 20">
            <a:extLst>
              <a:ext uri="{FF2B5EF4-FFF2-40B4-BE49-F238E27FC236}">
                <a16:creationId xmlns:a16="http://schemas.microsoft.com/office/drawing/2014/main" id="{127BD2E5-CF9F-4445-AEDA-8FD6E351A585}"/>
              </a:ext>
            </a:extLst>
          </p:cNvPr>
          <p:cNvSpPr txBox="1"/>
          <p:nvPr/>
        </p:nvSpPr>
        <p:spPr>
          <a:xfrm>
            <a:off x="3175000" y="990600"/>
            <a:ext cx="8382000" cy="254000"/>
          </a:xfrm>
          <a:prstGeom prst="rect">
            <a:avLst/>
          </a:prstGeom>
          <a:noFill/>
        </p:spPr>
        <p:txBody>
          <a:bodyPr vertOverflow="overflow" vert="horz" wrap="square" rtlCol="0" anchor="t">
            <a:noAutofit/>
          </a:bodyPr>
          <a:lstStyle/>
          <a:p>
            <a:pPr algn="l"/>
            <a:r>
              <a:rPr lang="en-US" sz="1400">
                <a:solidFill>
                  <a:srgbClr val="6B5B8A"/>
                </a:solidFill>
                <a:latin typeface="Arial"/>
                <a:cs typeface="Arial"/>
              </a:rPr>
              <a:t>Assistant Professor of Research · Pulmonary &amp; Critical Care · Intermountain Medical Center</a:t>
            </a:r>
          </a:p>
        </p:txBody>
      </p:sp>
      <p:sp>
        <p:nvSpPr>
          <p:cNvPr id="22" name="Rectangle 21">
            <a:extLst>
              <a:ext uri="{FF2B5EF4-FFF2-40B4-BE49-F238E27FC236}">
                <a16:creationId xmlns:a16="http://schemas.microsoft.com/office/drawing/2014/main" id="{F210D7AE-EEF6-EE4B-A915-83CAC185F47E}"/>
              </a:ext>
            </a:extLst>
          </p:cNvPr>
          <p:cNvSpPr/>
          <p:nvPr/>
        </p:nvSpPr>
        <p:spPr>
          <a:xfrm>
            <a:off x="3175000" y="1333500"/>
            <a:ext cx="1270000" cy="3175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3" name="TextBox 22">
            <a:extLst>
              <a:ext uri="{FF2B5EF4-FFF2-40B4-BE49-F238E27FC236}">
                <a16:creationId xmlns:a16="http://schemas.microsoft.com/office/drawing/2014/main" id="{8A4BA73A-5FE7-0A45-BCF0-15FA5B0428CF}"/>
              </a:ext>
            </a:extLst>
          </p:cNvPr>
          <p:cNvSpPr txBox="1"/>
          <p:nvPr/>
        </p:nvSpPr>
        <p:spPr>
          <a:xfrm>
            <a:off x="3175000" y="1498600"/>
            <a:ext cx="8382000" cy="913070"/>
          </a:xfrm>
          <a:prstGeom prst="rect">
            <a:avLst/>
          </a:prstGeom>
          <a:noFill/>
        </p:spPr>
        <p:txBody>
          <a:bodyPr vertOverflow="overflow" vert="horz" wrap="square" rtlCol="0" anchor="t">
            <a:spAutoFit/>
          </a:bodyPr>
          <a:lstStyle/>
          <a:p>
            <a:pPr algn="l">
              <a:spcAft>
                <a:spcPts val="500"/>
              </a:spcAft>
              <a:buNone/>
            </a:pPr>
            <a:r>
              <a:rPr lang="en-US" sz="1500" dirty="0">
                <a:solidFill>
                  <a:srgbClr val="110057"/>
                </a:solidFill>
                <a:latin typeface="Arial"/>
                <a:cs typeface="Arial"/>
              </a:rPr>
              <a:t>MD (Colorado)  · MSCI Clinical Investigation (Utah)  · BS Computer Science (Colorado)</a:t>
            </a:r>
          </a:p>
          <a:p>
            <a:pPr algn="l">
              <a:spcAft>
                <a:spcPts val="500"/>
              </a:spcAft>
              <a:buNone/>
            </a:pPr>
            <a:r>
              <a:rPr lang="en-US" sz="1500" dirty="0">
                <a:solidFill>
                  <a:srgbClr val="110057"/>
                </a:solidFill>
                <a:latin typeface="Arial"/>
                <a:cs typeface="Arial"/>
              </a:rPr>
              <a:t>Shock Trauma ICU + Schmidt Chest Clinic (chronic respiratory failure, HMV, OHS)</a:t>
            </a:r>
          </a:p>
          <a:p>
            <a:pPr algn="l">
              <a:spcAft>
                <a:spcPts val="500"/>
              </a:spcAft>
              <a:buNone/>
            </a:pPr>
            <a:r>
              <a:rPr lang="en-US" sz="1500" dirty="0">
                <a:solidFill>
                  <a:srgbClr val="110057"/>
                </a:solidFill>
                <a:latin typeface="Arial"/>
                <a:cs typeface="Arial"/>
              </a:rPr>
              <a:t>Core faculty, U of Utah PCCM Fellowship · Medical Machine Intelligence Lab</a:t>
            </a:r>
          </a:p>
        </p:txBody>
      </p:sp>
      <p:sp>
        <p:nvSpPr>
          <p:cNvPr id="24" name="Rectangle 23">
            <a:extLst>
              <a:ext uri="{FF2B5EF4-FFF2-40B4-BE49-F238E27FC236}">
                <a16:creationId xmlns:a16="http://schemas.microsoft.com/office/drawing/2014/main" id="{D0A548FF-6097-BD45-91CC-8D7F0F9A5B1C}"/>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5" name="Rounded Rectangle 24">
            <a:extLst>
              <a:ext uri="{FF2B5EF4-FFF2-40B4-BE49-F238E27FC236}">
                <a16:creationId xmlns:a16="http://schemas.microsoft.com/office/drawing/2014/main" id="{9D003111-F030-4F48-921B-D293CFAFE817}"/>
              </a:ext>
            </a:extLst>
          </p:cNvPr>
          <p:cNvSpPr/>
          <p:nvPr/>
        </p:nvSpPr>
        <p:spPr>
          <a:xfrm>
            <a:off x="508000" y="3530600"/>
            <a:ext cx="11176000" cy="1272724"/>
          </a:xfrm>
          <a:prstGeom prst="roundRect">
            <a:avLst/>
          </a:prstGeom>
          <a:solidFill>
            <a:srgbClr val="EEEAF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TextBox 25">
            <a:extLst>
              <a:ext uri="{FF2B5EF4-FFF2-40B4-BE49-F238E27FC236}">
                <a16:creationId xmlns:a16="http://schemas.microsoft.com/office/drawing/2014/main" id="{08A1555B-EAA2-6748-9D4D-B9B089A615C8}"/>
              </a:ext>
            </a:extLst>
          </p:cNvPr>
          <p:cNvSpPr txBox="1"/>
          <p:nvPr/>
        </p:nvSpPr>
        <p:spPr>
          <a:xfrm>
            <a:off x="698500" y="3632200"/>
            <a:ext cx="10795000" cy="1069524"/>
          </a:xfrm>
          <a:prstGeom prst="rect">
            <a:avLst/>
          </a:prstGeom>
          <a:noFill/>
        </p:spPr>
        <p:txBody>
          <a:bodyPr vertOverflow="overflow" vert="horz" wrap="square" rtlCol="0" anchor="t">
            <a:spAutoFit/>
          </a:bodyPr>
          <a:lstStyle/>
          <a:p>
            <a:pPr algn="l">
              <a:buNone/>
            </a:pPr>
            <a:r>
              <a:rPr lang="en-US" sz="1400" b="1" dirty="0">
                <a:solidFill>
                  <a:srgbClr val="4A00E2"/>
                </a:solidFill>
                <a:latin typeface="Arial"/>
                <a:cs typeface="Arial"/>
              </a:rPr>
              <a:t>Research focus</a:t>
            </a:r>
          </a:p>
          <a:p>
            <a:pPr algn="l">
              <a:spcBef>
                <a:spcPts val="300"/>
              </a:spcBef>
              <a:buFont typeface="Arial"/>
              <a:buChar char="•"/>
            </a:pPr>
            <a:r>
              <a:rPr lang="en-US" sz="1400" dirty="0">
                <a:solidFill>
                  <a:srgbClr val="110057"/>
                </a:solidFill>
                <a:latin typeface="Arial"/>
                <a:cs typeface="Arial"/>
              </a:rPr>
              <a:t>EHR phenotyping &amp; diagnostic modeling for hypercapnic respiratory failure</a:t>
            </a:r>
          </a:p>
          <a:p>
            <a:pPr algn="l">
              <a:spcBef>
                <a:spcPts val="300"/>
              </a:spcBef>
              <a:buFont typeface="Arial"/>
              <a:buChar char="•"/>
            </a:pPr>
            <a:r>
              <a:rPr lang="en-US" sz="1400" dirty="0">
                <a:solidFill>
                  <a:srgbClr val="110057"/>
                </a:solidFill>
                <a:latin typeface="Arial"/>
                <a:cs typeface="Arial"/>
              </a:rPr>
              <a:t>Building toward embedded pragmatic trials at Intermountain</a:t>
            </a:r>
          </a:p>
          <a:p>
            <a:pPr algn="l">
              <a:spcBef>
                <a:spcPts val="300"/>
              </a:spcBef>
              <a:buFont typeface="Arial"/>
              <a:buChar char="•"/>
            </a:pPr>
            <a:r>
              <a:rPr lang="en-US" sz="1400" dirty="0">
                <a:solidFill>
                  <a:srgbClr val="110057"/>
                </a:solidFill>
                <a:latin typeface="Arial"/>
                <a:cs typeface="Arial"/>
              </a:rPr>
              <a:t>First dedicated chronic respiratory failure subspecialist in the IH system</a:t>
            </a:r>
          </a:p>
        </p:txBody>
      </p:sp>
    </p:spTree>
    <p:extLst>
      <p:ext uri="{BB962C8B-B14F-4D97-AF65-F5344CB8AC3E}">
        <p14:creationId xmlns:p14="http://schemas.microsoft.com/office/powerpoint/2010/main" val="32988146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00C60959-346C-AA41-A54A-E115C45605E3}"/>
              </a:ext>
            </a:extLst>
          </p:cNvPr>
          <p:cNvSpPr txBox="1"/>
          <p:nvPr/>
        </p:nvSpPr>
        <p:spPr>
          <a:xfrm>
            <a:off x="762000" y="571500"/>
            <a:ext cx="5080000" cy="330200"/>
          </a:xfrm>
          <a:prstGeom prst="rect">
            <a:avLst/>
          </a:prstGeom>
          <a:noFill/>
        </p:spPr>
        <p:txBody>
          <a:bodyPr vertOverflow="overflow" vert="horz" wrap="square" rtlCol="0" anchor="t">
            <a:noAutofit/>
          </a:bodyPr>
          <a:lstStyle/>
          <a:p>
            <a:pPr algn="l"/>
            <a:r>
              <a:rPr lang="en-US" sz="1600" b="1" dirty="0">
                <a:solidFill>
                  <a:srgbClr val="4A00E2"/>
                </a:solidFill>
                <a:latin typeface="Arial"/>
                <a:cs typeface="Arial"/>
              </a:rPr>
              <a:t>The Scale of the Problem</a:t>
            </a:r>
          </a:p>
        </p:txBody>
      </p:sp>
      <p:sp>
        <p:nvSpPr>
          <p:cNvPr id="5" name="TextBox 4">
            <a:extLst>
              <a:ext uri="{FF2B5EF4-FFF2-40B4-BE49-F238E27FC236}">
                <a16:creationId xmlns:a16="http://schemas.microsoft.com/office/drawing/2014/main" id="{3A847715-A46F-6346-9E2C-3EE6470AE037}"/>
              </a:ext>
            </a:extLst>
          </p:cNvPr>
          <p:cNvSpPr txBox="1"/>
          <p:nvPr/>
        </p:nvSpPr>
        <p:spPr>
          <a:xfrm>
            <a:off x="762000" y="914400"/>
            <a:ext cx="8890000" cy="533400"/>
          </a:xfrm>
          <a:prstGeom prst="rect">
            <a:avLst/>
          </a:prstGeom>
          <a:noFill/>
        </p:spPr>
        <p:txBody>
          <a:bodyPr vertOverflow="overflow" vert="horz" wrap="square" rtlCol="0" anchor="t">
            <a:noAutofit/>
          </a:bodyPr>
          <a:lstStyle/>
          <a:p>
            <a:pPr algn="l"/>
            <a:r>
              <a:rPr lang="en-US" sz="2800" b="1" dirty="0">
                <a:solidFill>
                  <a:srgbClr val="110057"/>
                </a:solidFill>
                <a:latin typeface="Arial"/>
              </a:rPr>
              <a:t>A national burden, a local reality</a:t>
            </a:r>
          </a:p>
        </p:txBody>
      </p:sp>
      <p:sp>
        <p:nvSpPr>
          <p:cNvPr id="6" name="Rectangle 5">
            <a:extLst>
              <a:ext uri="{FF2B5EF4-FFF2-40B4-BE49-F238E27FC236}">
                <a16:creationId xmlns:a16="http://schemas.microsoft.com/office/drawing/2014/main" id="{7107A4E2-1F73-5941-82EF-314EC0187D1E}"/>
              </a:ext>
            </a:extLst>
          </p:cNvPr>
          <p:cNvSpPr/>
          <p:nvPr/>
        </p:nvSpPr>
        <p:spPr>
          <a:xfrm>
            <a:off x="762000" y="1587500"/>
            <a:ext cx="1524000" cy="381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ounded Rectangle 6">
            <a:extLst>
              <a:ext uri="{FF2B5EF4-FFF2-40B4-BE49-F238E27FC236}">
                <a16:creationId xmlns:a16="http://schemas.microsoft.com/office/drawing/2014/main" id="{6E395864-3979-F544-BD8C-C99C784FB486}"/>
              </a:ext>
            </a:extLst>
          </p:cNvPr>
          <p:cNvSpPr/>
          <p:nvPr/>
        </p:nvSpPr>
        <p:spPr>
          <a:xfrm>
            <a:off x="762000" y="2006600"/>
            <a:ext cx="3390900" cy="24130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89244F39-AD4A-C84A-B07B-F41B1C9DF70F}"/>
              </a:ext>
            </a:extLst>
          </p:cNvPr>
          <p:cNvSpPr txBox="1"/>
          <p:nvPr/>
        </p:nvSpPr>
        <p:spPr>
          <a:xfrm>
            <a:off x="952500" y="2159000"/>
            <a:ext cx="3009900" cy="533400"/>
          </a:xfrm>
          <a:prstGeom prst="rect">
            <a:avLst/>
          </a:prstGeom>
          <a:noFill/>
        </p:spPr>
        <p:txBody>
          <a:bodyPr vertOverflow="overflow" vert="horz" wrap="square" rtlCol="0" anchor="t">
            <a:noAutofit/>
          </a:bodyPr>
          <a:lstStyle/>
          <a:p>
            <a:pPr algn="l"/>
            <a:r>
              <a:rPr lang="en-US" sz="2600" b="1" dirty="0">
                <a:solidFill>
                  <a:srgbClr val="FFFFFF"/>
                </a:solidFill>
                <a:latin typeface="Arial"/>
              </a:rPr>
              <a:t>~150/100K</a:t>
            </a:r>
          </a:p>
        </p:txBody>
      </p:sp>
      <p:sp>
        <p:nvSpPr>
          <p:cNvPr id="10" name="TextBox 9">
            <a:extLst>
              <a:ext uri="{FF2B5EF4-FFF2-40B4-BE49-F238E27FC236}">
                <a16:creationId xmlns:a16="http://schemas.microsoft.com/office/drawing/2014/main" id="{4200C666-B55F-C44A-8E6B-4A7CBDA5F9CE}"/>
              </a:ext>
            </a:extLst>
          </p:cNvPr>
          <p:cNvSpPr txBox="1"/>
          <p:nvPr/>
        </p:nvSpPr>
        <p:spPr>
          <a:xfrm>
            <a:off x="952500" y="2692400"/>
            <a:ext cx="3009900" cy="279400"/>
          </a:xfrm>
          <a:prstGeom prst="rect">
            <a:avLst/>
          </a:prstGeom>
          <a:noFill/>
        </p:spPr>
        <p:txBody>
          <a:bodyPr vertOverflow="overflow" vert="horz" wrap="square" rtlCol="0" anchor="t">
            <a:noAutofit/>
          </a:bodyPr>
          <a:lstStyle/>
          <a:p>
            <a:pPr algn="l"/>
            <a:r>
              <a:rPr lang="en-US" sz="1400" b="1" dirty="0">
                <a:solidFill>
                  <a:srgbClr val="FFFFFF"/>
                </a:solidFill>
                <a:latin typeface="Arial"/>
                <a:cs typeface="Arial"/>
              </a:rPr>
              <a:t>GLOBALLY</a:t>
            </a:r>
          </a:p>
        </p:txBody>
      </p:sp>
      <p:sp>
        <p:nvSpPr>
          <p:cNvPr id="11" name="TextBox 10">
            <a:extLst>
              <a:ext uri="{FF2B5EF4-FFF2-40B4-BE49-F238E27FC236}">
                <a16:creationId xmlns:a16="http://schemas.microsoft.com/office/drawing/2014/main" id="{36D06C95-5A9C-3448-8877-2339FE3FAB52}"/>
              </a:ext>
            </a:extLst>
          </p:cNvPr>
          <p:cNvSpPr txBox="1"/>
          <p:nvPr/>
        </p:nvSpPr>
        <p:spPr>
          <a:xfrm>
            <a:off x="952500" y="2997200"/>
            <a:ext cx="3009900" cy="1143000"/>
          </a:xfrm>
          <a:prstGeom prst="rect">
            <a:avLst/>
          </a:prstGeom>
          <a:noFill/>
        </p:spPr>
        <p:txBody>
          <a:bodyPr vertOverflow="overflow" vert="horz" wrap="square" rtlCol="0" anchor="t">
            <a:noAutofit/>
          </a:bodyPr>
          <a:lstStyle/>
          <a:p>
            <a:pPr algn="l"/>
            <a:r>
              <a:rPr lang="en-US" sz="1400" dirty="0">
                <a:solidFill>
                  <a:srgbClr val="FFFFFF"/>
                </a:solidFill>
                <a:latin typeface="Arial"/>
                <a:cs typeface="Arial"/>
              </a:rPr>
              <a:t>person-years period prevalence</a:t>
            </a:r>
          </a:p>
          <a:p>
            <a:pPr algn="l"/>
            <a:r>
              <a:rPr lang="en-US" sz="1400" dirty="0">
                <a:solidFill>
                  <a:srgbClr val="E8E0F5"/>
                </a:solidFill>
                <a:latin typeface="Arial"/>
                <a:cs typeface="Arial"/>
              </a:rPr>
              <a:t>Comparable to decompensated cirrhosis; 20% 2-month mortality</a:t>
            </a:r>
          </a:p>
        </p:txBody>
      </p:sp>
      <p:sp>
        <p:nvSpPr>
          <p:cNvPr id="12" name="Rounded Rectangle 11">
            <a:extLst>
              <a:ext uri="{FF2B5EF4-FFF2-40B4-BE49-F238E27FC236}">
                <a16:creationId xmlns:a16="http://schemas.microsoft.com/office/drawing/2014/main" id="{9AC2EED7-F346-1544-98E4-D344FAD96001}"/>
              </a:ext>
            </a:extLst>
          </p:cNvPr>
          <p:cNvSpPr/>
          <p:nvPr/>
        </p:nvSpPr>
        <p:spPr>
          <a:xfrm>
            <a:off x="4406900" y="2006600"/>
            <a:ext cx="3390900" cy="2413000"/>
          </a:xfrm>
          <a:prstGeom prst="roundRect">
            <a:avLst/>
          </a:prstGeom>
          <a:solidFill>
            <a:srgbClr val="3A0AB5"/>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26D9A084-DBB4-A441-A1A6-3483CED172A1}"/>
              </a:ext>
            </a:extLst>
          </p:cNvPr>
          <p:cNvSpPr txBox="1"/>
          <p:nvPr/>
        </p:nvSpPr>
        <p:spPr>
          <a:xfrm>
            <a:off x="4597400" y="2159000"/>
            <a:ext cx="3009900" cy="533400"/>
          </a:xfrm>
          <a:prstGeom prst="rect">
            <a:avLst/>
          </a:prstGeom>
          <a:noFill/>
        </p:spPr>
        <p:txBody>
          <a:bodyPr vertOverflow="overflow" vert="horz" wrap="square" rtlCol="0" anchor="t">
            <a:noAutofit/>
          </a:bodyPr>
          <a:lstStyle/>
          <a:p>
            <a:pPr algn="l"/>
            <a:r>
              <a:rPr lang="en-US" sz="2600" b="1" dirty="0">
                <a:solidFill>
                  <a:srgbClr val="FFFFFF"/>
                </a:solidFill>
                <a:latin typeface="Arial"/>
              </a:rPr>
              <a:t>14,876</a:t>
            </a:r>
          </a:p>
        </p:txBody>
      </p:sp>
      <p:sp>
        <p:nvSpPr>
          <p:cNvPr id="14" name="TextBox 13">
            <a:extLst>
              <a:ext uri="{FF2B5EF4-FFF2-40B4-BE49-F238E27FC236}">
                <a16:creationId xmlns:a16="http://schemas.microsoft.com/office/drawing/2014/main" id="{7D3FFF89-19F8-A546-814B-51160A161812}"/>
              </a:ext>
            </a:extLst>
          </p:cNvPr>
          <p:cNvSpPr txBox="1"/>
          <p:nvPr/>
        </p:nvSpPr>
        <p:spPr>
          <a:xfrm>
            <a:off x="4597400" y="2692400"/>
            <a:ext cx="3009900" cy="279400"/>
          </a:xfrm>
          <a:prstGeom prst="rect">
            <a:avLst/>
          </a:prstGeom>
          <a:noFill/>
        </p:spPr>
        <p:txBody>
          <a:bodyPr vertOverflow="overflow" vert="horz" wrap="square" rtlCol="0" anchor="t">
            <a:noAutofit/>
          </a:bodyPr>
          <a:lstStyle/>
          <a:p>
            <a:pPr algn="l"/>
            <a:r>
              <a:rPr lang="en-US" sz="1400" b="1" dirty="0">
                <a:solidFill>
                  <a:srgbClr val="FFFFFF"/>
                </a:solidFill>
                <a:latin typeface="Arial"/>
                <a:cs typeface="Arial"/>
              </a:rPr>
              <a:t>IN UTAH</a:t>
            </a:r>
          </a:p>
        </p:txBody>
      </p:sp>
      <p:sp>
        <p:nvSpPr>
          <p:cNvPr id="15" name="TextBox 14">
            <a:extLst>
              <a:ext uri="{FF2B5EF4-FFF2-40B4-BE49-F238E27FC236}">
                <a16:creationId xmlns:a16="http://schemas.microsoft.com/office/drawing/2014/main" id="{B1974127-2182-1F42-9A25-8E9503280D91}"/>
              </a:ext>
            </a:extLst>
          </p:cNvPr>
          <p:cNvSpPr txBox="1"/>
          <p:nvPr/>
        </p:nvSpPr>
        <p:spPr>
          <a:xfrm>
            <a:off x="4597400" y="2997200"/>
            <a:ext cx="3009900" cy="1143000"/>
          </a:xfrm>
          <a:prstGeom prst="rect">
            <a:avLst/>
          </a:prstGeom>
          <a:noFill/>
        </p:spPr>
        <p:txBody>
          <a:bodyPr vertOverflow="overflow" vert="horz" wrap="square" rtlCol="0" anchor="t">
            <a:noAutofit/>
          </a:bodyPr>
          <a:lstStyle/>
          <a:p>
            <a:pPr algn="l"/>
            <a:r>
              <a:rPr lang="en-US" sz="1400" dirty="0">
                <a:solidFill>
                  <a:srgbClr val="FFFFFF"/>
                </a:solidFill>
                <a:latin typeface="Arial"/>
                <a:cs typeface="Arial"/>
              </a:rPr>
              <a:t>cases by ICD code (2015–2019)</a:t>
            </a:r>
          </a:p>
          <a:p>
            <a:pPr algn="l"/>
            <a:r>
              <a:rPr lang="en-US" sz="1400" dirty="0">
                <a:solidFill>
                  <a:srgbClr val="E8E0F5"/>
                </a:solidFill>
                <a:latin typeface="Arial"/>
                <a:cs typeface="Arial"/>
              </a:rPr>
              <a:t>ICD only — does not capture blood-gas-identified cases</a:t>
            </a:r>
          </a:p>
        </p:txBody>
      </p:sp>
      <p:sp>
        <p:nvSpPr>
          <p:cNvPr id="16" name="Rounded Rectangle 15">
            <a:extLst>
              <a:ext uri="{FF2B5EF4-FFF2-40B4-BE49-F238E27FC236}">
                <a16:creationId xmlns:a16="http://schemas.microsoft.com/office/drawing/2014/main" id="{3F16512E-C806-1F42-8057-DBE971158CD6}"/>
              </a:ext>
            </a:extLst>
          </p:cNvPr>
          <p:cNvSpPr/>
          <p:nvPr/>
        </p:nvSpPr>
        <p:spPr>
          <a:xfrm>
            <a:off x="8051800" y="2006600"/>
            <a:ext cx="3390900" cy="2413000"/>
          </a:xfrm>
          <a:prstGeom prst="round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B24331FB-60C3-EF46-A0ED-95045AEFF9B2}"/>
              </a:ext>
            </a:extLst>
          </p:cNvPr>
          <p:cNvSpPr txBox="1"/>
          <p:nvPr/>
        </p:nvSpPr>
        <p:spPr>
          <a:xfrm>
            <a:off x="8242300" y="2159000"/>
            <a:ext cx="3009900" cy="533400"/>
          </a:xfrm>
          <a:prstGeom prst="rect">
            <a:avLst/>
          </a:prstGeom>
          <a:noFill/>
        </p:spPr>
        <p:txBody>
          <a:bodyPr vertOverflow="overflow" vert="horz" wrap="square" rtlCol="0" anchor="t">
            <a:noAutofit/>
          </a:bodyPr>
          <a:lstStyle/>
          <a:p>
            <a:pPr algn="l"/>
            <a:r>
              <a:rPr lang="en-US" sz="2600" b="1" dirty="0">
                <a:solidFill>
                  <a:srgbClr val="FFFFFF"/>
                </a:solidFill>
                <a:latin typeface="Arial"/>
              </a:rPr>
              <a:t>~1,000 per year</a:t>
            </a:r>
          </a:p>
        </p:txBody>
      </p:sp>
      <p:sp>
        <p:nvSpPr>
          <p:cNvPr id="18" name="TextBox 17">
            <a:extLst>
              <a:ext uri="{FF2B5EF4-FFF2-40B4-BE49-F238E27FC236}">
                <a16:creationId xmlns:a16="http://schemas.microsoft.com/office/drawing/2014/main" id="{27360CA1-2571-1545-8D37-9F2BDCBF65C1}"/>
              </a:ext>
            </a:extLst>
          </p:cNvPr>
          <p:cNvSpPr txBox="1"/>
          <p:nvPr/>
        </p:nvSpPr>
        <p:spPr>
          <a:xfrm>
            <a:off x="8242300" y="2692400"/>
            <a:ext cx="3009900" cy="279400"/>
          </a:xfrm>
          <a:prstGeom prst="rect">
            <a:avLst/>
          </a:prstGeom>
          <a:noFill/>
        </p:spPr>
        <p:txBody>
          <a:bodyPr vertOverflow="overflow" vert="horz" wrap="square" rtlCol="0" anchor="t">
            <a:noAutofit/>
          </a:bodyPr>
          <a:lstStyle/>
          <a:p>
            <a:pPr algn="l"/>
            <a:r>
              <a:rPr lang="en-US" sz="1400" b="1" dirty="0">
                <a:solidFill>
                  <a:srgbClr val="FFFFFF"/>
                </a:solidFill>
                <a:latin typeface="Arial"/>
                <a:cs typeface="Arial"/>
              </a:rPr>
              <a:t>IH / SELECTHEALTH</a:t>
            </a:r>
          </a:p>
        </p:txBody>
      </p:sp>
      <p:sp>
        <p:nvSpPr>
          <p:cNvPr id="19" name="TextBox 18">
            <a:extLst>
              <a:ext uri="{FF2B5EF4-FFF2-40B4-BE49-F238E27FC236}">
                <a16:creationId xmlns:a16="http://schemas.microsoft.com/office/drawing/2014/main" id="{C8EC487C-BAC7-F74C-85FA-F80D65348B35}"/>
              </a:ext>
            </a:extLst>
          </p:cNvPr>
          <p:cNvSpPr txBox="1"/>
          <p:nvPr/>
        </p:nvSpPr>
        <p:spPr>
          <a:xfrm>
            <a:off x="8242300" y="2997200"/>
            <a:ext cx="3009900" cy="892552"/>
          </a:xfrm>
          <a:prstGeom prst="rect">
            <a:avLst/>
          </a:prstGeom>
          <a:noFill/>
        </p:spPr>
        <p:txBody>
          <a:bodyPr vertOverflow="overflow" vert="horz" wrap="square" rtlCol="0" anchor="t">
            <a:spAutoFit/>
          </a:bodyPr>
          <a:lstStyle/>
          <a:p>
            <a:pPr algn="l"/>
            <a:r>
              <a:rPr lang="en-US" sz="1400" dirty="0">
                <a:solidFill>
                  <a:srgbClr val="FFFFFF"/>
                </a:solidFill>
                <a:latin typeface="Arial"/>
                <a:cs typeface="Arial"/>
              </a:rPr>
              <a:t>Canyons region, coinsured; ICD + blood gas</a:t>
            </a:r>
          </a:p>
          <a:p>
            <a:pPr algn="l"/>
            <a:r>
              <a:rPr lang="en-US" sz="1400" b="1" dirty="0">
                <a:solidFill>
                  <a:srgbClr val="FFD966"/>
                </a:solidFill>
                <a:latin typeface="Arial"/>
                <a:cs typeface="Arial"/>
              </a:rPr>
              <a:t>$50K per index hospitalization</a:t>
            </a:r>
          </a:p>
          <a:p>
            <a:pPr algn="l"/>
            <a:r>
              <a:rPr lang="en-US" sz="1200" dirty="0">
                <a:solidFill>
                  <a:srgbClr val="E8E0F5"/>
                </a:solidFill>
                <a:latin typeface="Arial"/>
                <a:cs typeface="Arial"/>
              </a:rPr>
              <a:t>Spending elevated months before admission — modifiable window</a:t>
            </a:r>
          </a:p>
        </p:txBody>
      </p:sp>
      <p:sp>
        <p:nvSpPr>
          <p:cNvPr id="20" name="TextBox 19">
            <a:extLst>
              <a:ext uri="{FF2B5EF4-FFF2-40B4-BE49-F238E27FC236}">
                <a16:creationId xmlns:a16="http://schemas.microsoft.com/office/drawing/2014/main" id="{7B34E493-3907-E24A-874F-0AF79D3C7A19}"/>
              </a:ext>
            </a:extLst>
          </p:cNvPr>
          <p:cNvSpPr txBox="1"/>
          <p:nvPr/>
        </p:nvSpPr>
        <p:spPr>
          <a:xfrm>
            <a:off x="762000" y="4699000"/>
            <a:ext cx="8890000" cy="276999"/>
          </a:xfrm>
          <a:prstGeom prst="rect">
            <a:avLst/>
          </a:prstGeom>
          <a:noFill/>
        </p:spPr>
        <p:txBody>
          <a:bodyPr vertOverflow="overflow" vert="horz" wrap="square" rtlCol="0" anchor="t">
            <a:spAutoFit/>
          </a:bodyPr>
          <a:lstStyle/>
          <a:p>
            <a:pPr algn="l"/>
            <a:r>
              <a:rPr lang="en-US" sz="1200" i="1" dirty="0">
                <a:solidFill>
                  <a:srgbClr val="6B5B8A"/>
                </a:solidFill>
                <a:latin typeface="Arial"/>
                <a:cs typeface="Arial"/>
              </a:rPr>
              <a:t>Chung et al. AJRCCM; Locke et al. ATS 2025; Locke et al. ATS 2026  |  UPDB, TriNetX, IH/SelectHealth</a:t>
            </a:r>
          </a:p>
        </p:txBody>
      </p:sp>
      <p:sp>
        <p:nvSpPr>
          <p:cNvPr id="21" name="Rectangle 20">
            <a:extLst>
              <a:ext uri="{FF2B5EF4-FFF2-40B4-BE49-F238E27FC236}">
                <a16:creationId xmlns:a16="http://schemas.microsoft.com/office/drawing/2014/main" id="{CC1C4191-3D14-2545-99C8-299E69A8687F}"/>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EF7BAFA-3E63-C54A-BC22-C8DE1F633C99}"/>
              </a:ext>
            </a:extLst>
          </p:cNvPr>
          <p:cNvSpPr txBox="1"/>
          <p:nvPr/>
        </p:nvSpPr>
        <p:spPr>
          <a:xfrm>
            <a:off x="762000" y="5026799"/>
            <a:ext cx="8890000" cy="279400"/>
          </a:xfrm>
          <a:prstGeom prst="rect">
            <a:avLst/>
          </a:prstGeom>
          <a:noFill/>
        </p:spPr>
        <p:txBody>
          <a:bodyPr vertOverflow="overflow" vert="horz" wrap="square" rtlCol="0" anchor="t">
            <a:noAutofit/>
          </a:bodyPr>
          <a:lstStyle/>
          <a:p>
            <a:pPr algn="l"/>
            <a:r>
              <a:rPr lang="en-US" sz="1400" b="1" dirty="0">
                <a:solidFill>
                  <a:srgbClr val="4A00E2"/>
                </a:solidFill>
                <a:latin typeface="Arial"/>
                <a:cs typeface="Arial"/>
              </a:rPr>
              <a:t>Can health services research and better care organization improve these outcomes? →</a:t>
            </a:r>
          </a:p>
        </p:txBody>
      </p:sp>
    </p:spTree>
    <p:extLst>
      <p:ext uri="{BB962C8B-B14F-4D97-AF65-F5344CB8AC3E}">
        <p14:creationId xmlns:p14="http://schemas.microsoft.com/office/powerpoint/2010/main" val="1408282262"/>
      </p:ext>
    </p:extLst>
  </p:cSld>
  <p:clrMapOvr>
    <a:overrideClrMapping bg1="dk1" tx1="lt1" bg2="dk2" tx2="lt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a:extLst>
            <a:ext uri="{FF2B5EF4-FFF2-40B4-BE49-F238E27FC236}">
              <a16:creationId xmlns:a16="http://schemas.microsoft.com/office/drawing/2014/main" id="{E8662CD0-1534-4C4A-BE4C-7152393E32E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8707370-608F-9640-A16E-D0F41F8DD7D6}"/>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AAE3F055-2F0C-1E43-91F3-957CC4690C69}"/>
              </a:ext>
            </a:extLst>
          </p:cNvPr>
          <p:cNvSpPr txBox="1"/>
          <p:nvPr/>
        </p:nvSpPr>
        <p:spPr>
          <a:xfrm>
            <a:off x="762000" y="508000"/>
            <a:ext cx="5080000" cy="304800"/>
          </a:xfrm>
          <a:prstGeom prst="rect">
            <a:avLst/>
          </a:prstGeom>
          <a:noFill/>
        </p:spPr>
        <p:txBody>
          <a:bodyPr vertOverflow="overflow" vert="horz" wrap="square" rtlCol="0" anchor="t">
            <a:noAutofit/>
          </a:bodyPr>
          <a:lstStyle/>
          <a:p>
            <a:pPr algn="l"/>
            <a:r>
              <a:rPr lang="en-US" sz="1600" b="1" dirty="0">
                <a:solidFill>
                  <a:srgbClr val="4A00E2"/>
                </a:solidFill>
                <a:latin typeface="Arial"/>
                <a:cs typeface="Arial"/>
              </a:rPr>
              <a:t>A Promising Problem to Solve</a:t>
            </a:r>
          </a:p>
        </p:txBody>
      </p:sp>
      <p:sp>
        <p:nvSpPr>
          <p:cNvPr id="5" name="TextBox 4">
            <a:extLst>
              <a:ext uri="{FF2B5EF4-FFF2-40B4-BE49-F238E27FC236}">
                <a16:creationId xmlns:a16="http://schemas.microsoft.com/office/drawing/2014/main" id="{AFF12FDD-5773-484E-B0A7-E587916DE304}"/>
              </a:ext>
            </a:extLst>
          </p:cNvPr>
          <p:cNvSpPr txBox="1"/>
          <p:nvPr/>
        </p:nvSpPr>
        <p:spPr>
          <a:xfrm>
            <a:off x="762000" y="838200"/>
            <a:ext cx="10668000" cy="457200"/>
          </a:xfrm>
          <a:prstGeom prst="rect">
            <a:avLst/>
          </a:prstGeom>
          <a:noFill/>
        </p:spPr>
        <p:txBody>
          <a:bodyPr vertOverflow="overflow" vert="horz" wrap="square" rtlCol="0" anchor="t">
            <a:noAutofit/>
          </a:bodyPr>
          <a:lstStyle/>
          <a:p>
            <a:pPr algn="l"/>
            <a:r>
              <a:rPr lang="en-US" sz="2600" b="1" dirty="0">
                <a:solidFill>
                  <a:srgbClr val="110057"/>
                </a:solidFill>
                <a:latin typeface="Arial"/>
              </a:rPr>
              <a:t>Solvable and overlooked</a:t>
            </a:r>
          </a:p>
        </p:txBody>
      </p:sp>
      <p:sp>
        <p:nvSpPr>
          <p:cNvPr id="6" name="Rectangle 5">
            <a:extLst>
              <a:ext uri="{FF2B5EF4-FFF2-40B4-BE49-F238E27FC236}">
                <a16:creationId xmlns:a16="http://schemas.microsoft.com/office/drawing/2014/main" id="{C7B1A65A-90AB-6A4A-BD67-6CE382E80EBE}"/>
              </a:ext>
            </a:extLst>
          </p:cNvPr>
          <p:cNvSpPr/>
          <p:nvPr/>
        </p:nvSpPr>
        <p:spPr>
          <a:xfrm>
            <a:off x="762000" y="1397000"/>
            <a:ext cx="1524000" cy="381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Rounded Rectangle 6">
            <a:extLst>
              <a:ext uri="{FF2B5EF4-FFF2-40B4-BE49-F238E27FC236}">
                <a16:creationId xmlns:a16="http://schemas.microsoft.com/office/drawing/2014/main" id="{6DF659F5-1ADA-6742-B99F-5C10420A1A24}"/>
              </a:ext>
            </a:extLst>
          </p:cNvPr>
          <p:cNvSpPr/>
          <p:nvPr/>
        </p:nvSpPr>
        <p:spPr>
          <a:xfrm>
            <a:off x="762000" y="1625600"/>
            <a:ext cx="5334000" cy="2095500"/>
          </a:xfrm>
          <a:prstGeom prst="round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Oval 8">
            <a:extLst>
              <a:ext uri="{FF2B5EF4-FFF2-40B4-BE49-F238E27FC236}">
                <a16:creationId xmlns:a16="http://schemas.microsoft.com/office/drawing/2014/main" id="{16B8A6B0-21FF-3A46-B537-9CC35954AD7C}"/>
              </a:ext>
            </a:extLst>
          </p:cNvPr>
          <p:cNvSpPr/>
          <p:nvPr/>
        </p:nvSpPr>
        <p:spPr>
          <a:xfrm>
            <a:off x="952500" y="1727200"/>
            <a:ext cx="457200" cy="457200"/>
          </a:xfrm>
          <a:prstGeom prst="ellipse">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Arial"/>
                <a:cs typeface="Arial"/>
              </a:rPr>
              <a:t>!</a:t>
            </a:r>
          </a:p>
        </p:txBody>
      </p:sp>
      <p:sp>
        <p:nvSpPr>
          <p:cNvPr id="10" name="TextBox 9">
            <a:extLst>
              <a:ext uri="{FF2B5EF4-FFF2-40B4-BE49-F238E27FC236}">
                <a16:creationId xmlns:a16="http://schemas.microsoft.com/office/drawing/2014/main" id="{8A30834D-F542-CE4B-9D5A-AE40FA66D9C4}"/>
              </a:ext>
            </a:extLst>
          </p:cNvPr>
          <p:cNvSpPr txBox="1"/>
          <p:nvPr/>
        </p:nvSpPr>
        <p:spPr>
          <a:xfrm>
            <a:off x="1524000" y="1803400"/>
            <a:ext cx="4381500" cy="304800"/>
          </a:xfrm>
          <a:prstGeom prst="rect">
            <a:avLst/>
          </a:prstGeom>
          <a:noFill/>
        </p:spPr>
        <p:txBody>
          <a:bodyPr vertOverflow="overflow" vert="horz" wrap="square" rtlCol="0" anchor="t">
            <a:noAutofit/>
          </a:bodyPr>
          <a:lstStyle/>
          <a:p>
            <a:pPr algn="l"/>
            <a:r>
              <a:rPr lang="en-US" sz="1600" b="1" dirty="0">
                <a:solidFill>
                  <a:srgbClr val="110057"/>
                </a:solidFill>
                <a:latin typeface="Arial"/>
                <a:cs typeface="Arial"/>
              </a:rPr>
              <a:t>Overlooked: A paradigm gap</a:t>
            </a:r>
          </a:p>
        </p:txBody>
      </p:sp>
      <p:sp>
        <p:nvSpPr>
          <p:cNvPr id="11" name="TextBox 10">
            <a:extLst>
              <a:ext uri="{FF2B5EF4-FFF2-40B4-BE49-F238E27FC236}">
                <a16:creationId xmlns:a16="http://schemas.microsoft.com/office/drawing/2014/main" id="{09E501C9-150D-0848-91A6-4320CBB71D41}"/>
              </a:ext>
            </a:extLst>
          </p:cNvPr>
          <p:cNvSpPr txBox="1"/>
          <p:nvPr/>
        </p:nvSpPr>
        <p:spPr>
          <a:xfrm>
            <a:off x="952500" y="2260600"/>
            <a:ext cx="4953000" cy="1169551"/>
          </a:xfrm>
          <a:prstGeom prst="rect">
            <a:avLst/>
          </a:prstGeom>
          <a:noFill/>
        </p:spPr>
        <p:txBody>
          <a:bodyPr vertOverflow="overflow" vert="horz" wrap="square" rtlCol="0" anchor="t">
            <a:spAutoFit/>
          </a:bodyPr>
          <a:lstStyle/>
          <a:p>
            <a:pPr marL="0" indent="0" algn="l">
              <a:buNone/>
            </a:pPr>
            <a:r>
              <a:rPr lang="en-US" sz="1400" dirty="0">
                <a:solidFill>
                  <a:srgbClr val="3D2460"/>
                </a:solidFill>
                <a:latin typeface="Arial"/>
                <a:cs typeface="Arial"/>
              </a:rPr>
              <a:t>Patients arrive undifferentiated — guidelines can't help.</a:t>
            </a:r>
          </a:p>
          <a:p>
            <a:pPr marL="171450" indent="-171450" algn="l">
              <a:buFont typeface="Arial"/>
              <a:buChar char="•"/>
            </a:pPr>
            <a:r>
              <a:rPr lang="en-US" sz="1400" b="1" dirty="0">
                <a:solidFill>
                  <a:srgbClr val="4A00E2"/>
                </a:solidFill>
                <a:latin typeface="Arial"/>
                <a:cs typeface="Arial"/>
              </a:rPr>
              <a:t>Only 31% PFTs, 21% sleep testing</a:t>
            </a:r>
            <a:r>
              <a:rPr lang="en-US" sz="1400" dirty="0">
                <a:solidFill>
                  <a:srgbClr val="6B5B8A"/>
                </a:solidFill>
                <a:latin typeface="Arial"/>
                <a:cs typeface="Arial"/>
              </a:rPr>
              <a:t> in 5 yrs pre-diagnosis</a:t>
            </a:r>
          </a:p>
          <a:p>
            <a:pPr marL="171450" indent="-171450" algn="l">
              <a:buFont typeface="Arial"/>
              <a:buChar char="•"/>
            </a:pPr>
            <a:r>
              <a:rPr lang="en-US" sz="1400" dirty="0">
                <a:solidFill>
                  <a:srgbClr val="6B5B8A"/>
                </a:solidFill>
                <a:latin typeface="Arial"/>
                <a:cs typeface="Arial"/>
              </a:rPr>
              <a:t>CPGs address single diseases — not undifferentiated patients</a:t>
            </a:r>
          </a:p>
          <a:p>
            <a:pPr marL="171450" indent="-171450" algn="l">
              <a:buFont typeface="Arial"/>
              <a:buChar char="•"/>
            </a:pPr>
            <a:r>
              <a:rPr lang="en-US" sz="1400" dirty="0">
                <a:solidFill>
                  <a:srgbClr val="6B5B8A"/>
                </a:solidFill>
                <a:latin typeface="Arial"/>
                <a:cs typeface="Arial"/>
              </a:rPr>
              <a:t>These patients fall outside existing evidence</a:t>
            </a:r>
          </a:p>
        </p:txBody>
      </p:sp>
      <p:sp>
        <p:nvSpPr>
          <p:cNvPr id="12" name="Rounded Rectangle 11">
            <a:extLst>
              <a:ext uri="{FF2B5EF4-FFF2-40B4-BE49-F238E27FC236}">
                <a16:creationId xmlns:a16="http://schemas.microsoft.com/office/drawing/2014/main" id="{29DEE9E4-B0DE-6649-B2A1-D316474EBD85}"/>
              </a:ext>
            </a:extLst>
          </p:cNvPr>
          <p:cNvSpPr/>
          <p:nvPr/>
        </p:nvSpPr>
        <p:spPr>
          <a:xfrm>
            <a:off x="6350000" y="1625600"/>
            <a:ext cx="5334000" cy="2095500"/>
          </a:xfrm>
          <a:prstGeom prst="round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Oval 12">
            <a:extLst>
              <a:ext uri="{FF2B5EF4-FFF2-40B4-BE49-F238E27FC236}">
                <a16:creationId xmlns:a16="http://schemas.microsoft.com/office/drawing/2014/main" id="{DE43CF9D-2C93-D241-AAFE-B88B60261940}"/>
              </a:ext>
            </a:extLst>
          </p:cNvPr>
          <p:cNvSpPr/>
          <p:nvPr/>
        </p:nvSpPr>
        <p:spPr>
          <a:xfrm>
            <a:off x="6540500" y="1727200"/>
            <a:ext cx="457200" cy="4572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Arial"/>
                <a:cs typeface="Arial"/>
              </a:rPr>
              <a:t>↑</a:t>
            </a:r>
          </a:p>
        </p:txBody>
      </p:sp>
      <p:sp>
        <p:nvSpPr>
          <p:cNvPr id="14" name="TextBox 13">
            <a:extLst>
              <a:ext uri="{FF2B5EF4-FFF2-40B4-BE49-F238E27FC236}">
                <a16:creationId xmlns:a16="http://schemas.microsoft.com/office/drawing/2014/main" id="{E5867782-E019-BA48-B048-E7675AD19BA8}"/>
              </a:ext>
            </a:extLst>
          </p:cNvPr>
          <p:cNvSpPr txBox="1"/>
          <p:nvPr/>
        </p:nvSpPr>
        <p:spPr>
          <a:xfrm>
            <a:off x="7112000" y="1803400"/>
            <a:ext cx="4381500" cy="304800"/>
          </a:xfrm>
          <a:prstGeom prst="rect">
            <a:avLst/>
          </a:prstGeom>
          <a:noFill/>
        </p:spPr>
        <p:txBody>
          <a:bodyPr vertOverflow="overflow" vert="horz" wrap="square" rtlCol="0" anchor="t">
            <a:noAutofit/>
          </a:bodyPr>
          <a:lstStyle/>
          <a:p>
            <a:pPr algn="l"/>
            <a:r>
              <a:rPr lang="en-US" sz="1600" b="1" dirty="0">
                <a:solidFill>
                  <a:srgbClr val="110057"/>
                </a:solidFill>
                <a:latin typeface="Arial"/>
                <a:cs typeface="Arial"/>
              </a:rPr>
              <a:t>Solvable: Missing the window</a:t>
            </a:r>
          </a:p>
        </p:txBody>
      </p:sp>
      <p:sp>
        <p:nvSpPr>
          <p:cNvPr id="15" name="TextBox 14">
            <a:extLst>
              <a:ext uri="{FF2B5EF4-FFF2-40B4-BE49-F238E27FC236}">
                <a16:creationId xmlns:a16="http://schemas.microsoft.com/office/drawing/2014/main" id="{1807881C-27E6-DF43-B36E-9450509CB0D9}"/>
              </a:ext>
            </a:extLst>
          </p:cNvPr>
          <p:cNvSpPr txBox="1"/>
          <p:nvPr/>
        </p:nvSpPr>
        <p:spPr>
          <a:xfrm>
            <a:off x="6540500" y="2260600"/>
            <a:ext cx="4889500" cy="1169550"/>
          </a:xfrm>
          <a:prstGeom prst="rect">
            <a:avLst/>
          </a:prstGeom>
          <a:noFill/>
        </p:spPr>
        <p:txBody>
          <a:bodyPr vertOverflow="overflow" vert="horz" wrap="square" rtlCol="0" anchor="t">
            <a:spAutoFit/>
          </a:bodyPr>
          <a:lstStyle/>
          <a:p>
            <a:pPr marL="0" indent="0" algn="l">
              <a:buNone/>
            </a:pPr>
            <a:r>
              <a:rPr lang="en-US" sz="1400" dirty="0">
                <a:solidFill>
                  <a:srgbClr val="3D2460"/>
                </a:solidFill>
                <a:latin typeface="Arial"/>
                <a:cs typeface="Arial"/>
              </a:rPr>
              <a:t>Low testing implies low management — patients are being missed.</a:t>
            </a:r>
          </a:p>
          <a:p>
            <a:pPr marL="171450" indent="-171450" algn="l">
              <a:buFont typeface="Arial"/>
              <a:buChar char="•"/>
            </a:pPr>
            <a:r>
              <a:rPr lang="en-US" sz="1400" b="1" dirty="0">
                <a:solidFill>
                  <a:srgbClr val="4A00E2"/>
                </a:solidFill>
                <a:latin typeface="Arial"/>
                <a:cs typeface="Arial"/>
              </a:rPr>
              <a:t>~15% PFTs, ~10% sleep testing</a:t>
            </a:r>
            <a:r>
              <a:rPr lang="en-US" sz="1400" dirty="0">
                <a:solidFill>
                  <a:srgbClr val="6B5B8A"/>
                </a:solidFill>
                <a:latin typeface="Arial"/>
                <a:cs typeface="Arial"/>
              </a:rPr>
              <a:t> in 1 yr after</a:t>
            </a:r>
          </a:p>
          <a:p>
            <a:pPr marL="171450" indent="-171450" algn="l">
              <a:buFont typeface="Arial"/>
              <a:buChar char="•"/>
            </a:pPr>
            <a:r>
              <a:rPr lang="en-US" sz="1400" dirty="0">
                <a:solidFill>
                  <a:srgbClr val="6B5B8A"/>
                </a:solidFill>
                <a:latin typeface="Arial"/>
                <a:cs typeface="Arial"/>
              </a:rPr>
              <a:t>Discharge handoffs are complicated and error-prone</a:t>
            </a:r>
          </a:p>
          <a:p>
            <a:pPr marL="171450" indent="-171450" algn="l">
              <a:buFont typeface="Arial"/>
              <a:buChar char="•"/>
            </a:pPr>
            <a:r>
              <a:rPr lang="en-US" sz="1400" dirty="0">
                <a:solidFill>
                  <a:srgbClr val="6B5B8A"/>
                </a:solidFill>
                <a:latin typeface="Arial"/>
                <a:cs typeface="Arial"/>
              </a:rPr>
              <a:t>Many who might benefit are simply never evaluated</a:t>
            </a:r>
          </a:p>
        </p:txBody>
      </p:sp>
      <p:sp>
        <p:nvSpPr>
          <p:cNvPr id="16" name="Rounded Rectangle 15">
            <a:extLst>
              <a:ext uri="{FF2B5EF4-FFF2-40B4-BE49-F238E27FC236}">
                <a16:creationId xmlns:a16="http://schemas.microsoft.com/office/drawing/2014/main" id="{8ADAC05E-829A-FE44-80D7-74790776A538}"/>
              </a:ext>
            </a:extLst>
          </p:cNvPr>
          <p:cNvSpPr/>
          <p:nvPr/>
        </p:nvSpPr>
        <p:spPr>
          <a:xfrm>
            <a:off x="762000" y="3811150"/>
            <a:ext cx="10922000" cy="7620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7" name="TextBox 16">
            <a:extLst>
              <a:ext uri="{FF2B5EF4-FFF2-40B4-BE49-F238E27FC236}">
                <a16:creationId xmlns:a16="http://schemas.microsoft.com/office/drawing/2014/main" id="{673878B3-C7D1-E94B-BFCF-0782802925D2}"/>
              </a:ext>
            </a:extLst>
          </p:cNvPr>
          <p:cNvSpPr txBox="1"/>
          <p:nvPr/>
        </p:nvSpPr>
        <p:spPr>
          <a:xfrm>
            <a:off x="952500" y="3912750"/>
            <a:ext cx="10541000" cy="307777"/>
          </a:xfrm>
          <a:prstGeom prst="rect">
            <a:avLst/>
          </a:prstGeom>
          <a:noFill/>
        </p:spPr>
        <p:txBody>
          <a:bodyPr vertOverflow="overflow" vert="horz" wrap="square" rtlCol="0" anchor="t">
            <a:spAutoFit/>
          </a:bodyPr>
          <a:lstStyle/>
          <a:p>
            <a:pPr algn="l"/>
            <a:r>
              <a:rPr lang="en-US" sz="1400" b="1" dirty="0">
                <a:solidFill>
                  <a:srgbClr val="FFFFFF"/>
                </a:solidFill>
                <a:latin typeface="Arial"/>
                <a:cs typeface="Arial"/>
              </a:rPr>
              <a:t>Utah (n = 14,876):  </a:t>
            </a:r>
            <a:r>
              <a:rPr lang="en-US" sz="1400" dirty="0">
                <a:solidFill>
                  <a:srgbClr val="E8E0F5"/>
                </a:solidFill>
                <a:latin typeface="Arial"/>
                <a:cs typeface="Arial"/>
              </a:rPr>
              <a:t>TTE ~50–63% vs. PFT/sleep ~10–31% — gap is specific to outpatient workup</a:t>
            </a:r>
          </a:p>
        </p:txBody>
      </p:sp>
      <p:sp>
        <p:nvSpPr>
          <p:cNvPr id="18" name="TextBox 17">
            <a:extLst>
              <a:ext uri="{FF2B5EF4-FFF2-40B4-BE49-F238E27FC236}">
                <a16:creationId xmlns:a16="http://schemas.microsoft.com/office/drawing/2014/main" id="{89F4C1D5-4FF1-704D-9555-37ED0213F5C8}"/>
              </a:ext>
            </a:extLst>
          </p:cNvPr>
          <p:cNvSpPr txBox="1"/>
          <p:nvPr/>
        </p:nvSpPr>
        <p:spPr>
          <a:xfrm>
            <a:off x="762000" y="4725550"/>
            <a:ext cx="10160000" cy="279400"/>
          </a:xfrm>
          <a:prstGeom prst="rect">
            <a:avLst/>
          </a:prstGeom>
          <a:noFill/>
        </p:spPr>
        <p:txBody>
          <a:bodyPr vertOverflow="overflow" vert="horz" wrap="square" rtlCol="0" anchor="t">
            <a:noAutofit/>
          </a:bodyPr>
          <a:lstStyle/>
          <a:p>
            <a:pPr algn="l"/>
            <a:r>
              <a:rPr lang="en-US" sz="1400" i="1" dirty="0">
                <a:solidFill>
                  <a:srgbClr val="8A8A8A"/>
                </a:solidFill>
                <a:latin typeface="Arial"/>
                <a:cs typeface="Arial"/>
              </a:rPr>
              <a:t>Locke et al., ATS 2025 — Utah APCD + Health Facilities Database, 2015–2019</a:t>
            </a:r>
          </a:p>
        </p:txBody>
      </p:sp>
    </p:spTree>
    <p:extLst>
      <p:ext uri="{BB962C8B-B14F-4D97-AF65-F5344CB8AC3E}">
        <p14:creationId xmlns:p14="http://schemas.microsoft.com/office/powerpoint/2010/main" val="2735874719"/>
      </p:ext>
    </p:extLst>
  </p:cSld>
  <p:clrMapOvr>
    <a:overrideClrMapping bg1="dk1" tx1="lt1" bg2="dk2" tx2="lt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EA3CA9C7-03F1-1B45-BF1E-78BBA9C51013}"/>
              </a:ext>
            </a:extLst>
          </p:cNvPr>
          <p:cNvSpPr txBox="1"/>
          <p:nvPr/>
        </p:nvSpPr>
        <p:spPr>
          <a:xfrm>
            <a:off x="762000" y="254000"/>
            <a:ext cx="5080000" cy="338554"/>
          </a:xfrm>
          <a:prstGeom prst="rect">
            <a:avLst/>
          </a:prstGeom>
          <a:noFill/>
        </p:spPr>
        <p:txBody>
          <a:bodyPr vertOverflow="overflow" vert="horz" wrap="square" rtlCol="0" anchor="t">
            <a:spAutoFit/>
          </a:bodyPr>
          <a:lstStyle/>
          <a:p>
            <a:pPr algn="l"/>
            <a:r>
              <a:rPr lang="en-US" sz="1600" b="1" dirty="0">
                <a:solidFill>
                  <a:srgbClr val="4A00E2"/>
                </a:solidFill>
                <a:latin typeface="Arial"/>
                <a:cs typeface="Arial"/>
              </a:rPr>
              <a:t>OUR PRIOR WORK</a:t>
            </a:r>
          </a:p>
        </p:txBody>
      </p:sp>
      <p:sp>
        <p:nvSpPr>
          <p:cNvPr id="5" name="TextBox 4">
            <a:extLst>
              <a:ext uri="{FF2B5EF4-FFF2-40B4-BE49-F238E27FC236}">
                <a16:creationId xmlns:a16="http://schemas.microsoft.com/office/drawing/2014/main" id="{340B80F7-C58D-6D4A-BB0D-095C441CEBAE}"/>
              </a:ext>
            </a:extLst>
          </p:cNvPr>
          <p:cNvSpPr txBox="1"/>
          <p:nvPr/>
        </p:nvSpPr>
        <p:spPr>
          <a:xfrm>
            <a:off x="762000" y="609600"/>
            <a:ext cx="10668000" cy="707886"/>
          </a:xfrm>
          <a:prstGeom prst="rect">
            <a:avLst/>
          </a:prstGeom>
          <a:noFill/>
        </p:spPr>
        <p:txBody>
          <a:bodyPr vertOverflow="overflow" vert="horz" wrap="square" rtlCol="0" anchor="t">
            <a:spAutoFit/>
          </a:bodyPr>
          <a:lstStyle/>
          <a:p>
            <a:pPr algn="l"/>
            <a:r>
              <a:rPr lang="en-US" sz="2000" b="1">
                <a:solidFill>
                  <a:srgbClr val="110057"/>
                </a:solidFill>
                <a:latin typeface="Arial"/>
                <a:cs typeface="Arial"/>
              </a:rPr>
              <a:t>The Consistency of Hypercapnic Respiratory Failure Case Definitions in Electronic Health Record Data</a:t>
            </a:r>
          </a:p>
        </p:txBody>
      </p:sp>
      <p:sp>
        <p:nvSpPr>
          <p:cNvPr id="23" name="Rectangle 22">
            <a:extLst>
              <a:ext uri="{FF2B5EF4-FFF2-40B4-BE49-F238E27FC236}">
                <a16:creationId xmlns:a16="http://schemas.microsoft.com/office/drawing/2014/main" id="{84F02AE4-4867-B449-B293-9D97CD026432}"/>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D0CF540-CD3D-5D4E-9991-F922A28460C7}"/>
              </a:ext>
            </a:extLst>
          </p:cNvPr>
          <p:cNvSpPr txBox="1"/>
          <p:nvPr/>
        </p:nvSpPr>
        <p:spPr>
          <a:xfrm>
            <a:off x="762000" y="1346200"/>
            <a:ext cx="10668000" cy="276999"/>
          </a:xfrm>
          <a:prstGeom prst="rect">
            <a:avLst/>
          </a:prstGeom>
          <a:noFill/>
        </p:spPr>
        <p:txBody>
          <a:bodyPr vertOverflow="overflow" vert="horz" wrap="square" rtlCol="0" anchor="t">
            <a:spAutoFit/>
          </a:bodyPr>
          <a:lstStyle/>
          <a:p>
            <a:pPr algn="l">
              <a:buNone/>
            </a:pPr>
            <a:r>
              <a:rPr lang="en-US" sz="1200" b="1" dirty="0">
                <a:solidFill>
                  <a:srgbClr val="110057"/>
                </a:solidFill>
                <a:latin typeface="Arial"/>
                <a:cs typeface="Arial"/>
              </a:rPr>
              <a:t>Locke BW</a:t>
            </a:r>
            <a:r>
              <a:rPr lang="en-US" sz="1200" dirty="0">
                <a:solidFill>
                  <a:srgbClr val="555555"/>
                </a:solidFill>
                <a:latin typeface="Arial"/>
                <a:cs typeface="Arial"/>
              </a:rPr>
              <a:t>, Richards WW, Gouripeddi R, Brown JP, Finkelstein J, Sundar KM, </a:t>
            </a:r>
            <a:r>
              <a:rPr lang="en-US" sz="1200" b="1" dirty="0">
                <a:solidFill>
                  <a:srgbClr val="110057"/>
                </a:solidFill>
                <a:latin typeface="Arial"/>
                <a:cs typeface="Arial"/>
              </a:rPr>
              <a:t>Peltan ID</a:t>
            </a:r>
            <a:r>
              <a:rPr lang="en-US" sz="1200" dirty="0">
                <a:solidFill>
                  <a:srgbClr val="555555"/>
                </a:solidFill>
                <a:latin typeface="Arial"/>
                <a:cs typeface="Arial"/>
              </a:rPr>
              <a:t>, </a:t>
            </a:r>
            <a:r>
              <a:rPr lang="en-US" sz="1200" b="1" dirty="0">
                <a:solidFill>
                  <a:srgbClr val="110057"/>
                </a:solidFill>
                <a:latin typeface="Arial"/>
                <a:cs typeface="Arial"/>
              </a:rPr>
              <a:t>Brown SM</a:t>
            </a:r>
          </a:p>
        </p:txBody>
      </p:sp>
      <p:sp>
        <p:nvSpPr>
          <p:cNvPr id="6" name="Rounded Rectangle 5">
            <a:extLst>
              <a:ext uri="{FF2B5EF4-FFF2-40B4-BE49-F238E27FC236}">
                <a16:creationId xmlns:a16="http://schemas.microsoft.com/office/drawing/2014/main" id="{7499CC07-EBD8-394F-95AF-76BFC9DCEE96}"/>
              </a:ext>
            </a:extLst>
          </p:cNvPr>
          <p:cNvSpPr/>
          <p:nvPr/>
        </p:nvSpPr>
        <p:spPr>
          <a:xfrm>
            <a:off x="762000" y="1879600"/>
            <a:ext cx="10668000" cy="1016000"/>
          </a:xfrm>
          <a:prstGeom prst="roundRect">
            <a:avLst/>
          </a:prstGeom>
          <a:solidFill>
            <a:srgbClr val="F3F0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Rectangle 7">
            <a:extLst>
              <a:ext uri="{FF2B5EF4-FFF2-40B4-BE49-F238E27FC236}">
                <a16:creationId xmlns:a16="http://schemas.microsoft.com/office/drawing/2014/main" id="{E346B36E-C521-3444-99B0-13D949872135}"/>
              </a:ext>
            </a:extLst>
          </p:cNvPr>
          <p:cNvSpPr/>
          <p:nvPr/>
        </p:nvSpPr>
        <p:spPr>
          <a:xfrm>
            <a:off x="762000" y="1879600"/>
            <a:ext cx="10668000" cy="508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7124E2C8-46FC-9B49-A4C7-9B6DE723C60C}"/>
              </a:ext>
            </a:extLst>
          </p:cNvPr>
          <p:cNvSpPr txBox="1"/>
          <p:nvPr/>
        </p:nvSpPr>
        <p:spPr>
          <a:xfrm>
            <a:off x="952500" y="2006600"/>
            <a:ext cx="10287000" cy="279400"/>
          </a:xfrm>
          <a:prstGeom prst="rect">
            <a:avLst/>
          </a:prstGeom>
          <a:noFill/>
        </p:spPr>
        <p:txBody>
          <a:bodyPr vertOverflow="overflow" vert="horz" wrap="square" rtlCol="0" anchor="t">
            <a:noAutofit/>
          </a:bodyPr>
          <a:lstStyle/>
          <a:p>
            <a:pPr algn="l">
              <a:buNone/>
            </a:pPr>
            <a:r>
              <a:rPr lang="en-US" sz="1600" b="1" dirty="0">
                <a:solidFill>
                  <a:srgbClr val="110057"/>
                </a:solidFill>
                <a:latin typeface="Arial"/>
                <a:cs typeface="Arial"/>
              </a:rPr>
              <a:t>Key Finding</a:t>
            </a:r>
          </a:p>
        </p:txBody>
      </p:sp>
      <p:sp>
        <p:nvSpPr>
          <p:cNvPr id="10" name="TextBox 9">
            <a:extLst>
              <a:ext uri="{FF2B5EF4-FFF2-40B4-BE49-F238E27FC236}">
                <a16:creationId xmlns:a16="http://schemas.microsoft.com/office/drawing/2014/main" id="{7821EC88-7EC0-DD4D-B332-59B01BB8D5B4}"/>
              </a:ext>
            </a:extLst>
          </p:cNvPr>
          <p:cNvSpPr txBox="1"/>
          <p:nvPr/>
        </p:nvSpPr>
        <p:spPr>
          <a:xfrm>
            <a:off x="952500" y="2311400"/>
            <a:ext cx="10287000" cy="508000"/>
          </a:xfrm>
          <a:prstGeom prst="rect">
            <a:avLst/>
          </a:prstGeom>
          <a:noFill/>
        </p:spPr>
        <p:txBody>
          <a:bodyPr vertOverflow="overflow" vert="horz" wrap="square" rtlCol="0" anchor="t">
            <a:noAutofit/>
          </a:bodyPr>
          <a:lstStyle/>
          <a:p>
            <a:pPr algn="l">
              <a:buNone/>
            </a:pPr>
            <a:r>
              <a:rPr lang="en-US" sz="1500" dirty="0">
                <a:solidFill>
                  <a:srgbClr val="110057"/>
                </a:solidFill>
                <a:latin typeface="Arial"/>
                <a:cs typeface="Arial"/>
              </a:rPr>
              <a:t>Published case definitions for hypercapnic respiratory failure identify </a:t>
            </a:r>
            <a:r>
              <a:rPr lang="en-US" sz="1500" b="1" dirty="0">
                <a:solidFill>
                  <a:srgbClr val="4A00E2"/>
                </a:solidFill>
                <a:latin typeface="Arial"/>
                <a:cs typeface="Arial"/>
              </a:rPr>
              <a:t>meaningfully different cohorts</a:t>
            </a:r>
            <a:r>
              <a:rPr lang="en-US" sz="1500" dirty="0">
                <a:solidFill>
                  <a:srgbClr val="110057"/>
                </a:solidFill>
                <a:latin typeface="Arial"/>
                <a:cs typeface="Arial"/>
              </a:rPr>
              <a:t>, limiting literature synthesis and agreement on who should be studied or counted</a:t>
            </a:r>
          </a:p>
        </p:txBody>
      </p:sp>
      <p:sp>
        <p:nvSpPr>
          <p:cNvPr id="11" name="Rounded Rectangle 10">
            <a:extLst>
              <a:ext uri="{FF2B5EF4-FFF2-40B4-BE49-F238E27FC236}">
                <a16:creationId xmlns:a16="http://schemas.microsoft.com/office/drawing/2014/main" id="{F47EA317-F3A1-A64C-A4C8-9B7FCF01E4A4}"/>
              </a:ext>
            </a:extLst>
          </p:cNvPr>
          <p:cNvSpPr/>
          <p:nvPr/>
        </p:nvSpPr>
        <p:spPr>
          <a:xfrm>
            <a:off x="762000" y="3022600"/>
            <a:ext cx="5232400" cy="2971800"/>
          </a:xfrm>
          <a:prstGeom prst="roundRect">
            <a:avLst/>
          </a:prstGeom>
          <a:solidFill>
            <a:srgbClr val="F3F0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TextBox 11">
            <a:extLst>
              <a:ext uri="{FF2B5EF4-FFF2-40B4-BE49-F238E27FC236}">
                <a16:creationId xmlns:a16="http://schemas.microsoft.com/office/drawing/2014/main" id="{FCF7DB52-34E7-504A-91FC-5208C0AAA90D}"/>
              </a:ext>
            </a:extLst>
          </p:cNvPr>
          <p:cNvSpPr txBox="1"/>
          <p:nvPr/>
        </p:nvSpPr>
        <p:spPr>
          <a:xfrm>
            <a:off x="914400" y="3124200"/>
            <a:ext cx="4927600" cy="254000"/>
          </a:xfrm>
          <a:prstGeom prst="rect">
            <a:avLst/>
          </a:prstGeom>
          <a:noFill/>
        </p:spPr>
        <p:txBody>
          <a:bodyPr vertOverflow="overflow" vert="horz" wrap="square" rtlCol="0" anchor="t">
            <a:noAutofit/>
          </a:bodyPr>
          <a:lstStyle/>
          <a:p>
            <a:pPr algn="l">
              <a:buNone/>
            </a:pPr>
            <a:r>
              <a:rPr lang="en-US" sz="1500" b="1" dirty="0">
                <a:solidFill>
                  <a:srgbClr val="110057"/>
                </a:solidFill>
                <a:latin typeface="Arial"/>
                <a:cs typeface="Arial"/>
              </a:rPr>
              <a:t>Agreement Between Definitions</a:t>
            </a:r>
          </a:p>
        </p:txBody>
      </p:sp>
      <p:sp>
        <p:nvSpPr>
          <p:cNvPr id="13" name="TextBox 12">
            <a:extLst>
              <a:ext uri="{FF2B5EF4-FFF2-40B4-BE49-F238E27FC236}">
                <a16:creationId xmlns:a16="http://schemas.microsoft.com/office/drawing/2014/main" id="{AFB12501-D79A-8945-A961-DEF66579F4AC}"/>
              </a:ext>
            </a:extLst>
          </p:cNvPr>
          <p:cNvSpPr txBox="1"/>
          <p:nvPr/>
        </p:nvSpPr>
        <p:spPr>
          <a:xfrm>
            <a:off x="914400" y="3378200"/>
            <a:ext cx="4927600" cy="406400"/>
          </a:xfrm>
          <a:prstGeom prst="rect">
            <a:avLst/>
          </a:prstGeom>
          <a:noFill/>
        </p:spPr>
        <p:txBody>
          <a:bodyPr vertOverflow="overflow" vert="horz" wrap="square" rtlCol="0" anchor="t">
            <a:noAutofit/>
          </a:bodyPr>
          <a:lstStyle/>
          <a:p>
            <a:pPr algn="l">
              <a:buNone/>
            </a:pPr>
            <a:r>
              <a:rPr lang="en-US" sz="1200" dirty="0">
                <a:solidFill>
                  <a:srgbClr val="555555"/>
                </a:solidFill>
                <a:latin typeface="Arial"/>
                <a:cs typeface="Arial"/>
              </a:rPr>
              <a:t>Pairwise Cohen's κ across six definitions — agreement ranges from slight to moderate</a:t>
            </a:r>
          </a:p>
        </p:txBody>
      </p:sp>
      <p:sp>
        <p:nvSpPr>
          <p:cNvPr id="14" name="Rounded Rectangle 13">
            <a:extLst>
              <a:ext uri="{FF2B5EF4-FFF2-40B4-BE49-F238E27FC236}">
                <a16:creationId xmlns:a16="http://schemas.microsoft.com/office/drawing/2014/main" id="{E139BC5F-865F-F04E-AC8C-B3EC74CC5326}"/>
              </a:ext>
            </a:extLst>
          </p:cNvPr>
          <p:cNvSpPr/>
          <p:nvPr/>
        </p:nvSpPr>
        <p:spPr>
          <a:xfrm>
            <a:off x="6197600" y="3022600"/>
            <a:ext cx="5232400" cy="2971800"/>
          </a:xfrm>
          <a:prstGeom prst="roundRect">
            <a:avLst/>
          </a:prstGeom>
          <a:solidFill>
            <a:srgbClr val="F3F0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2352D696-EDB4-8F46-BB26-DCDE67A5F4C5}"/>
              </a:ext>
            </a:extLst>
          </p:cNvPr>
          <p:cNvSpPr txBox="1"/>
          <p:nvPr/>
        </p:nvSpPr>
        <p:spPr>
          <a:xfrm>
            <a:off x="6350000" y="3124200"/>
            <a:ext cx="4927600" cy="254000"/>
          </a:xfrm>
          <a:prstGeom prst="rect">
            <a:avLst/>
          </a:prstGeom>
          <a:noFill/>
        </p:spPr>
        <p:txBody>
          <a:bodyPr vertOverflow="overflow" vert="horz" wrap="square" rtlCol="0" anchor="t">
            <a:noAutofit/>
          </a:bodyPr>
          <a:lstStyle/>
          <a:p>
            <a:pPr algn="l"/>
            <a:r>
              <a:rPr lang="en-US" sz="1400" b="1">
                <a:solidFill>
                  <a:srgbClr val="110057"/>
                </a:solidFill>
                <a:latin typeface="Arial"/>
                <a:cs typeface="Arial"/>
              </a:rPr>
              <a:t>Companion: Diagnostic Model</a:t>
            </a:r>
          </a:p>
        </p:txBody>
      </p:sp>
      <p:sp>
        <p:nvSpPr>
          <p:cNvPr id="16" name="TextBox 15">
            <a:extLst>
              <a:ext uri="{FF2B5EF4-FFF2-40B4-BE49-F238E27FC236}">
                <a16:creationId xmlns:a16="http://schemas.microsoft.com/office/drawing/2014/main" id="{4AD5F53E-76B2-0149-9DB7-9CE2FD8FF4D5}"/>
              </a:ext>
            </a:extLst>
          </p:cNvPr>
          <p:cNvSpPr txBox="1"/>
          <p:nvPr/>
        </p:nvSpPr>
        <p:spPr>
          <a:xfrm>
            <a:off x="6350000" y="3378200"/>
            <a:ext cx="4927600" cy="406400"/>
          </a:xfrm>
          <a:prstGeom prst="rect">
            <a:avLst/>
          </a:prstGeom>
          <a:noFill/>
        </p:spPr>
        <p:txBody>
          <a:bodyPr vertOverflow="overflow" vert="horz" wrap="square" rtlCol="0" anchor="t">
            <a:noAutofit/>
          </a:bodyPr>
          <a:lstStyle/>
          <a:p>
            <a:pPr algn="l">
              <a:buNone/>
            </a:pPr>
            <a:r>
              <a:rPr lang="en-US" sz="1100" dirty="0">
                <a:solidFill>
                  <a:srgbClr val="555555"/>
                </a:solidFill>
                <a:latin typeface="Arial"/>
                <a:cs typeface="Arial"/>
              </a:rPr>
              <a:t>Random forest predictions, ROC, &amp; calibration for ML identification of unrecognized hypercapnia (Locke et al. LNAI 2024)</a:t>
            </a:r>
          </a:p>
        </p:txBody>
      </p:sp>
      <p:sp>
        <p:nvSpPr>
          <p:cNvPr id="17" name="Rectangle 16">
            <a:extLst>
              <a:ext uri="{FF2B5EF4-FFF2-40B4-BE49-F238E27FC236}">
                <a16:creationId xmlns:a16="http://schemas.microsoft.com/office/drawing/2014/main" id="{3F0438F3-8D04-5148-A456-04E23A055CC1}"/>
              </a:ext>
            </a:extLst>
          </p:cNvPr>
          <p:cNvSpPr/>
          <p:nvPr/>
        </p:nvSpPr>
        <p:spPr>
          <a:xfrm>
            <a:off x="762000" y="6096000"/>
            <a:ext cx="10668000" cy="19050"/>
          </a:xfrm>
          <a:prstGeom prst="rect">
            <a:avLst/>
          </a:prstGeom>
          <a:solidFill>
            <a:srgbClr val="D0D0D0"/>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TextBox 17">
            <a:extLst>
              <a:ext uri="{FF2B5EF4-FFF2-40B4-BE49-F238E27FC236}">
                <a16:creationId xmlns:a16="http://schemas.microsoft.com/office/drawing/2014/main" id="{2DEE4025-177F-F546-8044-BEC7D2E99FE6}"/>
              </a:ext>
            </a:extLst>
          </p:cNvPr>
          <p:cNvSpPr txBox="1"/>
          <p:nvPr/>
        </p:nvSpPr>
        <p:spPr>
          <a:xfrm>
            <a:off x="762000" y="6172200"/>
            <a:ext cx="10668000" cy="323165"/>
          </a:xfrm>
          <a:prstGeom prst="rect">
            <a:avLst/>
          </a:prstGeom>
          <a:noFill/>
        </p:spPr>
        <p:txBody>
          <a:bodyPr vertOverflow="overflow" vert="horz" wrap="square" rtlCol="0" anchor="t">
            <a:spAutoFit/>
          </a:bodyPr>
          <a:lstStyle/>
          <a:p>
            <a:pPr algn="l">
              <a:buNone/>
            </a:pPr>
            <a:r>
              <a:rPr lang="en-US" sz="1500" b="1" dirty="0">
                <a:solidFill>
                  <a:srgbClr val="4A00E2"/>
                </a:solidFill>
                <a:latin typeface="Arial"/>
                <a:cs typeface="Arial"/>
              </a:rPr>
              <a:t>So what are we doing about it?  </a:t>
            </a:r>
            <a:r>
              <a:rPr lang="en-US" sz="1500" dirty="0">
                <a:solidFill>
                  <a:srgbClr val="110057"/>
                </a:solidFill>
                <a:latin typeface="Arial"/>
                <a:cs typeface="Arial"/>
              </a:rPr>
              <a:t>A new clinic + funded research to quantify practice patterns at Intermountain </a:t>
            </a:r>
            <a:r>
              <a:rPr lang="en-US" sz="1500" dirty="0">
                <a:solidFill>
                  <a:srgbClr val="4A00E2"/>
                </a:solidFill>
                <a:latin typeface="Arial"/>
                <a:cs typeface="Arial"/>
              </a:rPr>
              <a:t>→</a:t>
            </a:r>
          </a:p>
        </p:txBody>
      </p:sp>
      <p:pic>
        <p:nvPicPr>
          <p:cNvPr id="21" name="Picture 20">
            <a:extLst>
              <a:ext uri="{FF2B5EF4-FFF2-40B4-BE49-F238E27FC236}">
                <a16:creationId xmlns:a16="http://schemas.microsoft.com/office/drawing/2014/main" id="{659C04AD-6880-9F25-FCD7-C730A9FC8437}"/>
              </a:ext>
            </a:extLst>
          </p:cNvPr>
          <p:cNvPicPr>
            <a:picLocks noChangeAspect="1"/>
          </p:cNvPicPr>
          <p:nvPr/>
        </p:nvPicPr>
        <p:blipFill>
          <a:blip r:embed="rId2"/>
          <a:stretch>
            <a:fillRect/>
          </a:stretch>
        </p:blipFill>
        <p:spPr>
          <a:xfrm>
            <a:off x="2068554" y="3835400"/>
            <a:ext cx="2619291" cy="2057400"/>
          </a:xfrm>
          <a:prstGeom prst="rect">
            <a:avLst/>
          </a:prstGeom>
        </p:spPr>
      </p:pic>
      <p:pic>
        <p:nvPicPr>
          <p:cNvPr id="30" name="RF Predictions"/>
          <p:cNvPicPr>
            <a:picLocks noChangeAspect="1"/>
          </p:cNvPicPr>
          <p:nvPr/>
        </p:nvPicPr>
        <p:blipFill>
          <a:blip r:embed="rId3"/>
          <a:srcRect l="50000" t="7000" b="67000"/>
          <a:stretch>
            <a:fillRect/>
          </a:stretch>
        </p:blipFill>
        <p:spPr>
          <a:xfrm>
            <a:off x="6324600" y="4597400"/>
            <a:ext cx="1600200" cy="1200150"/>
          </a:xfrm>
          <a:prstGeom prst="rect">
            <a:avLst/>
          </a:prstGeom>
        </p:spPr>
      </p:pic>
      <p:pic>
        <p:nvPicPr>
          <p:cNvPr id="31" name="RF Discrimination"/>
          <p:cNvPicPr>
            <a:picLocks noChangeAspect="1"/>
          </p:cNvPicPr>
          <p:nvPr/>
        </p:nvPicPr>
        <p:blipFill>
          <a:blip r:embed="rId3"/>
          <a:srcRect l="50000" t="33000" b="40000"/>
          <a:stretch>
            <a:fillRect/>
          </a:stretch>
        </p:blipFill>
        <p:spPr>
          <a:xfrm>
            <a:off x="8001000" y="4546600"/>
            <a:ext cx="1600200" cy="1248640"/>
          </a:xfrm>
          <a:prstGeom prst="rect">
            <a:avLst/>
          </a:prstGeom>
        </p:spPr>
      </p:pic>
      <p:pic>
        <p:nvPicPr>
          <p:cNvPr id="32" name="RF Calibration"/>
          <p:cNvPicPr>
            <a:picLocks noChangeAspect="1"/>
          </p:cNvPicPr>
          <p:nvPr/>
        </p:nvPicPr>
        <p:blipFill>
          <a:blip r:embed="rId3"/>
          <a:srcRect l="50000" t="61000" b="16000"/>
          <a:stretch>
            <a:fillRect/>
          </a:stretch>
        </p:blipFill>
        <p:spPr>
          <a:xfrm>
            <a:off x="9677400" y="4635500"/>
            <a:ext cx="1600200" cy="1066800"/>
          </a:xfrm>
          <a:prstGeom prst="rect">
            <a:avLst/>
          </a:prstGeom>
        </p:spPr>
      </p:pic>
    </p:spTree>
    <p:extLst>
      <p:ext uri="{BB962C8B-B14F-4D97-AF65-F5344CB8AC3E}">
        <p14:creationId xmlns:p14="http://schemas.microsoft.com/office/powerpoint/2010/main" val="19801610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5F9">
            <a:alpha val="100000"/>
          </a:srgbClr>
        </a:solidFill>
        <a:effectLst/>
      </p:bgPr>
    </p:bg>
    <p:spTree>
      <p:nvGrpSpPr>
        <p:cNvPr id="1" name=""/>
        <p:cNvGrpSpPr/>
        <p:nvPr/>
      </p:nvGrpSpPr>
      <p:grpSpPr>
        <a:xfrm>
          <a:off x="0" y="0"/>
          <a:ext cx="0" cy="0"/>
          <a:chOff x="0" y="0"/>
          <a:chExt cx="0" cy="0"/>
        </a:xfrm>
      </p:grpSpPr>
      <p:sp>
        <p:nvSpPr>
          <p:cNvPr id="32" name="Rectangle 31">
            <a:extLst>
              <a:ext uri="{FF2B5EF4-FFF2-40B4-BE49-F238E27FC236}">
                <a16:creationId xmlns:a16="http://schemas.microsoft.com/office/drawing/2014/main" id="{4207EE28-7687-BB42-B56A-B7DF4636A01C}"/>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2224CDB2-AD36-CB47-8D37-75AB2DB57ECD}"/>
              </a:ext>
            </a:extLst>
          </p:cNvPr>
          <p:cNvSpPr txBox="1"/>
          <p:nvPr/>
        </p:nvSpPr>
        <p:spPr>
          <a:xfrm>
            <a:off x="762000" y="254000"/>
            <a:ext cx="6350000" cy="279400"/>
          </a:xfrm>
          <a:prstGeom prst="rect">
            <a:avLst/>
          </a:prstGeom>
          <a:noFill/>
        </p:spPr>
        <p:txBody>
          <a:bodyPr vertOverflow="overflow" vert="horz" wrap="square" rtlCol="0" anchor="t">
            <a:spAutoFit/>
          </a:bodyPr>
          <a:lstStyle/>
          <a:p>
            <a:pPr algn="l"/>
            <a:r>
              <a:rPr lang="en-US" sz="1400" b="1">
                <a:solidFill>
                  <a:srgbClr val="6B5B8A"/>
                </a:solidFill>
                <a:latin typeface="Arial"/>
                <a:cs typeface="Arial"/>
              </a:rPr>
              <a:t>Chronic Respiratory Failure Clinic</a:t>
            </a:r>
          </a:p>
        </p:txBody>
      </p:sp>
      <p:sp>
        <p:nvSpPr>
          <p:cNvPr id="20" name="TextBox 19">
            <a:extLst>
              <a:ext uri="{FF2B5EF4-FFF2-40B4-BE49-F238E27FC236}">
                <a16:creationId xmlns:a16="http://schemas.microsoft.com/office/drawing/2014/main" id="{979D432E-07DD-E84A-9BE1-B0E3254889CD}"/>
              </a:ext>
            </a:extLst>
          </p:cNvPr>
          <p:cNvSpPr txBox="1"/>
          <p:nvPr/>
        </p:nvSpPr>
        <p:spPr>
          <a:xfrm>
            <a:off x="762000" y="558800"/>
            <a:ext cx="10668000" cy="457200"/>
          </a:xfrm>
          <a:prstGeom prst="rect">
            <a:avLst/>
          </a:prstGeom>
          <a:noFill/>
        </p:spPr>
        <p:txBody>
          <a:bodyPr vertOverflow="overflow" vert="horz" wrap="square" rtlCol="0" anchor="t">
            <a:spAutoFit/>
          </a:bodyPr>
          <a:lstStyle/>
          <a:p>
            <a:pPr algn="l"/>
            <a:r>
              <a:rPr lang="en-US" sz="2200" b="1">
                <a:solidFill>
                  <a:srgbClr val="110057"/>
                </a:solidFill>
                <a:latin typeface="Arial"/>
                <a:cs typeface="Arial"/>
              </a:rPr>
              <a:t>A new clinic to simplify care and generate evidence</a:t>
            </a:r>
          </a:p>
        </p:txBody>
      </p:sp>
      <p:sp>
        <p:nvSpPr>
          <p:cNvPr id="21" name="TextBox 20">
            <a:extLst>
              <a:ext uri="{FF2B5EF4-FFF2-40B4-BE49-F238E27FC236}">
                <a16:creationId xmlns:a16="http://schemas.microsoft.com/office/drawing/2014/main" id="{C51033A4-4D63-7B46-92B6-D373486466AE}"/>
              </a:ext>
            </a:extLst>
          </p:cNvPr>
          <p:cNvSpPr txBox="1"/>
          <p:nvPr/>
        </p:nvSpPr>
        <p:spPr>
          <a:xfrm>
            <a:off x="762000" y="1041400"/>
            <a:ext cx="10668000" cy="254000"/>
          </a:xfrm>
          <a:prstGeom prst="rect">
            <a:avLst/>
          </a:prstGeom>
          <a:noFill/>
        </p:spPr>
        <p:txBody>
          <a:bodyPr vertOverflow="overflow" vert="horz" wrap="square" rtlCol="0" anchor="t">
            <a:spAutoFit/>
          </a:bodyPr>
          <a:lstStyle/>
          <a:p>
            <a:pPr algn="l"/>
            <a:r>
              <a:rPr lang="en-US" sz="1400" dirty="0">
                <a:solidFill>
                  <a:srgbClr val="6B5B8A"/>
                </a:solidFill>
                <a:latin typeface="Arial"/>
                <a:cs typeface="Arial"/>
              </a:rPr>
              <a:t>Schmidt Chest Clinic at IMED  |  New subspecialty clinic  |  Pulmonary disease navigators + dedicated providers</a:t>
            </a:r>
          </a:p>
        </p:txBody>
      </p:sp>
      <p:sp>
        <p:nvSpPr>
          <p:cNvPr id="22" name="Oval 21">
            <a:extLst>
              <a:ext uri="{FF2B5EF4-FFF2-40B4-BE49-F238E27FC236}">
                <a16:creationId xmlns:a16="http://schemas.microsoft.com/office/drawing/2014/main" id="{F90EA9FD-A49A-5B48-885D-F2952EBF03C4}"/>
              </a:ext>
            </a:extLst>
          </p:cNvPr>
          <p:cNvSpPr/>
          <p:nvPr/>
        </p:nvSpPr>
        <p:spPr>
          <a:xfrm>
            <a:off x="1841500" y="1714500"/>
            <a:ext cx="1524000" cy="15240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Arial"/>
                <a:cs typeface="Arial"/>
              </a:rPr>
              <a:t>Identify</a:t>
            </a:r>
          </a:p>
        </p:txBody>
      </p:sp>
      <p:sp>
        <p:nvSpPr>
          <p:cNvPr id="23" name="Right Arrow 22">
            <a:extLst>
              <a:ext uri="{FF2B5EF4-FFF2-40B4-BE49-F238E27FC236}">
                <a16:creationId xmlns:a16="http://schemas.microsoft.com/office/drawing/2014/main" id="{34982F1C-CFF3-3549-A75E-5DB1B2DD22A0}"/>
              </a:ext>
            </a:extLst>
          </p:cNvPr>
          <p:cNvSpPr/>
          <p:nvPr/>
        </p:nvSpPr>
        <p:spPr>
          <a:xfrm>
            <a:off x="3467100" y="2311400"/>
            <a:ext cx="1701800" cy="330200"/>
          </a:xfrm>
          <a:prstGeom prst="rightArrow">
            <a:avLst/>
          </a:prstGeom>
          <a:solidFill>
            <a:srgbClr val="D4C8E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4" name="TextBox 23">
            <a:extLst>
              <a:ext uri="{FF2B5EF4-FFF2-40B4-BE49-F238E27FC236}">
                <a16:creationId xmlns:a16="http://schemas.microsoft.com/office/drawing/2014/main" id="{0DF58A40-A8D6-614E-A89E-E08B4A8D777E}"/>
              </a:ext>
            </a:extLst>
          </p:cNvPr>
          <p:cNvSpPr txBox="1"/>
          <p:nvPr/>
        </p:nvSpPr>
        <p:spPr>
          <a:xfrm>
            <a:off x="1397000" y="3365500"/>
            <a:ext cx="2413000" cy="1016000"/>
          </a:xfrm>
          <a:prstGeom prst="rect">
            <a:avLst/>
          </a:prstGeom>
          <a:noFill/>
          <a:ln>
            <a:noFill/>
          </a:ln>
        </p:spPr>
        <p:txBody>
          <a:bodyPr vertOverflow="overflow" vert="horz" wrap="square" rtlCol="0" anchor="t">
            <a:spAutoFit/>
          </a:bodyPr>
          <a:lstStyle/>
          <a:p>
            <a:pPr algn="ctr"/>
            <a:r>
              <a:rPr lang="en-US" sz="1400" dirty="0">
                <a:solidFill>
                  <a:srgbClr val="110057"/>
                </a:solidFill>
                <a:latin typeface="Arial"/>
                <a:cs typeface="Arial"/>
              </a:rPr>
              <a:t>Word of mouth and inpatient RT today; criteria-based as evidence develops</a:t>
            </a:r>
          </a:p>
        </p:txBody>
      </p:sp>
      <p:sp>
        <p:nvSpPr>
          <p:cNvPr id="25" name="Oval 24">
            <a:extLst>
              <a:ext uri="{FF2B5EF4-FFF2-40B4-BE49-F238E27FC236}">
                <a16:creationId xmlns:a16="http://schemas.microsoft.com/office/drawing/2014/main" id="{C245083A-9DD4-CD43-B799-C724AC750C33}"/>
              </a:ext>
            </a:extLst>
          </p:cNvPr>
          <p:cNvSpPr/>
          <p:nvPr/>
        </p:nvSpPr>
        <p:spPr>
          <a:xfrm>
            <a:off x="5270500" y="1714500"/>
            <a:ext cx="1524000" cy="15240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b="1">
                <a:solidFill>
                  <a:srgbClr val="FFFFFF"/>
                </a:solidFill>
                <a:latin typeface="Arial"/>
                <a:cs typeface="Arial"/>
              </a:rPr>
              <a:t>Navigate</a:t>
            </a:r>
          </a:p>
        </p:txBody>
      </p:sp>
      <p:sp>
        <p:nvSpPr>
          <p:cNvPr id="26" name="Right Arrow 25">
            <a:extLst>
              <a:ext uri="{FF2B5EF4-FFF2-40B4-BE49-F238E27FC236}">
                <a16:creationId xmlns:a16="http://schemas.microsoft.com/office/drawing/2014/main" id="{16A9B17F-38C9-DF43-A710-22F39450465E}"/>
              </a:ext>
            </a:extLst>
          </p:cNvPr>
          <p:cNvSpPr/>
          <p:nvPr/>
        </p:nvSpPr>
        <p:spPr>
          <a:xfrm>
            <a:off x="6896100" y="2311400"/>
            <a:ext cx="1701800" cy="330200"/>
          </a:xfrm>
          <a:prstGeom prst="rightArrow">
            <a:avLst/>
          </a:prstGeom>
          <a:solidFill>
            <a:srgbClr val="D4C8E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7" name="TextBox 26">
            <a:extLst>
              <a:ext uri="{FF2B5EF4-FFF2-40B4-BE49-F238E27FC236}">
                <a16:creationId xmlns:a16="http://schemas.microsoft.com/office/drawing/2014/main" id="{F496A741-48F7-8140-B78F-334F2211FA80}"/>
              </a:ext>
            </a:extLst>
          </p:cNvPr>
          <p:cNvSpPr txBox="1"/>
          <p:nvPr/>
        </p:nvSpPr>
        <p:spPr>
          <a:xfrm>
            <a:off x="4826000" y="3365500"/>
            <a:ext cx="2413000" cy="1016000"/>
          </a:xfrm>
          <a:prstGeom prst="rect">
            <a:avLst/>
          </a:prstGeom>
          <a:noFill/>
          <a:ln>
            <a:noFill/>
          </a:ln>
        </p:spPr>
        <p:txBody>
          <a:bodyPr vertOverflow="overflow" vert="horz" wrap="square" rtlCol="0" anchor="t">
            <a:spAutoFit/>
          </a:bodyPr>
          <a:lstStyle/>
          <a:p>
            <a:pPr algn="ctr"/>
            <a:r>
              <a:rPr lang="en-US" sz="1400" dirty="0">
                <a:solidFill>
                  <a:srgbClr val="110057"/>
                </a:solidFill>
                <a:latin typeface="Arial"/>
                <a:cs typeface="Arial"/>
              </a:rPr>
              <a:t>PDNs, Dr. Locke, and G. Norton handle equipment, triage, and referrals</a:t>
            </a:r>
          </a:p>
        </p:txBody>
      </p:sp>
      <p:sp>
        <p:nvSpPr>
          <p:cNvPr id="28" name="Oval 27">
            <a:extLst>
              <a:ext uri="{FF2B5EF4-FFF2-40B4-BE49-F238E27FC236}">
                <a16:creationId xmlns:a16="http://schemas.microsoft.com/office/drawing/2014/main" id="{AD8B5CD0-3B6C-8540-ACD0-DE8E18832C77}"/>
              </a:ext>
            </a:extLst>
          </p:cNvPr>
          <p:cNvSpPr/>
          <p:nvPr/>
        </p:nvSpPr>
        <p:spPr>
          <a:xfrm>
            <a:off x="8699500" y="1714500"/>
            <a:ext cx="1524000" cy="1524000"/>
          </a:xfrm>
          <a:prstGeom prst="ellipse">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sz="1600" b="1">
                <a:solidFill>
                  <a:srgbClr val="FFFFFF"/>
                </a:solidFill>
                <a:latin typeface="Arial"/>
                <a:cs typeface="Arial"/>
              </a:rPr>
              <a:t>Evaluate
&amp; Manage</a:t>
            </a:r>
          </a:p>
        </p:txBody>
      </p:sp>
      <p:sp>
        <p:nvSpPr>
          <p:cNvPr id="29" name="TextBox 28">
            <a:extLst>
              <a:ext uri="{FF2B5EF4-FFF2-40B4-BE49-F238E27FC236}">
                <a16:creationId xmlns:a16="http://schemas.microsoft.com/office/drawing/2014/main" id="{4014E0C2-5720-2447-B2A4-D1BBC8C837E8}"/>
              </a:ext>
            </a:extLst>
          </p:cNvPr>
          <p:cNvSpPr txBox="1"/>
          <p:nvPr/>
        </p:nvSpPr>
        <p:spPr>
          <a:xfrm>
            <a:off x="8255000" y="3365500"/>
            <a:ext cx="2413000" cy="1016000"/>
          </a:xfrm>
          <a:prstGeom prst="rect">
            <a:avLst/>
          </a:prstGeom>
          <a:noFill/>
          <a:ln>
            <a:noFill/>
          </a:ln>
        </p:spPr>
        <p:txBody>
          <a:bodyPr vertOverflow="overflow" vert="horz" wrap="square" rtlCol="0" anchor="t">
            <a:spAutoFit/>
          </a:bodyPr>
          <a:lstStyle/>
          <a:p>
            <a:pPr algn="ctr"/>
            <a:r>
              <a:rPr lang="en-US" sz="1400" dirty="0">
                <a:solidFill>
                  <a:srgbClr val="110057"/>
                </a:solidFill>
                <a:latin typeface="Arial"/>
                <a:cs typeface="Arial"/>
              </a:rPr>
              <a:t>Structured workup with a clear point of contact for post-discharge issues</a:t>
            </a:r>
          </a:p>
        </p:txBody>
      </p:sp>
      <p:sp>
        <p:nvSpPr>
          <p:cNvPr id="2" name="Rectangle 1">
            <a:extLst>
              <a:ext uri="{FF2B5EF4-FFF2-40B4-BE49-F238E27FC236}">
                <a16:creationId xmlns:a16="http://schemas.microsoft.com/office/drawing/2014/main" id="{3D2A8E77-4F92-344A-8A27-61F9E52E1AEB}"/>
              </a:ext>
            </a:extLst>
          </p:cNvPr>
          <p:cNvSpPr/>
          <p:nvPr/>
        </p:nvSpPr>
        <p:spPr>
          <a:xfrm>
            <a:off x="762000" y="4699000"/>
            <a:ext cx="10668000" cy="19050"/>
          </a:xfrm>
          <a:prstGeom prst="rect">
            <a:avLst/>
          </a:prstGeom>
          <a:solidFill>
            <a:srgbClr val="D4C8E8"/>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9B713583-D8BA-E345-A059-624E6769CD6E}"/>
              </a:ext>
            </a:extLst>
          </p:cNvPr>
          <p:cNvSpPr txBox="1"/>
          <p:nvPr/>
        </p:nvSpPr>
        <p:spPr>
          <a:xfrm>
            <a:off x="762000" y="4826000"/>
            <a:ext cx="10668000" cy="558800"/>
          </a:xfrm>
          <a:prstGeom prst="rect">
            <a:avLst/>
          </a:prstGeom>
          <a:noFill/>
        </p:spPr>
        <p:txBody>
          <a:bodyPr vertOverflow="overflow" vert="horz" wrap="square" rtlCol="0" anchor="t">
            <a:noAutofit/>
          </a:bodyPr>
          <a:lstStyle/>
          <a:p>
            <a:pPr algn="l">
              <a:spcAft>
                <a:spcPts val="200"/>
              </a:spcAft>
              <a:buNone/>
            </a:pPr>
            <a:r>
              <a:rPr lang="en-US" sz="1400" dirty="0">
                <a:solidFill>
                  <a:srgbClr val="4A3D6B"/>
                </a:solidFill>
                <a:latin typeface="Arial"/>
                <a:cs typeface="Arial"/>
              </a:rPr>
              <a:t>Consolidates scattered care — including post-discharge device qualification that currently has no clear ownership pathway</a:t>
            </a:r>
          </a:p>
          <a:p>
            <a:pPr algn="l">
              <a:buNone/>
            </a:pPr>
            <a:r>
              <a:rPr lang="en-US" sz="1400" dirty="0">
                <a:solidFill>
                  <a:srgbClr val="6B5B8A"/>
                </a:solidFill>
                <a:latin typeface="Arial"/>
                <a:cs typeface="Arial"/>
              </a:rPr>
              <a:t>Payer-linked data lets us measure whether it works and what it costs</a:t>
            </a:r>
          </a:p>
        </p:txBody>
      </p:sp>
    </p:spTree>
    <p:extLst>
      <p:ext uri="{BB962C8B-B14F-4D97-AF65-F5344CB8AC3E}">
        <p14:creationId xmlns:p14="http://schemas.microsoft.com/office/powerpoint/2010/main" val="13384105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D25D41C3-0AB3-2540-8871-287B11E54351}"/>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Rounded Rectangle 1">
            <a:extLst>
              <a:ext uri="{FF2B5EF4-FFF2-40B4-BE49-F238E27FC236}">
                <a16:creationId xmlns:a16="http://schemas.microsoft.com/office/drawing/2014/main" id="{1E37E7F6-D6BD-DA49-9103-38D87A94C0B5}"/>
              </a:ext>
            </a:extLst>
          </p:cNvPr>
          <p:cNvSpPr/>
          <p:nvPr/>
        </p:nvSpPr>
        <p:spPr>
          <a:xfrm>
            <a:off x="558800" y="1270000"/>
            <a:ext cx="11074400" cy="3581400"/>
          </a:xfrm>
          <a:prstGeom prst="roundRect">
            <a:avLst/>
          </a:prstGeom>
          <a:noFill/>
          <a:ln w="12700" cap="flat" cmpd="sng" algn="ctr">
            <a:solidFill>
              <a:srgbClr val="C4B5D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TextBox 3">
            <a:extLst>
              <a:ext uri="{FF2B5EF4-FFF2-40B4-BE49-F238E27FC236}">
                <a16:creationId xmlns:a16="http://schemas.microsoft.com/office/drawing/2014/main" id="{4E069D41-D49C-D94B-B262-CE9030CB4764}"/>
              </a:ext>
            </a:extLst>
          </p:cNvPr>
          <p:cNvSpPr txBox="1"/>
          <p:nvPr/>
        </p:nvSpPr>
        <p:spPr>
          <a:xfrm>
            <a:off x="762000" y="279400"/>
            <a:ext cx="3810000" cy="279400"/>
          </a:xfrm>
          <a:prstGeom prst="rect">
            <a:avLst/>
          </a:prstGeom>
          <a:noFill/>
        </p:spPr>
        <p:txBody>
          <a:bodyPr vertOverflow="overflow" vert="horz" wrap="square" rtlCol="0" anchor="t">
            <a:spAutoFit/>
          </a:bodyPr>
          <a:lstStyle/>
          <a:p>
            <a:pPr algn="l"/>
            <a:r>
              <a:rPr lang="en-US" sz="1400" b="1" dirty="0">
                <a:solidFill>
                  <a:srgbClr val="6B5B8A"/>
                </a:solidFill>
                <a:latin typeface="Arial"/>
                <a:cs typeface="Arial"/>
              </a:rPr>
              <a:t>PCCM Seed Grant</a:t>
            </a:r>
          </a:p>
        </p:txBody>
      </p:sp>
      <p:sp>
        <p:nvSpPr>
          <p:cNvPr id="5" name="TextBox 4">
            <a:extLst>
              <a:ext uri="{FF2B5EF4-FFF2-40B4-BE49-F238E27FC236}">
                <a16:creationId xmlns:a16="http://schemas.microsoft.com/office/drawing/2014/main" id="{CBB1F9B3-69FD-C04B-9FAE-FC9F08A0221E}"/>
              </a:ext>
            </a:extLst>
          </p:cNvPr>
          <p:cNvSpPr txBox="1"/>
          <p:nvPr/>
        </p:nvSpPr>
        <p:spPr>
          <a:xfrm>
            <a:off x="762000" y="609600"/>
            <a:ext cx="8890000" cy="508000"/>
          </a:xfrm>
          <a:prstGeom prst="rect">
            <a:avLst/>
          </a:prstGeom>
          <a:noFill/>
        </p:spPr>
        <p:txBody>
          <a:bodyPr vertOverflow="overflow" vert="horz" wrap="square" rtlCol="0" anchor="t">
            <a:spAutoFit/>
          </a:bodyPr>
          <a:lstStyle/>
          <a:p>
            <a:pPr algn="l"/>
            <a:r>
              <a:rPr lang="en-US" sz="2400" b="1" dirty="0">
                <a:solidFill>
                  <a:srgbClr val="110057"/>
                </a:solidFill>
                <a:latin typeface="Arial"/>
              </a:rPr>
              <a:t>Two research programs, one grant</a:t>
            </a:r>
          </a:p>
        </p:txBody>
      </p:sp>
      <p:sp>
        <p:nvSpPr>
          <p:cNvPr id="25" name="TextBox 24">
            <a:extLst>
              <a:ext uri="{FF2B5EF4-FFF2-40B4-BE49-F238E27FC236}">
                <a16:creationId xmlns:a16="http://schemas.microsoft.com/office/drawing/2014/main" id="{A095BB98-7070-164E-A985-BCEF631B138B}"/>
              </a:ext>
            </a:extLst>
          </p:cNvPr>
          <p:cNvSpPr txBox="1"/>
          <p:nvPr/>
        </p:nvSpPr>
        <p:spPr>
          <a:xfrm>
            <a:off x="635000" y="5359400"/>
            <a:ext cx="10922000" cy="304800"/>
          </a:xfrm>
          <a:prstGeom prst="rect">
            <a:avLst/>
          </a:prstGeom>
          <a:noFill/>
        </p:spPr>
        <p:txBody>
          <a:bodyPr vertOverflow="overflow" vert="horz" wrap="square" rtlCol="0" anchor="t">
            <a:spAutoFit/>
          </a:bodyPr>
          <a:lstStyle/>
          <a:p>
            <a:pPr algn="ctr"/>
            <a:r>
              <a:rPr lang="en-US" sz="1400" b="1" dirty="0">
                <a:solidFill>
                  <a:srgbClr val="110057"/>
                </a:solidFill>
                <a:latin typeface="Arial"/>
                <a:cs typeface="Arial"/>
              </a:rPr>
              <a:t>Both programs build toward NHLBI K23 career development award</a:t>
            </a:r>
          </a:p>
        </p:txBody>
      </p:sp>
      <p:sp>
        <p:nvSpPr>
          <p:cNvPr id="7" name="Rounded Rectangle 6">
            <a:extLst>
              <a:ext uri="{FF2B5EF4-FFF2-40B4-BE49-F238E27FC236}">
                <a16:creationId xmlns:a16="http://schemas.microsoft.com/office/drawing/2014/main" id="{D0C72CD6-7030-5241-9DBC-A9B10D5F6DEE}"/>
              </a:ext>
            </a:extLst>
          </p:cNvPr>
          <p:cNvSpPr/>
          <p:nvPr/>
        </p:nvSpPr>
        <p:spPr>
          <a:xfrm>
            <a:off x="736600" y="1447800"/>
            <a:ext cx="5207000" cy="3327400"/>
          </a:xfrm>
          <a:prstGeom prst="roundRect">
            <a:avLst/>
          </a:prstGeom>
          <a:solidFill>
            <a:srgbClr val="FFFFFF"/>
          </a:solidFill>
          <a:ln w="12700" cap="flat" cmpd="sng" algn="ctr">
            <a:solidFill>
              <a:srgbClr val="D4C8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Rectangle 7">
            <a:extLst>
              <a:ext uri="{FF2B5EF4-FFF2-40B4-BE49-F238E27FC236}">
                <a16:creationId xmlns:a16="http://schemas.microsoft.com/office/drawing/2014/main" id="{9134CCA2-C349-094A-9FBE-F92E7F599427}"/>
              </a:ext>
            </a:extLst>
          </p:cNvPr>
          <p:cNvSpPr/>
          <p:nvPr/>
        </p:nvSpPr>
        <p:spPr>
          <a:xfrm>
            <a:off x="736600" y="1447800"/>
            <a:ext cx="5207000" cy="635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TextBox 8">
            <a:extLst>
              <a:ext uri="{FF2B5EF4-FFF2-40B4-BE49-F238E27FC236}">
                <a16:creationId xmlns:a16="http://schemas.microsoft.com/office/drawing/2014/main" id="{9525C513-9F8E-AC4E-BABC-80F0D01644A7}"/>
              </a:ext>
            </a:extLst>
          </p:cNvPr>
          <p:cNvSpPr txBox="1"/>
          <p:nvPr/>
        </p:nvSpPr>
        <p:spPr>
          <a:xfrm>
            <a:off x="889000" y="1625600"/>
            <a:ext cx="4902200" cy="381000"/>
          </a:xfrm>
          <a:prstGeom prst="rect">
            <a:avLst/>
          </a:prstGeom>
          <a:noFill/>
        </p:spPr>
        <p:txBody>
          <a:bodyPr vertOverflow="overflow" vert="horz" wrap="square" rtlCol="0" anchor="t">
            <a:spAutoFit/>
          </a:bodyPr>
          <a:lstStyle/>
          <a:p>
            <a:pPr algn="l"/>
            <a:r>
              <a:rPr lang="en-US" sz="2000" b="1" dirty="0">
                <a:solidFill>
                  <a:srgbClr val="110057"/>
                </a:solidFill>
                <a:latin typeface="Arial"/>
              </a:rPr>
              <a:t>AIM-HIGH</a:t>
            </a:r>
          </a:p>
        </p:txBody>
      </p:sp>
      <p:sp>
        <p:nvSpPr>
          <p:cNvPr id="10" name="TextBox 9">
            <a:extLst>
              <a:ext uri="{FF2B5EF4-FFF2-40B4-BE49-F238E27FC236}">
                <a16:creationId xmlns:a16="http://schemas.microsoft.com/office/drawing/2014/main" id="{A98380F3-0F60-7C47-8162-1877171BBE3B}"/>
              </a:ext>
            </a:extLst>
          </p:cNvPr>
          <p:cNvSpPr txBox="1"/>
          <p:nvPr/>
        </p:nvSpPr>
        <p:spPr>
          <a:xfrm>
            <a:off x="889000" y="2006600"/>
            <a:ext cx="4902200" cy="508000"/>
          </a:xfrm>
          <a:prstGeom prst="rect">
            <a:avLst/>
          </a:prstGeom>
          <a:noFill/>
        </p:spPr>
        <p:txBody>
          <a:bodyPr vertOverflow="overflow" vert="horz" wrap="square" rtlCol="0" anchor="t">
            <a:spAutoFit/>
          </a:bodyPr>
          <a:lstStyle/>
          <a:p>
            <a:pPr algn="l"/>
            <a:r>
              <a:rPr lang="en-US" sz="1400" i="1" dirty="0">
                <a:solidFill>
                  <a:srgbClr val="6B5B8A"/>
                </a:solidFill>
                <a:latin typeface="Arial"/>
                <a:cs typeface="Arial"/>
              </a:rPr>
              <a:t>AI for Modifiable Health Indicators in Groups with High Needs</a:t>
            </a:r>
          </a:p>
        </p:txBody>
      </p:sp>
      <p:sp>
        <p:nvSpPr>
          <p:cNvPr id="11" name="TextBox 10">
            <a:extLst>
              <a:ext uri="{FF2B5EF4-FFF2-40B4-BE49-F238E27FC236}">
                <a16:creationId xmlns:a16="http://schemas.microsoft.com/office/drawing/2014/main" id="{17DFFE2E-912B-D048-AF4C-8EDF5E29D232}"/>
              </a:ext>
            </a:extLst>
          </p:cNvPr>
          <p:cNvSpPr txBox="1"/>
          <p:nvPr/>
        </p:nvSpPr>
        <p:spPr>
          <a:xfrm>
            <a:off x="889000" y="2540000"/>
            <a:ext cx="4902200" cy="1785104"/>
          </a:xfrm>
          <a:prstGeom prst="rect">
            <a:avLst/>
          </a:prstGeom>
          <a:noFill/>
        </p:spPr>
        <p:txBody>
          <a:bodyPr vertOverflow="overflow" vert="horz" wrap="square" rtlCol="0" anchor="t">
            <a:spAutoFit/>
          </a:bodyPr>
          <a:lstStyle/>
          <a:p>
            <a:pPr marL="0" indent="0" algn="l">
              <a:buNone/>
            </a:pPr>
            <a:r>
              <a:rPr lang="en-US" sz="1400" b="1" dirty="0">
                <a:solidFill>
                  <a:srgbClr val="110057"/>
                </a:solidFill>
                <a:latin typeface="Arial"/>
                <a:cs typeface="Arial"/>
              </a:rPr>
              <a:t>Data:</a:t>
            </a:r>
            <a:r>
              <a:rPr lang="en-US" sz="1400" dirty="0">
                <a:solidFill>
                  <a:srgbClr val="3D2460"/>
                </a:solidFill>
                <a:latin typeface="Arial"/>
                <a:cs typeface="Arial"/>
              </a:rPr>
              <a:t>  IH + Select Health linked clinical and claims records</a:t>
            </a:r>
          </a:p>
          <a:p>
            <a:pPr marL="171450" indent="-171450" algn="l">
              <a:buFont typeface="Arial"/>
              <a:buChar char="•"/>
            </a:pPr>
            <a:r>
              <a:rPr lang="en-US" sz="1400" dirty="0">
                <a:solidFill>
                  <a:srgbClr val="3D2460"/>
                </a:solidFill>
                <a:latin typeface="Arial"/>
                <a:cs typeface="Arial"/>
              </a:rPr>
              <a:t>~7,000 cases by ABG/VBG/ICD (2016–2024)</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Goals:</a:t>
            </a:r>
            <a:r>
              <a:rPr lang="en-US" sz="1400" dirty="0">
                <a:solidFill>
                  <a:srgbClr val="3D2460"/>
                </a:solidFill>
                <a:latin typeface="Arial"/>
                <a:cs typeface="Arial"/>
              </a:rPr>
              <a:t>  Risk prediction, economics, ML phenotyping</a:t>
            </a:r>
          </a:p>
          <a:p>
            <a:pPr marL="171450" indent="-171450" algn="l">
              <a:buFont typeface="Arial"/>
              <a:buChar char="•"/>
            </a:pPr>
            <a:r>
              <a:rPr lang="en-US" sz="1400" dirty="0">
                <a:solidFill>
                  <a:srgbClr val="3D2460"/>
                </a:solidFill>
                <a:latin typeface="Arial"/>
                <a:cs typeface="Arial"/>
              </a:rPr>
              <a:t>30-day readmission, 1-yr mortality, cost</a:t>
            </a:r>
          </a:p>
          <a:p>
            <a:pPr marL="171450" indent="-171450" algn="l">
              <a:buFont typeface="Arial"/>
              <a:buChar char="•"/>
            </a:pPr>
            <a:r>
              <a:rPr lang="en-US" sz="1400" dirty="0">
                <a:solidFill>
                  <a:srgbClr val="3D2460"/>
                </a:solidFill>
                <a:latin typeface="Arial"/>
                <a:cs typeface="Arial"/>
              </a:rPr>
              <a:t>High-risk phenotypes for targeted intervention</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Status:</a:t>
            </a:r>
            <a:r>
              <a:rPr lang="en-US" sz="1400" dirty="0">
                <a:solidFill>
                  <a:srgbClr val="3D2460"/>
                </a:solidFill>
                <a:latin typeface="Arial"/>
                <a:cs typeface="Arial"/>
              </a:rPr>
              <a:t>  Data cleaning underway; IH–SH linkage being escalated</a:t>
            </a:r>
          </a:p>
        </p:txBody>
      </p:sp>
      <p:sp>
        <p:nvSpPr>
          <p:cNvPr id="12" name="Rounded Rectangle 11">
            <a:extLst>
              <a:ext uri="{FF2B5EF4-FFF2-40B4-BE49-F238E27FC236}">
                <a16:creationId xmlns:a16="http://schemas.microsoft.com/office/drawing/2014/main" id="{D1FEF60B-B79A-EC46-9BA2-D7F5AA8810A4}"/>
              </a:ext>
            </a:extLst>
          </p:cNvPr>
          <p:cNvSpPr/>
          <p:nvPr/>
        </p:nvSpPr>
        <p:spPr>
          <a:xfrm>
            <a:off x="889000" y="4381500"/>
            <a:ext cx="4902200" cy="3048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ctr"/>
            <a:r>
              <a:rPr lang="en-US" sz="1400" b="1" dirty="0">
                <a:solidFill>
                  <a:srgbClr val="FFFFFF"/>
                </a:solidFill>
                <a:latin typeface="Arial"/>
                <a:cs typeface="Arial"/>
              </a:rPr>
              <a:t>DATA CLEANING • LINKAGE IN PROGRESS</a:t>
            </a:r>
          </a:p>
        </p:txBody>
      </p:sp>
      <p:sp>
        <p:nvSpPr>
          <p:cNvPr id="13" name="Rounded Rectangle 12">
            <a:extLst>
              <a:ext uri="{FF2B5EF4-FFF2-40B4-BE49-F238E27FC236}">
                <a16:creationId xmlns:a16="http://schemas.microsoft.com/office/drawing/2014/main" id="{16B0CE91-B154-C04A-BE1E-35ADB7C7D2A3}"/>
              </a:ext>
            </a:extLst>
          </p:cNvPr>
          <p:cNvSpPr/>
          <p:nvPr/>
        </p:nvSpPr>
        <p:spPr>
          <a:xfrm>
            <a:off x="6248400" y="1447800"/>
            <a:ext cx="5207000" cy="3327400"/>
          </a:xfrm>
          <a:prstGeom prst="roundRect">
            <a:avLst/>
          </a:prstGeom>
          <a:solidFill>
            <a:srgbClr val="FFFFFF"/>
          </a:solidFill>
          <a:ln w="12700" cap="flat" cmpd="sng" algn="ctr">
            <a:solidFill>
              <a:srgbClr val="D4C8E8"/>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4" name="Rectangle 13">
            <a:extLst>
              <a:ext uri="{FF2B5EF4-FFF2-40B4-BE49-F238E27FC236}">
                <a16:creationId xmlns:a16="http://schemas.microsoft.com/office/drawing/2014/main" id="{1BD3CB93-1981-F645-A843-9B31CA468A26}"/>
              </a:ext>
            </a:extLst>
          </p:cNvPr>
          <p:cNvSpPr/>
          <p:nvPr/>
        </p:nvSpPr>
        <p:spPr>
          <a:xfrm>
            <a:off x="6248400" y="1447800"/>
            <a:ext cx="5207000" cy="635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5" name="TextBox 14">
            <a:extLst>
              <a:ext uri="{FF2B5EF4-FFF2-40B4-BE49-F238E27FC236}">
                <a16:creationId xmlns:a16="http://schemas.microsoft.com/office/drawing/2014/main" id="{7140C1CE-8961-9642-A9A4-9E51D7CF3A7F}"/>
              </a:ext>
            </a:extLst>
          </p:cNvPr>
          <p:cNvSpPr txBox="1"/>
          <p:nvPr/>
        </p:nvSpPr>
        <p:spPr>
          <a:xfrm>
            <a:off x="6400800" y="1625600"/>
            <a:ext cx="4902200" cy="381000"/>
          </a:xfrm>
          <a:prstGeom prst="rect">
            <a:avLst/>
          </a:prstGeom>
          <a:noFill/>
        </p:spPr>
        <p:txBody>
          <a:bodyPr vertOverflow="overflow" vert="horz" wrap="square" rtlCol="0" anchor="t">
            <a:spAutoFit/>
          </a:bodyPr>
          <a:lstStyle/>
          <a:p>
            <a:pPr algn="l"/>
            <a:r>
              <a:rPr lang="en-US" sz="2000" b="1" dirty="0">
                <a:solidFill>
                  <a:srgbClr val="110057"/>
                </a:solidFill>
                <a:latin typeface="Arial"/>
              </a:rPr>
              <a:t>CO₂-PATH</a:t>
            </a:r>
          </a:p>
        </p:txBody>
      </p:sp>
      <p:sp>
        <p:nvSpPr>
          <p:cNvPr id="16" name="TextBox 15">
            <a:extLst>
              <a:ext uri="{FF2B5EF4-FFF2-40B4-BE49-F238E27FC236}">
                <a16:creationId xmlns:a16="http://schemas.microsoft.com/office/drawing/2014/main" id="{DAD5A198-DD8C-414E-88EB-3CB087DE6A3F}"/>
              </a:ext>
            </a:extLst>
          </p:cNvPr>
          <p:cNvSpPr txBox="1"/>
          <p:nvPr/>
        </p:nvSpPr>
        <p:spPr>
          <a:xfrm>
            <a:off x="6400800" y="2006600"/>
            <a:ext cx="4902200" cy="508000"/>
          </a:xfrm>
          <a:prstGeom prst="rect">
            <a:avLst/>
          </a:prstGeom>
          <a:noFill/>
        </p:spPr>
        <p:txBody>
          <a:bodyPr vertOverflow="overflow" vert="horz" wrap="square" rtlCol="0" anchor="t">
            <a:spAutoFit/>
          </a:bodyPr>
          <a:lstStyle/>
          <a:p>
            <a:pPr algn="l"/>
            <a:r>
              <a:rPr lang="en-US" sz="1400" i="1" dirty="0">
                <a:solidFill>
                  <a:srgbClr val="6B5B8A"/>
                </a:solidFill>
                <a:latin typeface="Arial"/>
                <a:cs typeface="Arial"/>
              </a:rPr>
              <a:t>Post-Acute Trajectories of Hypercapnia</a:t>
            </a:r>
          </a:p>
        </p:txBody>
      </p:sp>
      <p:sp>
        <p:nvSpPr>
          <p:cNvPr id="17" name="TextBox 16">
            <a:extLst>
              <a:ext uri="{FF2B5EF4-FFF2-40B4-BE49-F238E27FC236}">
                <a16:creationId xmlns:a16="http://schemas.microsoft.com/office/drawing/2014/main" id="{1B98DE3C-125A-8141-9ED8-E06394F295F6}"/>
              </a:ext>
            </a:extLst>
          </p:cNvPr>
          <p:cNvSpPr txBox="1"/>
          <p:nvPr/>
        </p:nvSpPr>
        <p:spPr>
          <a:xfrm>
            <a:off x="6400800" y="2540000"/>
            <a:ext cx="4902200" cy="1569660"/>
          </a:xfrm>
          <a:prstGeom prst="rect">
            <a:avLst/>
          </a:prstGeom>
          <a:noFill/>
        </p:spPr>
        <p:txBody>
          <a:bodyPr vertOverflow="overflow" vert="horz" wrap="square" rtlCol="0" anchor="t">
            <a:spAutoFit/>
          </a:bodyPr>
          <a:lstStyle/>
          <a:p>
            <a:pPr marL="0" indent="0" algn="l">
              <a:buNone/>
            </a:pPr>
            <a:r>
              <a:rPr lang="en-US" sz="1400" b="1" dirty="0">
                <a:solidFill>
                  <a:srgbClr val="110057"/>
                </a:solidFill>
                <a:latin typeface="Arial"/>
                <a:cs typeface="Arial"/>
              </a:rPr>
              <a:t>Data:</a:t>
            </a:r>
            <a:r>
              <a:rPr lang="en-US" sz="1400" dirty="0">
                <a:solidFill>
                  <a:srgbClr val="3D2460"/>
                </a:solidFill>
                <a:latin typeface="Arial"/>
                <a:cs typeface="Arial"/>
              </a:rPr>
              <a:t>  Statewide UPDB cohort linking IH + UHealth EDWs</a:t>
            </a:r>
          </a:p>
          <a:p>
            <a:pPr marL="171450" indent="-171450" algn="l">
              <a:buFont typeface="Arial"/>
              <a:buChar char="•"/>
            </a:pPr>
            <a:r>
              <a:rPr lang="en-US" sz="1400" dirty="0">
                <a:solidFill>
                  <a:srgbClr val="3D2460"/>
                </a:solidFill>
                <a:latin typeface="Arial"/>
                <a:cs typeface="Arial"/>
              </a:rPr>
              <a:t>~100K patients across all Utah hospitals</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Goals:</a:t>
            </a:r>
            <a:r>
              <a:rPr lang="en-US" sz="1400" dirty="0">
                <a:solidFill>
                  <a:srgbClr val="3D2460"/>
                </a:solidFill>
                <a:latin typeface="Arial"/>
                <a:cs typeface="Arial"/>
              </a:rPr>
              <a:t>  Post-discharge patterns across facilities</a:t>
            </a:r>
          </a:p>
          <a:p>
            <a:pPr marL="171450" indent="-171450" algn="l">
              <a:buFont typeface="Arial"/>
              <a:buChar char="•"/>
            </a:pPr>
            <a:r>
              <a:rPr lang="en-US" sz="1400" dirty="0">
                <a:solidFill>
                  <a:srgbClr val="3D2460"/>
                </a:solidFill>
                <a:latin typeface="Arial"/>
                <a:cs typeface="Arial"/>
              </a:rPr>
              <a:t>Diagnostic testing rates and facility-level variation</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Status:</a:t>
            </a:r>
            <a:r>
              <a:rPr lang="en-US" sz="1400" dirty="0">
                <a:solidFill>
                  <a:srgbClr val="3D2460"/>
                </a:solidFill>
                <a:latin typeface="Arial"/>
                <a:cs typeface="Arial"/>
              </a:rPr>
              <a:t>  Regulatory authorization complete; data acquisition underway</a:t>
            </a:r>
          </a:p>
        </p:txBody>
      </p:sp>
      <p:sp>
        <p:nvSpPr>
          <p:cNvPr id="18" name="Rounded Rectangle 17">
            <a:extLst>
              <a:ext uri="{FF2B5EF4-FFF2-40B4-BE49-F238E27FC236}">
                <a16:creationId xmlns:a16="http://schemas.microsoft.com/office/drawing/2014/main" id="{18510118-4CA1-894C-9EB9-CCD2FA399A72}"/>
              </a:ext>
            </a:extLst>
          </p:cNvPr>
          <p:cNvSpPr/>
          <p:nvPr/>
        </p:nvSpPr>
        <p:spPr>
          <a:xfrm>
            <a:off x="6400800" y="4381500"/>
            <a:ext cx="4902200" cy="3048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ctr"/>
            <a:r>
              <a:rPr lang="en-US" sz="1400" b="1" dirty="0">
                <a:solidFill>
                  <a:srgbClr val="FFFFFF"/>
                </a:solidFill>
                <a:latin typeface="Arial"/>
                <a:cs typeface="Arial"/>
              </a:rPr>
              <a:t>IRB APPROVED • BEGINNING DATA ACQUISITION</a:t>
            </a:r>
          </a:p>
        </p:txBody>
      </p:sp>
      <p:sp>
        <p:nvSpPr>
          <p:cNvPr id="6" name="Down Arrow 5">
            <a:extLst>
              <a:ext uri="{FF2B5EF4-FFF2-40B4-BE49-F238E27FC236}">
                <a16:creationId xmlns:a16="http://schemas.microsoft.com/office/drawing/2014/main" id="{73149C38-C04C-8E4E-8379-57F3BA9F8876}"/>
              </a:ext>
            </a:extLst>
          </p:cNvPr>
          <p:cNvSpPr/>
          <p:nvPr/>
        </p:nvSpPr>
        <p:spPr>
          <a:xfrm>
            <a:off x="5842000" y="5016500"/>
            <a:ext cx="508000" cy="279400"/>
          </a:xfrm>
          <a:prstGeom prst="downArrow">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 name="TextBox 2">
            <a:extLst>
              <a:ext uri="{FF2B5EF4-FFF2-40B4-BE49-F238E27FC236}">
                <a16:creationId xmlns:a16="http://schemas.microsoft.com/office/drawing/2014/main" id="{CB70FC46-62A3-7349-B231-6D4C1D64AE82}"/>
              </a:ext>
            </a:extLst>
          </p:cNvPr>
          <p:cNvSpPr txBox="1"/>
          <p:nvPr/>
        </p:nvSpPr>
        <p:spPr>
          <a:xfrm>
            <a:off x="3937000" y="1117600"/>
            <a:ext cx="4318000" cy="304800"/>
          </a:xfrm>
          <a:prstGeom prst="rect">
            <a:avLst/>
          </a:prstGeom>
          <a:solidFill>
            <a:srgbClr val="F7F5F9"/>
          </a:solidFill>
          <a:ln>
            <a:noFill/>
          </a:ln>
        </p:spPr>
        <p:txBody>
          <a:bodyPr vertOverflow="overflow" vert="horz" wrap="none" rtlCol="0" anchor="ctr" anchorCtr="0">
            <a:noAutofit/>
          </a:bodyPr>
          <a:lstStyle/>
          <a:p>
            <a:pPr algn="ctr"/>
            <a:r>
              <a:rPr lang="en-US" sz="1400" b="1" dirty="0">
                <a:solidFill>
                  <a:srgbClr val="110057"/>
                </a:solidFill>
                <a:latin typeface="Arial"/>
                <a:cs typeface="Arial"/>
              </a:rPr>
              <a:t>FUND-Hypercapnia  •  2024–2027</a:t>
            </a:r>
          </a:p>
        </p:txBody>
      </p:sp>
    </p:spTree>
    <p:extLst>
      <p:ext uri="{BB962C8B-B14F-4D97-AF65-F5344CB8AC3E}">
        <p14:creationId xmlns:p14="http://schemas.microsoft.com/office/powerpoint/2010/main" val="14673528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5F0EB">
            <a:alpha val="100000"/>
          </a:srgbClr>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B86B9790-15EB-8E44-A609-2C856AFD906F}"/>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4E30769-783F-B848-B7E9-CCA1F4B54920}"/>
              </a:ext>
            </a:extLst>
          </p:cNvPr>
          <p:cNvSpPr txBox="1"/>
          <p:nvPr/>
        </p:nvSpPr>
        <p:spPr>
          <a:xfrm>
            <a:off x="762000" y="254000"/>
            <a:ext cx="3810000" cy="279400"/>
          </a:xfrm>
          <a:prstGeom prst="rect">
            <a:avLst/>
          </a:prstGeom>
          <a:noFill/>
        </p:spPr>
        <p:txBody>
          <a:bodyPr vertOverflow="overflow" vert="horz" wrap="square" rtlCol="0" anchor="t">
            <a:spAutoFit/>
          </a:bodyPr>
          <a:lstStyle/>
          <a:p>
            <a:pPr algn="l"/>
            <a:r>
              <a:rPr lang="en-US" sz="1400" b="1" dirty="0">
                <a:solidFill>
                  <a:srgbClr val="4A00E2"/>
                </a:solidFill>
                <a:latin typeface="Arial"/>
                <a:cs typeface="Arial"/>
              </a:rPr>
              <a:t>LOOKING AHEAD</a:t>
            </a:r>
          </a:p>
        </p:txBody>
      </p:sp>
      <p:sp>
        <p:nvSpPr>
          <p:cNvPr id="3" name="TextBox 2">
            <a:extLst>
              <a:ext uri="{FF2B5EF4-FFF2-40B4-BE49-F238E27FC236}">
                <a16:creationId xmlns:a16="http://schemas.microsoft.com/office/drawing/2014/main" id="{6A23366D-42BA-4140-A4AB-AB13595B08F2}"/>
              </a:ext>
            </a:extLst>
          </p:cNvPr>
          <p:cNvSpPr txBox="1"/>
          <p:nvPr/>
        </p:nvSpPr>
        <p:spPr>
          <a:xfrm>
            <a:off x="762000" y="558800"/>
            <a:ext cx="8890000" cy="508000"/>
          </a:xfrm>
          <a:prstGeom prst="rect">
            <a:avLst/>
          </a:prstGeom>
          <a:noFill/>
        </p:spPr>
        <p:txBody>
          <a:bodyPr vertOverflow="overflow" vert="horz" wrap="square" rtlCol="0" anchor="t">
            <a:spAutoFit/>
          </a:bodyPr>
          <a:lstStyle/>
          <a:p>
            <a:pPr algn="l"/>
            <a:r>
              <a:rPr lang="en-US" sz="2600" b="1" dirty="0">
                <a:solidFill>
                  <a:srgbClr val="110057"/>
                </a:solidFill>
                <a:latin typeface="Arial"/>
                <a:cs typeface="Arial"/>
              </a:rPr>
              <a:t>Research trajectory</a:t>
            </a:r>
          </a:p>
        </p:txBody>
      </p:sp>
      <p:sp>
        <p:nvSpPr>
          <p:cNvPr id="4" name="Rectangle 3">
            <a:extLst>
              <a:ext uri="{FF2B5EF4-FFF2-40B4-BE49-F238E27FC236}">
                <a16:creationId xmlns:a16="http://schemas.microsoft.com/office/drawing/2014/main" id="{DA979418-871E-F14C-8C5A-7EC458E61CD2}"/>
              </a:ext>
            </a:extLst>
          </p:cNvPr>
          <p:cNvSpPr/>
          <p:nvPr/>
        </p:nvSpPr>
        <p:spPr>
          <a:xfrm>
            <a:off x="762000" y="1143000"/>
            <a:ext cx="1524000" cy="381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Rounded Rectangle 4">
            <a:extLst>
              <a:ext uri="{FF2B5EF4-FFF2-40B4-BE49-F238E27FC236}">
                <a16:creationId xmlns:a16="http://schemas.microsoft.com/office/drawing/2014/main" id="{917BB45C-614C-F84A-8ADC-C4A29E1B8B09}"/>
              </a:ext>
            </a:extLst>
          </p:cNvPr>
          <p:cNvSpPr/>
          <p:nvPr/>
        </p:nvSpPr>
        <p:spPr>
          <a:xfrm>
            <a:off x="584200" y="1397000"/>
            <a:ext cx="3632200" cy="3429000"/>
          </a:xfrm>
          <a:prstGeom prst="roundRect">
            <a:avLst/>
          </a:prstGeom>
          <a:solidFill>
            <a:srgbClr val="FFFFFF"/>
          </a:solidFill>
          <a:ln w="19050" cap="flat" cmpd="sng" algn="ctr">
            <a:solidFill>
              <a:srgbClr val="E0E0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Rectangle 5">
            <a:extLst>
              <a:ext uri="{FF2B5EF4-FFF2-40B4-BE49-F238E27FC236}">
                <a16:creationId xmlns:a16="http://schemas.microsoft.com/office/drawing/2014/main" id="{57EDD40A-DF31-4A4E-8E1F-24AC0CA70270}"/>
              </a:ext>
            </a:extLst>
          </p:cNvPr>
          <p:cNvSpPr/>
          <p:nvPr/>
        </p:nvSpPr>
        <p:spPr>
          <a:xfrm>
            <a:off x="584200" y="1397000"/>
            <a:ext cx="3632200" cy="762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7" name="TextBox 6">
            <a:extLst>
              <a:ext uri="{FF2B5EF4-FFF2-40B4-BE49-F238E27FC236}">
                <a16:creationId xmlns:a16="http://schemas.microsoft.com/office/drawing/2014/main" id="{0F829851-56CE-F743-8EAB-E048369E3BBB}"/>
              </a:ext>
            </a:extLst>
          </p:cNvPr>
          <p:cNvSpPr txBox="1"/>
          <p:nvPr/>
        </p:nvSpPr>
        <p:spPr>
          <a:xfrm>
            <a:off x="736600" y="1549400"/>
            <a:ext cx="3327400" cy="355600"/>
          </a:xfrm>
          <a:prstGeom prst="rect">
            <a:avLst/>
          </a:prstGeom>
          <a:noFill/>
        </p:spPr>
        <p:txBody>
          <a:bodyPr vertOverflow="overflow" vert="horz" wrap="square" rtlCol="0" anchor="t">
            <a:spAutoFit/>
          </a:bodyPr>
          <a:lstStyle/>
          <a:p>
            <a:pPr algn="l"/>
            <a:r>
              <a:rPr lang="en-US" sz="1800" b="1" dirty="0">
                <a:solidFill>
                  <a:srgbClr val="4A00E2"/>
                </a:solidFill>
                <a:latin typeface="Arial"/>
                <a:cs typeface="Arial"/>
              </a:rPr>
              <a:t>Now (through 2026)</a:t>
            </a:r>
          </a:p>
        </p:txBody>
      </p:sp>
      <p:sp>
        <p:nvSpPr>
          <p:cNvPr id="8" name="Rounded Rectangle 7">
            <a:extLst>
              <a:ext uri="{FF2B5EF4-FFF2-40B4-BE49-F238E27FC236}">
                <a16:creationId xmlns:a16="http://schemas.microsoft.com/office/drawing/2014/main" id="{054F8CEF-C04E-F844-BDAA-207B13EB8E6C}"/>
              </a:ext>
            </a:extLst>
          </p:cNvPr>
          <p:cNvSpPr/>
          <p:nvPr/>
        </p:nvSpPr>
        <p:spPr>
          <a:xfrm>
            <a:off x="4483100" y="1397000"/>
            <a:ext cx="3632200" cy="3429000"/>
          </a:xfrm>
          <a:prstGeom prst="roundRect">
            <a:avLst/>
          </a:prstGeom>
          <a:solidFill>
            <a:srgbClr val="FFFFFF"/>
          </a:solidFill>
          <a:ln w="19050" cap="flat" cmpd="sng" algn="ctr">
            <a:solidFill>
              <a:srgbClr val="E0E0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Rectangle 8">
            <a:extLst>
              <a:ext uri="{FF2B5EF4-FFF2-40B4-BE49-F238E27FC236}">
                <a16:creationId xmlns:a16="http://schemas.microsoft.com/office/drawing/2014/main" id="{DB6CF8CF-66D1-754E-83E9-24D3B027712D}"/>
              </a:ext>
            </a:extLst>
          </p:cNvPr>
          <p:cNvSpPr/>
          <p:nvPr/>
        </p:nvSpPr>
        <p:spPr>
          <a:xfrm>
            <a:off x="4483100" y="1397000"/>
            <a:ext cx="3632200" cy="76200"/>
          </a:xfrm>
          <a:prstGeom prst="rect">
            <a:avLst/>
          </a:prstGeom>
          <a:solidFill>
            <a:srgbClr val="FF0044"/>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TextBox 9">
            <a:extLst>
              <a:ext uri="{FF2B5EF4-FFF2-40B4-BE49-F238E27FC236}">
                <a16:creationId xmlns:a16="http://schemas.microsoft.com/office/drawing/2014/main" id="{B62B755A-E642-F94B-A6BE-F633B0673477}"/>
              </a:ext>
            </a:extLst>
          </p:cNvPr>
          <p:cNvSpPr txBox="1"/>
          <p:nvPr/>
        </p:nvSpPr>
        <p:spPr>
          <a:xfrm>
            <a:off x="4635500" y="1549400"/>
            <a:ext cx="3327400" cy="355600"/>
          </a:xfrm>
          <a:prstGeom prst="rect">
            <a:avLst/>
          </a:prstGeom>
          <a:noFill/>
        </p:spPr>
        <p:txBody>
          <a:bodyPr vertOverflow="overflow" vert="horz" wrap="square" rtlCol="0" anchor="t">
            <a:spAutoFit/>
          </a:bodyPr>
          <a:lstStyle/>
          <a:p>
            <a:pPr algn="l"/>
            <a:r>
              <a:rPr lang="en-US" sz="1800" b="1" dirty="0">
                <a:solidFill>
                  <a:srgbClr val="FF0044"/>
                </a:solidFill>
                <a:latin typeface="Arial"/>
                <a:cs typeface="Arial"/>
              </a:rPr>
              <a:t>K23 (2026–2031)</a:t>
            </a:r>
          </a:p>
        </p:txBody>
      </p:sp>
      <p:sp>
        <p:nvSpPr>
          <p:cNvPr id="11" name="Rounded Rectangle 10">
            <a:extLst>
              <a:ext uri="{FF2B5EF4-FFF2-40B4-BE49-F238E27FC236}">
                <a16:creationId xmlns:a16="http://schemas.microsoft.com/office/drawing/2014/main" id="{6ABD8C7A-1204-5740-AA67-318AFCEEF007}"/>
              </a:ext>
            </a:extLst>
          </p:cNvPr>
          <p:cNvSpPr/>
          <p:nvPr/>
        </p:nvSpPr>
        <p:spPr>
          <a:xfrm>
            <a:off x="8382000" y="1397000"/>
            <a:ext cx="3632200" cy="3429000"/>
          </a:xfrm>
          <a:prstGeom prst="roundRect">
            <a:avLst/>
          </a:prstGeom>
          <a:solidFill>
            <a:srgbClr val="FFFFFF"/>
          </a:solidFill>
          <a:ln w="19050" cap="flat" cmpd="sng" algn="ctr">
            <a:solidFill>
              <a:srgbClr val="E0E0E0"/>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2" name="Rectangle 11">
            <a:extLst>
              <a:ext uri="{FF2B5EF4-FFF2-40B4-BE49-F238E27FC236}">
                <a16:creationId xmlns:a16="http://schemas.microsoft.com/office/drawing/2014/main" id="{3A2AA7BD-9D32-8444-9E1B-24AD138BFBF4}"/>
              </a:ext>
            </a:extLst>
          </p:cNvPr>
          <p:cNvSpPr/>
          <p:nvPr/>
        </p:nvSpPr>
        <p:spPr>
          <a:xfrm>
            <a:off x="8382000" y="1397000"/>
            <a:ext cx="3632200" cy="76200"/>
          </a:xfrm>
          <a:prstGeom prst="rect">
            <a:avLst/>
          </a:prstGeom>
          <a:solidFill>
            <a:srgbClr val="6B5B8A"/>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TextBox 12">
            <a:extLst>
              <a:ext uri="{FF2B5EF4-FFF2-40B4-BE49-F238E27FC236}">
                <a16:creationId xmlns:a16="http://schemas.microsoft.com/office/drawing/2014/main" id="{1125CD48-5281-7E44-84AE-D9E0F3770444}"/>
              </a:ext>
            </a:extLst>
          </p:cNvPr>
          <p:cNvSpPr txBox="1"/>
          <p:nvPr/>
        </p:nvSpPr>
        <p:spPr>
          <a:xfrm>
            <a:off x="8534400" y="1549400"/>
            <a:ext cx="3327400" cy="355600"/>
          </a:xfrm>
          <a:prstGeom prst="rect">
            <a:avLst/>
          </a:prstGeom>
          <a:noFill/>
        </p:spPr>
        <p:txBody>
          <a:bodyPr vertOverflow="overflow" vert="horz" wrap="square" rtlCol="0" anchor="t">
            <a:spAutoFit/>
          </a:bodyPr>
          <a:lstStyle/>
          <a:p>
            <a:pPr algn="l"/>
            <a:r>
              <a:rPr lang="en-US" sz="1800" b="1" dirty="0">
                <a:solidFill>
                  <a:srgbClr val="6B5B8A"/>
                </a:solidFill>
                <a:latin typeface="Arial"/>
                <a:cs typeface="Arial"/>
              </a:rPr>
              <a:t>Building toward</a:t>
            </a:r>
          </a:p>
        </p:txBody>
      </p:sp>
      <p:sp>
        <p:nvSpPr>
          <p:cNvPr id="15" name="TextBox 14">
            <a:extLst>
              <a:ext uri="{FF2B5EF4-FFF2-40B4-BE49-F238E27FC236}">
                <a16:creationId xmlns:a16="http://schemas.microsoft.com/office/drawing/2014/main" id="{ADA6BE10-7887-2047-AAC3-100CCDB42688}"/>
              </a:ext>
            </a:extLst>
          </p:cNvPr>
          <p:cNvSpPr txBox="1"/>
          <p:nvPr/>
        </p:nvSpPr>
        <p:spPr>
          <a:xfrm>
            <a:off x="736600" y="2006600"/>
            <a:ext cx="3327400" cy="1918474"/>
          </a:xfrm>
          <a:prstGeom prst="rect">
            <a:avLst/>
          </a:prstGeom>
          <a:noFill/>
        </p:spPr>
        <p:txBody>
          <a:bodyPr vertOverflow="overflow" vert="horz" wrap="square" rtlCol="0" anchor="t">
            <a:spAutoFit/>
          </a:bodyPr>
          <a:lstStyle/>
          <a:p>
            <a:pPr algn="l">
              <a:spcBef>
                <a:spcPts val="100"/>
              </a:spcBef>
              <a:spcAft>
                <a:spcPts val="100"/>
              </a:spcAft>
              <a:buFont typeface="Arial"/>
              <a:buChar char="•"/>
            </a:pPr>
            <a:r>
              <a:rPr lang="en-US" sz="1400" dirty="0">
                <a:solidFill>
                  <a:srgbClr val="110057"/>
                </a:solidFill>
                <a:latin typeface="Arial"/>
                <a:cs typeface="Arial"/>
              </a:rPr>
              <a:t>AIM-HIGH: risk prediction &amp; ML phenotyping (IH–SelectHealth data)</a:t>
            </a:r>
          </a:p>
          <a:p>
            <a:pPr algn="l">
              <a:spcBef>
                <a:spcPts val="100"/>
              </a:spcBef>
              <a:spcAft>
                <a:spcPts val="100"/>
              </a:spcAft>
              <a:buFont typeface="Arial"/>
              <a:buChar char="•"/>
            </a:pPr>
            <a:r>
              <a:rPr lang="en-US" sz="1400" dirty="0">
                <a:solidFill>
                  <a:srgbClr val="110057"/>
                </a:solidFill>
                <a:latin typeface="Arial"/>
                <a:cs typeface="Arial"/>
              </a:rPr>
              <a:t>CO₂-PATH: post-discharge trajectories (UPDB)</a:t>
            </a:r>
          </a:p>
          <a:p>
            <a:pPr algn="l">
              <a:spcBef>
                <a:spcPts val="100"/>
              </a:spcBef>
              <a:spcAft>
                <a:spcPts val="100"/>
              </a:spcAft>
              <a:buFont typeface="Arial"/>
              <a:buChar char="•"/>
            </a:pPr>
            <a:r>
              <a:rPr lang="en-US" sz="1400" dirty="0">
                <a:solidFill>
                  <a:srgbClr val="110057"/>
                </a:solidFill>
                <a:latin typeface="Arial"/>
                <a:cs typeface="Arial"/>
              </a:rPr>
              <a:t>Continued TriNetX prototyping</a:t>
            </a:r>
          </a:p>
          <a:p>
            <a:pPr algn="l">
              <a:spcBef>
                <a:spcPts val="100"/>
              </a:spcBef>
              <a:spcAft>
                <a:spcPts val="100"/>
              </a:spcAft>
              <a:buFont typeface="Arial"/>
              <a:buChar char="•"/>
            </a:pPr>
            <a:r>
              <a:rPr lang="en-US" sz="1400" dirty="0">
                <a:solidFill>
                  <a:srgbClr val="110057"/>
                </a:solidFill>
                <a:latin typeface="Arial"/>
                <a:cs typeface="Arial"/>
              </a:rPr>
              <a:t>IMED clinic as intervention &amp; enrollment platform</a:t>
            </a:r>
          </a:p>
          <a:p>
            <a:pPr algn="l">
              <a:spcBef>
                <a:spcPts val="100"/>
              </a:spcBef>
              <a:spcAft>
                <a:spcPts val="100"/>
              </a:spcAft>
              <a:buFont typeface="Arial"/>
              <a:buChar char="•"/>
            </a:pPr>
            <a:r>
              <a:rPr lang="en-US" sz="1400" dirty="0">
                <a:solidFill>
                  <a:srgbClr val="110057"/>
                </a:solidFill>
                <a:latin typeface="Arial"/>
                <a:cs typeface="Arial"/>
              </a:rPr>
              <a:t>K23 resubmission preparation</a:t>
            </a:r>
          </a:p>
        </p:txBody>
      </p:sp>
      <p:sp>
        <p:nvSpPr>
          <p:cNvPr id="16" name="TextBox 15">
            <a:extLst>
              <a:ext uri="{FF2B5EF4-FFF2-40B4-BE49-F238E27FC236}">
                <a16:creationId xmlns:a16="http://schemas.microsoft.com/office/drawing/2014/main" id="{C454386F-5052-4548-9491-61703EB10732}"/>
              </a:ext>
            </a:extLst>
          </p:cNvPr>
          <p:cNvSpPr txBox="1"/>
          <p:nvPr/>
        </p:nvSpPr>
        <p:spPr>
          <a:xfrm>
            <a:off x="4635500" y="2006600"/>
            <a:ext cx="3327400" cy="2021066"/>
          </a:xfrm>
          <a:prstGeom prst="rect">
            <a:avLst/>
          </a:prstGeom>
          <a:noFill/>
        </p:spPr>
        <p:txBody>
          <a:bodyPr vertOverflow="overflow" vert="horz" wrap="square" rtlCol="0" anchor="t">
            <a:spAutoFit/>
          </a:bodyPr>
          <a:lstStyle/>
          <a:p>
            <a:pPr algn="l">
              <a:spcBef>
                <a:spcPts val="100"/>
              </a:spcBef>
              <a:spcAft>
                <a:spcPts val="100"/>
              </a:spcAft>
              <a:buNone/>
            </a:pPr>
            <a:r>
              <a:rPr lang="en-US" sz="1400" i="1" dirty="0">
                <a:solidFill>
                  <a:srgbClr val="4A3D6B"/>
                </a:solidFill>
                <a:latin typeface="Arial"/>
                <a:cs typeface="Arial"/>
              </a:rPr>
              <a:t>Research aims</a:t>
            </a:r>
          </a:p>
          <a:p>
            <a:pPr algn="l">
              <a:spcBef>
                <a:spcPts val="100"/>
              </a:spcBef>
              <a:spcAft>
                <a:spcPts val="100"/>
              </a:spcAft>
              <a:buFont typeface="Arial"/>
              <a:buChar char="•"/>
            </a:pPr>
            <a:r>
              <a:rPr lang="en-US" sz="1400" dirty="0">
                <a:solidFill>
                  <a:srgbClr val="110057"/>
                </a:solidFill>
                <a:latin typeface="Arial"/>
                <a:cs typeface="Arial"/>
              </a:rPr>
              <a:t>Discharge risk stratification</a:t>
            </a:r>
          </a:p>
          <a:p>
            <a:pPr algn="l">
              <a:spcBef>
                <a:spcPts val="100"/>
              </a:spcBef>
              <a:spcAft>
                <a:spcPts val="100"/>
              </a:spcAft>
              <a:buFont typeface="Arial"/>
              <a:buChar char="•"/>
            </a:pPr>
            <a:r>
              <a:rPr lang="en-US" sz="1400" dirty="0">
                <a:solidFill>
                  <a:srgbClr val="110057"/>
                </a:solidFill>
                <a:latin typeface="Arial"/>
                <a:cs typeface="Arial"/>
              </a:rPr>
              <a:t>Post-discharge management variation</a:t>
            </a:r>
          </a:p>
          <a:p>
            <a:pPr algn="l">
              <a:spcBef>
                <a:spcPts val="100"/>
              </a:spcBef>
              <a:spcAft>
                <a:spcPts val="100"/>
              </a:spcAft>
              <a:buFont typeface="Arial"/>
              <a:buChar char="•"/>
            </a:pPr>
            <a:r>
              <a:rPr lang="en-US" sz="1400" dirty="0">
                <a:solidFill>
                  <a:srgbClr val="110057"/>
                </a:solidFill>
                <a:latin typeface="Arial"/>
                <a:cs typeface="Arial"/>
              </a:rPr>
              <a:t>Pilot embedded trial</a:t>
            </a:r>
          </a:p>
          <a:p>
            <a:pPr algn="l">
              <a:spcBef>
                <a:spcPts val="300"/>
              </a:spcBef>
              <a:spcAft>
                <a:spcPts val="100"/>
              </a:spcAft>
              <a:buNone/>
            </a:pPr>
            <a:r>
              <a:rPr lang="en-US" sz="1400" i="1" dirty="0">
                <a:solidFill>
                  <a:srgbClr val="4A3D6B"/>
                </a:solidFill>
                <a:latin typeface="Arial"/>
                <a:cs typeface="Arial"/>
              </a:rPr>
              <a:t>Learning objectives</a:t>
            </a:r>
          </a:p>
          <a:p>
            <a:pPr algn="l">
              <a:spcBef>
                <a:spcPts val="100"/>
              </a:spcBef>
              <a:spcAft>
                <a:spcPts val="100"/>
              </a:spcAft>
              <a:buFont typeface="Arial"/>
              <a:buChar char="•"/>
            </a:pPr>
            <a:r>
              <a:rPr lang="en-US" sz="1400" dirty="0">
                <a:solidFill>
                  <a:srgbClr val="110057"/>
                </a:solidFill>
                <a:latin typeface="Arial"/>
                <a:cs typeface="Arial"/>
              </a:rPr>
              <a:t>Multi-source outcomes ascertainment</a:t>
            </a:r>
          </a:p>
          <a:p>
            <a:pPr algn="l">
              <a:spcBef>
                <a:spcPts val="100"/>
              </a:spcBef>
              <a:spcAft>
                <a:spcPts val="100"/>
              </a:spcAft>
              <a:buFont typeface="Arial"/>
              <a:buChar char="•"/>
            </a:pPr>
            <a:r>
              <a:rPr lang="en-US" sz="1400" dirty="0">
                <a:solidFill>
                  <a:srgbClr val="110057"/>
                </a:solidFill>
                <a:latin typeface="Arial"/>
                <a:cs typeface="Arial"/>
              </a:rPr>
              <a:t>Practice variation analysis</a:t>
            </a:r>
          </a:p>
          <a:p>
            <a:pPr algn="l">
              <a:spcBef>
                <a:spcPts val="100"/>
              </a:spcBef>
              <a:spcAft>
                <a:spcPts val="100"/>
              </a:spcAft>
              <a:buFont typeface="Arial"/>
              <a:buChar char="•"/>
            </a:pPr>
            <a:r>
              <a:rPr lang="en-US" sz="1400" dirty="0">
                <a:solidFill>
                  <a:srgbClr val="110057"/>
                </a:solidFill>
                <a:latin typeface="Arial"/>
                <a:cs typeface="Arial"/>
              </a:rPr>
              <a:t>Embedded trial design &amp; execution</a:t>
            </a:r>
          </a:p>
        </p:txBody>
      </p:sp>
      <p:sp>
        <p:nvSpPr>
          <p:cNvPr id="17" name="TextBox 16">
            <a:extLst>
              <a:ext uri="{FF2B5EF4-FFF2-40B4-BE49-F238E27FC236}">
                <a16:creationId xmlns:a16="http://schemas.microsoft.com/office/drawing/2014/main" id="{28D546A7-D9F4-9149-8A9C-936C0C10FA87}"/>
              </a:ext>
            </a:extLst>
          </p:cNvPr>
          <p:cNvSpPr txBox="1"/>
          <p:nvPr/>
        </p:nvSpPr>
        <p:spPr>
          <a:xfrm>
            <a:off x="8534400" y="2006600"/>
            <a:ext cx="3327400" cy="2323713"/>
          </a:xfrm>
          <a:prstGeom prst="rect">
            <a:avLst/>
          </a:prstGeom>
          <a:noFill/>
        </p:spPr>
        <p:txBody>
          <a:bodyPr vertOverflow="overflow" vert="horz" wrap="square" rtlCol="0" anchor="t">
            <a:spAutoFit/>
          </a:bodyPr>
          <a:lstStyle/>
          <a:p>
            <a:pPr algn="l">
              <a:spcBef>
                <a:spcPts val="100"/>
              </a:spcBef>
              <a:spcAft>
                <a:spcPts val="100"/>
              </a:spcAft>
              <a:buFont typeface="Arial"/>
              <a:buChar char="•"/>
            </a:pPr>
            <a:r>
              <a:rPr lang="en-US" sz="1400" dirty="0">
                <a:solidFill>
                  <a:srgbClr val="110057"/>
                </a:solidFill>
                <a:latin typeface="Arial"/>
                <a:cs typeface="Arial"/>
              </a:rPr>
              <a:t>Pragmatic trials optimizing post-discharge care</a:t>
            </a:r>
          </a:p>
          <a:p>
            <a:pPr algn="l">
              <a:spcBef>
                <a:spcPts val="100"/>
              </a:spcBef>
              <a:spcAft>
                <a:spcPts val="100"/>
              </a:spcAft>
              <a:buFont typeface="Arial"/>
              <a:buChar char="•"/>
            </a:pPr>
            <a:r>
              <a:rPr lang="en-US" sz="1400" dirty="0">
                <a:solidFill>
                  <a:srgbClr val="110057"/>
                </a:solidFill>
                <a:latin typeface="Arial"/>
                <a:cs typeface="Arial"/>
              </a:rPr>
              <a:t>Scalable interventions: referral pathways, workup bundles, tele-pulmonary</a:t>
            </a:r>
          </a:p>
          <a:p>
            <a:pPr algn="l">
              <a:spcBef>
                <a:spcPts val="100"/>
              </a:spcBef>
              <a:spcAft>
                <a:spcPts val="100"/>
              </a:spcAft>
              <a:buFont typeface="Arial"/>
              <a:buChar char="•"/>
            </a:pPr>
            <a:r>
              <a:rPr lang="en-US" sz="1400" dirty="0">
                <a:solidFill>
                  <a:srgbClr val="110057"/>
                </a:solidFill>
                <a:latin typeface="Arial"/>
                <a:cs typeface="Arial"/>
              </a:rPr>
              <a:t>GLP-1RA/metabolic therapies: ~60% have indication; effectiveness unknown (non-NIH funding)</a:t>
            </a:r>
          </a:p>
          <a:p>
            <a:pPr algn="l">
              <a:spcBef>
                <a:spcPts val="100"/>
              </a:spcBef>
              <a:spcAft>
                <a:spcPts val="100"/>
              </a:spcAft>
              <a:buFont typeface="Arial"/>
              <a:buChar char="•"/>
            </a:pPr>
            <a:r>
              <a:rPr lang="en-US" sz="1400" dirty="0">
                <a:solidFill>
                  <a:srgbClr val="110057"/>
                </a:solidFill>
                <a:latin typeface="Arial"/>
                <a:cs typeface="Arial"/>
              </a:rPr>
              <a:t>Technologist &amp; methodologist advancing care-transition best practices</a:t>
            </a:r>
          </a:p>
        </p:txBody>
      </p:sp>
    </p:spTree>
    <p:extLst>
      <p:ext uri="{BB962C8B-B14F-4D97-AF65-F5344CB8AC3E}">
        <p14:creationId xmlns:p14="http://schemas.microsoft.com/office/powerpoint/2010/main" val="39632167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4E800D1E-D709-CB43-A3F4-A9C7B269BDBB}"/>
              </a:ext>
            </a:extLst>
          </p:cNvPr>
          <p:cNvSpPr/>
          <p:nvPr/>
        </p:nvSpPr>
        <p:spPr>
          <a:xfrm>
            <a:off x="0" y="6731000"/>
            <a:ext cx="12192000" cy="127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6" name="Graphic 5">
            <a:extLst>
              <a:ext uri="{FF2B5EF4-FFF2-40B4-BE49-F238E27FC236}">
                <a16:creationId xmlns:a16="http://schemas.microsoft.com/office/drawing/2014/main" id="{253D0738-529D-E98F-A328-9465AD6D8C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96500" y="2286000"/>
            <a:ext cx="1016000" cy="457200"/>
          </a:xfrm>
          <a:prstGeom prst="rect">
            <a:avLst/>
          </a:prstGeom>
        </p:spPr>
      </p:pic>
      <p:pic>
        <p:nvPicPr>
          <p:cNvPr id="7" name="Picture 10" descr="Anastasia Prokofyeva">
            <a:extLst>
              <a:ext uri="{FF2B5EF4-FFF2-40B4-BE49-F238E27FC236}">
                <a16:creationId xmlns:a16="http://schemas.microsoft.com/office/drawing/2014/main" id="{6C6C6B13-3EC7-9100-7226-AF03284ACE56}"/>
              </a:ext>
            </a:extLst>
          </p:cNvPr>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p:blipFill>
        <p:spPr bwMode="auto">
          <a:xfrm>
            <a:off x="10160000" y="3403600"/>
            <a:ext cx="889000" cy="2286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0" descr="Anastasia Prokofyeva">
            <a:extLst>
              <a:ext uri="{FF2B5EF4-FFF2-40B4-BE49-F238E27FC236}">
                <a16:creationId xmlns:a16="http://schemas.microsoft.com/office/drawing/2014/main" id="{FA048BE3-D6A5-BB07-AC3E-2E917A9C8A50}"/>
              </a:ext>
            </a:extLst>
          </p:cNvPr>
          <p:cNvPicPr>
            <a:picLocks noChangeAspect="1" noChangeArrowheads="1"/>
          </p:cNvPicPr>
          <p:nvPr/>
        </p:nvPicPr>
        <p:blipFill rotWithShape="1">
          <a:blip r:embed="rId6" cstate="screen">
            <a:extLst>
              <a:ext uri="{28A0092B-C50C-407E-A947-70E740481C1C}">
                <a14:useLocalDpi xmlns:a14="http://schemas.microsoft.com/office/drawing/2010/main"/>
              </a:ext>
            </a:extLst>
          </a:blip>
          <a:srcRect/>
          <a:stretch/>
        </p:blipFill>
        <p:spPr bwMode="auto">
          <a:xfrm>
            <a:off x="10160000" y="3759200"/>
            <a:ext cx="889000" cy="30480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FA91F544-55D8-60B3-45B1-108ED04153C3}"/>
              </a:ext>
            </a:extLst>
          </p:cNvPr>
          <p:cNvPicPr>
            <a:picLocks noChangeAspect="1"/>
          </p:cNvPicPr>
          <p:nvPr/>
        </p:nvPicPr>
        <p:blipFill>
          <a:blip r:embed="rId7"/>
          <a:stretch>
            <a:fillRect/>
          </a:stretch>
        </p:blipFill>
        <p:spPr>
          <a:xfrm>
            <a:off x="10160000" y="2857500"/>
            <a:ext cx="889000" cy="419100"/>
          </a:xfrm>
          <a:prstGeom prst="rect">
            <a:avLst/>
          </a:prstGeom>
        </p:spPr>
      </p:pic>
      <p:pic>
        <p:nvPicPr>
          <p:cNvPr id="3" name="Picture 2">
            <a:extLst>
              <a:ext uri="{FF2B5EF4-FFF2-40B4-BE49-F238E27FC236}">
                <a16:creationId xmlns:a16="http://schemas.microsoft.com/office/drawing/2014/main" id="{F95FC9FB-E8E7-6856-DBFA-649CC5ED1E60}"/>
              </a:ext>
            </a:extLst>
          </p:cNvPr>
          <p:cNvPicPr>
            <a:picLocks noChangeAspect="1"/>
          </p:cNvPicPr>
          <p:nvPr/>
        </p:nvPicPr>
        <p:blipFill>
          <a:blip r:embed="rId8"/>
          <a:stretch>
            <a:fillRect/>
          </a:stretch>
        </p:blipFill>
        <p:spPr>
          <a:xfrm>
            <a:off x="10160000" y="1397000"/>
            <a:ext cx="762000" cy="762000"/>
          </a:xfrm>
          <a:prstGeom prst="rect">
            <a:avLst/>
          </a:prstGeom>
        </p:spPr>
      </p:pic>
      <p:sp>
        <p:nvSpPr>
          <p:cNvPr id="13" name="TextBox 12">
            <a:extLst>
              <a:ext uri="{FF2B5EF4-FFF2-40B4-BE49-F238E27FC236}">
                <a16:creationId xmlns:a16="http://schemas.microsoft.com/office/drawing/2014/main" id="{F3785DC9-B8F8-4C4F-B342-E504D1141BEA}"/>
              </a:ext>
            </a:extLst>
          </p:cNvPr>
          <p:cNvSpPr txBox="1"/>
          <p:nvPr/>
        </p:nvSpPr>
        <p:spPr>
          <a:xfrm>
            <a:off x="762000" y="254000"/>
            <a:ext cx="5080000" cy="307777"/>
          </a:xfrm>
          <a:prstGeom prst="rect">
            <a:avLst/>
          </a:prstGeom>
          <a:noFill/>
        </p:spPr>
        <p:txBody>
          <a:bodyPr vertOverflow="overflow" vert="horz" wrap="square" rtlCol="0" anchor="t">
            <a:spAutoFit/>
          </a:bodyPr>
          <a:lstStyle/>
          <a:p>
            <a:pPr algn="l"/>
            <a:r>
              <a:rPr lang="en-US" sz="1400" b="1" dirty="0">
                <a:solidFill>
                  <a:srgbClr val="6B5B8A"/>
                </a:solidFill>
                <a:latin typeface="Arial"/>
                <a:cs typeface="Arial"/>
              </a:rPr>
              <a:t>ACKNOWLEDGEMENTS</a:t>
            </a:r>
          </a:p>
        </p:txBody>
      </p:sp>
      <p:sp>
        <p:nvSpPr>
          <p:cNvPr id="14" name="TextBox 13">
            <a:extLst>
              <a:ext uri="{FF2B5EF4-FFF2-40B4-BE49-F238E27FC236}">
                <a16:creationId xmlns:a16="http://schemas.microsoft.com/office/drawing/2014/main" id="{5E5835BB-46B0-8D46-8DB1-3B9926EE4455}"/>
              </a:ext>
            </a:extLst>
          </p:cNvPr>
          <p:cNvSpPr txBox="1"/>
          <p:nvPr/>
        </p:nvSpPr>
        <p:spPr>
          <a:xfrm>
            <a:off x="762000" y="584200"/>
            <a:ext cx="7620000" cy="461665"/>
          </a:xfrm>
          <a:prstGeom prst="rect">
            <a:avLst/>
          </a:prstGeom>
          <a:noFill/>
        </p:spPr>
        <p:txBody>
          <a:bodyPr vertOverflow="overflow" vert="horz" wrap="square" rtlCol="0" anchor="t">
            <a:spAutoFit/>
          </a:bodyPr>
          <a:lstStyle/>
          <a:p>
            <a:pPr algn="l"/>
            <a:r>
              <a:rPr lang="en-US" sz="2400" b="1" dirty="0">
                <a:solidFill>
                  <a:srgbClr val="110057"/>
                </a:solidFill>
                <a:latin typeface="Arial"/>
                <a:cs typeface="Arial"/>
              </a:rPr>
              <a:t>Thank you  —  Questions?</a:t>
            </a:r>
          </a:p>
        </p:txBody>
      </p:sp>
      <p:sp>
        <p:nvSpPr>
          <p:cNvPr id="15" name="Rectangle 14">
            <a:extLst>
              <a:ext uri="{FF2B5EF4-FFF2-40B4-BE49-F238E27FC236}">
                <a16:creationId xmlns:a16="http://schemas.microsoft.com/office/drawing/2014/main" id="{6D9C59BC-1AA9-AB4B-B3DC-08CB6F6A5430}"/>
              </a:ext>
            </a:extLst>
          </p:cNvPr>
          <p:cNvSpPr/>
          <p:nvPr/>
        </p:nvSpPr>
        <p:spPr>
          <a:xfrm>
            <a:off x="762000" y="1117600"/>
            <a:ext cx="1524000" cy="381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6" name="TextBox 15">
            <a:extLst>
              <a:ext uri="{FF2B5EF4-FFF2-40B4-BE49-F238E27FC236}">
                <a16:creationId xmlns:a16="http://schemas.microsoft.com/office/drawing/2014/main" id="{7B6A858E-A214-044F-A977-49C66B4FBDD0}"/>
              </a:ext>
            </a:extLst>
          </p:cNvPr>
          <p:cNvSpPr txBox="1"/>
          <p:nvPr/>
        </p:nvSpPr>
        <p:spPr>
          <a:xfrm>
            <a:off x="508000" y="1371600"/>
            <a:ext cx="3937000" cy="369332"/>
          </a:xfrm>
          <a:prstGeom prst="rect">
            <a:avLst/>
          </a:prstGeom>
          <a:noFill/>
        </p:spPr>
        <p:txBody>
          <a:bodyPr vertOverflow="overflow" vert="horz" wrap="square" rtlCol="0" anchor="t">
            <a:spAutoFit/>
          </a:bodyPr>
          <a:lstStyle/>
          <a:p>
            <a:pPr algn="l"/>
            <a:r>
              <a:rPr lang="en-US" sz="1800" b="1" dirty="0">
                <a:solidFill>
                  <a:srgbClr val="110057"/>
                </a:solidFill>
                <a:latin typeface="Arial"/>
                <a:cs typeface="Arial"/>
              </a:rPr>
              <a:t>Funding &amp; Data</a:t>
            </a:r>
          </a:p>
        </p:txBody>
      </p:sp>
      <p:sp>
        <p:nvSpPr>
          <p:cNvPr id="17" name="TextBox 16">
            <a:extLst>
              <a:ext uri="{FF2B5EF4-FFF2-40B4-BE49-F238E27FC236}">
                <a16:creationId xmlns:a16="http://schemas.microsoft.com/office/drawing/2014/main" id="{91D2B746-6143-C742-93BA-157DD18EB83F}"/>
              </a:ext>
            </a:extLst>
          </p:cNvPr>
          <p:cNvSpPr txBox="1"/>
          <p:nvPr/>
        </p:nvSpPr>
        <p:spPr>
          <a:xfrm>
            <a:off x="508000" y="1778000"/>
            <a:ext cx="4000500" cy="1508105"/>
          </a:xfrm>
          <a:prstGeom prst="rect">
            <a:avLst/>
          </a:prstGeom>
          <a:noFill/>
        </p:spPr>
        <p:txBody>
          <a:bodyPr vertOverflow="overflow" vert="horz" wrap="square" rtlCol="0" anchor="t">
            <a:spAutoFit/>
          </a:bodyPr>
          <a:lstStyle/>
          <a:p>
            <a:pPr marL="0" indent="0" algn="l">
              <a:buNone/>
            </a:pPr>
            <a:r>
              <a:rPr lang="en-US" sz="1400" b="1" dirty="0">
                <a:solidFill>
                  <a:srgbClr val="110057"/>
                </a:solidFill>
                <a:latin typeface="Arial"/>
                <a:cs typeface="Arial"/>
              </a:rPr>
              <a:t>PCCM Seed Grant</a:t>
            </a:r>
            <a:r>
              <a:rPr lang="en-US" sz="1400" dirty="0">
                <a:solidFill>
                  <a:srgbClr val="3D2460"/>
                </a:solidFill>
                <a:latin typeface="Arial"/>
                <a:cs typeface="Arial"/>
              </a:rPr>
              <a:t>  (FUND-Hypercapnia)</a:t>
            </a:r>
          </a:p>
          <a:p>
            <a:pPr marL="0" indent="0" algn="l">
              <a:buNone/>
            </a:pPr>
            <a:r>
              <a:rPr lang="en-US" sz="1400" b="1" dirty="0">
                <a:solidFill>
                  <a:srgbClr val="110057"/>
                </a:solidFill>
                <a:latin typeface="Arial"/>
                <a:cs typeface="Arial"/>
              </a:rPr>
              <a:t>ATS ASPIRE Fellowship</a:t>
            </a:r>
          </a:p>
          <a:p>
            <a:pPr marL="0" indent="0" algn="l">
              <a:buNone/>
            </a:pPr>
            <a:r>
              <a:rPr lang="en-US" sz="1400" b="1" dirty="0">
                <a:solidFill>
                  <a:srgbClr val="110057"/>
                </a:solidFill>
                <a:latin typeface="Arial"/>
                <a:cs typeface="Arial"/>
              </a:rPr>
              <a:t>NIH/NHLBI T32</a:t>
            </a:r>
            <a:r>
              <a:rPr lang="en-US" sz="1400" dirty="0">
                <a:solidFill>
                  <a:srgbClr val="3D2460"/>
                </a:solidFill>
                <a:latin typeface="Arial"/>
                <a:cs typeface="Arial"/>
              </a:rPr>
              <a:t>  |  </a:t>
            </a:r>
            <a:r>
              <a:rPr lang="en-US" sz="1400" b="1" dirty="0">
                <a:solidFill>
                  <a:srgbClr val="110057"/>
                </a:solidFill>
                <a:latin typeface="Arial"/>
                <a:cs typeface="Arial"/>
              </a:rPr>
              <a:t>HCI P30</a:t>
            </a:r>
          </a:p>
          <a:p>
            <a:pPr marL="0" indent="0" algn="l">
              <a:buNone/>
            </a:pPr>
            <a:endParaRPr lang="en-US" sz="800" dirty="0">
              <a:latin typeface="Arial"/>
            </a:endParaRPr>
          </a:p>
          <a:p>
            <a:pPr marL="0" indent="0" algn="l">
              <a:buNone/>
            </a:pPr>
            <a:r>
              <a:rPr lang="en-US" sz="1400" b="1" dirty="0">
                <a:solidFill>
                  <a:srgbClr val="110057"/>
                </a:solidFill>
                <a:latin typeface="Arial"/>
                <a:cs typeface="Arial"/>
              </a:rPr>
              <a:t>Data</a:t>
            </a:r>
          </a:p>
          <a:p>
            <a:pPr marL="0" indent="0" algn="l">
              <a:buNone/>
            </a:pPr>
            <a:r>
              <a:rPr lang="en-US" sz="1400" dirty="0">
                <a:solidFill>
                  <a:srgbClr val="3D2460"/>
                </a:solidFill>
                <a:latin typeface="Arial"/>
                <a:cs typeface="Arial"/>
              </a:rPr>
              <a:t>Utah Population Database (UPDB)</a:t>
            </a:r>
          </a:p>
          <a:p>
            <a:pPr marL="0" indent="0" algn="l">
              <a:buNone/>
            </a:pPr>
            <a:r>
              <a:rPr lang="en-US" sz="1400" dirty="0">
                <a:solidFill>
                  <a:srgbClr val="3D2460"/>
                </a:solidFill>
                <a:latin typeface="Arial"/>
                <a:cs typeface="Arial"/>
              </a:rPr>
              <a:t>IH – Select Health Claims Linkage</a:t>
            </a:r>
          </a:p>
        </p:txBody>
      </p:sp>
      <p:sp>
        <p:nvSpPr>
          <p:cNvPr id="18" name="TextBox 17">
            <a:extLst>
              <a:ext uri="{FF2B5EF4-FFF2-40B4-BE49-F238E27FC236}">
                <a16:creationId xmlns:a16="http://schemas.microsoft.com/office/drawing/2014/main" id="{4EAF0F30-7D7B-BE4D-B845-5DE35D3A948A}"/>
              </a:ext>
            </a:extLst>
          </p:cNvPr>
          <p:cNvSpPr txBox="1"/>
          <p:nvPr/>
        </p:nvSpPr>
        <p:spPr>
          <a:xfrm>
            <a:off x="4826000" y="1371600"/>
            <a:ext cx="3556000" cy="355600"/>
          </a:xfrm>
          <a:prstGeom prst="rect">
            <a:avLst/>
          </a:prstGeom>
          <a:noFill/>
        </p:spPr>
        <p:txBody>
          <a:bodyPr vertOverflow="overflow" vert="horz" wrap="square" rtlCol="0" anchor="t">
            <a:spAutoFit/>
          </a:bodyPr>
          <a:lstStyle/>
          <a:p>
            <a:pPr algn="l"/>
            <a:r>
              <a:rPr lang="en-US" sz="1800" b="1" dirty="0">
                <a:solidFill>
                  <a:srgbClr val="110057"/>
                </a:solidFill>
                <a:latin typeface="Arial"/>
                <a:cs typeface="Arial"/>
              </a:rPr>
              <a:t>Team &amp; Supporters</a:t>
            </a:r>
          </a:p>
        </p:txBody>
      </p:sp>
      <p:sp>
        <p:nvSpPr>
          <p:cNvPr id="19" name="TextBox 18">
            <a:extLst>
              <a:ext uri="{FF2B5EF4-FFF2-40B4-BE49-F238E27FC236}">
                <a16:creationId xmlns:a16="http://schemas.microsoft.com/office/drawing/2014/main" id="{3C7530EF-D90B-6A4F-8DEC-385009661EAF}"/>
              </a:ext>
            </a:extLst>
          </p:cNvPr>
          <p:cNvSpPr txBox="1"/>
          <p:nvPr/>
        </p:nvSpPr>
        <p:spPr>
          <a:xfrm>
            <a:off x="4826000" y="1778000"/>
            <a:ext cx="4826000" cy="2092881"/>
          </a:xfrm>
          <a:prstGeom prst="rect">
            <a:avLst/>
          </a:prstGeom>
          <a:noFill/>
        </p:spPr>
        <p:txBody>
          <a:bodyPr vertOverflow="overflow" vert="horz" wrap="square" rtlCol="0" anchor="t">
            <a:spAutoFit/>
          </a:bodyPr>
          <a:lstStyle/>
          <a:p>
            <a:pPr marL="0" indent="0" algn="l">
              <a:buNone/>
            </a:pPr>
            <a:r>
              <a:rPr lang="en-US" sz="1400" b="1" dirty="0">
                <a:solidFill>
                  <a:srgbClr val="110057"/>
                </a:solidFill>
                <a:latin typeface="Arial"/>
                <a:cs typeface="Arial"/>
              </a:rPr>
              <a:t>Intermountain Health</a:t>
            </a:r>
          </a:p>
          <a:p>
            <a:pPr marL="0" indent="0" algn="l">
              <a:buNone/>
            </a:pPr>
            <a:r>
              <a:rPr lang="en-US" sz="1400" dirty="0">
                <a:solidFill>
                  <a:srgbClr val="3D2460"/>
                </a:solidFill>
                <a:latin typeface="Arial"/>
                <a:cs typeface="Arial"/>
              </a:rPr>
              <a:t>I. Peltan, MD MSc  •  S. Brown, MD MSc  •  H. Frost, MD PhD  •  N. Green</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Select Health</a:t>
            </a:r>
          </a:p>
          <a:p>
            <a:pPr marL="0" indent="0" algn="l">
              <a:buNone/>
            </a:pPr>
            <a:r>
              <a:rPr lang="en-US" sz="1400" dirty="0">
                <a:solidFill>
                  <a:srgbClr val="3D2460"/>
                </a:solidFill>
                <a:latin typeface="Arial"/>
                <a:cs typeface="Arial"/>
              </a:rPr>
              <a:t>R. Fowers, PhD  •  D. Hedges, PhD</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University of Utah / RGE</a:t>
            </a:r>
          </a:p>
          <a:p>
            <a:pPr marL="0" indent="0" algn="l">
              <a:buNone/>
            </a:pPr>
            <a:r>
              <a:rPr lang="en-US" sz="1400" dirty="0">
                <a:solidFill>
                  <a:srgbClr val="3D2460"/>
                </a:solidFill>
                <a:latin typeface="Arial"/>
                <a:cs typeface="Arial"/>
              </a:rPr>
              <a:t>R. Gouripeddi, MBBS MSc  •  M. Madsen</a:t>
            </a:r>
          </a:p>
          <a:p>
            <a:pPr marL="0" indent="0" algn="l">
              <a:buNone/>
            </a:pPr>
            <a:r>
              <a:rPr lang="en-US" sz="1400" dirty="0">
                <a:solidFill>
                  <a:srgbClr val="3D2460"/>
                </a:solidFill>
                <a:latin typeface="Arial"/>
                <a:cs typeface="Arial"/>
              </a:rPr>
              <a:t>B. Jones, MD MSc  •  D. Anderson, MD  •  M. Gibson</a:t>
            </a:r>
          </a:p>
          <a:p>
            <a:pPr marL="0" indent="0" algn="l">
              <a:buNone/>
            </a:pPr>
            <a:endParaRPr lang="en-US" sz="600" dirty="0">
              <a:latin typeface="Arial"/>
            </a:endParaRPr>
          </a:p>
          <a:p>
            <a:pPr marL="0" indent="0" algn="l">
              <a:buNone/>
            </a:pPr>
            <a:r>
              <a:rPr lang="en-US" sz="1400" b="1" dirty="0">
                <a:solidFill>
                  <a:srgbClr val="110057"/>
                </a:solidFill>
                <a:latin typeface="Arial"/>
                <a:cs typeface="Arial"/>
              </a:rPr>
              <a:t>UC Davis</a:t>
            </a:r>
            <a:r>
              <a:rPr lang="en-US" sz="1400" dirty="0">
                <a:solidFill>
                  <a:srgbClr val="3D2460"/>
                </a:solidFill>
                <a:latin typeface="Arial"/>
                <a:cs typeface="Arial"/>
              </a:rPr>
              <a:t>  —  K. Sundar, MD</a:t>
            </a:r>
          </a:p>
        </p:txBody>
      </p:sp>
      <p:sp>
        <p:nvSpPr>
          <p:cNvPr id="21" name="Rounded Rectangle 20">
            <a:extLst>
              <a:ext uri="{FF2B5EF4-FFF2-40B4-BE49-F238E27FC236}">
                <a16:creationId xmlns:a16="http://schemas.microsoft.com/office/drawing/2014/main" id="{EFAAB6BD-7199-F546-AB18-A83569332495}"/>
              </a:ext>
            </a:extLst>
          </p:cNvPr>
          <p:cNvSpPr/>
          <p:nvPr/>
        </p:nvSpPr>
        <p:spPr>
          <a:xfrm>
            <a:off x="508000" y="5461000"/>
            <a:ext cx="11176000" cy="635000"/>
          </a:xfrm>
          <a:prstGeom prst="roundRect">
            <a:avLst/>
          </a:prstGeom>
          <a:solidFill>
            <a:srgbClr val="110057"/>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TextBox 21">
            <a:extLst>
              <a:ext uri="{FF2B5EF4-FFF2-40B4-BE49-F238E27FC236}">
                <a16:creationId xmlns:a16="http://schemas.microsoft.com/office/drawing/2014/main" id="{5E04A053-9E38-4A45-BFA3-8837620C757E}"/>
              </a:ext>
            </a:extLst>
          </p:cNvPr>
          <p:cNvSpPr txBox="1"/>
          <p:nvPr/>
        </p:nvSpPr>
        <p:spPr>
          <a:xfrm>
            <a:off x="698500" y="5609223"/>
            <a:ext cx="10795000" cy="338554"/>
          </a:xfrm>
          <a:prstGeom prst="rect">
            <a:avLst/>
          </a:prstGeom>
          <a:noFill/>
        </p:spPr>
        <p:txBody>
          <a:bodyPr vertOverflow="overflow" vert="horz" wrap="square" rtlCol="0" anchor="ctr" anchorCtr="0">
            <a:spAutoFit/>
          </a:bodyPr>
          <a:lstStyle/>
          <a:p>
            <a:pPr algn="ctr"/>
            <a:r>
              <a:rPr lang="en-US" sz="1600" dirty="0">
                <a:solidFill>
                  <a:srgbClr val="FFFFFF"/>
                </a:solidFill>
                <a:latin typeface="Arial"/>
                <a:cs typeface="Arial"/>
              </a:rPr>
              <a:t>brian.locke@imail.org  |  Epic: Brian Locke  |  Re: referral &amp; research partnerships</a:t>
            </a:r>
          </a:p>
        </p:txBody>
      </p:sp>
      <p:sp>
        <p:nvSpPr>
          <p:cNvPr id="23" name="Rectangle 22">
            <a:extLst>
              <a:ext uri="{FF2B5EF4-FFF2-40B4-BE49-F238E27FC236}">
                <a16:creationId xmlns:a16="http://schemas.microsoft.com/office/drawing/2014/main" id="{AC5F6660-A2CA-2646-BD30-7381966A55AB}"/>
              </a:ext>
            </a:extLst>
          </p:cNvPr>
          <p:cNvSpPr/>
          <p:nvPr/>
        </p:nvSpPr>
        <p:spPr>
          <a:xfrm>
            <a:off x="4635500" y="1460500"/>
            <a:ext cx="25400" cy="2794000"/>
          </a:xfrm>
          <a:prstGeom prst="rect">
            <a:avLst/>
          </a:prstGeom>
          <a:solidFill>
            <a:srgbClr val="4A00E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Tree>
    <p:extLst>
      <p:ext uri="{BB962C8B-B14F-4D97-AF65-F5344CB8AC3E}">
        <p14:creationId xmlns:p14="http://schemas.microsoft.com/office/powerpoint/2010/main" val="4069509028"/>
      </p:ext>
    </p:extLst>
  </p:cSld>
  <p:clrMapOvr>
    <a:masterClrMapping/>
  </p:clrMapOvr>
</p:sld>
</file>

<file path=ppt/theme/theme1.xml><?xml version="1.0" encoding="utf-8"?>
<a:theme xmlns:a="http://schemas.openxmlformats.org/drawingml/2006/main" name="Office Theme">
  <a:themeElements>
    <a:clrScheme name="IH Colors">
      <a:dk1>
        <a:srgbClr val="110057"/>
      </a:dk1>
      <a:lt1>
        <a:srgbClr val="F7F5F9"/>
      </a:lt1>
      <a:dk2>
        <a:srgbClr val="4A00E2"/>
      </a:dk2>
      <a:lt2>
        <a:srgbClr val="FFFFFF"/>
      </a:lt2>
      <a:accent1>
        <a:srgbClr val="110057"/>
      </a:accent1>
      <a:accent2>
        <a:srgbClr val="4A00E2"/>
      </a:accent2>
      <a:accent3>
        <a:srgbClr val="FF0044"/>
      </a:accent3>
      <a:accent4>
        <a:srgbClr val="7CAFD0"/>
      </a:accent4>
      <a:accent5>
        <a:srgbClr val="FF5D55"/>
      </a:accent5>
      <a:accent6>
        <a:srgbClr val="FFBCB9"/>
      </a:accent6>
      <a:hlink>
        <a:srgbClr val="110057"/>
      </a:hlink>
      <a:folHlink>
        <a:srgbClr val="4A00E2"/>
      </a:folHlink>
    </a:clrScheme>
    <a:fontScheme name="IH Office Fonts">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C0DFD0EC-DB28-6E42-8750-A4B42AB3FD42}">
  <we:reference id="wa200000113" version="1.0.0.0" store="en-US" storeType="OMEX"/>
  <we:alternateReferences>
    <we:reference id="wa200000113" version="1.0.0.0" store="en-US"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9B48D85D-ABA3-EE41-81D7-A4D3100239D8}">
  <we:reference id="wa104051163" version="1.2.0.3" store="en-US" storeType="OMEX"/>
  <we:alternateReferences>
    <we:reference id="WA104051163" version="1.2.0.3" store=""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08137F25-8E34-BF44-9389-ADDC6C55A7CA}">
  <we:reference id="wa200010001" version="1.0.0.0" store="en-US" storeType="OMEX"/>
  <we:alternateReferences>
    <we:reference id="wa200010001" version="1.0.0.0" store="en-US" storeType="OMEX"/>
  </we:alternateReferences>
  <we:properties>
    <we:property name="Office.AutoShowTaskpaneWithDocument" value="true"/>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5299</TotalTime>
  <Words>4207</Words>
  <Application>Microsoft Macintosh PowerPoint</Application>
  <PresentationFormat>Widescreen</PresentationFormat>
  <Paragraphs>201</Paragraphs>
  <Slides>9</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Brian Locke</dc:creator>
  <cp:lastModifiedBy>Brian Locke</cp:lastModifiedBy>
  <cp:revision>25</cp:revision>
  <dcterms:created xsi:type="dcterms:W3CDTF">2025-08-09T21:24:58Z</dcterms:created>
  <dcterms:modified xsi:type="dcterms:W3CDTF">2026-03-08T21:33:47Z</dcterms:modified>
</cp:coreProperties>
</file>