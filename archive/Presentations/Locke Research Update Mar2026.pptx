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11"/>
  </p:notesMasterIdLst>
  <p:sldIdLst>
    <p:sldId id="954" r:id="rId2"/>
    <p:sldId id="926" r:id="rId3"/>
    <p:sldId id="933" r:id="rId4"/>
    <p:sldId id="966" r:id="rId5"/>
    <p:sldId id="940" r:id="rId6"/>
    <p:sldId id="876" r:id="rId7"/>
    <p:sldId id="862" r:id="rId8"/>
    <p:sldId id="960" r:id="rId9"/>
    <p:sldId id="9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38"/>
    <p:restoredTop sz="80297"/>
  </p:normalViewPr>
  <p:slideViewPr>
    <p:cSldViewPr snapToGrid="0">
      <p:cViewPr varScale="1">
        <p:scale>
          <a:sx n="85" d="100"/>
          <a:sy n="85" d="100"/>
        </p:scale>
        <p:origin x="192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3F77F-9A3C-E740-9DB0-E9D6C9A5452C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4F0C85-FC02-4C4E-8B1A-6BB950A691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300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161F6-7AD5-774A-B12A-C32F3626F08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6449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F0C85-FC02-4C4E-8B1A-6BB950A6918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0730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grant-making schema: 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big is the problem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solvable is it? 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many people are working to solve it?  (</a:t>
            </a:r>
            <a:r>
              <a:rPr lang="en-US" dirty="0" err="1"/>
              <a:t>ie</a:t>
            </a:r>
            <a:r>
              <a:rPr lang="en-US" dirty="0"/>
              <a:t> if we spend a bit more resources on this problem, will it make a difference?)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F0C85-FC02-4C4E-8B1A-6BB950A6918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1193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E131E-07F3-5664-79C0-FDB531D95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95914-BACB-DBC9-2EEC-E9A62FF68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C25D0-3E9B-15BC-C3E2-B326440FDD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WHAT — THE EVIDENCE GAP</a:t>
            </a:r>
          </a:p>
          <a:p>
            <a:endParaRPr lang="en-US" dirty="0"/>
          </a:p>
          <a:p>
            <a:r>
              <a:rPr lang="en-US" dirty="0"/>
              <a:t>Current guidelines assume a known etiology. Most patients arrive without one. The result: low rates of diagnostic workup, fragmented post-discharge care, and no systematic framework for identifying who benefits from early intervention.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A1CA-A056-27F6-9D71-C9F9F6B2D3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F0C85-FC02-4C4E-8B1A-6BB950A6918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520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F0C85-FC02-4C4E-8B1A-6BB950A6918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313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C5348-91FF-6C2E-FEC2-A4D06ACC1E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B4C7B7-E89F-F4F0-807C-64BC84E7B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20536-36D8-4517-7CBA-D1D1FE79A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67A02-C6E7-9718-CF81-08A1D9DC4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7E473-F494-4E27-99C0-34A7224EE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701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13E5E-87FF-669F-CD7D-0F9A0A4C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E7506-158E-D90F-7C22-96F88463A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84CAD-4E34-35ED-7479-C217BC4CF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66E64-638E-9908-DD52-847A5E599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DB6E3-CBDC-35EC-8B7A-D382270FF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637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3CA8F-2DCA-3843-87D9-545D32C71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607785-68F3-8D14-0473-201C157326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5D7C5-69EB-BDF0-68F0-47385ECEA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97610-B8EB-655B-702E-90BCB3633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E839B-7B8A-171C-C48E-D074C316E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67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08C8A-4833-A169-AE97-84765B12E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EA08F-D104-669A-DBAA-8E18E5DB2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ACF25B-E93F-8B3E-B55A-CA6BBD038D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89BAB2-09BD-B5F3-C781-0CAA8B93B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08199A-76A8-F9C6-3CBE-B94069C3F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1A505F-DB9A-56C6-47D9-C7C21031B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64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3D23-41D5-4BC3-1858-46F186F56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0242BC-6CBD-BA1B-73EB-DEB623610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39DD13-1EC5-8FA5-A585-795E20FA2F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17523-1C91-FF9F-3E5E-D9E9CB547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840271-BC78-7113-442B-7E800D70D8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CC412E-37C1-6F23-B888-5A5550A87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1DAEB4-7FA6-4763-9630-004C576D8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95CA12-92B0-C366-F5FF-87CC247FD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635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A9CA6-8559-C196-DB12-F8D9FD6B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718351-13AC-869F-69B6-05626F93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2CF895-E559-CFE5-9F05-C3205D799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15669C-783B-D7DC-4E0B-3238F9B45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910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819D8A-437A-6967-C3A8-3C65A63AD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FD7AEE-C060-E81C-9B7F-7EDD5875E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60FF4-0997-396D-873D-8FFA0B244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784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3E8D0-4D60-7EEF-DEC9-2EEC152F9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59E60-6E29-3269-21E1-2AE5E3D11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641270-F766-A002-ACE7-A288947BA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1C9E1-8F22-FAFC-D736-D36D59F58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2AEB03-65A7-A691-B57C-345171197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AD322C-18A9-E0B2-C2FF-BA0E73282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777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6C4D6-197F-000C-6AC9-EDD71C72D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37D2BF-B6D9-F30C-3103-DE6BE2FE90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84A07-3318-090A-7317-30B9E5A242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FF879-3FFD-ACB5-B7E1-99E787256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02E427-0147-39DA-E6F9-C401377B3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C63E81-1FD0-4C8F-1567-D4F8698F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07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FB687-78D0-E8C2-CAF9-D106A47E7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FB3F2-A480-DE47-AF7D-5AC821EC76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CA20EC-5A59-1252-989C-E16961F7E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15AE4-305A-141F-EAFB-6FAACDE4D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55F7FE-1B7B-B2FA-ABC0-D27237030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542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C9CA5E-75F2-933A-DB7F-33148E920B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3FD5A6-F9DB-4951-59AC-E2DB6D4512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652A90-B6B6-9B79-25C0-073FD7053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5A74F2-473E-18FD-136F-19EC4C2F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9115F1-5F18-09D3-DDC8-6A4F8376E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67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4D145F-B434-8F43-2809-AE977E4D2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5F45D8-71D2-87F1-506E-3E629AF96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7E5F3-CFBD-0583-3550-1C624EDFC0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5031F0-EA56-3740-A29C-52740243DB2E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542C5-C1D2-E987-DA18-3467DE522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E4A7B8-F248-2A95-60D5-0FBFBE5704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3790D0-B9BD-1747-B3D5-7F13B94238DC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 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Top Accent"/>
          <p:cNvSpPr/>
          <p:nvPr/>
        </p:nvSpPr>
        <p:spPr>
          <a:xfrm>
            <a:off x="457200" y="1371600"/>
            <a:ext cx="101600" cy="2743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IH Accent Bar"/>
          <p:cNvSpPr/>
          <p:nvPr userDrawn="1"/>
        </p:nvSpPr>
        <p:spPr>
          <a:xfrm>
            <a:off x="0" y="6662100"/>
            <a:ext cx="12192000" cy="91440"/>
          </a:xfrm>
          <a:prstGeom prst="rect">
            <a:avLst/>
          </a:prstGeom>
          <a:solidFill>
            <a:srgbClr val="4A00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IH Top Accent"/>
          <p:cNvSpPr/>
          <p:nvPr userDrawn="1"/>
        </p:nvSpPr>
        <p:spPr>
          <a:xfrm>
            <a:off x="0" y="0"/>
            <a:ext cx="182880" cy="6858000"/>
          </a:xfrm>
          <a:prstGeom prst="rect">
            <a:avLst/>
          </a:prstGeom>
          <a:gradFill>
            <a:gsLst>
              <a:gs pos="0">
                <a:srgbClr val="110057"/>
              </a:gs>
              <a:gs pos="50000">
                <a:srgbClr val="4A00E2"/>
              </a:gs>
              <a:gs pos="100000">
                <a:srgbClr val="FF0044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332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10057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10057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110057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10057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10057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10057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10057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10057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10057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10057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0057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949279-7160-3C4B-9AD0-5A922D346777}"/>
              </a:ext>
            </a:extLst>
          </p:cNvPr>
          <p:cNvSpPr txBox="1"/>
          <p:nvPr/>
        </p:nvSpPr>
        <p:spPr>
          <a:xfrm>
            <a:off x="762000" y="1270000"/>
            <a:ext cx="5842000" cy="107721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Arial"/>
                <a:cs typeface="Arial"/>
              </a:rPr>
              <a:t>Hypercapnic Respiratory Failure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2D1CBF-38E5-7942-99AE-A6C8870FED72}"/>
              </a:ext>
            </a:extLst>
          </p:cNvPr>
          <p:cNvSpPr txBox="1"/>
          <p:nvPr/>
        </p:nvSpPr>
        <p:spPr>
          <a:xfrm>
            <a:off x="762000" y="2410717"/>
            <a:ext cx="584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  <a:latin typeface="Arial"/>
                <a:cs typeface="Arial"/>
              </a:rPr>
              <a:t>Research Program at Intermountain Health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889B6C-300B-8541-8E37-5093EDD69217}"/>
              </a:ext>
            </a:extLst>
          </p:cNvPr>
          <p:cNvSpPr txBox="1"/>
          <p:nvPr/>
        </p:nvSpPr>
        <p:spPr>
          <a:xfrm>
            <a:off x="762000" y="3059448"/>
            <a:ext cx="584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Arial"/>
                <a:cs typeface="Arial"/>
              </a:rPr>
              <a:t>Brian W. Locke, MD MSCI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0D32D7-0A78-ED45-99E4-C07755940DE3}"/>
              </a:ext>
            </a:extLst>
          </p:cNvPr>
          <p:cNvSpPr txBox="1"/>
          <p:nvPr/>
        </p:nvSpPr>
        <p:spPr>
          <a:xfrm>
            <a:off x="762000" y="3478548"/>
            <a:ext cx="5588000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D4C8E8"/>
                </a:solidFill>
                <a:latin typeface="Arial"/>
                <a:cs typeface="Arial"/>
              </a:rPr>
              <a:t>Assistant Professor of Research
Shock Trauma ICU &amp; Schmidt Chest Clinic
Pulmonary &amp; Critical Care, Intermountain Medical Center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6DD8C4-656F-D34F-B4BA-4C4656814FB4}"/>
              </a:ext>
            </a:extLst>
          </p:cNvPr>
          <p:cNvSpPr txBox="1"/>
          <p:nvPr/>
        </p:nvSpPr>
        <p:spPr>
          <a:xfrm>
            <a:off x="762000" y="4407712"/>
            <a:ext cx="558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 dirty="0">
                <a:solidFill>
                  <a:srgbClr val="C4B8D9"/>
                </a:solidFill>
                <a:latin typeface="Arial"/>
                <a:cs typeface="Arial"/>
              </a:rPr>
              <a:t>COI: Mountain Biometrics (automated data harmonization) — unrelated to this work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B08D1A-0C96-3C41-8947-8B28F2C62E8D}"/>
              </a:ext>
            </a:extLst>
          </p:cNvPr>
          <p:cNvSpPr txBox="1"/>
          <p:nvPr/>
        </p:nvSpPr>
        <p:spPr>
          <a:xfrm>
            <a:off x="762000" y="5032532"/>
            <a:ext cx="558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C4B8D9"/>
                </a:solidFill>
                <a:latin typeface="Arial"/>
                <a:cs typeface="Arial"/>
              </a:rPr>
              <a:t>Research Leadership Team — Mar 2026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3174D3-72F8-6442-B799-27571097B14E}"/>
              </a:ext>
            </a:extLst>
          </p:cNvPr>
          <p:cNvSpPr/>
          <p:nvPr/>
        </p:nvSpPr>
        <p:spPr>
          <a:xfrm>
            <a:off x="762000" y="2946400"/>
            <a:ext cx="762000" cy="38100"/>
          </a:xfrm>
          <a:prstGeom prst="rect">
            <a:avLst/>
          </a:prstGeom>
          <a:solidFill>
            <a:srgbClr val="FF00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9E9197-41E2-0C44-B569-88722BCD25A3}"/>
              </a:ext>
            </a:extLst>
          </p:cNvPr>
          <p:cNvSpPr txBox="1"/>
          <p:nvPr/>
        </p:nvSpPr>
        <p:spPr>
          <a:xfrm>
            <a:off x="762000" y="62230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A090C0"/>
                </a:solidFill>
                <a:latin typeface="Arial"/>
                <a:cs typeface="Arial"/>
              </a:rPr>
              <a:t>Confidential and property of Intermountain Health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CB8598-9BA9-DF4F-8FAE-7358FCE34732}"/>
              </a:ext>
            </a:extLst>
          </p:cNvPr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2" name="CO2 Buildup Glow"/>
          <p:cNvSpPr/>
          <p:nvPr/>
        </p:nvSpPr>
        <p:spPr>
          <a:xfrm>
            <a:off x="5867400" y="2273300"/>
            <a:ext cx="2184400" cy="2184400"/>
          </a:xfrm>
          <a:prstGeom prst="ellipse">
            <a:avLst/>
          </a:prstGeom>
          <a:solidFill>
            <a:srgbClr val="FF4444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3" name="CO2 Buildup Outer"/>
          <p:cNvSpPr/>
          <p:nvPr/>
        </p:nvSpPr>
        <p:spPr>
          <a:xfrm>
            <a:off x="5715000" y="2120900"/>
            <a:ext cx="2489200" cy="2489200"/>
          </a:xfrm>
          <a:prstGeom prst="ellipse">
            <a:avLst/>
          </a:prstGeom>
          <a:solidFill>
            <a:srgbClr val="FF2200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0" name="Pulmonary Gear"/>
          <p:cNvSpPr/>
          <p:nvPr/>
        </p:nvSpPr>
        <p:spPr>
          <a:xfrm>
            <a:off x="6096000" y="2501900"/>
            <a:ext cx="1727200" cy="1727200"/>
          </a:xfrm>
          <a:prstGeom prst="gear9">
            <a:avLst/>
          </a:prstGeom>
          <a:solidFill>
            <a:srgbClr val="5BA4CC"/>
          </a:solidFill>
          <a:ln w="15875">
            <a:solidFill>
              <a:srgbClr val="4A8FB5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Pulmonary</a:t>
            </a:r>
          </a:p>
        </p:txBody>
      </p:sp>
      <p:sp>
        <p:nvSpPr>
          <p:cNvPr id="401" name="Circulation Gear"/>
          <p:cNvSpPr/>
          <p:nvPr/>
        </p:nvSpPr>
        <p:spPr>
          <a:xfrm>
            <a:off x="7569200" y="2501900"/>
            <a:ext cx="1727200" cy="1727200"/>
          </a:xfrm>
          <a:prstGeom prst="gear9">
            <a:avLst/>
          </a:prstGeom>
          <a:solidFill>
            <a:srgbClr val="CC2244"/>
          </a:solidFill>
          <a:ln w="15875">
            <a:solidFill>
              <a:srgbClr val="AA1A38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Circulation</a:t>
            </a:r>
          </a:p>
        </p:txBody>
      </p:sp>
      <p:sp>
        <p:nvSpPr>
          <p:cNvPr id="402" name="Muscle Gear"/>
          <p:cNvSpPr/>
          <p:nvPr/>
        </p:nvSpPr>
        <p:spPr>
          <a:xfrm>
            <a:off x="9042400" y="2501900"/>
            <a:ext cx="1727200" cy="1727200"/>
          </a:xfrm>
          <a:prstGeom prst="gear9">
            <a:avLst/>
          </a:prstGeom>
          <a:solidFill>
            <a:srgbClr val="4A00E2"/>
          </a:solidFill>
          <a:ln w="15875">
            <a:solidFill>
              <a:srgbClr val="3800B0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Muscle</a:t>
            </a:r>
          </a:p>
        </p:txBody>
      </p:sp>
      <p:sp>
        <p:nvSpPr>
          <p:cNvPr id="415" name="Attribution"/>
          <p:cNvSpPr/>
          <p:nvPr/>
        </p:nvSpPr>
        <p:spPr>
          <a:xfrm>
            <a:off x="7289800" y="4675544"/>
            <a:ext cx="2286000" cy="1231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1">
            <a:spAutoFit/>
          </a:bodyPr>
          <a:lstStyle/>
          <a:p>
            <a:pPr algn="ctr"/>
            <a:r>
              <a:rPr lang="en-US" sz="800" i="1" dirty="0">
                <a:solidFill>
                  <a:srgbClr val="8A7BB8"/>
                </a:solidFill>
                <a:latin typeface="Arial"/>
              </a:rPr>
              <a:t>adapted from Wasserman et al.</a:t>
            </a:r>
          </a:p>
        </p:txBody>
      </p:sp>
      <p:sp>
        <p:nvSpPr>
          <p:cNvPr id="420" name="O2 Flow"/>
          <p:cNvSpPr/>
          <p:nvPr/>
        </p:nvSpPr>
        <p:spPr>
          <a:xfrm>
            <a:off x="6159500" y="2231767"/>
            <a:ext cx="454660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1">
            <a:spAutoFit/>
          </a:bodyPr>
          <a:lstStyle/>
          <a:p>
            <a:pPr algn="ctr"/>
            <a:r>
              <a:rPr lang="en-US" sz="1200" b="1" dirty="0">
                <a:solidFill>
                  <a:srgbClr val="B8E0F8"/>
                </a:solidFill>
                <a:latin typeface="Arial"/>
              </a:rPr>
              <a:t>O₂ →</a:t>
            </a:r>
          </a:p>
        </p:txBody>
      </p:sp>
      <p:sp>
        <p:nvSpPr>
          <p:cNvPr id="421" name="CO2 Buildup"/>
          <p:cNvSpPr/>
          <p:nvPr/>
        </p:nvSpPr>
        <p:spPr>
          <a:xfrm>
            <a:off x="6159500" y="4339967"/>
            <a:ext cx="454660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1">
            <a:spAutoFit/>
          </a:bodyPr>
          <a:lstStyle/>
          <a:p>
            <a:pPr algn="ctr"/>
            <a:r>
              <a:rPr lang="en-US" sz="1200" b="1" dirty="0">
                <a:solidFill>
                  <a:srgbClr val="FF7777"/>
                </a:solidFill>
                <a:latin typeface="Arial"/>
              </a:rPr>
              <a:t>← CO₂ buildup</a:t>
            </a:r>
          </a:p>
        </p:txBody>
      </p:sp>
    </p:spTree>
    <p:extLst>
      <p:ext uri="{BB962C8B-B14F-4D97-AF65-F5344CB8AC3E}">
        <p14:creationId xmlns:p14="http://schemas.microsoft.com/office/powerpoint/2010/main" val="1508015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4836AA61-91E9-A14E-B438-59309171B7D8}"/>
              </a:ext>
            </a:extLst>
          </p:cNvPr>
          <p:cNvSpPr/>
          <p:nvPr/>
        </p:nvSpPr>
        <p:spPr>
          <a:xfrm>
            <a:off x="635000" y="1206500"/>
            <a:ext cx="2159000" cy="2159000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endParaRPr lang="en-US" sz="4000" b="1" dirty="0">
              <a:solidFill>
                <a:srgbClr val="4A00E2"/>
              </a:solidFill>
              <a:latin typeface="Arial"/>
              <a:cs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A88D11-FC99-1D44-A3B9-0E9C7817CD30}"/>
              </a:ext>
            </a:extLst>
          </p:cNvPr>
          <p:cNvSpPr txBox="1"/>
          <p:nvPr/>
        </p:nvSpPr>
        <p:spPr>
          <a:xfrm>
            <a:off x="3175000" y="254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4A00E2"/>
                </a:solidFill>
                <a:latin typeface="Arial"/>
                <a:cs typeface="Arial"/>
              </a:rPr>
              <a:t>ABOUT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26F8D6-6A61-1D48-B987-8993EAEF6248}"/>
              </a:ext>
            </a:extLst>
          </p:cNvPr>
          <p:cNvSpPr txBox="1"/>
          <p:nvPr/>
        </p:nvSpPr>
        <p:spPr>
          <a:xfrm>
            <a:off x="3175000" y="558800"/>
            <a:ext cx="76200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 b="1">
                <a:solidFill>
                  <a:srgbClr val="110057"/>
                </a:solidFill>
                <a:latin typeface="Arial"/>
                <a:cs typeface="Arial"/>
              </a:rPr>
              <a:t>Brian W. Locke, MD MSCI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7BD2E5-CF9F-4445-AEDA-8FD6E351A585}"/>
              </a:ext>
            </a:extLst>
          </p:cNvPr>
          <p:cNvSpPr txBox="1"/>
          <p:nvPr/>
        </p:nvSpPr>
        <p:spPr>
          <a:xfrm>
            <a:off x="3175000" y="990600"/>
            <a:ext cx="8382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6B5B8A"/>
                </a:solidFill>
                <a:latin typeface="Arial"/>
                <a:cs typeface="Arial"/>
              </a:rPr>
              <a:t>Assistant Professor of Research · Pulmonary &amp; Critical Care · Intermountain Medical Center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210D7AE-EEF6-EE4B-A915-83CAC185F47E}"/>
              </a:ext>
            </a:extLst>
          </p:cNvPr>
          <p:cNvSpPr/>
          <p:nvPr/>
        </p:nvSpPr>
        <p:spPr>
          <a:xfrm>
            <a:off x="3175000" y="1333500"/>
            <a:ext cx="1270000" cy="3175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4BA73A-5FE7-0A45-BCF0-15FA5B0428CF}"/>
              </a:ext>
            </a:extLst>
          </p:cNvPr>
          <p:cNvSpPr txBox="1"/>
          <p:nvPr/>
        </p:nvSpPr>
        <p:spPr>
          <a:xfrm>
            <a:off x="3175000" y="1498600"/>
            <a:ext cx="8382000" cy="91307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n-US" sz="1500" dirty="0">
                <a:solidFill>
                  <a:srgbClr val="110057"/>
                </a:solidFill>
                <a:latin typeface="Arial"/>
                <a:cs typeface="Arial"/>
              </a:rPr>
              <a:t>MD (Colorado)  · MSCI Clinical Investigation (Utah)  · BS Computer Science (Colorado)</a:t>
            </a:r>
          </a:p>
          <a:p>
            <a:pPr algn="l">
              <a:spcAft>
                <a:spcPts val="500"/>
              </a:spcAft>
              <a:buNone/>
            </a:pPr>
            <a:r>
              <a:rPr lang="en-US" sz="1500" dirty="0">
                <a:solidFill>
                  <a:srgbClr val="110057"/>
                </a:solidFill>
                <a:latin typeface="Arial"/>
                <a:cs typeface="Arial"/>
              </a:rPr>
              <a:t>Shock Trauma ICU + Schmidt Chest Clinic (chronic respiratory failure, HMV, OHS)</a:t>
            </a:r>
          </a:p>
          <a:p>
            <a:pPr algn="l">
              <a:spcAft>
                <a:spcPts val="500"/>
              </a:spcAft>
              <a:buNone/>
            </a:pPr>
            <a:r>
              <a:rPr lang="en-US" sz="1500" dirty="0">
                <a:solidFill>
                  <a:srgbClr val="110057"/>
                </a:solidFill>
                <a:latin typeface="Arial"/>
                <a:cs typeface="Arial"/>
              </a:rPr>
              <a:t>Core faculty, U of Utah PCCM Fellowship · Medical Machine Intelligence Lab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0A548FF-6097-BD45-91CC-8D7F0F9A5B1C}"/>
              </a:ext>
            </a:extLst>
          </p:cNvPr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D003111-F030-4F48-921B-D293CFAFE817}"/>
              </a:ext>
            </a:extLst>
          </p:cNvPr>
          <p:cNvSpPr/>
          <p:nvPr/>
        </p:nvSpPr>
        <p:spPr>
          <a:xfrm>
            <a:off x="508000" y="3530600"/>
            <a:ext cx="11176000" cy="1272724"/>
          </a:xfrm>
          <a:prstGeom prst="roundRect">
            <a:avLst/>
          </a:prstGeom>
          <a:solidFill>
            <a:srgbClr val="EEEA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A1555B-EAA2-6748-9D4D-B9B089A615C8}"/>
              </a:ext>
            </a:extLst>
          </p:cNvPr>
          <p:cNvSpPr txBox="1"/>
          <p:nvPr/>
        </p:nvSpPr>
        <p:spPr>
          <a:xfrm>
            <a:off x="698500" y="3632200"/>
            <a:ext cx="10795000" cy="106952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4A00E2"/>
                </a:solidFill>
                <a:latin typeface="Arial"/>
                <a:cs typeface="Arial"/>
              </a:rPr>
              <a:t>Research focus</a:t>
            </a:r>
          </a:p>
          <a:p>
            <a:pPr algn="l"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EHR phenotyping &amp; diagnostic modeling for hypercapnic respiratory failure</a:t>
            </a:r>
          </a:p>
          <a:p>
            <a:pPr algn="l"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Building toward embedded pragmatic trials at Intermountain</a:t>
            </a:r>
          </a:p>
          <a:p>
            <a:pPr algn="l"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First dedicated chronic respiratory failure subspecialist in the IH system</a:t>
            </a:r>
          </a:p>
        </p:txBody>
      </p:sp>
    </p:spTree>
    <p:extLst>
      <p:ext uri="{BB962C8B-B14F-4D97-AF65-F5344CB8AC3E}">
        <p14:creationId xmlns:p14="http://schemas.microsoft.com/office/powerpoint/2010/main" val="3298814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0C60959-346C-AA41-A54A-E115C45605E3}"/>
              </a:ext>
            </a:extLst>
          </p:cNvPr>
          <p:cNvSpPr txBox="1"/>
          <p:nvPr/>
        </p:nvSpPr>
        <p:spPr>
          <a:xfrm>
            <a:off x="762000" y="571500"/>
            <a:ext cx="508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dirty="0">
                <a:solidFill>
                  <a:srgbClr val="4A00E2"/>
                </a:solidFill>
                <a:latin typeface="Arial"/>
                <a:cs typeface="Arial"/>
              </a:rPr>
              <a:t>The Scale of the Problem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847715-A46F-6346-9E2C-3EE6470AE037}"/>
              </a:ext>
            </a:extLst>
          </p:cNvPr>
          <p:cNvSpPr txBox="1"/>
          <p:nvPr/>
        </p:nvSpPr>
        <p:spPr>
          <a:xfrm>
            <a:off x="762000" y="914400"/>
            <a:ext cx="889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800" b="1" dirty="0">
                <a:solidFill>
                  <a:srgbClr val="110057"/>
                </a:solidFill>
                <a:latin typeface="Arial"/>
              </a:rPr>
              <a:t>A national burden, a local reality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07A4E2-1F73-5941-82EF-314EC0187D1E}"/>
              </a:ext>
            </a:extLst>
          </p:cNvPr>
          <p:cNvSpPr/>
          <p:nvPr/>
        </p:nvSpPr>
        <p:spPr>
          <a:xfrm>
            <a:off x="762000" y="1587500"/>
            <a:ext cx="1524000" cy="381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E395864-3979-F544-BD8C-C99C784FB486}"/>
              </a:ext>
            </a:extLst>
          </p:cNvPr>
          <p:cNvSpPr/>
          <p:nvPr/>
        </p:nvSpPr>
        <p:spPr>
          <a:xfrm>
            <a:off x="762000" y="2006600"/>
            <a:ext cx="3390900" cy="2413000"/>
          </a:xfrm>
          <a:prstGeom prst="roundRect">
            <a:avLst/>
          </a:prstGeom>
          <a:solidFill>
            <a:srgbClr val="1100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244F39-AD4A-C84A-B07B-F41B1C9DF70F}"/>
              </a:ext>
            </a:extLst>
          </p:cNvPr>
          <p:cNvSpPr txBox="1"/>
          <p:nvPr/>
        </p:nvSpPr>
        <p:spPr>
          <a:xfrm>
            <a:off x="952500" y="2159000"/>
            <a:ext cx="30099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Arial"/>
              </a:rPr>
              <a:t>~150/100K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00C666-B55F-C44A-8E6B-4A7CBDA5F9CE}"/>
              </a:ext>
            </a:extLst>
          </p:cNvPr>
          <p:cNvSpPr txBox="1"/>
          <p:nvPr/>
        </p:nvSpPr>
        <p:spPr>
          <a:xfrm>
            <a:off x="952500" y="2692400"/>
            <a:ext cx="30099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Arial"/>
                <a:cs typeface="Arial"/>
              </a:rPr>
              <a:t>GLOBALLY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D06C95-5A9C-3448-8877-2339FE3FAB52}"/>
              </a:ext>
            </a:extLst>
          </p:cNvPr>
          <p:cNvSpPr txBox="1"/>
          <p:nvPr/>
        </p:nvSpPr>
        <p:spPr>
          <a:xfrm>
            <a:off x="952500" y="2997200"/>
            <a:ext cx="30099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Arial"/>
                <a:cs typeface="Arial"/>
              </a:rPr>
              <a:t>person-years period prevalence</a:t>
            </a:r>
          </a:p>
          <a:p>
            <a:pPr algn="l"/>
            <a:r>
              <a:rPr lang="en-US" sz="1400" dirty="0">
                <a:solidFill>
                  <a:srgbClr val="E8E0F5"/>
                </a:solidFill>
                <a:latin typeface="Arial"/>
                <a:cs typeface="Arial"/>
              </a:rPr>
              <a:t>Comparable to decompensated cirrhosis; 20% 2-month mortality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AC2EED7-F346-1544-98E4-D344FAD96001}"/>
              </a:ext>
            </a:extLst>
          </p:cNvPr>
          <p:cNvSpPr/>
          <p:nvPr/>
        </p:nvSpPr>
        <p:spPr>
          <a:xfrm>
            <a:off x="4406900" y="2006600"/>
            <a:ext cx="3390900" cy="2413000"/>
          </a:xfrm>
          <a:prstGeom prst="roundRect">
            <a:avLst/>
          </a:prstGeom>
          <a:solidFill>
            <a:srgbClr val="3A0A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D9A084-DBB4-A441-A1A6-3483CED172A1}"/>
              </a:ext>
            </a:extLst>
          </p:cNvPr>
          <p:cNvSpPr txBox="1"/>
          <p:nvPr/>
        </p:nvSpPr>
        <p:spPr>
          <a:xfrm>
            <a:off x="4597400" y="2159000"/>
            <a:ext cx="30099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Arial"/>
              </a:rPr>
              <a:t>14,876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3FFF89-19F8-A546-814B-51160A161812}"/>
              </a:ext>
            </a:extLst>
          </p:cNvPr>
          <p:cNvSpPr txBox="1"/>
          <p:nvPr/>
        </p:nvSpPr>
        <p:spPr>
          <a:xfrm>
            <a:off x="4597400" y="2692400"/>
            <a:ext cx="30099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Arial"/>
                <a:cs typeface="Arial"/>
              </a:rPr>
              <a:t>IN UTAH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974127-2182-1F42-9A25-8E9503280D91}"/>
              </a:ext>
            </a:extLst>
          </p:cNvPr>
          <p:cNvSpPr txBox="1"/>
          <p:nvPr/>
        </p:nvSpPr>
        <p:spPr>
          <a:xfrm>
            <a:off x="4597400" y="2997200"/>
            <a:ext cx="30099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Arial"/>
                <a:cs typeface="Arial"/>
              </a:rPr>
              <a:t>cases by ICD code (2015–2019)</a:t>
            </a:r>
          </a:p>
          <a:p>
            <a:pPr algn="l"/>
            <a:r>
              <a:rPr lang="en-US" sz="1400" dirty="0">
                <a:solidFill>
                  <a:srgbClr val="E8E0F5"/>
                </a:solidFill>
                <a:latin typeface="Arial"/>
                <a:cs typeface="Arial"/>
              </a:rPr>
              <a:t>ICD only — does not capture blood-gas-identified cases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F16512E-C806-1F42-8057-DBE971158CD6}"/>
              </a:ext>
            </a:extLst>
          </p:cNvPr>
          <p:cNvSpPr/>
          <p:nvPr/>
        </p:nvSpPr>
        <p:spPr>
          <a:xfrm>
            <a:off x="8051800" y="2006600"/>
            <a:ext cx="3390900" cy="2413000"/>
          </a:xfrm>
          <a:prstGeom prst="round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4331FB-60C3-EF46-A0ED-95045AEFF9B2}"/>
              </a:ext>
            </a:extLst>
          </p:cNvPr>
          <p:cNvSpPr txBox="1"/>
          <p:nvPr/>
        </p:nvSpPr>
        <p:spPr>
          <a:xfrm>
            <a:off x="8242300" y="2159000"/>
            <a:ext cx="30099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Arial"/>
              </a:rPr>
              <a:t>~1,000 per year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360CA1-2571-1545-8D37-9F2BDCBF65C1}"/>
              </a:ext>
            </a:extLst>
          </p:cNvPr>
          <p:cNvSpPr txBox="1"/>
          <p:nvPr/>
        </p:nvSpPr>
        <p:spPr>
          <a:xfrm>
            <a:off x="8242300" y="2692400"/>
            <a:ext cx="30099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Arial"/>
                <a:cs typeface="Arial"/>
              </a:rPr>
              <a:t>IH / SELECTHEALTH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EC487C-BAC7-F74C-85FA-F80D65348B35}"/>
              </a:ext>
            </a:extLst>
          </p:cNvPr>
          <p:cNvSpPr txBox="1"/>
          <p:nvPr/>
        </p:nvSpPr>
        <p:spPr>
          <a:xfrm>
            <a:off x="8242300" y="2997200"/>
            <a:ext cx="3009900" cy="89255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Arial"/>
                <a:cs typeface="Arial"/>
              </a:rPr>
              <a:t>Canyons region, coinsured; ICD + blood gas</a:t>
            </a:r>
          </a:p>
          <a:p>
            <a:pPr algn="l"/>
            <a:r>
              <a:rPr lang="en-US" sz="1400" b="1" dirty="0">
                <a:solidFill>
                  <a:srgbClr val="FFD966"/>
                </a:solidFill>
                <a:latin typeface="Arial"/>
                <a:cs typeface="Arial"/>
              </a:rPr>
              <a:t>$50K per index hospitalization</a:t>
            </a:r>
          </a:p>
          <a:p>
            <a:pPr algn="l"/>
            <a:r>
              <a:rPr lang="en-US" sz="1200" dirty="0">
                <a:solidFill>
                  <a:srgbClr val="E8E0F5"/>
                </a:solidFill>
                <a:latin typeface="Arial"/>
                <a:cs typeface="Arial"/>
              </a:rPr>
              <a:t>Spending elevated months before admission — modifiable window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34E493-3907-E24A-874F-0AF79D3C7A19}"/>
              </a:ext>
            </a:extLst>
          </p:cNvPr>
          <p:cNvSpPr txBox="1"/>
          <p:nvPr/>
        </p:nvSpPr>
        <p:spPr>
          <a:xfrm>
            <a:off x="762000" y="4699000"/>
            <a:ext cx="8890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 dirty="0">
                <a:solidFill>
                  <a:srgbClr val="6B5B8A"/>
                </a:solidFill>
                <a:latin typeface="Arial"/>
                <a:cs typeface="Arial"/>
              </a:rPr>
              <a:t>Chung et al. AJRCCM; Locke et al. ATS 2025; Locke et al. ATS 2026  |  UPDB, TriNetX, IH/SelectHealth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1C4191-3D14-2545-99C8-299E69A8687F}"/>
              </a:ext>
            </a:extLst>
          </p:cNvPr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F7BAFA-3E63-C54A-BC22-C8DE1F633C99}"/>
              </a:ext>
            </a:extLst>
          </p:cNvPr>
          <p:cNvSpPr txBox="1"/>
          <p:nvPr/>
        </p:nvSpPr>
        <p:spPr>
          <a:xfrm>
            <a:off x="762000" y="5026799"/>
            <a:ext cx="889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4A00E2"/>
                </a:solidFill>
                <a:latin typeface="Arial"/>
                <a:cs typeface="Arial"/>
              </a:rPr>
              <a:t>Can health services research and better care organization improve these outcomes? →</a:t>
            </a:r>
          </a:p>
        </p:txBody>
      </p:sp>
    </p:spTree>
    <p:extLst>
      <p:ext uri="{BB962C8B-B14F-4D97-AF65-F5344CB8AC3E}">
        <p14:creationId xmlns:p14="http://schemas.microsoft.com/office/powerpoint/2010/main" val="14082822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662CD0-1534-4C4A-BE4C-7152393E3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707370-608F-9640-A16E-D0F41F8DD7D6}"/>
              </a:ext>
            </a:extLst>
          </p:cNvPr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E3F055-2F0C-1E43-91F3-957CC4690C69}"/>
              </a:ext>
            </a:extLst>
          </p:cNvPr>
          <p:cNvSpPr txBox="1"/>
          <p:nvPr/>
        </p:nvSpPr>
        <p:spPr>
          <a:xfrm>
            <a:off x="762000" y="508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dirty="0">
                <a:solidFill>
                  <a:srgbClr val="4A00E2"/>
                </a:solidFill>
                <a:latin typeface="Arial"/>
                <a:cs typeface="Arial"/>
              </a:rPr>
              <a:t>A Promising Problem to Solve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F12FDD-5773-484E-B0A7-E587916DE304}"/>
              </a:ext>
            </a:extLst>
          </p:cNvPr>
          <p:cNvSpPr txBox="1"/>
          <p:nvPr/>
        </p:nvSpPr>
        <p:spPr>
          <a:xfrm>
            <a:off x="762000" y="838200"/>
            <a:ext cx="1066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600" b="1" dirty="0">
                <a:solidFill>
                  <a:srgbClr val="110057"/>
                </a:solidFill>
                <a:latin typeface="Arial"/>
              </a:rPr>
              <a:t>Solvable and overlooked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B1A65A-90AB-6A4A-BD67-6CE382E80EBE}"/>
              </a:ext>
            </a:extLst>
          </p:cNvPr>
          <p:cNvSpPr/>
          <p:nvPr/>
        </p:nvSpPr>
        <p:spPr>
          <a:xfrm>
            <a:off x="762000" y="1397000"/>
            <a:ext cx="1524000" cy="381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F659F5-1ADA-6742-B99F-5C10420A1A24}"/>
              </a:ext>
            </a:extLst>
          </p:cNvPr>
          <p:cNvSpPr/>
          <p:nvPr/>
        </p:nvSpPr>
        <p:spPr>
          <a:xfrm>
            <a:off x="762000" y="1625600"/>
            <a:ext cx="5334000" cy="2095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B8A6B0-21FF-3A46-B537-9CC35954AD7C}"/>
              </a:ext>
            </a:extLst>
          </p:cNvPr>
          <p:cNvSpPr/>
          <p:nvPr/>
        </p:nvSpPr>
        <p:spPr>
          <a:xfrm>
            <a:off x="952500" y="1727200"/>
            <a:ext cx="457200" cy="457200"/>
          </a:xfrm>
          <a:prstGeom prst="ellipse">
            <a:avLst/>
          </a:prstGeom>
          <a:solidFill>
            <a:srgbClr val="FF00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Arial"/>
                <a:cs typeface="Arial"/>
              </a:rPr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30834D-F542-CE4B-9D5A-AE40FA66D9C4}"/>
              </a:ext>
            </a:extLst>
          </p:cNvPr>
          <p:cNvSpPr txBox="1"/>
          <p:nvPr/>
        </p:nvSpPr>
        <p:spPr>
          <a:xfrm>
            <a:off x="1524000" y="1803400"/>
            <a:ext cx="43815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dirty="0">
                <a:solidFill>
                  <a:srgbClr val="110057"/>
                </a:solidFill>
                <a:latin typeface="Arial"/>
                <a:cs typeface="Arial"/>
              </a:rPr>
              <a:t>Overlooked: A paradigm gap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E501C9-150D-0848-91A6-4320CBB71D41}"/>
              </a:ext>
            </a:extLst>
          </p:cNvPr>
          <p:cNvSpPr txBox="1"/>
          <p:nvPr/>
        </p:nvSpPr>
        <p:spPr>
          <a:xfrm>
            <a:off x="952500" y="2260600"/>
            <a:ext cx="4953000" cy="116955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Patients arrive undifferentiated — guidelines can't help.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b="1" dirty="0">
                <a:solidFill>
                  <a:srgbClr val="4A00E2"/>
                </a:solidFill>
                <a:latin typeface="Arial"/>
                <a:cs typeface="Arial"/>
              </a:rPr>
              <a:t>Only 31% PFTs, 21% sleep testing</a:t>
            </a:r>
            <a:r>
              <a:rPr lang="en-US" sz="1400" dirty="0">
                <a:solidFill>
                  <a:srgbClr val="6B5B8A"/>
                </a:solidFill>
                <a:latin typeface="Arial"/>
                <a:cs typeface="Arial"/>
              </a:rPr>
              <a:t> in 5 yrs pre-diagnosis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dirty="0">
                <a:solidFill>
                  <a:srgbClr val="6B5B8A"/>
                </a:solidFill>
                <a:latin typeface="Arial"/>
                <a:cs typeface="Arial"/>
              </a:rPr>
              <a:t>CPGs address single diseases — not undifferentiated patients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dirty="0">
                <a:solidFill>
                  <a:srgbClr val="6B5B8A"/>
                </a:solidFill>
                <a:latin typeface="Arial"/>
                <a:cs typeface="Arial"/>
              </a:rPr>
              <a:t>These patients fall outside existing evidence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DEE9E4-B0DE-6649-B2A1-D316474EBD85}"/>
              </a:ext>
            </a:extLst>
          </p:cNvPr>
          <p:cNvSpPr/>
          <p:nvPr/>
        </p:nvSpPr>
        <p:spPr>
          <a:xfrm>
            <a:off x="6350000" y="1625600"/>
            <a:ext cx="5334000" cy="2095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43CF9D-2C93-D241-AAFE-B88B60261940}"/>
              </a:ext>
            </a:extLst>
          </p:cNvPr>
          <p:cNvSpPr/>
          <p:nvPr/>
        </p:nvSpPr>
        <p:spPr>
          <a:xfrm>
            <a:off x="6540500" y="1727200"/>
            <a:ext cx="457200" cy="457200"/>
          </a:xfrm>
          <a:prstGeom prst="ellipse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Arial"/>
                <a:cs typeface="Arial"/>
              </a:rPr>
              <a:t>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867782-E019-BA48-B048-E7675AD19BA8}"/>
              </a:ext>
            </a:extLst>
          </p:cNvPr>
          <p:cNvSpPr txBox="1"/>
          <p:nvPr/>
        </p:nvSpPr>
        <p:spPr>
          <a:xfrm>
            <a:off x="7112000" y="1803400"/>
            <a:ext cx="43815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dirty="0">
                <a:solidFill>
                  <a:srgbClr val="110057"/>
                </a:solidFill>
                <a:latin typeface="Arial"/>
                <a:cs typeface="Arial"/>
              </a:rPr>
              <a:t>Solvable: Missing the window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07881C-27E6-DF43-B36E-9450509CB0D9}"/>
              </a:ext>
            </a:extLst>
          </p:cNvPr>
          <p:cNvSpPr txBox="1"/>
          <p:nvPr/>
        </p:nvSpPr>
        <p:spPr>
          <a:xfrm>
            <a:off x="6540500" y="2260600"/>
            <a:ext cx="4889500" cy="116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Low testing implies low management — patients are being missed.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b="1" dirty="0">
                <a:solidFill>
                  <a:srgbClr val="4A00E2"/>
                </a:solidFill>
                <a:latin typeface="Arial"/>
                <a:cs typeface="Arial"/>
              </a:rPr>
              <a:t>~15% PFTs, ~10% sleep testing</a:t>
            </a:r>
            <a:r>
              <a:rPr lang="en-US" sz="1400" dirty="0">
                <a:solidFill>
                  <a:srgbClr val="6B5B8A"/>
                </a:solidFill>
                <a:latin typeface="Arial"/>
                <a:cs typeface="Arial"/>
              </a:rPr>
              <a:t> in 1 yr after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dirty="0">
                <a:solidFill>
                  <a:srgbClr val="6B5B8A"/>
                </a:solidFill>
                <a:latin typeface="Arial"/>
                <a:cs typeface="Arial"/>
              </a:rPr>
              <a:t>Discharge handoffs are complicated and error-prone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dirty="0">
                <a:solidFill>
                  <a:srgbClr val="6B5B8A"/>
                </a:solidFill>
                <a:latin typeface="Arial"/>
                <a:cs typeface="Arial"/>
              </a:rPr>
              <a:t>Many who might benefit are simply never evaluated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ADAC05E-829A-FE44-80D7-74790776A538}"/>
              </a:ext>
            </a:extLst>
          </p:cNvPr>
          <p:cNvSpPr/>
          <p:nvPr/>
        </p:nvSpPr>
        <p:spPr>
          <a:xfrm>
            <a:off x="762000" y="3811150"/>
            <a:ext cx="10922000" cy="762000"/>
          </a:xfrm>
          <a:prstGeom prst="roundRect">
            <a:avLst/>
          </a:prstGeom>
          <a:solidFill>
            <a:srgbClr val="1100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3878B3-C7D1-E94B-BFCF-0782802925D2}"/>
              </a:ext>
            </a:extLst>
          </p:cNvPr>
          <p:cNvSpPr txBox="1"/>
          <p:nvPr/>
        </p:nvSpPr>
        <p:spPr>
          <a:xfrm>
            <a:off x="952500" y="3912750"/>
            <a:ext cx="10541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Arial"/>
                <a:cs typeface="Arial"/>
              </a:rPr>
              <a:t>Utah (n = 14,876):  </a:t>
            </a:r>
            <a:r>
              <a:rPr lang="en-US" sz="1400" dirty="0">
                <a:solidFill>
                  <a:srgbClr val="E8E0F5"/>
                </a:solidFill>
                <a:latin typeface="Arial"/>
                <a:cs typeface="Arial"/>
              </a:rPr>
              <a:t>TTE ~50–63% vs. PFT/sleep ~10–31% — gap is specific to outpatient workup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F4C1D5-4FF1-704D-9555-37ED0213F5C8}"/>
              </a:ext>
            </a:extLst>
          </p:cNvPr>
          <p:cNvSpPr txBox="1"/>
          <p:nvPr/>
        </p:nvSpPr>
        <p:spPr>
          <a:xfrm>
            <a:off x="762000" y="4725550"/>
            <a:ext cx="1016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8A8A8A"/>
                </a:solidFill>
                <a:latin typeface="Arial"/>
                <a:cs typeface="Arial"/>
              </a:rPr>
              <a:t>Locke et al., ATS 2025 — Utah APCD + Health Facilities Database, 2015–2019</a:t>
            </a:r>
          </a:p>
        </p:txBody>
      </p:sp>
    </p:spTree>
    <p:extLst>
      <p:ext uri="{BB962C8B-B14F-4D97-AF65-F5344CB8AC3E}">
        <p14:creationId xmlns:p14="http://schemas.microsoft.com/office/powerpoint/2010/main" val="605175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3CA9C7-03F1-1B45-BF1E-78BBA9C51013}"/>
              </a:ext>
            </a:extLst>
          </p:cNvPr>
          <p:cNvSpPr txBox="1"/>
          <p:nvPr/>
        </p:nvSpPr>
        <p:spPr>
          <a:xfrm>
            <a:off x="762000" y="2540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 dirty="0">
                <a:solidFill>
                  <a:srgbClr val="4A00E2"/>
                </a:solidFill>
                <a:latin typeface="Arial"/>
                <a:cs typeface="Arial"/>
              </a:rPr>
              <a:t>OUR PRIOR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0B80F7-C58D-6D4A-BB0D-095C441CEBAE}"/>
              </a:ext>
            </a:extLst>
          </p:cNvPr>
          <p:cNvSpPr txBox="1"/>
          <p:nvPr/>
        </p:nvSpPr>
        <p:spPr>
          <a:xfrm>
            <a:off x="762000" y="609600"/>
            <a:ext cx="10668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110057"/>
                </a:solidFill>
                <a:latin typeface="Arial"/>
                <a:cs typeface="Arial"/>
              </a:rPr>
              <a:t>The Consistency of Hypercapnic Respiratory Failure Case Definitions in Electronic Health Record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4F02AE4-4867-B449-B293-9D97CD026432}"/>
              </a:ext>
            </a:extLst>
          </p:cNvPr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0CF540-CD3D-5D4E-9991-F922A28460C7}"/>
              </a:ext>
            </a:extLst>
          </p:cNvPr>
          <p:cNvSpPr txBox="1"/>
          <p:nvPr/>
        </p:nvSpPr>
        <p:spPr>
          <a:xfrm>
            <a:off x="762000" y="1346200"/>
            <a:ext cx="10668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110057"/>
                </a:solidFill>
                <a:latin typeface="Arial"/>
                <a:cs typeface="Arial"/>
              </a:rPr>
              <a:t>Locke BW</a:t>
            </a:r>
            <a:r>
              <a:rPr lang="en-US" sz="1200" dirty="0">
                <a:solidFill>
                  <a:srgbClr val="555555"/>
                </a:solidFill>
                <a:latin typeface="Arial"/>
                <a:cs typeface="Arial"/>
              </a:rPr>
              <a:t>, Richards WW, Gouripeddi R, Brown JP, Finkelstein J, Sundar KM, </a:t>
            </a:r>
            <a:r>
              <a:rPr lang="en-US" sz="1200" b="1" dirty="0">
                <a:solidFill>
                  <a:srgbClr val="110057"/>
                </a:solidFill>
                <a:latin typeface="Arial"/>
                <a:cs typeface="Arial"/>
              </a:rPr>
              <a:t>Peltan ID</a:t>
            </a:r>
            <a:r>
              <a:rPr lang="en-US" sz="1200" dirty="0">
                <a:solidFill>
                  <a:srgbClr val="555555"/>
                </a:solidFill>
                <a:latin typeface="Arial"/>
                <a:cs typeface="Arial"/>
              </a:rPr>
              <a:t>, </a:t>
            </a:r>
            <a:r>
              <a:rPr lang="en-US" sz="1200" b="1" dirty="0">
                <a:solidFill>
                  <a:srgbClr val="110057"/>
                </a:solidFill>
                <a:latin typeface="Arial"/>
                <a:cs typeface="Arial"/>
              </a:rPr>
              <a:t>Brown SM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499CC07-EBD8-394F-95AF-76BFC9DCEE96}"/>
              </a:ext>
            </a:extLst>
          </p:cNvPr>
          <p:cNvSpPr/>
          <p:nvPr/>
        </p:nvSpPr>
        <p:spPr>
          <a:xfrm>
            <a:off x="762000" y="1879600"/>
            <a:ext cx="10668000" cy="1016000"/>
          </a:xfrm>
          <a:prstGeom prst="roundRect">
            <a:avLst/>
          </a:prstGeom>
          <a:solidFill>
            <a:srgbClr val="F3F0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46B36E-C521-3444-99B0-13D949872135}"/>
              </a:ext>
            </a:extLst>
          </p:cNvPr>
          <p:cNvSpPr/>
          <p:nvPr/>
        </p:nvSpPr>
        <p:spPr>
          <a:xfrm>
            <a:off x="762000" y="1879600"/>
            <a:ext cx="10668000" cy="508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24E2C8-46FC-9B49-A4C7-9B6DE723C60C}"/>
              </a:ext>
            </a:extLst>
          </p:cNvPr>
          <p:cNvSpPr txBox="1"/>
          <p:nvPr/>
        </p:nvSpPr>
        <p:spPr>
          <a:xfrm>
            <a:off x="952500" y="2006600"/>
            <a:ext cx="1028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110057"/>
                </a:solidFill>
                <a:latin typeface="Arial"/>
                <a:cs typeface="Arial"/>
              </a:rPr>
              <a:t>Key Finding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21EC88-7EC0-DD4D-B332-59B01BB8D5B4}"/>
              </a:ext>
            </a:extLst>
          </p:cNvPr>
          <p:cNvSpPr txBox="1"/>
          <p:nvPr/>
        </p:nvSpPr>
        <p:spPr>
          <a:xfrm>
            <a:off x="952500" y="2311400"/>
            <a:ext cx="10287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en-US" sz="1500" dirty="0">
                <a:solidFill>
                  <a:srgbClr val="110057"/>
                </a:solidFill>
                <a:latin typeface="Arial"/>
                <a:cs typeface="Arial"/>
              </a:rPr>
              <a:t>Published case definitions for hypercapnic respiratory failure identify </a:t>
            </a:r>
            <a:r>
              <a:rPr lang="en-US" sz="1500" b="1" dirty="0">
                <a:solidFill>
                  <a:srgbClr val="4A00E2"/>
                </a:solidFill>
                <a:latin typeface="Arial"/>
                <a:cs typeface="Arial"/>
              </a:rPr>
              <a:t>meaningfully different cohorts</a:t>
            </a:r>
            <a:r>
              <a:rPr lang="en-US" sz="1500" dirty="0">
                <a:solidFill>
                  <a:srgbClr val="110057"/>
                </a:solidFill>
                <a:latin typeface="Arial"/>
                <a:cs typeface="Arial"/>
              </a:rPr>
              <a:t>, limiting literature synthesis and agreement on who should be studied or counted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47EA317-F3A1-A64C-A4C8-9B7FCF01E4A4}"/>
              </a:ext>
            </a:extLst>
          </p:cNvPr>
          <p:cNvSpPr/>
          <p:nvPr/>
        </p:nvSpPr>
        <p:spPr>
          <a:xfrm>
            <a:off x="762000" y="3022600"/>
            <a:ext cx="5232400" cy="2971800"/>
          </a:xfrm>
          <a:prstGeom prst="roundRect">
            <a:avLst/>
          </a:prstGeom>
          <a:solidFill>
            <a:srgbClr val="F3F0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F7DB52-34E7-504A-91FC-5208C0AAA90D}"/>
              </a:ext>
            </a:extLst>
          </p:cNvPr>
          <p:cNvSpPr txBox="1"/>
          <p:nvPr/>
        </p:nvSpPr>
        <p:spPr>
          <a:xfrm>
            <a:off x="914400" y="3124200"/>
            <a:ext cx="49276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110057"/>
                </a:solidFill>
                <a:latin typeface="Arial"/>
                <a:cs typeface="Arial"/>
              </a:rPr>
              <a:t>Agreement Between Definitions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B12501-D79A-8945-A961-DEF66579F4AC}"/>
              </a:ext>
            </a:extLst>
          </p:cNvPr>
          <p:cNvSpPr txBox="1"/>
          <p:nvPr/>
        </p:nvSpPr>
        <p:spPr>
          <a:xfrm>
            <a:off x="914400" y="3378200"/>
            <a:ext cx="49276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55555"/>
                </a:solidFill>
                <a:latin typeface="Arial"/>
                <a:cs typeface="Arial"/>
              </a:rPr>
              <a:t>Pairwise Cohen's κ across six definitions — agreement ranges from slight to moderate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139BC5F-865F-F04E-AC8C-B3EC74CC5326}"/>
              </a:ext>
            </a:extLst>
          </p:cNvPr>
          <p:cNvSpPr/>
          <p:nvPr/>
        </p:nvSpPr>
        <p:spPr>
          <a:xfrm>
            <a:off x="6197600" y="3022600"/>
            <a:ext cx="5232400" cy="2971800"/>
          </a:xfrm>
          <a:prstGeom prst="roundRect">
            <a:avLst/>
          </a:prstGeom>
          <a:solidFill>
            <a:srgbClr val="F3F0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52D696-EDB4-8F46-BB26-DCDE67A5F4C5}"/>
              </a:ext>
            </a:extLst>
          </p:cNvPr>
          <p:cNvSpPr txBox="1"/>
          <p:nvPr/>
        </p:nvSpPr>
        <p:spPr>
          <a:xfrm>
            <a:off x="6350000" y="3124200"/>
            <a:ext cx="49276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110057"/>
                </a:solidFill>
                <a:latin typeface="Arial"/>
                <a:cs typeface="Arial"/>
              </a:rPr>
              <a:t>Companion: Diagnostic Model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D5F53E-76B2-0149-9DB7-9CE2FD8FF4D5}"/>
              </a:ext>
            </a:extLst>
          </p:cNvPr>
          <p:cNvSpPr txBox="1"/>
          <p:nvPr/>
        </p:nvSpPr>
        <p:spPr>
          <a:xfrm>
            <a:off x="6350000" y="3378200"/>
            <a:ext cx="49276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en-US" sz="1100" dirty="0">
                <a:solidFill>
                  <a:srgbClr val="555555"/>
                </a:solidFill>
                <a:latin typeface="Arial"/>
                <a:cs typeface="Arial"/>
              </a:rPr>
              <a:t>Random forest predictions, ROC, &amp; calibration for ML identification of unrecognized hypercapnia (Locke et al. LNAI 2024)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0438F3-8D04-5148-A456-04E23A055CC1}"/>
              </a:ext>
            </a:extLst>
          </p:cNvPr>
          <p:cNvSpPr/>
          <p:nvPr/>
        </p:nvSpPr>
        <p:spPr>
          <a:xfrm>
            <a:off x="762000" y="6096000"/>
            <a:ext cx="10668000" cy="19050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EE4025-177F-F546-8044-BEC7D2E99FE6}"/>
              </a:ext>
            </a:extLst>
          </p:cNvPr>
          <p:cNvSpPr txBox="1"/>
          <p:nvPr/>
        </p:nvSpPr>
        <p:spPr>
          <a:xfrm>
            <a:off x="762000" y="6172200"/>
            <a:ext cx="10668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4A00E2"/>
                </a:solidFill>
                <a:latin typeface="Arial"/>
                <a:cs typeface="Arial"/>
              </a:rPr>
              <a:t>So what are we doing about it?  </a:t>
            </a:r>
            <a:r>
              <a:rPr lang="en-US" sz="1500" dirty="0">
                <a:solidFill>
                  <a:srgbClr val="110057"/>
                </a:solidFill>
                <a:latin typeface="Arial"/>
                <a:cs typeface="Arial"/>
              </a:rPr>
              <a:t>A new clinic + funded research to quantify practice patterns at Intermountain </a:t>
            </a:r>
            <a:r>
              <a:rPr lang="en-US" sz="1500" dirty="0">
                <a:solidFill>
                  <a:srgbClr val="4A00E2"/>
                </a:solidFill>
                <a:latin typeface="Arial"/>
                <a:cs typeface="Arial"/>
              </a:rPr>
              <a:t>→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59C04AD-6880-9F25-FCD7-C730A9FC8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54" y="3835400"/>
            <a:ext cx="2619291" cy="2057400"/>
          </a:xfrm>
          <a:prstGeom prst="rect">
            <a:avLst/>
          </a:prstGeom>
        </p:spPr>
      </p:pic>
      <p:pic>
        <p:nvPicPr>
          <p:cNvPr id="30" name="RF Predictions"/>
          <p:cNvPicPr>
            <a:picLocks noChangeAspect="1"/>
          </p:cNvPicPr>
          <p:nvPr/>
        </p:nvPicPr>
        <p:blipFill>
          <a:blip r:embed="rId3"/>
          <a:srcRect l="50000" t="7000" b="67000"/>
          <a:stretch>
            <a:fillRect/>
          </a:stretch>
        </p:blipFill>
        <p:spPr>
          <a:xfrm>
            <a:off x="6324600" y="4597400"/>
            <a:ext cx="1600200" cy="1200150"/>
          </a:xfrm>
          <a:prstGeom prst="rect">
            <a:avLst/>
          </a:prstGeom>
        </p:spPr>
      </p:pic>
      <p:pic>
        <p:nvPicPr>
          <p:cNvPr id="31" name="RF Discrimination"/>
          <p:cNvPicPr>
            <a:picLocks noChangeAspect="1"/>
          </p:cNvPicPr>
          <p:nvPr/>
        </p:nvPicPr>
        <p:blipFill>
          <a:blip r:embed="rId3"/>
          <a:srcRect l="50000" t="33000" b="40000"/>
          <a:stretch>
            <a:fillRect/>
          </a:stretch>
        </p:blipFill>
        <p:spPr>
          <a:xfrm>
            <a:off x="8001000" y="4546600"/>
            <a:ext cx="1600200" cy="1248640"/>
          </a:xfrm>
          <a:prstGeom prst="rect">
            <a:avLst/>
          </a:prstGeom>
        </p:spPr>
      </p:pic>
      <p:pic>
        <p:nvPicPr>
          <p:cNvPr id="32" name="RF Calibration"/>
          <p:cNvPicPr>
            <a:picLocks noChangeAspect="1"/>
          </p:cNvPicPr>
          <p:nvPr/>
        </p:nvPicPr>
        <p:blipFill>
          <a:blip r:embed="rId3"/>
          <a:srcRect l="50000" t="61000" b="16000"/>
          <a:stretch>
            <a:fillRect/>
          </a:stretch>
        </p:blipFill>
        <p:spPr>
          <a:xfrm>
            <a:off x="9677400" y="4635500"/>
            <a:ext cx="16002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161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207EE28-7687-BB42-B56A-B7DF4636A01C}"/>
              </a:ext>
            </a:extLst>
          </p:cNvPr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24CDB2-AD36-CB47-8D37-75AB2DB57ECD}"/>
              </a:ext>
            </a:extLst>
          </p:cNvPr>
          <p:cNvSpPr txBox="1"/>
          <p:nvPr/>
        </p:nvSpPr>
        <p:spPr>
          <a:xfrm>
            <a:off x="762000" y="254000"/>
            <a:ext cx="635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6B5B8A"/>
                </a:solidFill>
                <a:latin typeface="Arial"/>
                <a:cs typeface="Arial"/>
              </a:rPr>
              <a:t>Chronic Respiratory Failure Clinic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D432E-07DD-E84A-9BE1-B0E3254889CD}"/>
              </a:ext>
            </a:extLst>
          </p:cNvPr>
          <p:cNvSpPr txBox="1"/>
          <p:nvPr/>
        </p:nvSpPr>
        <p:spPr>
          <a:xfrm>
            <a:off x="762000" y="558800"/>
            <a:ext cx="1066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110057"/>
                </a:solidFill>
                <a:latin typeface="Arial"/>
                <a:cs typeface="Arial"/>
              </a:rPr>
              <a:t>A new clinic to simplify care and generate evidence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1033A4-4D63-7B46-92B6-D373486466AE}"/>
              </a:ext>
            </a:extLst>
          </p:cNvPr>
          <p:cNvSpPr txBox="1"/>
          <p:nvPr/>
        </p:nvSpPr>
        <p:spPr>
          <a:xfrm>
            <a:off x="762000" y="1041400"/>
            <a:ext cx="1066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6B5B8A"/>
                </a:solidFill>
                <a:latin typeface="Arial"/>
                <a:cs typeface="Arial"/>
              </a:rPr>
              <a:t>Schmidt Chest Clinic at IMED  |  New subspecialty clinic  |  Pulmonary disease navigators + dedicated providers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90EA9FD-A49A-5B48-885D-F2952EBF03C4}"/>
              </a:ext>
            </a:extLst>
          </p:cNvPr>
          <p:cNvSpPr/>
          <p:nvPr/>
        </p:nvSpPr>
        <p:spPr>
          <a:xfrm>
            <a:off x="1841500" y="1714500"/>
            <a:ext cx="1524000" cy="1524000"/>
          </a:xfrm>
          <a:prstGeom prst="ellipse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Arial"/>
                <a:cs typeface="Arial"/>
              </a:rPr>
              <a:t>Identify</a:t>
            </a:r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34982F1C-CFF3-3549-A75E-5DB1B2DD22A0}"/>
              </a:ext>
            </a:extLst>
          </p:cNvPr>
          <p:cNvSpPr/>
          <p:nvPr/>
        </p:nvSpPr>
        <p:spPr>
          <a:xfrm>
            <a:off x="3467100" y="2311400"/>
            <a:ext cx="1701800" cy="330200"/>
          </a:xfrm>
          <a:prstGeom prst="rightArrow">
            <a:avLst/>
          </a:prstGeom>
          <a:solidFill>
            <a:srgbClr val="D4C8E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F58A40-A8D6-614E-A89E-E08B4A8D777E}"/>
              </a:ext>
            </a:extLst>
          </p:cNvPr>
          <p:cNvSpPr txBox="1"/>
          <p:nvPr/>
        </p:nvSpPr>
        <p:spPr>
          <a:xfrm>
            <a:off x="1397000" y="3365500"/>
            <a:ext cx="2413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Word of mouth and inpatient RT today; criteria-based as evidence develops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245083A-9DD4-CD43-B799-C724AC750C33}"/>
              </a:ext>
            </a:extLst>
          </p:cNvPr>
          <p:cNvSpPr/>
          <p:nvPr/>
        </p:nvSpPr>
        <p:spPr>
          <a:xfrm>
            <a:off x="5270500" y="1714500"/>
            <a:ext cx="1524000" cy="1524000"/>
          </a:xfrm>
          <a:prstGeom prst="ellipse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Arial"/>
                <a:cs typeface="Arial"/>
              </a:rPr>
              <a:t>Navigate</a:t>
            </a: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16A9B17F-38C9-DF43-A710-22F39450465E}"/>
              </a:ext>
            </a:extLst>
          </p:cNvPr>
          <p:cNvSpPr/>
          <p:nvPr/>
        </p:nvSpPr>
        <p:spPr>
          <a:xfrm>
            <a:off x="6896100" y="2311400"/>
            <a:ext cx="1701800" cy="330200"/>
          </a:xfrm>
          <a:prstGeom prst="rightArrow">
            <a:avLst/>
          </a:prstGeom>
          <a:solidFill>
            <a:srgbClr val="D4C8E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96A741-48F7-8140-B78F-334F2211FA80}"/>
              </a:ext>
            </a:extLst>
          </p:cNvPr>
          <p:cNvSpPr txBox="1"/>
          <p:nvPr/>
        </p:nvSpPr>
        <p:spPr>
          <a:xfrm>
            <a:off x="4826000" y="3365500"/>
            <a:ext cx="2413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PDNs, Dr. Locke, and G. Norton handle equipment, triage, and referrals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D8B5CD0-3B6C-8540-ACD0-DE8E18832C77}"/>
              </a:ext>
            </a:extLst>
          </p:cNvPr>
          <p:cNvSpPr/>
          <p:nvPr/>
        </p:nvSpPr>
        <p:spPr>
          <a:xfrm>
            <a:off x="8699500" y="1714500"/>
            <a:ext cx="1524000" cy="1524000"/>
          </a:xfrm>
          <a:prstGeom prst="ellipse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Arial"/>
                <a:cs typeface="Arial"/>
              </a:rPr>
              <a:t>Evaluate
&amp; Manage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14E0C2-5720-2447-B2A4-D1BBC8C837E8}"/>
              </a:ext>
            </a:extLst>
          </p:cNvPr>
          <p:cNvSpPr txBox="1"/>
          <p:nvPr/>
        </p:nvSpPr>
        <p:spPr>
          <a:xfrm>
            <a:off x="8255000" y="3365500"/>
            <a:ext cx="2413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Structured workup with a clear point of contact for post-discharge issues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2A8E77-4F92-344A-8A27-61F9E52E1AEB}"/>
              </a:ext>
            </a:extLst>
          </p:cNvPr>
          <p:cNvSpPr/>
          <p:nvPr/>
        </p:nvSpPr>
        <p:spPr>
          <a:xfrm>
            <a:off x="762000" y="4699000"/>
            <a:ext cx="10668000" cy="19050"/>
          </a:xfrm>
          <a:prstGeom prst="rect">
            <a:avLst/>
          </a:prstGeom>
          <a:solidFill>
            <a:srgbClr val="D4C8E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713583-D8BA-E345-A059-624E6769CD6E}"/>
              </a:ext>
            </a:extLst>
          </p:cNvPr>
          <p:cNvSpPr txBox="1"/>
          <p:nvPr/>
        </p:nvSpPr>
        <p:spPr>
          <a:xfrm>
            <a:off x="762000" y="4826000"/>
            <a:ext cx="10668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4A3D6B"/>
                </a:solidFill>
                <a:latin typeface="Arial"/>
                <a:cs typeface="Arial"/>
              </a:rPr>
              <a:t>Consolidates scattered care — including post-discharge device qualification that currently has no clear ownership pathway</a:t>
            </a:r>
          </a:p>
          <a:p>
            <a:pPr algn="l">
              <a:buNone/>
            </a:pPr>
            <a:r>
              <a:rPr lang="en-US" sz="1400" dirty="0">
                <a:solidFill>
                  <a:srgbClr val="6B5B8A"/>
                </a:solidFill>
                <a:latin typeface="Arial"/>
                <a:cs typeface="Arial"/>
              </a:rPr>
              <a:t>Payer-linked data lets us measure whether it works and what it costs</a:t>
            </a:r>
          </a:p>
        </p:txBody>
      </p:sp>
    </p:spTree>
    <p:extLst>
      <p:ext uri="{BB962C8B-B14F-4D97-AF65-F5344CB8AC3E}">
        <p14:creationId xmlns:p14="http://schemas.microsoft.com/office/powerpoint/2010/main" val="1338410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25D41C3-0AB3-2540-8871-287B11E54351}"/>
              </a:ext>
            </a:extLst>
          </p:cNvPr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E37E7F6-D6BD-DA49-9103-38D87A94C0B5}"/>
              </a:ext>
            </a:extLst>
          </p:cNvPr>
          <p:cNvSpPr/>
          <p:nvPr/>
        </p:nvSpPr>
        <p:spPr>
          <a:xfrm>
            <a:off x="558800" y="1270000"/>
            <a:ext cx="11074400" cy="3581400"/>
          </a:xfrm>
          <a:prstGeom prst="roundRect">
            <a:avLst/>
          </a:prstGeom>
          <a:noFill/>
          <a:ln w="12700" cap="flat" cmpd="sng" algn="ctr">
            <a:solidFill>
              <a:srgbClr val="C4B5D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069D41-D49C-D94B-B262-CE9030CB4764}"/>
              </a:ext>
            </a:extLst>
          </p:cNvPr>
          <p:cNvSpPr txBox="1"/>
          <p:nvPr/>
        </p:nvSpPr>
        <p:spPr>
          <a:xfrm>
            <a:off x="762000" y="2794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6B5B8A"/>
                </a:solidFill>
                <a:latin typeface="Arial"/>
                <a:cs typeface="Arial"/>
              </a:rPr>
              <a:t>PCCM Seed Grant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B1F9B3-69FD-C04B-9FAE-FC9F08A0221E}"/>
              </a:ext>
            </a:extLst>
          </p:cNvPr>
          <p:cNvSpPr txBox="1"/>
          <p:nvPr/>
        </p:nvSpPr>
        <p:spPr>
          <a:xfrm>
            <a:off x="762000" y="609600"/>
            <a:ext cx="889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 dirty="0">
                <a:solidFill>
                  <a:srgbClr val="110057"/>
                </a:solidFill>
                <a:latin typeface="Arial"/>
              </a:rPr>
              <a:t>Two research programs, one grant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95BB98-7070-164E-A985-BCEF631B138B}"/>
              </a:ext>
            </a:extLst>
          </p:cNvPr>
          <p:cNvSpPr txBox="1"/>
          <p:nvPr/>
        </p:nvSpPr>
        <p:spPr>
          <a:xfrm>
            <a:off x="635000" y="5359400"/>
            <a:ext cx="1092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Both programs build toward NHLBI K23 career development award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0C72CD6-7030-5241-9DBC-A9B10D5F6DEE}"/>
              </a:ext>
            </a:extLst>
          </p:cNvPr>
          <p:cNvSpPr/>
          <p:nvPr/>
        </p:nvSpPr>
        <p:spPr>
          <a:xfrm>
            <a:off x="736600" y="1447800"/>
            <a:ext cx="5207000" cy="3327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4C8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34CCA2-C349-094A-9FBE-F92E7F599427}"/>
              </a:ext>
            </a:extLst>
          </p:cNvPr>
          <p:cNvSpPr/>
          <p:nvPr/>
        </p:nvSpPr>
        <p:spPr>
          <a:xfrm>
            <a:off x="736600" y="1447800"/>
            <a:ext cx="5207000" cy="635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25C513-9F8E-AC4E-BABC-80F0D01644A7}"/>
              </a:ext>
            </a:extLst>
          </p:cNvPr>
          <p:cNvSpPr txBox="1"/>
          <p:nvPr/>
        </p:nvSpPr>
        <p:spPr>
          <a:xfrm>
            <a:off x="889000" y="1625600"/>
            <a:ext cx="4902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110057"/>
                </a:solidFill>
                <a:latin typeface="Arial"/>
              </a:rPr>
              <a:t>AIM-HIGH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380F3-0F60-7C47-8162-1877171BBE3B}"/>
              </a:ext>
            </a:extLst>
          </p:cNvPr>
          <p:cNvSpPr txBox="1"/>
          <p:nvPr/>
        </p:nvSpPr>
        <p:spPr>
          <a:xfrm>
            <a:off x="889000" y="2006600"/>
            <a:ext cx="49022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 dirty="0">
                <a:solidFill>
                  <a:srgbClr val="6B5B8A"/>
                </a:solidFill>
                <a:latin typeface="Arial"/>
                <a:cs typeface="Arial"/>
              </a:rPr>
              <a:t>AI for Modifiable Health Indicators in Groups with High Needs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DFFE2E-912B-D048-AF4C-8EDF5E29D232}"/>
              </a:ext>
            </a:extLst>
          </p:cNvPr>
          <p:cNvSpPr txBox="1"/>
          <p:nvPr/>
        </p:nvSpPr>
        <p:spPr>
          <a:xfrm>
            <a:off x="889000" y="2540000"/>
            <a:ext cx="4902200" cy="178510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Data:</a:t>
            </a: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  IH + Select Health linked clinical and claims records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~7,000 cases by ABG/VBG/ICD (2016–2024)</a:t>
            </a:r>
          </a:p>
          <a:p>
            <a:pPr marL="0" indent="0" algn="l">
              <a:buNone/>
            </a:pPr>
            <a:endParaRPr lang="en-US" sz="600" dirty="0">
              <a:latin typeface="Arial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Goals:</a:t>
            </a: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  Risk prediction, economics, ML phenotyping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30-day readmission, 1-yr mortality, cost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High-risk phenotypes for targeted intervention</a:t>
            </a:r>
          </a:p>
          <a:p>
            <a:pPr marL="0" indent="0" algn="l">
              <a:buNone/>
            </a:pPr>
            <a:endParaRPr lang="en-US" sz="600" dirty="0">
              <a:latin typeface="Arial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Status:</a:t>
            </a: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  Data cleaning underway; IH–SH linkage being escalated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FEF60B-B79A-EC46-9BA2-D7F5AA8810A4}"/>
              </a:ext>
            </a:extLst>
          </p:cNvPr>
          <p:cNvSpPr/>
          <p:nvPr/>
        </p:nvSpPr>
        <p:spPr>
          <a:xfrm>
            <a:off x="889000" y="4381500"/>
            <a:ext cx="4902200" cy="304800"/>
          </a:xfrm>
          <a:prstGeom prst="roundRect">
            <a:avLst/>
          </a:prstGeom>
          <a:solidFill>
            <a:srgbClr val="1100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/>
                <a:cs typeface="Arial"/>
              </a:rPr>
              <a:t>DATA CLEANING • LINKAGE IN PROGRESS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6B0CE91-B154-C04A-BE1E-35ADB7C7D2A3}"/>
              </a:ext>
            </a:extLst>
          </p:cNvPr>
          <p:cNvSpPr/>
          <p:nvPr/>
        </p:nvSpPr>
        <p:spPr>
          <a:xfrm>
            <a:off x="6248400" y="1447800"/>
            <a:ext cx="5207000" cy="3327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4C8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D3CB93-1981-F645-A843-9B31CA468A26}"/>
              </a:ext>
            </a:extLst>
          </p:cNvPr>
          <p:cNvSpPr/>
          <p:nvPr/>
        </p:nvSpPr>
        <p:spPr>
          <a:xfrm>
            <a:off x="6248400" y="1447800"/>
            <a:ext cx="5207000" cy="635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40C1CE-8961-9642-A9A4-9E51D7CF3A7F}"/>
              </a:ext>
            </a:extLst>
          </p:cNvPr>
          <p:cNvSpPr txBox="1"/>
          <p:nvPr/>
        </p:nvSpPr>
        <p:spPr>
          <a:xfrm>
            <a:off x="6400800" y="1625600"/>
            <a:ext cx="4902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110057"/>
                </a:solidFill>
                <a:latin typeface="Arial"/>
              </a:rPr>
              <a:t>CO₂-PATH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D5A198-DD8C-414E-88EB-3CB087DE6A3F}"/>
              </a:ext>
            </a:extLst>
          </p:cNvPr>
          <p:cNvSpPr txBox="1"/>
          <p:nvPr/>
        </p:nvSpPr>
        <p:spPr>
          <a:xfrm>
            <a:off x="6400800" y="2006600"/>
            <a:ext cx="49022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 dirty="0">
                <a:solidFill>
                  <a:srgbClr val="6B5B8A"/>
                </a:solidFill>
                <a:latin typeface="Arial"/>
                <a:cs typeface="Arial"/>
              </a:rPr>
              <a:t>Post-Acute Trajectories of Hypercapnia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98DE3C-125A-8141-9ED8-E06394F295F6}"/>
              </a:ext>
            </a:extLst>
          </p:cNvPr>
          <p:cNvSpPr txBox="1"/>
          <p:nvPr/>
        </p:nvSpPr>
        <p:spPr>
          <a:xfrm>
            <a:off x="6400800" y="2540000"/>
            <a:ext cx="4902200" cy="156966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Data:</a:t>
            </a: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  Statewide UPDB cohort linking IH + UHealth EDWs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~100K patients across all Utah hospitals</a:t>
            </a:r>
          </a:p>
          <a:p>
            <a:pPr marL="0" indent="0" algn="l">
              <a:buNone/>
            </a:pPr>
            <a:endParaRPr lang="en-US" sz="600" dirty="0">
              <a:latin typeface="Arial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Goals:</a:t>
            </a: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  Post-discharge patterns across facilities</a:t>
            </a:r>
          </a:p>
          <a:p>
            <a:pPr marL="171450" indent="-171450" algn="l">
              <a:buFont typeface="Arial"/>
              <a:buChar char="•"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Diagnostic testing rates and facility-level variation</a:t>
            </a:r>
          </a:p>
          <a:p>
            <a:pPr marL="0" indent="0" algn="l">
              <a:buNone/>
            </a:pPr>
            <a:endParaRPr lang="en-US" sz="600" dirty="0">
              <a:latin typeface="Arial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Status:</a:t>
            </a: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  Regulatory authorization complete; data acquisition underway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8510118-4CA1-894C-9EB9-CCD2FA399A72}"/>
              </a:ext>
            </a:extLst>
          </p:cNvPr>
          <p:cNvSpPr/>
          <p:nvPr/>
        </p:nvSpPr>
        <p:spPr>
          <a:xfrm>
            <a:off x="6400800" y="4381500"/>
            <a:ext cx="4902200" cy="304800"/>
          </a:xfrm>
          <a:prstGeom prst="roundRect">
            <a:avLst/>
          </a:prstGeom>
          <a:solidFill>
            <a:srgbClr val="1100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/>
                <a:cs typeface="Arial"/>
              </a:rPr>
              <a:t>IRB APPROVED • BEGINNING DATA ACQUISITION</a:t>
            </a:r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73149C38-C04C-8E4E-8379-57F3BA9F8876}"/>
              </a:ext>
            </a:extLst>
          </p:cNvPr>
          <p:cNvSpPr/>
          <p:nvPr/>
        </p:nvSpPr>
        <p:spPr>
          <a:xfrm>
            <a:off x="5842000" y="5016500"/>
            <a:ext cx="508000" cy="279400"/>
          </a:xfrm>
          <a:prstGeom prst="downArrow">
            <a:avLst/>
          </a:prstGeom>
          <a:solidFill>
            <a:srgbClr val="1100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70FC46-62A3-7349-B231-6D4C1D64AE82}"/>
              </a:ext>
            </a:extLst>
          </p:cNvPr>
          <p:cNvSpPr txBox="1"/>
          <p:nvPr/>
        </p:nvSpPr>
        <p:spPr>
          <a:xfrm>
            <a:off x="3937000" y="1117600"/>
            <a:ext cx="4318000" cy="304800"/>
          </a:xfrm>
          <a:prstGeom prst="rect">
            <a:avLst/>
          </a:prstGeom>
          <a:solidFill>
            <a:srgbClr val="F7F5F9"/>
          </a:solidFill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FUND-Hypercapnia  •  2024–2027</a:t>
            </a:r>
          </a:p>
        </p:txBody>
      </p:sp>
    </p:spTree>
    <p:extLst>
      <p:ext uri="{BB962C8B-B14F-4D97-AF65-F5344CB8AC3E}">
        <p14:creationId xmlns:p14="http://schemas.microsoft.com/office/powerpoint/2010/main" val="1467352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86B9790-15EB-8E44-A609-2C856AFD906F}"/>
              </a:ext>
            </a:extLst>
          </p:cNvPr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E30769-783F-B848-B7E9-CCA1F4B54920}"/>
              </a:ext>
            </a:extLst>
          </p:cNvPr>
          <p:cNvSpPr txBox="1"/>
          <p:nvPr/>
        </p:nvSpPr>
        <p:spPr>
          <a:xfrm>
            <a:off x="762000" y="254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4A00E2"/>
                </a:solidFill>
                <a:latin typeface="Arial"/>
                <a:cs typeface="Arial"/>
              </a:rPr>
              <a:t>LOOKING AHEAD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23366D-42BA-4140-A4AB-AB13595B08F2}"/>
              </a:ext>
            </a:extLst>
          </p:cNvPr>
          <p:cNvSpPr txBox="1"/>
          <p:nvPr/>
        </p:nvSpPr>
        <p:spPr>
          <a:xfrm>
            <a:off x="762000" y="558800"/>
            <a:ext cx="889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10057"/>
                </a:solidFill>
                <a:latin typeface="Arial"/>
                <a:cs typeface="Arial"/>
              </a:rPr>
              <a:t>Research trajectory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979418-871E-F14C-8C5A-7EC458E61CD2}"/>
              </a:ext>
            </a:extLst>
          </p:cNvPr>
          <p:cNvSpPr/>
          <p:nvPr/>
        </p:nvSpPr>
        <p:spPr>
          <a:xfrm>
            <a:off x="762000" y="1143000"/>
            <a:ext cx="1524000" cy="381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17BB45C-614C-F84A-8ADC-C4A29E1B8B09}"/>
              </a:ext>
            </a:extLst>
          </p:cNvPr>
          <p:cNvSpPr/>
          <p:nvPr/>
        </p:nvSpPr>
        <p:spPr>
          <a:xfrm>
            <a:off x="584200" y="1397000"/>
            <a:ext cx="3632200" cy="3429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E0E0E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EDD40A-DF31-4A4E-8E1F-24AC0CA70270}"/>
              </a:ext>
            </a:extLst>
          </p:cNvPr>
          <p:cNvSpPr/>
          <p:nvPr/>
        </p:nvSpPr>
        <p:spPr>
          <a:xfrm>
            <a:off x="584200" y="1397000"/>
            <a:ext cx="3632200" cy="762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829851-56CE-F743-8EAB-E048369E3BBB}"/>
              </a:ext>
            </a:extLst>
          </p:cNvPr>
          <p:cNvSpPr txBox="1"/>
          <p:nvPr/>
        </p:nvSpPr>
        <p:spPr>
          <a:xfrm>
            <a:off x="736600" y="1549400"/>
            <a:ext cx="3327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800" b="1" dirty="0">
                <a:solidFill>
                  <a:srgbClr val="4A00E2"/>
                </a:solidFill>
                <a:latin typeface="Arial"/>
                <a:cs typeface="Arial"/>
              </a:rPr>
              <a:t>Now (through 2026)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54F8CEF-C04E-F844-BDAA-207B13EB8E6C}"/>
              </a:ext>
            </a:extLst>
          </p:cNvPr>
          <p:cNvSpPr/>
          <p:nvPr/>
        </p:nvSpPr>
        <p:spPr>
          <a:xfrm>
            <a:off x="4483100" y="1397000"/>
            <a:ext cx="3632200" cy="3429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E0E0E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6CF8CF-66D1-754E-83E9-24D3B027712D}"/>
              </a:ext>
            </a:extLst>
          </p:cNvPr>
          <p:cNvSpPr/>
          <p:nvPr/>
        </p:nvSpPr>
        <p:spPr>
          <a:xfrm>
            <a:off x="4483100" y="1397000"/>
            <a:ext cx="3632200" cy="76200"/>
          </a:xfrm>
          <a:prstGeom prst="rect">
            <a:avLst/>
          </a:prstGeom>
          <a:solidFill>
            <a:srgbClr val="FF00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2B755A-E642-F94B-A6BE-F633B0673477}"/>
              </a:ext>
            </a:extLst>
          </p:cNvPr>
          <p:cNvSpPr txBox="1"/>
          <p:nvPr/>
        </p:nvSpPr>
        <p:spPr>
          <a:xfrm>
            <a:off x="4635500" y="1549400"/>
            <a:ext cx="3327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800" b="1" dirty="0">
                <a:solidFill>
                  <a:srgbClr val="FF0044"/>
                </a:solidFill>
                <a:latin typeface="Arial"/>
                <a:cs typeface="Arial"/>
              </a:rPr>
              <a:t>K23 (2026–2031)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ABD8C7A-1204-5740-AA67-318AFCEEF007}"/>
              </a:ext>
            </a:extLst>
          </p:cNvPr>
          <p:cNvSpPr/>
          <p:nvPr/>
        </p:nvSpPr>
        <p:spPr>
          <a:xfrm>
            <a:off x="8382000" y="1397000"/>
            <a:ext cx="3632200" cy="3429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E0E0E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2AA7BD-9D32-8444-9E1B-24AD138BFBF4}"/>
              </a:ext>
            </a:extLst>
          </p:cNvPr>
          <p:cNvSpPr/>
          <p:nvPr/>
        </p:nvSpPr>
        <p:spPr>
          <a:xfrm>
            <a:off x="8382000" y="1397000"/>
            <a:ext cx="3632200" cy="76200"/>
          </a:xfrm>
          <a:prstGeom prst="rect">
            <a:avLst/>
          </a:prstGeom>
          <a:solidFill>
            <a:srgbClr val="6B5B8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25CD48-5281-7E44-84AE-D9E0F3770444}"/>
              </a:ext>
            </a:extLst>
          </p:cNvPr>
          <p:cNvSpPr txBox="1"/>
          <p:nvPr/>
        </p:nvSpPr>
        <p:spPr>
          <a:xfrm>
            <a:off x="8534400" y="1549400"/>
            <a:ext cx="3327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800" b="1" dirty="0">
                <a:solidFill>
                  <a:srgbClr val="6B5B8A"/>
                </a:solidFill>
                <a:latin typeface="Arial"/>
                <a:cs typeface="Arial"/>
              </a:rPr>
              <a:t>Building toward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A6BE10-7887-2047-AAC3-100CCDB42688}"/>
              </a:ext>
            </a:extLst>
          </p:cNvPr>
          <p:cNvSpPr txBox="1"/>
          <p:nvPr/>
        </p:nvSpPr>
        <p:spPr>
          <a:xfrm>
            <a:off x="736600" y="2006600"/>
            <a:ext cx="3327400" cy="191847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AIM-HIGH: risk prediction &amp; ML phenotyping (IH–SelectHealth data)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CO₂-PATH: post-discharge trajectories (UPDB)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Continued TriNetX prototyping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IMED clinic as intervention &amp; enrollment platform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K23 resubmission preparation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54386F-5052-4548-9491-61703EB10732}"/>
              </a:ext>
            </a:extLst>
          </p:cNvPr>
          <p:cNvSpPr txBox="1"/>
          <p:nvPr/>
        </p:nvSpPr>
        <p:spPr>
          <a:xfrm>
            <a:off x="4635500" y="2006600"/>
            <a:ext cx="3327400" cy="202106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400" i="1" dirty="0">
                <a:solidFill>
                  <a:srgbClr val="4A3D6B"/>
                </a:solidFill>
                <a:latin typeface="Arial"/>
                <a:cs typeface="Arial"/>
              </a:rPr>
              <a:t>Research aims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Discharge risk stratification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Post-discharge management variation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Pilot embedded trial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buNone/>
            </a:pPr>
            <a:r>
              <a:rPr lang="en-US" sz="1400" i="1" dirty="0">
                <a:solidFill>
                  <a:srgbClr val="4A3D6B"/>
                </a:solidFill>
                <a:latin typeface="Arial"/>
                <a:cs typeface="Arial"/>
              </a:rPr>
              <a:t>Learning objectives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Multi-source outcomes ascertainment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Practice variation analysis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Embedded trial design &amp; execution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D546A7-D9F4-9149-8A9C-936C0C10FA87}"/>
              </a:ext>
            </a:extLst>
          </p:cNvPr>
          <p:cNvSpPr txBox="1"/>
          <p:nvPr/>
        </p:nvSpPr>
        <p:spPr>
          <a:xfrm>
            <a:off x="8534400" y="2006600"/>
            <a:ext cx="3327400" cy="232371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Pragmatic trials optimizing post-discharge care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Scalable interventions: referral pathways, workup bundles, tele-pulmonary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GLP-1RA/metabolic therapies: ~60% have indication; effectiveness unknown (non-NIH funding)</a:t>
            </a:r>
          </a:p>
          <a:p>
            <a:pPr algn="l">
              <a:spcBef>
                <a:spcPts val="100"/>
              </a:spcBef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110057"/>
                </a:solidFill>
                <a:latin typeface="Arial"/>
                <a:cs typeface="Arial"/>
              </a:rPr>
              <a:t>Technologist &amp; methodologist advancing care-transition 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963216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800D1E-D709-CB43-A3F4-A9C7B269BDBB}"/>
              </a:ext>
            </a:extLst>
          </p:cNvPr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53D0738-529D-E98F-A328-9465AD6D8C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96500" y="2286000"/>
            <a:ext cx="1016000" cy="457200"/>
          </a:xfrm>
          <a:prstGeom prst="rect">
            <a:avLst/>
          </a:prstGeom>
        </p:spPr>
      </p:pic>
      <p:pic>
        <p:nvPicPr>
          <p:cNvPr id="7" name="Picture 10" descr="Anastasia Prokofyeva">
            <a:extLst>
              <a:ext uri="{FF2B5EF4-FFF2-40B4-BE49-F238E27FC236}">
                <a16:creationId xmlns:a16="http://schemas.microsoft.com/office/drawing/2014/main" id="{6C6C6B13-3EC7-9100-7226-AF03284ACE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60000" y="3403600"/>
            <a:ext cx="8890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0" descr="Anastasia Prokofyeva">
            <a:extLst>
              <a:ext uri="{FF2B5EF4-FFF2-40B4-BE49-F238E27FC236}">
                <a16:creationId xmlns:a16="http://schemas.microsoft.com/office/drawing/2014/main" id="{FA048BE3-D6A5-BB07-AC3E-2E917A9C8A5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60000" y="3759200"/>
            <a:ext cx="8890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A91F544-55D8-60B3-45B1-108ED04153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0" y="2857500"/>
            <a:ext cx="889000" cy="4191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5FC9FB-E8E7-6856-DBFA-649CC5ED1E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0000" y="1397000"/>
            <a:ext cx="762000" cy="762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785DC9-B8F8-4C4F-B342-E504D1141BEA}"/>
              </a:ext>
            </a:extLst>
          </p:cNvPr>
          <p:cNvSpPr txBox="1"/>
          <p:nvPr/>
        </p:nvSpPr>
        <p:spPr>
          <a:xfrm>
            <a:off x="762000" y="254000"/>
            <a:ext cx="508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6B5B8A"/>
                </a:solidFill>
                <a:latin typeface="Arial"/>
                <a:cs typeface="Arial"/>
              </a:rPr>
              <a:t>ACKNOWLEDGEMENTS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5835BB-46B0-8D46-8DB1-3B9926EE4455}"/>
              </a:ext>
            </a:extLst>
          </p:cNvPr>
          <p:cNvSpPr txBox="1"/>
          <p:nvPr/>
        </p:nvSpPr>
        <p:spPr>
          <a:xfrm>
            <a:off x="762000" y="584200"/>
            <a:ext cx="7620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 dirty="0">
                <a:solidFill>
                  <a:srgbClr val="110057"/>
                </a:solidFill>
                <a:latin typeface="Arial"/>
                <a:cs typeface="Arial"/>
              </a:rPr>
              <a:t>Thank you  —  Questions?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9C59BC-1AA9-AB4B-B3DC-08CB6F6A5430}"/>
              </a:ext>
            </a:extLst>
          </p:cNvPr>
          <p:cNvSpPr/>
          <p:nvPr/>
        </p:nvSpPr>
        <p:spPr>
          <a:xfrm>
            <a:off x="762000" y="1117600"/>
            <a:ext cx="1524000" cy="381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6A858E-A214-044F-A977-49C66B4FBDD0}"/>
              </a:ext>
            </a:extLst>
          </p:cNvPr>
          <p:cNvSpPr txBox="1"/>
          <p:nvPr/>
        </p:nvSpPr>
        <p:spPr>
          <a:xfrm>
            <a:off x="508000" y="1371600"/>
            <a:ext cx="3937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800" b="1" dirty="0">
                <a:solidFill>
                  <a:srgbClr val="110057"/>
                </a:solidFill>
                <a:latin typeface="Arial"/>
                <a:cs typeface="Arial"/>
              </a:rPr>
              <a:t>Funding &amp;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D2B746-6143-C742-93BA-157DD18EB83F}"/>
              </a:ext>
            </a:extLst>
          </p:cNvPr>
          <p:cNvSpPr txBox="1"/>
          <p:nvPr/>
        </p:nvSpPr>
        <p:spPr>
          <a:xfrm>
            <a:off x="508000" y="1778000"/>
            <a:ext cx="4000500" cy="150810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PCCM Seed Grant</a:t>
            </a: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  (FUND-Hypercapnia)</a:t>
            </a:r>
          </a:p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ATS ASPIRE Fellowship</a:t>
            </a:r>
          </a:p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NIH/NHLBI T32</a:t>
            </a: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  |  </a:t>
            </a: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HCI P30</a:t>
            </a:r>
          </a:p>
          <a:p>
            <a:pPr marL="0" indent="0" algn="l">
              <a:buNone/>
            </a:pPr>
            <a:endParaRPr lang="en-US" sz="800" dirty="0">
              <a:latin typeface="Arial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Data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Utah Population Database (UPDB)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IH – Select Health Claims Linkage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AF0F30-7D7B-BE4D-B845-5DE35D3A948A}"/>
              </a:ext>
            </a:extLst>
          </p:cNvPr>
          <p:cNvSpPr txBox="1"/>
          <p:nvPr/>
        </p:nvSpPr>
        <p:spPr>
          <a:xfrm>
            <a:off x="4826000" y="137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800" b="1" dirty="0">
                <a:solidFill>
                  <a:srgbClr val="110057"/>
                </a:solidFill>
                <a:latin typeface="Arial"/>
                <a:cs typeface="Arial"/>
              </a:rPr>
              <a:t>Team &amp; Supporters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7530EF-D90B-6A4F-8DEC-385009661EAF}"/>
              </a:ext>
            </a:extLst>
          </p:cNvPr>
          <p:cNvSpPr txBox="1"/>
          <p:nvPr/>
        </p:nvSpPr>
        <p:spPr>
          <a:xfrm>
            <a:off x="4826000" y="1778000"/>
            <a:ext cx="4826000" cy="209288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Intermountain Health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I. Peltan, MD MSc  •  S. Brown, MD MSc  •  H. Frost, MD PhD  •  N. Green</a:t>
            </a:r>
          </a:p>
          <a:p>
            <a:pPr marL="0" indent="0" algn="l">
              <a:buNone/>
            </a:pPr>
            <a:endParaRPr lang="en-US" sz="600" dirty="0">
              <a:latin typeface="Arial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Select Health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R. Fowers, PhD  •  D. Hedges, PhD</a:t>
            </a:r>
          </a:p>
          <a:p>
            <a:pPr marL="0" indent="0" algn="l">
              <a:buNone/>
            </a:pPr>
            <a:endParaRPr lang="en-US" sz="600" dirty="0">
              <a:latin typeface="Arial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University of Utah / RGE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R. Gouripeddi, MBBS MSc  •  M. Madsen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B. Jones, MD MSc  •  D. Anderson, MD  •  M. Gibson</a:t>
            </a:r>
          </a:p>
          <a:p>
            <a:pPr marL="0" indent="0" algn="l">
              <a:buNone/>
            </a:pPr>
            <a:endParaRPr lang="en-US" sz="600" dirty="0">
              <a:latin typeface="Arial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110057"/>
                </a:solidFill>
                <a:latin typeface="Arial"/>
                <a:cs typeface="Arial"/>
              </a:rPr>
              <a:t>UC Davis</a:t>
            </a:r>
            <a:r>
              <a:rPr lang="en-US" sz="1400" dirty="0">
                <a:solidFill>
                  <a:srgbClr val="3D2460"/>
                </a:solidFill>
                <a:latin typeface="Arial"/>
                <a:cs typeface="Arial"/>
              </a:rPr>
              <a:t>  —  K. Sundar, MD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FAAB6BD-7199-F546-AB18-A83569332495}"/>
              </a:ext>
            </a:extLst>
          </p:cNvPr>
          <p:cNvSpPr/>
          <p:nvPr/>
        </p:nvSpPr>
        <p:spPr>
          <a:xfrm>
            <a:off x="508000" y="5461000"/>
            <a:ext cx="11176000" cy="635000"/>
          </a:xfrm>
          <a:prstGeom prst="roundRect">
            <a:avLst/>
          </a:prstGeom>
          <a:solidFill>
            <a:srgbClr val="1100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04A053-9E38-4A45-BFA3-8837620C757E}"/>
              </a:ext>
            </a:extLst>
          </p:cNvPr>
          <p:cNvSpPr txBox="1"/>
          <p:nvPr/>
        </p:nvSpPr>
        <p:spPr>
          <a:xfrm>
            <a:off x="698500" y="5609223"/>
            <a:ext cx="10795000" cy="338554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600" dirty="0">
                <a:solidFill>
                  <a:srgbClr val="FFFFFF"/>
                </a:solidFill>
                <a:latin typeface="Arial"/>
                <a:cs typeface="Arial"/>
              </a:rPr>
              <a:t>brian.locke@imail.org  |  Epic: Brian Locke  |  Re: referral &amp; research partnerships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5F6660-A2CA-2646-BD30-7381966A55AB}"/>
              </a:ext>
            </a:extLst>
          </p:cNvPr>
          <p:cNvSpPr/>
          <p:nvPr/>
        </p:nvSpPr>
        <p:spPr>
          <a:xfrm>
            <a:off x="4635500" y="1460500"/>
            <a:ext cx="25400" cy="2794000"/>
          </a:xfrm>
          <a:prstGeom prst="rect">
            <a:avLst/>
          </a:prstGeom>
          <a:solidFill>
            <a:srgbClr val="4A00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509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H Colors">
      <a:dk1>
        <a:srgbClr val="110057"/>
      </a:dk1>
      <a:lt1>
        <a:srgbClr val="F7F5F9"/>
      </a:lt1>
      <a:dk2>
        <a:srgbClr val="4A00E2"/>
      </a:dk2>
      <a:lt2>
        <a:srgbClr val="FFFFFF"/>
      </a:lt2>
      <a:accent1>
        <a:srgbClr val="110057"/>
      </a:accent1>
      <a:accent2>
        <a:srgbClr val="4A00E2"/>
      </a:accent2>
      <a:accent3>
        <a:srgbClr val="FF0044"/>
      </a:accent3>
      <a:accent4>
        <a:srgbClr val="7CAFD0"/>
      </a:accent4>
      <a:accent5>
        <a:srgbClr val="FF5D55"/>
      </a:accent5>
      <a:accent6>
        <a:srgbClr val="FFBCB9"/>
      </a:accent6>
      <a:hlink>
        <a:srgbClr val="110057"/>
      </a:hlink>
      <a:folHlink>
        <a:srgbClr val="4A00E2"/>
      </a:folHlink>
    </a:clrScheme>
    <a:fontScheme name="IH Office Fonts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  <wetp:taskpane dockstate="right" visibility="0" width="350" row="0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C0DFD0EC-DB28-6E42-8750-A4B42AB3FD42}">
  <we:reference id="wa200000113" version="1.0.0.0" store="en-US" storeType="OMEX"/>
  <we:alternateReferences>
    <we:reference id="wa200000113" version="1.0.0.0" store="en-US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9B48D85D-ABA3-EE41-81D7-A4D3100239D8}">
  <we:reference id="wa104051163" version="1.2.0.3" store="en-US" storeType="OMEX"/>
  <we:alternateReferences>
    <we:reference id="WA104051163" version="1.2.0.3" store="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08137F25-8E34-BF44-9389-ADDC6C55A7CA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6643</TotalTime>
  <Words>1140</Words>
  <Application>Microsoft Macintosh PowerPoint</Application>
  <PresentationFormat>Widescreen</PresentationFormat>
  <Paragraphs>159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Brian Locke</dc:creator>
  <cp:lastModifiedBy>Brian Locke</cp:lastModifiedBy>
  <cp:revision>26</cp:revision>
  <dcterms:created xsi:type="dcterms:W3CDTF">2025-08-09T21:24:58Z</dcterms:created>
  <dcterms:modified xsi:type="dcterms:W3CDTF">2026-03-13T13:46:48Z</dcterms:modified>
</cp:coreProperties>
</file>