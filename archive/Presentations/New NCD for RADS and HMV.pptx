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6"/>
  </p:notesMasterIdLst>
  <p:sldIdLst>
    <p:sldId id="306" r:id="rId3"/>
    <p:sldId id="307" r:id="rId4"/>
    <p:sldId id="308" r:id="rId5"/>
    <p:sldId id="309" r:id="rId6"/>
    <p:sldId id="310" r:id="rId7"/>
    <p:sldId id="311" r:id="rId8"/>
    <p:sldId id="312" r:id="rId9"/>
    <p:sldId id="313" r:id="rId10"/>
    <p:sldId id="276" r:id="rId11"/>
    <p:sldId id="277" r:id="rId12"/>
    <p:sldId id="278" r:id="rId13"/>
    <p:sldId id="295" r:id="rId14"/>
    <p:sldId id="296" r:id="rId15"/>
    <p:sldId id="287" r:id="rId16"/>
    <p:sldId id="294" r:id="rId17"/>
    <p:sldId id="289" r:id="rId18"/>
    <p:sldId id="300" r:id="rId19"/>
    <p:sldId id="304" r:id="rId20"/>
    <p:sldId id="291" r:id="rId21"/>
    <p:sldId id="293" r:id="rId22"/>
    <p:sldId id="288" r:id="rId23"/>
    <p:sldId id="297" r:id="rId24"/>
    <p:sldId id="3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85306"/>
  </p:normalViewPr>
  <p:slideViewPr>
    <p:cSldViewPr snapToGrid="0">
      <p:cViewPr varScale="1">
        <p:scale>
          <a:sx n="99" d="100"/>
          <a:sy n="99" d="100"/>
        </p:scale>
        <p:origin x="19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EE838-748A-D648-9F13-42141F534EBD}" type="datetimeFigureOut">
              <a:rPr lang="en-US" smtClean="0"/>
              <a:t>3/11/26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95492-69FC-6747-A10A-BC997BE9EE3A}" type="slidenum">
              <a:rPr lang="en-US" smtClean="0"/>
              <a:t>‹#›</a:t>
            </a:fld>
            <a:endParaRPr lang="en-US"/>
          </a:p>
        </p:txBody>
      </p:sp>
    </p:spTree>
    <p:extLst>
      <p:ext uri="{BB962C8B-B14F-4D97-AF65-F5344CB8AC3E}">
        <p14:creationId xmlns:p14="http://schemas.microsoft.com/office/powerpoint/2010/main" val="391268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NCD 240.9 – RAD WITH BACKUP RATE FEATURE: INITIAL COVERAGE CRITERIA (COPD)</a:t>
            </a:r>
          </a:p>
          <a:p>
            <a:endParaRPr lang="en-US" sz="1200" dirty="0"/>
          </a:p>
          <a:p>
            <a:r>
              <a:rPr lang="en-US" sz="1200" dirty="0"/>
              <a:t>CMS will cover in the home a RAD with backup rate feature to deliver high intensity noninvasive ventilation (NIV) as treatment for patients with chronic respiratory failure (CRF) consequent to COPD.</a:t>
            </a:r>
          </a:p>
          <a:p>
            <a:endParaRPr lang="en-US" sz="1200" dirty="0"/>
          </a:p>
          <a:p>
            <a:r>
              <a:rPr lang="en-US" sz="1200" dirty="0"/>
              <a:t>A RAD with backup rate feature is covered in the home for an initial 6-month period for patients with COPD when ALL of the following criteria are met:</a:t>
            </a:r>
          </a:p>
          <a:p>
            <a:endParaRPr lang="en-US" sz="1200" dirty="0"/>
          </a:p>
          <a:p>
            <a:r>
              <a:rPr lang="en-US" sz="1200" dirty="0"/>
              <a:t>1. The patient exhibits persistent hypercapnia as demonstrated by PaCO2 ≥ 52 mmHg by arterial blood gas during awake hours while breathing his/her prescribed FiO2; AND</a:t>
            </a:r>
          </a:p>
          <a:p>
            <a:endParaRPr lang="en-US" sz="1200" dirty="0"/>
          </a:p>
          <a:p>
            <a:r>
              <a:rPr lang="en-US" sz="1200" dirty="0"/>
              <a:t>2. Sleep apnea is not the predominant cause of the hypercapnia (formal sleep testing is not required if, per the treating clinician, the patient does not experience sleep apnea as the predominant cause of the hypercapnia); AND</a:t>
            </a:r>
          </a:p>
          <a:p>
            <a:endParaRPr lang="en-US" sz="1200" dirty="0"/>
          </a:p>
          <a:p>
            <a:r>
              <a:rPr lang="en-US" sz="1200" dirty="0"/>
              <a:t>3. The patient exhibits the physical and cognitive ability to support home ventilation or has a caregiver who can assist; AND</a:t>
            </a:r>
          </a:p>
          <a:p>
            <a:endParaRPr lang="en-US" sz="1200" dirty="0"/>
          </a:p>
          <a:p>
            <a:r>
              <a:rPr lang="en-US" sz="1200" dirty="0"/>
              <a:t>4. The patient demonstrates one of the following:</a:t>
            </a:r>
          </a:p>
          <a:p>
            <a:r>
              <a:rPr lang="en-US" sz="1200" dirty="0"/>
              <a:t>   a. Stable COPD, without increase in or new onset of more than one respiratory symptom (cough, sputum production, sputum purulence, wheezing, or dyspnea) lasting 2+ days and no change of pharmacological treatment during the 2-week period before initiation of NIV; OR</a:t>
            </a:r>
          </a:p>
          <a:p>
            <a:r>
              <a:rPr lang="en-US" sz="1200" dirty="0"/>
              <a:t>   b. Hypercapnia present for at least 2 weeks post hospitalization after resolution of an exacerbation of COPD requiring acute NIV.</a:t>
            </a:r>
          </a:p>
          <a:p>
            <a:endParaRPr lang="en-US" sz="1200" dirty="0"/>
          </a:p>
          <a:p>
            <a:r>
              <a:rPr lang="en-US" sz="1200" dirty="0"/>
              <a:t>By the end of the initial 6-month period, a RAD with backup rate feature must be utilized as high intensity therapy, defined as a minimum IPAP ≥ 15 cm H2O and backup respiratory rate of at least 14 breaths per minute.</a:t>
            </a:r>
          </a:p>
          <a:p>
            <a:endParaRPr lang="en-US" sz="1200" dirty="0"/>
          </a:p>
          <a:p>
            <a:r>
              <a:rPr lang="en-US" sz="1200" dirty="0"/>
              <a:t>Source: CMS NCD 240.9 – Effective June 9, 2025</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NCD 240.9 – RAD WITHOUT BACKUP RATE FEATURE: INITIAL COVERAGE CRITERIA (COPD)</a:t>
            </a:r>
          </a:p>
          <a:p>
            <a:endParaRPr lang="en-US" sz="1200" dirty="0"/>
          </a:p>
          <a:p>
            <a:r>
              <a:rPr lang="en-US" sz="1200" dirty="0"/>
              <a:t>CMS will cover in the home a RAD without backup rate feature for a patient with CRF consequent to COPD who cannot tolerate high intensity NIV or for whom the backup rate feature is otherwise medically inappropriate.</a:t>
            </a:r>
          </a:p>
          <a:p>
            <a:endParaRPr lang="en-US" sz="1200" dirty="0"/>
          </a:p>
          <a:p>
            <a:r>
              <a:rPr lang="en-US" sz="1200" dirty="0"/>
              <a:t>A RAD without backup rate feature is covered in the home for an initial 6-month period for patients with COPD when all of the following criteria are met:</a:t>
            </a:r>
          </a:p>
          <a:p>
            <a:endParaRPr lang="en-US" sz="1200" dirty="0"/>
          </a:p>
          <a:p>
            <a:r>
              <a:rPr lang="en-US" sz="1200" dirty="0"/>
              <a:t>1. The patient exhibits persistent hypercapnia as demonstrated by PaCO2 ≥ 52 mmHg by arterial blood gas during awake hours while breathing his/her prescribed FiO2; AND</a:t>
            </a:r>
          </a:p>
          <a:p>
            <a:endParaRPr lang="en-US" sz="1200" dirty="0"/>
          </a:p>
          <a:p>
            <a:r>
              <a:rPr lang="en-US" sz="1200" dirty="0"/>
              <a:t>2. Sleep apnea is not the predominant cause of the hypercapnia (formal sleep testing is not required if, per the treating clinician, the patient does not experience sleep apnea as the predominant cause of the hypercapnia); AND</a:t>
            </a:r>
          </a:p>
          <a:p>
            <a:endParaRPr lang="en-US" sz="1200" dirty="0"/>
          </a:p>
          <a:p>
            <a:r>
              <a:rPr lang="en-US" sz="1200" dirty="0"/>
              <a:t>3. The patient exhibits the physical and cognitive ability to support home ventilation or has a caregiver who can assist; AND</a:t>
            </a:r>
          </a:p>
          <a:p>
            <a:endParaRPr lang="en-US" sz="1200" dirty="0"/>
          </a:p>
          <a:p>
            <a:r>
              <a:rPr lang="en-US" sz="1200" dirty="0"/>
              <a:t>4. The patient demonstrates one of the following characteristics:</a:t>
            </a:r>
          </a:p>
          <a:p>
            <a:r>
              <a:rPr lang="en-US" sz="1200" dirty="0"/>
              <a:t>   a. Stable COPD, without increase in or new onset of more than one respiratory symptom (cough, sputum production, sputum purulence, wheezing, or dyspnea) lasting 2+ days and no change of pharmacological treatment during the 2-week period before initiation of NIV; OR</a:t>
            </a:r>
          </a:p>
          <a:p>
            <a:r>
              <a:rPr lang="en-US" sz="1200" dirty="0"/>
              <a:t>   b. Hypercapnia present for at least 2 weeks post hospitalization after resolution of an exacerbation of COPD requiring acute NIV.</a:t>
            </a:r>
          </a:p>
          <a:p>
            <a:endParaRPr lang="en-US" sz="1200" dirty="0"/>
          </a:p>
          <a:p>
            <a:r>
              <a:rPr lang="en-US" sz="1200" dirty="0"/>
              <a:t>AND... OUTPATIENT STATUS DEFINITION:</a:t>
            </a:r>
          </a:p>
          <a:p>
            <a:r>
              <a:rPr lang="en-US" sz="1200" dirty="0"/>
              <a:t>(i) RAD with Backup Rate Feature: By the end of the initial 6-month period, a RAD with backup rate feature must be utilized as high intensity therapy, defined as a minimum IPAP ≥ 15 cm H2O and backup respiratory rate of at least 14 breaths per minute.</a:t>
            </a:r>
          </a:p>
          <a:p>
            <a:endParaRPr lang="en-US" sz="1200" dirty="0"/>
          </a:p>
          <a:p>
            <a:r>
              <a:rPr lang="en-US" sz="1200" dirty="0"/>
              <a:t>Source: CMS NCD 240.9 – Effective June 9, 2025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NCD 240.9 – RAD WITH OR WITHOUT BACKUP RATE: KEY CHANGE – NO OXIMETRY REQUIREMENT</a:t>
            </a:r>
          </a:p>
          <a:p>
            <a:endParaRPr lang="en-US" sz="1200" dirty="0"/>
          </a:p>
          <a:p>
            <a:r>
              <a:rPr lang="en-US" sz="1200" dirty="0"/>
              <a:t>IMPORTANT: Under the new NCD, the previous requirement for nocturnal oximetry (sleep oximetry showing O2 saturation ≤ 88% for ≥ 5 cumulative minutes) has been REMOVED from the initial coverage criteria for RADs.</a:t>
            </a:r>
          </a:p>
          <a:p>
            <a:endParaRPr lang="en-US" sz="1200" dirty="0"/>
          </a:p>
          <a:p>
            <a:r>
              <a:rPr lang="en-US" sz="1200" dirty="0"/>
              <a:t>Previously under the LCD (L33800), coverage of an E0470 required:</a:t>
            </a:r>
          </a:p>
          <a:p>
            <a:r>
              <a:rPr lang="en-US" sz="1200" dirty="0"/>
              <a:t>• ABG PaCO2 ≥ 52 mmHg (still required under new NCD)</a:t>
            </a:r>
          </a:p>
          <a:p>
            <a:r>
              <a:rPr lang="en-US" sz="1200" dirty="0"/>
              <a:t>• Sleep oximetry showing O2 sat ≤ 88% for ≥ 5 cumulative minutes of nocturnal recording time (minimum 2 hours), done while breathing O2 at 2 LPM or prescribed FiO2 (REMOVED)</a:t>
            </a:r>
          </a:p>
          <a:p>
            <a:r>
              <a:rPr lang="en-US" sz="1200" dirty="0"/>
              <a:t>• Sleep apnea considered and ruled out with CPAP trial (MODIFIED – formal sleep testing no longer required)</a:t>
            </a:r>
          </a:p>
          <a:p>
            <a:endParaRPr lang="en-US" sz="1200" dirty="0"/>
          </a:p>
          <a:p>
            <a:r>
              <a:rPr lang="en-US" sz="1200" dirty="0"/>
              <a:t>Under the NEW NCD 240.9, initial coverage criteria are:</a:t>
            </a:r>
          </a:p>
          <a:p>
            <a:r>
              <a:rPr lang="en-US" sz="1200" dirty="0"/>
              <a:t>1. PaCO2 ≥ 52 mmHg by ABG during awake hours on prescribed FiO2</a:t>
            </a:r>
          </a:p>
          <a:p>
            <a:r>
              <a:rPr lang="en-US" sz="1200" dirty="0"/>
              <a:t>2. Sleep apnea is not the predominant cause of hypercapnia (formal sleep testing NOT required if clinician determines sleep apnea is not predominant cause)</a:t>
            </a:r>
          </a:p>
          <a:p>
            <a:r>
              <a:rPr lang="en-US" sz="1200" dirty="0"/>
              <a:t>3. Physical/cognitive ability for home ventilation or caregiver available</a:t>
            </a:r>
          </a:p>
          <a:p>
            <a:r>
              <a:rPr lang="en-US" sz="1200" dirty="0"/>
              <a:t>4. Stable COPD (2-week stability) OR post-hospitalization hypercapnia (≥ 2 weeks post discharge)</a:t>
            </a:r>
          </a:p>
          <a:p>
            <a:endParaRPr lang="en-US" sz="1200" dirty="0"/>
          </a:p>
          <a:p>
            <a:r>
              <a:rPr lang="en-US" sz="1200" dirty="0"/>
              <a:t>This is a significant simplification that removes a major barrier to qualification.</a:t>
            </a:r>
          </a:p>
          <a:p>
            <a:endParaRPr lang="en-US" sz="1200" dirty="0"/>
          </a:p>
          <a:p>
            <a:r>
              <a:rPr lang="en-US" sz="1200" dirty="0"/>
              <a:t>Source: CMS NCD 240.9 vs. prior LCD L33800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laceholder"/>
          <p:cNvSpPr>
            <a:spLocks noGrp="1"/>
          </p:cNvSpPr>
          <p:nvPr>
            <p:ph type="body" idx="1"/>
          </p:nvPr>
        </p:nvSpPr>
        <p:spPr/>
        <p:txBody>
          <a:bodyPr/>
          <a:lstStyle/>
          <a:p>
            <a:r>
              <a:rPr lang="en-US" sz="1200" dirty="0"/>
              <a:t>NCD 240.9 – RECOMMENDED APPROACH: DECIDING ON BACKUP RATE FEATURE</a:t>
            </a:r>
          </a:p>
          <a:p>
            <a:endParaRPr lang="en-US" sz="1200" dirty="0"/>
          </a:p>
          <a:p>
            <a:r>
              <a:rPr lang="en-US" sz="1200" dirty="0"/>
              <a:t>Practical guidance for clinicians and DME providers on selecting RAD with vs. without backup rate feature under the new NCD:</a:t>
            </a:r>
          </a:p>
          <a:p>
            <a:endParaRPr lang="en-US" sz="1200" dirty="0"/>
          </a:p>
          <a:p>
            <a:r>
              <a:rPr lang="en-US" sz="1200" dirty="0"/>
              <a:t>RAD WITH BACKUP RATE (E0471):</a:t>
            </a:r>
          </a:p>
          <a:p>
            <a:r>
              <a:rPr lang="en-US" sz="1200" dirty="0"/>
              <a:t>• Covered for initial 6-month period for COPD patients meeting all criteria</a:t>
            </a:r>
          </a:p>
          <a:p>
            <a:r>
              <a:rPr lang="en-US" sz="1200" dirty="0"/>
              <a:t>• PaCO2 ≥ 52 mmHg by ABG while awake on prescribed FiO2</a:t>
            </a:r>
          </a:p>
          <a:p>
            <a:r>
              <a:rPr lang="en-US" sz="1200" dirty="0"/>
              <a:t>• Sleep apnea not predominant cause of hypercapnia</a:t>
            </a:r>
          </a:p>
          <a:p>
            <a:r>
              <a:rPr lang="en-US" sz="1200" dirty="0"/>
              <a:t>• Physical/cognitive ability for home ventilation (or caregiver)</a:t>
            </a:r>
          </a:p>
          <a:p>
            <a:r>
              <a:rPr lang="en-US" sz="1200" dirty="0"/>
              <a:t>• Stable COPD (≥ 2 weeks stability) OR post-hospitalization hypercapnia (≥ 2 weeks post discharge)</a:t>
            </a:r>
          </a:p>
          <a:p>
            <a:r>
              <a:rPr lang="en-US" sz="1200" dirty="0"/>
              <a:t>• By end of 6-month period: must use high intensity therapy (IPAP ≥ 15 cm H2O, backup rate ≥ 14 BPM)</a:t>
            </a:r>
          </a:p>
          <a:p>
            <a:endParaRPr lang="en-US" sz="1200" dirty="0"/>
          </a:p>
          <a:p>
            <a:r>
              <a:rPr lang="en-US" sz="1200" dirty="0"/>
              <a:t>RAD WITHOUT BACKUP RATE (E0470):</a:t>
            </a:r>
          </a:p>
          <a:p>
            <a:r>
              <a:rPr lang="en-US" sz="1200" dirty="0"/>
              <a:t>• For patients who CANNOT tolerate high intensity NIV</a:t>
            </a:r>
          </a:p>
          <a:p>
            <a:r>
              <a:rPr lang="en-US" sz="1200" dirty="0"/>
              <a:t>• Or for whom backup rate feature is medically inappropriate</a:t>
            </a:r>
          </a:p>
          <a:p>
            <a:r>
              <a:rPr lang="en-US" sz="1200" dirty="0"/>
              <a:t>• Same initial criteria (PaCO2, sleep apnea, stability) apply</a:t>
            </a:r>
          </a:p>
          <a:p>
            <a:r>
              <a:rPr lang="en-US" sz="1200" dirty="0"/>
              <a:t>• Covered for initial 6-month period</a:t>
            </a:r>
          </a:p>
          <a:p>
            <a:endParaRPr lang="en-US" sz="1200" dirty="0"/>
          </a:p>
          <a:p>
            <a:r>
              <a:rPr lang="en-US" sz="1200" dirty="0"/>
              <a:t>KEY DECISION POINT: Call the DME Vendor – discuss patient clinical picture before ordering. Consider whether the patient can tolerate high intensity settings. Do not just "FAX and Pray" – coordinate with the DME vendor to ensure proper device selection and documentation.</a:t>
            </a:r>
          </a:p>
          <a:p>
            <a:endParaRPr lang="en-US" sz="1200" dirty="0"/>
          </a:p>
          <a:p>
            <a:r>
              <a:rPr lang="en-US" sz="1200" dirty="0"/>
              <a:t>Documentation requirements:</a:t>
            </a:r>
          </a:p>
          <a:p>
            <a:r>
              <a:rPr lang="en-US" sz="1200" dirty="0"/>
              <a:t>• ABG showing PaCO2 ≥ 52 mmHg</a:t>
            </a:r>
          </a:p>
          <a:p>
            <a:r>
              <a:rPr lang="en-US" sz="1200" dirty="0"/>
              <a:t>• Clinical assessment ruling out sleep apnea as predominant cause</a:t>
            </a:r>
          </a:p>
          <a:p>
            <a:r>
              <a:rPr lang="en-US" sz="1200" dirty="0"/>
              <a:t>• Stability assessment (2-week window) or post-hospitalization status</a:t>
            </a:r>
          </a:p>
          <a:p>
            <a:r>
              <a:rPr lang="en-US" sz="1200" dirty="0"/>
              <a:t>• Justification for device selection (with or without backup rate)</a:t>
            </a:r>
          </a:p>
          <a:p>
            <a:endParaRPr lang="en-US" sz="1200" dirty="0"/>
          </a:p>
          <a:p>
            <a:r>
              <a:rPr lang="en-US" sz="1200" dirty="0"/>
              <a:t>Source: CMS NCD 240.9 – Effective June 9, 2025</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NCD 240.9 – RAD UPON HOSPITAL DISCHARGE: IMMEDIATE COVERAGE (COPD)</a:t>
            </a:r>
          </a:p>
          <a:p>
            <a:endParaRPr lang="en-US" sz="1200" dirty="0"/>
          </a:p>
          <a:p>
            <a:r>
              <a:rPr lang="en-US" sz="1200" dirty="0"/>
              <a:t>(iii) RAD Upon Hospital Discharge:</a:t>
            </a:r>
          </a:p>
          <a:p>
            <a:r>
              <a:rPr lang="en-US" sz="1200" dirty="0"/>
              <a:t>CMS will cover in the home a RAD with or without backup rate feature immediately upon hospital discharge for an initial 6-month period for patients with acute on chronic respiratory failure due to COPD, if:</a:t>
            </a:r>
          </a:p>
          <a:p>
            <a:endParaRPr lang="en-US" sz="1200" dirty="0"/>
          </a:p>
          <a:p>
            <a:r>
              <a:rPr lang="en-US" sz="1200" dirty="0"/>
              <a:t>1. The patient required either a RAD or ventilator within the 24-hour period prior to hospital discharge; AND</a:t>
            </a:r>
          </a:p>
          <a:p>
            <a:endParaRPr lang="en-US" sz="1200" dirty="0"/>
          </a:p>
          <a:p>
            <a:r>
              <a:rPr lang="en-US" sz="1200" dirty="0"/>
              <a:t>2. The treating clinician determines that the patient is at risk of rapid symptom exacerbation or rise in PaCO2 after discharge.</a:t>
            </a:r>
          </a:p>
          <a:p>
            <a:endParaRPr lang="en-US" sz="1200" dirty="0"/>
          </a:p>
          <a:p>
            <a:r>
              <a:rPr lang="en-US" sz="1200" dirty="0"/>
              <a:t>KEY POINTS:</a:t>
            </a:r>
          </a:p>
          <a:p>
            <a:r>
              <a:rPr lang="en-US" sz="1200" dirty="0"/>
              <a:t>• No PFT (pulmonary function test) required for hospital discharge pathway</a:t>
            </a:r>
          </a:p>
          <a:p>
            <a:r>
              <a:rPr lang="en-US" sz="1200" dirty="0"/>
              <a:t>• No nocturnal oximetry required for hospital discharge pathway</a:t>
            </a:r>
          </a:p>
          <a:p>
            <a:r>
              <a:rPr lang="en-US" sz="1200" dirty="0"/>
              <a:t>• This is a simplified pathway for acute-on-chronic patients</a:t>
            </a:r>
          </a:p>
          <a:p>
            <a:r>
              <a:rPr lang="en-US" sz="1200" dirty="0"/>
              <a:t>• Device must have been used within 24 hours prior to discharge</a:t>
            </a:r>
          </a:p>
          <a:p>
            <a:r>
              <a:rPr lang="en-US" sz="1200" dirty="0"/>
              <a:t>• Clinician must document risk of rapid symptom exacerbation or PaCO2 rise</a:t>
            </a:r>
          </a:p>
          <a:p>
            <a:endParaRPr lang="en-US" sz="1200" dirty="0"/>
          </a:p>
          <a:p>
            <a:r>
              <a:rPr lang="en-US" sz="1200" dirty="0"/>
              <a:t>SPECIAL ADDITIONAL DOCUMENTATION:</a:t>
            </a:r>
          </a:p>
          <a:p>
            <a:r>
              <a:rPr lang="en-US" sz="1200" dirty="0"/>
              <a:t>• The treating clinician determines the patient is at risk of rapid symptom exacerbation or rise in PaCO2 after discharge</a:t>
            </a:r>
          </a:p>
          <a:p>
            <a:r>
              <a:rPr lang="en-US" sz="1200" dirty="0"/>
              <a:t>• Documentation must support medical necessity</a:t>
            </a:r>
          </a:p>
          <a:p>
            <a:r>
              <a:rPr lang="en-US" sz="1200" dirty="0"/>
              <a:t>• Hospital records should show RAD/ventilator use within 24 hours of discharge</a:t>
            </a:r>
          </a:p>
          <a:p>
            <a:endParaRPr lang="en-US" sz="1200" dirty="0"/>
          </a:p>
          <a:p>
            <a:r>
              <a:rPr lang="en-US" sz="1200" dirty="0"/>
              <a:t>Note: Patients covered under this pathway still need to meet continuing usage criteria at the 6-month evaluation.</a:t>
            </a:r>
          </a:p>
          <a:p>
            <a:endParaRPr lang="en-US" sz="1200" dirty="0"/>
          </a:p>
          <a:p>
            <a:r>
              <a:rPr lang="en-US" sz="1200" dirty="0"/>
              <a:t>Source: CMS NCD 240.9 – Effective June 9, 2025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NCD 240.9 – CONTINUING USAGE CRITERIA FOR RAD (COPD) – 6-MONTH EVALUATION</a:t>
            </a:r>
          </a:p>
          <a:p>
            <a:endParaRPr lang="en-US" sz="1200" dirty="0"/>
          </a:p>
          <a:p>
            <a:r>
              <a:rPr lang="en-US" sz="1200" dirty="0"/>
              <a:t>(b) Continuing Usage Criteria for a RAD:</a:t>
            </a:r>
          </a:p>
          <a:p>
            <a:r>
              <a:rPr lang="en-US" sz="1200" dirty="0"/>
              <a:t>Patients must be evaluated at least twice within the first year after initially receiving a RAD. Evaluations must occur by the end of the six-month initial coverage period and again during months 7-12.</a:t>
            </a:r>
          </a:p>
          <a:p>
            <a:endParaRPr lang="en-US" sz="1200" dirty="0"/>
          </a:p>
          <a:p>
            <a:r>
              <a:rPr lang="en-US" sz="1200" dirty="0"/>
              <a:t>FIRST EVALUATION (by 6 months after receiving initial coverage):</a:t>
            </a:r>
          </a:p>
          <a:p>
            <a:r>
              <a:rPr lang="en-US" sz="1200" dirty="0"/>
              <a:t>The treating clinician must establish that usage criteria and clinical outcomes are being met. Specifically, the patient must:</a:t>
            </a:r>
          </a:p>
          <a:p>
            <a:endParaRPr lang="en-US" sz="1200" dirty="0"/>
          </a:p>
          <a:p>
            <a:r>
              <a:rPr lang="en-US" sz="1200" dirty="0"/>
              <a:t>1. Be determined by a clinician to use the RAD at least 4 hours per 24-hour period, on at least 70% of days in a 30-day period; AND</a:t>
            </a:r>
          </a:p>
          <a:p>
            <a:endParaRPr lang="en-US" sz="1200" dirty="0"/>
          </a:p>
          <a:p>
            <a:r>
              <a:rPr lang="en-US" sz="1200" dirty="0"/>
              <a:t>2. Achieve at least one of the following clinical outcomes:</a:t>
            </a:r>
          </a:p>
          <a:p>
            <a:r>
              <a:rPr lang="en-US" sz="1200" dirty="0"/>
              <a:t>   - Normalization of PaCO2 (PaCO2 &lt; 45 mmHg)</a:t>
            </a:r>
          </a:p>
          <a:p>
            <a:r>
              <a:rPr lang="en-US" sz="1200" dirty="0"/>
              <a:t>   - Stabilization of PaCO2 (change of &lt; 5 mmHg from baseline)</a:t>
            </a:r>
          </a:p>
          <a:p>
            <a:r>
              <a:rPr lang="en-US" sz="1200" dirty="0"/>
              <a:t>   - 20% reduction in PaCO2 from baseline</a:t>
            </a:r>
          </a:p>
          <a:p>
            <a:r>
              <a:rPr lang="en-US" sz="1200" dirty="0"/>
              <a:t>   - Improvement in sleep quality or respiratory symptoms (headache, fatigue, shortness of breath, confusion, sleep quality)</a:t>
            </a:r>
          </a:p>
          <a:p>
            <a:endParaRPr lang="en-US" sz="1200" dirty="0"/>
          </a:p>
          <a:p>
            <a:r>
              <a:rPr lang="en-US" sz="1200" dirty="0"/>
              <a:t>IMPORTANT: These are strict continuing usage requirements. If not met, coverage may be denied beyond the initial 6-month period.</a:t>
            </a:r>
          </a:p>
          <a:p>
            <a:endParaRPr lang="en-US" sz="1200" dirty="0"/>
          </a:p>
          <a:p>
            <a:r>
              <a:rPr lang="en-US" sz="1200" dirty="0"/>
              <a:t>Source: CMS NCD 240.9 – Effective June 9, 2025</a:t>
            </a:r>
          </a:p>
        </p:txBody>
      </p:sp>
      <p:sp>
        <p:nvSpPr>
          <p:cNvPr id="4" name="Slide Number Placeholder 3"/>
          <p:cNvSpPr>
            <a:spLocks noGrp="1"/>
          </p:cNvSpPr>
          <p:nvPr>
            <p:ph type="sldNum" sz="quarter" idx="5"/>
          </p:nvPr>
        </p:nvSpPr>
        <p:spPr/>
        <p:txBody>
          <a:bodyPr/>
          <a:lstStyle/>
          <a:p>
            <a:fld id="{CAE95492-69FC-6747-A10A-BC997BE9EE3A}" type="slidenum">
              <a:rPr lang="en-US" smtClean="0"/>
              <a:t>8</a:t>
            </a:fld>
            <a:endParaRPr lang="en-US"/>
          </a:p>
        </p:txBody>
      </p:sp>
    </p:spTree>
    <p:extLst>
      <p:ext uri="{BB962C8B-B14F-4D97-AF65-F5344CB8AC3E}">
        <p14:creationId xmlns:p14="http://schemas.microsoft.com/office/powerpoint/2010/main" val="47761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NCD 240.9 – RAD FOLLOW-UP RENTAL PERIOD: MONTHS 7-13 (COPD)</a:t>
            </a:r>
          </a:p>
          <a:p>
            <a:endParaRPr lang="en-US" sz="1200" dirty="0"/>
          </a:p>
          <a:p>
            <a:r>
              <a:rPr lang="en-US" sz="1200" dirty="0"/>
              <a:t>During the follow-up rental period (13 months total rental period):</a:t>
            </a:r>
          </a:p>
          <a:p>
            <a:endParaRPr lang="en-US" sz="1200" dirty="0"/>
          </a:p>
          <a:p>
            <a:r>
              <a:rPr lang="en-US" sz="1200" dirty="0"/>
              <a:t>(b) Continuing Usage Criteria for a RAD (continued):</a:t>
            </a:r>
          </a:p>
          <a:p>
            <a:endParaRPr lang="en-US" sz="1200" dirty="0"/>
          </a:p>
          <a:p>
            <a:r>
              <a:rPr lang="en-US" sz="1200" dirty="0"/>
              <a:t>Second Evaluation (between 7-12 months after initially receiving a RAD):</a:t>
            </a:r>
          </a:p>
          <a:p>
            <a:r>
              <a:rPr lang="en-US" sz="1200" dirty="0"/>
              <a:t>The treating clinician must establish the patient is using the device at least 4 hours per 24-hour period on at least 70% of days in each paid rental month.</a:t>
            </a:r>
          </a:p>
          <a:p>
            <a:endParaRPr lang="en-US" sz="1200" dirty="0"/>
          </a:p>
          <a:p>
            <a:r>
              <a:rPr lang="en-US" sz="1200" dirty="0"/>
              <a:t>Post Second Evaluation:</a:t>
            </a:r>
          </a:p>
          <a:p>
            <a:r>
              <a:rPr lang="en-US" sz="1200" dirty="0"/>
              <a:t>The patient must be using the device at least 4 hours per 24-hour period on at least 70% of days in each remaining paid rental month and any month in which accessories/supplies are dispensed.</a:t>
            </a:r>
          </a:p>
          <a:p>
            <a:endParaRPr lang="en-US" sz="1200" dirty="0"/>
          </a:p>
          <a:p>
            <a:r>
              <a:rPr lang="en-US" sz="1200" dirty="0"/>
              <a:t>KEY REQUIREMENTS DURING FOLLOW-UP:</a:t>
            </a:r>
          </a:p>
          <a:p>
            <a:r>
              <a:rPr lang="en-US" sz="1200" dirty="0"/>
              <a:t>- Usage: At least 4 hours per 24-hour period</a:t>
            </a:r>
          </a:p>
          <a:p>
            <a:r>
              <a:rPr lang="en-US" sz="1200" dirty="0"/>
              <a:t>- Frequency: At least 70% of days in each paid rental month</a:t>
            </a:r>
          </a:p>
          <a:p>
            <a:r>
              <a:rPr lang="en-US" sz="1200" dirty="0"/>
              <a:t>- Must maintain compliance throughout the entire rental period</a:t>
            </a:r>
          </a:p>
          <a:p>
            <a:r>
              <a:rPr lang="en-US" sz="1200" dirty="0"/>
              <a:t>- Accessories and supplies coverage is tied to continued usage compliance</a:t>
            </a:r>
          </a:p>
          <a:p>
            <a:r>
              <a:rPr lang="en-US" sz="1200" dirty="0"/>
              <a:t>- Two evaluations required in first year: one at 6 months, one during months 7-12</a:t>
            </a:r>
          </a:p>
          <a:p>
            <a:endParaRPr lang="en-US" sz="1200" dirty="0"/>
          </a:p>
          <a:p>
            <a:r>
              <a:rPr lang="en-US" sz="1200" dirty="0"/>
              <a:t>Source: CMS NCD 240.9 – Effective June 9, 2025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NCD 240.9 – HOME MECHANICAL VENTILATORS (HMV): INITIAL COVERAGE CRITERIA (COPD)</a:t>
            </a:r>
          </a:p>
          <a:p>
            <a:endParaRPr lang="en-US" sz="1200" dirty="0"/>
          </a:p>
          <a:p>
            <a:r>
              <a:rPr lang="en-US" sz="1200" dirty="0"/>
              <a:t>II. Home Mechanical Ventilators (HMVs):</a:t>
            </a:r>
          </a:p>
          <a:p>
            <a:r>
              <a:rPr lang="en-US" sz="1200" dirty="0"/>
              <a:t>CMS will cover an HMV used in a volume targeted mode as treatment for a patient with CRF consequent to COPD who exhibits certain clinical characteristics.</a:t>
            </a:r>
          </a:p>
          <a:p>
            <a:endParaRPr lang="en-US" sz="1200" dirty="0"/>
          </a:p>
          <a:p>
            <a:r>
              <a:rPr lang="en-US" sz="1200" dirty="0"/>
              <a:t>An HMV is covered for an initial 6-month period for patients with COPD when ALL of the following criteria are met:</a:t>
            </a:r>
          </a:p>
          <a:p>
            <a:endParaRPr lang="en-US" sz="1200" dirty="0"/>
          </a:p>
          <a:p>
            <a:r>
              <a:rPr lang="en-US" sz="1200" dirty="0"/>
              <a:t>1. The patient exhibits hypercapnia as demonstrated by PaCO2 ≥ 52 mmHg by arterial blood gas during awake hours while breathing his/her prescribed FiO2; AND</a:t>
            </a:r>
          </a:p>
          <a:p>
            <a:endParaRPr lang="en-US" sz="1200" dirty="0"/>
          </a:p>
          <a:p>
            <a:r>
              <a:rPr lang="en-US" sz="1200" dirty="0"/>
              <a:t>2. Sleep apnea is not the predominant cause of the hypercapnia (formal sleep testing is not required if, per the treating clinician, the patient does not experience sleep apnea as the predominant cause of the hypercapnia); AND</a:t>
            </a:r>
          </a:p>
          <a:p>
            <a:endParaRPr lang="en-US" sz="1200" dirty="0"/>
          </a:p>
          <a:p>
            <a:r>
              <a:rPr lang="en-US" sz="1200" dirty="0"/>
              <a:t>3. The patient requires the alarms and internal battery of an HMV, because:</a:t>
            </a:r>
          </a:p>
          <a:p>
            <a:r>
              <a:rPr lang="en-US" sz="1200" dirty="0"/>
              <a:t>   a. The patient is unable to effectively breathe on their own for more than a few hours; AND</a:t>
            </a:r>
          </a:p>
          <a:p>
            <a:r>
              <a:rPr lang="en-US" sz="1200" dirty="0"/>
              <a:t>   b. The unrecognized interruption of ventilatory support is likely to cause a life-threatening condition if the patient or caregiver cannot be otherwise alerted as determined by the treating clinician; OR</a:t>
            </a:r>
          </a:p>
          <a:p>
            <a:endParaRPr lang="en-US" sz="1200" dirty="0"/>
          </a:p>
          <a:p>
            <a:r>
              <a:rPr lang="en-US" sz="1200" dirty="0"/>
              <a:t>4. Per the treating clinician, none of the below are likely to be achieved with consistent use of a RAD with backup rate feature for at least 4 hours per 24-hour period on at least 70% of days because the patient’s needs exceed the capabilities of a RAD as justified by the patient’s medical condition.</a:t>
            </a:r>
          </a:p>
          <a:p>
            <a:endParaRPr lang="en-US" sz="1200" dirty="0"/>
          </a:p>
          <a:p>
            <a:r>
              <a:rPr lang="en-US" sz="1200" dirty="0"/>
              <a:t>Source: CMS NCD 240.9 – Effective June 9, 2025</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NCD 240.9 – HMV: ILLNESS SEVERITY DESCRIPTORS &amp; CLINICAL OUTCOMES (COPD)</a:t>
            </a:r>
          </a:p>
          <a:p>
            <a:endParaRPr lang="en-US" sz="1200" dirty="0"/>
          </a:p>
          <a:p>
            <a:r>
              <a:rPr lang="en-US" sz="1200" dirty="0"/>
              <a:t>HMV coverage requires that the patient’s needs exceed the capabilities of a RAD. Per the treating clinician, none of the below are likely to be achieved with consistent use of a RAD with backup rate feature for at least 4 hours per 24-hour period on at least 70% of days:</a:t>
            </a:r>
          </a:p>
          <a:p>
            <a:endParaRPr lang="en-US" sz="1200" dirty="0"/>
          </a:p>
          <a:p>
            <a:r>
              <a:rPr lang="en-US" sz="1200" dirty="0"/>
              <a:t>Clinical Outcomes that must be unlikely to be achieved with a RAD:</a:t>
            </a:r>
          </a:p>
          <a:p>
            <a:r>
              <a:rPr lang="en-US" sz="1200" dirty="0"/>
              <a:t>• Normalization of PaCO2 (PaCO2 &lt; 45 mmHg)</a:t>
            </a:r>
          </a:p>
          <a:p>
            <a:r>
              <a:rPr lang="en-US" sz="1200" dirty="0"/>
              <a:t>• Stabilization of PaCO2 (change of &lt; 5 mmHg from baseline)</a:t>
            </a:r>
          </a:p>
          <a:p>
            <a:r>
              <a:rPr lang="en-US" sz="1200" dirty="0"/>
              <a:t>• 20% reduction in PaCO2 from baseline</a:t>
            </a:r>
          </a:p>
          <a:p>
            <a:r>
              <a:rPr lang="en-US" sz="1200" dirty="0"/>
              <a:t>• Improvement in one or more of the following symptoms:</a:t>
            </a:r>
          </a:p>
          <a:p>
            <a:r>
              <a:rPr lang="en-US" sz="1200" dirty="0"/>
              <a:t>   - Headache</a:t>
            </a:r>
          </a:p>
          <a:p>
            <a:r>
              <a:rPr lang="en-US" sz="1200" dirty="0"/>
              <a:t>   - Fatigue</a:t>
            </a:r>
          </a:p>
          <a:p>
            <a:r>
              <a:rPr lang="en-US" sz="1200" dirty="0"/>
              <a:t>   - Shortness of breath</a:t>
            </a:r>
          </a:p>
          <a:p>
            <a:r>
              <a:rPr lang="en-US" sz="1200" dirty="0"/>
              <a:t>   - Confusion</a:t>
            </a:r>
          </a:p>
          <a:p>
            <a:r>
              <a:rPr lang="en-US" sz="1200" dirty="0"/>
              <a:t>   - Sleep quality</a:t>
            </a:r>
          </a:p>
          <a:p>
            <a:endParaRPr lang="en-US" sz="1200" dirty="0"/>
          </a:p>
          <a:p>
            <a:r>
              <a:rPr lang="en-US" sz="1200" dirty="0"/>
              <a:t>And...</a:t>
            </a:r>
          </a:p>
          <a:p>
            <a:r>
              <a:rPr lang="en-US" sz="1200" dirty="0"/>
              <a:t>The patient must also demonstrate:</a:t>
            </a:r>
          </a:p>
          <a:p>
            <a:r>
              <a:rPr lang="en-US" sz="1200" dirty="0"/>
              <a:t>• Sleep apnea is not the predominant cause of the hypercapnia</a:t>
            </a:r>
          </a:p>
          <a:p>
            <a:r>
              <a:rPr lang="en-US" sz="1200" dirty="0"/>
              <a:t>• The patient exhibits the physical and cognitive ability to support home ventilation or has a caregiver who can assist</a:t>
            </a:r>
          </a:p>
          <a:p>
            <a:endParaRPr lang="en-US" sz="1200" dirty="0"/>
          </a:p>
          <a:p>
            <a:r>
              <a:rPr lang="en-US" sz="1200" dirty="0"/>
              <a:t>These illness severity criteria differentiate HMV patients from RAD patients – the HMV is for patients whose clinical needs cannot be adequately met by a RAD alone.</a:t>
            </a:r>
          </a:p>
          <a:p>
            <a:endParaRPr lang="en-US" sz="1200" dirty="0"/>
          </a:p>
          <a:p>
            <a:r>
              <a:rPr lang="en-US" sz="1200" dirty="0"/>
              <a:t>NOTE: HMV patients require volume targeted mode specifically. This is the first time CMS has established national coverage for HMV in COPD.</a:t>
            </a:r>
          </a:p>
          <a:p>
            <a:endParaRPr lang="en-US" sz="1200" dirty="0"/>
          </a:p>
          <a:p>
            <a:r>
              <a:rPr lang="en-US" sz="1200" dirty="0"/>
              <a:t>Source: CMS NCD 240.9 – Effective June 9, 2025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PRESENTER NOTES – COPD NCD: HMV upon Hospital Discharge – Immediate Coverage</a:t>
            </a:r>
          </a:p>
          <a:p>
            <a:endParaRPr lang="en-US" sz="1200" dirty="0"/>
          </a:p>
          <a:p>
            <a:r>
              <a:rPr lang="en-US" sz="1200" dirty="0"/>
              <a:t>SLIDE SUMMARY:</a:t>
            </a:r>
          </a:p>
          <a:p>
            <a:r>
              <a:rPr lang="en-US" sz="1200" dirty="0"/>
              <a:t>This slide covers the NCD 240.9 criteria for immediate HMV (Home Mechanical Ventilator) coverage when a COPD patient is discharged from the hospital already on a ventilator.</a:t>
            </a:r>
          </a:p>
          <a:p>
            <a:endParaRPr lang="en-US" sz="1200" dirty="0"/>
          </a:p>
          <a:p>
            <a:r>
              <a:rPr lang="en-US" sz="1200" dirty="0"/>
              <a:t>KEY TALKING POINTS:</a:t>
            </a:r>
          </a:p>
          <a:p>
            <a:endParaRPr lang="en-US" sz="1200" dirty="0"/>
          </a:p>
          <a:p>
            <a:r>
              <a:rPr lang="en-US" sz="1200" dirty="0"/>
              <a:t>1. HOSPITAL DISCHARGE PATHWAY:</a:t>
            </a:r>
          </a:p>
          <a:p>
            <a:r>
              <a:rPr lang="en-US" sz="1200" dirty="0"/>
              <a:t>   • This is a distinct pathway from the outpatient RAD qualification criteria</a:t>
            </a:r>
          </a:p>
          <a:p>
            <a:r>
              <a:rPr lang="en-US" sz="1200" dirty="0"/>
              <a:t>   • Applies when a patient's needs EXCEEDED the capabilities of a RAD during hospitalization</a:t>
            </a:r>
          </a:p>
          <a:p>
            <a:r>
              <a:rPr lang="en-US" sz="1200" dirty="0"/>
              <a:t>   • Patient must have required usage of a ventilator within the 24-hour period prior to hospital discharge</a:t>
            </a:r>
          </a:p>
          <a:p>
            <a:r>
              <a:rPr lang="en-US" sz="1200" dirty="0"/>
              <a:t>   • Coverage is immediate upon discharge – no separate outpatient qualification testing required</a:t>
            </a:r>
          </a:p>
          <a:p>
            <a:endParaRPr lang="en-US" sz="1200" dirty="0"/>
          </a:p>
          <a:p>
            <a:r>
              <a:rPr lang="en-US" sz="1200" dirty="0"/>
              <a:t>2. CLINICAL REQUIREMENTS:</a:t>
            </a:r>
          </a:p>
          <a:p>
            <a:r>
              <a:rPr lang="en-US" sz="1200" dirty="0"/>
              <a:t>   • The treating physician must document that the patient's respiratory failure required ventilator support (not just BiPAP/RAD) during the hospitalization</a:t>
            </a:r>
          </a:p>
          <a:p>
            <a:r>
              <a:rPr lang="en-US" sz="1200" dirty="0"/>
              <a:t>   • ABG PaCO2 criteria still apply – documentation of chronic respiratory failure consequent to COPD</a:t>
            </a:r>
          </a:p>
          <a:p>
            <a:r>
              <a:rPr lang="en-US" sz="1200" dirty="0"/>
              <a:t>   • The ventilator was medically necessary during the inpatient stay, not just trialed</a:t>
            </a:r>
          </a:p>
          <a:p>
            <a:endParaRPr lang="en-US" sz="1200" dirty="0"/>
          </a:p>
          <a:p>
            <a:r>
              <a:rPr lang="en-US" sz="1200" dirty="0"/>
              <a:t>3. WHY THIS MATTERS:</a:t>
            </a:r>
          </a:p>
          <a:p>
            <a:r>
              <a:rPr lang="en-US" sz="1200" dirty="0"/>
              <a:t>   • Eliminates the gap between hospital discharge and home ventilator coverage</a:t>
            </a:r>
          </a:p>
          <a:p>
            <a:r>
              <a:rPr lang="en-US" sz="1200" dirty="0"/>
              <a:t>   • Patients don't need to "re-qualify" through outpatient testing after hospitalization</a:t>
            </a:r>
          </a:p>
          <a:p>
            <a:r>
              <a:rPr lang="en-US" sz="1200" dirty="0"/>
              <a:t>   • Covers the scenario where a patient was escalated from RAD to HMV during an acute exacerbation</a:t>
            </a:r>
          </a:p>
          <a:p>
            <a:r>
              <a:rPr lang="en-US" sz="1200" dirty="0"/>
              <a:t>   • Streamlines the transition from inpatient to home ventilator support</a:t>
            </a:r>
          </a:p>
          <a:p>
            <a:endParaRPr lang="en-US" sz="1200" dirty="0"/>
          </a:p>
          <a:p>
            <a:r>
              <a:rPr lang="en-US" sz="1200" dirty="0"/>
              <a:t>4. DEVICE CODES:</a:t>
            </a:r>
          </a:p>
          <a:p>
            <a:r>
              <a:rPr lang="en-US" sz="1200" dirty="0"/>
              <a:t>   • HMV codes: E0465 (invasive interface), E0466 (non-invasive interface), E0467 (multi-function)</a:t>
            </a:r>
          </a:p>
          <a:p>
            <a:r>
              <a:rPr lang="en-US" sz="1200" dirty="0"/>
              <a:t>   • These are distinct from RAD codes E0470/E0471</a:t>
            </a:r>
          </a:p>
          <a:p>
            <a:r>
              <a:rPr lang="en-US" sz="1200" dirty="0"/>
              <a:t>   • Volume-targeted ventilation mode is specified in the NCD</a:t>
            </a:r>
          </a:p>
          <a:p>
            <a:endParaRPr lang="en-US" sz="1200" dirty="0"/>
          </a:p>
          <a:p>
            <a:r>
              <a:rPr lang="en-US" sz="1200" dirty="0"/>
              <a:t>5. DOCUMENTATION REQUIREMENTS:</a:t>
            </a:r>
          </a:p>
          <a:p>
            <a:r>
              <a:rPr lang="en-US" sz="1200" dirty="0"/>
              <a:t>   • Hospital records must support that ventilator was used and medically necessary</a:t>
            </a:r>
          </a:p>
          <a:p>
            <a:r>
              <a:rPr lang="en-US" sz="1200" dirty="0"/>
              <a:t>   • Discharge summary should clearly state the patient requires continued HMV at home</a:t>
            </a:r>
          </a:p>
          <a:p>
            <a:r>
              <a:rPr lang="en-US" sz="1200" dirty="0"/>
              <a:t>   • Treating practitioner's order for home ventilator must accompany the claim</a:t>
            </a:r>
          </a:p>
          <a:p>
            <a:endParaRPr lang="en-US" sz="1200" dirty="0"/>
          </a:p>
          <a:p>
            <a:r>
              <a:rPr lang="en-US" sz="1200" dirty="0"/>
              <a:t>Source: NCD 240.9 – Section II: Home Mechanical Ventilators, Hospital Discharge provisions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PRESENTER NOTES – COPD NCD: HMV – Continuing Usage Requirements</a:t>
            </a:r>
          </a:p>
          <a:p>
            <a:endParaRPr lang="en-US" sz="1200" dirty="0"/>
          </a:p>
          <a:p>
            <a:r>
              <a:rPr lang="en-US" sz="1200" dirty="0"/>
              <a:t>SLIDE SUMMARY:</a:t>
            </a:r>
          </a:p>
          <a:p>
            <a:r>
              <a:rPr lang="en-US" sz="1200" dirty="0"/>
              <a:t>This slide covers the NCD 240.9 requirements for maintaining HMV coverage beyond initial setup, including the two mandatory evaluations and mask/interface provisions. The editorial note "HARDER TO KEEP" highlights that continued HMV coverage has stricter ongoing requirements than initial qualification.</a:t>
            </a:r>
          </a:p>
          <a:p>
            <a:endParaRPr lang="en-US" sz="1200" dirty="0"/>
          </a:p>
          <a:p>
            <a:r>
              <a:rPr lang="en-US" sz="1200" dirty="0"/>
              <a:t>KEY TALKING POINTS:</a:t>
            </a:r>
          </a:p>
          <a:p>
            <a:endParaRPr lang="en-US" sz="1200" dirty="0"/>
          </a:p>
          <a:p>
            <a:r>
              <a:rPr lang="en-US" sz="1200" dirty="0"/>
              <a:t>1. FIRST EVALUATION (within 61–90 days of initiating HMV):</a:t>
            </a:r>
          </a:p>
          <a:p>
            <a:r>
              <a:rPr lang="en-US" sz="1200" dirty="0"/>
              <a:t>   • Must be performed by the treating practitioner</a:t>
            </a:r>
          </a:p>
          <a:p>
            <a:r>
              <a:rPr lang="en-US" sz="1200" dirty="0"/>
              <a:t>   • Must document that the patient is compliantly using the ventilator (average ≥ 4 hours per 24-hour period)</a:t>
            </a:r>
          </a:p>
          <a:p>
            <a:r>
              <a:rPr lang="en-US" sz="1200" dirty="0"/>
              <a:t>   • Must document that the patient is benefiting from use</a:t>
            </a:r>
          </a:p>
          <a:p>
            <a:r>
              <a:rPr lang="en-US" sz="1200" dirty="0"/>
              <a:t>   • If this evaluation is not completed, Medicare will NOT continue coverage beyond the first 3 months</a:t>
            </a:r>
          </a:p>
          <a:p>
            <a:r>
              <a:rPr lang="en-US" sz="1200" dirty="0"/>
              <a:t>   • This mirrors the RAD 61-day re-evaluation but applies specifically to HMV</a:t>
            </a:r>
          </a:p>
          <a:p>
            <a:endParaRPr lang="en-US" sz="1200" dirty="0"/>
          </a:p>
          <a:p>
            <a:r>
              <a:rPr lang="en-US" sz="1200" dirty="0"/>
              <a:t>2. SECOND EVALUATION (within 6 months of initiating HMV):</a:t>
            </a:r>
          </a:p>
          <a:p>
            <a:r>
              <a:rPr lang="en-US" sz="1200" dirty="0"/>
              <a:t>   • An additional follow-up evaluation is required</a:t>
            </a:r>
          </a:p>
          <a:p>
            <a:r>
              <a:rPr lang="en-US" sz="1200" dirty="0"/>
              <a:t>   • Must again document continued compliance and benefit</a:t>
            </a:r>
          </a:p>
          <a:p>
            <a:r>
              <a:rPr lang="en-US" sz="1200" dirty="0"/>
              <a:t>   • This is a MORE STRINGENT requirement than RAD – RAD only requires the single 61-day re-evaluation for restrictive/NMD</a:t>
            </a:r>
          </a:p>
          <a:p>
            <a:r>
              <a:rPr lang="en-US" sz="1200" dirty="0"/>
              <a:t>   • Failure to complete this evaluation results in loss of coverage</a:t>
            </a:r>
          </a:p>
          <a:p>
            <a:endParaRPr lang="en-US" sz="1200" dirty="0"/>
          </a:p>
          <a:p>
            <a:r>
              <a:rPr lang="en-US" sz="1200" dirty="0"/>
              <a:t>3. POST-SECOND EVALUATION – ONGOING REQUIREMENTS:</a:t>
            </a:r>
          </a:p>
          <a:p>
            <a:r>
              <a:rPr lang="en-US" sz="1200" dirty="0"/>
              <a:t>   • After the second evaluation, continued coverage requires periodic documentation of medical necessity</a:t>
            </a:r>
          </a:p>
          <a:p>
            <a:r>
              <a:rPr lang="en-US" sz="1200" dirty="0"/>
              <a:t>   • The treating practitioner must continue to document ongoing need</a:t>
            </a:r>
          </a:p>
          <a:p>
            <a:r>
              <a:rPr lang="en-US" sz="1200" dirty="0"/>
              <a:t>   • Device compliance monitoring remains important for audit purposes</a:t>
            </a:r>
          </a:p>
          <a:p>
            <a:endParaRPr lang="en-US" sz="1200" dirty="0"/>
          </a:p>
          <a:p>
            <a:r>
              <a:rPr lang="en-US" sz="1200" dirty="0"/>
              <a:t>4. "HARDER TO KEEP" – WHY THIS MATTERS:</a:t>
            </a:r>
          </a:p>
          <a:p>
            <a:r>
              <a:rPr lang="en-US" sz="1200" dirty="0"/>
              <a:t>   • HMV has a higher documentation burden than RAD for continued coverage</a:t>
            </a:r>
          </a:p>
          <a:p>
            <a:r>
              <a:rPr lang="en-US" sz="1200" dirty="0"/>
              <a:t>   • Two mandatory evaluations vs. one for RAD</a:t>
            </a:r>
          </a:p>
          <a:p>
            <a:r>
              <a:rPr lang="en-US" sz="1200" dirty="0"/>
              <a:t>   • Providers need robust follow-up scheduling systems to avoid coverage gaps</a:t>
            </a:r>
          </a:p>
          <a:p>
            <a:r>
              <a:rPr lang="en-US" sz="1200" dirty="0"/>
              <a:t>   • Missed evaluations = automatic loss of Medicare coverage, requiring re-qualification</a:t>
            </a:r>
          </a:p>
          <a:p>
            <a:endParaRPr lang="en-US" sz="1200" dirty="0"/>
          </a:p>
          <a:p>
            <a:r>
              <a:rPr lang="en-US" sz="1200" dirty="0"/>
              <a:t>5. MASKS FOR HMVs (Section c):</a:t>
            </a:r>
          </a:p>
          <a:p>
            <a:r>
              <a:rPr lang="en-US" sz="1200" dirty="0"/>
              <a:t>   • Masks and interfaces are covered as accessories to the HMV</a:t>
            </a:r>
          </a:p>
          <a:p>
            <a:r>
              <a:rPr lang="en-US" sz="1200" dirty="0"/>
              <a:t>   • Replacement schedules are defined in LCD L33800 and the Policy Article A52517</a:t>
            </a:r>
          </a:p>
          <a:p>
            <a:r>
              <a:rPr lang="en-US" sz="1200" dirty="0"/>
              <a:t>   • Both invasive (tracheostomy) and non-invasive (nasal, oronasal, full face) interfaces are covered</a:t>
            </a:r>
          </a:p>
          <a:p>
            <a:r>
              <a:rPr lang="en-US" sz="1200" dirty="0"/>
              <a:t>   • Mask type should match the clinical indication and patient tolerance</a:t>
            </a:r>
          </a:p>
          <a:p>
            <a:endParaRPr lang="en-US" sz="1200" dirty="0"/>
          </a:p>
          <a:p>
            <a:r>
              <a:rPr lang="en-US" sz="1200" dirty="0"/>
              <a:t>6. PRACTICAL IMPLICATIONS:</a:t>
            </a:r>
          </a:p>
          <a:p>
            <a:r>
              <a:rPr lang="en-US" sz="1200" dirty="0"/>
              <a:t>   • Build evaluation milestones into the care plan at device initiation</a:t>
            </a:r>
          </a:p>
          <a:p>
            <a:r>
              <a:rPr lang="en-US" sz="1200" dirty="0"/>
              <a:t>   • Document compliance data from device downloads at each visit</a:t>
            </a:r>
          </a:p>
          <a:p>
            <a:r>
              <a:rPr lang="en-US" sz="1200" dirty="0"/>
              <a:t>   • Ensure the treating practitioner (not just the DME supplier) completes evaluations</a:t>
            </a:r>
          </a:p>
          <a:p>
            <a:r>
              <a:rPr lang="en-US" sz="1200" dirty="0"/>
              <a:t>   • Keep documentation audit-ready – improper payment reviews specifically target evaluation timeliness</a:t>
            </a:r>
          </a:p>
          <a:p>
            <a:endParaRPr lang="en-US" sz="1200" dirty="0"/>
          </a:p>
          <a:p>
            <a:r>
              <a:rPr lang="en-US" sz="1200" dirty="0"/>
              <a:t>Source: NCD 240.9 – Section II: Home Mechanical Ventilators, Continuing Usage Requirements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LCD L33800 – RESTRICTIVE THORACIC DISORDERS: CURRENT COVERAGE CRITERIA</a:t>
            </a:r>
          </a:p>
          <a:p>
            <a:endParaRPr lang="en-US" sz="1200" dirty="0"/>
          </a:p>
          <a:p>
            <a:r>
              <a:rPr lang="en-US" sz="1200" dirty="0"/>
              <a:t>A RAD (E0470 or E0471) is covered for beneficiaries with restrictive thoracic disorders (i.e., neuromuscular diseases or severe thoracic cage abnormalities) when criteria A–C are met:</a:t>
            </a:r>
          </a:p>
          <a:p>
            <a:endParaRPr lang="en-US" sz="1200" dirty="0"/>
          </a:p>
          <a:p>
            <a:r>
              <a:rPr lang="en-US" sz="1200" dirty="0"/>
              <a:t>A. Documentation in the medical record of a neuromuscular disease (e.g., amyotrophic lateral sclerosis) or a severe thoracic cage abnormality (e.g., post-thoracoplasty for TB).</a:t>
            </a:r>
          </a:p>
          <a:p>
            <a:endParaRPr lang="en-US" sz="1200" dirty="0"/>
          </a:p>
          <a:p>
            <a:r>
              <a:rPr lang="en-US" sz="1200" dirty="0"/>
              <a:t>B. One of the following:</a:t>
            </a:r>
          </a:p>
          <a:p>
            <a:r>
              <a:rPr lang="en-US" sz="1200" dirty="0"/>
              <a:t>   • An arterial blood gas PaCO2, done while awake and breathing the beneficiary’s prescribed FiO2, is ≥ 45 mmHg; OR</a:t>
            </a:r>
          </a:p>
          <a:p>
            <a:r>
              <a:rPr lang="en-US" sz="1200" dirty="0"/>
              <a:t>   • Sleep oximetry demonstrates O2 saturation ≤ 88% for ≥ 5 minutes of nocturnal recording time (minimum recording time of 2 hours), done while breathing the beneficiary’s prescribed FiO2; OR</a:t>
            </a:r>
          </a:p>
          <a:p>
            <a:r>
              <a:rPr lang="en-US" sz="1200" dirty="0"/>
              <a:t>   • For a progressive neuromuscular disease (e.g., ALS): maximal inspiratory pressure (MIP) &lt; 60 cm H2O, or forced vital capacity (FVC) &lt; 50% predicted.</a:t>
            </a:r>
          </a:p>
          <a:p>
            <a:endParaRPr lang="en-US" sz="1200" dirty="0"/>
          </a:p>
          <a:p>
            <a:r>
              <a:rPr lang="en-US" sz="1200" dirty="0"/>
              <a:t>C. COPD does not contribute significantly to the beneficiary’s pulmonary limitation.</a:t>
            </a:r>
          </a:p>
          <a:p>
            <a:endParaRPr lang="en-US" sz="1200" dirty="0"/>
          </a:p>
          <a:p>
            <a:r>
              <a:rPr lang="en-US" sz="1200" dirty="0"/>
              <a:t>If all criteria are met, either an E0470 or E0471 device (based on the treating practitioner’s judgment) is covered for the first 3 months of therapy.</a:t>
            </a:r>
          </a:p>
          <a:p>
            <a:endParaRPr lang="en-US" sz="1200" dirty="0"/>
          </a:p>
          <a:p>
            <a:r>
              <a:rPr lang="en-US" sz="1200" dirty="0"/>
              <a:t>NOTE – The ONMAP criteria reflect modern standards for documentation of impaired breathing. These include ABG PaCO2 ≥ 45 mmHg, nocturnal oximetry, and pulmonary function tests (MIP, FVC). A full PFT is not needed – specific measures suffice.</a:t>
            </a:r>
          </a:p>
          <a:p>
            <a:endParaRPr lang="en-US" sz="1200" dirty="0"/>
          </a:p>
          <a:p>
            <a:r>
              <a:rPr lang="en-US" sz="1200" dirty="0"/>
              <a:t>These criteria remain governed by LCD L33800 (MAC authority). The new COPD NCD 240.9 does NOT change restrictive/NMD criteria.</a:t>
            </a:r>
          </a:p>
          <a:p>
            <a:endParaRPr lang="en-US" sz="1200" dirty="0"/>
          </a:p>
          <a:p>
            <a:r>
              <a:rPr lang="en-US" sz="1200" dirty="0"/>
              <a:t>Source: LCD L33800 – Respiratory Assist Devices</a:t>
            </a:r>
          </a:p>
        </p:txBody>
      </p:sp>
      <p:sp>
        <p:nvSpPr>
          <p:cNvPr id="4" name="Slide Number Placeholder 3"/>
          <p:cNvSpPr>
            <a:spLocks noGrp="1"/>
          </p:cNvSpPr>
          <p:nvPr>
            <p:ph type="sldNum" sz="quarter" idx="5"/>
          </p:nvPr>
        </p:nvSpPr>
        <p:spPr/>
        <p:txBody>
          <a:bodyPr/>
          <a:lstStyle/>
          <a:p>
            <a:fld id="{CAE95492-69FC-6747-A10A-BC997BE9EE3A}" type="slidenum">
              <a:rPr lang="en-US" smtClean="0"/>
              <a:t>14</a:t>
            </a:fld>
            <a:endParaRPr lang="en-US"/>
          </a:p>
        </p:txBody>
      </p:sp>
    </p:spTree>
    <p:extLst>
      <p:ext uri="{BB962C8B-B14F-4D97-AF65-F5344CB8AC3E}">
        <p14:creationId xmlns:p14="http://schemas.microsoft.com/office/powerpoint/2010/main" val="3064305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PRESENTER NOTES – Restrictive/NMD: RAD Initial Coverage – ABG, Oximetry &amp; PFT Criteria</a:t>
            </a:r>
          </a:p>
          <a:p>
            <a:endParaRPr lang="en-US" sz="1200" dirty="0"/>
          </a:p>
          <a:p>
            <a:r>
              <a:rPr lang="en-US" sz="1200" dirty="0"/>
              <a:t>SLIDE SUMMARY:</a:t>
            </a:r>
          </a:p>
          <a:p>
            <a:r>
              <a:rPr lang="en-US" sz="1200" dirty="0"/>
              <a:t>This slide details the current LCD L33800 clinical requirements for initial RAD setup in patients with restrictive thoracic disorders (neuromuscular disease or severe thoracic cage abnormalities).</a:t>
            </a:r>
          </a:p>
          <a:p>
            <a:endParaRPr lang="en-US" sz="1200" dirty="0"/>
          </a:p>
          <a:p>
            <a:r>
              <a:rPr lang="en-US" sz="1200" dirty="0"/>
              <a:t>KEY TALKING POINTS:</a:t>
            </a:r>
          </a:p>
          <a:p>
            <a:endParaRPr lang="en-US" sz="1200" dirty="0"/>
          </a:p>
          <a:p>
            <a:r>
              <a:rPr lang="en-US" sz="1200" dirty="0"/>
              <a:t>1. CLINICAL REQUIREMENTS FOR INITIAL SETUP (Criteria A–C, ALL must be met):</a:t>
            </a:r>
          </a:p>
          <a:p>
            <a:endParaRPr lang="en-US" sz="1200" dirty="0"/>
          </a:p>
          <a:p>
            <a:r>
              <a:rPr lang="en-US" sz="1200" dirty="0"/>
              <a:t>   Criterion A – Diagnosis:</a:t>
            </a:r>
          </a:p>
          <a:p>
            <a:r>
              <a:rPr lang="en-US" sz="1200" dirty="0"/>
              <a:t>   • Documentation of a neuromuscular disease (e.g., ALS, muscular dystrophy, myasthenia gravis, SMA, post-polio) OR a severe thoracic cage abnormality (e.g., post-thoracoplasty for TB, kyphoscoliosis, fibrothorax)</a:t>
            </a:r>
          </a:p>
          <a:p>
            <a:endParaRPr lang="en-US" sz="1200" dirty="0"/>
          </a:p>
          <a:p>
            <a:r>
              <a:rPr lang="en-US" sz="1200" dirty="0"/>
              <a:t>   Criterion B – Documentation of Impaired Breathing (ONE of the following):</a:t>
            </a:r>
          </a:p>
          <a:p>
            <a:r>
              <a:rPr lang="en-US" sz="1200" dirty="0"/>
              <a:t>   • Awake arterial blood gas (ABG): PaCO2 ≥ 45 mmHg, done on prescribed FiO2</a:t>
            </a:r>
          </a:p>
          <a:p>
            <a:r>
              <a:rPr lang="en-US" sz="1200" dirty="0"/>
              <a:t>   • Sleep oximetry: SpO2 ≤ 88% for ≥ 5 minutes of nocturnal recording (minimum 2-hour recording), on prescribed FiO2</a:t>
            </a:r>
          </a:p>
          <a:p>
            <a:r>
              <a:rPr lang="en-US" sz="1200" dirty="0"/>
              <a:t>   • For progressive neuromuscular disease ONLY:</a:t>
            </a:r>
          </a:p>
          <a:p>
            <a:r>
              <a:rPr lang="en-US" sz="1200" dirty="0"/>
              <a:t>     – Maximal inspiratory pressure (MIP) &lt; 60 cm H2O, OR</a:t>
            </a:r>
          </a:p>
          <a:p>
            <a:r>
              <a:rPr lang="en-US" sz="1200" dirty="0"/>
              <a:t>     – Forced vital capacity (FVC) &lt; 50% predicted</a:t>
            </a:r>
          </a:p>
          <a:p>
            <a:endParaRPr lang="en-US" sz="1200" dirty="0"/>
          </a:p>
          <a:p>
            <a:r>
              <a:rPr lang="en-US" sz="1200" dirty="0"/>
              <a:t>   Criterion C – COPD Exclusion:</a:t>
            </a:r>
          </a:p>
          <a:p>
            <a:r>
              <a:rPr lang="en-US" sz="1200" dirty="0"/>
              <a:t>   • COPD does not contribute significantly to the beneficiary's pulmonary limitation</a:t>
            </a:r>
          </a:p>
          <a:p>
            <a:r>
              <a:rPr lang="en-US" sz="1200" dirty="0"/>
              <a:t>   • This criterion distinguishes the restrictive/NMD pathway from the COPD pathway (NCD 240.9)</a:t>
            </a:r>
          </a:p>
          <a:p>
            <a:endParaRPr lang="en-US" sz="1200" dirty="0"/>
          </a:p>
          <a:p>
            <a:r>
              <a:rPr lang="en-US" sz="1200" dirty="0"/>
              <a:t>2. IMPORTANT NUANCE – "Full PFT not needed":</a:t>
            </a:r>
          </a:p>
          <a:p>
            <a:r>
              <a:rPr lang="en-US" sz="1200" dirty="0"/>
              <a:t>   • The LCD does NOT require a complete pulmonary function test panel</a:t>
            </a:r>
          </a:p>
          <a:p>
            <a:r>
              <a:rPr lang="en-US" sz="1200" dirty="0"/>
              <a:t>   • Only the specific measures listed above (ABG, oximetry, MIP, or FVC) are needed to qualify</a:t>
            </a:r>
          </a:p>
          <a:p>
            <a:r>
              <a:rPr lang="en-US" sz="1200" dirty="0"/>
              <a:t>   • This is a common source of confusion – providers sometimes delay referral thinking a full PFT workup is required</a:t>
            </a:r>
          </a:p>
          <a:p>
            <a:r>
              <a:rPr lang="en-US" sz="1200" dirty="0"/>
              <a:t>   • For ALS patients in particular, full PFT may be impractical; MIP or FVC alone can suffice</a:t>
            </a:r>
          </a:p>
          <a:p>
            <a:endParaRPr lang="en-US" sz="1200" dirty="0"/>
          </a:p>
          <a:p>
            <a:r>
              <a:rPr lang="en-US" sz="1200" dirty="0"/>
              <a:t>3. DEVICE COVERAGE:</a:t>
            </a:r>
          </a:p>
          <a:p>
            <a:r>
              <a:rPr lang="en-US" sz="1200" dirty="0"/>
              <a:t>   • If all criteria A–C are met, either an E0470 (without backup rate) or E0471 (with backup rate) is covered</a:t>
            </a:r>
          </a:p>
          <a:p>
            <a:r>
              <a:rPr lang="en-US" sz="1200" dirty="0"/>
              <a:t>   • Device selection is at the treating practitioner's judgment – no LCD-mandated distinction for restrictive/NMD</a:t>
            </a:r>
          </a:p>
          <a:p>
            <a:r>
              <a:rPr lang="en-US" sz="1200" dirty="0"/>
              <a:t>   • Coverage is for the first 3 months; continued coverage requires 61-day re-evaluation (see next slide)</a:t>
            </a:r>
          </a:p>
          <a:p>
            <a:endParaRPr lang="en-US" sz="1200" dirty="0"/>
          </a:p>
          <a:p>
            <a:r>
              <a:rPr lang="en-US" sz="1200" dirty="0"/>
              <a:t>4. PRACTICAL CONSIDERATIONS FOR PROVIDERS:</a:t>
            </a:r>
          </a:p>
          <a:p>
            <a:r>
              <a:rPr lang="en-US" sz="1200" dirty="0"/>
              <a:t>   • Ensure symptom documentation (hypersomnolence, fatigue, headache, cognitive dysfunction, dyspnea) is in the chart BEFORE ordering testing – this is a prerequisite</a:t>
            </a:r>
          </a:p>
          <a:p>
            <a:r>
              <a:rPr lang="en-US" sz="1200" dirty="0"/>
              <a:t>   • ABG must be done while AWAKE and on prescribed FiO2</a:t>
            </a:r>
          </a:p>
          <a:p>
            <a:r>
              <a:rPr lang="en-US" sz="1200" dirty="0"/>
              <a:t>   • Oximetry must be NOCTURNAL with minimum 2-hour recording</a:t>
            </a:r>
          </a:p>
          <a:p>
            <a:r>
              <a:rPr lang="en-US" sz="1200" dirty="0"/>
              <a:t>   • MIP/FVC pathway is ONLY available for progressive neuromuscular disease, not for thoracic cage abnormalities</a:t>
            </a:r>
          </a:p>
          <a:p>
            <a:endParaRPr lang="en-US" sz="1200" dirty="0"/>
          </a:p>
          <a:p>
            <a:r>
              <a:rPr lang="en-US" sz="1200" dirty="0"/>
              <a:t>Source: LCD L33800 – Respiratory Assist Devices</a:t>
            </a:r>
          </a:p>
          <a:p>
            <a:r>
              <a:rPr lang="en-US" sz="1200" dirty="0"/>
              <a:t>Reference: https://www.cms.gov/medicare-coverage-database/view/lcd.aspx?LCDId=33800</a:t>
            </a:r>
          </a:p>
        </p:txBody>
      </p:sp>
      <p:sp>
        <p:nvSpPr>
          <p:cNvPr id="4" name="Slide Number Placeholder 3"/>
          <p:cNvSpPr>
            <a:spLocks noGrp="1"/>
          </p:cNvSpPr>
          <p:nvPr>
            <p:ph type="sldNum" sz="quarter" idx="5"/>
          </p:nvPr>
        </p:nvSpPr>
        <p:spPr/>
        <p:txBody>
          <a:bodyPr/>
          <a:lstStyle/>
          <a:p>
            <a:fld id="{CAE95492-69FC-6747-A10A-BC997BE9EE3A}" type="slidenum">
              <a:rPr lang="en-US" smtClean="0"/>
              <a:t>15</a:t>
            </a:fld>
            <a:endParaRPr lang="en-US"/>
          </a:p>
        </p:txBody>
      </p:sp>
    </p:spTree>
    <p:extLst>
      <p:ext uri="{BB962C8B-B14F-4D97-AF65-F5344CB8AC3E}">
        <p14:creationId xmlns:p14="http://schemas.microsoft.com/office/powerpoint/2010/main" val="1779254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LCD L33800 – RESTRICTIVE THORACIC DISORDERS: CONTINUED COVERAGE &amp; RE-EVALUATION</a:t>
            </a:r>
          </a:p>
          <a:p>
            <a:endParaRPr lang="en-US" sz="1200" dirty="0"/>
          </a:p>
          <a:p>
            <a:r>
              <a:rPr lang="en-US" sz="1200" dirty="0"/>
              <a:t>CONTINUED COVERAGE BEYOND FIRST 3 MONTHS:</a:t>
            </a:r>
          </a:p>
          <a:p>
            <a:r>
              <a:rPr lang="en-US" sz="1200" dirty="0"/>
              <a:t>Beneficiaries covered for the first 3 months of an E0470 or E0471 for restrictive thoracic disorders must be re-evaluated to establish medical necessity of continued coverage.</a:t>
            </a:r>
          </a:p>
          <a:p>
            <a:endParaRPr lang="en-US" sz="1200" dirty="0"/>
          </a:p>
          <a:p>
            <a:r>
              <a:rPr lang="en-US" sz="1200" dirty="0"/>
              <a:t>RE-EVALUATION REQUIREMENTS:</a:t>
            </a:r>
          </a:p>
          <a:p>
            <a:r>
              <a:rPr lang="en-US" sz="1200" dirty="0"/>
              <a:t>• Re-evaluation must occur no sooner than 61 days after initiating therapy</a:t>
            </a:r>
          </a:p>
          <a:p>
            <a:r>
              <a:rPr lang="en-US" sz="1200" dirty="0"/>
              <a:t>• Must be performed by the treating practitioner</a:t>
            </a:r>
          </a:p>
          <a:p>
            <a:r>
              <a:rPr lang="en-US" sz="1200" dirty="0"/>
              <a:t>• Medicare will NOT continue coverage for the 4th and succeeding months until re-evaluation is completed</a:t>
            </a:r>
          </a:p>
          <a:p>
            <a:endParaRPr lang="en-US" sz="1200" dirty="0"/>
          </a:p>
          <a:p>
            <a:r>
              <a:rPr lang="en-US" sz="1200" dirty="0"/>
              <a:t>CLINICAL REQUIREMENTS FOR RE-EVALUATION:</a:t>
            </a:r>
          </a:p>
          <a:p>
            <a:r>
              <a:rPr lang="en-US" sz="1200" dirty="0"/>
              <a:t>• Signed and dated statement by treating practitioner declaring:</a:t>
            </a:r>
          </a:p>
          <a:p>
            <a:r>
              <a:rPr lang="en-US" sz="1200" dirty="0"/>
              <a:t>  – Patient is compliantly using the device (average of 4 hours per 24-hour period)</a:t>
            </a:r>
          </a:p>
          <a:p>
            <a:r>
              <a:rPr lang="en-US" sz="1200" dirty="0"/>
              <a:t>  – Patient is benefiting from its use</a:t>
            </a:r>
          </a:p>
          <a:p>
            <a:r>
              <a:rPr lang="en-US" sz="1200" dirty="0"/>
              <a:t>• Objective evidence of benefit (e.g., improved gas exchange, symptoms, sleep quality)</a:t>
            </a:r>
          </a:p>
          <a:p>
            <a:endParaRPr lang="en-US" sz="1200" dirty="0"/>
          </a:p>
          <a:p>
            <a:r>
              <a:rPr lang="en-US" sz="1200" dirty="0"/>
              <a:t>TELEHEALTH CONSIDERATIONS:</a:t>
            </a:r>
          </a:p>
          <a:p>
            <a:r>
              <a:rPr lang="en-US" sz="1200" dirty="0"/>
              <a:t>• Status of telehealth for the re-evaluation visit is unclear at the time of writing</a:t>
            </a:r>
          </a:p>
          <a:p>
            <a:r>
              <a:rPr lang="en-US" sz="1200" dirty="0"/>
              <a:t>• Even if a clinic allows telehealth visits generally, Medicare DME re-evaluation requirements may require in-person assessment</a:t>
            </a:r>
          </a:p>
          <a:p>
            <a:r>
              <a:rPr lang="en-US" sz="1200" dirty="0"/>
              <a:t>• The re-evaluation must produce documentation sufficient to demonstrate continued medical necessity</a:t>
            </a:r>
          </a:p>
          <a:p>
            <a:r>
              <a:rPr lang="en-US" sz="1200" dirty="0"/>
              <a:t>• Providers should verify MAC-specific guidance on acceptable visit modalities for RAD re-evaluation</a:t>
            </a:r>
          </a:p>
          <a:p>
            <a:endParaRPr lang="en-US" sz="1200" dirty="0"/>
          </a:p>
          <a:p>
            <a:r>
              <a:rPr lang="en-US" sz="1200" dirty="0"/>
              <a:t>NOTE: These continued coverage requirements apply equally to restrictive thoracic disorders, CSA, CompSA, and hypoventilation syndrome – but NOT to COPD (which has separate criteria under NCD 240.9).</a:t>
            </a:r>
          </a:p>
          <a:p>
            <a:endParaRPr lang="en-US" sz="1200" dirty="0"/>
          </a:p>
          <a:p>
            <a:r>
              <a:rPr lang="en-US" sz="1200" dirty="0"/>
              <a:t>Source: LCD L33800 – Respiratory Assist Devices, Continued Coverage section</a:t>
            </a:r>
          </a:p>
        </p:txBody>
      </p:sp>
      <p:sp>
        <p:nvSpPr>
          <p:cNvPr id="4" name="Slide Number Placeholder 3"/>
          <p:cNvSpPr>
            <a:spLocks noGrp="1"/>
          </p:cNvSpPr>
          <p:nvPr>
            <p:ph type="sldNum" sz="quarter" idx="5"/>
          </p:nvPr>
        </p:nvSpPr>
        <p:spPr/>
        <p:txBody>
          <a:bodyPr/>
          <a:lstStyle/>
          <a:p>
            <a:fld id="{CAE95492-69FC-6747-A10A-BC997BE9EE3A}" type="slidenum">
              <a:rPr lang="en-US" smtClean="0"/>
              <a:t>16</a:t>
            </a:fld>
            <a:endParaRPr lang="en-US"/>
          </a:p>
        </p:txBody>
      </p:sp>
    </p:spTree>
    <p:extLst>
      <p:ext uri="{BB962C8B-B14F-4D97-AF65-F5344CB8AC3E}">
        <p14:creationId xmlns:p14="http://schemas.microsoft.com/office/powerpoint/2010/main" val="2162608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PRESENTER NOTES – Restrictive/NMD: Qualifying Diagnoses – No Formal CMS List Exists</a:t>
            </a:r>
          </a:p>
          <a:p>
            <a:endParaRPr lang="en-US" sz="1200" dirty="0"/>
          </a:p>
          <a:p>
            <a:r>
              <a:rPr lang="en-US" sz="1200" dirty="0"/>
              <a:t>SLIDE SUMMARY:</a:t>
            </a:r>
          </a:p>
          <a:p>
            <a:r>
              <a:rPr lang="en-US" sz="1200" dirty="0"/>
              <a:t>This slide compares the current LCD L33800 diagnosis language (broad categories) with the NCD 240.9 Table 4 (specific enumerated diagnoses). A key finding from additional research: there is NO formal CMS checklist or closed list defining "severe thoracic cage abnormality." Coverage depends on clinical documentation, not a diagnosis-code whitelist.</a:t>
            </a:r>
          </a:p>
          <a:p>
            <a:endParaRPr lang="en-US" sz="1200" dirty="0"/>
          </a:p>
          <a:p>
            <a:r>
              <a:rPr lang="en-US" sz="1200" dirty="0"/>
              <a:t>—————————————————————————————</a:t>
            </a:r>
          </a:p>
          <a:p>
            <a:endParaRPr lang="en-US" sz="1200" dirty="0"/>
          </a:p>
          <a:p>
            <a:r>
              <a:rPr lang="en-US" sz="1200" dirty="0"/>
              <a:t>1. CURRENT LCD L33800 – DIAGNOSIS LANGUAGE:</a:t>
            </a:r>
          </a:p>
          <a:p>
            <a:r>
              <a:rPr lang="en-US" sz="1200" dirty="0"/>
              <a:t>The LCD uses BROAD, non-enumerated categories:</a:t>
            </a:r>
          </a:p>
          <a:p>
            <a:r>
              <a:rPr lang="en-US" sz="1200" dirty="0"/>
              <a:t>• "Neuromuscular disease" (e.g., ALS) – no closed list</a:t>
            </a:r>
          </a:p>
          <a:p>
            <a:r>
              <a:rPr lang="en-US" sz="1200" dirty="0"/>
              <a:t>• "Severe thoracic cage abnormality" (e.g., post-thoracoplasty for TB) – no closed list</a:t>
            </a:r>
          </a:p>
          <a:p>
            <a:r>
              <a:rPr lang="en-US" sz="1200" dirty="0"/>
              <a:t>The ICD-10-CM support codes section in the LCD and Policy Article A52517 lists codes as "N/A" – NOT as a qualifying diagnosis list.</a:t>
            </a:r>
          </a:p>
          <a:p>
            <a:endParaRPr lang="en-US" sz="1200" dirty="0"/>
          </a:p>
          <a:p>
            <a:r>
              <a:rPr lang="en-US" sz="1200" dirty="0"/>
              <a:t>2. NCD 240.9 TABLE 4 – ENUMERATED DIAGNOSES:</a:t>
            </a:r>
          </a:p>
          <a:p>
            <a:r>
              <a:rPr lang="en-US" sz="1200" dirty="0"/>
              <a:t>The NCD lists 10 specific neuromuscular/chest wall disorder categories:</a:t>
            </a:r>
          </a:p>
          <a:p>
            <a:r>
              <a:rPr lang="en-US" sz="1200" dirty="0"/>
              <a:t>1. ALS (Amyotrophic Lateral Sclerosis)</a:t>
            </a:r>
          </a:p>
          <a:p>
            <a:r>
              <a:rPr lang="en-US" sz="1200" dirty="0"/>
              <a:t>2. Muscular dystrophy</a:t>
            </a:r>
          </a:p>
          <a:p>
            <a:r>
              <a:rPr lang="en-US" sz="1200" dirty="0"/>
              <a:t>3. Post-polio syndrome</a:t>
            </a:r>
          </a:p>
          <a:p>
            <a:r>
              <a:rPr lang="en-US" sz="1200" dirty="0"/>
              <a:t>4. Myasthenia gravis</a:t>
            </a:r>
          </a:p>
          <a:p>
            <a:r>
              <a:rPr lang="en-US" sz="1200" dirty="0"/>
              <a:t>5. Multiple sclerosis</a:t>
            </a:r>
          </a:p>
          <a:p>
            <a:r>
              <a:rPr lang="en-US" sz="1200" dirty="0"/>
              <a:t>6. Spinal muscular atrophy</a:t>
            </a:r>
          </a:p>
          <a:p>
            <a:r>
              <a:rPr lang="en-US" sz="1200" dirty="0"/>
              <a:t>7. Spinal cord injury</a:t>
            </a:r>
          </a:p>
          <a:p>
            <a:r>
              <a:rPr lang="en-US" sz="1200" dirty="0"/>
              <a:t>8. Diaphragm paralysis</a:t>
            </a:r>
          </a:p>
          <a:p>
            <a:r>
              <a:rPr lang="en-US" sz="1200" dirty="0"/>
              <a:t>9. Myopathy</a:t>
            </a:r>
          </a:p>
          <a:p>
            <a:r>
              <a:rPr lang="en-US" sz="1200" dirty="0"/>
              <a:t>10. Thoracic cage abnormalities</a:t>
            </a:r>
          </a:p>
          <a:p>
            <a:endParaRPr lang="en-US" sz="1200" dirty="0"/>
          </a:p>
          <a:p>
            <a:r>
              <a:rPr lang="en-US" sz="1200" dirty="0"/>
              <a:t>IMPORTANT: It is unclear whether the LCD will adopt this expanded list for non-COPD indications or retain the current broad language. The NCD list is more specific but potentially more RESTRICTIVE than the LCD's open categorical language.</a:t>
            </a:r>
          </a:p>
          <a:p>
            <a:endParaRPr lang="en-US" sz="1200" dirty="0"/>
          </a:p>
          <a:p>
            <a:r>
              <a:rPr lang="en-US" sz="1200" dirty="0"/>
              <a:t>3. "SEVERE THORACIC CAGE ABNORMALITY" – WHAT QUALIFIES?</a:t>
            </a:r>
          </a:p>
          <a:p>
            <a:endParaRPr lang="en-US" sz="1200" dirty="0"/>
          </a:p>
          <a:p>
            <a:r>
              <a:rPr lang="en-US" sz="1200" dirty="0"/>
              <a:t>No current CMS/Noridian document defines this by a formal checklist or closed diagnosis list.</a:t>
            </a:r>
          </a:p>
          <a:p>
            <a:endParaRPr lang="en-US" sz="1200" dirty="0"/>
          </a:p>
          <a:p>
            <a:r>
              <a:rPr lang="en-US" sz="1200" dirty="0"/>
              <a:t>At the national level, NCD 280.1 covers ventilators for "thoracic restrictive diseases" but does not enumerate qualifying diagnoses. The 2025 COPD NCD leaves non-COPD indications to MAC discretion rather than creating a national list.</a:t>
            </a:r>
          </a:p>
          <a:p>
            <a:endParaRPr lang="en-US" sz="1200" dirty="0"/>
          </a:p>
          <a:p>
            <a:r>
              <a:rPr lang="en-US" sz="1200" dirty="0"/>
              <a:t>The closest official CMS material is the CMS NIPPV Technology Assessment, which describes thoracic restrictive disease as including:</a:t>
            </a:r>
          </a:p>
          <a:p>
            <a:r>
              <a:rPr lang="en-US" sz="1200" dirty="0"/>
              <a:t>• Post-thoracoplasty / post-TB thoracic sequelae (the only example in L33800)</a:t>
            </a:r>
          </a:p>
          <a:p>
            <a:r>
              <a:rPr lang="en-US" sz="1200" dirty="0"/>
              <a:t>• Kyphoscoliosis</a:t>
            </a:r>
          </a:p>
          <a:p>
            <a:r>
              <a:rPr lang="en-US" sz="1200" dirty="0"/>
              <a:t>• Fibrothorax</a:t>
            </a:r>
          </a:p>
          <a:p>
            <a:r>
              <a:rPr lang="en-US" sz="1200" dirty="0"/>
              <a:t>• Other severe chest wall deformities functioning like the above</a:t>
            </a:r>
          </a:p>
          <a:p>
            <a:endParaRPr lang="en-US" sz="1200" dirty="0"/>
          </a:p>
          <a:p>
            <a:r>
              <a:rPr lang="en-US" sz="1200" dirty="0"/>
              <a:t>Best reading: "severe thoracic cage abnormality" means a structural chest wall disorder causing restrictive ventilatory impairment and chronic hypoventilation – NOT a diagnosis-code whitelist.</a:t>
            </a:r>
          </a:p>
          <a:p>
            <a:endParaRPr lang="en-US" sz="1200" dirty="0"/>
          </a:p>
          <a:p>
            <a:r>
              <a:rPr lang="en-US" sz="1200" dirty="0"/>
              <a:t>4. WHAT "SEVERE" MEANS – NO NUMERIC THRESHOLD:</a:t>
            </a:r>
          </a:p>
          <a:p>
            <a:r>
              <a:rPr lang="en-US" sz="1200" dirty="0"/>
              <a:t>The LCD does NOT quantify "severe." The only numeric marker found in CMS-reviewed literature was one kyphoscoliosis study using Cobb angle &gt;90°, but CMS did not adopt any numeric deformity threshold into L33800.</a:t>
            </a:r>
          </a:p>
          <a:p>
            <a:endParaRPr lang="en-US" sz="1200" dirty="0"/>
          </a:p>
          <a:p>
            <a:r>
              <a:rPr lang="en-US" sz="1200" dirty="0"/>
              <a:t>5. CONDITIONS NOT CLEARLY COVERED:</a:t>
            </a:r>
          </a:p>
          <a:p>
            <a:r>
              <a:rPr lang="en-US" sz="1200" dirty="0"/>
              <a:t>Conditions that may need separate advocacy for LCD inclusion:</a:t>
            </a:r>
          </a:p>
          <a:p>
            <a:r>
              <a:rPr lang="en-US" sz="1200" dirty="0"/>
              <a:t>• Central hypoventilation syndromes (CCHS, ROHHAD, IGLON5)</a:t>
            </a:r>
          </a:p>
          <a:p>
            <a:r>
              <a:rPr lang="en-US" sz="1200" dirty="0"/>
              <a:t>• Phrenic nerve conditions</a:t>
            </a:r>
          </a:p>
          <a:p>
            <a:r>
              <a:rPr lang="en-US" sz="1200" dirty="0"/>
              <a:t>• Joubert syndrome</a:t>
            </a:r>
          </a:p>
          <a:p>
            <a:r>
              <a:rPr lang="en-US" sz="1200" dirty="0"/>
              <a:t>These do not fit neatly into either "neuromuscular disease" or "thoracic cage abnormality" as currently defined.</a:t>
            </a:r>
          </a:p>
          <a:p>
            <a:endParaRPr lang="en-US" sz="1200" dirty="0"/>
          </a:p>
          <a:p>
            <a:r>
              <a:rPr lang="en-US" sz="1200" dirty="0"/>
              <a:t>6. PHYSIOLOGIC QUALIFICATION PATHWAYS BY DIAGNOSIS TYPE:</a:t>
            </a:r>
          </a:p>
          <a:p>
            <a:r>
              <a:rPr lang="en-US" sz="1200" dirty="0"/>
              <a:t>• Neuromuscular disease: ABG (PaCO2 ≥45), nocturnal oximetry (SpO2 ≤88%), OR MIP/FVC</a:t>
            </a:r>
          </a:p>
          <a:p>
            <a:r>
              <a:rPr lang="en-US" sz="1200" dirty="0"/>
              <a:t>• Severe thoracic cage abnormality: ABG or nocturnal oximetry ONLY – the FVC/MIP pathway is LIMITED to neuromuscular disease</a:t>
            </a:r>
          </a:p>
          <a:p>
            <a:endParaRPr lang="en-US" sz="1200" dirty="0"/>
          </a:p>
          <a:p>
            <a:r>
              <a:rPr lang="en-US" sz="1200" dirty="0"/>
              <a:t>7. PRACTICAL DOCUMENTATION TAKEAWAY:</a:t>
            </a:r>
          </a:p>
          <a:p>
            <a:r>
              <a:rPr lang="en-US" sz="1200" dirty="0"/>
              <a:t>Do NOT ask whether the diagnosis name appears on a published list – there is no current list. Instead, the record must clearly show:</a:t>
            </a:r>
          </a:p>
          <a:p>
            <a:r>
              <a:rPr lang="en-US" sz="1200" dirty="0"/>
              <a:t>(a) A documented severe structural chest wall abnormality (or neuromuscular disease), AND</a:t>
            </a:r>
          </a:p>
          <a:p>
            <a:r>
              <a:rPr lang="en-US" sz="1200" dirty="0"/>
              <a:t>(b) The required physiologic qualification route (ABG, oximetry, or MIP/FVC for NMD only)</a:t>
            </a:r>
          </a:p>
          <a:p>
            <a:endParaRPr lang="en-US" sz="1200" dirty="0"/>
          </a:p>
          <a:p>
            <a:r>
              <a:rPr lang="en-US" sz="1200" dirty="0"/>
              <a:t>A useful next step would be a clinic documentation phrase set that ties these findings to the Noridian audit standard.</a:t>
            </a:r>
          </a:p>
          <a:p>
            <a:endParaRPr lang="en-US" sz="1200" dirty="0"/>
          </a:p>
          <a:p>
            <a:r>
              <a:rPr lang="en-US" sz="1200" dirty="0"/>
              <a:t>Source: LCD L33800; NCD 240.9 Table 4; NCD 280.1; CMS NIPPV Technology Assessment; Policy Article A52517</a:t>
            </a:r>
          </a:p>
        </p:txBody>
      </p:sp>
      <p:sp>
        <p:nvSpPr>
          <p:cNvPr id="4" name="Slide Number Placeholder 3"/>
          <p:cNvSpPr>
            <a:spLocks noGrp="1"/>
          </p:cNvSpPr>
          <p:nvPr>
            <p:ph type="sldNum" sz="quarter" idx="5"/>
          </p:nvPr>
        </p:nvSpPr>
        <p:spPr/>
        <p:txBody>
          <a:bodyPr/>
          <a:lstStyle/>
          <a:p>
            <a:fld id="{CAE95492-69FC-6747-A10A-BC997BE9EE3A}" type="slidenum">
              <a:rPr lang="en-US" smtClean="0"/>
              <a:t>17</a:t>
            </a:fld>
            <a:endParaRPr lang="en-US"/>
          </a:p>
        </p:txBody>
      </p:sp>
    </p:spTree>
    <p:extLst>
      <p:ext uri="{BB962C8B-B14F-4D97-AF65-F5344CB8AC3E}">
        <p14:creationId xmlns:p14="http://schemas.microsoft.com/office/powerpoint/2010/main" val="1694982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PRESENTER NOTES – Restrictive/NMD: ONMAP Testing Recommendations &amp; Table 3 Criteria</a:t>
            </a:r>
          </a:p>
          <a:p>
            <a:endParaRPr lang="en-US" sz="1200" dirty="0"/>
          </a:p>
          <a:p>
            <a:r>
              <a:rPr lang="en-US" sz="1200" dirty="0"/>
              <a:t>SLIDE SUMMARY:</a:t>
            </a:r>
          </a:p>
          <a:p>
            <a:r>
              <a:rPr lang="en-US" sz="1200" dirty="0"/>
              <a:t>This slide compares the current LCD L33800 testing requirements for impaired breathing with the expanded testing modalities recommended by ONMAP (Optimal NIV Medicare Access Promotion). The right side shows NCD 240.9 Table 3, which lists the objective measures of impaired breathing that CMS has recognized. This is directly relevant to our TcCO2 paper, especially for ALS patients.</a:t>
            </a:r>
          </a:p>
          <a:p>
            <a:endParaRPr lang="en-US" sz="1200" dirty="0"/>
          </a:p>
          <a:p>
            <a:r>
              <a:rPr lang="en-US" sz="1200" dirty="0"/>
              <a:t>—————————————————————————————</a:t>
            </a:r>
          </a:p>
          <a:p>
            <a:endParaRPr lang="en-US" sz="1200" dirty="0"/>
          </a:p>
          <a:p>
            <a:r>
              <a:rPr lang="en-US" sz="1200" dirty="0"/>
              <a:t>1. CURRENT LCD TESTING (CONTINUE AS-IS):</a:t>
            </a:r>
          </a:p>
          <a:p>
            <a:r>
              <a:rPr lang="en-US" sz="1200" dirty="0"/>
              <a:t>   • Awake ABG: PaCO2 ≥ 45 mmHg on prescribed FiO2</a:t>
            </a:r>
          </a:p>
          <a:p>
            <a:r>
              <a:rPr lang="en-US" sz="1200" dirty="0"/>
              <a:t>   • Nocturnal sleep oximetry: SpO2 ≤ 88% for ≥ 5 minutes (minimum 2-hour recording)</a:t>
            </a:r>
          </a:p>
          <a:p>
            <a:r>
              <a:rPr lang="en-US" sz="1200" dirty="0"/>
              <a:t>   These remain the baseline qualification tests under L33800.</a:t>
            </a:r>
          </a:p>
          <a:p>
            <a:endParaRPr lang="en-US" sz="1200" dirty="0"/>
          </a:p>
          <a:p>
            <a:r>
              <a:rPr lang="en-US" sz="1200" dirty="0"/>
              <a:t>2. ONMAP RECOMMENDED ADDITIONS – EXPANDED CO2 ASSESSMENT:</a:t>
            </a:r>
          </a:p>
          <a:p>
            <a:r>
              <a:rPr lang="en-US" sz="1200" dirty="0"/>
              <a:t>   ONMAP advocates adding these alternative CO2 measurement methods:</a:t>
            </a:r>
          </a:p>
          <a:p>
            <a:r>
              <a:rPr lang="en-US" sz="1200" dirty="0"/>
              <a:t>   • End-tidal CO2 (EtCO2) ≥ 45 mmHg</a:t>
            </a:r>
          </a:p>
          <a:p>
            <a:r>
              <a:rPr lang="en-US" sz="1200" dirty="0"/>
              <a:t>   • Transcutaneous CO2 (TcCO2) ≥ 45 mmHg</a:t>
            </a:r>
          </a:p>
          <a:p>
            <a:r>
              <a:rPr lang="en-US" sz="1200" dirty="0"/>
              <a:t>   • Venous blood gas (VBG) CO2 ≥ 48 mmHg (with venous-arterial correction factor)</a:t>
            </a:r>
          </a:p>
          <a:p>
            <a:endParaRPr lang="en-US" sz="1200" dirty="0"/>
          </a:p>
          <a:p>
            <a:r>
              <a:rPr lang="en-US" sz="1200" dirty="0"/>
              <a:t>   WHY THIS MATTERS:</a:t>
            </a:r>
          </a:p>
          <a:p>
            <a:r>
              <a:rPr lang="en-US" sz="1200" dirty="0"/>
              <a:t>   • ABG is invasive, painful, and not always practical (especially in ALS patients with limited mobility)</a:t>
            </a:r>
          </a:p>
          <a:p>
            <a:r>
              <a:rPr lang="en-US" sz="1200" dirty="0"/>
              <a:t>   • TcCO2 and EtCO2 are non-invasive, can be done in clinic or at home</a:t>
            </a:r>
          </a:p>
          <a:p>
            <a:r>
              <a:rPr lang="en-US" sz="1200" dirty="0"/>
              <a:t>   • VBG is less invasive than ABG and widely available</a:t>
            </a:r>
          </a:p>
          <a:p>
            <a:r>
              <a:rPr lang="en-US" sz="1200" dirty="0"/>
              <a:t>   • Expanding modalities removes a significant barrier to timely qualification</a:t>
            </a:r>
          </a:p>
          <a:p>
            <a:endParaRPr lang="en-US" sz="1200" dirty="0"/>
          </a:p>
          <a:p>
            <a:r>
              <a:rPr lang="en-US" sz="1200" dirty="0"/>
              <a:t>3. SPIROMETRY NOTE – VC vs. FVC vs. SVC:</a:t>
            </a:r>
          </a:p>
          <a:p>
            <a:r>
              <a:rPr lang="en-US" sz="1200" dirty="0"/>
              <a:t>   • Table 3 lists the spirometry measure as "VC" (vital capacity)</a:t>
            </a:r>
          </a:p>
          <a:p>
            <a:r>
              <a:rPr lang="en-US" sz="1200" dirty="0"/>
              <a:t>   • This means EITHER FVC (forced vital capacity) or SVC (slow vital capacity) can be used</a:t>
            </a:r>
          </a:p>
          <a:p>
            <a:r>
              <a:rPr lang="en-US" sz="1200" dirty="0"/>
              <a:t>   • This is important for NMD patients – SVC is often more accurate than FVC in patients with neuromuscular weakness because they cannot generate the forced expiratory effort needed for reliable FVC</a:t>
            </a:r>
          </a:p>
          <a:p>
            <a:r>
              <a:rPr lang="en-US" sz="1200" dirty="0"/>
              <a:t>   • SVC ≤ 50% predicted would qualify under the expanded criteria</a:t>
            </a:r>
          </a:p>
          <a:p>
            <a:endParaRPr lang="en-US" sz="1200" dirty="0"/>
          </a:p>
          <a:p>
            <a:r>
              <a:rPr lang="en-US" sz="1200" dirty="0"/>
              <a:t>4. NCD TABLE 3 – IMPAIRED BREATHING OBJECTIVE MEASURES:</a:t>
            </a:r>
          </a:p>
          <a:p>
            <a:r>
              <a:rPr lang="en-US" sz="1200" dirty="0"/>
              <a:t>   The table on the right lists all recognized measures:</a:t>
            </a:r>
          </a:p>
          <a:p>
            <a:r>
              <a:rPr lang="en-US" sz="1200" dirty="0"/>
              <a:t>   • PaCO2 ≥ 45 mmHg (arterial blood gas)</a:t>
            </a:r>
          </a:p>
          <a:p>
            <a:r>
              <a:rPr lang="en-US" sz="1200" dirty="0"/>
              <a:t>   • SpO2 ≤ 88% for ≥ 5 minutes nocturnal recording</a:t>
            </a:r>
          </a:p>
          <a:p>
            <a:r>
              <a:rPr lang="en-US" sz="1200" dirty="0"/>
              <a:t>   • FVC (or SVC) &lt; 50% predicted</a:t>
            </a:r>
          </a:p>
          <a:p>
            <a:r>
              <a:rPr lang="en-US" sz="1200" dirty="0"/>
              <a:t>   • MIP (maximal inspiratory pressure) worse than -60 cm H2O</a:t>
            </a:r>
          </a:p>
          <a:p>
            <a:r>
              <a:rPr lang="en-US" sz="1200" dirty="0"/>
              <a:t>   • SNIP (sniff nasal inspiratory pressure) worse than -40 cm H2O</a:t>
            </a:r>
          </a:p>
          <a:p>
            <a:r>
              <a:rPr lang="en-US" sz="1200" dirty="0"/>
              <a:t>   • MEP (maximal expiratory pressure) criteria</a:t>
            </a:r>
          </a:p>
          <a:p>
            <a:r>
              <a:rPr lang="en-US" sz="1200" dirty="0"/>
              <a:t>   • Peak cough flow measurements</a:t>
            </a:r>
          </a:p>
          <a:p>
            <a:endParaRPr lang="en-US" sz="1200" dirty="0"/>
          </a:p>
          <a:p>
            <a:r>
              <a:rPr lang="en-US" sz="1200" dirty="0"/>
              <a:t>   Note: MIP and SNIP are particularly useful for progressive NMD – they detect diaphragm weakness earlier than spirometry.</a:t>
            </a:r>
          </a:p>
          <a:p>
            <a:endParaRPr lang="en-US" sz="1200" dirty="0"/>
          </a:p>
          <a:p>
            <a:r>
              <a:rPr lang="en-US" sz="1200" dirty="0"/>
              <a:t>5. RELEVANCE TO TcCO2 PAPER:</a:t>
            </a:r>
          </a:p>
          <a:p>
            <a:r>
              <a:rPr lang="en-US" sz="1200" dirty="0"/>
              <a:t>   • ONMAP's advocacy for TcCO2 as a qualifying modality directly supports our research</a:t>
            </a:r>
          </a:p>
          <a:p>
            <a:r>
              <a:rPr lang="en-US" sz="1200" dirty="0"/>
              <a:t>   • If adopted into LCD revisions, TcCO2 monitoring would become a valid pathway to RAD qualification</a:t>
            </a:r>
          </a:p>
          <a:p>
            <a:r>
              <a:rPr lang="en-US" sz="1200" dirty="0"/>
              <a:t>   • ALS patients stand to benefit most – TcCO2 is non-invasive, tolerable, and can track progression over time</a:t>
            </a:r>
          </a:p>
          <a:p>
            <a:r>
              <a:rPr lang="en-US" sz="1200" dirty="0"/>
              <a:t>   • Our modeling data can demonstrate that TcCO2 correlates with ABG PaCO2 in this population</a:t>
            </a:r>
          </a:p>
          <a:p>
            <a:r>
              <a:rPr lang="en-US" sz="1200" dirty="0"/>
              <a:t>   • This slide provides the policy context for why expanding testing modalities matters clinically</a:t>
            </a:r>
          </a:p>
          <a:p>
            <a:endParaRPr lang="en-US" sz="1200" dirty="0"/>
          </a:p>
          <a:p>
            <a:r>
              <a:rPr lang="en-US" sz="1200" dirty="0"/>
              <a:t>6. CURRENT STATUS:</a:t>
            </a:r>
          </a:p>
          <a:p>
            <a:r>
              <a:rPr lang="en-US" sz="1200" dirty="0"/>
              <a:t>   • These expanded modalities are ONMAP recommendations, not yet adopted into LCD L33800</a:t>
            </a:r>
          </a:p>
          <a:p>
            <a:r>
              <a:rPr lang="en-US" sz="1200" dirty="0"/>
              <a:t>   • Table 3 appears in the NCD but applies to COPD; whether MACs adopt it for restrictive/NMD remains to be determined</a:t>
            </a:r>
          </a:p>
          <a:p>
            <a:r>
              <a:rPr lang="en-US" sz="1200" dirty="0"/>
              <a:t>   • LCD revisions expected October 2025 – watch for inclusion of expanded testing methods</a:t>
            </a:r>
          </a:p>
          <a:p>
            <a:endParaRPr lang="en-US" sz="1200" dirty="0"/>
          </a:p>
          <a:p>
            <a:r>
              <a:rPr lang="en-US" sz="1200" dirty="0"/>
              <a:t>Source: NCD 240.9 Table 3; ONMAP Recommendations; LCD L33800</a:t>
            </a:r>
          </a:p>
        </p:txBody>
      </p:sp>
      <p:sp>
        <p:nvSpPr>
          <p:cNvPr id="4" name="Slide Number Placeholder 3"/>
          <p:cNvSpPr>
            <a:spLocks noGrp="1"/>
          </p:cNvSpPr>
          <p:nvPr>
            <p:ph type="sldNum" sz="quarter" idx="5"/>
          </p:nvPr>
        </p:nvSpPr>
        <p:spPr/>
        <p:txBody>
          <a:bodyPr/>
          <a:lstStyle/>
          <a:p>
            <a:fld id="{CAE95492-69FC-6747-A10A-BC997BE9EE3A}" type="slidenum">
              <a:rPr lang="en-US" smtClean="0"/>
              <a:t>18</a:t>
            </a:fld>
            <a:endParaRPr lang="en-US"/>
          </a:p>
        </p:txBody>
      </p:sp>
    </p:spTree>
    <p:extLst>
      <p:ext uri="{BB962C8B-B14F-4D97-AF65-F5344CB8AC3E}">
        <p14:creationId xmlns:p14="http://schemas.microsoft.com/office/powerpoint/2010/main" val="3679944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BLUE CROSS BLUE SHIELD OF LOUISIANA – INDEPENDENT COVERAGE CHANGES FOR RESTRICTIVE/NMD</a:t>
            </a:r>
          </a:p>
          <a:p>
            <a:endParaRPr lang="en-US" sz="1200" dirty="0"/>
          </a:p>
          <a:p>
            <a:r>
              <a:rPr lang="en-US" sz="1200" dirty="0"/>
              <a:t>Blue Cross of Louisiana has made changes to their respiratory device coverage criteria SEPARATELY from the national CMS determination. This is notable because it shows payer-level movement independent of the NCD/LCD process.</a:t>
            </a:r>
          </a:p>
          <a:p>
            <a:endParaRPr lang="en-US" sz="1200" dirty="0"/>
          </a:p>
          <a:p>
            <a:r>
              <a:rPr lang="en-US" sz="1200" dirty="0"/>
              <a:t>SOURCE: https://tinyurl.com/58xzx7j6</a:t>
            </a:r>
          </a:p>
          <a:p>
            <a:endParaRPr lang="en-US" sz="1200" dirty="0"/>
          </a:p>
          <a:p>
            <a:r>
              <a:rPr lang="en-US" sz="1200" dirty="0"/>
              <a:t>DIAGNOSIS UPDATES (LEFT COLUMN):</a:t>
            </a:r>
          </a:p>
          <a:p>
            <a:r>
              <a:rPr lang="en-US" sz="1200" dirty="0"/>
              <a:t>• Louisiana BCBS expanded their qualifying diagnosis list for RAD/NIV coverage</a:t>
            </a:r>
          </a:p>
          <a:p>
            <a:r>
              <a:rPr lang="en-US" sz="1200" dirty="0"/>
              <a:t>• Includes neuromuscular diseases, thoracic restrictive disorders, and potentially broader categories than the current LCD L33800</a:t>
            </a:r>
          </a:p>
          <a:p>
            <a:r>
              <a:rPr lang="en-US" sz="1200" dirty="0"/>
              <a:t>• Specific conditions added or clarified in their medical policy</a:t>
            </a:r>
          </a:p>
          <a:p>
            <a:endParaRPr lang="en-US" sz="1200" dirty="0"/>
          </a:p>
          <a:p>
            <a:r>
              <a:rPr lang="en-US" sz="1200" dirty="0"/>
              <a:t>TESTING UPDATES / NEW CRITERION FOR INITIATION (RIGHT COLUMN):</a:t>
            </a:r>
          </a:p>
          <a:p>
            <a:r>
              <a:rPr lang="en-US" sz="1200" dirty="0"/>
              <a:t>• Updated criteria for documenting impaired breathing</a:t>
            </a:r>
          </a:p>
          <a:p>
            <a:r>
              <a:rPr lang="en-US" sz="1200" dirty="0"/>
              <a:t>• Expanded testing modalities beyond traditional ABG and sleep oximetry</a:t>
            </a:r>
          </a:p>
          <a:p>
            <a:r>
              <a:rPr lang="en-US" sz="1200" dirty="0"/>
              <a:t>• New initiation criteria that may include:</a:t>
            </a:r>
          </a:p>
          <a:p>
            <a:r>
              <a:rPr lang="en-US" sz="1200" dirty="0"/>
              <a:t>  – Transcutaneous CO2 monitoring</a:t>
            </a:r>
          </a:p>
          <a:p>
            <a:r>
              <a:rPr lang="en-US" sz="1200" dirty="0"/>
              <a:t>  – End-tidal CO2</a:t>
            </a:r>
          </a:p>
          <a:p>
            <a:r>
              <a:rPr lang="en-US" sz="1200" dirty="0"/>
              <a:t>  – Updated spirometry thresholds (FVC, MIP)</a:t>
            </a:r>
          </a:p>
          <a:p>
            <a:r>
              <a:rPr lang="en-US" sz="1200" dirty="0"/>
              <a:t>  – Hypoxia criteria updates</a:t>
            </a:r>
          </a:p>
          <a:p>
            <a:endParaRPr lang="en-US" sz="1200" dirty="0"/>
          </a:p>
          <a:p>
            <a:r>
              <a:rPr lang="en-US" sz="1200" dirty="0"/>
              <a:t>KEY SIGNIFICANCE:</a:t>
            </a:r>
          </a:p>
          <a:p>
            <a:r>
              <a:rPr lang="en-US" sz="1200" dirty="0"/>
              <a:t>• Demonstrates that individual payers can and do update respiratory device coverage independently of CMS national/local determinations</a:t>
            </a:r>
          </a:p>
          <a:p>
            <a:r>
              <a:rPr lang="en-US" sz="1200" dirty="0"/>
              <a:t>• Louisiana BCBS changes may serve as a model or precedent for other payers</a:t>
            </a:r>
          </a:p>
          <a:p>
            <a:r>
              <a:rPr lang="en-US" sz="1200" dirty="0"/>
              <a:t>• Shows industry movement toward modernized testing and expanded diagnosis criteria even before LCD revisions take effect</a:t>
            </a:r>
          </a:p>
          <a:p>
            <a:r>
              <a:rPr lang="en-US" sz="1200" dirty="0"/>
              <a:t>• Relevant to advocacy efforts – can cite payer-level precedent when engaging with MACs on LCD updates</a:t>
            </a:r>
          </a:p>
          <a:p>
            <a:endParaRPr lang="en-US" sz="1200" dirty="0"/>
          </a:p>
          <a:p>
            <a:r>
              <a:rPr lang="en-US" sz="1200" dirty="0"/>
              <a:t>NOTE: These are Blue Cross Blue Shield of Louisiana commercial/MA plan changes, not Medicare FFS. Medicare FFS remains governed by LCD L33800 until MAC revisions are finalized.</a:t>
            </a:r>
          </a:p>
        </p:txBody>
      </p:sp>
      <p:sp>
        <p:nvSpPr>
          <p:cNvPr id="4" name="Slide Number Placeholder 3"/>
          <p:cNvSpPr>
            <a:spLocks noGrp="1"/>
          </p:cNvSpPr>
          <p:nvPr>
            <p:ph type="sldNum" sz="quarter" idx="5"/>
          </p:nvPr>
        </p:nvSpPr>
        <p:spPr/>
        <p:txBody>
          <a:bodyPr/>
          <a:lstStyle/>
          <a:p>
            <a:fld id="{CAE95492-69FC-6747-A10A-BC997BE9EE3A}" type="slidenum">
              <a:rPr lang="en-US" smtClean="0"/>
              <a:t>19</a:t>
            </a:fld>
            <a:endParaRPr lang="en-US"/>
          </a:p>
        </p:txBody>
      </p:sp>
    </p:spTree>
    <p:extLst>
      <p:ext uri="{BB962C8B-B14F-4D97-AF65-F5344CB8AC3E}">
        <p14:creationId xmlns:p14="http://schemas.microsoft.com/office/powerpoint/2010/main" val="3721486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E95492-69FC-6747-A10A-BC997BE9EE3A}" type="slidenum">
              <a:rPr lang="en-US" smtClean="0"/>
              <a:t>22</a:t>
            </a:fld>
            <a:endParaRPr lang="en-US"/>
          </a:p>
        </p:txBody>
      </p:sp>
    </p:spTree>
    <p:extLst>
      <p:ext uri="{BB962C8B-B14F-4D97-AF65-F5344CB8AC3E}">
        <p14:creationId xmlns:p14="http://schemas.microsoft.com/office/powerpoint/2010/main" val="744185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sz="1200" dirty="0"/>
              <a:t>PRESENTER NOTES – Hypoventilation Syndrome: Current LCD RAD Coverage (L33800)</a:t>
            </a:r>
          </a:p>
          <a:p>
            <a:endParaRPr lang="en-US" sz="1200" dirty="0"/>
          </a:p>
          <a:p>
            <a:r>
              <a:rPr lang="en-US" sz="1200" dirty="0"/>
              <a:t>SLIDE SUMMARY:</a:t>
            </a:r>
          </a:p>
          <a:p>
            <a:r>
              <a:rPr lang="en-US" sz="1200" dirty="0"/>
              <a:t>This slide outlines the current LCD L33800 criteria for RAD coverage in hypoventilation syndrome. Unlike restrictive/NMD (which allows either E0470 or E0471 at practitioner discretion), hypoventilation syndrome has a STEP THERAPY requirement: E0470 must be tried first, and E0471 requires documented failure on E0470.</a:t>
            </a:r>
          </a:p>
          <a:p>
            <a:endParaRPr lang="en-US" sz="1200" dirty="0"/>
          </a:p>
          <a:p>
            <a:r>
              <a:rPr lang="en-US" sz="1200" dirty="0"/>
              <a:t>—————————————————————————————</a:t>
            </a:r>
          </a:p>
          <a:p>
            <a:endParaRPr lang="en-US" sz="1200" dirty="0"/>
          </a:p>
          <a:p>
            <a:r>
              <a:rPr lang="en-US" sz="1200" dirty="0"/>
              <a:t>1. E0470 INITIAL COVERAGE (ALL of A &amp; B, plus C or D):</a:t>
            </a:r>
          </a:p>
          <a:p>
            <a:endParaRPr lang="en-US" sz="1200" dirty="0"/>
          </a:p>
          <a:p>
            <a:r>
              <a:rPr lang="en-US" sz="1200" dirty="0"/>
              <a:t>   A. AWAKE ABG: PaCO2 ≥ 45 mmHg, done while awake on prescribed FiO2</a:t>
            </a:r>
          </a:p>
          <a:p>
            <a:r>
              <a:rPr lang="en-US" sz="1200" dirty="0"/>
              <a:t>      • This is the SAME threshold as restrictive/NMD</a:t>
            </a:r>
          </a:p>
          <a:p>
            <a:r>
              <a:rPr lang="en-US" sz="1200" dirty="0"/>
              <a:t>      • Must be arterial blood gas, not venous or transcutaneous (under current LCD)</a:t>
            </a:r>
          </a:p>
          <a:p>
            <a:endParaRPr lang="en-US" sz="1200" dirty="0"/>
          </a:p>
          <a:p>
            <a:r>
              <a:rPr lang="en-US" sz="1200" dirty="0"/>
              <a:t>   B. SPIROMETRY: FEV1/FVC ≥ 70%</a:t>
            </a:r>
          </a:p>
          <a:p>
            <a:r>
              <a:rPr lang="en-US" sz="1200" dirty="0"/>
              <a:t>      • This is UNIQUE to hypoventilation syndrome – not required for restrictive/NMD</a:t>
            </a:r>
          </a:p>
          <a:p>
            <a:r>
              <a:rPr lang="en-US" sz="1200" dirty="0"/>
              <a:t>      • Purpose: rules out significant obstructive disease (COPD) as the primary cause</a:t>
            </a:r>
          </a:p>
          <a:p>
            <a:r>
              <a:rPr lang="en-US" sz="1200" dirty="0"/>
              <a:t>      • If FEV1/FVC &lt; 70%, the patient should be evaluated under the COPD pathway instead</a:t>
            </a:r>
          </a:p>
          <a:p>
            <a:endParaRPr lang="en-US" sz="1200" dirty="0"/>
          </a:p>
          <a:p>
            <a:r>
              <a:rPr lang="en-US" sz="1200" dirty="0"/>
              <a:t>   C. SLEEP/AWAKENING ABG: PaCO2 worsens ≥ 7 mmHg compared to the awake ABG in criterion A</a:t>
            </a:r>
          </a:p>
          <a:p>
            <a:r>
              <a:rPr lang="en-US" sz="1200" dirty="0"/>
              <a:t>      • Done during sleep or immediately upon awakening</a:t>
            </a:r>
          </a:p>
          <a:p>
            <a:r>
              <a:rPr lang="en-US" sz="1200" dirty="0"/>
              <a:t>      • Demonstrates nocturnal hypoventilation beyond the baseline daytime value</a:t>
            </a:r>
          </a:p>
          <a:p>
            <a:r>
              <a:rPr lang="en-US" sz="1200" dirty="0"/>
              <a:t>      – OR –</a:t>
            </a:r>
          </a:p>
          <a:p>
            <a:r>
              <a:rPr lang="en-US" sz="1200" dirty="0"/>
              <a:t>   D. PSG or HOME SLEEP TEST: SpO2 ≤ 88% for ≥ 5 minutes of nocturnal recording (minimum 2-hour recording), NOT caused by obstructive upper airway events (AHI &lt; 5)</a:t>
            </a:r>
          </a:p>
          <a:p>
            <a:r>
              <a:rPr lang="en-US" sz="1200" dirty="0"/>
              <a:t>      • The AHI &lt; 5 requirement is critical – it confirms the desaturation is from hypoventilation, not OSA</a:t>
            </a:r>
          </a:p>
          <a:p>
            <a:r>
              <a:rPr lang="en-US" sz="1200" dirty="0"/>
              <a:t>      • If AHI ≥ 5, the patient may need OSA treatment first (see PAP LCD)</a:t>
            </a:r>
          </a:p>
          <a:p>
            <a:endParaRPr lang="en-US" sz="1200" dirty="0"/>
          </a:p>
          <a:p>
            <a:r>
              <a:rPr lang="en-US" sz="1200" dirty="0"/>
              <a:t>2. E0471 UPGRADE – STEP THERAPY REQUIRED:</a:t>
            </a:r>
          </a:p>
          <a:p>
            <a:endParaRPr lang="en-US" sz="1200" dirty="0"/>
          </a:p>
          <a:p>
            <a:r>
              <a:rPr lang="en-US" sz="1200" dirty="0"/>
              <a:t>   Unlike restrictive/NMD where either device is covered at practitioner discretion, hypoventilation syndrome REQUIRES:</a:t>
            </a:r>
          </a:p>
          <a:p>
            <a:r>
              <a:rPr lang="en-US" sz="1200" dirty="0"/>
              <a:t>   A. A covered E0470 device is already being used (must demonstrate E0470 was tried)</a:t>
            </a:r>
          </a:p>
          <a:p>
            <a:r>
              <a:rPr lang="en-US" sz="1200" dirty="0"/>
              <a:t>   B. Spirometry confirms FEV1/FVC ≥ 70% (re-confirm not COPD)</a:t>
            </a:r>
          </a:p>
          <a:p>
            <a:r>
              <a:rPr lang="en-US" sz="1200" dirty="0"/>
              <a:t>   C. Despite E0470 use, awake PaCO2 worsens ≥ 7 mmHg vs. the original qualifying ABG</a:t>
            </a:r>
          </a:p>
          <a:p>
            <a:r>
              <a:rPr lang="en-US" sz="1200" dirty="0"/>
              <a:t>      – OR –</a:t>
            </a:r>
          </a:p>
          <a:p>
            <a:r>
              <a:rPr lang="en-US" sz="1200" dirty="0"/>
              <a:t>   D. Despite E0470 use, PSG/HST still shows SpO2 ≤ 88% for ≥ 5 min with AHI &lt; 5</a:t>
            </a:r>
          </a:p>
          <a:p>
            <a:endParaRPr lang="en-US" sz="1200" dirty="0"/>
          </a:p>
          <a:p>
            <a:r>
              <a:rPr lang="en-US" sz="1200" dirty="0"/>
              <a:t>   This means the patient must FAIL on E0470 before E0471 with backup rate is covered.</a:t>
            </a:r>
          </a:p>
          <a:p>
            <a:endParaRPr lang="en-US" sz="1200" dirty="0"/>
          </a:p>
          <a:p>
            <a:r>
              <a:rPr lang="en-US" sz="1200" dirty="0"/>
              <a:t>3. KEY DIFFERENCES FROM OTHER INDICATIONS:</a:t>
            </a:r>
          </a:p>
          <a:p>
            <a:endParaRPr lang="en-US" sz="1200" dirty="0"/>
          </a:p>
          <a:p>
            <a:r>
              <a:rPr lang="en-US" sz="1200" dirty="0"/>
              <a:t>   vs. Restrictive/NMD:</a:t>
            </a:r>
          </a:p>
          <a:p>
            <a:r>
              <a:rPr lang="en-US" sz="1200" dirty="0"/>
              <a:t>   • Hypoventilation requires spirometry (FEV1/FVC ≥ 70%) – NMD does not</a:t>
            </a:r>
          </a:p>
          <a:p>
            <a:r>
              <a:rPr lang="en-US" sz="1200" dirty="0"/>
              <a:t>   • Hypoventilation requires E0470 trial before E0471 – NMD allows either at practitioner discretion</a:t>
            </a:r>
          </a:p>
          <a:p>
            <a:r>
              <a:rPr lang="en-US" sz="1200" dirty="0"/>
              <a:t>   • Hypoventilation does not have the MIP/FVC alternative pathway that progressive NMD has</a:t>
            </a:r>
          </a:p>
          <a:p>
            <a:endParaRPr lang="en-US" sz="1200" dirty="0"/>
          </a:p>
          <a:p>
            <a:r>
              <a:rPr lang="en-US" sz="1200" dirty="0"/>
              <a:t>   vs. COPD:</a:t>
            </a:r>
          </a:p>
          <a:p>
            <a:r>
              <a:rPr lang="en-US" sz="1200" dirty="0"/>
              <a:t>   • Hypoventilation uses PaCO2 ≥ 45 mmHg (same as NMD) vs. COPD's ≥ 52 mmHg</a:t>
            </a:r>
          </a:p>
          <a:p>
            <a:r>
              <a:rPr lang="en-US" sz="1200" dirty="0"/>
              <a:t>   • The FEV1/FVC ≥ 70% requirement is what separates hypoventilation from COPD patients</a:t>
            </a:r>
          </a:p>
          <a:p>
            <a:endParaRPr lang="en-US" sz="1200" dirty="0"/>
          </a:p>
          <a:p>
            <a:r>
              <a:rPr lang="en-US" sz="1200" dirty="0"/>
              <a:t>4. COMMON HYPOVENTILATION SYNDROME DIAGNOSES:</a:t>
            </a:r>
          </a:p>
          <a:p>
            <a:r>
              <a:rPr lang="en-US" sz="1200" dirty="0"/>
              <a:t>   • Obesity hypoventilation syndrome (OHS) – most common</a:t>
            </a:r>
          </a:p>
          <a:p>
            <a:r>
              <a:rPr lang="en-US" sz="1200" dirty="0"/>
              <a:t>   • Central hypoventilation (non-congenital)</a:t>
            </a:r>
          </a:p>
          <a:p>
            <a:r>
              <a:rPr lang="en-US" sz="1200" dirty="0"/>
              <a:t>   • Drug/medication-induced hypoventilation</a:t>
            </a:r>
          </a:p>
          <a:p>
            <a:r>
              <a:rPr lang="en-US" sz="1200" dirty="0"/>
              <a:t>   • Metabolic hypoventilation syndromes</a:t>
            </a:r>
          </a:p>
          <a:p>
            <a:endParaRPr lang="en-US" sz="1200" dirty="0"/>
          </a:p>
          <a:p>
            <a:r>
              <a:rPr lang="en-US" sz="1200" dirty="0"/>
              <a:t>5. CONTINUED COVERAGE:</a:t>
            </a:r>
          </a:p>
          <a:p>
            <a:r>
              <a:rPr lang="en-US" sz="1200" dirty="0"/>
              <a:t>   • Same 61-day re-evaluation requirement as restrictive/NMD and CSA/CompSA</a:t>
            </a:r>
          </a:p>
          <a:p>
            <a:r>
              <a:rPr lang="en-US" sz="1200" dirty="0"/>
              <a:t>   • Must document compliance (≥ 4 hrs/day average) and clinical benefit</a:t>
            </a:r>
          </a:p>
          <a:p>
            <a:r>
              <a:rPr lang="en-US" sz="1200" dirty="0"/>
              <a:t>   • Medicare will not continue coverage beyond 3 months without re-evaluation</a:t>
            </a:r>
          </a:p>
          <a:p>
            <a:endParaRPr lang="en-US" sz="1200" dirty="0"/>
          </a:p>
          <a:p>
            <a:r>
              <a:rPr lang="en-US" sz="1200" dirty="0"/>
              <a:t>6. PRACTICAL DOCUMENTATION TIPS:</a:t>
            </a:r>
          </a:p>
          <a:p>
            <a:r>
              <a:rPr lang="en-US" sz="1200" dirty="0"/>
              <a:t>   • Always get the awake ABG FIRST (criterion A) – it serves as baseline for the ≥ 7 mmHg worsening comparison</a:t>
            </a:r>
          </a:p>
          <a:p>
            <a:r>
              <a:rPr lang="en-US" sz="1200" dirty="0"/>
              <a:t>   • Spirometry must be done to rule out COPD – do not skip this step</a:t>
            </a:r>
          </a:p>
          <a:p>
            <a:r>
              <a:rPr lang="en-US" sz="1200" dirty="0"/>
              <a:t>   • For criterion D, ensure the sleep study reports AHI separately – an AHI ≥ 5 means OSA must be addressed first</a:t>
            </a:r>
          </a:p>
          <a:p>
            <a:r>
              <a:rPr lang="en-US" sz="1200" dirty="0"/>
              <a:t>   • If upgrading to E0471, document clearly that E0470 was tried and why it was insufficient</a:t>
            </a:r>
          </a:p>
          <a:p>
            <a:endParaRPr lang="en-US" sz="1200" dirty="0"/>
          </a:p>
          <a:p>
            <a:r>
              <a:rPr lang="en-US" sz="1200" dirty="0"/>
              <a:t>Source: LCD L33800 – Respiratory Assist Devices, Hypoventilation Syndrome section</a:t>
            </a:r>
          </a:p>
          <a:p>
            <a:r>
              <a:rPr lang="en-US" sz="1200" dirty="0"/>
              <a:t>Reference: Noridian Dear Clinician Letter – RADs for Hypoventilation Syndrome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7767F-6F41-F630-3F27-37552C779C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8EF749-54FB-E5E2-966A-CFB9D883B1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C88E4E-7009-8C1B-45C7-55D0DF716197}"/>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E4CDB51A-0655-0A2C-9482-B22A4B373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1632C0-1635-2FB1-989C-07930E067F4A}"/>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254937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78A3-8CAB-9AF0-EE2A-738CBFE27D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89EDEC-0131-DC7E-3C01-399D39031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EC795-25E8-B771-ECB0-6D3FAD0F9BD0}"/>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93994A51-D765-F418-F1AA-BEF5AE139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33EB27-6553-7768-C188-AA31EC120FD5}"/>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78999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3651-70DD-4200-9FAA-BD4F85C36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A2E8AE-21B8-5925-8BC6-8EE742DED3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5B8516-677D-24E9-BCEE-2A0322A66154}"/>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C9C7AF4-4CBD-470E-9E48-125F8295E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B0901-4C9C-3C98-0670-F2462644A4F8}"/>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161657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C082-D6E3-A419-5C42-A4D70FC348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4E81D9-1EB7-5832-1CA7-49F84DBD9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AEC548-16AC-9F24-3173-98DB4381F4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ECDEF5-E71F-4689-C4B2-59BA68DB4CC9}"/>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BEF50BFE-C875-BB1B-7F30-5AA1759EE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8EF43-CDD8-FF9F-1128-86FF07F357AE}"/>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682663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05FF-9E4B-D27D-D93A-56921D40D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A47E22-A89C-A536-6649-7E86EDD71A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EFBD68-9270-0184-1613-C7AC1D9825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BD948D-40AB-E078-4870-0B574A85FD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8820B-BBAF-514F-696D-66D04D543E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D5B7F4-171C-437A-773C-0C3AEF562AF5}"/>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8" name="Footer Placeholder 7">
            <a:extLst>
              <a:ext uri="{FF2B5EF4-FFF2-40B4-BE49-F238E27FC236}">
                <a16:creationId xmlns:a16="http://schemas.microsoft.com/office/drawing/2014/main" id="{F75F9130-8AEF-8D86-A436-440355FA2B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6E5457-FC3D-1BEC-F1AC-8FBD655B1157}"/>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882118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019E2-423F-83F9-F8B0-861264207F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897230-7798-C44C-F4A8-B677F6F2118D}"/>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4" name="Footer Placeholder 3">
            <a:extLst>
              <a:ext uri="{FF2B5EF4-FFF2-40B4-BE49-F238E27FC236}">
                <a16:creationId xmlns:a16="http://schemas.microsoft.com/office/drawing/2014/main" id="{94DDF356-986E-AE62-9D7D-1B69F23DFF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72C0A9-0A34-87FA-356D-248B539E0F99}"/>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536632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37929-DEB3-4995-17A5-A4A9D3EE39F2}"/>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3" name="Footer Placeholder 2">
            <a:extLst>
              <a:ext uri="{FF2B5EF4-FFF2-40B4-BE49-F238E27FC236}">
                <a16:creationId xmlns:a16="http://schemas.microsoft.com/office/drawing/2014/main" id="{1226EDA6-A120-8CB4-72A7-7941400AA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6B274-DCFA-B6B0-26B3-8803DB912050}"/>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13532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E6EF-9026-8A43-9F17-49BF06621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0E2AB2-CE1E-8314-734E-ED840D7745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AC6268-486E-3AAB-34B4-14D7D0BD5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51DEA-442E-789A-9543-3C291FC89485}"/>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C6B26E78-2AB3-86B8-6B40-BA6A61F8F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47D0BE-A6AC-4DC9-85CA-534C808D422F}"/>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17099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1703-2CAF-E2E5-A530-18B854B992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C6A88-0210-708A-5BF6-29D405E1F1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289E2-D15F-3031-4E09-DAA1088F9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CB604-7DF1-4709-1EF7-75FC29525FBC}"/>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96BEF928-6B12-74D4-1ECF-108D1C0026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CD6CB-445E-9F16-DBF2-2F9BF9C94CE2}"/>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00281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BF0A-92B7-5A3D-58DD-3C9990F740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F16B5D-71CA-6880-9558-24792090E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D3D72-E4CB-7827-9E11-CA4E71C6F4F9}"/>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16496F9-E780-8B7E-E3B9-075C7CB40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216F1-D57E-386F-6621-D210FA897CB6}"/>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62493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F66314-1C44-CB2B-8673-1018C2D460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3E8BB6-769C-33E5-A3EA-00D93773C2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78A79-867B-2BD4-81D4-BAE8EC6C86EC}"/>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774852B5-C0DA-4EB0-3EED-0891E58C2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FEDD0-797D-B8DB-90E1-8F92DE4361E5}"/>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80966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7767F-6F41-F630-3F27-37552C779C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8EF749-54FB-E5E2-966A-CFB9D883B1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C88E4E-7009-8C1B-45C7-55D0DF716197}"/>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E4CDB51A-0655-0A2C-9482-B22A4B373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1632C0-1635-2FB1-989C-07930E067F4A}"/>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25493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78A3-8CAB-9AF0-EE2A-738CBFE27D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89EDEC-0131-DC7E-3C01-399D39031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EC795-25E8-B771-ECB0-6D3FAD0F9BD0}"/>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93994A51-D765-F418-F1AA-BEF5AE139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33EB27-6553-7768-C188-AA31EC120FD5}"/>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789990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3651-70DD-4200-9FAA-BD4F85C36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A2E8AE-21B8-5925-8BC6-8EE742DED3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5B8516-677D-24E9-BCEE-2A0322A66154}"/>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C9C7AF4-4CBD-470E-9E48-125F8295E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B0901-4C9C-3C98-0670-F2462644A4F8}"/>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161657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C082-D6E3-A419-5C42-A4D70FC348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4E81D9-1EB7-5832-1CA7-49F84DBD9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AEC548-16AC-9F24-3173-98DB4381F4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ECDEF5-E71F-4689-C4B2-59BA68DB4CC9}"/>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BEF50BFE-C875-BB1B-7F30-5AA1759EE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8EF43-CDD8-FF9F-1128-86FF07F357AE}"/>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682663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05FF-9E4B-D27D-D93A-56921D40D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A47E22-A89C-A536-6649-7E86EDD71A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EFBD68-9270-0184-1613-C7AC1D9825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BD948D-40AB-E078-4870-0B574A85FD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8820B-BBAF-514F-696D-66D04D543E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D5B7F4-171C-437A-773C-0C3AEF562AF5}"/>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8" name="Footer Placeholder 7">
            <a:extLst>
              <a:ext uri="{FF2B5EF4-FFF2-40B4-BE49-F238E27FC236}">
                <a16:creationId xmlns:a16="http://schemas.microsoft.com/office/drawing/2014/main" id="{F75F9130-8AEF-8D86-A436-440355FA2B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6E5457-FC3D-1BEC-F1AC-8FBD655B1157}"/>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882118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019E2-423F-83F9-F8B0-861264207F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897230-7798-C44C-F4A8-B677F6F2118D}"/>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4" name="Footer Placeholder 3">
            <a:extLst>
              <a:ext uri="{FF2B5EF4-FFF2-40B4-BE49-F238E27FC236}">
                <a16:creationId xmlns:a16="http://schemas.microsoft.com/office/drawing/2014/main" id="{94DDF356-986E-AE62-9D7D-1B69F23DFF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72C0A9-0A34-87FA-356D-248B539E0F99}"/>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536632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37929-DEB3-4995-17A5-A4A9D3EE39F2}"/>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3" name="Footer Placeholder 2">
            <a:extLst>
              <a:ext uri="{FF2B5EF4-FFF2-40B4-BE49-F238E27FC236}">
                <a16:creationId xmlns:a16="http://schemas.microsoft.com/office/drawing/2014/main" id="{1226EDA6-A120-8CB4-72A7-7941400AA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6B274-DCFA-B6B0-26B3-8803DB912050}"/>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135324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E6EF-9026-8A43-9F17-49BF06621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0E2AB2-CE1E-8314-734E-ED840D7745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AC6268-486E-3AAB-34B4-14D7D0BD5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51DEA-442E-789A-9543-3C291FC89485}"/>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C6B26E78-2AB3-86B8-6B40-BA6A61F8F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47D0BE-A6AC-4DC9-85CA-534C808D422F}"/>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170992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1703-2CAF-E2E5-A530-18B854B992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C6A88-0210-708A-5BF6-29D405E1F1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289E2-D15F-3031-4E09-DAA1088F92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CB604-7DF1-4709-1EF7-75FC29525FBC}"/>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6" name="Footer Placeholder 5">
            <a:extLst>
              <a:ext uri="{FF2B5EF4-FFF2-40B4-BE49-F238E27FC236}">
                <a16:creationId xmlns:a16="http://schemas.microsoft.com/office/drawing/2014/main" id="{96BEF928-6B12-74D4-1ECF-108D1C0026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CD6CB-445E-9F16-DBF2-2F9BF9C94CE2}"/>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002812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BF0A-92B7-5A3D-58DD-3C9990F740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F16B5D-71CA-6880-9558-24792090E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D3D72-E4CB-7827-9E11-CA4E71C6F4F9}"/>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16496F9-E780-8B7E-E3B9-075C7CB40A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216F1-D57E-386F-6621-D210FA897CB6}"/>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26249369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F66314-1C44-CB2B-8673-1018C2D460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3E8BB6-769C-33E5-A3EA-00D93773C2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78A79-867B-2BD4-81D4-BAE8EC6C86EC}"/>
              </a:ext>
            </a:extLst>
          </p:cNvPr>
          <p:cNvSpPr>
            <a:spLocks noGrp="1"/>
          </p:cNvSpPr>
          <p:nvPr>
            <p:ph type="dt" sz="half" idx="10"/>
          </p:nvPr>
        </p:nvSpPr>
        <p:spPr/>
        <p:txBody>
          <a:body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774852B5-C0DA-4EB0-3EED-0891E58C2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FEDD0-797D-B8DB-90E1-8F92DE4361E5}"/>
              </a:ext>
            </a:extLst>
          </p:cNvPr>
          <p:cNvSpPr>
            <a:spLocks noGrp="1"/>
          </p:cNvSpPr>
          <p:nvPr>
            <p:ph type="sldNum" sz="quarter" idx="12"/>
          </p:nvPr>
        </p:nvSpPr>
        <p:spPr/>
        <p:txBody>
          <a:bodyPr/>
          <a:lstStyle/>
          <a:p>
            <a:fld id="{BCF58800-B957-6949-9A0F-8246C2D978BD}" type="slidenum">
              <a:rPr lang="en-US" smtClean="0"/>
              <a:t>‹#›</a:t>
            </a:fld>
            <a:endParaRPr lang="en-US"/>
          </a:p>
        </p:txBody>
      </p:sp>
    </p:spTree>
    <p:extLst>
      <p:ext uri="{BB962C8B-B14F-4D97-AF65-F5344CB8AC3E}">
        <p14:creationId xmlns:p14="http://schemas.microsoft.com/office/powerpoint/2010/main" val="3809667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68432F-47A5-A6D8-C926-D00C84DF24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6363A-3715-0603-6B29-38B603EAC0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0DB46-5ED3-0D4F-EF9F-8ACC60350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007AADC-ACF3-CB5C-BDCB-DA07F4F272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807F96-D51E-7305-6074-D8F3DEF585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F58800-B957-6949-9A0F-8246C2D978BD}" type="slidenum">
              <a:rPr lang="en-US" smtClean="0"/>
              <a:t>‹#›</a:t>
            </a:fld>
            <a:endParaRPr lang="en-US"/>
          </a:p>
        </p:txBody>
      </p:sp>
    </p:spTree>
    <p:extLst>
      <p:ext uri="{BB962C8B-B14F-4D97-AF65-F5344CB8AC3E}">
        <p14:creationId xmlns:p14="http://schemas.microsoft.com/office/powerpoint/2010/main" val="1996361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68432F-47A5-A6D8-C926-D00C84DF24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6363A-3715-0603-6B29-38B603EAC0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70DB46-5ED3-0D4F-EF9F-8ACC60350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7A0DB-D18A-3642-BA10-B2A96A34631B}" type="datetimeFigureOut">
              <a:rPr lang="en-US" smtClean="0"/>
              <a:t>3/11/26</a:t>
            </a:fld>
            <a:endParaRPr lang="en-US"/>
          </a:p>
        </p:txBody>
      </p:sp>
      <p:sp>
        <p:nvSpPr>
          <p:cNvPr id="5" name="Footer Placeholder 4">
            <a:extLst>
              <a:ext uri="{FF2B5EF4-FFF2-40B4-BE49-F238E27FC236}">
                <a16:creationId xmlns:a16="http://schemas.microsoft.com/office/drawing/2014/main" id="{5007AADC-ACF3-CB5C-BDCB-DA07F4F272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807F96-D51E-7305-6074-D8F3DEF585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F58800-B957-6949-9A0F-8246C2D978BD}" type="slidenum">
              <a:rPr lang="en-US" smtClean="0"/>
              <a:t>‹#›</a:t>
            </a:fld>
            <a:endParaRPr lang="en-US"/>
          </a:p>
        </p:txBody>
      </p:sp>
    </p:spTree>
    <p:extLst>
      <p:ext uri="{BB962C8B-B14F-4D97-AF65-F5344CB8AC3E}">
        <p14:creationId xmlns:p14="http://schemas.microsoft.com/office/powerpoint/2010/main" val="1996361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977D7-08D6-84FC-69BF-3953261D9CE0}"/>
              </a:ext>
            </a:extLst>
          </p:cNvPr>
          <p:cNvSpPr>
            <a:spLocks noGrp="1"/>
          </p:cNvSpPr>
          <p:nvPr>
            <p:ph type="ctrTitle"/>
          </p:nvPr>
        </p:nvSpPr>
        <p:spPr/>
        <p:txBody>
          <a:bodyPr/>
          <a:lstStyle/>
          <a:p>
            <a:pPr algn="ctr"/>
            <a:r>
              <a:rPr lang="en-US" sz="3200" b="1" dirty="0"/>
              <a:t>New CMS Device Criteria</a:t>
            </a:r>
          </a:p>
          <a:p>
            <a:pPr algn="ctr"/>
            <a:r>
              <a:rPr lang="en-US" sz="2000" dirty="0">
                <a:solidFill>
                  <a:srgbClr val="595959"/>
                </a:solidFill>
              </a:rPr>
              <a:t>RAD &amp; HMV Coverage Updates – NCD 240.9</a:t>
            </a:r>
          </a:p>
        </p:txBody>
      </p:sp>
      <p:sp>
        <p:nvSpPr>
          <p:cNvPr id="3" name="Subtitle 2">
            <a:extLst>
              <a:ext uri="{FF2B5EF4-FFF2-40B4-BE49-F238E27FC236}">
                <a16:creationId xmlns:a16="http://schemas.microsoft.com/office/drawing/2014/main" id="{C4270876-9B7F-F1C5-33FE-E257F2A0653B}"/>
              </a:ext>
            </a:extLst>
          </p:cNvPr>
          <p:cNvSpPr>
            <a:spLocks noGrp="1"/>
          </p:cNvSpPr>
          <p:nvPr>
            <p:ph type="subTitle" idx="1"/>
          </p:nvPr>
        </p:nvSpPr>
        <p:spPr/>
        <p:txBody>
          <a:bodyPr>
            <a:normAutofit/>
          </a:bodyPr>
          <a:lstStyle/>
          <a:p>
            <a:pPr algn="ctr">
              <a:buNone/>
            </a:pPr>
            <a:r>
              <a:rPr lang="en-US" sz="1600" dirty="0"/>
              <a:t>NCD Effective: June 9, 2025  |  Claims Payable: October 22, 2025</a:t>
            </a:r>
          </a:p>
          <a:p>
            <a:pPr algn="ctr">
              <a:buNone/>
            </a:pPr>
            <a:r>
              <a:rPr lang="en-US" sz="1600" b="1" dirty="0">
                <a:solidFill>
                  <a:srgbClr val="C00000"/>
                </a:solidFill>
              </a:rPr>
              <a:t>LCD L33800 revised Oct 9, 2025 (retroactive to 6/9/2025)</a:t>
            </a:r>
          </a:p>
          <a:p>
            <a:pPr algn="ctr">
              <a:buNone/>
            </a:pPr>
            <a:r>
              <a:rPr lang="en-US" sz="1600" b="1" dirty="0">
                <a:solidFill>
                  <a:srgbClr val="C00000"/>
                </a:solidFill>
              </a:rPr>
              <a:t>LCDs still pending for non-COPD indications</a:t>
            </a:r>
          </a:p>
          <a:p>
            <a:pPr algn="ctr">
              <a:buNone/>
            </a:pPr>
            <a:r>
              <a:rPr lang="en-US" sz="1400" i="1" dirty="0">
                <a:solidFill>
                  <a:srgbClr val="595959"/>
                </a:solidFill>
              </a:rPr>
              <a:t>Sections: COPD  |  Restrictive/NMD  |  OHS  |  Hypoventilation</a:t>
            </a:r>
          </a:p>
        </p:txBody>
      </p:sp>
    </p:spTree>
    <p:extLst>
      <p:ext uri="{BB962C8B-B14F-4D97-AF65-F5344CB8AC3E}">
        <p14:creationId xmlns:p14="http://schemas.microsoft.com/office/powerpoint/2010/main" val="2442209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5C6C-FFE6-6232-D77F-89327EDB5D47}"/>
              </a:ext>
            </a:extLst>
          </p:cNvPr>
          <p:cNvSpPr>
            <a:spLocks noGrp="1"/>
          </p:cNvSpPr>
          <p:nvPr>
            <p:ph type="title"/>
          </p:nvPr>
        </p:nvSpPr>
        <p:spPr/>
        <p:txBody>
          <a:bodyPr/>
          <a:lstStyle/>
          <a:p>
            <a:pPr>
              <a:buNone/>
            </a:pPr>
            <a:r>
              <a:rPr lang="en-US" sz="2400" b="1" dirty="0"/>
              <a:t>COPD NCD Implementation Timeline &amp; LCD Status</a:t>
            </a:r>
          </a:p>
        </p:txBody>
      </p:sp>
      <p:sp>
        <p:nvSpPr>
          <p:cNvPr id="50" name="Timeline Line"/>
          <p:cNvSpPr/>
          <p:nvPr/>
        </p:nvSpPr>
        <p:spPr>
          <a:xfrm>
            <a:off x="900000" y="2600000"/>
            <a:ext cx="7300000" cy="0"/>
          </a:xfrm>
          <a:prstGeom prst="line">
            <a:avLst/>
          </a:prstGeom>
          <a:ln w="38100">
            <a:solidFill>
              <a:srgbClr val="D0D0D0"/>
            </a:solidFill>
          </a:ln>
        </p:spPr>
        <p:txBody>
          <a:bodyPr/>
          <a:lstStyle/>
          <a:p>
            <a:endParaRPr lang="en-US"/>
          </a:p>
        </p:txBody>
      </p:sp>
      <p:sp>
        <p:nvSpPr>
          <p:cNvPr id="51" name="Circle 1"/>
          <p:cNvSpPr/>
          <p:nvPr/>
        </p:nvSpPr>
        <p:spPr>
          <a:xfrm>
            <a:off x="1220000" y="2320000"/>
            <a:ext cx="560000" cy="560000"/>
          </a:xfrm>
          <a:prstGeom prst="ellipse">
            <a:avLst/>
          </a:prstGeom>
          <a:solidFill>
            <a:srgbClr val="1F4E79"/>
          </a:solidFill>
          <a:ln>
            <a:noFill/>
          </a:ln>
        </p:spPr>
        <p:txBody>
          <a:bodyPr wrap="none" lIns="0" tIns="0" rIns="0" bIns="0" anchor="ctr"/>
          <a:lstStyle/>
          <a:p>
            <a:pPr algn="ctr"/>
            <a:r>
              <a:rPr lang="en-US" sz="1200" b="1" dirty="0">
                <a:solidFill>
                  <a:srgbClr val="FFFFFF"/>
                </a:solidFill>
              </a:rPr>
              <a:t>1</a:t>
            </a:r>
          </a:p>
        </p:txBody>
      </p:sp>
      <p:sp>
        <p:nvSpPr>
          <p:cNvPr id="52" name="Date 1"/>
          <p:cNvSpPr/>
          <p:nvPr/>
        </p:nvSpPr>
        <p:spPr>
          <a:xfrm>
            <a:off x="600000" y="1870000"/>
            <a:ext cx="1800000" cy="350000"/>
          </a:xfrm>
          <a:prstGeom prst="rect">
            <a:avLst/>
          </a:prstGeom>
          <a:noFill/>
          <a:ln>
            <a:noFill/>
          </a:ln>
        </p:spPr>
        <p:txBody>
          <a:bodyPr wrap="square" lIns="0" tIns="0" rIns="0" bIns="0" anchor="b"/>
          <a:lstStyle/>
          <a:p>
            <a:pPr algn="ctr"/>
            <a:r>
              <a:rPr lang="en-US" sz="1400" b="1" dirty="0">
                <a:solidFill>
                  <a:srgbClr val="1F4E79"/>
                </a:solidFill>
              </a:rPr>
              <a:t>June 9, 2025</a:t>
            </a:r>
          </a:p>
        </p:txBody>
      </p:sp>
      <p:sp>
        <p:nvSpPr>
          <p:cNvPr id="53" name="Label 1"/>
          <p:cNvSpPr/>
          <p:nvPr/>
        </p:nvSpPr>
        <p:spPr>
          <a:xfrm>
            <a:off x="500000" y="2980000"/>
            <a:ext cx="2000000" cy="350000"/>
          </a:xfrm>
          <a:prstGeom prst="rect">
            <a:avLst/>
          </a:prstGeom>
          <a:noFill/>
          <a:ln>
            <a:noFill/>
          </a:ln>
        </p:spPr>
        <p:txBody>
          <a:bodyPr wrap="square" lIns="0" tIns="0" rIns="0" bIns="0" anchor="t"/>
          <a:lstStyle/>
          <a:p>
            <a:pPr algn="ctr"/>
            <a:r>
              <a:rPr lang="en-US" sz="1400" b="1" dirty="0"/>
              <a:t>NCD 240.9 Effective</a:t>
            </a:r>
          </a:p>
        </p:txBody>
      </p:sp>
      <p:sp>
        <p:nvSpPr>
          <p:cNvPr id="54" name="Detail 1"/>
          <p:cNvSpPr/>
          <p:nvPr/>
        </p:nvSpPr>
        <p:spPr>
          <a:xfrm>
            <a:off x="400000" y="3330000"/>
            <a:ext cx="2200000" cy="350000"/>
          </a:xfrm>
          <a:prstGeom prst="rect">
            <a:avLst/>
          </a:prstGeom>
          <a:noFill/>
          <a:ln>
            <a:noFill/>
          </a:ln>
        </p:spPr>
        <p:txBody>
          <a:bodyPr wrap="square" lIns="0" tIns="0" rIns="0" bIns="0" anchor="t"/>
          <a:lstStyle/>
          <a:p>
            <a:pPr algn="ctr"/>
            <a:r>
              <a:rPr lang="en-US" sz="1200" dirty="0">
                <a:solidFill>
                  <a:srgbClr val="595959"/>
                </a:solidFill>
              </a:rPr>
              <a:t>National coverage policy in force</a:t>
            </a:r>
          </a:p>
        </p:txBody>
      </p:sp>
      <p:sp>
        <p:nvSpPr>
          <p:cNvPr id="55" name="Circle 2"/>
          <p:cNvSpPr/>
          <p:nvPr/>
        </p:nvSpPr>
        <p:spPr>
          <a:xfrm>
            <a:off x="4292000" y="2320000"/>
            <a:ext cx="560000" cy="560000"/>
          </a:xfrm>
          <a:prstGeom prst="ellipse">
            <a:avLst/>
          </a:prstGeom>
          <a:solidFill>
            <a:srgbClr val="2E75B6"/>
          </a:solidFill>
          <a:ln>
            <a:noFill/>
          </a:ln>
        </p:spPr>
        <p:txBody>
          <a:bodyPr wrap="none" lIns="0" tIns="0" rIns="0" bIns="0" anchor="ctr"/>
          <a:lstStyle/>
          <a:p>
            <a:pPr algn="ctr"/>
            <a:r>
              <a:rPr lang="en-US" sz="1200" b="1" dirty="0">
                <a:solidFill>
                  <a:srgbClr val="FFFFFF"/>
                </a:solidFill>
              </a:rPr>
              <a:t>2</a:t>
            </a:r>
          </a:p>
        </p:txBody>
      </p:sp>
      <p:sp>
        <p:nvSpPr>
          <p:cNvPr id="56" name="Date 2"/>
          <p:cNvSpPr/>
          <p:nvPr/>
        </p:nvSpPr>
        <p:spPr>
          <a:xfrm>
            <a:off x="3672000" y="1870000"/>
            <a:ext cx="1800000" cy="350000"/>
          </a:xfrm>
          <a:prstGeom prst="rect">
            <a:avLst/>
          </a:prstGeom>
          <a:noFill/>
          <a:ln>
            <a:noFill/>
          </a:ln>
        </p:spPr>
        <p:txBody>
          <a:bodyPr wrap="square" lIns="0" tIns="0" rIns="0" bIns="0" anchor="b"/>
          <a:lstStyle/>
          <a:p>
            <a:pPr algn="ctr"/>
            <a:r>
              <a:rPr lang="en-US" sz="1400" b="1" dirty="0">
                <a:solidFill>
                  <a:srgbClr val="2E75B6"/>
                </a:solidFill>
              </a:rPr>
              <a:t>Oct 9, 2025</a:t>
            </a:r>
          </a:p>
        </p:txBody>
      </p:sp>
      <p:sp>
        <p:nvSpPr>
          <p:cNvPr id="57" name="Label 2"/>
          <p:cNvSpPr/>
          <p:nvPr/>
        </p:nvSpPr>
        <p:spPr>
          <a:xfrm>
            <a:off x="3572000" y="2980000"/>
            <a:ext cx="2000000" cy="350000"/>
          </a:xfrm>
          <a:prstGeom prst="rect">
            <a:avLst/>
          </a:prstGeom>
          <a:noFill/>
          <a:ln>
            <a:noFill/>
          </a:ln>
        </p:spPr>
        <p:txBody>
          <a:bodyPr wrap="square" lIns="0" tIns="0" rIns="0" bIns="0" anchor="t"/>
          <a:lstStyle/>
          <a:p>
            <a:pPr algn="ctr"/>
            <a:r>
              <a:rPr lang="en-US" sz="1400" b="1" dirty="0"/>
              <a:t>LCD L33800 Revised</a:t>
            </a:r>
          </a:p>
        </p:txBody>
      </p:sp>
      <p:sp>
        <p:nvSpPr>
          <p:cNvPr id="58" name="Detail 2"/>
          <p:cNvSpPr/>
          <p:nvPr/>
        </p:nvSpPr>
        <p:spPr>
          <a:xfrm>
            <a:off x="3472000" y="3330000"/>
            <a:ext cx="2200000" cy="350000"/>
          </a:xfrm>
          <a:prstGeom prst="rect">
            <a:avLst/>
          </a:prstGeom>
          <a:noFill/>
          <a:ln>
            <a:noFill/>
          </a:ln>
        </p:spPr>
        <p:txBody>
          <a:bodyPr wrap="square" lIns="0" tIns="0" rIns="0" bIns="0" anchor="t"/>
          <a:lstStyle/>
          <a:p>
            <a:pPr algn="ctr"/>
            <a:r>
              <a:rPr lang="en-US" sz="1200" dirty="0">
                <a:solidFill>
                  <a:srgbClr val="595959"/>
                </a:solidFill>
              </a:rPr>
              <a:t>Aligned with NCD (retroactive to 6/9)</a:t>
            </a:r>
          </a:p>
        </p:txBody>
      </p:sp>
      <p:sp>
        <p:nvSpPr>
          <p:cNvPr id="59" name="Circle 3"/>
          <p:cNvSpPr/>
          <p:nvPr/>
        </p:nvSpPr>
        <p:spPr>
          <a:xfrm>
            <a:off x="7320000" y="2320000"/>
            <a:ext cx="560000" cy="560000"/>
          </a:xfrm>
          <a:prstGeom prst="ellipse">
            <a:avLst/>
          </a:prstGeom>
          <a:solidFill>
            <a:srgbClr val="C00000"/>
          </a:solidFill>
          <a:ln>
            <a:noFill/>
          </a:ln>
        </p:spPr>
        <p:txBody>
          <a:bodyPr wrap="none" lIns="0" tIns="0" rIns="0" bIns="0" anchor="ctr"/>
          <a:lstStyle/>
          <a:p>
            <a:pPr algn="ctr"/>
            <a:r>
              <a:rPr lang="en-US" sz="1200" b="1" dirty="0">
                <a:solidFill>
                  <a:srgbClr val="FFFFFF"/>
                </a:solidFill>
              </a:rPr>
              <a:t>3</a:t>
            </a:r>
          </a:p>
        </p:txBody>
      </p:sp>
      <p:sp>
        <p:nvSpPr>
          <p:cNvPr id="60" name="Date 3"/>
          <p:cNvSpPr/>
          <p:nvPr/>
        </p:nvSpPr>
        <p:spPr>
          <a:xfrm>
            <a:off x="6700000" y="1870000"/>
            <a:ext cx="1800000" cy="350000"/>
          </a:xfrm>
          <a:prstGeom prst="rect">
            <a:avLst/>
          </a:prstGeom>
          <a:noFill/>
          <a:ln>
            <a:noFill/>
          </a:ln>
        </p:spPr>
        <p:txBody>
          <a:bodyPr wrap="square" lIns="0" tIns="0" rIns="0" bIns="0" anchor="b"/>
          <a:lstStyle/>
          <a:p>
            <a:pPr algn="ctr"/>
            <a:r>
              <a:rPr lang="en-US" sz="1400" b="1" dirty="0">
                <a:solidFill>
                  <a:srgbClr val="C00000"/>
                </a:solidFill>
              </a:rPr>
              <a:t>Oct 22, 2025</a:t>
            </a:r>
          </a:p>
        </p:txBody>
      </p:sp>
      <p:sp>
        <p:nvSpPr>
          <p:cNvPr id="61" name="Label 3"/>
          <p:cNvSpPr/>
          <p:nvPr/>
        </p:nvSpPr>
        <p:spPr>
          <a:xfrm>
            <a:off x="6600000" y="2980000"/>
            <a:ext cx="2000000" cy="350000"/>
          </a:xfrm>
          <a:prstGeom prst="rect">
            <a:avLst/>
          </a:prstGeom>
          <a:noFill/>
          <a:ln>
            <a:noFill/>
          </a:ln>
        </p:spPr>
        <p:txBody>
          <a:bodyPr wrap="square" lIns="0" tIns="0" rIns="0" bIns="0" anchor="t"/>
          <a:lstStyle/>
          <a:p>
            <a:pPr algn="ctr"/>
            <a:r>
              <a:rPr lang="en-US" sz="1400" b="1" dirty="0"/>
              <a:t>Claims Payable</a:t>
            </a:r>
          </a:p>
        </p:txBody>
      </p:sp>
      <p:sp>
        <p:nvSpPr>
          <p:cNvPr id="62" name="Detail 3"/>
          <p:cNvSpPr/>
          <p:nvPr/>
        </p:nvSpPr>
        <p:spPr>
          <a:xfrm>
            <a:off x="6500000" y="3330000"/>
            <a:ext cx="2200000" cy="350000"/>
          </a:xfrm>
          <a:prstGeom prst="rect">
            <a:avLst/>
          </a:prstGeom>
          <a:noFill/>
          <a:ln>
            <a:noFill/>
          </a:ln>
        </p:spPr>
        <p:txBody>
          <a:bodyPr wrap="square" lIns="0" tIns="0" rIns="0" bIns="0" anchor="t"/>
          <a:lstStyle/>
          <a:p>
            <a:pPr algn="ctr"/>
            <a:r>
              <a:rPr lang="en-US" sz="1200" dirty="0">
                <a:solidFill>
                  <a:srgbClr val="595959"/>
                </a:solidFill>
              </a:rPr>
              <a:t>DME MACs processing new criteria</a:t>
            </a:r>
          </a:p>
        </p:txBody>
      </p:sp>
      <p:sp>
        <p:nvSpPr>
          <p:cNvPr id="70" name="Card1 BG"/>
          <p:cNvSpPr/>
          <p:nvPr/>
        </p:nvSpPr>
        <p:spPr>
          <a:xfrm>
            <a:off x="500000" y="4200000"/>
            <a:ext cx="3800000" cy="1800000"/>
          </a:xfrm>
          <a:prstGeom prst="roundRect">
            <a:avLst>
              <a:gd name="adj" fmla="val 5000"/>
            </a:avLst>
          </a:prstGeom>
          <a:solidFill>
            <a:srgbClr val="EBF0F7"/>
          </a:solidFill>
          <a:ln>
            <a:noFill/>
          </a:ln>
        </p:spPr>
        <p:txBody>
          <a:bodyPr wrap="square" lIns="144000" tIns="108000" rIns="144000" bIns="72000" anchor="t"/>
          <a:lstStyle/>
          <a:p>
            <a:pPr>
              <a:buNone/>
            </a:pPr>
            <a:r>
              <a:rPr lang="en-US" sz="1400" b="1" dirty="0">
                <a:solidFill>
                  <a:srgbClr val="1F4E79"/>
                </a:solidFill>
              </a:rPr>
              <a:t>What Changed in LCD L33800</a:t>
            </a:r>
          </a:p>
          <a:p>
            <a:pPr marL="171450" indent="-171450">
              <a:buFont typeface="Arial"/>
              <a:buChar char="•"/>
            </a:pPr>
            <a:r>
              <a:rPr lang="en-US" sz="1100" dirty="0"/>
              <a:t>Removed old “Severe COPD” criteria</a:t>
            </a:r>
          </a:p>
          <a:p>
            <a:pPr marL="171450" indent="-171450">
              <a:buFont typeface="Arial"/>
              <a:buChar char="•"/>
            </a:pPr>
            <a:r>
              <a:rPr lang="en-US" sz="1100" dirty="0"/>
              <a:t>Added “CRF Consequent to COPD” – defers to NCD 240.9</a:t>
            </a:r>
          </a:p>
          <a:p>
            <a:pPr marL="171450" indent="-171450">
              <a:buFont typeface="Arial"/>
              <a:buChar char="•"/>
            </a:pPr>
            <a:r>
              <a:rPr lang="en-US" sz="1100" dirty="0"/>
              <a:t>Updated KX modifier instructions</a:t>
            </a:r>
          </a:p>
          <a:p>
            <a:pPr marL="171450" indent="-171450">
              <a:buFont typeface="Arial"/>
              <a:buChar char="•"/>
            </a:pPr>
            <a:r>
              <a:rPr lang="en-US" sz="1100" dirty="0"/>
              <a:t>Non-discretionary revision (21st Century Cures Act)</a:t>
            </a:r>
          </a:p>
        </p:txBody>
      </p:sp>
      <p:sp>
        <p:nvSpPr>
          <p:cNvPr id="71" name="Card2 BG"/>
          <p:cNvSpPr/>
          <p:nvPr/>
        </p:nvSpPr>
        <p:spPr>
          <a:xfrm>
            <a:off x="4800000" y="4200000"/>
            <a:ext cx="3800000" cy="1800000"/>
          </a:xfrm>
          <a:prstGeom prst="roundRect">
            <a:avLst>
              <a:gd name="adj" fmla="val 5000"/>
            </a:avLst>
          </a:prstGeom>
          <a:solidFill>
            <a:srgbClr val="FBEAEA"/>
          </a:solidFill>
          <a:ln>
            <a:noFill/>
          </a:ln>
        </p:spPr>
        <p:txBody>
          <a:bodyPr wrap="square" lIns="144000" tIns="108000" rIns="144000" bIns="72000" anchor="t"/>
          <a:lstStyle/>
          <a:p>
            <a:pPr>
              <a:buNone/>
            </a:pPr>
            <a:r>
              <a:rPr lang="en-US" sz="1400" b="1" dirty="0">
                <a:solidFill>
                  <a:srgbClr val="C00000"/>
                </a:solidFill>
              </a:rPr>
              <a:t>What This Means for Providers</a:t>
            </a:r>
          </a:p>
          <a:p>
            <a:pPr marL="171450" indent="-171450">
              <a:buFont typeface="Arial"/>
              <a:buChar char="•"/>
            </a:pPr>
            <a:r>
              <a:rPr lang="en-US" sz="1100" b="1" dirty="0">
                <a:solidFill>
                  <a:srgbClr val="2E7D32"/>
                </a:solidFill>
              </a:rPr>
              <a:t>COPD: LCD is live now</a:t>
            </a:r>
            <a:r>
              <a:rPr lang="en-US" sz="1100" dirty="0"/>
              <a:t> – bill under NCD 240.9 today</a:t>
            </a:r>
          </a:p>
          <a:p>
            <a:pPr marL="171450" indent="-171450">
              <a:buFont typeface="Arial"/>
              <a:buChar char="•"/>
            </a:pPr>
            <a:r>
              <a:rPr lang="en-US" sz="1100" b="1" dirty="0">
                <a:solidFill>
                  <a:srgbClr val="C00000"/>
                </a:solidFill>
              </a:rPr>
              <a:t>Non-COPD: LCDs still pending</a:t>
            </a:r>
            <a:r>
              <a:rPr lang="en-US" sz="1100" dirty="0"/>
              <a:t> – MACs retain authority</a:t>
            </a:r>
          </a:p>
        </p:txBody>
      </p:sp>
    </p:spTree>
    <p:extLst>
      <p:ext uri="{BB962C8B-B14F-4D97-AF65-F5344CB8AC3E}">
        <p14:creationId xmlns:p14="http://schemas.microsoft.com/office/powerpoint/2010/main" val="798727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E54F3-9E77-750F-BAB1-3DD4B5FB7228}"/>
              </a:ext>
            </a:extLst>
          </p:cNvPr>
          <p:cNvSpPr>
            <a:spLocks noGrp="1"/>
          </p:cNvSpPr>
          <p:nvPr>
            <p:ph type="title"/>
          </p:nvPr>
        </p:nvSpPr>
        <p:spPr/>
        <p:txBody>
          <a:bodyPr>
            <a:normAutofit/>
          </a:bodyPr>
          <a:lstStyle/>
          <a:p>
            <a:r>
              <a:rPr lang="en-US" sz="2200"/>
              <a:t>COPD NCD: RAD with Backup Rate – Initial Coverage Criteria</a:t>
            </a:r>
            <a:endParaRPr lang="en-US" sz="2200" dirty="0"/>
          </a:p>
        </p:txBody>
      </p:sp>
      <p:sp>
        <p:nvSpPr>
          <p:cNvPr id="30" name="Num0"/>
          <p:cNvSpPr/>
          <p:nvPr/>
        </p:nvSpPr>
        <p:spPr>
          <a:xfrm>
            <a:off x="600000" y="1740000"/>
            <a:ext cx="420000" cy="420000"/>
          </a:xfrm>
          <a:prstGeom prst="ellipse">
            <a:avLst/>
          </a:prstGeom>
          <a:solidFill>
            <a:srgbClr val="1F4E79"/>
          </a:solidFill>
          <a:ln>
            <a:noFill/>
          </a:ln>
        </p:spPr>
        <p:txBody>
          <a:bodyPr wrap="none" lIns="0" tIns="0" rIns="0" bIns="0" anchor="ctr"/>
          <a:lstStyle/>
          <a:p>
            <a:pPr algn="ctr"/>
            <a:r>
              <a:rPr lang="en-US" sz="1800" b="1" dirty="0">
                <a:solidFill>
                  <a:srgbClr val="FFFFFF"/>
                </a:solidFill>
              </a:rPr>
              <a:t>1</a:t>
            </a:r>
          </a:p>
        </p:txBody>
      </p:sp>
      <p:sp>
        <p:nvSpPr>
          <p:cNvPr id="31" name="Box0"/>
          <p:cNvSpPr/>
          <p:nvPr/>
        </p:nvSpPr>
        <p:spPr>
          <a:xfrm>
            <a:off x="1200000" y="1500000"/>
            <a:ext cx="7200000" cy="900000"/>
          </a:xfrm>
          <a:prstGeom prst="roundRect">
            <a:avLst>
              <a:gd name="adj" fmla="val 5000"/>
            </a:avLst>
          </a:prstGeom>
          <a:solidFill>
            <a:srgbClr val="F5F8FC"/>
          </a:solidFill>
          <a:ln w="12700">
            <a:solidFill>
              <a:srgbClr val="1F4E79"/>
            </a:solidFill>
          </a:ln>
        </p:spPr>
        <p:txBody>
          <a:bodyPr wrap="square" lIns="144000" tIns="72000" rIns="144000" bIns="72000" anchor="ctr"/>
          <a:lstStyle/>
          <a:p>
            <a:pPr>
              <a:buNone/>
            </a:pPr>
            <a:r>
              <a:rPr lang="en-US" sz="1400" b="1" dirty="0">
                <a:solidFill>
                  <a:srgbClr val="1F4E79"/>
                </a:solidFill>
              </a:rPr>
              <a:t>Persistent Hypercapnia</a:t>
            </a:r>
          </a:p>
          <a:p>
            <a:pPr>
              <a:buNone/>
            </a:pPr>
            <a:r>
              <a:rPr lang="en-US" sz="1200" dirty="0">
                <a:solidFill>
                  <a:srgbClr val="333333"/>
                </a:solidFill>
              </a:rPr>
              <a:t>PaCO2 \u2265 52 mmHg (awake ABG, on prescribed FiO2)</a:t>
            </a:r>
          </a:p>
        </p:txBody>
      </p:sp>
      <p:sp>
        <p:nvSpPr>
          <p:cNvPr id="32" name="And0"/>
          <p:cNvSpPr/>
          <p:nvPr/>
        </p:nvSpPr>
        <p:spPr>
          <a:xfrm>
            <a:off x="600000" y="2420000"/>
            <a:ext cx="420000" cy="26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3" name="Num1"/>
          <p:cNvSpPr/>
          <p:nvPr/>
        </p:nvSpPr>
        <p:spPr>
          <a:xfrm>
            <a:off x="600000" y="2940000"/>
            <a:ext cx="420000" cy="420000"/>
          </a:xfrm>
          <a:prstGeom prst="ellipse">
            <a:avLst/>
          </a:prstGeom>
          <a:solidFill>
            <a:srgbClr val="2E75B6"/>
          </a:solidFill>
          <a:ln>
            <a:noFill/>
          </a:ln>
        </p:spPr>
        <p:txBody>
          <a:bodyPr wrap="none" lIns="0" tIns="0" rIns="0" bIns="0" anchor="ctr"/>
          <a:lstStyle/>
          <a:p>
            <a:pPr algn="ctr"/>
            <a:r>
              <a:rPr lang="en-US" sz="1800" b="1" dirty="0">
                <a:solidFill>
                  <a:srgbClr val="FFFFFF"/>
                </a:solidFill>
              </a:rPr>
              <a:t>2</a:t>
            </a:r>
          </a:p>
        </p:txBody>
      </p:sp>
      <p:sp>
        <p:nvSpPr>
          <p:cNvPr id="34" name="Box1"/>
          <p:cNvSpPr/>
          <p:nvPr/>
        </p:nvSpPr>
        <p:spPr>
          <a:xfrm>
            <a:off x="1200000" y="2700000"/>
            <a:ext cx="7200000" cy="900000"/>
          </a:xfrm>
          <a:prstGeom prst="roundRect">
            <a:avLst>
              <a:gd name="adj" fmla="val 5000"/>
            </a:avLst>
          </a:prstGeom>
          <a:solidFill>
            <a:srgbClr val="F5F8FC"/>
          </a:solidFill>
          <a:ln w="12700">
            <a:solidFill>
              <a:srgbClr val="2E75B6"/>
            </a:solidFill>
          </a:ln>
        </p:spPr>
        <p:txBody>
          <a:bodyPr wrap="square" lIns="144000" tIns="72000" rIns="144000" bIns="72000" anchor="ctr"/>
          <a:lstStyle/>
          <a:p>
            <a:pPr>
              <a:buNone/>
            </a:pPr>
            <a:r>
              <a:rPr lang="en-US" sz="1400" b="1" dirty="0">
                <a:solidFill>
                  <a:srgbClr val="2E75B6"/>
                </a:solidFill>
              </a:rPr>
              <a:t>Sleep Apnea Ruled Out</a:t>
            </a:r>
          </a:p>
          <a:p>
            <a:pPr>
              <a:buNone/>
            </a:pPr>
            <a:r>
              <a:rPr lang="en-US" sz="1200" dirty="0">
                <a:solidFill>
                  <a:srgbClr val="333333"/>
                </a:solidFill>
              </a:rPr>
              <a:t>Not the predominant cause of hypercapnia
(formal sleep testing NOT required)</a:t>
            </a:r>
          </a:p>
        </p:txBody>
      </p:sp>
      <p:sp>
        <p:nvSpPr>
          <p:cNvPr id="35" name="And1"/>
          <p:cNvSpPr/>
          <p:nvPr/>
        </p:nvSpPr>
        <p:spPr>
          <a:xfrm>
            <a:off x="600000" y="3620000"/>
            <a:ext cx="420000" cy="26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6" name="Num2"/>
          <p:cNvSpPr/>
          <p:nvPr/>
        </p:nvSpPr>
        <p:spPr>
          <a:xfrm>
            <a:off x="600000" y="4140000"/>
            <a:ext cx="420000" cy="420000"/>
          </a:xfrm>
          <a:prstGeom prst="ellipse">
            <a:avLst/>
          </a:prstGeom>
          <a:solidFill>
            <a:srgbClr val="4A90C4"/>
          </a:solidFill>
          <a:ln>
            <a:noFill/>
          </a:ln>
        </p:spPr>
        <p:txBody>
          <a:bodyPr wrap="none" lIns="0" tIns="0" rIns="0" bIns="0" anchor="ctr"/>
          <a:lstStyle/>
          <a:p>
            <a:pPr algn="ctr"/>
            <a:r>
              <a:rPr lang="en-US" sz="1800" b="1" dirty="0">
                <a:solidFill>
                  <a:srgbClr val="FFFFFF"/>
                </a:solidFill>
              </a:rPr>
              <a:t>3</a:t>
            </a:r>
          </a:p>
        </p:txBody>
      </p:sp>
      <p:sp>
        <p:nvSpPr>
          <p:cNvPr id="37" name="Box2"/>
          <p:cNvSpPr/>
          <p:nvPr/>
        </p:nvSpPr>
        <p:spPr>
          <a:xfrm>
            <a:off x="1200000" y="3900000"/>
            <a:ext cx="7200000" cy="900000"/>
          </a:xfrm>
          <a:prstGeom prst="roundRect">
            <a:avLst>
              <a:gd name="adj" fmla="val 5000"/>
            </a:avLst>
          </a:prstGeom>
          <a:solidFill>
            <a:srgbClr val="F5F8FC"/>
          </a:solidFill>
          <a:ln w="12700">
            <a:solidFill>
              <a:srgbClr val="4A90C4"/>
            </a:solidFill>
          </a:ln>
        </p:spPr>
        <p:txBody>
          <a:bodyPr wrap="square" lIns="144000" tIns="72000" rIns="144000" bIns="72000" anchor="ctr"/>
          <a:lstStyle/>
          <a:p>
            <a:pPr>
              <a:buNone/>
            </a:pPr>
            <a:r>
              <a:rPr lang="en-US" sz="1400" b="1" dirty="0">
                <a:solidFill>
                  <a:srgbClr val="4A90C4"/>
                </a:solidFill>
              </a:rPr>
              <a:t>Ability to Support Home NIV</a:t>
            </a:r>
          </a:p>
          <a:p>
            <a:pPr>
              <a:buNone/>
            </a:pPr>
            <a:r>
              <a:rPr lang="en-US" sz="1200" dirty="0">
                <a:solidFill>
                  <a:srgbClr val="333333"/>
                </a:solidFill>
              </a:rPr>
              <a:t>Patient has physical/cognitive ability, or
has a caregiver who can assist</a:t>
            </a:r>
          </a:p>
        </p:txBody>
      </p:sp>
      <p:sp>
        <p:nvSpPr>
          <p:cNvPr id="38" name="And2"/>
          <p:cNvSpPr/>
          <p:nvPr/>
        </p:nvSpPr>
        <p:spPr>
          <a:xfrm>
            <a:off x="600000" y="4820000"/>
            <a:ext cx="420000" cy="26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9" name="Num3"/>
          <p:cNvSpPr/>
          <p:nvPr/>
        </p:nvSpPr>
        <p:spPr>
          <a:xfrm>
            <a:off x="600000" y="5340000"/>
            <a:ext cx="420000" cy="420000"/>
          </a:xfrm>
          <a:prstGeom prst="ellipse">
            <a:avLst/>
          </a:prstGeom>
          <a:solidFill>
            <a:srgbClr val="1F4E79"/>
          </a:solidFill>
          <a:ln>
            <a:noFill/>
          </a:ln>
        </p:spPr>
        <p:txBody>
          <a:bodyPr wrap="none" lIns="0" tIns="0" rIns="0" bIns="0" anchor="ctr"/>
          <a:lstStyle/>
          <a:p>
            <a:pPr algn="ctr"/>
            <a:r>
              <a:rPr lang="en-US" sz="1800" b="1" dirty="0">
                <a:solidFill>
                  <a:srgbClr val="FFFFFF"/>
                </a:solidFill>
              </a:rPr>
              <a:t>4</a:t>
            </a:r>
          </a:p>
        </p:txBody>
      </p:sp>
      <p:sp>
        <p:nvSpPr>
          <p:cNvPr id="40" name="Box3"/>
          <p:cNvSpPr/>
          <p:nvPr/>
        </p:nvSpPr>
        <p:spPr>
          <a:xfrm>
            <a:off x="1200000" y="5100000"/>
            <a:ext cx="7200000" cy="900000"/>
          </a:xfrm>
          <a:prstGeom prst="roundRect">
            <a:avLst>
              <a:gd name="adj" fmla="val 5000"/>
            </a:avLst>
          </a:prstGeom>
          <a:solidFill>
            <a:srgbClr val="EBF0F7"/>
          </a:solidFill>
          <a:ln w="12700">
            <a:solidFill>
              <a:srgbClr val="1F4E79"/>
            </a:solidFill>
          </a:ln>
        </p:spPr>
        <p:txBody>
          <a:bodyPr wrap="square" lIns="144000" tIns="72000" rIns="144000" bIns="72000" anchor="ctr"/>
          <a:lstStyle/>
          <a:p>
            <a:pPr>
              <a:buNone/>
            </a:pPr>
            <a:r>
              <a:rPr lang="en-US" sz="1400" b="1" dirty="0">
                <a:solidFill>
                  <a:srgbClr val="1F4E79"/>
                </a:solidFill>
              </a:rPr>
              <a:t>Clinical Stability (one of):</a:t>
            </a:r>
          </a:p>
          <a:p>
            <a:pPr>
              <a:buNone/>
            </a:pPr>
            <a:r>
              <a:rPr lang="en-US" sz="1200" dirty="0">
                <a:solidFill>
                  <a:srgbClr val="333333"/>
                </a:solidFill>
              </a:rPr>
              <a:t>a) Stable COPD \u2265 2 weeks (no new symptoms); OR
b) \u2265 2 weeks post-hospitalization after exacerbation</a:t>
            </a:r>
          </a:p>
        </p:txBody>
      </p:sp>
      <p:sp>
        <p:nvSpPr>
          <p:cNvPr id="49" name="Result"/>
          <p:cNvSpPr/>
          <p:nvPr/>
        </p:nvSpPr>
        <p:spPr>
          <a:xfrm>
            <a:off x="1200000" y="6100000"/>
            <a:ext cx="7200000" cy="400000"/>
          </a:xfrm>
          <a:prstGeom prst="roundRect">
            <a:avLst>
              <a:gd name="adj" fmla="val 10000"/>
            </a:avLst>
          </a:prstGeom>
          <a:solidFill>
            <a:srgbClr val="2E7D32"/>
          </a:solidFill>
          <a:ln>
            <a:noFill/>
          </a:ln>
        </p:spPr>
        <p:txBody>
          <a:bodyPr wrap="square" lIns="144000" tIns="0" rIns="144000" bIns="0" anchor="ctr"/>
          <a:lstStyle/>
          <a:p>
            <a:pPr algn="ctr"/>
            <a:r>
              <a:rPr lang="en-US" sz="1400" b="1" dirty="0">
                <a:solidFill>
                  <a:srgbClr val="FFFFFF"/>
                </a:solidFill>
              </a:rPr>
              <a:t>✓ All met = E0471 covered for initial 6-month period</a:t>
            </a:r>
          </a:p>
        </p:txBody>
      </p:sp>
    </p:spTree>
    <p:extLst>
      <p:ext uri="{BB962C8B-B14F-4D97-AF65-F5344CB8AC3E}">
        <p14:creationId xmlns:p14="http://schemas.microsoft.com/office/powerpoint/2010/main" val="103586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CA81-4BED-0BC4-CA3C-5B1F01150678}"/>
              </a:ext>
            </a:extLst>
          </p:cNvPr>
          <p:cNvSpPr>
            <a:spLocks noGrp="1"/>
          </p:cNvSpPr>
          <p:nvPr>
            <p:ph type="title"/>
          </p:nvPr>
        </p:nvSpPr>
        <p:spPr/>
        <p:txBody>
          <a:bodyPr>
            <a:normAutofit/>
          </a:bodyPr>
          <a:lstStyle/>
          <a:p>
            <a:r>
              <a:rPr lang="en-US" sz="2000"/>
              <a:t>COPD NCD: RAD without Backup Rate – Initial Coverage Criteria</a:t>
            </a:r>
            <a:endParaRPr lang="en-US" sz="2000" dirty="0"/>
          </a:p>
        </p:txBody>
      </p:sp>
      <p:sp>
        <p:nvSpPr>
          <p:cNvPr id="25" name="Banner"/>
          <p:cNvSpPr/>
          <p:nvPr/>
        </p:nvSpPr>
        <p:spPr>
          <a:xfrm>
            <a:off x="500000" y="1150000"/>
            <a:ext cx="8100000" cy="380000"/>
          </a:xfrm>
          <a:prstGeom prst="roundRect">
            <a:avLst>
              <a:gd name="adj" fmla="val 10000"/>
            </a:avLst>
          </a:prstGeom>
          <a:solidFill>
            <a:srgbClr val="FFF3E0"/>
          </a:solidFill>
          <a:ln w="12700">
            <a:solidFill>
              <a:srgbClr val="BF6C00"/>
            </a:solidFill>
          </a:ln>
        </p:spPr>
        <p:txBody>
          <a:bodyPr wrap="square" lIns="144000" tIns="0" rIns="144000" bIns="0" anchor="ctr"/>
          <a:lstStyle/>
          <a:p>
            <a:pPr algn="ctr"/>
            <a:r>
              <a:rPr lang="en-US" sz="1200" b="1" dirty="0">
                <a:solidFill>
                  <a:srgbClr val="BF6C00"/>
                </a:solidFill>
              </a:rPr>
              <a:t>E0470: Patient cannot tolerate high-intensity NIV or backup rate is medically inappropriate</a:t>
            </a:r>
          </a:p>
        </p:txBody>
      </p:sp>
      <p:sp>
        <p:nvSpPr>
          <p:cNvPr id="30" name="Num0"/>
          <p:cNvSpPr/>
          <p:nvPr/>
        </p:nvSpPr>
        <p:spPr>
          <a:xfrm>
            <a:off x="600000" y="1925000"/>
            <a:ext cx="400000" cy="400000"/>
          </a:xfrm>
          <a:prstGeom prst="ellipse">
            <a:avLst/>
          </a:prstGeom>
          <a:solidFill>
            <a:srgbClr val="BF6C00"/>
          </a:solidFill>
          <a:ln>
            <a:noFill/>
          </a:ln>
        </p:spPr>
        <p:txBody>
          <a:bodyPr wrap="none" lIns="0" tIns="0" rIns="0" bIns="0" anchor="ctr"/>
          <a:lstStyle/>
          <a:p>
            <a:pPr algn="ctr"/>
            <a:r>
              <a:rPr lang="en-US" sz="1800" b="1" dirty="0">
                <a:solidFill>
                  <a:srgbClr val="FFFFFF"/>
                </a:solidFill>
              </a:rPr>
              <a:t>1</a:t>
            </a:r>
          </a:p>
        </p:txBody>
      </p:sp>
      <p:sp>
        <p:nvSpPr>
          <p:cNvPr id="31" name="Box0"/>
          <p:cNvSpPr/>
          <p:nvPr/>
        </p:nvSpPr>
        <p:spPr>
          <a:xfrm>
            <a:off x="1200000" y="1700000"/>
            <a:ext cx="7200000" cy="850000"/>
          </a:xfrm>
          <a:prstGeom prst="roundRect">
            <a:avLst>
              <a:gd name="adj" fmla="val 5000"/>
            </a:avLst>
          </a:prstGeom>
          <a:solidFill>
            <a:srgbClr val="FFF8F0"/>
          </a:solidFill>
          <a:ln w="12700">
            <a:solidFill>
              <a:srgbClr val="BF6C00"/>
            </a:solidFill>
          </a:ln>
        </p:spPr>
        <p:txBody>
          <a:bodyPr wrap="square" lIns="144000" tIns="72000" rIns="144000" bIns="72000" anchor="ctr"/>
          <a:lstStyle/>
          <a:p>
            <a:pPr>
              <a:buNone/>
            </a:pPr>
            <a:r>
              <a:rPr lang="en-US" sz="1400" b="1" dirty="0">
                <a:solidFill>
                  <a:srgbClr val="BF6C00"/>
                </a:solidFill>
              </a:rPr>
              <a:t>Persistent Hypercapnia</a:t>
            </a:r>
          </a:p>
          <a:p>
            <a:pPr>
              <a:buNone/>
            </a:pPr>
            <a:r>
              <a:rPr lang="en-US" sz="1200" dirty="0">
                <a:solidFill>
                  <a:srgbClr val="333333"/>
                </a:solidFill>
              </a:rPr>
              <a:t>PaCO2 ≥ 52 mmHg (awake ABG, on prescribed FiO2)</a:t>
            </a:r>
          </a:p>
        </p:txBody>
      </p:sp>
      <p:sp>
        <p:nvSpPr>
          <p:cNvPr id="32" name="And0"/>
          <p:cNvSpPr/>
          <p:nvPr/>
        </p:nvSpPr>
        <p:spPr>
          <a:xfrm>
            <a:off x="600000" y="2560000"/>
            <a:ext cx="400000" cy="24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3" name="Num1"/>
          <p:cNvSpPr/>
          <p:nvPr/>
        </p:nvSpPr>
        <p:spPr>
          <a:xfrm>
            <a:off x="600000" y="3025000"/>
            <a:ext cx="400000" cy="400000"/>
          </a:xfrm>
          <a:prstGeom prst="ellipse">
            <a:avLst/>
          </a:prstGeom>
          <a:solidFill>
            <a:srgbClr val="BF6C00"/>
          </a:solidFill>
          <a:ln>
            <a:noFill/>
          </a:ln>
        </p:spPr>
        <p:txBody>
          <a:bodyPr wrap="none" lIns="0" tIns="0" rIns="0" bIns="0" anchor="ctr"/>
          <a:lstStyle/>
          <a:p>
            <a:pPr algn="ctr"/>
            <a:r>
              <a:rPr lang="en-US" sz="1800" b="1" dirty="0">
                <a:solidFill>
                  <a:srgbClr val="FFFFFF"/>
                </a:solidFill>
              </a:rPr>
              <a:t>2</a:t>
            </a:r>
          </a:p>
        </p:txBody>
      </p:sp>
      <p:sp>
        <p:nvSpPr>
          <p:cNvPr id="34" name="Box1"/>
          <p:cNvSpPr/>
          <p:nvPr/>
        </p:nvSpPr>
        <p:spPr>
          <a:xfrm>
            <a:off x="1200000" y="2800000"/>
            <a:ext cx="7200000" cy="850000"/>
          </a:xfrm>
          <a:prstGeom prst="roundRect">
            <a:avLst>
              <a:gd name="adj" fmla="val 5000"/>
            </a:avLst>
          </a:prstGeom>
          <a:solidFill>
            <a:srgbClr val="FFF8F0"/>
          </a:solidFill>
          <a:ln w="12700">
            <a:solidFill>
              <a:srgbClr val="BF6C00"/>
            </a:solidFill>
          </a:ln>
        </p:spPr>
        <p:txBody>
          <a:bodyPr wrap="square" lIns="144000" tIns="72000" rIns="144000" bIns="72000" anchor="ctr"/>
          <a:lstStyle/>
          <a:p>
            <a:pPr>
              <a:buNone/>
            </a:pPr>
            <a:r>
              <a:rPr lang="en-US" sz="1400" b="1" dirty="0">
                <a:solidFill>
                  <a:srgbClr val="BF6C00"/>
                </a:solidFill>
              </a:rPr>
              <a:t>Sleep Apnea Ruled Out</a:t>
            </a:r>
          </a:p>
          <a:p>
            <a:pPr>
              <a:buNone/>
            </a:pPr>
            <a:r>
              <a:rPr lang="en-US" sz="1200" dirty="0">
                <a:solidFill>
                  <a:srgbClr val="333333"/>
                </a:solidFill>
              </a:rPr>
              <a:t>Not the predominant cause of hypercapnia
(formal sleep testing NOT required)</a:t>
            </a:r>
          </a:p>
        </p:txBody>
      </p:sp>
      <p:sp>
        <p:nvSpPr>
          <p:cNvPr id="35" name="And1"/>
          <p:cNvSpPr/>
          <p:nvPr/>
        </p:nvSpPr>
        <p:spPr>
          <a:xfrm>
            <a:off x="600000" y="3660000"/>
            <a:ext cx="400000" cy="24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6" name="Num2"/>
          <p:cNvSpPr/>
          <p:nvPr/>
        </p:nvSpPr>
        <p:spPr>
          <a:xfrm>
            <a:off x="600000" y="4125000"/>
            <a:ext cx="400000" cy="400000"/>
          </a:xfrm>
          <a:prstGeom prst="ellipse">
            <a:avLst/>
          </a:prstGeom>
          <a:solidFill>
            <a:srgbClr val="BF6C00"/>
          </a:solidFill>
          <a:ln>
            <a:noFill/>
          </a:ln>
        </p:spPr>
        <p:txBody>
          <a:bodyPr wrap="none" lIns="0" tIns="0" rIns="0" bIns="0" anchor="ctr"/>
          <a:lstStyle/>
          <a:p>
            <a:pPr algn="ctr"/>
            <a:r>
              <a:rPr lang="en-US" sz="1800" b="1" dirty="0">
                <a:solidFill>
                  <a:srgbClr val="FFFFFF"/>
                </a:solidFill>
              </a:rPr>
              <a:t>3</a:t>
            </a:r>
          </a:p>
        </p:txBody>
      </p:sp>
      <p:sp>
        <p:nvSpPr>
          <p:cNvPr id="37" name="Box2"/>
          <p:cNvSpPr/>
          <p:nvPr/>
        </p:nvSpPr>
        <p:spPr>
          <a:xfrm>
            <a:off x="1200000" y="3900000"/>
            <a:ext cx="7200000" cy="850000"/>
          </a:xfrm>
          <a:prstGeom prst="roundRect">
            <a:avLst>
              <a:gd name="adj" fmla="val 5000"/>
            </a:avLst>
          </a:prstGeom>
          <a:solidFill>
            <a:srgbClr val="FFF8F0"/>
          </a:solidFill>
          <a:ln w="12700">
            <a:solidFill>
              <a:srgbClr val="BF6C00"/>
            </a:solidFill>
          </a:ln>
        </p:spPr>
        <p:txBody>
          <a:bodyPr wrap="square" lIns="144000" tIns="72000" rIns="144000" bIns="72000" anchor="ctr"/>
          <a:lstStyle/>
          <a:p>
            <a:pPr>
              <a:buNone/>
            </a:pPr>
            <a:r>
              <a:rPr lang="en-US" sz="1400" b="1" dirty="0">
                <a:solidFill>
                  <a:srgbClr val="BF6C00"/>
                </a:solidFill>
              </a:rPr>
              <a:t>Ability to Support Home NIV</a:t>
            </a:r>
          </a:p>
          <a:p>
            <a:pPr>
              <a:buNone/>
            </a:pPr>
            <a:r>
              <a:rPr lang="en-US" sz="1200" dirty="0">
                <a:solidFill>
                  <a:srgbClr val="333333"/>
                </a:solidFill>
              </a:rPr>
              <a:t>Patient has physical/cognitive ability, or
has a caregiver who can assist</a:t>
            </a:r>
          </a:p>
        </p:txBody>
      </p:sp>
      <p:sp>
        <p:nvSpPr>
          <p:cNvPr id="38" name="And2"/>
          <p:cNvSpPr/>
          <p:nvPr/>
        </p:nvSpPr>
        <p:spPr>
          <a:xfrm>
            <a:off x="600000" y="4760000"/>
            <a:ext cx="400000" cy="240000"/>
          </a:xfrm>
          <a:prstGeom prst="rect">
            <a:avLst/>
          </a:prstGeom>
          <a:noFill/>
          <a:ln>
            <a:noFill/>
          </a:ln>
        </p:spPr>
        <p:txBody>
          <a:bodyPr wrap="none" lIns="0" tIns="0" rIns="0" bIns="0" anchor="ctr"/>
          <a:lstStyle/>
          <a:p>
            <a:pPr algn="ctr"/>
            <a:r>
              <a:rPr lang="en-US" sz="1100" b="1" dirty="0">
                <a:solidFill>
                  <a:srgbClr val="C00000"/>
                </a:solidFill>
              </a:rPr>
              <a:t>AND</a:t>
            </a:r>
          </a:p>
        </p:txBody>
      </p:sp>
      <p:sp>
        <p:nvSpPr>
          <p:cNvPr id="39" name="Num3"/>
          <p:cNvSpPr/>
          <p:nvPr/>
        </p:nvSpPr>
        <p:spPr>
          <a:xfrm>
            <a:off x="600000" y="5225000"/>
            <a:ext cx="400000" cy="400000"/>
          </a:xfrm>
          <a:prstGeom prst="ellipse">
            <a:avLst/>
          </a:prstGeom>
          <a:solidFill>
            <a:srgbClr val="BF6C00"/>
          </a:solidFill>
          <a:ln>
            <a:noFill/>
          </a:ln>
        </p:spPr>
        <p:txBody>
          <a:bodyPr wrap="none" lIns="0" tIns="0" rIns="0" bIns="0" anchor="ctr"/>
          <a:lstStyle/>
          <a:p>
            <a:pPr algn="ctr"/>
            <a:r>
              <a:rPr lang="en-US" sz="1800" b="1" dirty="0">
                <a:solidFill>
                  <a:srgbClr val="FFFFFF"/>
                </a:solidFill>
              </a:rPr>
              <a:t>4</a:t>
            </a:r>
          </a:p>
        </p:txBody>
      </p:sp>
      <p:sp>
        <p:nvSpPr>
          <p:cNvPr id="40" name="Box3"/>
          <p:cNvSpPr/>
          <p:nvPr/>
        </p:nvSpPr>
        <p:spPr>
          <a:xfrm>
            <a:off x="1200000" y="5000000"/>
            <a:ext cx="7200000" cy="850000"/>
          </a:xfrm>
          <a:prstGeom prst="roundRect">
            <a:avLst>
              <a:gd name="adj" fmla="val 5000"/>
            </a:avLst>
          </a:prstGeom>
          <a:solidFill>
            <a:srgbClr val="FFF3E0"/>
          </a:solidFill>
          <a:ln w="12700">
            <a:solidFill>
              <a:srgbClr val="BF6C00"/>
            </a:solidFill>
          </a:ln>
        </p:spPr>
        <p:txBody>
          <a:bodyPr wrap="square" lIns="144000" tIns="72000" rIns="144000" bIns="72000" anchor="ctr"/>
          <a:lstStyle/>
          <a:p>
            <a:pPr>
              <a:buNone/>
            </a:pPr>
            <a:r>
              <a:rPr lang="en-US" sz="1400" b="1" dirty="0">
                <a:solidFill>
                  <a:srgbClr val="BF6C00"/>
                </a:solidFill>
              </a:rPr>
              <a:t>Clinical Stability (one of):</a:t>
            </a:r>
          </a:p>
          <a:p>
            <a:pPr>
              <a:buNone/>
            </a:pPr>
            <a:r>
              <a:rPr lang="en-US" sz="1200" dirty="0">
                <a:solidFill>
                  <a:srgbClr val="333333"/>
                </a:solidFill>
              </a:rPr>
              <a:t>a) Stable COPD ≥ 2 weeks (no new symptoms); OR
b) ≥ 2 weeks post-hospitalization after exacerbation</a:t>
            </a:r>
          </a:p>
        </p:txBody>
      </p:sp>
      <p:sp>
        <p:nvSpPr>
          <p:cNvPr id="49" name="Result"/>
          <p:cNvSpPr/>
          <p:nvPr/>
        </p:nvSpPr>
        <p:spPr>
          <a:xfrm>
            <a:off x="1200000" y="6150000"/>
            <a:ext cx="7200000" cy="380000"/>
          </a:xfrm>
          <a:prstGeom prst="roundRect">
            <a:avLst>
              <a:gd name="adj" fmla="val 10000"/>
            </a:avLst>
          </a:prstGeom>
          <a:solidFill>
            <a:srgbClr val="2E7D32"/>
          </a:solidFill>
          <a:ln>
            <a:noFill/>
          </a:ln>
        </p:spPr>
        <p:txBody>
          <a:bodyPr wrap="square" lIns="144000" tIns="0" rIns="144000" bIns="0" anchor="ctr"/>
          <a:lstStyle/>
          <a:p>
            <a:pPr algn="ctr"/>
            <a:r>
              <a:rPr lang="en-US" sz="1400" b="1" dirty="0">
                <a:solidFill>
                  <a:srgbClr val="FFFFFF"/>
                </a:solidFill>
              </a:rPr>
              <a:t>✓ All met = E0470 covered for initial 6-month period</a:t>
            </a:r>
          </a:p>
        </p:txBody>
      </p:sp>
    </p:spTree>
    <p:extLst>
      <p:ext uri="{BB962C8B-B14F-4D97-AF65-F5344CB8AC3E}">
        <p14:creationId xmlns:p14="http://schemas.microsoft.com/office/powerpoint/2010/main" val="1701851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5EE24-09B4-79BF-0301-9CFDB0317B5D}"/>
              </a:ext>
            </a:extLst>
          </p:cNvPr>
          <p:cNvSpPr>
            <a:spLocks noGrp="1"/>
          </p:cNvSpPr>
          <p:nvPr>
            <p:ph type="title"/>
          </p:nvPr>
        </p:nvSpPr>
        <p:spPr/>
        <p:txBody>
          <a:bodyPr>
            <a:normAutofit/>
          </a:bodyPr>
          <a:lstStyle/>
          <a:p>
            <a:r>
              <a:rPr lang="en-US" sz="2000"/>
              <a:t>COPD NCD: RAD with or without Backup Rate – No Oximetry Requirement</a:t>
            </a:r>
          </a:p>
        </p:txBody>
      </p:sp>
      <p:sp>
        <p:nvSpPr>
          <p:cNvPr id="20" name="Callout"/>
          <p:cNvSpPr/>
          <p:nvPr/>
        </p:nvSpPr>
        <p:spPr>
          <a:xfrm>
            <a:off x="700000" y="1200000"/>
            <a:ext cx="7700000" cy="700000"/>
          </a:xfrm>
          <a:prstGeom prst="roundRect">
            <a:avLst>
              <a:gd name="adj" fmla="val 10000"/>
            </a:avLst>
          </a:prstGeom>
          <a:solidFill>
            <a:srgbClr val="E8F5E9"/>
          </a:solidFill>
          <a:ln w="25400">
            <a:solidFill>
              <a:srgbClr val="2E7D32"/>
            </a:solidFill>
          </a:ln>
        </p:spPr>
        <p:txBody>
          <a:bodyPr wrap="square" lIns="180000" tIns="0" rIns="180000" bIns="0" anchor="ctr"/>
          <a:lstStyle/>
          <a:p>
            <a:pPr algn="ctr"/>
            <a:r>
              <a:rPr lang="en-US" sz="1800" b="1" dirty="0">
                <a:solidFill>
                  <a:srgbClr val="2E7D32"/>
                </a:solidFill>
              </a:rPr>
              <a:t>Key Change: Nocturnal oximetry requirement REMOVED</a:t>
            </a:r>
          </a:p>
        </p:txBody>
      </p:sp>
      <p:sp>
        <p:nvSpPr>
          <p:cNvPr id="21" name="OldHeader"/>
          <p:cNvSpPr/>
          <p:nvPr/>
        </p:nvSpPr>
        <p:spPr>
          <a:xfrm>
            <a:off x="500000" y="2150000"/>
            <a:ext cx="3800000" cy="400000"/>
          </a:xfrm>
          <a:prstGeom prst="roundRect">
            <a:avLst>
              <a:gd name="adj" fmla="val 10000"/>
            </a:avLst>
          </a:prstGeom>
          <a:solidFill>
            <a:srgbClr val="C00000"/>
          </a:solidFill>
          <a:ln>
            <a:noFill/>
          </a:ln>
        </p:spPr>
        <p:txBody>
          <a:bodyPr wrap="square" lIns="144000" tIns="0" rIns="144000" bIns="0" anchor="ctr"/>
          <a:lstStyle/>
          <a:p>
            <a:pPr algn="ctr"/>
            <a:r>
              <a:rPr lang="en-US" sz="1600" b="1" dirty="0">
                <a:solidFill>
                  <a:srgbClr val="FFFFFF"/>
                </a:solidFill>
              </a:rPr>
              <a:t>OLD LCD (L33800)</a:t>
            </a:r>
          </a:p>
        </p:txBody>
      </p:sp>
      <p:sp>
        <p:nvSpPr>
          <p:cNvPr id="22" name="OldContent"/>
          <p:cNvSpPr/>
          <p:nvPr/>
        </p:nvSpPr>
        <p:spPr>
          <a:xfrm>
            <a:off x="500000" y="2600000"/>
            <a:ext cx="3800000" cy="3400000"/>
          </a:xfrm>
          <a:prstGeom prst="roundRect">
            <a:avLst>
              <a:gd name="adj" fmla="val 3000"/>
            </a:avLst>
          </a:prstGeom>
          <a:solidFill>
            <a:srgbClr val="FFF0F0"/>
          </a:solidFill>
          <a:ln w="12700">
            <a:solidFill>
              <a:srgbClr val="C00000"/>
            </a:solidFill>
          </a:ln>
        </p:spPr>
        <p:txBody>
          <a:bodyPr wrap="square" lIns="144000" tIns="108000" rIns="144000" bIns="108000" anchor="t"/>
          <a:lstStyle/>
          <a:p>
            <a:pPr marL="171450" indent="-171450">
              <a:buFont typeface="Arial"/>
              <a:buChar char="•"/>
            </a:pPr>
            <a:r>
              <a:rPr lang="en-US" sz="1200" dirty="0"/>
              <a:t>ABG PaCO2 ≥ 52 mmHg</a:t>
            </a:r>
          </a:p>
          <a:p>
            <a:pPr marL="171450" indent="-171450">
              <a:buFont typeface="Arial"/>
              <a:buChar char="•"/>
            </a:pPr>
            <a:r>
              <a:rPr lang="en-US" sz="1200" strike="sngStrike" dirty="0">
                <a:solidFill>
                  <a:srgbClr val="C00000"/>
                </a:solidFill>
              </a:rPr>
              <a:t>Sleep oximetry: SpO2 ≤ 88% for ≥ 5 min (min 2-hr recording) on O2 at 2 LPM or prescribed FiO2</a:t>
            </a:r>
          </a:p>
          <a:p>
            <a:pPr marL="171450" indent="-171450">
              <a:buFont typeface="Arial"/>
              <a:buChar char="•"/>
            </a:pPr>
            <a:r>
              <a:rPr lang="en-US" sz="1200" strike="sngStrike" dirty="0">
                <a:solidFill>
                  <a:srgbClr val="C00000"/>
                </a:solidFill>
              </a:rPr>
              <a:t>Sleep apnea must be considered and ruled out with CPAP trial</a:t>
            </a:r>
          </a:p>
          <a:p>
            <a:pPr marL="171450" indent="-171450">
              <a:buFont typeface="Arial"/>
              <a:buChar char="•"/>
            </a:pPr>
            <a:r>
              <a:rPr lang="en-US" sz="1200" dirty="0"/>
              <a:t>Clinical stability criteria</a:t>
            </a:r>
          </a:p>
        </p:txBody>
      </p:sp>
      <p:sp>
        <p:nvSpPr>
          <p:cNvPr id="23" name="Arrow"/>
          <p:cNvSpPr/>
          <p:nvPr/>
        </p:nvSpPr>
        <p:spPr>
          <a:xfrm>
            <a:off x="4400000" y="3800000"/>
            <a:ext cx="350000" cy="350000"/>
          </a:xfrm>
          <a:prstGeom prst="rightArrow">
            <a:avLst/>
          </a:prstGeom>
          <a:solidFill>
            <a:srgbClr val="2E7D32"/>
          </a:solidFill>
          <a:ln>
            <a:noFill/>
          </a:ln>
        </p:spPr>
        <p:txBody>
          <a:bodyPr/>
          <a:lstStyle/>
          <a:p>
            <a:endParaRPr lang="en-US"/>
          </a:p>
        </p:txBody>
      </p:sp>
      <p:sp>
        <p:nvSpPr>
          <p:cNvPr id="24" name="NewHeader"/>
          <p:cNvSpPr/>
          <p:nvPr/>
        </p:nvSpPr>
        <p:spPr>
          <a:xfrm>
            <a:off x="4850000" y="2150000"/>
            <a:ext cx="3800000" cy="400000"/>
          </a:xfrm>
          <a:prstGeom prst="roundRect">
            <a:avLst>
              <a:gd name="adj" fmla="val 10000"/>
            </a:avLst>
          </a:prstGeom>
          <a:solidFill>
            <a:srgbClr val="2E7D32"/>
          </a:solidFill>
          <a:ln>
            <a:noFill/>
          </a:ln>
        </p:spPr>
        <p:txBody>
          <a:bodyPr wrap="square" lIns="144000" tIns="0" rIns="144000" bIns="0" anchor="ctr"/>
          <a:lstStyle/>
          <a:p>
            <a:pPr algn="ctr"/>
            <a:r>
              <a:rPr lang="en-US" sz="1600" b="1" dirty="0">
                <a:solidFill>
                  <a:srgbClr val="FFFFFF"/>
                </a:solidFill>
              </a:rPr>
              <a:t>NEW NCD 240.9</a:t>
            </a:r>
          </a:p>
        </p:txBody>
      </p:sp>
      <p:sp>
        <p:nvSpPr>
          <p:cNvPr id="26" name="NewContent"/>
          <p:cNvSpPr/>
          <p:nvPr/>
        </p:nvSpPr>
        <p:spPr>
          <a:xfrm>
            <a:off x="4850000" y="2600000"/>
            <a:ext cx="3800000" cy="3400000"/>
          </a:xfrm>
          <a:prstGeom prst="roundRect">
            <a:avLst>
              <a:gd name="adj" fmla="val 3000"/>
            </a:avLst>
          </a:prstGeom>
          <a:solidFill>
            <a:srgbClr val="E8F5E9"/>
          </a:solidFill>
          <a:ln w="12700">
            <a:solidFill>
              <a:srgbClr val="2E7D32"/>
            </a:solidFill>
          </a:ln>
        </p:spPr>
        <p:txBody>
          <a:bodyPr wrap="square" lIns="144000" tIns="108000" rIns="144000" bIns="108000" anchor="t"/>
          <a:lstStyle/>
          <a:p>
            <a:pPr marL="171450" indent="-171450">
              <a:buFont typeface="Arial"/>
              <a:buChar char="•"/>
            </a:pPr>
            <a:r>
              <a:rPr lang="en-US" sz="1200" dirty="0"/>
              <a:t>ABG PaCO2 ≥ 52 mmHg (unchanged)</a:t>
            </a:r>
          </a:p>
          <a:p>
            <a:pPr marL="171450" indent="-171450">
              <a:buFont typeface="Arial"/>
              <a:buChar char="•"/>
            </a:pPr>
            <a:r>
              <a:rPr lang="en-US" sz="1200" b="1" dirty="0">
                <a:solidFill>
                  <a:srgbClr val="2E7D32"/>
                </a:solidFill>
              </a:rPr>
              <a:t>No oximetry required</a:t>
            </a:r>
          </a:p>
          <a:p>
            <a:pPr marL="171450" indent="-171450">
              <a:buFont typeface="Arial"/>
              <a:buChar char="•"/>
            </a:pPr>
            <a:r>
              <a:rPr lang="en-US" sz="1200" b="1" dirty="0">
                <a:solidFill>
                  <a:srgbClr val="2E7D32"/>
                </a:solidFill>
              </a:rPr>
              <a:t>No formal sleep testing required</a:t>
            </a:r>
            <a:r>
              <a:rPr lang="en-US" sz="1200" dirty="0"/>
              <a:t> – clinician judgment sufficient to rule out sleep apnea</a:t>
            </a:r>
          </a:p>
          <a:p>
            <a:pPr marL="171450" indent="-171450">
              <a:buFont typeface="Arial"/>
              <a:buChar char="•"/>
            </a:pPr>
            <a:r>
              <a:rPr lang="en-US" sz="1200" dirty="0"/>
              <a:t>Clinical stability criteria (unchanged)</a:t>
            </a:r>
          </a:p>
          <a:p>
            <a:pPr marL="171450" indent="-171450">
              <a:buFont typeface="Arial"/>
              <a:buChar char="•"/>
            </a:pPr>
            <a:r>
              <a:rPr lang="en-US" sz="1200" dirty="0"/>
              <a:t>Physical/cognitive ability or caregiver (unchanged)</a:t>
            </a:r>
          </a:p>
        </p:txBody>
      </p:sp>
      <p:sp>
        <p:nvSpPr>
          <p:cNvPr id="27" name="Impact"/>
          <p:cNvSpPr/>
          <p:nvPr/>
        </p:nvSpPr>
        <p:spPr>
          <a:xfrm>
            <a:off x="700000" y="6200000"/>
            <a:ext cx="7700000" cy="400000"/>
          </a:xfrm>
          <a:prstGeom prst="roundRect">
            <a:avLst>
              <a:gd name="adj" fmla="val 10000"/>
            </a:avLst>
          </a:prstGeom>
          <a:solidFill>
            <a:srgbClr val="1F4E79"/>
          </a:solidFill>
          <a:ln>
            <a:noFill/>
          </a:ln>
        </p:spPr>
        <p:txBody>
          <a:bodyPr wrap="square" lIns="180000" tIns="0" rIns="180000" bIns="0" anchor="ctr"/>
          <a:lstStyle/>
          <a:p>
            <a:pPr algn="ctr"/>
            <a:r>
              <a:rPr lang="en-US" sz="1200" b="1" dirty="0">
                <a:solidFill>
                  <a:srgbClr val="FFFFFF"/>
                </a:solidFill>
              </a:rPr>
              <a:t>Impact: Removes a major barrier – patients no longer need overnight sleep study to qualify for RAD</a:t>
            </a:r>
          </a:p>
        </p:txBody>
      </p:sp>
    </p:spTree>
    <p:extLst>
      <p:ext uri="{BB962C8B-B14F-4D97-AF65-F5344CB8AC3E}">
        <p14:creationId xmlns:p14="http://schemas.microsoft.com/office/powerpoint/2010/main" val="25772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061F8-4409-FFC8-51B4-06E0C1090936}"/>
              </a:ext>
            </a:extLst>
          </p:cNvPr>
          <p:cNvSpPr>
            <a:spLocks noGrp="1"/>
          </p:cNvSpPr>
          <p:nvPr>
            <p:ph type="title"/>
          </p:nvPr>
        </p:nvSpPr>
        <p:spPr/>
        <p:txBody>
          <a:bodyPr>
            <a:normAutofit/>
          </a:bodyPr>
          <a:lstStyle/>
          <a:p>
            <a:r>
              <a:rPr lang="en-US" sz="2000"/>
              <a:t>COPD NCD: RAD – Recommended Approach for Backup Rate Decision</a:t>
            </a:r>
            <a:endParaRPr lang="en-US" sz="2000" dirty="0"/>
          </a:p>
        </p:txBody>
      </p:sp>
      <p:sp>
        <p:nvSpPr>
          <p:cNvPr id="20" name="Decision"/>
          <p:cNvSpPr/>
          <p:nvPr/>
        </p:nvSpPr>
        <p:spPr>
          <a:xfrm>
            <a:off x="2500000" y="1200000"/>
            <a:ext cx="4200000" cy="900000"/>
          </a:xfrm>
          <a:prstGeom prst="roundRect">
            <a:avLst>
              <a:gd name="adj" fmla="val 8000"/>
            </a:avLst>
          </a:prstGeom>
          <a:solidFill>
            <a:srgbClr val="1F4E79"/>
          </a:solidFill>
          <a:ln>
            <a:noFill/>
          </a:ln>
        </p:spPr>
        <p:txBody>
          <a:bodyPr wrap="square" lIns="144000" tIns="36000" rIns="144000" bIns="36000" anchor="ctr"/>
          <a:lstStyle/>
          <a:p>
            <a:pPr algn="ctr"/>
            <a:r>
              <a:rPr lang="en-US" sz="1400" b="1" dirty="0">
                <a:solidFill>
                  <a:srgbClr val="FFFFFF"/>
                </a:solidFill>
              </a:rPr>
              <a:t>Can patient tolerate high-intensity NIV?</a:t>
            </a:r>
          </a:p>
          <a:p>
            <a:pPr algn="ctr"/>
            <a:r>
              <a:rPr lang="en-US" sz="1100" dirty="0">
                <a:solidFill>
                  <a:srgbClr val="B0C4DE"/>
                </a:solidFill>
              </a:rPr>
              <a:t>(IPAP ≥ 15 cmH2O, backup rate ≥ 14 BPM)</a:t>
            </a:r>
          </a:p>
        </p:txBody>
      </p:sp>
      <p:sp>
        <p:nvSpPr>
          <p:cNvPr id="21" name="YesLabel"/>
          <p:cNvSpPr/>
          <p:nvPr/>
        </p:nvSpPr>
        <p:spPr>
          <a:xfrm>
            <a:off x="1500000" y="2200000"/>
            <a:ext cx="1200000" cy="400000"/>
          </a:xfrm>
          <a:prstGeom prst="rect">
            <a:avLst/>
          </a:prstGeom>
          <a:noFill/>
          <a:ln>
            <a:noFill/>
          </a:ln>
        </p:spPr>
        <p:txBody>
          <a:bodyPr wrap="square" lIns="0" tIns="0" rIns="0" bIns="0" anchor="ctr"/>
          <a:lstStyle/>
          <a:p>
            <a:pPr algn="ctr"/>
            <a:r>
              <a:rPr lang="en-US" sz="1600" b="1" dirty="0">
                <a:solidFill>
                  <a:srgbClr val="2E7D32"/>
                </a:solidFill>
              </a:rPr>
              <a:t>↓ YES</a:t>
            </a:r>
          </a:p>
        </p:txBody>
      </p:sp>
      <p:sp>
        <p:nvSpPr>
          <p:cNvPr id="22" name="NoLabel"/>
          <p:cNvSpPr/>
          <p:nvPr/>
        </p:nvSpPr>
        <p:spPr>
          <a:xfrm>
            <a:off x="6500000" y="2200000"/>
            <a:ext cx="1200000" cy="400000"/>
          </a:xfrm>
          <a:prstGeom prst="rect">
            <a:avLst/>
          </a:prstGeom>
          <a:noFill/>
          <a:ln>
            <a:noFill/>
          </a:ln>
        </p:spPr>
        <p:txBody>
          <a:bodyPr wrap="square" lIns="0" tIns="0" rIns="0" bIns="0" anchor="ctr"/>
          <a:lstStyle/>
          <a:p>
            <a:pPr algn="ctr"/>
            <a:r>
              <a:rPr lang="en-US" sz="1600" b="1" dirty="0">
                <a:solidFill>
                  <a:srgbClr val="C00000"/>
                </a:solidFill>
              </a:rPr>
              <a:t>↓ NO</a:t>
            </a:r>
          </a:p>
        </p:txBody>
      </p:sp>
      <p:sp>
        <p:nvSpPr>
          <p:cNvPr id="23" name="E0471Box"/>
          <p:cNvSpPr/>
          <p:nvPr/>
        </p:nvSpPr>
        <p:spPr>
          <a:xfrm>
            <a:off x="400000" y="2700000"/>
            <a:ext cx="3800000" cy="2400000"/>
          </a:xfrm>
          <a:prstGeom prst="roundRect">
            <a:avLst>
              <a:gd name="adj" fmla="val 5000"/>
            </a:avLst>
          </a:prstGeom>
          <a:solidFill>
            <a:srgbClr val="E8F5E9"/>
          </a:solidFill>
          <a:ln w="19050">
            <a:solidFill>
              <a:srgbClr val="2E7D32"/>
            </a:solidFill>
          </a:ln>
        </p:spPr>
        <p:txBody>
          <a:bodyPr wrap="square" lIns="144000" tIns="108000" rIns="144000" bIns="108000" anchor="t"/>
          <a:lstStyle/>
          <a:p>
            <a:pPr algn="ctr">
              <a:buNone/>
            </a:pPr>
            <a:r>
              <a:rPr lang="en-US" sz="1800" b="1" dirty="0">
                <a:solidFill>
                  <a:srgbClr val="2E7D32"/>
                </a:solidFill>
              </a:rPr>
              <a:t>E0471 – With Backup Rate</a:t>
            </a:r>
          </a:p>
          <a:p>
            <a:pPr marL="171450" indent="-171450">
              <a:buFont typeface="Arial"/>
              <a:buChar char="•"/>
            </a:pPr>
            <a:r>
              <a:rPr lang="en-US" sz="1200" dirty="0"/>
              <a:t>High-intensity NIV</a:t>
            </a:r>
          </a:p>
          <a:p>
            <a:pPr marL="171450" indent="-171450">
              <a:buFont typeface="Arial"/>
              <a:buChar char="•"/>
            </a:pPr>
            <a:r>
              <a:rPr lang="en-US" sz="1200" dirty="0"/>
              <a:t>IPAP ≥ 15 cmH2O</a:t>
            </a:r>
          </a:p>
          <a:p>
            <a:pPr marL="171450" indent="-171450">
              <a:buFont typeface="Arial"/>
              <a:buChar char="•"/>
            </a:pPr>
            <a:r>
              <a:rPr lang="en-US" sz="1200" dirty="0"/>
              <a:t>Backup rate ≥ 14 BPM</a:t>
            </a:r>
          </a:p>
          <a:p>
            <a:pPr marL="171450" indent="-171450">
              <a:buFont typeface="Arial"/>
              <a:buChar char="•"/>
            </a:pPr>
            <a:r>
              <a:rPr lang="en-US" sz="1200" dirty="0"/>
              <a:t>Must achieve high-intensity by month 6</a:t>
            </a:r>
          </a:p>
        </p:txBody>
      </p:sp>
      <p:sp>
        <p:nvSpPr>
          <p:cNvPr id="24" name="E0470Box"/>
          <p:cNvSpPr/>
          <p:nvPr/>
        </p:nvSpPr>
        <p:spPr>
          <a:xfrm>
            <a:off x="4950000" y="2700000"/>
            <a:ext cx="3800000" cy="2400000"/>
          </a:xfrm>
          <a:prstGeom prst="roundRect">
            <a:avLst>
              <a:gd name="adj" fmla="val 5000"/>
            </a:avLst>
          </a:prstGeom>
          <a:solidFill>
            <a:srgbClr val="FFF3E0"/>
          </a:solidFill>
          <a:ln w="19050">
            <a:solidFill>
              <a:srgbClr val="BF6C00"/>
            </a:solidFill>
          </a:ln>
        </p:spPr>
        <p:txBody>
          <a:bodyPr wrap="square" lIns="144000" tIns="108000" rIns="144000" bIns="108000" anchor="t"/>
          <a:lstStyle/>
          <a:p>
            <a:pPr algn="ctr">
              <a:buNone/>
            </a:pPr>
            <a:r>
              <a:rPr lang="en-US" sz="1800" b="1" dirty="0">
                <a:solidFill>
                  <a:srgbClr val="BF6C00"/>
                </a:solidFill>
              </a:rPr>
              <a:t>E0470 – Without Backup Rate</a:t>
            </a:r>
          </a:p>
          <a:p>
            <a:pPr marL="171450" indent="-171450">
              <a:buFont typeface="Arial"/>
              <a:buChar char="•"/>
            </a:pPr>
            <a:r>
              <a:rPr lang="en-US" sz="1200" dirty="0"/>
              <a:t>Cannot tolerate high-intensity NIV</a:t>
            </a:r>
          </a:p>
          <a:p>
            <a:pPr marL="171450" indent="-171450">
              <a:buFont typeface="Arial"/>
              <a:buChar char="•"/>
            </a:pPr>
            <a:r>
              <a:rPr lang="en-US" sz="1200" dirty="0"/>
              <a:t>Backup rate medically inappropriate</a:t>
            </a:r>
          </a:p>
          <a:p>
            <a:pPr marL="171450" indent="-171450">
              <a:buFont typeface="Arial"/>
              <a:buChar char="•"/>
            </a:pPr>
            <a:r>
              <a:rPr lang="en-US" sz="1200" dirty="0"/>
              <a:t>Same qualifying criteria apply</a:t>
            </a:r>
          </a:p>
          <a:p>
            <a:pPr marL="171450" indent="-171450">
              <a:buFont typeface="Arial"/>
              <a:buChar char="•"/>
            </a:pPr>
            <a:r>
              <a:rPr lang="en-US" sz="1200" dirty="0"/>
              <a:t>Document rationale for E0470 selection</a:t>
            </a:r>
          </a:p>
        </p:txBody>
      </p:sp>
      <p:sp>
        <p:nvSpPr>
          <p:cNvPr id="25" name="Action"/>
          <p:cNvSpPr/>
          <p:nvPr/>
        </p:nvSpPr>
        <p:spPr>
          <a:xfrm>
            <a:off x="700000" y="5400000"/>
            <a:ext cx="7700000" cy="700000"/>
          </a:xfrm>
          <a:prstGeom prst="roundRect">
            <a:avLst>
              <a:gd name="adj" fmla="val 8000"/>
            </a:avLst>
          </a:prstGeom>
          <a:solidFill>
            <a:srgbClr val="FFF8E1"/>
          </a:solidFill>
          <a:ln w="19050">
            <a:solidFill>
              <a:srgbClr val="F57F17"/>
            </a:solidFill>
          </a:ln>
        </p:spPr>
        <p:txBody>
          <a:bodyPr wrap="square" lIns="180000" tIns="36000" rIns="180000" bIns="36000" anchor="ctr"/>
          <a:lstStyle/>
          <a:p>
            <a:pPr algn="ctr"/>
            <a:r>
              <a:rPr lang="en-US" sz="1400" b="1" dirty="0">
                <a:solidFill>
                  <a:srgbClr val="E65100"/>
                </a:solidFill>
              </a:rPr>
              <a:t>⚠ Call the DME vendor BEFORE ordering</a:t>
            </a:r>
          </a:p>
          <a:p>
            <a:pPr algn="ctr"/>
            <a:r>
              <a:rPr lang="en-US" sz="1100" dirty="0">
                <a:solidFill>
                  <a:srgbClr val="333333"/>
                </a:solidFill>
              </a:rPr>
              <a:t>Discuss patient clinical picture and device selection – do not just “fax and pray”</a:t>
            </a:r>
          </a:p>
        </p:txBody>
      </p:sp>
    </p:spTree>
    <p:extLst>
      <p:ext uri="{BB962C8B-B14F-4D97-AF65-F5344CB8AC3E}">
        <p14:creationId xmlns:p14="http://schemas.microsoft.com/office/powerpoint/2010/main" val="3862905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C92C-A78B-190B-27E4-520EE3CBEABE}"/>
              </a:ext>
            </a:extLst>
          </p:cNvPr>
          <p:cNvSpPr>
            <a:spLocks noGrp="1"/>
          </p:cNvSpPr>
          <p:nvPr>
            <p:ph type="title"/>
          </p:nvPr>
        </p:nvSpPr>
        <p:spPr/>
        <p:txBody>
          <a:bodyPr>
            <a:normAutofit/>
          </a:bodyPr>
          <a:lstStyle/>
          <a:p>
            <a:r>
              <a:rPr lang="en-US" sz="2000"/>
              <a:t>COPD NCD: RAD upon Hospital Discharge – Immediate Coverage</a:t>
            </a:r>
            <a:endParaRPr lang="en-US" sz="2000" dirty="0"/>
          </a:p>
        </p:txBody>
      </p:sp>
      <p:sp>
        <p:nvSpPr>
          <p:cNvPr id="20" name="Step0"/>
          <p:cNvSpPr/>
          <p:nvPr/>
        </p:nvSpPr>
        <p:spPr>
          <a:xfrm>
            <a:off x="500000" y="1400000"/>
            <a:ext cx="2200000" cy="1800000"/>
          </a:xfrm>
          <a:prstGeom prst="roundRect">
            <a:avLst>
              <a:gd name="adj" fmla="val 8000"/>
            </a:avLst>
          </a:prstGeom>
          <a:solidFill>
            <a:srgbClr val="C62828"/>
          </a:solidFill>
          <a:ln>
            <a:noFill/>
          </a:ln>
        </p:spPr>
        <p:txBody>
          <a:bodyPr wrap="square" lIns="144000" tIns="108000" rIns="144000" bIns="108000" anchor="ctr"/>
          <a:lstStyle/>
          <a:p>
            <a:pPr algn="ctr">
              <a:spcAft>
                <a:spcPts val="400"/>
              </a:spcAft>
            </a:pPr>
            <a:r>
              <a:rPr lang="en-US" sz="1600" b="1" dirty="0">
                <a:solidFill>
                  <a:srgbClr val="FFFFFF"/>
                </a:solidFill>
              </a:rPr>
              <a:t>Hospital</a:t>
            </a:r>
          </a:p>
          <a:p>
            <a:pPr algn="ctr"/>
            <a:r>
              <a:rPr lang="en-US" sz="1200" dirty="0">
                <a:solidFill>
                  <a:srgbClr val="E0E0E0"/>
                </a:solidFill>
              </a:rPr>
              <a:t>Patient on RAD or
ventilator during
inpatient stay</a:t>
            </a:r>
          </a:p>
        </p:txBody>
      </p:sp>
      <p:sp>
        <p:nvSpPr>
          <p:cNvPr id="21" name="Arrow0"/>
          <p:cNvSpPr/>
          <p:nvPr/>
        </p:nvSpPr>
        <p:spPr>
          <a:xfrm>
            <a:off x="2800000" y="2150000"/>
            <a:ext cx="400000" cy="300000"/>
          </a:xfrm>
          <a:prstGeom prst="rightArrow">
            <a:avLst/>
          </a:prstGeom>
          <a:solidFill>
            <a:srgbClr val="B0B0B0"/>
          </a:solidFill>
          <a:ln>
            <a:noFill/>
          </a:ln>
        </p:spPr>
        <p:txBody>
          <a:bodyPr/>
          <a:lstStyle/>
          <a:p>
            <a:endParaRPr lang="en-US"/>
          </a:p>
        </p:txBody>
      </p:sp>
      <p:sp>
        <p:nvSpPr>
          <p:cNvPr id="22" name="Step1"/>
          <p:cNvSpPr/>
          <p:nvPr/>
        </p:nvSpPr>
        <p:spPr>
          <a:xfrm>
            <a:off x="3700000" y="1400000"/>
            <a:ext cx="2200000" cy="1800000"/>
          </a:xfrm>
          <a:prstGeom prst="roundRect">
            <a:avLst>
              <a:gd name="adj" fmla="val 8000"/>
            </a:avLst>
          </a:prstGeom>
          <a:solidFill>
            <a:srgbClr val="1F4E79"/>
          </a:solidFill>
          <a:ln>
            <a:noFill/>
          </a:ln>
        </p:spPr>
        <p:txBody>
          <a:bodyPr wrap="square" lIns="144000" tIns="108000" rIns="144000" bIns="108000" anchor="ctr"/>
          <a:lstStyle/>
          <a:p>
            <a:pPr algn="ctr">
              <a:spcAft>
                <a:spcPts val="400"/>
              </a:spcAft>
            </a:pPr>
            <a:r>
              <a:rPr lang="en-US" sz="1600" b="1" dirty="0">
                <a:solidFill>
                  <a:srgbClr val="FFFFFF"/>
                </a:solidFill>
              </a:rPr>
              <a:t>Within 24 hrs
of Discharge</a:t>
            </a:r>
          </a:p>
          <a:p>
            <a:pPr algn="ctr"/>
            <a:r>
              <a:rPr lang="en-US" sz="1200" dirty="0">
                <a:solidFill>
                  <a:srgbClr val="E0E0E0"/>
                </a:solidFill>
              </a:rPr>
              <a:t>RAD/ventilator used
within 24-hr period
prior to discharge</a:t>
            </a:r>
          </a:p>
        </p:txBody>
      </p:sp>
      <p:sp>
        <p:nvSpPr>
          <p:cNvPr id="23" name="Arrow1"/>
          <p:cNvSpPr/>
          <p:nvPr/>
        </p:nvSpPr>
        <p:spPr>
          <a:xfrm>
            <a:off x="6000000" y="2150000"/>
            <a:ext cx="400000" cy="300000"/>
          </a:xfrm>
          <a:prstGeom prst="rightArrow">
            <a:avLst/>
          </a:prstGeom>
          <a:solidFill>
            <a:srgbClr val="B0B0B0"/>
          </a:solidFill>
          <a:ln>
            <a:noFill/>
          </a:ln>
        </p:spPr>
        <p:txBody>
          <a:bodyPr/>
          <a:lstStyle/>
          <a:p>
            <a:endParaRPr lang="en-US"/>
          </a:p>
        </p:txBody>
      </p:sp>
      <p:sp>
        <p:nvSpPr>
          <p:cNvPr id="24" name="Step2"/>
          <p:cNvSpPr/>
          <p:nvPr/>
        </p:nvSpPr>
        <p:spPr>
          <a:xfrm>
            <a:off x="6900000" y="1400000"/>
            <a:ext cx="2200000" cy="1800000"/>
          </a:xfrm>
          <a:prstGeom prst="roundRect">
            <a:avLst>
              <a:gd name="adj" fmla="val 8000"/>
            </a:avLst>
          </a:prstGeom>
          <a:solidFill>
            <a:srgbClr val="2E7D32"/>
          </a:solidFill>
          <a:ln>
            <a:noFill/>
          </a:ln>
        </p:spPr>
        <p:txBody>
          <a:bodyPr wrap="square" lIns="144000" tIns="108000" rIns="144000" bIns="108000" anchor="ctr"/>
          <a:lstStyle/>
          <a:p>
            <a:pPr algn="ctr">
              <a:spcAft>
                <a:spcPts val="400"/>
              </a:spcAft>
            </a:pPr>
            <a:r>
              <a:rPr lang="en-US" sz="1600" b="1" dirty="0">
                <a:solidFill>
                  <a:srgbClr val="FFFFFF"/>
                </a:solidFill>
              </a:rPr>
              <a:t>Home Coverage</a:t>
            </a:r>
          </a:p>
          <a:p>
            <a:pPr algn="ctr"/>
            <a:r>
              <a:rPr lang="en-US" sz="1200" dirty="0">
                <a:solidFill>
                  <a:srgbClr val="E0E0E0"/>
                </a:solidFill>
              </a:rPr>
              <a:t>RAD covered
immediately for
initial 6 months</a:t>
            </a:r>
          </a:p>
        </p:txBody>
      </p:sp>
      <p:sp>
        <p:nvSpPr>
          <p:cNvPr id="30" name="Req1"/>
          <p:cNvSpPr/>
          <p:nvPr/>
        </p:nvSpPr>
        <p:spPr>
          <a:xfrm>
            <a:off x="500000" y="3600000"/>
            <a:ext cx="4000000" cy="1200000"/>
          </a:xfrm>
          <a:prstGeom prst="roundRect">
            <a:avLst>
              <a:gd name="adj" fmla="val 5000"/>
            </a:avLst>
          </a:prstGeom>
          <a:solidFill>
            <a:srgbClr val="EBF0F7"/>
          </a:solidFill>
          <a:ln w="12700">
            <a:solidFill>
              <a:srgbClr val="1F4E79"/>
            </a:solidFill>
          </a:ln>
        </p:spPr>
        <p:txBody>
          <a:bodyPr wrap="square" lIns="144000" tIns="72000" rIns="144000" bIns="72000" anchor="ctr"/>
          <a:lstStyle/>
          <a:p>
            <a:pPr algn="ctr">
              <a:spcAft>
                <a:spcPts val="200"/>
              </a:spcAft>
            </a:pPr>
            <a:r>
              <a:rPr lang="en-US" sz="1400" b="1" dirty="0">
                <a:solidFill>
                  <a:srgbClr val="1F4E79"/>
                </a:solidFill>
              </a:rPr>
              <a:t>Requirement 1</a:t>
            </a:r>
          </a:p>
          <a:p>
            <a:pPr algn="ctr"/>
            <a:r>
              <a:rPr lang="en-US" sz="1200" dirty="0"/>
              <a:t>RAD or ventilator used within 24 hours prior to hospital discharge</a:t>
            </a:r>
          </a:p>
        </p:txBody>
      </p:sp>
      <p:sp>
        <p:nvSpPr>
          <p:cNvPr id="31" name="Req2"/>
          <p:cNvSpPr/>
          <p:nvPr/>
        </p:nvSpPr>
        <p:spPr>
          <a:xfrm>
            <a:off x="4650000" y="3600000"/>
            <a:ext cx="4000000" cy="1200000"/>
          </a:xfrm>
          <a:prstGeom prst="roundRect">
            <a:avLst>
              <a:gd name="adj" fmla="val 5000"/>
            </a:avLst>
          </a:prstGeom>
          <a:solidFill>
            <a:srgbClr val="EBF0F7"/>
          </a:solidFill>
          <a:ln w="12700">
            <a:solidFill>
              <a:srgbClr val="1F4E79"/>
            </a:solidFill>
          </a:ln>
        </p:spPr>
        <p:txBody>
          <a:bodyPr wrap="square" lIns="144000" tIns="72000" rIns="144000" bIns="72000" anchor="ctr"/>
          <a:lstStyle/>
          <a:p>
            <a:pPr algn="ctr">
              <a:spcAft>
                <a:spcPts val="200"/>
              </a:spcAft>
            </a:pPr>
            <a:r>
              <a:rPr lang="en-US" sz="1400" b="1" dirty="0">
                <a:solidFill>
                  <a:srgbClr val="1F4E79"/>
                </a:solidFill>
              </a:rPr>
              <a:t>Requirement 2</a:t>
            </a:r>
          </a:p>
          <a:p>
            <a:pPr algn="ctr"/>
            <a:r>
              <a:rPr lang="en-US" sz="1200" dirty="0"/>
              <a:t>Clinician documents risk of rapid symptom exacerbation or PaCO2 rise after discharge</a:t>
            </a:r>
          </a:p>
        </p:txBody>
      </p:sp>
      <p:sp>
        <p:nvSpPr>
          <p:cNvPr id="32" name="NotReq"/>
          <p:cNvSpPr/>
          <p:nvPr/>
        </p:nvSpPr>
        <p:spPr>
          <a:xfrm>
            <a:off x="700000" y="5100000"/>
            <a:ext cx="7700000" cy="700000"/>
          </a:xfrm>
          <a:prstGeom prst="roundRect">
            <a:avLst>
              <a:gd name="adj" fmla="val 8000"/>
            </a:avLst>
          </a:prstGeom>
          <a:solidFill>
            <a:srgbClr val="E8F5E9"/>
          </a:solidFill>
          <a:ln w="12700">
            <a:solidFill>
              <a:srgbClr val="2E7D32"/>
            </a:solidFill>
          </a:ln>
        </p:spPr>
        <p:txBody>
          <a:bodyPr wrap="square" lIns="180000" tIns="36000" rIns="180000" bIns="36000" anchor="ctr"/>
          <a:lstStyle/>
          <a:p>
            <a:pPr algn="ctr"/>
            <a:r>
              <a:rPr lang="en-US" sz="1400" b="1" dirty="0">
                <a:solidFill>
                  <a:srgbClr val="2E7D32"/>
                </a:solidFill>
              </a:rPr>
              <a:t>Simplified: No PFT, no oximetry, no ABG required for this pathway</a:t>
            </a:r>
          </a:p>
        </p:txBody>
      </p:sp>
    </p:spTree>
    <p:extLst>
      <p:ext uri="{BB962C8B-B14F-4D97-AF65-F5344CB8AC3E}">
        <p14:creationId xmlns:p14="http://schemas.microsoft.com/office/powerpoint/2010/main" val="804216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D605C-6F69-70FF-2DB9-A27068AEA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8422B-8C5D-4356-AB81-419FE3D5713A}"/>
              </a:ext>
            </a:extLst>
          </p:cNvPr>
          <p:cNvSpPr>
            <a:spLocks noGrp="1"/>
          </p:cNvSpPr>
          <p:nvPr>
            <p:ph type="title"/>
          </p:nvPr>
        </p:nvSpPr>
        <p:spPr/>
        <p:txBody>
          <a:bodyPr>
            <a:normAutofit/>
          </a:bodyPr>
          <a:lstStyle/>
          <a:p>
            <a:r>
              <a:rPr lang="en-US" sz="2000"/>
              <a:t>COPD NCD: RAD – 6-Month Continuing Usage Evaluation</a:t>
            </a:r>
            <a:endParaRPr lang="en-US" sz="2000" dirty="0"/>
          </a:p>
        </p:txBody>
      </p:sp>
      <p:sp>
        <p:nvSpPr>
          <p:cNvPr id="20" name="CompCard"/>
          <p:cNvSpPr/>
          <p:nvPr/>
        </p:nvSpPr>
        <p:spPr>
          <a:xfrm>
            <a:off x="400000" y="1250000"/>
            <a:ext cx="4000000" cy="3600000"/>
          </a:xfrm>
          <a:prstGeom prst="roundRect">
            <a:avLst>
              <a:gd name="adj" fmla="val 5000"/>
            </a:avLst>
          </a:prstGeom>
          <a:solidFill>
            <a:srgbClr val="EBF0F7"/>
          </a:solidFill>
          <a:ln w="19050">
            <a:solidFill>
              <a:srgbClr val="1F4E79"/>
            </a:solidFill>
          </a:ln>
        </p:spPr>
        <p:txBody>
          <a:bodyPr wrap="square" lIns="180000" tIns="144000" rIns="180000" bIns="108000" anchor="t"/>
          <a:lstStyle/>
          <a:p>
            <a:pPr algn="ctr">
              <a:buNone/>
            </a:pPr>
            <a:r>
              <a:rPr lang="en-US" sz="1800" b="1" dirty="0">
                <a:solidFill>
                  <a:srgbClr val="1F4E79"/>
                </a:solidFill>
              </a:rPr>
              <a:t>☑ Compliance</a:t>
            </a:r>
          </a:p>
          <a:p>
            <a:pPr>
              <a:buNone/>
            </a:pPr>
            <a:r>
              <a:rPr lang="en-US" sz="1400" dirty="0"/>
              <a:t>Clinician determines patient uses RAD:</a:t>
            </a:r>
          </a:p>
          <a:p>
            <a:pPr marL="228600" indent="-228600">
              <a:buFont typeface="Arial"/>
              <a:buChar char="•"/>
            </a:pPr>
            <a:r>
              <a:rPr lang="en-US" sz="1400" b="1" dirty="0"/>
              <a:t>≥ 4 hours</a:t>
            </a:r>
            <a:r>
              <a:rPr lang="en-US" sz="1400" dirty="0"/>
              <a:t> per 24-hour period</a:t>
            </a:r>
          </a:p>
          <a:p>
            <a:pPr marL="228600" indent="-228600">
              <a:buFont typeface="Arial"/>
              <a:buChar char="•"/>
            </a:pPr>
            <a:r>
              <a:rPr lang="en-US" sz="1400" dirty="0"/>
              <a:t>On ≥ </a:t>
            </a:r>
            <a:r>
              <a:rPr lang="en-US" sz="1400" b="1" dirty="0"/>
              <a:t>70% of days</a:t>
            </a:r>
            <a:r>
              <a:rPr lang="en-US" sz="1400" dirty="0"/>
              <a:t> in a 30-day period</a:t>
            </a:r>
          </a:p>
        </p:txBody>
      </p:sp>
      <p:sp>
        <p:nvSpPr>
          <p:cNvPr id="21" name="OutcomeCard"/>
          <p:cNvSpPr/>
          <p:nvPr/>
        </p:nvSpPr>
        <p:spPr>
          <a:xfrm>
            <a:off x="4700000" y="1250000"/>
            <a:ext cx="4100000" cy="3600000"/>
          </a:xfrm>
          <a:prstGeom prst="roundRect">
            <a:avLst>
              <a:gd name="adj" fmla="val 5000"/>
            </a:avLst>
          </a:prstGeom>
          <a:solidFill>
            <a:srgbClr val="E8F5E9"/>
          </a:solidFill>
          <a:ln w="19050">
            <a:solidFill>
              <a:srgbClr val="2E7D32"/>
            </a:solidFill>
          </a:ln>
        </p:spPr>
        <p:txBody>
          <a:bodyPr wrap="square" lIns="180000" tIns="144000" rIns="180000" bIns="108000" anchor="t"/>
          <a:lstStyle/>
          <a:p>
            <a:pPr algn="ctr">
              <a:buNone/>
            </a:pPr>
            <a:r>
              <a:rPr lang="en-US" sz="1800" b="1" dirty="0">
                <a:solidFill>
                  <a:srgbClr val="2E7D32"/>
                </a:solidFill>
              </a:rPr>
              <a:t>☑ Clinical Outcome (≥ 1)</a:t>
            </a:r>
          </a:p>
          <a:p>
            <a:pPr marL="228600" indent="-228600">
              <a:buFont typeface="Arial"/>
              <a:buChar char="•"/>
            </a:pPr>
            <a:r>
              <a:rPr lang="en-US" sz="1300" dirty="0"/>
              <a:t>PaCO2 normalized (&lt; 45 mmHg)</a:t>
            </a:r>
          </a:p>
          <a:p>
            <a:pPr marL="228600" indent="-228600">
              <a:buFont typeface="Arial"/>
              <a:buChar char="•"/>
            </a:pPr>
            <a:r>
              <a:rPr lang="en-US" sz="1300" dirty="0"/>
              <a:t>PaCO2 stabilized (&lt; 5 mmHg change)</a:t>
            </a:r>
          </a:p>
          <a:p>
            <a:pPr marL="228600" indent="-228600">
              <a:buFont typeface="Arial"/>
              <a:buChar char="•"/>
            </a:pPr>
            <a:r>
              <a:rPr lang="en-US" sz="1300" dirty="0"/>
              <a:t>20% reduction in PaCO2 from baseline</a:t>
            </a:r>
          </a:p>
          <a:p>
            <a:pPr marL="228600" indent="-228600">
              <a:buFont typeface="Arial"/>
              <a:buChar char="•"/>
            </a:pPr>
            <a:r>
              <a:rPr lang="en-US" sz="1300" dirty="0"/>
              <a:t>Improved sleep quality or symptoms (headache, fatigue, SOB, confusion)</a:t>
            </a:r>
          </a:p>
        </p:txBody>
      </p:sp>
      <p:sp>
        <p:nvSpPr>
          <p:cNvPr id="22" name="AndLabel"/>
          <p:cNvSpPr/>
          <p:nvPr/>
        </p:nvSpPr>
        <p:spPr>
          <a:xfrm>
            <a:off x="4300000" y="2700000"/>
            <a:ext cx="500000" cy="400000"/>
          </a:xfrm>
          <a:prstGeom prst="ellipse">
            <a:avLst/>
          </a:prstGeom>
          <a:solidFill>
            <a:srgbClr val="C00000"/>
          </a:solidFill>
          <a:ln>
            <a:noFill/>
          </a:ln>
        </p:spPr>
        <p:txBody>
          <a:bodyPr wrap="none" lIns="0" tIns="0" rIns="0" bIns="0" anchor="ctr"/>
          <a:lstStyle/>
          <a:p>
            <a:pPr algn="ctr"/>
            <a:r>
              <a:rPr lang="en-US" sz="1100" b="1" dirty="0">
                <a:solidFill>
                  <a:srgbClr val="FFFFFF"/>
                </a:solidFill>
              </a:rPr>
              <a:t>AND</a:t>
            </a:r>
          </a:p>
        </p:txBody>
      </p:sp>
      <p:sp>
        <p:nvSpPr>
          <p:cNvPr id="23" name="Timeline"/>
          <p:cNvSpPr/>
          <p:nvPr/>
        </p:nvSpPr>
        <p:spPr>
          <a:xfrm>
            <a:off x="400000" y="5200000"/>
            <a:ext cx="8400000" cy="500000"/>
          </a:xfrm>
          <a:prstGeom prst="roundRect">
            <a:avLst>
              <a:gd name="adj" fmla="val 10000"/>
            </a:avLst>
          </a:prstGeom>
          <a:solidFill>
            <a:srgbClr val="FFF8E1"/>
          </a:solidFill>
          <a:ln w="12700">
            <a:solidFill>
              <a:srgbClr val="F57F17"/>
            </a:solidFill>
          </a:ln>
        </p:spPr>
        <p:txBody>
          <a:bodyPr wrap="square" lIns="180000" tIns="0" rIns="180000" bIns="0" anchor="ctr"/>
          <a:lstStyle/>
          <a:p>
            <a:pPr algn="ctr"/>
            <a:r>
              <a:rPr lang="en-US" sz="1400" b="1" dirty="0">
                <a:solidFill>
                  <a:srgbClr val="E65100"/>
                </a:solidFill>
              </a:rPr>
              <a:t>⚠ Due by end of 6-month initial coverage period – coverage stops if not met</a:t>
            </a:r>
          </a:p>
        </p:txBody>
      </p:sp>
    </p:spTree>
    <p:extLst>
      <p:ext uri="{BB962C8B-B14F-4D97-AF65-F5344CB8AC3E}">
        <p14:creationId xmlns:p14="http://schemas.microsoft.com/office/powerpoint/2010/main" val="3867678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84C68-07AD-AF4D-ECF4-9E0B72B21C9B}"/>
              </a:ext>
            </a:extLst>
          </p:cNvPr>
          <p:cNvSpPr>
            <a:spLocks noGrp="1"/>
          </p:cNvSpPr>
          <p:nvPr>
            <p:ph type="title"/>
          </p:nvPr>
        </p:nvSpPr>
        <p:spPr/>
        <p:txBody>
          <a:bodyPr>
            <a:normAutofit/>
          </a:bodyPr>
          <a:lstStyle/>
          <a:p>
            <a:r>
              <a:rPr lang="en-US" sz="2000"/>
              <a:t>COPD NCD: RAD – Follow-Up Rental Period (Months 7-13)</a:t>
            </a:r>
            <a:endParaRPr lang="en-US" sz="2000" dirty="0"/>
          </a:p>
        </p:txBody>
      </p:sp>
      <p:sp>
        <p:nvSpPr>
          <p:cNvPr id="3" name="Content Placeholder 2">
            <a:extLst>
              <a:ext uri="{FF2B5EF4-FFF2-40B4-BE49-F238E27FC236}">
                <a16:creationId xmlns:a16="http://schemas.microsoft.com/office/drawing/2014/main" id="{A5CC9A70-D487-5585-58E3-3EC33D0815A2}"/>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5B038721-B094-70D0-0141-4E7ED093E596}"/>
              </a:ext>
            </a:extLst>
          </p:cNvPr>
          <p:cNvPicPr>
            <a:picLocks noChangeAspect="1"/>
          </p:cNvPicPr>
          <p:nvPr/>
        </p:nvPicPr>
        <p:blipFill>
          <a:blip r:embed="rId3"/>
          <a:stretch>
            <a:fillRect/>
          </a:stretch>
        </p:blipFill>
        <p:spPr>
          <a:xfrm>
            <a:off x="2209800" y="2075289"/>
            <a:ext cx="7772400" cy="3852010"/>
          </a:xfrm>
          <a:prstGeom prst="rect">
            <a:avLst/>
          </a:prstGeom>
        </p:spPr>
      </p:pic>
    </p:spTree>
    <p:extLst>
      <p:ext uri="{BB962C8B-B14F-4D97-AF65-F5344CB8AC3E}">
        <p14:creationId xmlns:p14="http://schemas.microsoft.com/office/powerpoint/2010/main" val="4260945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D03F6-6F98-F889-AAA1-A74F81154243}"/>
              </a:ext>
            </a:extLst>
          </p:cNvPr>
          <p:cNvSpPr>
            <a:spLocks noGrp="1"/>
          </p:cNvSpPr>
          <p:nvPr>
            <p:ph type="title"/>
          </p:nvPr>
        </p:nvSpPr>
        <p:spPr/>
        <p:txBody>
          <a:bodyPr>
            <a:normAutofit/>
          </a:bodyPr>
          <a:lstStyle/>
          <a:p>
            <a:r>
              <a:rPr lang="en-US" sz="2000"/>
              <a:t>COPD NCD: HMV – Volume Mode Initial Coverage Criteria</a:t>
            </a:r>
            <a:endParaRPr lang="en-US" sz="2000" dirty="0"/>
          </a:p>
        </p:txBody>
      </p:sp>
      <p:sp>
        <p:nvSpPr>
          <p:cNvPr id="3" name="Content Placeholder 2">
            <a:extLst>
              <a:ext uri="{FF2B5EF4-FFF2-40B4-BE49-F238E27FC236}">
                <a16:creationId xmlns:a16="http://schemas.microsoft.com/office/drawing/2014/main" id="{0B19BAC8-C16E-2049-7FE9-D63A61E79292}"/>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8F4011B2-5E00-977E-3F9D-B4CC537EA87A}"/>
              </a:ext>
            </a:extLst>
          </p:cNvPr>
          <p:cNvPicPr>
            <a:picLocks noChangeAspect="1"/>
          </p:cNvPicPr>
          <p:nvPr/>
        </p:nvPicPr>
        <p:blipFill>
          <a:blip r:embed="rId3"/>
          <a:stretch>
            <a:fillRect/>
          </a:stretch>
        </p:blipFill>
        <p:spPr>
          <a:xfrm>
            <a:off x="1851454" y="2214596"/>
            <a:ext cx="7772400" cy="3573395"/>
          </a:xfrm>
          <a:prstGeom prst="rect">
            <a:avLst/>
          </a:prstGeom>
        </p:spPr>
      </p:pic>
    </p:spTree>
    <p:extLst>
      <p:ext uri="{BB962C8B-B14F-4D97-AF65-F5344CB8AC3E}">
        <p14:creationId xmlns:p14="http://schemas.microsoft.com/office/powerpoint/2010/main" val="755357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D4E7-E966-946C-4F19-27F5B141F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35FB0-0438-2589-08AF-C6C99C8C7817}"/>
              </a:ext>
            </a:extLst>
          </p:cNvPr>
          <p:cNvSpPr>
            <a:spLocks noGrp="1"/>
          </p:cNvSpPr>
          <p:nvPr>
            <p:ph type="title"/>
          </p:nvPr>
        </p:nvSpPr>
        <p:spPr/>
        <p:txBody>
          <a:bodyPr>
            <a:normAutofit/>
          </a:bodyPr>
          <a:lstStyle/>
          <a:p>
            <a:r>
              <a:rPr lang="en-US" sz="2000"/>
              <a:t>COPD NCD: HMV – Illness Severity &amp; Clinical Outcomes</a:t>
            </a:r>
            <a:endParaRPr lang="en-US" sz="2000" dirty="0"/>
          </a:p>
        </p:txBody>
      </p:sp>
      <p:pic>
        <p:nvPicPr>
          <p:cNvPr id="5" name="Content Placeholder 4">
            <a:extLst>
              <a:ext uri="{FF2B5EF4-FFF2-40B4-BE49-F238E27FC236}">
                <a16:creationId xmlns:a16="http://schemas.microsoft.com/office/drawing/2014/main" id="{01A76804-D878-1C78-E418-5D41419E0F53}"/>
              </a:ext>
            </a:extLst>
          </p:cNvPr>
          <p:cNvPicPr>
            <a:picLocks noGrp="1" noChangeAspect="1"/>
          </p:cNvPicPr>
          <p:nvPr>
            <p:ph idx="1"/>
          </p:nvPr>
        </p:nvPicPr>
        <p:blipFill>
          <a:blip r:embed="rId3"/>
          <a:stretch>
            <a:fillRect/>
          </a:stretch>
        </p:blipFill>
        <p:spPr>
          <a:xfrm>
            <a:off x="1584867" y="1825625"/>
            <a:ext cx="9022265" cy="4351338"/>
          </a:xfrm>
          <a:prstGeom prst="rect">
            <a:avLst/>
          </a:prstGeom>
        </p:spPr>
      </p:pic>
    </p:spTree>
    <p:extLst>
      <p:ext uri="{BB962C8B-B14F-4D97-AF65-F5344CB8AC3E}">
        <p14:creationId xmlns:p14="http://schemas.microsoft.com/office/powerpoint/2010/main" val="282997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3885-FD3A-D99E-DAAB-B9B757B7D983}"/>
              </a:ext>
            </a:extLst>
          </p:cNvPr>
          <p:cNvSpPr>
            <a:spLocks noGrp="1"/>
          </p:cNvSpPr>
          <p:nvPr>
            <p:ph type="title"/>
          </p:nvPr>
        </p:nvSpPr>
        <p:spPr/>
        <p:txBody>
          <a:bodyPr>
            <a:normAutofit/>
          </a:bodyPr>
          <a:lstStyle/>
          <a:p>
            <a:r>
              <a:rPr lang="en-US" sz="2000"/>
              <a:t>COPD NCD: HMV upon Hospital Discharge – Immediate Coverage</a:t>
            </a:r>
            <a:endParaRPr lang="en-US" sz="2000" dirty="0"/>
          </a:p>
        </p:txBody>
      </p:sp>
      <p:pic>
        <p:nvPicPr>
          <p:cNvPr id="4" name="Content Placeholder 3">
            <a:extLst>
              <a:ext uri="{FF2B5EF4-FFF2-40B4-BE49-F238E27FC236}">
                <a16:creationId xmlns:a16="http://schemas.microsoft.com/office/drawing/2014/main" id="{BD6B22C9-06B5-9589-FDDA-3275BA8FC6E1}"/>
              </a:ext>
            </a:extLst>
          </p:cNvPr>
          <p:cNvPicPr>
            <a:picLocks noGrp="1" noChangeAspect="1"/>
          </p:cNvPicPr>
          <p:nvPr>
            <p:ph idx="1"/>
          </p:nvPr>
        </p:nvPicPr>
        <p:blipFill>
          <a:blip r:embed="rId3"/>
          <a:stretch>
            <a:fillRect/>
          </a:stretch>
        </p:blipFill>
        <p:spPr>
          <a:xfrm>
            <a:off x="2089150" y="2191544"/>
            <a:ext cx="8013700" cy="3619500"/>
          </a:xfrm>
          <a:prstGeom prst="rect">
            <a:avLst/>
          </a:prstGeom>
        </p:spPr>
      </p:pic>
    </p:spTree>
    <p:extLst>
      <p:ext uri="{BB962C8B-B14F-4D97-AF65-F5344CB8AC3E}">
        <p14:creationId xmlns:p14="http://schemas.microsoft.com/office/powerpoint/2010/main" val="82585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4387-C64A-5091-1DAC-394E50009C4A}"/>
              </a:ext>
            </a:extLst>
          </p:cNvPr>
          <p:cNvSpPr>
            <a:spLocks noGrp="1"/>
          </p:cNvSpPr>
          <p:nvPr>
            <p:ph type="title"/>
          </p:nvPr>
        </p:nvSpPr>
        <p:spPr/>
        <p:txBody>
          <a:bodyPr>
            <a:normAutofit/>
          </a:bodyPr>
          <a:lstStyle/>
          <a:p>
            <a:r>
              <a:rPr lang="en-US" sz="2000"/>
              <a:t>COPD NCD: HMV – Continuing Usage Requirements</a:t>
            </a:r>
            <a:endParaRPr lang="en-US" sz="2000" dirty="0"/>
          </a:p>
        </p:txBody>
      </p:sp>
      <p:pic>
        <p:nvPicPr>
          <p:cNvPr id="4" name="Content Placeholder 3">
            <a:extLst>
              <a:ext uri="{FF2B5EF4-FFF2-40B4-BE49-F238E27FC236}">
                <a16:creationId xmlns:a16="http://schemas.microsoft.com/office/drawing/2014/main" id="{C5B72F93-7CEF-7B54-B1E1-F0565DDB1246}"/>
              </a:ext>
            </a:extLst>
          </p:cNvPr>
          <p:cNvPicPr>
            <a:picLocks noGrp="1" noChangeAspect="1"/>
          </p:cNvPicPr>
          <p:nvPr>
            <p:ph idx="1"/>
          </p:nvPr>
        </p:nvPicPr>
        <p:blipFill>
          <a:blip r:embed="rId3"/>
          <a:stretch>
            <a:fillRect/>
          </a:stretch>
        </p:blipFill>
        <p:spPr>
          <a:xfrm>
            <a:off x="1880641" y="1825625"/>
            <a:ext cx="8430717" cy="4351338"/>
          </a:xfrm>
          <a:prstGeom prst="rect">
            <a:avLst/>
          </a:prstGeom>
        </p:spPr>
      </p:pic>
    </p:spTree>
    <p:extLst>
      <p:ext uri="{BB962C8B-B14F-4D97-AF65-F5344CB8AC3E}">
        <p14:creationId xmlns:p14="http://schemas.microsoft.com/office/powerpoint/2010/main" val="755575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4979-E9C0-9F9A-2C2D-C9BC4485FF46}"/>
              </a:ext>
            </a:extLst>
          </p:cNvPr>
          <p:cNvSpPr>
            <a:spLocks noGrp="1"/>
          </p:cNvSpPr>
          <p:nvPr>
            <p:ph type="title"/>
          </p:nvPr>
        </p:nvSpPr>
        <p:spPr/>
        <p:txBody>
          <a:bodyPr>
            <a:normAutofit/>
          </a:bodyPr>
          <a:lstStyle/>
          <a:p>
            <a:r>
              <a:rPr lang="en-US" sz="2000"/>
              <a:t>Restrictive/NMD: Current LCD Coverage Criteria (L33800)</a:t>
            </a:r>
            <a:endParaRPr lang="en-US" sz="2000" dirty="0"/>
          </a:p>
        </p:txBody>
      </p:sp>
      <p:sp>
        <p:nvSpPr>
          <p:cNvPr id="3" name="Content Placeholder 2">
            <a:extLst>
              <a:ext uri="{FF2B5EF4-FFF2-40B4-BE49-F238E27FC236}">
                <a16:creationId xmlns:a16="http://schemas.microsoft.com/office/drawing/2014/main" id="{B458863C-5C65-E43B-1E4A-E9C7D9C00286}"/>
              </a:ext>
            </a:extLst>
          </p:cNvPr>
          <p:cNvSpPr>
            <a:spLocks noGrp="1"/>
          </p:cNvSpPr>
          <p:nvPr>
            <p:ph idx="1"/>
          </p:nvPr>
        </p:nvSpPr>
        <p:spPr/>
        <p:txBody>
          <a:bodyPr/>
          <a:lstStyle/>
          <a:p>
            <a:r>
              <a:rPr lang="en-US" dirty="0"/>
              <a:t>Current </a:t>
            </a:r>
          </a:p>
        </p:txBody>
      </p:sp>
      <p:pic>
        <p:nvPicPr>
          <p:cNvPr id="5" name="Picture 4">
            <a:extLst>
              <a:ext uri="{FF2B5EF4-FFF2-40B4-BE49-F238E27FC236}">
                <a16:creationId xmlns:a16="http://schemas.microsoft.com/office/drawing/2014/main" id="{56FF4A5D-A29E-B6E7-A65D-E96E9C874191}"/>
              </a:ext>
            </a:extLst>
          </p:cNvPr>
          <p:cNvPicPr>
            <a:picLocks noChangeAspect="1"/>
          </p:cNvPicPr>
          <p:nvPr/>
        </p:nvPicPr>
        <p:blipFill>
          <a:blip r:embed="rId3"/>
          <a:stretch>
            <a:fillRect/>
          </a:stretch>
        </p:blipFill>
        <p:spPr>
          <a:xfrm>
            <a:off x="2312831" y="2287319"/>
            <a:ext cx="7772400" cy="3427949"/>
          </a:xfrm>
          <a:prstGeom prst="rect">
            <a:avLst/>
          </a:prstGeom>
        </p:spPr>
      </p:pic>
    </p:spTree>
    <p:extLst>
      <p:ext uri="{BB962C8B-B14F-4D97-AF65-F5344CB8AC3E}">
        <p14:creationId xmlns:p14="http://schemas.microsoft.com/office/powerpoint/2010/main" val="2350306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B770E-16FF-86E3-1691-2ECEC3F47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53433-4323-445B-0702-5E85BCB7B8A1}"/>
              </a:ext>
            </a:extLst>
          </p:cNvPr>
          <p:cNvSpPr>
            <a:spLocks noGrp="1"/>
          </p:cNvSpPr>
          <p:nvPr>
            <p:ph type="title"/>
          </p:nvPr>
        </p:nvSpPr>
        <p:spPr/>
        <p:txBody>
          <a:bodyPr>
            <a:normAutofit/>
          </a:bodyPr>
          <a:lstStyle/>
          <a:p>
            <a:r>
              <a:rPr lang="en-US" sz="2000"/>
              <a:t>Restrictive/NMD: RAD Initial Coverage – ABG, Oximetry &amp; PFT Criteria</a:t>
            </a:r>
            <a:endParaRPr lang="en-US" sz="2000" dirty="0"/>
          </a:p>
        </p:txBody>
      </p:sp>
      <p:sp>
        <p:nvSpPr>
          <p:cNvPr id="3" name="Content Placeholder 2">
            <a:extLst>
              <a:ext uri="{FF2B5EF4-FFF2-40B4-BE49-F238E27FC236}">
                <a16:creationId xmlns:a16="http://schemas.microsoft.com/office/drawing/2014/main" id="{3C6217B7-3362-7DFE-FD26-B702D207ED86}"/>
              </a:ext>
            </a:extLst>
          </p:cNvPr>
          <p:cNvSpPr>
            <a:spLocks noGrp="1"/>
          </p:cNvSpPr>
          <p:nvPr>
            <p:ph idx="1"/>
          </p:nvPr>
        </p:nvSpPr>
        <p:spPr/>
        <p:txBody>
          <a:bodyPr/>
          <a:lstStyle/>
          <a:p>
            <a:r>
              <a:rPr lang="en-US" dirty="0"/>
              <a:t>Current </a:t>
            </a:r>
          </a:p>
        </p:txBody>
      </p:sp>
      <p:pic>
        <p:nvPicPr>
          <p:cNvPr id="4" name="Picture 3">
            <a:extLst>
              <a:ext uri="{FF2B5EF4-FFF2-40B4-BE49-F238E27FC236}">
                <a16:creationId xmlns:a16="http://schemas.microsoft.com/office/drawing/2014/main" id="{68A54B98-0BE9-165D-0A70-27C15201876D}"/>
              </a:ext>
            </a:extLst>
          </p:cNvPr>
          <p:cNvPicPr>
            <a:picLocks noChangeAspect="1"/>
          </p:cNvPicPr>
          <p:nvPr/>
        </p:nvPicPr>
        <p:blipFill>
          <a:blip r:embed="rId3"/>
          <a:stretch>
            <a:fillRect/>
          </a:stretch>
        </p:blipFill>
        <p:spPr>
          <a:xfrm>
            <a:off x="2209800" y="2382575"/>
            <a:ext cx="7772400" cy="3675320"/>
          </a:xfrm>
          <a:prstGeom prst="rect">
            <a:avLst/>
          </a:prstGeom>
        </p:spPr>
      </p:pic>
    </p:spTree>
    <p:extLst>
      <p:ext uri="{BB962C8B-B14F-4D97-AF65-F5344CB8AC3E}">
        <p14:creationId xmlns:p14="http://schemas.microsoft.com/office/powerpoint/2010/main" val="3613820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81D1-6E31-6B8C-403F-9FDAB26E5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4D7D3-9D2F-56EA-94B3-1161E70DE873}"/>
              </a:ext>
            </a:extLst>
          </p:cNvPr>
          <p:cNvSpPr>
            <a:spLocks noGrp="1"/>
          </p:cNvSpPr>
          <p:nvPr>
            <p:ph type="title"/>
          </p:nvPr>
        </p:nvSpPr>
        <p:spPr/>
        <p:txBody>
          <a:bodyPr>
            <a:normAutofit/>
          </a:bodyPr>
          <a:lstStyle/>
          <a:p>
            <a:r>
              <a:rPr lang="en-US" sz="2000"/>
              <a:t>Restrictive/NMD: Continued Coverage Re-Evaluation &amp; Telehealth</a:t>
            </a:r>
            <a:endParaRPr lang="en-US" sz="2000" dirty="0"/>
          </a:p>
        </p:txBody>
      </p:sp>
      <p:sp>
        <p:nvSpPr>
          <p:cNvPr id="3" name="Content Placeholder 2">
            <a:extLst>
              <a:ext uri="{FF2B5EF4-FFF2-40B4-BE49-F238E27FC236}">
                <a16:creationId xmlns:a16="http://schemas.microsoft.com/office/drawing/2014/main" id="{08740A0B-50A5-C23B-98FC-CD94D6F3897E}"/>
              </a:ext>
            </a:extLst>
          </p:cNvPr>
          <p:cNvSpPr>
            <a:spLocks noGrp="1"/>
          </p:cNvSpPr>
          <p:nvPr>
            <p:ph idx="1"/>
          </p:nvPr>
        </p:nvSpPr>
        <p:spPr/>
        <p:txBody>
          <a:bodyPr/>
          <a:lstStyle/>
          <a:p>
            <a:r>
              <a:rPr lang="en-US" dirty="0"/>
              <a:t>Current </a:t>
            </a:r>
          </a:p>
        </p:txBody>
      </p:sp>
      <p:pic>
        <p:nvPicPr>
          <p:cNvPr id="5" name="Picture 4">
            <a:extLst>
              <a:ext uri="{FF2B5EF4-FFF2-40B4-BE49-F238E27FC236}">
                <a16:creationId xmlns:a16="http://schemas.microsoft.com/office/drawing/2014/main" id="{6642763E-933E-B5D6-5C25-6014CE407EBC}"/>
              </a:ext>
            </a:extLst>
          </p:cNvPr>
          <p:cNvPicPr>
            <a:picLocks noChangeAspect="1"/>
          </p:cNvPicPr>
          <p:nvPr/>
        </p:nvPicPr>
        <p:blipFill>
          <a:blip r:embed="rId3"/>
          <a:stretch>
            <a:fillRect/>
          </a:stretch>
        </p:blipFill>
        <p:spPr>
          <a:xfrm>
            <a:off x="2068133" y="2573059"/>
            <a:ext cx="7772400" cy="3463409"/>
          </a:xfrm>
          <a:prstGeom prst="rect">
            <a:avLst/>
          </a:prstGeom>
        </p:spPr>
      </p:pic>
    </p:spTree>
    <p:extLst>
      <p:ext uri="{BB962C8B-B14F-4D97-AF65-F5344CB8AC3E}">
        <p14:creationId xmlns:p14="http://schemas.microsoft.com/office/powerpoint/2010/main" val="960001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9035B-B3C0-4DE5-0793-E4F1B0D45131}"/>
              </a:ext>
            </a:extLst>
          </p:cNvPr>
          <p:cNvSpPr>
            <a:spLocks noGrp="1"/>
          </p:cNvSpPr>
          <p:nvPr>
            <p:ph type="title"/>
          </p:nvPr>
        </p:nvSpPr>
        <p:spPr/>
        <p:txBody>
          <a:bodyPr>
            <a:normAutofit/>
          </a:bodyPr>
          <a:lstStyle/>
          <a:p>
            <a:r>
              <a:rPr lang="en-US" sz="2000" dirty="0"/>
              <a:t>Restrictive/NMD: Qualifying Diagnoses – No Formal CMS List Exists</a:t>
            </a:r>
          </a:p>
        </p:txBody>
      </p:sp>
      <p:pic>
        <p:nvPicPr>
          <p:cNvPr id="4" name="Picture 3">
            <a:extLst>
              <a:ext uri="{FF2B5EF4-FFF2-40B4-BE49-F238E27FC236}">
                <a16:creationId xmlns:a16="http://schemas.microsoft.com/office/drawing/2014/main" id="{82CB1A8A-3F62-22AB-F6B6-AAE4D8E6E2EB}"/>
              </a:ext>
            </a:extLst>
          </p:cNvPr>
          <p:cNvPicPr>
            <a:picLocks noChangeAspect="1"/>
          </p:cNvPicPr>
          <p:nvPr/>
        </p:nvPicPr>
        <p:blipFill>
          <a:blip r:embed="rId3"/>
          <a:stretch>
            <a:fillRect/>
          </a:stretch>
        </p:blipFill>
        <p:spPr>
          <a:xfrm>
            <a:off x="2068133" y="1833079"/>
            <a:ext cx="7772400" cy="4453971"/>
          </a:xfrm>
          <a:prstGeom prst="rect">
            <a:avLst/>
          </a:prstGeom>
        </p:spPr>
      </p:pic>
    </p:spTree>
    <p:extLst>
      <p:ext uri="{BB962C8B-B14F-4D97-AF65-F5344CB8AC3E}">
        <p14:creationId xmlns:p14="http://schemas.microsoft.com/office/powerpoint/2010/main" val="2058171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24714-5A8C-A308-5798-0F0C4EB145E4}"/>
              </a:ext>
            </a:extLst>
          </p:cNvPr>
          <p:cNvSpPr>
            <a:spLocks noGrp="1"/>
          </p:cNvSpPr>
          <p:nvPr>
            <p:ph type="title"/>
          </p:nvPr>
        </p:nvSpPr>
        <p:spPr/>
        <p:txBody>
          <a:bodyPr>
            <a:normAutofit/>
          </a:bodyPr>
          <a:lstStyle/>
          <a:p>
            <a:r>
              <a:rPr lang="en-US" sz="2000"/>
              <a:t>Restrictive/NMD: ONMAP Testing Recommendations &amp; Table 3 Criteria</a:t>
            </a:r>
            <a:endParaRPr lang="en-US" sz="2000" dirty="0"/>
          </a:p>
        </p:txBody>
      </p:sp>
      <p:pic>
        <p:nvPicPr>
          <p:cNvPr id="4" name="Content Placeholder 3">
            <a:extLst>
              <a:ext uri="{FF2B5EF4-FFF2-40B4-BE49-F238E27FC236}">
                <a16:creationId xmlns:a16="http://schemas.microsoft.com/office/drawing/2014/main" id="{70E1F1CB-3A30-92A7-1F19-828512C3ACA2}"/>
              </a:ext>
            </a:extLst>
          </p:cNvPr>
          <p:cNvPicPr>
            <a:picLocks noGrp="1" noChangeAspect="1"/>
          </p:cNvPicPr>
          <p:nvPr>
            <p:ph idx="1"/>
          </p:nvPr>
        </p:nvPicPr>
        <p:blipFill>
          <a:blip r:embed="rId3"/>
          <a:stretch>
            <a:fillRect/>
          </a:stretch>
        </p:blipFill>
        <p:spPr>
          <a:xfrm>
            <a:off x="2009855" y="1825625"/>
            <a:ext cx="8172289" cy="4351338"/>
          </a:xfrm>
          <a:prstGeom prst="rect">
            <a:avLst/>
          </a:prstGeom>
        </p:spPr>
      </p:pic>
    </p:spTree>
    <p:extLst>
      <p:ext uri="{BB962C8B-B14F-4D97-AF65-F5344CB8AC3E}">
        <p14:creationId xmlns:p14="http://schemas.microsoft.com/office/powerpoint/2010/main" val="3570215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0B66-C069-9F48-EF83-CBC4222F8D59}"/>
              </a:ext>
            </a:extLst>
          </p:cNvPr>
          <p:cNvSpPr>
            <a:spLocks noGrp="1"/>
          </p:cNvSpPr>
          <p:nvPr>
            <p:ph type="title"/>
          </p:nvPr>
        </p:nvSpPr>
        <p:spPr/>
        <p:txBody>
          <a:bodyPr>
            <a:normAutofit/>
          </a:bodyPr>
          <a:lstStyle/>
          <a:p>
            <a:r>
              <a:rPr lang="en-US" sz="2000"/>
              <a:t>Restrictive/NMD: Louisiana BCBS Independent Coverage Changes</a:t>
            </a:r>
            <a:endParaRPr lang="en-US" sz="2000" dirty="0"/>
          </a:p>
        </p:txBody>
      </p:sp>
      <p:sp>
        <p:nvSpPr>
          <p:cNvPr id="3" name="Content Placeholder 2">
            <a:extLst>
              <a:ext uri="{FF2B5EF4-FFF2-40B4-BE49-F238E27FC236}">
                <a16:creationId xmlns:a16="http://schemas.microsoft.com/office/drawing/2014/main" id="{3A11B99F-B108-4FC4-462D-7F7989D762B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A77561F-182F-72D8-9CA6-EF5D30B802B2}"/>
              </a:ext>
            </a:extLst>
          </p:cNvPr>
          <p:cNvPicPr>
            <a:picLocks noChangeAspect="1"/>
          </p:cNvPicPr>
          <p:nvPr/>
        </p:nvPicPr>
        <p:blipFill>
          <a:blip r:embed="rId3"/>
          <a:stretch>
            <a:fillRect/>
          </a:stretch>
        </p:blipFill>
        <p:spPr>
          <a:xfrm>
            <a:off x="1965102" y="1690688"/>
            <a:ext cx="7772400" cy="4484914"/>
          </a:xfrm>
          <a:prstGeom prst="rect">
            <a:avLst/>
          </a:prstGeom>
        </p:spPr>
      </p:pic>
    </p:spTree>
    <p:extLst>
      <p:ext uri="{BB962C8B-B14F-4D97-AF65-F5344CB8AC3E}">
        <p14:creationId xmlns:p14="http://schemas.microsoft.com/office/powerpoint/2010/main" val="719540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982A-014D-36CC-E5F7-EA1AB4D27192}"/>
              </a:ext>
            </a:extLst>
          </p:cNvPr>
          <p:cNvSpPr>
            <a:spLocks noGrp="1"/>
          </p:cNvSpPr>
          <p:nvPr>
            <p:ph type="title"/>
          </p:nvPr>
        </p:nvSpPr>
        <p:spPr/>
        <p:txBody>
          <a:bodyPr>
            <a:normAutofit/>
          </a:bodyPr>
          <a:lstStyle/>
          <a:p>
            <a:r>
              <a:rPr lang="en-US" sz="2200"/>
              <a:t>Restrictive/NMD: Additional LCD L33800 Provisions</a:t>
            </a:r>
          </a:p>
        </p:txBody>
      </p:sp>
      <p:sp>
        <p:nvSpPr>
          <p:cNvPr id="4" name="TextBox 3">
            <a:extLst>
              <a:ext uri="{FF2B5EF4-FFF2-40B4-BE49-F238E27FC236}">
                <a16:creationId xmlns:a16="http://schemas.microsoft.com/office/drawing/2014/main" id="{97AEF1C8-F36B-2D46-ADE2-295C3F886B9C}"/>
              </a:ext>
            </a:extLst>
          </p:cNvPr>
          <p:cNvSpPr txBox="1"/>
          <p:nvPr/>
        </p:nvSpPr>
        <p:spPr>
          <a:xfrm>
            <a:off x="838200" y="1778000"/>
            <a:ext cx="10515600" cy="369332"/>
          </a:xfrm>
          <a:prstGeom prst="rect">
            <a:avLst/>
          </a:prstGeom>
          <a:noFill/>
        </p:spPr>
        <p:txBody>
          <a:bodyPr vertOverflow="overflow" vert="horz" wrap="square" rtlCol="0" anchor="t">
            <a:spAutoFit/>
          </a:bodyPr>
          <a:lstStyle/>
          <a:p>
            <a:pPr>
              <a:buNone/>
            </a:pPr>
            <a:r>
              <a:rPr lang="en-US" sz="1600" b="1" dirty="0">
                <a:solidFill>
                  <a:schemeClr val="dk1"/>
                </a:solidFill>
              </a:rPr>
              <a:t>Prerequisite: Documented Symptoms</a:t>
            </a:r>
          </a:p>
          <a:p>
            <a:pPr>
              <a:buFont typeface="Arial"/>
              <a:buChar char="•"/>
            </a:pPr>
            <a:r>
              <a:rPr lang="en-US" sz="1400" dirty="0">
                <a:solidFill>
                  <a:schemeClr val="dk1"/>
                </a:solidFill>
              </a:rPr>
              <a:t>LCD requires symptoms of sleep-associated hypoventilation documented </a:t>
            </a:r>
            <a:r>
              <a:rPr lang="en-US" sz="1400" b="1" dirty="0">
                <a:solidFill>
                  <a:schemeClr val="dk1"/>
                </a:solidFill>
              </a:rPr>
              <a:t>before</a:t>
            </a:r>
            <a:r>
              <a:rPr lang="en-US" sz="1400" dirty="0">
                <a:solidFill>
                  <a:schemeClr val="dk1"/>
                </a:solidFill>
              </a:rPr>
              <a:t> testing</a:t>
            </a:r>
          </a:p>
          <a:p>
            <a:pPr>
              <a:buFont typeface="Arial"/>
              <a:buChar char="•"/>
            </a:pPr>
            <a:r>
              <a:rPr lang="en-US" sz="1400" dirty="0">
                <a:solidFill>
                  <a:schemeClr val="dk1"/>
                </a:solidFill>
              </a:rPr>
              <a:t>Qualifying symptoms: daytime hypersomnolence, excessive fatigue, morning headache, cognitive dysfunction, dyspnea</a:t>
            </a:r>
          </a:p>
          <a:p>
            <a:pPr>
              <a:buNone/>
            </a:pPr>
            <a:r>
              <a:rPr lang="en-US" sz="1600" b="1" dirty="0">
                <a:solidFill>
                  <a:schemeClr val="dk1"/>
                </a:solidFill>
              </a:rPr>
              <a:t>5-Year RUL Device Replacement</a:t>
            </a:r>
          </a:p>
          <a:p>
            <a:pPr>
              <a:buFont typeface="Arial"/>
              <a:buChar char="•"/>
            </a:pPr>
            <a:r>
              <a:rPr lang="en-US" sz="1400" dirty="0">
                <a:solidFill>
                  <a:schemeClr val="dk1"/>
                </a:solidFill>
              </a:rPr>
              <a:t>In-person evaluation required documenting continued use &amp; benefit</a:t>
            </a:r>
          </a:p>
          <a:p>
            <a:pPr>
              <a:buFont typeface="Arial"/>
              <a:buChar char="•"/>
            </a:pPr>
            <a:r>
              <a:rPr lang="en-US" sz="1400" dirty="0">
                <a:solidFill>
                  <a:schemeClr val="dk1"/>
                </a:solidFill>
              </a:rPr>
              <a:t>No new testing required; new prescription is required</a:t>
            </a:r>
          </a:p>
          <a:p>
            <a:pPr>
              <a:buNone/>
            </a:pPr>
            <a:r>
              <a:rPr lang="en-US" sz="1600" b="1" dirty="0">
                <a:solidFill>
                  <a:schemeClr val="dk1"/>
                </a:solidFill>
              </a:rPr>
              <a:t>Pre-Medicare Enrollment Transitions</a:t>
            </a:r>
          </a:p>
          <a:p>
            <a:pPr>
              <a:buFont typeface="Arial"/>
              <a:buChar char="•"/>
            </a:pPr>
            <a:r>
              <a:rPr lang="en-US" sz="1400" dirty="0">
                <a:solidFill>
                  <a:schemeClr val="dk1"/>
                </a:solidFill>
              </a:rPr>
              <a:t>Claims treated as new initial rentals – not automatic transitions</a:t>
            </a:r>
          </a:p>
          <a:p>
            <a:pPr>
              <a:buFont typeface="Arial"/>
              <a:buChar char="•"/>
            </a:pPr>
            <a:r>
              <a:rPr lang="en-US" sz="1400" dirty="0">
                <a:solidFill>
                  <a:schemeClr val="dk1"/>
                </a:solidFill>
              </a:rPr>
              <a:t>Prior testing allowed if it meets current coverage criteria at time of claim</a:t>
            </a:r>
          </a:p>
          <a:p>
            <a:pPr>
              <a:buNone/>
            </a:pPr>
            <a:r>
              <a:rPr lang="en-US" sz="1600" b="1" dirty="0">
                <a:solidFill>
                  <a:schemeClr val="dk1"/>
                </a:solidFill>
              </a:rPr>
              <a:t>E0470 vs. E0471 &amp; NCD 280.1 Ventilator Overlap</a:t>
            </a:r>
          </a:p>
          <a:p>
            <a:pPr>
              <a:buFont typeface="Arial"/>
              <a:buChar char="•"/>
            </a:pPr>
            <a:r>
              <a:rPr lang="en-US" sz="1400" dirty="0">
                <a:solidFill>
                  <a:schemeClr val="dk1"/>
                </a:solidFill>
              </a:rPr>
              <a:t>Either E0470 or E0471 at practitioner discretion (no LCD-mandated distinction)</a:t>
            </a:r>
          </a:p>
          <a:p>
            <a:pPr>
              <a:buFont typeface="Arial"/>
              <a:buChar char="•"/>
            </a:pPr>
            <a:r>
              <a:rPr lang="en-US" sz="1400" dirty="0">
                <a:solidFill>
                  <a:schemeClr val="dk1"/>
                </a:solidFill>
              </a:rPr>
              <a:t>NCD 280.1 ventilator codes (E0465/E0466/E0467) overlap with RAD disease groups</a:t>
            </a:r>
          </a:p>
        </p:txBody>
      </p:sp>
    </p:spTree>
    <p:extLst>
      <p:ext uri="{BB962C8B-B14F-4D97-AF65-F5344CB8AC3E}">
        <p14:creationId xmlns:p14="http://schemas.microsoft.com/office/powerpoint/2010/main" val="693866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8950C-86A9-8350-8286-457B26F3AC00}"/>
              </a:ext>
            </a:extLst>
          </p:cNvPr>
          <p:cNvSpPr>
            <a:spLocks noGrp="1"/>
          </p:cNvSpPr>
          <p:nvPr>
            <p:ph type="title"/>
          </p:nvPr>
        </p:nvSpPr>
        <p:spPr/>
        <p:txBody>
          <a:bodyPr/>
          <a:lstStyle/>
          <a:p>
            <a:r>
              <a:rPr lang="en-US" dirty="0"/>
              <a:t>OHS qualification - RAD</a:t>
            </a:r>
          </a:p>
        </p:txBody>
      </p:sp>
      <p:sp>
        <p:nvSpPr>
          <p:cNvPr id="3" name="Content Placeholder 2">
            <a:extLst>
              <a:ext uri="{FF2B5EF4-FFF2-40B4-BE49-F238E27FC236}">
                <a16:creationId xmlns:a16="http://schemas.microsoft.com/office/drawing/2014/main" id="{692B0774-E859-293F-7CB2-8D975653030C}"/>
              </a:ext>
            </a:extLst>
          </p:cNvPr>
          <p:cNvSpPr>
            <a:spLocks noGrp="1"/>
          </p:cNvSpPr>
          <p:nvPr>
            <p:ph idx="1"/>
          </p:nvPr>
        </p:nvSpPr>
        <p:spPr/>
        <p:txBody>
          <a:bodyPr/>
          <a:lstStyle/>
          <a:p>
            <a:r>
              <a:rPr lang="en-US" dirty="0"/>
              <a:t>Not much interest in a new NCD for OHS</a:t>
            </a:r>
          </a:p>
          <a:p>
            <a:r>
              <a:rPr lang="en-US" dirty="0"/>
              <a:t>So reimbursement criteria .</a:t>
            </a:r>
          </a:p>
        </p:txBody>
      </p:sp>
      <p:pic>
        <p:nvPicPr>
          <p:cNvPr id="4" name="Picture 3">
            <a:extLst>
              <a:ext uri="{FF2B5EF4-FFF2-40B4-BE49-F238E27FC236}">
                <a16:creationId xmlns:a16="http://schemas.microsoft.com/office/drawing/2014/main" id="{BCF6B063-7683-F046-8ECA-C3E429704959}"/>
              </a:ext>
            </a:extLst>
          </p:cNvPr>
          <p:cNvPicPr>
            <a:picLocks noChangeAspect="1"/>
          </p:cNvPicPr>
          <p:nvPr/>
        </p:nvPicPr>
        <p:blipFill>
          <a:blip r:embed="rId2"/>
          <a:stretch>
            <a:fillRect/>
          </a:stretch>
        </p:blipFill>
        <p:spPr>
          <a:xfrm>
            <a:off x="1996225" y="2811110"/>
            <a:ext cx="7316272" cy="3930980"/>
          </a:xfrm>
          <a:prstGeom prst="rect">
            <a:avLst/>
          </a:prstGeom>
        </p:spPr>
      </p:pic>
    </p:spTree>
    <p:extLst>
      <p:ext uri="{BB962C8B-B14F-4D97-AF65-F5344CB8AC3E}">
        <p14:creationId xmlns:p14="http://schemas.microsoft.com/office/powerpoint/2010/main" val="818685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799E8-14FB-A5C5-4733-006E1183C325}"/>
              </a:ext>
            </a:extLst>
          </p:cNvPr>
          <p:cNvSpPr>
            <a:spLocks noGrp="1"/>
          </p:cNvSpPr>
          <p:nvPr>
            <p:ph type="title"/>
          </p:nvPr>
        </p:nvSpPr>
        <p:spPr/>
        <p:txBody>
          <a:bodyPr/>
          <a:lstStyle/>
          <a:p>
            <a:r>
              <a:rPr lang="en-US" dirty="0"/>
              <a:t>OHS – ONMAP recs (not operative, but what we wish it was)</a:t>
            </a:r>
          </a:p>
        </p:txBody>
      </p:sp>
      <p:pic>
        <p:nvPicPr>
          <p:cNvPr id="4" name="Content Placeholder 3">
            <a:extLst>
              <a:ext uri="{FF2B5EF4-FFF2-40B4-BE49-F238E27FC236}">
                <a16:creationId xmlns:a16="http://schemas.microsoft.com/office/drawing/2014/main" id="{D52EE882-CBAD-4C79-7E0F-29CE4ED1F0C1}"/>
              </a:ext>
            </a:extLst>
          </p:cNvPr>
          <p:cNvPicPr>
            <a:picLocks noGrp="1" noChangeAspect="1"/>
          </p:cNvPicPr>
          <p:nvPr>
            <p:ph idx="1"/>
          </p:nvPr>
        </p:nvPicPr>
        <p:blipFill>
          <a:blip r:embed="rId3"/>
          <a:stretch>
            <a:fillRect/>
          </a:stretch>
        </p:blipFill>
        <p:spPr>
          <a:xfrm>
            <a:off x="2176342" y="1825625"/>
            <a:ext cx="7839315" cy="4351338"/>
          </a:xfrm>
          <a:prstGeom prst="rect">
            <a:avLst/>
          </a:prstGeom>
        </p:spPr>
      </p:pic>
    </p:spTree>
    <p:extLst>
      <p:ext uri="{BB962C8B-B14F-4D97-AF65-F5344CB8AC3E}">
        <p14:creationId xmlns:p14="http://schemas.microsoft.com/office/powerpoint/2010/main" val="1671498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E99ED-3E2E-3004-61B8-17DFD5716BFF}"/>
              </a:ext>
            </a:extLst>
          </p:cNvPr>
          <p:cNvSpPr>
            <a:spLocks noGrp="1"/>
          </p:cNvSpPr>
          <p:nvPr>
            <p:ph type="title"/>
          </p:nvPr>
        </p:nvSpPr>
        <p:spPr/>
        <p:txBody>
          <a:bodyPr/>
          <a:lstStyle/>
          <a:p>
            <a:r>
              <a:rPr lang="en-US" sz="2000" dirty="0"/>
              <a:t>Hypoventilation Syndrome: Current LCD RAD Coverage (L33800)</a:t>
            </a:r>
          </a:p>
        </p:txBody>
      </p:sp>
      <p:sp>
        <p:nvSpPr>
          <p:cNvPr id="3" name="Content Placeholder 2">
            <a:extLst>
              <a:ext uri="{FF2B5EF4-FFF2-40B4-BE49-F238E27FC236}">
                <a16:creationId xmlns:a16="http://schemas.microsoft.com/office/drawing/2014/main" id="{BDC934F2-B906-08CC-0608-1A887D30FAF1}"/>
              </a:ext>
            </a:extLst>
          </p:cNvPr>
          <p:cNvSpPr>
            <a:spLocks noGrp="1"/>
          </p:cNvSpPr>
          <p:nvPr>
            <p:ph idx="1"/>
          </p:nvPr>
        </p:nvSpPr>
        <p:spPr/>
        <p:txBody>
          <a:bodyPr/>
          <a:lstStyle/>
          <a:p>
            <a:pPr>
              <a:buNone/>
            </a:pPr>
            <a:r>
              <a:rPr lang="en-US" sz="1600" b="1" dirty="0">
                <a:solidFill>
                  <a:schemeClr val="dk1"/>
                </a:solidFill>
              </a:rPr>
              <a:t>E0470 (without backup rate) – Criteria A, B, and C or D:</a:t>
            </a:r>
          </a:p>
          <a:p>
            <a:pPr>
              <a:buFont typeface="Arial"/>
              <a:buChar char="•"/>
            </a:pPr>
            <a:r>
              <a:rPr lang="en-US" sz="1400" dirty="0">
                <a:solidFill>
                  <a:schemeClr val="dk1"/>
                </a:solidFill>
              </a:rPr>
              <a:t>A. Awake ABG PaCO2 ≥ 45 mmHg on prescribed FiO2</a:t>
            </a:r>
          </a:p>
          <a:p>
            <a:pPr>
              <a:buFont typeface="Arial"/>
              <a:buChar char="•"/>
            </a:pPr>
            <a:r>
              <a:rPr lang="en-US" sz="1400" dirty="0">
                <a:solidFill>
                  <a:schemeClr val="dk1"/>
                </a:solidFill>
              </a:rPr>
              <a:t>B. Spirometry FEV1/FVC ≥ 70% (rules out COPD as primary cause)</a:t>
            </a:r>
          </a:p>
          <a:p>
            <a:pPr>
              <a:buFont typeface="Arial"/>
              <a:buChar char="•"/>
            </a:pPr>
            <a:r>
              <a:rPr lang="en-US" sz="1400" dirty="0">
                <a:solidFill>
                  <a:schemeClr val="dk1"/>
                </a:solidFill>
              </a:rPr>
              <a:t>C. Sleep/awakening ABG PaCO2 worsens ≥ 7 mmHg vs. criterion A; </a:t>
            </a:r>
            <a:r>
              <a:rPr lang="en-US" sz="1400" b="1" dirty="0">
                <a:solidFill>
                  <a:schemeClr val="dk1"/>
                </a:solidFill>
              </a:rPr>
              <a:t>OR</a:t>
            </a:r>
          </a:p>
          <a:p>
            <a:pPr>
              <a:buFont typeface="Arial"/>
              <a:buChar char="•"/>
            </a:pPr>
            <a:r>
              <a:rPr lang="en-US" sz="1400" dirty="0">
                <a:solidFill>
                  <a:schemeClr val="dk1"/>
                </a:solidFill>
              </a:rPr>
              <a:t>D. PSG/HST: SpO2 ≤ 88% for ≥ 5 min (min 2-hr recording), AHI &lt; 5</a:t>
            </a:r>
          </a:p>
          <a:p>
            <a:pPr>
              <a:buNone/>
            </a:pPr>
            <a:r>
              <a:rPr lang="en-US" sz="1600" b="1" dirty="0">
                <a:solidFill>
                  <a:schemeClr val="dk1"/>
                </a:solidFill>
              </a:rPr>
              <a:t>E0471 (with backup rate) – Must try E0470 first:</a:t>
            </a:r>
          </a:p>
          <a:p>
            <a:pPr>
              <a:buFont typeface="Arial"/>
              <a:buChar char="•"/>
            </a:pPr>
            <a:r>
              <a:rPr lang="en-US" sz="1400" dirty="0">
                <a:solidFill>
                  <a:schemeClr val="dk1"/>
                </a:solidFill>
              </a:rPr>
              <a:t>A. Covered E0470 device is currently being used</a:t>
            </a:r>
          </a:p>
          <a:p>
            <a:pPr>
              <a:buFont typeface="Arial"/>
              <a:buChar char="•"/>
            </a:pPr>
            <a:r>
              <a:rPr lang="en-US" sz="1400" dirty="0">
                <a:solidFill>
                  <a:schemeClr val="dk1"/>
                </a:solidFill>
              </a:rPr>
              <a:t>B. Spirometry FEV1/FVC ≥ 70%</a:t>
            </a:r>
          </a:p>
          <a:p>
            <a:pPr>
              <a:buFont typeface="Arial"/>
              <a:buChar char="•"/>
            </a:pPr>
            <a:r>
              <a:rPr lang="en-US" sz="1400" dirty="0">
                <a:solidFill>
                  <a:schemeClr val="dk1"/>
                </a:solidFill>
              </a:rPr>
              <a:t>C. Awake PaCO2 worsens ≥ 7 mmHg vs. E0470 qualifying ABG; </a:t>
            </a:r>
            <a:r>
              <a:rPr lang="en-US" sz="1400" b="1" dirty="0">
                <a:solidFill>
                  <a:schemeClr val="dk1"/>
                </a:solidFill>
              </a:rPr>
              <a:t>OR</a:t>
            </a:r>
          </a:p>
          <a:p>
            <a:pPr>
              <a:buFont typeface="Arial"/>
              <a:buChar char="•"/>
            </a:pPr>
            <a:r>
              <a:rPr lang="en-US" sz="1400" dirty="0">
                <a:solidFill>
                  <a:schemeClr val="dk1"/>
                </a:solidFill>
              </a:rPr>
              <a:t>D. PSG/HST: SpO2 ≤ 88% ≥ 5 min, AHI &lt; 5 while on E0470</a:t>
            </a:r>
          </a:p>
          <a:p>
            <a:pPr>
              <a:buNone/>
            </a:pPr>
            <a:r>
              <a:rPr lang="en-US" sz="1600" b="1" dirty="0">
                <a:solidFill>
                  <a:srgbClr val="C00000"/>
                </a:solidFill>
              </a:rPr>
              <a:t>Key: E0471 requires documented E0470 failure first</a:t>
            </a:r>
          </a:p>
        </p:txBody>
      </p:sp>
    </p:spTree>
    <p:extLst>
      <p:ext uri="{BB962C8B-B14F-4D97-AF65-F5344CB8AC3E}">
        <p14:creationId xmlns:p14="http://schemas.microsoft.com/office/powerpoint/2010/main" val="2433809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EC7899-1656-F343-9893-7A8B4F7CBFAD}">
  <we:reference id="wa200010001" version="1.0.0.0" store="en-US" storeType="OMEX"/>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2564</TotalTime>
  <Words>7780</Words>
  <Application>Microsoft Macintosh PowerPoint</Application>
  <PresentationFormat>Widescreen</PresentationFormat>
  <Paragraphs>737</Paragraphs>
  <Slides>23</Slides>
  <Notes>19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Aptos</vt:lpstr>
      <vt:lpstr>Aptos Display</vt:lpstr>
      <vt:lpstr>Arial</vt:lpstr>
      <vt:lpstr>Office Theme</vt:lpstr>
      <vt:lpstr>Office Theme</vt:lpstr>
      <vt:lpstr>New CMS Device Criteria RAD &amp; HMV Coverage Updates – NCD 240.9</vt:lpstr>
      <vt:lpstr>COPD NCD Implementation Timeline &amp; LCD Status</vt:lpstr>
      <vt:lpstr>COPD NCD: RAD with Backup Rate – Initial Coverage Criteria</vt:lpstr>
      <vt:lpstr>COPD NCD: RAD without Backup Rate – Initial Coverage Criteria</vt:lpstr>
      <vt:lpstr>COPD NCD: RAD with or without Backup Rate – No Oximetry Requirement</vt:lpstr>
      <vt:lpstr>COPD NCD: RAD – Recommended Approach for Backup Rate Decision</vt:lpstr>
      <vt:lpstr>COPD NCD: RAD upon Hospital Discharge – Immediate Coverage</vt:lpstr>
      <vt:lpstr>COPD NCD: RAD – 6-Month Continuing Usage Evaluation</vt:lpstr>
      <vt:lpstr>COPD NCD: RAD – Follow-Up Rental Period (Months 7-13)</vt:lpstr>
      <vt:lpstr>COPD NCD: HMV – Volume Mode Initial Coverage Criteria</vt:lpstr>
      <vt:lpstr>COPD NCD: HMV – Illness Severity &amp; Clinical Outcomes</vt:lpstr>
      <vt:lpstr>COPD NCD: HMV upon Hospital Discharge – Immediate Coverage</vt:lpstr>
      <vt:lpstr>COPD NCD: HMV – Continuing Usage Requirements</vt:lpstr>
      <vt:lpstr>Restrictive/NMD: Current LCD Coverage Criteria (L33800)</vt:lpstr>
      <vt:lpstr>Restrictive/NMD: RAD Initial Coverage – ABG, Oximetry &amp; PFT Criteria</vt:lpstr>
      <vt:lpstr>Restrictive/NMD: Continued Coverage Re-Evaluation &amp; Telehealth</vt:lpstr>
      <vt:lpstr>Restrictive/NMD: Qualifying Diagnoses – No Formal CMS List Exists</vt:lpstr>
      <vt:lpstr>Restrictive/NMD: ONMAP Testing Recommendations &amp; Table 3 Criteria</vt:lpstr>
      <vt:lpstr>Restrictive/NMD: Louisiana BCBS Independent Coverage Changes</vt:lpstr>
      <vt:lpstr>Restrictive/NMD: Additional LCD L33800 Provisions</vt:lpstr>
      <vt:lpstr>OHS qualification - RAD</vt:lpstr>
      <vt:lpstr>OHS – ONMAP recs (not operative, but what we wish it was)</vt:lpstr>
      <vt:lpstr>Hypoventilation Syndrome: Current LCD RAD Coverage (L33800)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Locke</dc:creator>
  <cp:lastModifiedBy>Brian Locke</cp:lastModifiedBy>
  <cp:revision>5</cp:revision>
  <dcterms:created xsi:type="dcterms:W3CDTF">2026-03-11T18:57:19Z</dcterms:created>
  <dcterms:modified xsi:type="dcterms:W3CDTF">2026-03-13T13:42:12Z</dcterms:modified>
</cp:coreProperties>
</file>