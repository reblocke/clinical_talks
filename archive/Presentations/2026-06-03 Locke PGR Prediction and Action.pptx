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2" r:id="rId2"/>
    <p:sldMasterId id="2147483684" r:id="rId3"/>
  </p:sldMasterIdLst>
  <p:notesMasterIdLst>
    <p:notesMasterId r:id="rId60"/>
  </p:notesMasterIdLst>
  <p:sldIdLst>
    <p:sldId id="563" r:id="rId4"/>
    <p:sldId id="564" r:id="rId5"/>
    <p:sldId id="720" r:id="rId6"/>
    <p:sldId id="771" r:id="rId7"/>
    <p:sldId id="565" r:id="rId8"/>
    <p:sldId id="773" r:id="rId9"/>
    <p:sldId id="567" r:id="rId10"/>
    <p:sldId id="568" r:id="rId11"/>
    <p:sldId id="569" r:id="rId12"/>
    <p:sldId id="570" r:id="rId13"/>
    <p:sldId id="571" r:id="rId14"/>
    <p:sldId id="689" r:id="rId15"/>
    <p:sldId id="604" r:id="rId16"/>
    <p:sldId id="628" r:id="rId17"/>
    <p:sldId id="629" r:id="rId18"/>
    <p:sldId id="777" r:id="rId19"/>
    <p:sldId id="676" r:id="rId20"/>
    <p:sldId id="677" r:id="rId21"/>
    <p:sldId id="630" r:id="rId22"/>
    <p:sldId id="691" r:id="rId23"/>
    <p:sldId id="637" r:id="rId24"/>
    <p:sldId id="627" r:id="rId25"/>
    <p:sldId id="780" r:id="rId26"/>
    <p:sldId id="697" r:id="rId27"/>
    <p:sldId id="683" r:id="rId28"/>
    <p:sldId id="699" r:id="rId29"/>
    <p:sldId id="652" r:id="rId30"/>
    <p:sldId id="781" r:id="rId31"/>
    <p:sldId id="782" r:id="rId32"/>
    <p:sldId id="635" r:id="rId33"/>
    <p:sldId id="796" r:id="rId34"/>
    <p:sldId id="723" r:id="rId35"/>
    <p:sldId id="793" r:id="rId36"/>
    <p:sldId id="721" r:id="rId37"/>
    <p:sldId id="646" r:id="rId38"/>
    <p:sldId id="650" r:id="rId39"/>
    <p:sldId id="743" r:id="rId40"/>
    <p:sldId id="656" r:id="rId41"/>
    <p:sldId id="759" r:id="rId42"/>
    <p:sldId id="760" r:id="rId43"/>
    <p:sldId id="766" r:id="rId44"/>
    <p:sldId id="750" r:id="rId45"/>
    <p:sldId id="772" r:id="rId46"/>
    <p:sldId id="752" r:id="rId47"/>
    <p:sldId id="769" r:id="rId48"/>
    <p:sldId id="791" r:id="rId49"/>
    <p:sldId id="755" r:id="rId50"/>
    <p:sldId id="790" r:id="rId51"/>
    <p:sldId id="688" r:id="rId52"/>
    <p:sldId id="789" r:id="rId53"/>
    <p:sldId id="672" r:id="rId54"/>
    <p:sldId id="748" r:id="rId55"/>
    <p:sldId id="745" r:id="rId56"/>
    <p:sldId id="749" r:id="rId57"/>
    <p:sldId id="746" r:id="rId58"/>
    <p:sldId id="675" r:id="rId59"/>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4FF6CD6-A390-7A40-A1D9-6D2458E1FF11}">
          <p14:sldIdLst>
            <p14:sldId id="563"/>
            <p14:sldId id="564"/>
            <p14:sldId id="720"/>
            <p14:sldId id="771"/>
            <p14:sldId id="565"/>
            <p14:sldId id="773"/>
            <p14:sldId id="567"/>
            <p14:sldId id="568"/>
            <p14:sldId id="569"/>
            <p14:sldId id="570"/>
            <p14:sldId id="571"/>
            <p14:sldId id="689"/>
            <p14:sldId id="604"/>
            <p14:sldId id="628"/>
            <p14:sldId id="629"/>
            <p14:sldId id="777"/>
            <p14:sldId id="676"/>
            <p14:sldId id="677"/>
            <p14:sldId id="630"/>
            <p14:sldId id="691"/>
            <p14:sldId id="637"/>
            <p14:sldId id="627"/>
            <p14:sldId id="780"/>
            <p14:sldId id="697"/>
            <p14:sldId id="683"/>
            <p14:sldId id="699"/>
            <p14:sldId id="652"/>
            <p14:sldId id="781"/>
            <p14:sldId id="782"/>
            <p14:sldId id="635"/>
            <p14:sldId id="796"/>
            <p14:sldId id="723"/>
            <p14:sldId id="793"/>
            <p14:sldId id="721"/>
            <p14:sldId id="646"/>
            <p14:sldId id="650"/>
            <p14:sldId id="743"/>
            <p14:sldId id="656"/>
            <p14:sldId id="759"/>
            <p14:sldId id="760"/>
            <p14:sldId id="766"/>
            <p14:sldId id="750"/>
            <p14:sldId id="772"/>
            <p14:sldId id="752"/>
            <p14:sldId id="769"/>
            <p14:sldId id="791"/>
            <p14:sldId id="755"/>
            <p14:sldId id="790"/>
            <p14:sldId id="688"/>
            <p14:sldId id="789"/>
            <p14:sldId id="672"/>
            <p14:sldId id="748"/>
            <p14:sldId id="745"/>
            <p14:sldId id="749"/>
            <p14:sldId id="746"/>
            <p14:sldId id="6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726"/>
  </p:normalViewPr>
  <p:slideViewPr>
    <p:cSldViewPr snapToGrid="0">
      <p:cViewPr varScale="1">
        <p:scale>
          <a:sx n="124" d="100"/>
          <a:sy n="124" d="100"/>
        </p:scale>
        <p:origin x="18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Transcript from my delivery: </a:t>
            </a:r>
          </a:p>
          <a:p>
            <a:pPr latinLnBrk="0"/>
            <a:r>
              <a:rPr lang="en-US" sz="1200" b="1" i="0" kern="1200" dirty="0">
                <a:effectLst/>
              </a:rPr>
              <a:t>IMC-01-AUD-WEST</a:t>
            </a:r>
            <a:endParaRPr lang="en-US" sz="1200" b="0" i="0" kern="1200" dirty="0">
              <a:effectLst/>
            </a:endParaRPr>
          </a:p>
          <a:p>
            <a:pPr latinLnBrk="0"/>
            <a:r>
              <a:rPr lang="en-US" sz="1200" b="0" i="0" kern="1200" dirty="0">
                <a:effectLst/>
              </a:rPr>
              <a:t>0 minutes 3 seconds0:03</a:t>
            </a:r>
          </a:p>
          <a:p>
            <a:pPr latinLnBrk="0"/>
            <a:r>
              <a:rPr lang="en-US" sz="1200" b="0" i="0" kern="1200" dirty="0">
                <a:effectLst/>
              </a:rPr>
              <a:t>IMC-01-AUD-WEST 0 minutes 3 seconds</a:t>
            </a:r>
          </a:p>
          <a:p>
            <a:pPr latinLnBrk="0"/>
            <a:r>
              <a:rPr lang="en-US" sz="1200" b="0" i="0" kern="1200" dirty="0">
                <a:effectLst/>
              </a:rPr>
              <a:t>It's an all-day conference. You can register for virtual or in-person attendance through IPCE. Second announcement is that Angiotensin II was approved for pediatrics and adults by the Intermountain IRB, or not IRB,</a:t>
            </a:r>
          </a:p>
          <a:p>
            <a:pPr latinLnBrk="0"/>
            <a:r>
              <a:rPr lang="en-US" sz="1200" b="0" i="0" kern="1200" dirty="0">
                <a:effectLst/>
              </a:rPr>
              <a:t>IMC-01-AUD-WEST 0 minutes 23 seconds</a:t>
            </a:r>
          </a:p>
          <a:p>
            <a:pPr latinLnBrk="0"/>
            <a:r>
              <a:rPr lang="en-US" sz="1200" b="0" i="0" kern="1200" dirty="0">
                <a:effectLst/>
              </a:rPr>
              <a:t>PNT with restrictions. And those main restrictions are norepinephrine plus greater than or equal to 0.4 micrograms per kilogram per minute of norepinephrine equivalent vasopressors. And then adequate volume resuscitation. There's a number of ways to meet that.</a:t>
            </a:r>
          </a:p>
          <a:p>
            <a:pPr latinLnBrk="0"/>
            <a:r>
              <a:rPr lang="en-US" sz="1200" b="0" i="0" kern="1200" dirty="0">
                <a:effectLst/>
              </a:rPr>
              <a:t>IMC-01-AUD-WEST 0 minutes 44 seconds</a:t>
            </a:r>
          </a:p>
          <a:p>
            <a:pPr latinLnBrk="0"/>
            <a:r>
              <a:rPr lang="en-US" sz="1200" b="0" i="0" kern="1200" dirty="0">
                <a:effectLst/>
              </a:rPr>
              <a:t>consideration for using methylene blue or </a:t>
            </a:r>
            <a:r>
              <a:rPr lang="en-US" sz="1200" b="0" i="0" kern="1200" dirty="0" err="1">
                <a:effectLst/>
              </a:rPr>
              <a:t>hydroxycobalamin</a:t>
            </a:r>
            <a:r>
              <a:rPr lang="en-US" sz="1200" b="0" i="0" kern="1200" dirty="0">
                <a:effectLst/>
              </a:rPr>
              <a:t> prior to initiating angiotensin 2, and then requirement for a central line, and then stopping it if it doesn't seem to be helping. So I don't know when drug will be available.</a:t>
            </a:r>
          </a:p>
          <a:p>
            <a:pPr latinLnBrk="0"/>
            <a:r>
              <a:rPr lang="en-US" sz="1200" b="0" i="0" kern="1200" dirty="0">
                <a:effectLst/>
              </a:rPr>
              <a:t>IMC-01-AUD-WEST 1 minute 4 seconds</a:t>
            </a:r>
          </a:p>
          <a:p>
            <a:pPr latinLnBrk="0"/>
            <a:r>
              <a:rPr lang="en-US" sz="1200" b="0" i="0" kern="1200" dirty="0">
                <a:effectLst/>
              </a:rPr>
              <a:t>been working with Sophie Entinger, one of the PharmDs who did all the research and we presented it together at PNT. So I'll ask her when it'll be available, but it's been approved. And there's a document, Chris, that I asked her just to be the key</a:t>
            </a:r>
          </a:p>
          <a:p>
            <a:pPr latinLnBrk="0"/>
            <a:r>
              <a:rPr lang="en-US" sz="1200" b="0" i="0" kern="1200" dirty="0">
                <a:effectLst/>
              </a:rPr>
              <a:t>IMC-01-AUD-WEST 1 minute 24 seconds</a:t>
            </a:r>
          </a:p>
          <a:p>
            <a:pPr latinLnBrk="0"/>
            <a:r>
              <a:rPr lang="en-US" sz="1200" b="0" i="0" kern="1200" dirty="0">
                <a:effectLst/>
              </a:rPr>
              <a:t>She put it in SharePoint and there's a link and I'll send you the link and we can put it on the critical care website. Is that the best place to put it? Okay.</a:t>
            </a:r>
          </a:p>
          <a:p>
            <a:pPr latinLnBrk="0"/>
            <a:r>
              <a:rPr lang="en-US" sz="1200" b="0" i="0" kern="1200" dirty="0">
                <a:effectLst/>
              </a:rPr>
              <a:t>IMC-01-AUD-WEST 1 minute 34 seconds</a:t>
            </a:r>
          </a:p>
          <a:p>
            <a:pPr latinLnBrk="0"/>
            <a:r>
              <a:rPr lang="en-US" sz="1200" b="0" i="0" kern="1200" dirty="0">
                <a:effectLst/>
              </a:rPr>
              <a:t>All right, so not today, but I assume it'll take time for hospitals to order it and get it in. And the restrictions are there because it's pretty expensive. And if it doesn't work, though, the company has said that you can return the open vial to them.</a:t>
            </a:r>
          </a:p>
          <a:p>
            <a:pPr latinLnBrk="0"/>
            <a:r>
              <a:rPr lang="en-US" sz="1200" b="0" i="0" kern="1200" dirty="0">
                <a:effectLst/>
              </a:rPr>
              <a:t>IMC-01-AUD-WEST 1 minute 55 seconds</a:t>
            </a:r>
          </a:p>
          <a:p>
            <a:pPr latinLnBrk="0"/>
            <a:r>
              <a:rPr lang="en-US" sz="1200" b="0" i="0" kern="1200" dirty="0">
                <a:effectLst/>
              </a:rPr>
              <a:t>stop it, return the open vial to them, and they'll give us another vial. So I don't know if anybody's taken them up on that. All right, it's my pleasure to introduce Dr. Brian Locke. He's one of our academic pulmonary and critical care physicians at the assistant professor level. And</a:t>
            </a:r>
          </a:p>
          <a:p>
            <a:pPr latinLnBrk="0"/>
            <a:r>
              <a:rPr lang="en-US" sz="1200" b="0" i="0" kern="1200" dirty="0">
                <a:effectLst/>
              </a:rPr>
              <a:t>IMC-01-AUD-WEST 2 minutes 14 seconds</a:t>
            </a:r>
          </a:p>
          <a:p>
            <a:pPr latinLnBrk="0"/>
            <a:r>
              <a:rPr lang="en-US" sz="1200" b="0" i="0" kern="1200" dirty="0">
                <a:effectLst/>
              </a:rPr>
              <a:t>He's going to talk to us today about machine learning for clinical care and research at </a:t>
            </a:r>
            <a:r>
              <a:rPr lang="en-US" sz="1200" b="0" i="0" kern="1200" dirty="0" err="1">
                <a:effectLst/>
              </a:rPr>
              <a:t>IntermountainHealth</a:t>
            </a:r>
            <a:r>
              <a:rPr lang="en-US" sz="1200" b="0" i="0" kern="1200" dirty="0">
                <a:effectLst/>
              </a:rPr>
              <a:t>.</a:t>
            </a:r>
          </a:p>
          <a:p>
            <a:pPr latinLnBrk="0"/>
            <a:r>
              <a:rPr lang="en-US" sz="1200" b="0" i="0" kern="1200" dirty="0">
                <a:effectLst/>
              </a:rPr>
              <a:t>IMC-01-AUD-WEST 2 minutes 20 seconds</a:t>
            </a:r>
          </a:p>
          <a:p>
            <a:pPr latinLnBrk="0"/>
            <a:r>
              <a:rPr lang="en-US" sz="1200" b="0" i="0" kern="1200" dirty="0">
                <a:effectLst/>
              </a:rPr>
              <a:t>Welcome.</a:t>
            </a:r>
          </a:p>
          <a:p>
            <a:pPr latinLnBrk="0"/>
            <a:r>
              <a:rPr lang="en-US" sz="1200" b="0" i="0" kern="1200" dirty="0">
                <a:effectLst/>
              </a:rPr>
              <a:t>IMC-01-AUD-WEST 2 minutes 24 seconds</a:t>
            </a:r>
          </a:p>
          <a:p>
            <a:pPr latinLnBrk="0"/>
            <a:r>
              <a:rPr lang="en-US" sz="1200" b="0" i="0" kern="1200" dirty="0">
                <a:effectLst/>
              </a:rPr>
              <a:t>Great. Yeah, thanks everyone for the opportunity. So broad topic, but I'll just hop right in to make sure we get time to cover everything. So the rationale for why I wanted to talk about this. So for those that don't know, I'm a computer science trained in North Biz software.</a:t>
            </a:r>
          </a:p>
          <a:p>
            <a:pPr latinLnBrk="0"/>
            <a:r>
              <a:rPr lang="en-US" sz="1200" b="0" i="0" kern="1200" dirty="0">
                <a:effectLst/>
              </a:rPr>
              <a:t>IMC-01-AUD-WEST 46 minutes 59 seconds</a:t>
            </a:r>
          </a:p>
          <a:p>
            <a:pPr latinLnBrk="0"/>
            <a:r>
              <a:rPr lang="en-US" sz="1200" b="0" i="0" kern="1200" dirty="0">
                <a:effectLst/>
              </a:rPr>
              <a:t>And so we need ways to try to be more efficient with our trials, to try to get it, you know, can we design this in a way that if there's even smaller effects that we can detect them? And I think one of the ways that has gotten a lot of attention, I think rightfully so, is, you know, maybe we can use other endpoints that are a bit more informative.</a:t>
            </a:r>
          </a:p>
          <a:p>
            <a:pPr latinLnBrk="0"/>
            <a:r>
              <a:rPr lang="en-US" sz="1200" b="0" i="0" kern="1200" dirty="0">
                <a:effectLst/>
              </a:rPr>
              <a:t>IMC-01-AUD-WEST 47 minutes 20 seconds</a:t>
            </a:r>
          </a:p>
          <a:p>
            <a:pPr latinLnBrk="0"/>
            <a:r>
              <a:rPr lang="en-US" sz="1200" b="0" i="0" kern="1200" dirty="0">
                <a:effectLst/>
              </a:rPr>
              <a:t>things like ventilator-free days or modeling the trajectory out through time. Some of the other ways that folks can do this is to, you know, enrich through predictive modeling, as we talked about, or to borrow Sam's analogy of signal versus noise is to try to do things</a:t>
            </a:r>
          </a:p>
          <a:p>
            <a:pPr latinLnBrk="0"/>
            <a:r>
              <a:rPr lang="en-US" sz="1200" b="0" i="0" kern="1200" dirty="0">
                <a:effectLst/>
              </a:rPr>
              <a:t>IMC-01-AUD-WEST 47 minutes 42 seconds</a:t>
            </a:r>
          </a:p>
          <a:p>
            <a:pPr latinLnBrk="0"/>
            <a:r>
              <a:rPr lang="en-US" sz="1200" b="0" i="0" kern="1200" dirty="0">
                <a:effectLst/>
              </a:rPr>
              <a:t>that reduce the amount of noise in the population. And so that might be enrolling a homogeneous population, or as I'll talk about now, actually using a predictive model is one way to control out noise. And so this is in contrast to what we were doing before, where we were using predictive modeling to enrich who we enroll.</a:t>
            </a:r>
          </a:p>
          <a:p>
            <a:pPr latinLnBrk="0"/>
            <a:r>
              <a:rPr lang="en-US" sz="1200" b="0" i="0" kern="1200" dirty="0">
                <a:effectLst/>
              </a:rPr>
              <a:t>IMC-01-AUD-WEST 48 minutes 3 seconds</a:t>
            </a:r>
          </a:p>
          <a:p>
            <a:pPr latinLnBrk="0"/>
            <a:r>
              <a:rPr lang="en-US" sz="1200" b="0" i="0" kern="1200" dirty="0">
                <a:effectLst/>
              </a:rPr>
              <a:t>After randomization, if you include a prediction score in your model of how you calculate your primary outcome, so you're essentially taking one component of noise out of the background. And so to explain that in a little bit less </a:t>
            </a:r>
            <a:r>
              <a:rPr lang="en-US" sz="1200" b="0" i="0" kern="1200" dirty="0" err="1">
                <a:effectLst/>
              </a:rPr>
              <a:t>mathy</a:t>
            </a:r>
            <a:r>
              <a:rPr lang="en-US" sz="1200" b="0" i="0" kern="1200" dirty="0">
                <a:effectLst/>
              </a:rPr>
              <a:t> and more intuitive way,</a:t>
            </a:r>
          </a:p>
          <a:p>
            <a:pPr latinLnBrk="0"/>
            <a:r>
              <a:rPr lang="en-US" sz="1200" b="0" i="0" kern="1200" dirty="0">
                <a:effectLst/>
              </a:rPr>
              <a:t>IMC-01-AUD-WEST 48 minutes 22 seconds</a:t>
            </a:r>
          </a:p>
          <a:p>
            <a:pPr latinLnBrk="0"/>
            <a:r>
              <a:rPr lang="en-US" sz="1200" b="0" i="0" kern="1200" dirty="0">
                <a:effectLst/>
              </a:rPr>
              <a:t>You know, if we can think about when we are trying to isolate background noise in a trial, the result that each patient sees is going to be dependent, some on which treatment arm they're in, some on their baseline risk, and then some on their residual, you know, everything else, random chance.</a:t>
            </a:r>
          </a:p>
          <a:p>
            <a:pPr latinLnBrk="0"/>
            <a:r>
              <a:rPr lang="en-US" sz="1200" b="0" i="0" kern="1200" dirty="0">
                <a:effectLst/>
              </a:rPr>
              <a:t>IMC-01-AUD-WEST 48 minutes 42 seconds</a:t>
            </a:r>
          </a:p>
          <a:p>
            <a:pPr latinLnBrk="0"/>
            <a:r>
              <a:rPr lang="en-US" sz="1200" b="0" i="0" kern="1200" dirty="0">
                <a:effectLst/>
              </a:rPr>
              <a:t>And that if we have a good prediction model to account for that baseline risk, that reduces 1 component of variation for why a patient might have the outcome that they had. And that if you take that component out, there's less left over, and so it's easier to identify the treatment effect.</a:t>
            </a:r>
          </a:p>
          <a:p>
            <a:pPr latinLnBrk="0"/>
            <a:r>
              <a:rPr lang="en-US" sz="1200" b="0" i="0" kern="1200" dirty="0">
                <a:effectLst/>
              </a:rPr>
              <a:t>IMC-01-AUD-WEST 49 minutes 3 seconds</a:t>
            </a:r>
          </a:p>
          <a:p>
            <a:pPr latinLnBrk="0"/>
            <a:r>
              <a:rPr lang="en-US" sz="1200" b="0" i="0" kern="1200" dirty="0">
                <a:effectLst/>
              </a:rPr>
              <a:t>And so you actually can get quite large gains in efficiency if you do this when it's available. And so one way to sort of estimate how or quantify how good a prediction model is, is in terms of how much of the variance in the outcome does the risk model</a:t>
            </a:r>
          </a:p>
          <a:p>
            <a:pPr latinLnBrk="0"/>
            <a:r>
              <a:rPr lang="en-US" sz="1200" b="0" i="0" kern="1200" dirty="0">
                <a:effectLst/>
              </a:rPr>
              <a:t>IMC-01-AUD-WEST 49 minutes 23 seconds</a:t>
            </a:r>
          </a:p>
          <a:p>
            <a:pPr latinLnBrk="0"/>
            <a:r>
              <a:rPr lang="en-US" sz="1200" b="0" i="0" kern="1200" dirty="0">
                <a:effectLst/>
              </a:rPr>
              <a:t>explain. And so, you know, you can imagine a perfect risk model would explain all the variation in the outcome, meaning if, going back to our initial Ascend MA trial, if the prediction model perfectly predicted how much healthcare utilization each patient was going to have,</a:t>
            </a:r>
          </a:p>
          <a:p>
            <a:pPr latinLnBrk="0"/>
            <a:r>
              <a:rPr lang="en-US" sz="1200" b="0" i="0" kern="1200" dirty="0">
                <a:effectLst/>
              </a:rPr>
              <a:t>IMC-01-AUD-WEST 49 minutes 42 seconds</a:t>
            </a:r>
          </a:p>
          <a:p>
            <a:pPr latinLnBrk="0"/>
            <a:r>
              <a:rPr lang="en-US" sz="1200" b="0" i="0" kern="1200" dirty="0">
                <a:effectLst/>
              </a:rPr>
              <a:t>you know, then a prediction being a little bit higher would lead to a little bit, would correspond to a little bit more healthcare expenditure and vice versa. And in that case, the only, if you had perfect foresight, then the only difference in outcomes that you would see in the trial would be from the intervention. You know, granted, nobody's prediction models are that good and were often used</a:t>
            </a:r>
          </a:p>
          <a:p>
            <a:pPr latinLnBrk="0"/>
            <a:r>
              <a:rPr lang="en-US" sz="1200" b="0" i="0" kern="1200" dirty="0">
                <a:effectLst/>
              </a:rPr>
              <a:t>IMC-01-AUD-WEST 50 minutes 3 seconds</a:t>
            </a:r>
          </a:p>
          <a:p>
            <a:pPr latinLnBrk="0"/>
            <a:r>
              <a:rPr lang="en-US" sz="1200" b="0" i="0" kern="1200" dirty="0">
                <a:effectLst/>
              </a:rPr>
              <a:t>using models that are somewhere in the like 0.2 of the variation explained, but that that can still increase the efficiency of your trial by, you know, 25% or so. And so this is the power calculation from the trial that we talked about earlier, which is to say, depending on exactly how good that prediction model is, when we then go to analyze the</a:t>
            </a:r>
          </a:p>
          <a:p>
            <a:pPr latinLnBrk="0"/>
            <a:r>
              <a:rPr lang="en-US" sz="1200" b="0" i="0" kern="1200" dirty="0">
                <a:effectLst/>
              </a:rPr>
              <a:t>IMC-01-AUD-WEST 50 minutes 24 seconds</a:t>
            </a:r>
          </a:p>
          <a:p>
            <a:pPr latinLnBrk="0"/>
            <a:r>
              <a:rPr lang="en-US" sz="1200" b="0" i="0" kern="1200" dirty="0">
                <a:effectLst/>
              </a:rPr>
              <a:t>outcomes, we may be able to get significantly more power from our trial, meaning a more effective estimate and more ability to detect smaller changes in cost outcomes. And that, you know, I think trial guidance has generally gone to recommending that whenever</a:t>
            </a:r>
          </a:p>
          <a:p>
            <a:pPr latinLnBrk="0"/>
            <a:r>
              <a:rPr lang="en-US" sz="1200" b="0" i="0" kern="1200" dirty="0">
                <a:effectLst/>
              </a:rPr>
              <a:t>IMC-01-AUD-WEST 50 minutes 44 seconds</a:t>
            </a:r>
          </a:p>
          <a:p>
            <a:pPr latinLnBrk="0"/>
            <a:r>
              <a:rPr lang="en-US" sz="1200" b="0" i="0" kern="1200" dirty="0">
                <a:effectLst/>
              </a:rPr>
              <a:t>good prognostic information is available, whether it's a model or other things that aren't per se like in a model, but we know strongly correspond to the outcome, is to include those in your trial to analyze your outcome. And that the converse of this goes with how we apply the results. And so</a:t>
            </a:r>
          </a:p>
          <a:p>
            <a:pPr latinLnBrk="0"/>
            <a:r>
              <a:rPr lang="en-US" sz="1200" b="0" i="0" kern="1200" dirty="0">
                <a:effectLst/>
              </a:rPr>
              <a:t>IMC-01-AUD-WEST 51 minutes 5 seconds</a:t>
            </a:r>
          </a:p>
          <a:p>
            <a:pPr latinLnBrk="0"/>
            <a:r>
              <a:rPr lang="en-US" sz="1200" b="0" i="0" kern="1200" dirty="0">
                <a:effectLst/>
              </a:rPr>
              <a:t>This is going to be the last point that I'll leave us with, which is to say, you know, we're encouraged, I think correctly so, to think of trial results in terms of, you know, the absolute risk reduction, or the other way to summarize that is the reciprocal of it, which is the number needed to treat. You know, how many people would need to receive this intervention to change</a:t>
            </a:r>
          </a:p>
          <a:p>
            <a:pPr latinLnBrk="0"/>
            <a:r>
              <a:rPr lang="en-US" sz="1200" b="0" i="0" kern="1200" dirty="0">
                <a:effectLst/>
              </a:rPr>
              <a:t>IMC-01-AUD-WEST 51 minutes 25 seconds</a:t>
            </a:r>
          </a:p>
          <a:p>
            <a:pPr latinLnBrk="0"/>
            <a:r>
              <a:rPr lang="en-US" sz="1200" b="0" i="0" kern="1200" dirty="0">
                <a:effectLst/>
              </a:rPr>
              <a:t>one of the outcome, you know, in the case of mortality, how many folks would you need to treat to save one life? And, you know, this is a average for the patients that are enrolled in the sample. And so you can imagine that not everybody in the trial is going to have similar risk. And so if it's a</a:t>
            </a:r>
          </a:p>
          <a:p>
            <a:pPr latinLnBrk="0"/>
            <a:r>
              <a:rPr lang="en-US" sz="1200" b="0" i="0" kern="1200" dirty="0">
                <a:effectLst/>
              </a:rPr>
              <a:t>IMC-01-AUD-WEST 51 minutes 46 seconds</a:t>
            </a:r>
          </a:p>
          <a:p>
            <a:pPr latinLnBrk="0"/>
            <a:r>
              <a:rPr lang="en-US" sz="1200" b="0" i="0" kern="1200" dirty="0">
                <a:effectLst/>
              </a:rPr>
              <a:t>you know, ARDS trial and risk of death is, or death is the outcome, some patients are at much higher risk than others of receiving the outcome or experiencing the outcome, and that when you present an absolute risk reduction, you're averaging it over that sample. And so</a:t>
            </a:r>
          </a:p>
          <a:p>
            <a:pPr latinLnBrk="0"/>
            <a:r>
              <a:rPr lang="en-US" sz="1200" b="0" i="0" kern="1200" dirty="0">
                <a:effectLst/>
              </a:rPr>
              <a:t>IMC-01-AUD-WEST 52 minutes 5 seconds</a:t>
            </a:r>
          </a:p>
          <a:p>
            <a:pPr latinLnBrk="0"/>
            <a:r>
              <a:rPr lang="en-US" sz="1200" b="0" i="0" kern="1200" dirty="0">
                <a:effectLst/>
              </a:rPr>
              <a:t>There's A variety of sources of data that have empirically borne this out, which is to say, you're going to be overestimating the benefit in folks that are low risk and underestimating the benefit in folks that are high risk if you use that average. And that if we account for that risk modeling when we counsel patients,</a:t>
            </a:r>
          </a:p>
          <a:p>
            <a:pPr latinLnBrk="0"/>
            <a:r>
              <a:rPr lang="en-US" sz="1200" b="0" i="0" kern="1200" dirty="0">
                <a:effectLst/>
              </a:rPr>
              <a:t>IMC-01-AUD-WEST 52 minutes 25 seconds</a:t>
            </a:r>
          </a:p>
          <a:p>
            <a:pPr latinLnBrk="0"/>
            <a:r>
              <a:rPr lang="en-US" sz="1200" b="0" i="0" kern="1200" dirty="0">
                <a:effectLst/>
              </a:rPr>
              <a:t>will be able to get more targeted estimates of how much an individual will benefit. And I'll say, this is actually a paradigm that's becoming more and more frequently used in guidelines. And so, for example, in 2024, the SCCM released new stress ulcer prophylaxis guidelines.</a:t>
            </a:r>
          </a:p>
          <a:p>
            <a:pPr latinLnBrk="0"/>
            <a:r>
              <a:rPr lang="en-US" sz="1200" b="0" i="0" kern="1200" dirty="0">
                <a:effectLst/>
              </a:rPr>
              <a:t>IMC-01-AUD-WEST 52 minutes 46 seconds</a:t>
            </a:r>
          </a:p>
          <a:p>
            <a:pPr latinLnBrk="0"/>
            <a:r>
              <a:rPr lang="en-US" sz="1200" b="0" i="0" kern="1200" dirty="0">
                <a:effectLst/>
              </a:rPr>
              <a:t>And in those guidelines, they say, so there's a variety of trials, they're primarily in intubated patients. And so the traditional teaching was always, if you're intubated, stress ulcer prophylaxis is indicated. The approach that the 2024 guidelines say is, you know, we've estimated the relative risk reduction, meaning</a:t>
            </a:r>
          </a:p>
          <a:p>
            <a:pPr latinLnBrk="0"/>
            <a:r>
              <a:rPr lang="en-US" sz="1200" b="0" i="0" kern="1200" dirty="0">
                <a:effectLst/>
              </a:rPr>
              <a:t>IMC-01-AUD-WEST 53 minutes 6 seconds</a:t>
            </a:r>
          </a:p>
          <a:p>
            <a:pPr latinLnBrk="0"/>
            <a:r>
              <a:rPr lang="en-US" sz="1200" b="0" i="0" kern="1200" dirty="0">
                <a:effectLst/>
              </a:rPr>
              <a:t>In relative terms, how effective do we think stress ulcer prophylaxis is for preventing GI bleeds? And then we have good predictive models that tell us which factors are independently associated with a higher risk of bleeding. And that the leap of logic that the 2024</a:t>
            </a:r>
          </a:p>
          <a:p>
            <a:pPr latinLnBrk="0"/>
            <a:r>
              <a:rPr lang="en-US" sz="1200" b="0" i="0" kern="1200" dirty="0">
                <a:effectLst/>
              </a:rPr>
              <a:t>IMC-01-AUD-WEST 53 minutes 25 seconds</a:t>
            </a:r>
          </a:p>
          <a:p>
            <a:pPr latinLnBrk="0"/>
            <a:r>
              <a:rPr lang="en-US" sz="1200" b="0" i="0" kern="1200" dirty="0">
                <a:effectLst/>
              </a:rPr>
              <a:t>stress ulcer guidelines say is to say if you have a risk factor that increases your risk of a GI bleed to the point where we expect that that relative risk reduction will translate into an important absolute risk reduction, that stress ulcer prophylaxis is indicated. And so importantly, the thing that's different about that is that it means that</a:t>
            </a:r>
          </a:p>
          <a:p>
            <a:pPr latinLnBrk="0"/>
            <a:r>
              <a:rPr lang="en-US" sz="1200" b="0" i="0" kern="1200" dirty="0">
                <a:effectLst/>
              </a:rPr>
              <a:t>IMC-01-AUD-WEST 53 minutes 47 seconds</a:t>
            </a:r>
          </a:p>
          <a:p>
            <a:pPr latinLnBrk="0"/>
            <a:r>
              <a:rPr lang="en-US" sz="1200" b="0" i="0" kern="1200" dirty="0">
                <a:effectLst/>
              </a:rPr>
              <a:t>even though some people who were intubated and included in some of these trials that showed benefit, the guidelines actually don't say if you're intubated but don't have these other risk factors that you actually should receive stress ulcer prophylaxis. And it's because of that extrapolation, which is to say</a:t>
            </a:r>
          </a:p>
          <a:p>
            <a:pPr latinLnBrk="0"/>
            <a:r>
              <a:rPr lang="en-US" sz="1200" b="0" i="0" kern="1200" dirty="0">
                <a:effectLst/>
              </a:rPr>
              <a:t>IMC-01-AUD-WEST 54 minutes 6 seconds</a:t>
            </a:r>
          </a:p>
          <a:p>
            <a:pPr latinLnBrk="0"/>
            <a:r>
              <a:rPr lang="en-US" sz="1200" b="0" i="0" kern="1200" dirty="0">
                <a:effectLst/>
              </a:rPr>
              <a:t>intubation alone only confers a smaller excess risk of bleed. And so, you know, that's the reasoning, I think, and it's built on a prediction model of how much risk folks have of stress ulcer prophylaxis. And I think that sort of reasoning pervades other specialties like cardiology.</a:t>
            </a:r>
          </a:p>
          <a:p>
            <a:pPr latinLnBrk="0"/>
            <a:r>
              <a:rPr lang="en-US" sz="1200" b="0" i="0" kern="1200" dirty="0">
                <a:effectLst/>
              </a:rPr>
              <a:t>IMC-01-AUD-WEST 54 minutes 27 seconds</a:t>
            </a:r>
          </a:p>
          <a:p>
            <a:pPr latinLnBrk="0"/>
            <a:r>
              <a:rPr lang="en-US" sz="1200" b="0" i="0" kern="1200" dirty="0">
                <a:effectLst/>
              </a:rPr>
              <a:t>quite a bit more because they have more data, but I think it's likely coming to pulmonary and critical care medicine in the near future. And so that takes me to the end of, I think, where I'll end just since we're at time. So I'm just going to end with this slide, which is to thank everybody that's been helping me put together these trials and the grant that will be going in soon. </a:t>
            </a:r>
            <a:r>
              <a:rPr lang="en-US" sz="1200" b="0" i="0" kern="1200">
                <a:effectLst/>
              </a:rPr>
              <a:t>And I'll take any questions if people have one.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Anti-hype slide that separates model performance from clinical impact.</a:t>
            </a:r>
          </a:p>
          <a:p>
            <a:r>
              <a:rPr dirty="0"/>
              <a:t>Key line: AUC is upstream of the endpoint we actually care about.</a:t>
            </a:r>
          </a:p>
          <a:p>
            <a:r>
              <a:rPr dirty="0"/>
              <a:t>Transition: Now name the hard question.</a:t>
            </a:r>
          </a:p>
          <a:p>
            <a:r>
              <a:rPr dirty="0"/>
              <a:t>Source anchors: A Few Good Metrics; STRATOS TG6 / Van </a:t>
            </a:r>
            <a:r>
              <a:rPr dirty="0" err="1"/>
              <a:t>Calster</a:t>
            </a:r>
            <a:r>
              <a:rPr dirty="0"/>
              <a:t> et al.</a:t>
            </a:r>
            <a:endParaRPr lang="en-US" dirty="0"/>
          </a:p>
          <a:p>
            <a:endParaRPr lang="en-US" dirty="0"/>
          </a:p>
          <a:p>
            <a:endParaRPr lang="en-US" dirty="0"/>
          </a:p>
          <a:p>
            <a:r>
              <a:rPr lang="en-US" dirty="0"/>
              <a:t>Can you recenter the AUC curve in the box?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01548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Establish the organizing question for the whole talk.</a:t>
            </a:r>
          </a:p>
          <a:p>
            <a:r>
              <a:t>Key line: The hard question is not whether a model predicts; it is what the prediction is for.</a:t>
            </a:r>
          </a:p>
          <a:p>
            <a:r>
              <a:t>Transition: Introduce the four answers, but keep this slide focused on purpose.</a:t>
            </a:r>
          </a:p>
          <a:p>
            <a:r>
              <a:t>Source anchors: Current deck opening; rebuild ticket.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Present the only taxonomy used in the deck.</a:t>
            </a:r>
          </a:p>
          <a:p>
            <a:r>
              <a:t>Key line: Prediction earns its keep when it does one of four jobs: act, label, enrich, or estimate.</a:t>
            </a:r>
          </a:p>
          <a:p>
            <a:r>
              <a:t>Transition: Start with Act using the Wells Score.</a:t>
            </a:r>
          </a:p>
          <a:p>
            <a:r>
              <a:t>Source anchors: Rebuild ticket; current taxonomy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Bridge familiar clinical rules to machine learning without teaching model classes.</a:t>
            </a:r>
          </a:p>
          <a:p>
            <a:r>
              <a:t>Key line: Machine learning is not synonymous with neural networks.</a:t>
            </a:r>
          </a:p>
          <a:p>
            <a:r>
              <a:t>Transition: PE diagnosis created a narrow action problem.</a:t>
            </a:r>
          </a:p>
          <a:p>
            <a:r>
              <a:t>Source anchors: View from the MTN ML article; Wells Score background.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Anchor Wells in a specific action, not diagnosis in the abstract.</a:t>
            </a:r>
          </a:p>
          <a:p>
            <a:r>
              <a:t>Key line: The useful question was who can safely avoid CT.</a:t>
            </a:r>
          </a:p>
          <a:p>
            <a:r>
              <a:t>Transition: Show how Wells became a workflow.</a:t>
            </a:r>
          </a:p>
          <a:p>
            <a:r>
              <a:t>Source anchors: Wells Score background; current Wells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Compress Wells history into the development pathway that made it usable.</a:t>
            </a:r>
          </a:p>
          <a:p>
            <a:r>
              <a:rPr dirty="0"/>
              <a:t>Key line: Wells worked because it became a validated workflow.</a:t>
            </a:r>
          </a:p>
          <a:p>
            <a:r>
              <a:rPr dirty="0"/>
              <a:t>Transition: Reduce the mechanics to one logistic-regression slide.</a:t>
            </a:r>
          </a:p>
          <a:p>
            <a:r>
              <a:rPr dirty="0"/>
              <a:t>Source anchors: Wells et al. 2000; View from the MTN Wells article.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was not modern machine learning. It was earlier and arguably more operationally mature: a coded clinical database plus executable medical knowledge. It used deterministic if-then logic, Bayesian probability calculations, temporal rules, monitoring logic, and explanations to support real decisions in cardiology, ICU care, radiology, pharmacy, laboratory interpretation, infection surveillance, and antibiotic management.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Introduce the reference-class problem.</a:t>
            </a:r>
          </a:p>
          <a:p>
            <a:r>
              <a:t>Key line: A diagnosis is useful if the class helps predict prognosis, mechanism, treatment response, or routing.</a:t>
            </a:r>
          </a:p>
          <a:p>
            <a:r>
              <a:t>Transition: Define fitness for purpose.</a:t>
            </a:r>
          </a:p>
          <a:p>
            <a:r>
              <a:t>Source anchors: Current reference-class section; K23 framing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326899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Reframe disease definitions as purposeful scientific and clinical tools. Key line: A disease definition is not simply a mirror of nature; it is a tool that must be judged against a job. Transition: Once the purpose is explicit, separate definitions based on present abnormality from those based on future risk. Source anchors: Stegenga; Doust et al.; Ranieri et al. AJRCCM 2022; Carrell et al. JAMIA 2025.</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Contrast abnormality-based and risk-based disease definitions. Key line: Abnormality asks what is unusual now; risk asks what future harm is likely. Transition: Use hyperlipidemia as the familiar example of this shift. Source anchors: Stegenga; Aronowitz Risky Medicine; Doust et al. JAMA Internal Medicine 2017.</a:t>
            </a:r>
          </a:p>
          <a:p>
            <a:endParaRPr dirty="0"/>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Use cholesterol to show the shift from biomarker abnormality toward preventable event risk and expected benefit. Key line: The question moved from is the LDL high to is this patient's absolute ASCVD risk high enough that lipid lowering is worth it. Transition: This is not only philosophical; the screening math makes risk central to action. Source anchors: ATP III; 2013 ACC/AHA Blood Cholesterol Guideline; Pooled Cohort Equations.</a:t>
            </a:r>
          </a:p>
          <a:p>
            <a:endParaRPr dirty="0"/>
          </a:p>
          <a:p>
            <a:endParaRPr dirty="0"/>
          </a:p>
          <a:p>
            <a:endParaRPr lang="en-US" dirty="0"/>
          </a:p>
          <a:p>
            <a:endParaRPr lang="en-US" dirty="0"/>
          </a:p>
          <a:p>
            <a:endParaRPr lang="en-US" dirty="0"/>
          </a:p>
          <a:p>
            <a:endParaRPr lang="en-US" dirty="0"/>
          </a:p>
          <a:p>
            <a:r>
              <a:rPr lang="en-US" dirty="0"/>
              <a:t>Purpose of a HLD label is really just to indicate you should be on medications to improve your risk profile.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Show why risk-based definitions are advantageous for guiding action by using screening math. Key line: Baseline risk is not background information; it determines predictive value, yield, and false-positive burden. Transition: This same logic motivates transition-care phenotypes: the useful HRF label should route scarce post-discharge attention. Source anchors: Bayes theorem; diagnostic threshold logic; screening PPV example.</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u="none" dirty="0"/>
              <a:t>Purpose: Make the clinical operations analogy concrete and professional on slide.</a:t>
            </a:r>
          </a:p>
          <a:p>
            <a:r>
              <a:rPr sz="1200" b="0" i="1" u="none" dirty="0"/>
              <a:t>Key line: AI can expand the range of questions we can act on quickly and reasonably.</a:t>
            </a:r>
          </a:p>
          <a:p>
            <a:r>
              <a:rPr sz="1200" b="0" i="1" u="none" dirty="0"/>
              <a:t>Transition: Then define the comparator as the available care system.</a:t>
            </a:r>
          </a:p>
          <a:p>
            <a:r>
              <a:rPr sz="1200" b="0" i="1" u="none" dirty="0"/>
              <a:t>Source anchors: Current slide 30; ASCEND-MA framing.</a:t>
            </a:r>
          </a:p>
          <a:p>
            <a:r>
              <a:rPr sz="1200" b="0" i="1" u="none" dirty="0"/>
              <a:t>Oral bridge: My girlfriend gives me a hard time when I use AI to do things I probably would have spent the time to think through myself. That critique is basically right: that can become cognitive outsourcing. The more useful pattern is different. AI lets me look into things I would otherwise shrug off because I lack the time, confidence, or activation energy to investigate them. It expands the sphere where I can act quickly and reasonably.</a:t>
            </a:r>
          </a:p>
          <a:p>
            <a:endParaRPr sz="1200" b="0" i="1" u="none" dirty="0"/>
          </a:p>
          <a:p>
            <a:r>
              <a:rPr sz="1200" b="0" i="1" u="none" dirty="0"/>
              <a:t>Pivot: That is the clinical operations analogy. The sickest patients are often already visible. AI may be most useful when it expands care-team attention into the rising-risk middle.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en-US" dirty="0"/>
              <a:t>Purpose: Show ASCEND-MA as implementation case study.</a:t>
            </a:r>
          </a:p>
          <a:p>
            <a:r>
              <a:rPr lang="en-US" dirty="0"/>
              <a:t>Key line: The outcome is not AUC; the outcome is operational, clinical, and economic impact.</a:t>
            </a: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u="none" dirty="0"/>
              <a:t>Purpose: Shift from treatment rules to operations.</a:t>
            </a:r>
          </a:p>
          <a:p>
            <a:r>
              <a:rPr sz="1200" b="0" i="1" u="none" dirty="0"/>
              <a:t>Key line: The target is not simply highest risk; it is risk times modifiability times usual-care miss probability.</a:t>
            </a:r>
          </a:p>
          <a:p>
            <a:r>
              <a:rPr sz="1200" b="0" i="1" u="none" dirty="0"/>
              <a:t>Transition: Use the AI sphere-of-action slide to make the operations analogy.</a:t>
            </a:r>
          </a:p>
          <a:p>
            <a:r>
              <a:rPr sz="1200" b="0" i="1" u="none" dirty="0"/>
              <a:t>Source anchors: ASCEND-MA framing; prior deck slide 27.</a:t>
            </a:r>
            <a:endParaRPr lang="en-US" sz="1200" b="0" i="1" u="none" dirty="0"/>
          </a:p>
          <a:p>
            <a:endParaRPr lang="en-US" sz="1200" b="0" i="1" u="non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Define prognostic enrichment cleanly.</a:t>
            </a:r>
          </a:p>
          <a:p>
            <a:r>
              <a:rPr dirty="0"/>
              <a:t>Key line: Enrichment does not require predicting who responds.</a:t>
            </a:r>
          </a:p>
          <a:p>
            <a:r>
              <a:rPr dirty="0"/>
              <a:t>Transition: Critical care trials especially need signal.</a:t>
            </a:r>
          </a:p>
          <a:p>
            <a:r>
              <a:rPr dirty="0"/>
              <a:t>Source anchors: Current trial enrichment slide; Kent/prognostic enrichment framing.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en-US" dirty="0"/>
              <a:t>Purpose: Show ASCEND-MA as implementation case study.</a:t>
            </a:r>
          </a:p>
          <a:p>
            <a:r>
              <a:rPr lang="en-US" dirty="0"/>
              <a:t>Key line: The outcome is not AUC; the outcome is operational, clinical, and economic impact.</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54DB4-2766-7241-9B65-8741C5A79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7902E-69F9-BCC4-CFD1-A2717B988D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0FDF9-94B9-26CC-E7BE-22883296A684}"/>
              </a:ext>
            </a:extLst>
          </p:cNvPr>
          <p:cNvSpPr>
            <a:spLocks noGrp="1"/>
          </p:cNvSpPr>
          <p:nvPr>
            <p:ph type="body" idx="1"/>
          </p:nvPr>
        </p:nvSpPr>
        <p:spPr/>
        <p:txBody>
          <a:bodyPr/>
          <a:lstStyle/>
          <a:p>
            <a:r>
              <a:rPr dirty="0"/>
              <a:t>Purpose: Preview K23 without turning this section into a grant pitch.</a:t>
            </a:r>
          </a:p>
          <a:p>
            <a:r>
              <a:rPr dirty="0"/>
              <a:t>Key line: HRF can be defined physiologically, but transition care needs a routing class.</a:t>
            </a:r>
          </a:p>
          <a:p>
            <a:r>
              <a:rPr dirty="0"/>
              <a:t>Transition: Recap the Label answer, then move to risk-based action.</a:t>
            </a:r>
          </a:p>
          <a:p>
            <a:r>
              <a:rPr dirty="0"/>
              <a:t>Source anchors: Locke K23 Specific Aims; prior deck framing.</a:t>
            </a:r>
          </a:p>
        </p:txBody>
      </p:sp>
      <p:sp>
        <p:nvSpPr>
          <p:cNvPr id="4" name="Slide Number Placeholder 3">
            <a:extLst>
              <a:ext uri="{FF2B5EF4-FFF2-40B4-BE49-F238E27FC236}">
                <a16:creationId xmlns:a16="http://schemas.microsoft.com/office/drawing/2014/main" id="{97613132-AA25-A738-FEC9-37F5151559A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80662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Anchor the K23 in a clinical transition gap.</a:t>
            </a:r>
          </a:p>
          <a:p>
            <a:r>
              <a:rPr dirty="0"/>
              <a:t>Key line: HRF transition care is the pulmonary application of reference-class and attention-routing logic.</a:t>
            </a:r>
          </a:p>
          <a:p>
            <a:r>
              <a:rPr dirty="0"/>
              <a:t>Transition: Show the three-aim sequence.</a:t>
            </a:r>
          </a:p>
          <a:p>
            <a:r>
              <a:rPr dirty="0"/>
              <a:t>Source anchors: Locke K23 Specific Aims.</a:t>
            </a:r>
          </a:p>
          <a:p>
            <a:r>
              <a:rPr dirty="0"/>
              <a:t>Required guardrail: HRF transition care is the pulmonary/critical care application of reference-class and attention-routing logic.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Make the grant sequence legible.</a:t>
            </a:r>
          </a:p>
          <a:p>
            <a:r>
              <a:rPr dirty="0"/>
              <a:t>Key line: Measure current care, validate risk infrastructure, then test feasibility before R01.</a:t>
            </a:r>
          </a:p>
          <a:p>
            <a:r>
              <a:rPr dirty="0"/>
              <a:t>Transition: Clarify Aim 2 is not deployment.</a:t>
            </a:r>
          </a:p>
          <a:p>
            <a:r>
              <a:rPr dirty="0"/>
              <a:t>Source anchors: Locke K23 Research Strategy.</a:t>
            </a:r>
          </a:p>
          <a:p>
            <a:r>
              <a:rPr dirty="0"/>
              <a:t>Required guardrails: Aim 2 validates risk infrastructure, not a deployed tool. Aim 3 enrollment is criteria-based and independent of Aim 2 model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Guard against overclaiming model deployment in the K23.</a:t>
            </a:r>
          </a:p>
          <a:p>
            <a:r>
              <a:rPr dirty="0"/>
              <a:t>Key line: Aim 2 validates research-ready risk infrastructure; it is not a clinical deployment tool.</a:t>
            </a:r>
          </a:p>
          <a:p>
            <a:r>
              <a:rPr dirty="0"/>
              <a:t>Transition: Clarify Aim 3 is feasibility, not efficacy.</a:t>
            </a:r>
          </a:p>
          <a:p>
            <a:r>
              <a:rPr dirty="0"/>
              <a:t>Source anchors: Locke K23 Specific Aims / Research Strategy.</a:t>
            </a:r>
          </a:p>
          <a:p>
            <a:r>
              <a:rPr dirty="0"/>
              <a:t>Required guardrail: Aim 2 validates risk infrastructure, not a deployed tool.</a:t>
            </a:r>
            <a:endParaRPr lang="en-US" dirty="0"/>
          </a:p>
          <a:p>
            <a:endParaRPr lang="en-US" dirty="0"/>
          </a:p>
          <a:p>
            <a:endParaRPr lang="en-US" dirty="0"/>
          </a:p>
          <a:p>
            <a:r>
              <a:rPr lang="en-US" dirty="0"/>
              <a:t>This one seems a little too much like the prior one in terms of layout. </a:t>
            </a:r>
            <a:endParaRPr dirty="0"/>
          </a:p>
        </p:txBody>
      </p:sp>
      <p:sp>
        <p:nvSpPr>
          <p:cNvPr id="4" name="Slide Number Placeholder 3"/>
          <p:cNvSpPr>
            <a:spLocks noGrp="1"/>
          </p:cNvSpPr>
          <p:nvPr>
            <p:ph type="sldNum" idx="5"/>
          </p:nvPr>
        </p:nvSpPr>
        <p:spPr/>
        <p:txBody>
          <a:bodyPr/>
          <a:lstStyle/>
          <a:p>
            <a:endParaRPr/>
          </a:p>
          <a:p>
            <a:r>
              <a:rPr lang="en-US" dirty="0"/>
              <a:t>Future use (on-slide line moved to notes): Future use: enrichment, stratification, endpoint capture, navigator-capacity planning.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Guard against overclaiming model deployment in the K23.</a:t>
            </a:r>
          </a:p>
          <a:p>
            <a:r>
              <a:rPr dirty="0"/>
              <a:t>Key line: Aim 2 validates research-ready risk infrastructure; it is not a clinical deployment tool.</a:t>
            </a:r>
          </a:p>
          <a:p>
            <a:r>
              <a:rPr dirty="0"/>
              <a:t>Transition: Clarify Aim 3 is feasibility, not efficacy.</a:t>
            </a:r>
          </a:p>
          <a:p>
            <a:r>
              <a:rPr dirty="0"/>
              <a:t>Source anchors: Locke K23 Specific Aims / Research Strategy.</a:t>
            </a:r>
          </a:p>
          <a:p>
            <a:r>
              <a:rPr dirty="0"/>
              <a:t>Required guardrail: Aim 2 validates risk infrastructure, not a deployed tool.</a:t>
            </a:r>
          </a:p>
        </p:txBody>
      </p:sp>
      <p:sp>
        <p:nvSpPr>
          <p:cNvPr id="4" name="Slide Number Placeholder 3"/>
          <p:cNvSpPr>
            <a:spLocks noGrp="1"/>
          </p:cNvSpPr>
          <p:nvPr>
            <p:ph type="sldNum" idx="5"/>
          </p:nvPr>
        </p:nvSpPr>
        <p:spPr/>
        <p:txBody>
          <a:bodyPr/>
          <a:lstStyle/>
          <a:p>
            <a:endParaRPr/>
          </a:p>
          <a:p>
            <a:r>
              <a:rPr lang="en-US" dirty="0"/>
              <a:t>Future use (on-slide line moved to notes): Future use: enrichment, stratification, endpoint capture, navigator-capacity planning.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Keep Aim 3 as feasibility rather than a full grant pitch.</a:t>
            </a:r>
          </a:p>
          <a:p>
            <a:r>
              <a:rPr dirty="0"/>
              <a:t>Key line: Aim 3 tests whether a pathway can reliably route patients to indicated care.</a:t>
            </a:r>
          </a:p>
          <a:p>
            <a:r>
              <a:rPr dirty="0"/>
              <a:t>Transition: Return to the four answers and close.</a:t>
            </a:r>
          </a:p>
          <a:p>
            <a:r>
              <a:rPr dirty="0"/>
              <a:t>Source anchors: Locke K23 Specific Aims / Reapplication.</a:t>
            </a:r>
          </a:p>
          <a:p>
            <a:r>
              <a:rPr dirty="0"/>
              <a:t>Required guardrails: Aim 3 enrollment is criteria-based and independent of Aim 2 model performance. Aim 3 is feasibility, not efficacy.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0685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Motivate enrichment and adjustment in PCCM trials.</a:t>
            </a:r>
          </a:p>
          <a:p>
            <a:r>
              <a:t>Key line: When outcomes are noisy, better prediction can improve design before predicting response.</a:t>
            </a:r>
          </a:p>
          <a:p>
            <a:r>
              <a:t>Transition: Now show adjustment as the Estimate job.</a:t>
            </a:r>
          </a:p>
          <a:p>
            <a:r>
              <a:t>Source anchors: Critical care trial design; current slide 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Summarize the trial design argument.</a:t>
            </a:r>
          </a:p>
          <a:p>
            <a:r>
              <a:t>Key line: Enrichment chooses who enters; adjustment estimates more precisely after randomization.</a:t>
            </a:r>
          </a:p>
          <a:p>
            <a:r>
              <a:t>Transition: Apply the full logic to the K23 HRF program.</a:t>
            </a:r>
          </a:p>
          <a:p>
            <a:r>
              <a:t>Source anchors: Current slide 45; K23 Aim 2 future-use framing.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Introduce prognostic adjustment as precision infrastructure.</a:t>
            </a:r>
          </a:p>
          <a:p>
            <a:r>
              <a:rPr dirty="0"/>
              <a:t>Key line: This is precision adjustment in an RCT, not confounding adjustment.</a:t>
            </a:r>
          </a:p>
          <a:p>
            <a:r>
              <a:rPr dirty="0"/>
              <a:t>Transition: Quantify the precision payoff.</a:t>
            </a:r>
          </a:p>
          <a:p>
            <a:r>
              <a:rPr dirty="0"/>
              <a:t>Source anchors: Senn 2015; trial covariate adjustment literature.</a:t>
            </a:r>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2A2340"/>
                </a:solidFill>
                <a:latin typeface="Arial"/>
                <a:cs typeface="Arial"/>
              </a:rPr>
              <a:t>Teaching sequence: intuition, then formula, then numbers. Adjustment is not personalization; it improves estimation of the average randomized effect.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Give trialists the mathematical payoff.</a:t>
            </a:r>
          </a:p>
          <a:p>
            <a:r>
              <a:rPr dirty="0"/>
              <a:t>Key line: If residual SD falls by 20%, SE falls by 20%.</a:t>
            </a:r>
          </a:p>
          <a:p>
            <a:r>
              <a:rPr dirty="0"/>
              <a:t>Transition: Close the trial-methods section by linking enrichment and adjustment.</a:t>
            </a:r>
          </a:p>
          <a:p>
            <a:r>
              <a:rPr dirty="0"/>
              <a:t>Source anchors: Senn 2015; efficient estimation framing.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390332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Reframe NNT without dismissing it.</a:t>
            </a:r>
          </a:p>
          <a:p>
            <a:r>
              <a:rPr dirty="0"/>
              <a:t>Key line: NNT equals 50 is a population summary, not a patient property.</a:t>
            </a:r>
          </a:p>
          <a:p>
            <a:r>
              <a:rPr dirty="0"/>
              <a:t>Transition: Show how baseline risk changes absolute benefit.</a:t>
            </a:r>
          </a:p>
          <a:p>
            <a:r>
              <a:rPr dirty="0"/>
              <a:t>Source anchors: Kent 2023; current NNT slide.</a:t>
            </a:r>
            <a:endParaRPr lang="en-US" dirty="0"/>
          </a:p>
          <a:p>
            <a:endParaRPr lang="en-US" dirty="0"/>
          </a:p>
          <a:p>
            <a:r>
              <a:rPr lang="en-US" dirty="0"/>
              <a:t>[ ]</a:t>
            </a:r>
          </a:p>
          <a:p>
            <a:r>
              <a:rPr lang="en-US" dirty="0"/>
              <a:t>ARR and NNT conflate baseline risk and treatment effect – not the best way to generalize to other</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Show risk magnification of absolute benefit.</a:t>
            </a:r>
          </a:p>
          <a:p>
            <a:r>
              <a:rPr dirty="0"/>
              <a:t>Key line: The same relative effect can produce very different ARR and NNT.</a:t>
            </a:r>
          </a:p>
          <a:p>
            <a:r>
              <a:rPr dirty="0"/>
              <a:t>Transition: Benefits and burdens may scale differently.</a:t>
            </a:r>
          </a:p>
          <a:p>
            <a:r>
              <a:rPr dirty="0"/>
              <a:t>Source anchors: Kent 2023; Harrell risk-magnification framing.</a:t>
            </a:r>
            <a:endParaRPr lang="en-US" dirty="0"/>
          </a:p>
          <a:p>
            <a:endParaRPr lang="en-US" dirty="0"/>
          </a:p>
          <a:p>
            <a:endParaRPr lang="en-US" dirty="0"/>
          </a:p>
          <a:p>
            <a:r>
              <a:rPr lang="en-US" dirty="0"/>
              <a:t>We should add some evidence that actually, RR’s tend to be more stable than other effect measures.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There are two very different ways to personalize treatment. Risk modeling asks who is likely to have the bad outcome. Effect modeling asks whether the treatment itself works differently for different kinds of patients. Both are useful — but they carry different evidence burdens.</a:t>
            </a:r>
          </a:p>
        </p:txBody>
      </p:sp>
    </p:spTree>
  </p:cSld>
  <p:clrMapOvr>
    <a:overrideClrMapping bg1="lt1" tx1="dk1" bg2="lt2" tx2="dk2" accent1="accent1" accent2="accent2" accent3="accent3" accent4="accent4" accent5="accent5" accent6="accent6" hlink="hlink" folHlink="folHlink"/>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Risk modeling begins by estimating what would happen without the treatment. If few events were likely, even an effective treatment has little room to help. If many events were likely, the same relative effect translates into much larger absolute benefit. Same treatment, different room for benefit.</a:t>
            </a:r>
          </a:p>
        </p:txBody>
      </p:sp>
    </p:spTree>
  </p:cSld>
  <p:clrMapOvr>
    <a:overrideClrMapping bg1="lt1" tx1="dk1" bg2="lt2" tx2="dk2" accent1="accent1" accent2="accent2" accent3="accent3" accent4="accent4" accent5="accent5" accent6="accent6" hlink="hlink" folHlink="folHlink"/>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NNT is useful and it is not wrong — but it is a group summary, not a property sitting inside the patient in front of us. Risk modeling asks whether this patient is more like the low-risk part of the trial, the average, or the high-risk part. The trial average is one point on a continuum.</a:t>
            </a:r>
          </a:p>
        </p:txBody>
      </p:sp>
    </p:spTree>
  </p:cSld>
  <p:clrMapOvr>
    <a:overrideClrMapping bg1="lt1" tx1="dk1" bg2="lt2" tx2="dk2" accent1="accent1" accent2="accent2" accent3="accent3" accent4="accent4" accent5="accent5" accent6="accent6" hlink="hlink" folHlink="folHlink"/>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522247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Effect modeling asks a more ambitious causal question. It is not asking who is likely to have the event. It is asking whether the treatment effect itself is larger, smaller, absent, or even harmful in different kinds of patients. Response-first, not prognosis-first.</a:t>
            </a:r>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This is not an argument against effect modeling — it is a sequencing argument. Start with baseline risk because it is easier to validate and often immediately useful. Move to effect modeling when there is enough evidence to believe treatment response truly differs. Risk first; effect models when evidence supports them. From here, risk-first prediction is the practical path — act earlier, label better, enrich trials, estimate more precisely.</a:t>
            </a:r>
          </a:p>
        </p:txBody>
      </p:sp>
    </p:spTree>
  </p:cSld>
  <p:clrMapOvr>
    <a:overrideClrMapping bg1="lt1" tx1="dk1" bg2="lt2" tx2="dk2" accent1="accent1" accent2="accent2" accent3="accent3" accent4="accent4" accent5="accent5" accent6="accent6" hlink="hlink" folHlink="folHlink"/>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Close with the thesis and invite discussion.</a:t>
            </a:r>
          </a:p>
          <a:p>
            <a:r>
              <a:t>Key line: Prediction earns its keep when it does work.</a:t>
            </a:r>
          </a:p>
          <a:p>
            <a:r>
              <a:t>Transition: Invite questions.</a:t>
            </a:r>
          </a:p>
          <a:p>
            <a:r>
              <a:t>Source anchors: Full deck synthesis; Wells, ASCEND-MA, K23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Appendix backup for ML definition.</a:t>
            </a:r>
          </a:p>
          <a:p>
            <a:r>
              <a:t>Key line: Simple models can be powerful when the use case is right.</a:t>
            </a:r>
          </a:p>
          <a:p>
            <a:r>
              <a:t>Transition: Use only if needed during Q&amp;A.</a:t>
            </a:r>
          </a:p>
          <a:p>
            <a:r>
              <a:t>Source anchors: Wells Score / ML article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Close with the thesis and invite discussion.</a:t>
            </a:r>
          </a:p>
          <a:p>
            <a:r>
              <a:rPr dirty="0"/>
              <a:t>Key line: Prediction earns its keep when it does work.</a:t>
            </a:r>
          </a:p>
          <a:p>
            <a:r>
              <a:rPr dirty="0"/>
              <a:t>Transition: Invite questions.</a:t>
            </a:r>
          </a:p>
          <a:p>
            <a:r>
              <a:rPr dirty="0"/>
              <a:t>Source anchors: Full deck synthesis; Wells, ASCEND-MA, K23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Appendix backup for ML definition.</a:t>
            </a:r>
          </a:p>
          <a:p>
            <a:r>
              <a:t>Key line: Simple models can be powerful when the use case is right.</a:t>
            </a:r>
          </a:p>
          <a:p>
            <a:r>
              <a:t>Transition: Use only if needed during Q&amp;A.</a:t>
            </a:r>
          </a:p>
          <a:p>
            <a:r>
              <a:t>Source anchors: Wells Score / ML article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Define CATE clearly without over-teaching causal inference.</a:t>
            </a:r>
          </a:p>
          <a:p>
            <a:r>
              <a:rPr dirty="0"/>
              <a:t>Key line: CATE is causal, not ordinary prediction.</a:t>
            </a:r>
          </a:p>
          <a:p>
            <a:r>
              <a:rPr dirty="0"/>
              <a:t>Transition: That is why baseline risk is usually the first useful layer.</a:t>
            </a:r>
          </a:p>
          <a:p>
            <a:r>
              <a:rPr dirty="0"/>
              <a:t>Source anchors: AJE 2023 identifiability; </a:t>
            </a:r>
            <a:r>
              <a:rPr dirty="0" err="1"/>
              <a:t>AnnRev</a:t>
            </a:r>
            <a:r>
              <a:rPr dirty="0"/>
              <a:t> Biomed Data Sci 2025 HTE learners.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Backup for logistic-regression mechanics.</a:t>
            </a:r>
          </a:p>
          <a:p>
            <a:r>
              <a:t>Key line: The main deck does not need to teach the sigmoid.</a:t>
            </a:r>
          </a:p>
          <a:p>
            <a:r>
              <a:t>Transition: Use only if needed during Q&amp;A.</a:t>
            </a:r>
          </a:p>
          <a:p>
            <a:r>
              <a:t>Source anchors: Log-odds notes; current slides 10-11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 State the main treatment-rule claim.</a:t>
            </a:r>
          </a:p>
          <a:p>
            <a:r>
              <a:rPr dirty="0"/>
              <a:t>Key line: Use more risk models before more effect models.</a:t>
            </a:r>
          </a:p>
          <a:p>
            <a:r>
              <a:rPr dirty="0"/>
              <a:t>Transition: Now apply risk targeting to scarce attention.</a:t>
            </a:r>
          </a:p>
          <a:p>
            <a:r>
              <a:rPr dirty="0"/>
              <a:t>Source anchors: Kent 2023; Senn response-variation caveat.</a:t>
            </a:r>
            <a:endParaRPr lang="en-US" dirty="0"/>
          </a:p>
          <a:p>
            <a:endParaRPr lang="en-US" dirty="0"/>
          </a:p>
          <a:p>
            <a:endParaRPr lang="en-US" dirty="0"/>
          </a:p>
          <a:p>
            <a:r>
              <a:rPr lang="en-US" sz="1200" dirty="0">
                <a:solidFill>
                  <a:srgbClr val="110057"/>
                </a:solidFill>
                <a:latin typeface="Arial"/>
                <a:ea typeface="Arial"/>
                <a:cs typeface="Arial"/>
              </a:rPr>
              <a:t>Risk modeling: apply f(X) without treatment, then compare treated vs control within risk strata.
Effect modeling: estimate </a:t>
            </a:r>
            <a:r>
              <a:rPr lang="en-US" sz="1200" dirty="0" err="1">
                <a:solidFill>
                  <a:srgbClr val="110057"/>
                </a:solidFill>
                <a:latin typeface="Arial"/>
                <a:ea typeface="Arial"/>
                <a:cs typeface="Arial"/>
              </a:rPr>
              <a:t>treatment×covariate</a:t>
            </a:r>
            <a:r>
              <a:rPr lang="en-US" sz="1200" dirty="0">
                <a:solidFill>
                  <a:srgbClr val="110057"/>
                </a:solidFill>
                <a:latin typeface="Arial"/>
                <a:ea typeface="Arial"/>
                <a:cs typeface="Arial"/>
              </a:rPr>
              <a:t> interactions.
Use effect models cautiously: low power, multiplicity, and overfitting risk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u="none"/>
              <a:t>Purpose: Backup for ASCEND-MA operational evaluation.</a:t>
            </a:r>
          </a:p>
          <a:p>
            <a:r>
              <a:rPr sz="1200" b="0" i="1" u="none"/>
              <a:t>Key line: If review capacity is fixed, evaluate the actionable band.</a:t>
            </a:r>
          </a:p>
          <a:p>
            <a:r>
              <a:rPr sz="1200" b="0" i="1" u="none"/>
              <a:t>Transition: Use only if needed during Q&amp;A.</a:t>
            </a:r>
          </a:p>
          <a:p>
            <a:r>
              <a:rPr sz="1200" b="0" i="1" u="none"/>
              <a:t>Source anchors: ASCEND-MA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Backup for HTE caution.</a:t>
            </a:r>
          </a:p>
          <a:p>
            <a:r>
              <a:t>Key line: Different p-values do not prove different effects.</a:t>
            </a:r>
          </a:p>
          <a:p>
            <a:r>
              <a:t>Transition: Use only if needed during Q&amp;A.</a:t>
            </a:r>
          </a:p>
          <a:p>
            <a:r>
              <a:t>Source anchors: HTE learners; AJE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Closing Slid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DA20C-D2BC-4278-A683-99745DFDC7E5}"/>
              </a:ext>
            </a:extLst>
          </p:cNvPr>
          <p:cNvSpPr>
            <a:spLocks noGrp="1"/>
          </p:cNvSpPr>
          <p:nvPr>
            <p:ph type="title"/>
          </p:nvPr>
        </p:nvSpPr>
        <p:spPr>
          <a:xfrm>
            <a:off x="419100" y="680339"/>
            <a:ext cx="4504056" cy="2428443"/>
          </a:xfrm>
        </p:spPr>
        <p:txBody>
          <a:bodyPr anchor="t"/>
          <a:lstStyle>
            <a:lvl1pPr>
              <a:lnSpc>
                <a:spcPct val="100000"/>
              </a:lnSpc>
              <a:buNone/>
              <a:defRPr sz="5400">
                <a:solidFill>
                  <a:schemeClr val="bg1"/>
                </a:solidFill>
              </a:defRPr>
            </a:lvl1pPr>
          </a:lstStyle>
          <a:p>
            <a:endParaRPr/>
          </a:p>
        </p:txBody>
      </p:sp>
      <p:sp>
        <p:nvSpPr>
          <p:cNvPr id="4" name="Date Placeholder 3">
            <a:extLst>
              <a:ext uri="{FF2B5EF4-FFF2-40B4-BE49-F238E27FC236}">
                <a16:creationId xmlns:a16="http://schemas.microsoft.com/office/drawing/2014/main" id="{A75CCFA5-BA84-44CB-8799-9B9E38B0534A}"/>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25DB09F4-8BB8-478D-A9D9-B4B47D736E1A}"/>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C813309C-0603-4A8B-AE17-85E6C745D588}"/>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hree Column Proces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1B8D2-9D1F-49F6-80F6-C2864DCD7830}"/>
              </a:ext>
            </a:extLst>
          </p:cNvPr>
          <p:cNvSpPr>
            <a:spLocks noGrp="1"/>
          </p:cNvSpPr>
          <p:nvPr>
            <p:ph type="title"/>
          </p:nvPr>
        </p:nvSpPr>
        <p:spPr>
          <a:xfrm>
            <a:off x="419098" y="393106"/>
            <a:ext cx="8305803" cy="730353"/>
          </a:xfrm>
        </p:spPr>
        <p:txBody>
          <a:bodyPr anchor="t"/>
          <a:lstStyle>
            <a:lvl1pPr>
              <a:buNone/>
              <a:defRPr>
                <a:solidFill>
                  <a:schemeClr val="tx1"/>
                </a:solidFill>
              </a:defRPr>
            </a:lvl1pPr>
          </a:lstStyle>
          <a:p>
            <a:endParaRPr/>
          </a:p>
        </p:txBody>
      </p:sp>
      <p:sp>
        <p:nvSpPr>
          <p:cNvPr id="5" name="Date Placeholder 4">
            <a:extLst>
              <a:ext uri="{FF2B5EF4-FFF2-40B4-BE49-F238E27FC236}">
                <a16:creationId xmlns:a16="http://schemas.microsoft.com/office/drawing/2014/main" id="{E408A393-879B-4F9D-8927-2CC8893FDCCE}"/>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50E1414A-9239-4604-A244-A75D19F69D0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1A1AF52-F3D6-4051-84A0-224640897631}"/>
              </a:ext>
            </a:extLst>
          </p:cNvPr>
          <p:cNvSpPr>
            <a:spLocks noGrp="1"/>
          </p:cNvSpPr>
          <p:nvPr>
            <p:ph type="sldNum" idx="12"/>
          </p:nvPr>
        </p:nvSpPr>
        <p:spPr/>
        <p:txBody>
          <a:body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9" y="2520473"/>
            <a:ext cx="2138764" cy="1940401"/>
          </a:xfrm>
        </p:spPr>
        <p:txBody>
          <a:bodyPr/>
          <a:lstStyle>
            <a:lvl1pPr marL="0" indent="0">
              <a:buNone/>
              <a:defRPr sz="1800" b="1">
                <a:solidFill>
                  <a:schemeClr val="tx1"/>
                </a:solidFill>
              </a:defRPr>
            </a:lvl1pPr>
            <a:lvl2pPr marL="0" indent="0">
              <a:spcBef>
                <a:spcPts val="1800"/>
              </a:spcBef>
              <a:buNone/>
              <a:defRPr>
                <a:solidFill>
                  <a:schemeClr val="tx1"/>
                </a:solidFill>
              </a:defRPr>
            </a:lvl2pPr>
            <a:lvl3pPr marL="171450" indent="-171450">
              <a:spcBef>
                <a:spcPts val="1200"/>
              </a:spcBef>
              <a:buNone/>
              <a:defRPr>
                <a:solidFill>
                  <a:schemeClr val="tx1"/>
                </a:solidFill>
              </a:defRPr>
            </a:lvl3pPr>
          </a:lstStyle>
          <a:p>
            <a:endParaRPr/>
          </a:p>
        </p:txBody>
      </p:sp>
      <p:sp>
        <p:nvSpPr>
          <p:cNvPr id="4" name="Text Placeholder 13">
            <a:extLst>
              <a:ext uri="{FF2B5EF4-FFF2-40B4-BE49-F238E27FC236}">
                <a16:creationId xmlns:a16="http://schemas.microsoft.com/office/drawing/2014/main" id="{642A8771-4A82-CB8D-C424-41BF6D808A00}"/>
              </a:ext>
            </a:extLst>
          </p:cNvPr>
          <p:cNvSpPr>
            <a:spLocks noGrp="1"/>
          </p:cNvSpPr>
          <p:nvPr>
            <p:ph type="body" idx="16"/>
          </p:nvPr>
        </p:nvSpPr>
        <p:spPr>
          <a:xfrm>
            <a:off x="3264847" y="2520473"/>
            <a:ext cx="2138764" cy="1940401"/>
          </a:xfrm>
        </p:spPr>
        <p:txBody>
          <a:bodyPr/>
          <a:lstStyle>
            <a:lvl1pPr marL="0" indent="0">
              <a:buNone/>
              <a:defRPr sz="1800" b="1">
                <a:solidFill>
                  <a:schemeClr val="tx1"/>
                </a:solidFill>
              </a:defRPr>
            </a:lvl1pPr>
            <a:lvl2pPr marL="0" indent="0">
              <a:spcBef>
                <a:spcPts val="1800"/>
              </a:spcBef>
              <a:buNone/>
              <a:defRPr>
                <a:solidFill>
                  <a:schemeClr val="tx1"/>
                </a:solidFill>
              </a:defRPr>
            </a:lvl2pPr>
            <a:lvl3pPr marL="171450" indent="-171450">
              <a:spcBef>
                <a:spcPts val="1200"/>
              </a:spcBef>
              <a:buNone/>
              <a:defRPr>
                <a:solidFill>
                  <a:schemeClr val="tx1"/>
                </a:solidFill>
              </a:defRPr>
            </a:lvl3pPr>
          </a:lstStyle>
          <a:p>
            <a:endParaRPr/>
          </a:p>
        </p:txBody>
      </p:sp>
      <p:sp>
        <p:nvSpPr>
          <p:cNvPr id="8" name="Text Placeholder 13">
            <a:extLst>
              <a:ext uri="{FF2B5EF4-FFF2-40B4-BE49-F238E27FC236}">
                <a16:creationId xmlns:a16="http://schemas.microsoft.com/office/drawing/2014/main" id="{DDE02F3C-8D05-3406-3842-5B3130A895E5}"/>
              </a:ext>
            </a:extLst>
          </p:cNvPr>
          <p:cNvSpPr>
            <a:spLocks noGrp="1"/>
          </p:cNvSpPr>
          <p:nvPr>
            <p:ph type="body" idx="17"/>
          </p:nvPr>
        </p:nvSpPr>
        <p:spPr>
          <a:xfrm>
            <a:off x="6110596" y="2520473"/>
            <a:ext cx="2138764" cy="1940401"/>
          </a:xfrm>
        </p:spPr>
        <p:txBody>
          <a:bodyPr/>
          <a:lstStyle>
            <a:lvl1pPr marL="0" indent="0">
              <a:buNone/>
              <a:defRPr sz="1800" b="1">
                <a:solidFill>
                  <a:schemeClr val="tx1"/>
                </a:solidFill>
              </a:defRPr>
            </a:lvl1pPr>
            <a:lvl2pPr marL="0" indent="0">
              <a:spcBef>
                <a:spcPts val="1800"/>
              </a:spcBef>
              <a:buNone/>
              <a:defRPr>
                <a:solidFill>
                  <a:schemeClr val="tx1"/>
                </a:solidFill>
              </a:defRPr>
            </a:lvl2pPr>
            <a:lvl3pPr marL="171450" indent="-171450">
              <a:spcBef>
                <a:spcPts val="1200"/>
              </a:spcBef>
              <a:buNone/>
              <a:defRPr>
                <a:solidFill>
                  <a:schemeClr val="tx1"/>
                </a:solidFill>
              </a:defRPr>
            </a:lvl3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tatement Dark Blue">
    <p:bg>
      <p:bgPr>
        <a:solidFill>
          <a:schemeClr val="tx1"/>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4831073-9DDE-4DD8-8F6D-0B29E27032FB}"/>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1EE2CC45-FC26-4AEA-B33B-9336AA99FD5A}"/>
              </a:ext>
            </a:extLst>
          </p:cNvPr>
          <p:cNvSpPr>
            <a:spLocks noGrp="1"/>
          </p:cNvSpPr>
          <p:nvPr>
            <p:ph type="ftr" idx="11"/>
          </p:nvPr>
        </p:nvSpPr>
        <p:spPr/>
        <p:txBody>
          <a:bodyPr/>
          <a:lstStyle>
            <a:lvl1pPr>
              <a:buNone/>
              <a:defRPr>
                <a:solidFill>
                  <a:schemeClr val="bg1"/>
                </a:solidFill>
              </a:defRPr>
            </a:lvl1pPr>
          </a:lstStyle>
          <a:p>
            <a:endParaRPr/>
          </a:p>
        </p:txBody>
      </p:sp>
      <p:sp>
        <p:nvSpPr>
          <p:cNvPr id="7" name="Slide Number Placeholder 6">
            <a:extLst>
              <a:ext uri="{FF2B5EF4-FFF2-40B4-BE49-F238E27FC236}">
                <a16:creationId xmlns:a16="http://schemas.microsoft.com/office/drawing/2014/main" id="{0F25C65E-DD7B-43F1-A6E0-5E36ABE3C68A}"/>
              </a:ext>
            </a:extLst>
          </p:cNvPr>
          <p:cNvSpPr>
            <a:spLocks noGrp="1"/>
          </p:cNvSpPr>
          <p:nvPr>
            <p:ph type="sldNum" idx="12"/>
          </p:nvPr>
        </p:nvSpPr>
        <p:spPr/>
        <p:txBody>
          <a:bodyPr/>
          <a:lstStyle>
            <a:lvl1pPr>
              <a:buNone/>
              <a:defRPr>
                <a:solidFill>
                  <a:schemeClr val="bg1"/>
                </a:solidFill>
              </a:defRPr>
            </a:lvl1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684714" y="833007"/>
            <a:ext cx="3732894" cy="1858918"/>
          </a:xfrm>
        </p:spPr>
        <p:txBody>
          <a:bodyPr/>
          <a:lstStyle>
            <a:lvl1pPr marL="0" indent="0">
              <a:buNone/>
              <a:defRPr sz="2000">
                <a:solidFill>
                  <a:schemeClr val="bg1"/>
                </a:solidFill>
              </a:defRPr>
            </a:lvl1pPr>
            <a:lvl2pPr>
              <a:buNone/>
              <a:defRPr>
                <a:solidFill>
                  <a:schemeClr val="bg1"/>
                </a:solidFill>
              </a:defRPr>
            </a:lvl2pPr>
          </a:lstStyle>
          <a:p>
            <a:endParaRPr/>
          </a:p>
        </p:txBody>
      </p:sp>
      <p:sp>
        <p:nvSpPr>
          <p:cNvPr id="8" name="Title 1">
            <a:extLst>
              <a:ext uri="{FF2B5EF4-FFF2-40B4-BE49-F238E27FC236}">
                <a16:creationId xmlns:a16="http://schemas.microsoft.com/office/drawing/2014/main" id="{B328F577-4841-9649-336F-3AB9DFB7BDEA}"/>
              </a:ext>
            </a:extLst>
          </p:cNvPr>
          <p:cNvSpPr>
            <a:spLocks noGrp="1"/>
          </p:cNvSpPr>
          <p:nvPr>
            <p:ph type="title"/>
          </p:nvPr>
        </p:nvSpPr>
        <p:spPr>
          <a:xfrm>
            <a:off x="419100" y="756093"/>
            <a:ext cx="3846513" cy="3704782"/>
          </a:xfrm>
        </p:spPr>
        <p:txBody>
          <a:bodyPr anchor="t"/>
          <a:lstStyle>
            <a:lvl1pPr>
              <a:lnSpc>
                <a:spcPct val="100000"/>
              </a:lnSpc>
              <a:buNone/>
              <a:defRPr sz="3600">
                <a:solidFill>
                  <a:schemeClr val="bg1"/>
                </a:solidFill>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Image Left_Text Right">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5C2CF63-0F81-6216-7BFD-B0FB6E3D6918}"/>
              </a:ext>
            </a:extLst>
          </p:cNvPr>
          <p:cNvSpPr>
            <a:spLocks noGrp="1"/>
          </p:cNvSpPr>
          <p:nvPr>
            <p:ph type="pic" idx="16"/>
          </p:nvPr>
        </p:nvSpPr>
        <p:spPr>
          <a:xfrm>
            <a:off x="422150" y="390524"/>
            <a:ext cx="4040187" cy="4070351"/>
          </a:xfrm>
          <a:prstGeom prst="rect">
            <a:avLst/>
          </a:prstGeom>
          <a:solidFill>
            <a:schemeClr val="bg2">
              <a:lumMod val="85000"/>
            </a:schemeClr>
          </a:solidFill>
        </p:spPr>
        <p:txBody>
          <a:bodyPr tIns="914400"/>
          <a:lstStyle>
            <a:lvl1pPr marL="0" indent="0" algn="ctr">
              <a:buNone/>
              <a:defRPr/>
            </a:lvl1pPr>
          </a:lstStyle>
          <a:p>
            <a:endParaRPr/>
          </a:p>
        </p:txBody>
      </p:sp>
      <p:sp>
        <p:nvSpPr>
          <p:cNvPr id="2" name="Title 1">
            <a:extLst>
              <a:ext uri="{FF2B5EF4-FFF2-40B4-BE49-F238E27FC236}">
                <a16:creationId xmlns:a16="http://schemas.microsoft.com/office/drawing/2014/main" id="{F31BCC2F-D643-49CF-97EE-9D04F352A0CA}"/>
              </a:ext>
            </a:extLst>
          </p:cNvPr>
          <p:cNvSpPr>
            <a:spLocks noGrp="1"/>
          </p:cNvSpPr>
          <p:nvPr>
            <p:ph type="title"/>
          </p:nvPr>
        </p:nvSpPr>
        <p:spPr>
          <a:xfrm>
            <a:off x="4685652" y="393106"/>
            <a:ext cx="4039248" cy="730353"/>
          </a:xfrm>
        </p:spPr>
        <p:txBody>
          <a:bodyPr/>
          <a:lstStyle/>
          <a:p>
            <a:endParaRPr/>
          </a:p>
        </p:txBody>
      </p:sp>
      <p:sp>
        <p:nvSpPr>
          <p:cNvPr id="5" name="Date Placeholder 4">
            <a:extLst>
              <a:ext uri="{FF2B5EF4-FFF2-40B4-BE49-F238E27FC236}">
                <a16:creationId xmlns:a16="http://schemas.microsoft.com/office/drawing/2014/main" id="{3758B7CF-8C93-4E19-8D9D-4C78E79B2951}"/>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C6D274E5-442E-4AB5-AD2D-3DA2E0AF1A0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1EEF604-5D6A-4A9C-8281-D62EDB06B1F7}"/>
              </a:ext>
            </a:extLst>
          </p:cNvPr>
          <p:cNvSpPr>
            <a:spLocks noGrp="1"/>
          </p:cNvSpPr>
          <p:nvPr>
            <p:ph type="sldNum" idx="12"/>
          </p:nvPr>
        </p:nvSpPr>
        <p:spPr/>
        <p:txBody>
          <a:bodyPr/>
          <a:lstStyle/>
          <a:p>
            <a:endParaRPr/>
          </a:p>
        </p:txBody>
      </p:sp>
      <p:sp>
        <p:nvSpPr>
          <p:cNvPr id="12" name="Text Placeholder 7">
            <a:extLst>
              <a:ext uri="{FF2B5EF4-FFF2-40B4-BE49-F238E27FC236}">
                <a16:creationId xmlns:a16="http://schemas.microsoft.com/office/drawing/2014/main" id="{E95D2886-2BFA-C21B-D72F-4ECA74442F74}"/>
              </a:ext>
            </a:extLst>
          </p:cNvPr>
          <p:cNvSpPr>
            <a:spLocks noGrp="1"/>
          </p:cNvSpPr>
          <p:nvPr>
            <p:ph type="body" idx="14"/>
          </p:nvPr>
        </p:nvSpPr>
        <p:spPr>
          <a:xfrm>
            <a:off x="4685652" y="1266937"/>
            <a:ext cx="4041648" cy="409278"/>
          </a:xfrm>
        </p:spPr>
        <p:txBody>
          <a:bodyPr/>
          <a:lstStyle>
            <a:lvl1pPr marL="0" indent="0">
              <a:buNone/>
              <a:defRPr sz="2000" b="1">
                <a:solidFill>
                  <a:schemeClr val="accent2"/>
                </a:solidFill>
              </a:defRPr>
            </a:lvl1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685651" y="1676215"/>
            <a:ext cx="4039249" cy="2784659"/>
          </a:xfrm>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tatement Coral">
    <p:bg>
      <p:bgPr>
        <a:solidFill>
          <a:schemeClr val="accent5"/>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4C96F62-D3C3-4F60-8F5A-ACC673B0EFEB}"/>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629E9563-34AE-4D60-86FD-03351A2A1345}"/>
              </a:ext>
            </a:extLst>
          </p:cNvPr>
          <p:cNvSpPr>
            <a:spLocks noGrp="1"/>
          </p:cNvSpPr>
          <p:nvPr>
            <p:ph type="ftr" idx="11"/>
          </p:nvPr>
        </p:nvSpPr>
        <p:spPr/>
        <p:txBody>
          <a:bodyPr/>
          <a:lstStyle>
            <a:lvl1pPr>
              <a:buNone/>
              <a:defRPr>
                <a:solidFill>
                  <a:schemeClr val="tx1"/>
                </a:solidFill>
              </a:defRPr>
            </a:lvl1pPr>
          </a:lstStyle>
          <a:p>
            <a:endParaRPr/>
          </a:p>
        </p:txBody>
      </p:sp>
      <p:sp>
        <p:nvSpPr>
          <p:cNvPr id="7" name="Slide Number Placeholder 6">
            <a:extLst>
              <a:ext uri="{FF2B5EF4-FFF2-40B4-BE49-F238E27FC236}">
                <a16:creationId xmlns:a16="http://schemas.microsoft.com/office/drawing/2014/main" id="{80C3A989-97D1-44BA-AC36-4DE36BF80C2D}"/>
              </a:ext>
            </a:extLst>
          </p:cNvPr>
          <p:cNvSpPr>
            <a:spLocks noGrp="1"/>
          </p:cNvSpPr>
          <p:nvPr>
            <p:ph type="sldNum" idx="12"/>
          </p:nvPr>
        </p:nvSpPr>
        <p:spPr/>
        <p:txBody>
          <a:bodyPr/>
          <a:lstStyle>
            <a:lvl1pPr>
              <a:buNone/>
              <a:defRPr>
                <a:solidFill>
                  <a:schemeClr val="tx1"/>
                </a:solidFill>
              </a:defRPr>
            </a:lvl1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684714" y="833007"/>
            <a:ext cx="3732894" cy="1858918"/>
          </a:xfrm>
        </p:spPr>
        <p:txBody>
          <a:bodyPr/>
          <a:lstStyle>
            <a:lvl1pPr marL="0" indent="0">
              <a:buNone/>
              <a:defRPr sz="2000">
                <a:solidFill>
                  <a:schemeClr val="accent1"/>
                </a:solidFill>
              </a:defRPr>
            </a:lvl1pPr>
            <a:lvl2pPr>
              <a:buNone/>
              <a:defRPr>
                <a:solidFill>
                  <a:schemeClr val="bg1"/>
                </a:solidFill>
              </a:defRPr>
            </a:lvl2pPr>
          </a:lstStyle>
          <a:p>
            <a:endParaRPr/>
          </a:p>
        </p:txBody>
      </p:sp>
      <p:sp>
        <p:nvSpPr>
          <p:cNvPr id="8" name="Title 1">
            <a:extLst>
              <a:ext uri="{FF2B5EF4-FFF2-40B4-BE49-F238E27FC236}">
                <a16:creationId xmlns:a16="http://schemas.microsoft.com/office/drawing/2014/main" id="{B328F577-4841-9649-336F-3AB9DFB7BDEA}"/>
              </a:ext>
            </a:extLst>
          </p:cNvPr>
          <p:cNvSpPr>
            <a:spLocks noGrp="1"/>
          </p:cNvSpPr>
          <p:nvPr>
            <p:ph type="title"/>
          </p:nvPr>
        </p:nvSpPr>
        <p:spPr>
          <a:xfrm>
            <a:off x="419100" y="756093"/>
            <a:ext cx="3846513" cy="3704782"/>
          </a:xfrm>
        </p:spPr>
        <p:txBody>
          <a:bodyPr anchor="t"/>
          <a:lstStyle>
            <a:lvl1pPr>
              <a:lnSpc>
                <a:spcPct val="100000"/>
              </a:lnSpc>
              <a:buNone/>
              <a:defRPr sz="3600">
                <a:solidFill>
                  <a:schemeClr val="bg1"/>
                </a:solidFill>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ext Left_Image Righ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C8E1D-BE14-456D-A29B-A97A2FD36E7D}"/>
              </a:ext>
            </a:extLst>
          </p:cNvPr>
          <p:cNvSpPr>
            <a:spLocks noGrp="1"/>
          </p:cNvSpPr>
          <p:nvPr>
            <p:ph type="title"/>
          </p:nvPr>
        </p:nvSpPr>
        <p:spPr>
          <a:xfrm>
            <a:off x="419099" y="393106"/>
            <a:ext cx="4039248" cy="730353"/>
          </a:xfrm>
        </p:spPr>
        <p:txBody>
          <a:bodyPr/>
          <a:lstStyle/>
          <a:p>
            <a:endParaRPr/>
          </a:p>
        </p:txBody>
      </p:sp>
      <p:sp>
        <p:nvSpPr>
          <p:cNvPr id="5" name="Date Placeholder 4">
            <a:extLst>
              <a:ext uri="{FF2B5EF4-FFF2-40B4-BE49-F238E27FC236}">
                <a16:creationId xmlns:a16="http://schemas.microsoft.com/office/drawing/2014/main" id="{6FDA5C6A-D191-47CE-A0D3-ED208655018E}"/>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896C4423-7C2D-4B6D-9F3C-EB59D29BA40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C95999B-A1F0-4936-8C91-1FF9E5DAA4DA}"/>
              </a:ext>
            </a:extLst>
          </p:cNvPr>
          <p:cNvSpPr>
            <a:spLocks noGrp="1"/>
          </p:cNvSpPr>
          <p:nvPr>
            <p:ph type="sldNum" idx="12"/>
          </p:nvPr>
        </p:nvSpPr>
        <p:spPr/>
        <p:txBody>
          <a:bodyPr/>
          <a:lstStyle/>
          <a:p>
            <a:endParaRPr/>
          </a:p>
        </p:txBody>
      </p:sp>
      <p:sp>
        <p:nvSpPr>
          <p:cNvPr id="12" name="Text Placeholder 7">
            <a:extLst>
              <a:ext uri="{FF2B5EF4-FFF2-40B4-BE49-F238E27FC236}">
                <a16:creationId xmlns:a16="http://schemas.microsoft.com/office/drawing/2014/main" id="{E95D2886-2BFA-C21B-D72F-4ECA74442F74}"/>
              </a:ext>
            </a:extLst>
          </p:cNvPr>
          <p:cNvSpPr>
            <a:spLocks noGrp="1"/>
          </p:cNvSpPr>
          <p:nvPr>
            <p:ph type="body" idx="14"/>
          </p:nvPr>
        </p:nvSpPr>
        <p:spPr>
          <a:xfrm>
            <a:off x="430213" y="1266937"/>
            <a:ext cx="4041648" cy="409278"/>
          </a:xfrm>
        </p:spPr>
        <p:txBody>
          <a:bodyPr/>
          <a:lstStyle>
            <a:lvl1pPr marL="0" indent="0">
              <a:buNone/>
              <a:defRPr sz="2000" b="1">
                <a:solidFill>
                  <a:schemeClr val="accent2"/>
                </a:solidFill>
              </a:defRPr>
            </a:lvl1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8" y="1676215"/>
            <a:ext cx="4039249" cy="2784659"/>
          </a:xfrm>
        </p:spPr>
        <p:txBody>
          <a:bodyPr/>
          <a:lstStyle/>
          <a:p>
            <a:endParaRPr/>
          </a:p>
        </p:txBody>
      </p:sp>
      <p:sp>
        <p:nvSpPr>
          <p:cNvPr id="9" name="Picture Placeholder 8">
            <a:extLst>
              <a:ext uri="{FF2B5EF4-FFF2-40B4-BE49-F238E27FC236}">
                <a16:creationId xmlns:a16="http://schemas.microsoft.com/office/drawing/2014/main" id="{15C2CF63-0F81-6216-7BFD-B0FB6E3D6918}"/>
              </a:ext>
            </a:extLst>
          </p:cNvPr>
          <p:cNvSpPr>
            <a:spLocks noGrp="1"/>
          </p:cNvSpPr>
          <p:nvPr>
            <p:ph type="pic" idx="16"/>
          </p:nvPr>
        </p:nvSpPr>
        <p:spPr>
          <a:xfrm>
            <a:off x="4684713" y="390524"/>
            <a:ext cx="4040187" cy="4070351"/>
          </a:xfrm>
          <a:prstGeom prst="rect">
            <a:avLst/>
          </a:prstGeom>
          <a:solidFill>
            <a:schemeClr val="bg2">
              <a:lumMod val="85000"/>
            </a:schemeClr>
          </a:solidFill>
        </p:spPr>
        <p:txBody>
          <a:bodyPr tIns="914400"/>
          <a:lstStyle>
            <a:lvl1pPr marL="0" indent="0" algn="ctr">
              <a:buNone/>
              <a:defRPr/>
            </a:lvl1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6B2D7-A7C5-E04B-559B-CD89EFC1C2F6}"/>
              </a:ext>
            </a:extLst>
          </p:cNvPr>
          <p:cNvSpPr>
            <a:spLocks noGrp="1"/>
          </p:cNvSpPr>
          <p:nvPr>
            <p:ph type="title"/>
          </p:nvPr>
        </p:nvSpPr>
        <p:spPr>
          <a:xfrm>
            <a:off x="419098" y="393106"/>
            <a:ext cx="8305801" cy="730353"/>
          </a:xfrm>
        </p:spPr>
        <p:txBody>
          <a:bodyPr anchor="t"/>
          <a:lstStyle/>
          <a:p>
            <a:endParaRPr/>
          </a:p>
        </p:txBody>
      </p:sp>
      <p:sp>
        <p:nvSpPr>
          <p:cNvPr id="5" name="Date Placeholder 4">
            <a:extLst>
              <a:ext uri="{FF2B5EF4-FFF2-40B4-BE49-F238E27FC236}">
                <a16:creationId xmlns:a16="http://schemas.microsoft.com/office/drawing/2014/main" id="{139C2D18-6293-B1CC-9520-5D129ECF51B6}"/>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5F0085BA-A8E8-AD04-F15B-4C73A723208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71B2DAA-362B-4AE3-646B-5445FB140388}"/>
              </a:ext>
            </a:extLst>
          </p:cNvPr>
          <p:cNvSpPr>
            <a:spLocks noGrp="1"/>
          </p:cNvSpPr>
          <p:nvPr>
            <p:ph type="sldNum" idx="12"/>
          </p:nvPr>
        </p:nvSpPr>
        <p:spPr/>
        <p:txBody>
          <a:bodyPr/>
          <a:lstStyle/>
          <a:p>
            <a:endParaRPr/>
          </a:p>
        </p:txBody>
      </p:sp>
      <p:sp>
        <p:nvSpPr>
          <p:cNvPr id="8" name="Text Placeholder 7">
            <a:extLst>
              <a:ext uri="{FF2B5EF4-FFF2-40B4-BE49-F238E27FC236}">
                <a16:creationId xmlns:a16="http://schemas.microsoft.com/office/drawing/2014/main" id="{09101A72-F511-75EC-76D5-2E936D99EC0F}"/>
              </a:ext>
            </a:extLst>
          </p:cNvPr>
          <p:cNvSpPr>
            <a:spLocks noGrp="1"/>
          </p:cNvSpPr>
          <p:nvPr>
            <p:ph type="body" idx="14"/>
          </p:nvPr>
        </p:nvSpPr>
        <p:spPr>
          <a:xfrm>
            <a:off x="430213" y="1266937"/>
            <a:ext cx="5486400" cy="409942"/>
          </a:xfrm>
        </p:spPr>
        <p:txBody>
          <a:bodyPr/>
          <a:lstStyle>
            <a:lvl1pPr marL="0" indent="0">
              <a:buNone/>
              <a:defRPr sz="2000" b="1">
                <a:solidFill>
                  <a:schemeClr val="accent2"/>
                </a:solidFill>
              </a:defRPr>
            </a:lvl1pPr>
          </a:lstStyle>
          <a:p>
            <a:endParaRPr/>
          </a:p>
        </p:txBody>
      </p:sp>
      <p:sp>
        <p:nvSpPr>
          <p:cNvPr id="9" name="Content Placeholder 2">
            <a:extLst>
              <a:ext uri="{FF2B5EF4-FFF2-40B4-BE49-F238E27FC236}">
                <a16:creationId xmlns:a16="http://schemas.microsoft.com/office/drawing/2014/main" id="{0360B904-C450-B2E9-A6CE-57A860B5359F}"/>
              </a:ext>
            </a:extLst>
          </p:cNvPr>
          <p:cNvSpPr>
            <a:spLocks noGrp="1"/>
          </p:cNvSpPr>
          <p:nvPr>
            <p:ph idx="1"/>
          </p:nvPr>
        </p:nvSpPr>
        <p:spPr>
          <a:xfrm>
            <a:off x="420650" y="1676879"/>
            <a:ext cx="4051501" cy="2783996"/>
          </a:xfrm>
        </p:spPr>
        <p:txBody>
          <a:bodyPr/>
          <a:lstStyle>
            <a:lvl1pPr marL="171450" indent="-171450">
              <a:buChar char="•"/>
              <a:defRPr b="0">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endParaRPr/>
          </a:p>
        </p:txBody>
      </p:sp>
      <p:sp>
        <p:nvSpPr>
          <p:cNvPr id="10" name="Content Placeholder 2">
            <a:extLst>
              <a:ext uri="{FF2B5EF4-FFF2-40B4-BE49-F238E27FC236}">
                <a16:creationId xmlns:a16="http://schemas.microsoft.com/office/drawing/2014/main" id="{A5F8D2A5-E174-5E97-4E01-7E5DC474CC5C}"/>
              </a:ext>
            </a:extLst>
          </p:cNvPr>
          <p:cNvSpPr>
            <a:spLocks noGrp="1"/>
          </p:cNvSpPr>
          <p:nvPr>
            <p:ph idx="15"/>
          </p:nvPr>
        </p:nvSpPr>
        <p:spPr>
          <a:xfrm>
            <a:off x="4678652" y="1676879"/>
            <a:ext cx="4051501" cy="2783996"/>
          </a:xfrm>
        </p:spPr>
        <p:txBody>
          <a:bodyPr/>
          <a:lstStyle>
            <a:lvl1pPr marL="171450" indent="-171450">
              <a:buChar char="•"/>
              <a:defRPr b="0">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tatement Slid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A3A48-6C38-4E9D-9380-D48E59A13F44}"/>
              </a:ext>
            </a:extLst>
          </p:cNvPr>
          <p:cNvSpPr>
            <a:spLocks noGrp="1"/>
          </p:cNvSpPr>
          <p:nvPr>
            <p:ph type="title"/>
          </p:nvPr>
        </p:nvSpPr>
        <p:spPr>
          <a:xfrm>
            <a:off x="419100" y="699389"/>
            <a:ext cx="4504056" cy="2639453"/>
          </a:xfrm>
        </p:spPr>
        <p:txBody>
          <a:bodyPr anchor="t"/>
          <a:lstStyle>
            <a:lvl1pPr>
              <a:lnSpc>
                <a:spcPct val="100000"/>
              </a:lnSpc>
              <a:buNone/>
              <a:defRPr sz="4400">
                <a:solidFill>
                  <a:schemeClr val="bg1"/>
                </a:solidFill>
              </a:defRPr>
            </a:lvl1pPr>
          </a:lstStyle>
          <a:p>
            <a:endParaRPr/>
          </a:p>
        </p:txBody>
      </p:sp>
      <p:sp>
        <p:nvSpPr>
          <p:cNvPr id="4" name="Date Placeholder 3">
            <a:extLst>
              <a:ext uri="{FF2B5EF4-FFF2-40B4-BE49-F238E27FC236}">
                <a16:creationId xmlns:a16="http://schemas.microsoft.com/office/drawing/2014/main" id="{F966327B-EAE1-491B-B413-2F52AF508A1F}"/>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8839307F-4B54-4D24-911B-26CFCB89DB9B}"/>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873014DF-58AB-4131-940E-442C69BFA622}"/>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and Content full width">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A84B9-6156-4066-82DA-4346F78B88D2}"/>
              </a:ext>
            </a:extLst>
          </p:cNvPr>
          <p:cNvSpPr>
            <a:spLocks noGrp="1"/>
          </p:cNvSpPr>
          <p:nvPr>
            <p:ph type="title"/>
          </p:nvPr>
        </p:nvSpPr>
        <p:spPr/>
        <p:txBody>
          <a:bodyPr anchor="t"/>
          <a:lstStyle/>
          <a:p>
            <a:endParaRPr/>
          </a:p>
        </p:txBody>
      </p:sp>
      <p:sp>
        <p:nvSpPr>
          <p:cNvPr id="3" name="Content Placeholder 2">
            <a:extLst>
              <a:ext uri="{FF2B5EF4-FFF2-40B4-BE49-F238E27FC236}">
                <a16:creationId xmlns:a16="http://schemas.microsoft.com/office/drawing/2014/main" id="{400D1CA2-1571-4A25-9B69-F7E9CDF6AE9C}"/>
              </a:ext>
            </a:extLst>
          </p:cNvPr>
          <p:cNvSpPr>
            <a:spLocks noGrp="1"/>
          </p:cNvSpPr>
          <p:nvPr>
            <p:ph idx="1"/>
          </p:nvPr>
        </p:nvSpPr>
        <p:spPr>
          <a:xfrm>
            <a:off x="420651" y="1676879"/>
            <a:ext cx="8315362" cy="2783996"/>
          </a:xfrm>
        </p:spPr>
        <p:txBody>
          <a:bodyPr/>
          <a:lstStyle>
            <a:lvl1pPr marL="171450" indent="-171450">
              <a:buChar char="•"/>
              <a:defRPr b="0">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endParaRPr/>
          </a:p>
        </p:txBody>
      </p:sp>
      <p:sp>
        <p:nvSpPr>
          <p:cNvPr id="4" name="Date Placeholder 3">
            <a:extLst>
              <a:ext uri="{FF2B5EF4-FFF2-40B4-BE49-F238E27FC236}">
                <a16:creationId xmlns:a16="http://schemas.microsoft.com/office/drawing/2014/main" id="{A34BDCF7-5D25-4282-A7CC-2A9A700990F0}"/>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35565EFD-F33F-48E1-B3EF-BA305FC512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83E4D5F-28F3-4568-8520-2A57F167DE73}"/>
              </a:ext>
            </a:extLst>
          </p:cNvPr>
          <p:cNvSpPr>
            <a:spLocks noGrp="1"/>
          </p:cNvSpPr>
          <p:nvPr>
            <p:ph type="sldNum" idx="12"/>
          </p:nvPr>
        </p:nvSpPr>
        <p:spPr/>
        <p:txBody>
          <a:bodyPr/>
          <a:lstStyle/>
          <a:p>
            <a:endParaRPr/>
          </a:p>
        </p:txBody>
      </p:sp>
      <p:sp>
        <p:nvSpPr>
          <p:cNvPr id="8" name="Text Placeholder 7">
            <a:extLst>
              <a:ext uri="{FF2B5EF4-FFF2-40B4-BE49-F238E27FC236}">
                <a16:creationId xmlns:a16="http://schemas.microsoft.com/office/drawing/2014/main" id="{CD58A102-113C-AD29-0E56-CB6BA465845D}"/>
              </a:ext>
            </a:extLst>
          </p:cNvPr>
          <p:cNvSpPr>
            <a:spLocks noGrp="1"/>
          </p:cNvSpPr>
          <p:nvPr>
            <p:ph type="body" idx="13"/>
          </p:nvPr>
        </p:nvSpPr>
        <p:spPr>
          <a:xfrm>
            <a:off x="430213" y="1266937"/>
            <a:ext cx="8305800" cy="409942"/>
          </a:xfrm>
        </p:spPr>
        <p:txBody>
          <a:bodyPr/>
          <a:lstStyle>
            <a:lvl1pPr marL="0" indent="0">
              <a:buNone/>
              <a:defRPr sz="2000" b="1">
                <a:solidFill>
                  <a:schemeClr val="accent2"/>
                </a:solidFill>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ection Hea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4FFA3D40-8460-D40A-1ED2-D62418FA8278}"/>
              </a:ext>
            </a:extLst>
          </p:cNvPr>
          <p:cNvSpPr>
            <a:spLocks noGrp="1"/>
          </p:cNvSpPr>
          <p:nvPr>
            <p:ph type="pic" idx="13"/>
          </p:nvPr>
        </p:nvSpPr>
        <p:spPr>
          <a:xfrm>
            <a:off x="4572000" y="0"/>
            <a:ext cx="4572000" cy="5143500"/>
          </a:xfrm>
          <a:prstGeom prst="rect">
            <a:avLst/>
          </a:prstGeom>
          <a:solidFill>
            <a:schemeClr val="bg2">
              <a:lumMod val="85000"/>
            </a:schemeClr>
          </a:solidFill>
        </p:spPr>
        <p:txBody>
          <a:bodyPr tIns="365760"/>
          <a:lstStyle>
            <a:lvl1pPr marL="0" indent="0" algn="ctr">
              <a:buNone/>
              <a:defRPr/>
            </a:lvl1pPr>
          </a:lstStyle>
          <a:p>
            <a:endParaRPr/>
          </a:p>
        </p:txBody>
      </p:sp>
      <p:sp>
        <p:nvSpPr>
          <p:cNvPr id="2" name="Title 1">
            <a:extLst>
              <a:ext uri="{FF2B5EF4-FFF2-40B4-BE49-F238E27FC236}">
                <a16:creationId xmlns:a16="http://schemas.microsoft.com/office/drawing/2014/main" id="{D56D8639-02C8-4110-80DB-A84657C93B7F}"/>
              </a:ext>
            </a:extLst>
          </p:cNvPr>
          <p:cNvSpPr>
            <a:spLocks noGrp="1"/>
          </p:cNvSpPr>
          <p:nvPr>
            <p:ph type="title"/>
          </p:nvPr>
        </p:nvSpPr>
        <p:spPr>
          <a:xfrm>
            <a:off x="419100" y="734829"/>
            <a:ext cx="4007621" cy="2639453"/>
          </a:xfrm>
        </p:spPr>
        <p:txBody>
          <a:bodyPr anchor="t"/>
          <a:lstStyle>
            <a:lvl1pPr>
              <a:buNone/>
              <a:defRPr sz="5400">
                <a:solidFill>
                  <a:schemeClr val="bg1"/>
                </a:solidFill>
              </a:defRPr>
            </a:lvl1pPr>
          </a:lstStyle>
          <a:p>
            <a:endParaRPr/>
          </a:p>
        </p:txBody>
      </p:sp>
      <p:sp>
        <p:nvSpPr>
          <p:cNvPr id="3" name="Text Placeholder 2">
            <a:extLst>
              <a:ext uri="{FF2B5EF4-FFF2-40B4-BE49-F238E27FC236}">
                <a16:creationId xmlns:a16="http://schemas.microsoft.com/office/drawing/2014/main" id="{C8804DF8-9AB4-4C14-A747-A360BA5084C9}"/>
              </a:ext>
            </a:extLst>
          </p:cNvPr>
          <p:cNvSpPr>
            <a:spLocks noGrp="1"/>
          </p:cNvSpPr>
          <p:nvPr>
            <p:ph type="body" idx="1"/>
          </p:nvPr>
        </p:nvSpPr>
        <p:spPr>
          <a:xfrm>
            <a:off x="419100" y="3374282"/>
            <a:ext cx="4007621" cy="770428"/>
          </a:xfrm>
        </p:spPr>
        <p:txBody>
          <a:bodyPr/>
          <a:lstStyle>
            <a:lvl1pPr marL="0" indent="0">
              <a:buNone/>
              <a:defRPr sz="20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endParaRPr/>
          </a:p>
        </p:txBody>
      </p:sp>
      <p:sp>
        <p:nvSpPr>
          <p:cNvPr id="4" name="Date Placeholder 3">
            <a:extLst>
              <a:ext uri="{FF2B5EF4-FFF2-40B4-BE49-F238E27FC236}">
                <a16:creationId xmlns:a16="http://schemas.microsoft.com/office/drawing/2014/main" id="{329ED7DC-3B6E-4B4A-B622-BA0B9503A9A5}"/>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EF5B4523-942C-4B89-86EB-9E65ED6216C0}"/>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75E9BAE5-61DC-4F25-86F4-7185ABBE7CB1}"/>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ection Header 3">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4FFA3D40-8460-D40A-1ED2-D62418FA8278}"/>
              </a:ext>
            </a:extLst>
          </p:cNvPr>
          <p:cNvSpPr>
            <a:spLocks noGrp="1"/>
          </p:cNvSpPr>
          <p:nvPr>
            <p:ph type="pic" idx="13"/>
          </p:nvPr>
        </p:nvSpPr>
        <p:spPr>
          <a:xfrm>
            <a:off x="4572000" y="0"/>
            <a:ext cx="4572000" cy="5143500"/>
          </a:xfrm>
          <a:prstGeom prst="rect">
            <a:avLst/>
          </a:prstGeom>
          <a:solidFill>
            <a:schemeClr val="bg2">
              <a:lumMod val="85000"/>
            </a:schemeClr>
          </a:solidFill>
        </p:spPr>
        <p:txBody>
          <a:bodyPr tIns="365760"/>
          <a:lstStyle>
            <a:lvl1pPr marL="0" indent="0" algn="ctr">
              <a:buNone/>
              <a:defRPr/>
            </a:lvl1pPr>
          </a:lstStyle>
          <a:p>
            <a:endParaRPr/>
          </a:p>
        </p:txBody>
      </p:sp>
      <p:sp>
        <p:nvSpPr>
          <p:cNvPr id="2" name="Title 1">
            <a:extLst>
              <a:ext uri="{FF2B5EF4-FFF2-40B4-BE49-F238E27FC236}">
                <a16:creationId xmlns:a16="http://schemas.microsoft.com/office/drawing/2014/main" id="{58FAF49E-5D36-4A1E-BBFA-08AE253635AF}"/>
              </a:ext>
            </a:extLst>
          </p:cNvPr>
          <p:cNvSpPr>
            <a:spLocks noGrp="1"/>
          </p:cNvSpPr>
          <p:nvPr>
            <p:ph type="title"/>
          </p:nvPr>
        </p:nvSpPr>
        <p:spPr>
          <a:xfrm>
            <a:off x="419100" y="734829"/>
            <a:ext cx="4007621" cy="2639453"/>
          </a:xfrm>
        </p:spPr>
        <p:txBody>
          <a:bodyPr anchor="t"/>
          <a:lstStyle>
            <a:lvl1pPr>
              <a:buNone/>
              <a:defRPr sz="5400">
                <a:solidFill>
                  <a:schemeClr val="bg1"/>
                </a:solidFill>
              </a:defRPr>
            </a:lvl1pPr>
          </a:lstStyle>
          <a:p>
            <a:endParaRPr/>
          </a:p>
        </p:txBody>
      </p:sp>
      <p:sp>
        <p:nvSpPr>
          <p:cNvPr id="3" name="Text Placeholder 2">
            <a:extLst>
              <a:ext uri="{FF2B5EF4-FFF2-40B4-BE49-F238E27FC236}">
                <a16:creationId xmlns:a16="http://schemas.microsoft.com/office/drawing/2014/main" id="{89320DFD-DF13-4B45-8626-0E6ED2E5D5AD}"/>
              </a:ext>
            </a:extLst>
          </p:cNvPr>
          <p:cNvSpPr>
            <a:spLocks noGrp="1"/>
          </p:cNvSpPr>
          <p:nvPr>
            <p:ph type="body" idx="1"/>
          </p:nvPr>
        </p:nvSpPr>
        <p:spPr>
          <a:xfrm>
            <a:off x="419100" y="3374282"/>
            <a:ext cx="4007621" cy="770428"/>
          </a:xfrm>
        </p:spPr>
        <p:txBody>
          <a:bodyPr/>
          <a:lstStyle>
            <a:lvl1pPr marL="0" indent="0">
              <a:buNone/>
              <a:defRPr sz="20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endParaRPr/>
          </a:p>
        </p:txBody>
      </p:sp>
      <p:sp>
        <p:nvSpPr>
          <p:cNvPr id="4" name="Date Placeholder 3">
            <a:extLst>
              <a:ext uri="{FF2B5EF4-FFF2-40B4-BE49-F238E27FC236}">
                <a16:creationId xmlns:a16="http://schemas.microsoft.com/office/drawing/2014/main" id="{840C9943-687F-4C5E-BA7F-06F48E7F6027}"/>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B6374010-86AD-4383-A5F1-3BBB5DD6A1F0}"/>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D95F0173-B2D9-47F2-9EC2-6118AB295499}"/>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tatement Left_Wide Image Right">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08913E0-EA09-48AA-B3DC-5B44452D080F}"/>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8AFD1625-3DE1-4332-9B93-B45D89F914D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E02594C-7FBA-495E-9288-F90440F3A6EB}"/>
              </a:ext>
            </a:extLst>
          </p:cNvPr>
          <p:cNvSpPr>
            <a:spLocks noGrp="1"/>
          </p:cNvSpPr>
          <p:nvPr>
            <p:ph type="sldNum" idx="12"/>
          </p:nvPr>
        </p:nvSpPr>
        <p:spPr/>
        <p:txBody>
          <a:body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8" y="2105248"/>
            <a:ext cx="2543840" cy="2355628"/>
          </a:xfrm>
        </p:spPr>
        <p:txBody>
          <a:bodyPr/>
          <a:lstStyle>
            <a:lvl1pPr marL="0" indent="0">
              <a:lnSpc>
                <a:spcPct val="105000"/>
              </a:lnSpc>
              <a:buNone/>
              <a:defRPr/>
            </a:lvl1pPr>
            <a:lvl2pPr marL="0" indent="0">
              <a:buNone/>
              <a:defRPr sz="1600" u="sng">
                <a:solidFill>
                  <a:schemeClr val="tx1"/>
                </a:solidFill>
              </a:defRPr>
            </a:lvl2pPr>
          </a:lstStyle>
          <a:p>
            <a:endParaRPr/>
          </a:p>
        </p:txBody>
      </p:sp>
      <p:sp>
        <p:nvSpPr>
          <p:cNvPr id="9" name="Picture Placeholder 8">
            <a:extLst>
              <a:ext uri="{FF2B5EF4-FFF2-40B4-BE49-F238E27FC236}">
                <a16:creationId xmlns:a16="http://schemas.microsoft.com/office/drawing/2014/main" id="{15C2CF63-0F81-6216-7BFD-B0FB6E3D6918}"/>
              </a:ext>
            </a:extLst>
          </p:cNvPr>
          <p:cNvSpPr>
            <a:spLocks noGrp="1"/>
          </p:cNvSpPr>
          <p:nvPr>
            <p:ph type="pic" idx="16"/>
          </p:nvPr>
        </p:nvSpPr>
        <p:spPr>
          <a:xfrm>
            <a:off x="3260651" y="390524"/>
            <a:ext cx="5464249" cy="4070351"/>
          </a:xfrm>
          <a:prstGeom prst="rect">
            <a:avLst/>
          </a:prstGeom>
          <a:solidFill>
            <a:schemeClr val="bg2">
              <a:lumMod val="85000"/>
            </a:schemeClr>
          </a:solidFill>
        </p:spPr>
        <p:txBody>
          <a:bodyPr tIns="914400"/>
          <a:lstStyle>
            <a:lvl1pPr marL="0" indent="0" algn="ctr">
              <a:buNone/>
              <a:defRPr/>
            </a:lvl1pPr>
          </a:lstStyle>
          <a:p>
            <a:endParaRPr/>
          </a:p>
        </p:txBody>
      </p:sp>
      <p:sp>
        <p:nvSpPr>
          <p:cNvPr id="2" name="Title 1">
            <a:extLst>
              <a:ext uri="{FF2B5EF4-FFF2-40B4-BE49-F238E27FC236}">
                <a16:creationId xmlns:a16="http://schemas.microsoft.com/office/drawing/2014/main" id="{80170041-B313-4490-3EEE-D2CBF164833B}"/>
              </a:ext>
            </a:extLst>
          </p:cNvPr>
          <p:cNvSpPr>
            <a:spLocks noGrp="1"/>
          </p:cNvSpPr>
          <p:nvPr>
            <p:ph type="title"/>
          </p:nvPr>
        </p:nvSpPr>
        <p:spPr>
          <a:xfrm>
            <a:off x="419099" y="733235"/>
            <a:ext cx="2743200" cy="1201369"/>
          </a:xfrm>
        </p:spPr>
        <p:txBody>
          <a:bodyPr anchor="t"/>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tatement Left_Image Right">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028F91B-5A56-43E3-9175-D8329F3DBB7D}"/>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D2E11C13-F863-4CFD-9471-7F5085E2646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9ECE7EE-E6AB-4E05-B27E-7BE2C692C6A7}"/>
              </a:ext>
            </a:extLst>
          </p:cNvPr>
          <p:cNvSpPr>
            <a:spLocks noGrp="1"/>
          </p:cNvSpPr>
          <p:nvPr>
            <p:ph type="sldNum" idx="12"/>
          </p:nvPr>
        </p:nvSpPr>
        <p:spPr/>
        <p:txBody>
          <a:body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8" y="3186038"/>
            <a:ext cx="3846515" cy="1274837"/>
          </a:xfrm>
        </p:spPr>
        <p:txBody>
          <a:bodyPr/>
          <a:lstStyle>
            <a:lvl1pPr marL="0" indent="0">
              <a:buNone/>
              <a:defRPr/>
            </a:lvl1pPr>
          </a:lstStyle>
          <a:p>
            <a:endParaRPr/>
          </a:p>
        </p:txBody>
      </p:sp>
      <p:sp>
        <p:nvSpPr>
          <p:cNvPr id="9" name="Picture Placeholder 8">
            <a:extLst>
              <a:ext uri="{FF2B5EF4-FFF2-40B4-BE49-F238E27FC236}">
                <a16:creationId xmlns:a16="http://schemas.microsoft.com/office/drawing/2014/main" id="{15C2CF63-0F81-6216-7BFD-B0FB6E3D6918}"/>
              </a:ext>
            </a:extLst>
          </p:cNvPr>
          <p:cNvSpPr>
            <a:spLocks noGrp="1"/>
          </p:cNvSpPr>
          <p:nvPr>
            <p:ph type="pic" idx="16"/>
          </p:nvPr>
        </p:nvSpPr>
        <p:spPr>
          <a:xfrm>
            <a:off x="4684713" y="390524"/>
            <a:ext cx="4040187" cy="4070351"/>
          </a:xfrm>
          <a:prstGeom prst="rect">
            <a:avLst/>
          </a:prstGeom>
          <a:solidFill>
            <a:schemeClr val="bg2">
              <a:lumMod val="85000"/>
            </a:schemeClr>
          </a:solidFill>
        </p:spPr>
        <p:txBody>
          <a:bodyPr tIns="914400"/>
          <a:lstStyle>
            <a:lvl1pPr marL="0" indent="0" algn="ctr">
              <a:buNone/>
              <a:defRPr/>
            </a:lvl1pPr>
          </a:lstStyle>
          <a:p>
            <a:endParaRPr/>
          </a:p>
        </p:txBody>
      </p:sp>
      <p:sp>
        <p:nvSpPr>
          <p:cNvPr id="8" name="Title 1">
            <a:extLst>
              <a:ext uri="{FF2B5EF4-FFF2-40B4-BE49-F238E27FC236}">
                <a16:creationId xmlns:a16="http://schemas.microsoft.com/office/drawing/2014/main" id="{B328F577-4841-9649-336F-3AB9DFB7BDEA}"/>
              </a:ext>
            </a:extLst>
          </p:cNvPr>
          <p:cNvSpPr>
            <a:spLocks noGrp="1"/>
          </p:cNvSpPr>
          <p:nvPr>
            <p:ph type="title"/>
          </p:nvPr>
        </p:nvSpPr>
        <p:spPr>
          <a:xfrm>
            <a:off x="419100" y="756093"/>
            <a:ext cx="3846513" cy="2142471"/>
          </a:xfrm>
        </p:spPr>
        <p:txBody>
          <a:bodyPr anchor="t"/>
          <a:lstStyle>
            <a:lvl1pPr>
              <a:lnSpc>
                <a:spcPct val="100000"/>
              </a:lnSpc>
              <a:buNone/>
              <a:defRPr sz="3200">
                <a:solidFill>
                  <a:schemeClr val="tx1"/>
                </a:solidFill>
              </a:defRPr>
            </a:lvl1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tatement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800-5BEB-4042-802D-C7BCC782B346}"/>
              </a:ext>
            </a:extLst>
          </p:cNvPr>
          <p:cNvSpPr>
            <a:spLocks noGrp="1"/>
          </p:cNvSpPr>
          <p:nvPr>
            <p:ph type="title"/>
          </p:nvPr>
        </p:nvSpPr>
        <p:spPr>
          <a:xfrm>
            <a:off x="419100" y="699389"/>
            <a:ext cx="4504056" cy="2639453"/>
          </a:xfrm>
        </p:spPr>
        <p:txBody>
          <a:bodyPr anchor="t"/>
          <a:lstStyle>
            <a:lvl1pPr>
              <a:lnSpc>
                <a:spcPct val="100000"/>
              </a:lnSpc>
              <a:buNone/>
              <a:defRPr sz="4400">
                <a:solidFill>
                  <a:schemeClr val="bg1"/>
                </a:solidFill>
              </a:defRPr>
            </a:lvl1pPr>
          </a:lstStyle>
          <a:p>
            <a:endParaRPr/>
          </a:p>
        </p:txBody>
      </p:sp>
      <p:sp>
        <p:nvSpPr>
          <p:cNvPr id="4" name="Date Placeholder 3">
            <a:extLst>
              <a:ext uri="{FF2B5EF4-FFF2-40B4-BE49-F238E27FC236}">
                <a16:creationId xmlns:a16="http://schemas.microsoft.com/office/drawing/2014/main" id="{3C1286BF-809B-4B12-BBE7-6AD36733FB70}"/>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A64E4724-104B-4C2B-96C6-52278BD950F8}"/>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A32C44A2-DB87-4440-A834-DECB948DC6C1}"/>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188B0-58F1-41BF-9579-EF20E37A9CF7}"/>
              </a:ext>
            </a:extLst>
          </p:cNvPr>
          <p:cNvSpPr>
            <a:spLocks noGrp="1"/>
          </p:cNvSpPr>
          <p:nvPr>
            <p:ph type="ctrTitle"/>
          </p:nvPr>
        </p:nvSpPr>
        <p:spPr>
          <a:xfrm>
            <a:off x="430212" y="1491239"/>
            <a:ext cx="4080828" cy="1241823"/>
          </a:xfrm>
        </p:spPr>
        <p:txBody>
          <a:bodyPr anchor="b"/>
          <a:lstStyle>
            <a:lvl1pPr algn="l">
              <a:lnSpc>
                <a:spcPct val="100000"/>
              </a:lnSpc>
              <a:buNone/>
              <a:defRPr sz="4000">
                <a:solidFill>
                  <a:schemeClr val="tx1"/>
                </a:solidFill>
              </a:defRPr>
            </a:lvl1pPr>
          </a:lstStyle>
          <a:p>
            <a:endParaRPr/>
          </a:p>
        </p:txBody>
      </p:sp>
      <p:sp>
        <p:nvSpPr>
          <p:cNvPr id="3" name="Subtitle 2">
            <a:extLst>
              <a:ext uri="{FF2B5EF4-FFF2-40B4-BE49-F238E27FC236}">
                <a16:creationId xmlns:a16="http://schemas.microsoft.com/office/drawing/2014/main" id="{77D16256-6239-4D90-9FB2-E0E006CD026F}"/>
              </a:ext>
            </a:extLst>
          </p:cNvPr>
          <p:cNvSpPr>
            <a:spLocks noGrp="1"/>
          </p:cNvSpPr>
          <p:nvPr>
            <p:ph type="subTitle" idx="1"/>
          </p:nvPr>
        </p:nvSpPr>
        <p:spPr>
          <a:xfrm>
            <a:off x="430212" y="2978009"/>
            <a:ext cx="3423941" cy="1482866"/>
          </a:xfrm>
        </p:spPr>
        <p:txBody>
          <a:bodyPr/>
          <a:lstStyle>
            <a:lvl1pPr marL="0" indent="0" algn="l">
              <a:spcBef>
                <a:spcPts val="0"/>
              </a:spcBef>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a:p>
        </p:txBody>
      </p:sp>
      <p:sp>
        <p:nvSpPr>
          <p:cNvPr id="4" name="Date Placeholder 3">
            <a:extLst>
              <a:ext uri="{FF2B5EF4-FFF2-40B4-BE49-F238E27FC236}">
                <a16:creationId xmlns:a16="http://schemas.microsoft.com/office/drawing/2014/main" id="{7702F924-BE80-4714-8F65-901CE157BE13}"/>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08E5CA54-0EB6-407B-BB6A-11F1711AA1AB}"/>
              </a:ext>
            </a:extLst>
          </p:cNvPr>
          <p:cNvSpPr>
            <a:spLocks noGrp="1"/>
          </p:cNvSpPr>
          <p:nvPr>
            <p:ph type="ftr" idx="11"/>
          </p:nvPr>
        </p:nvSpPr>
        <p:spPr>
          <a:xfrm>
            <a:off x="430212" y="4623512"/>
            <a:ext cx="3086100" cy="107722"/>
          </a:xfrm>
        </p:spPr>
        <p:txBody>
          <a:bodyPr/>
          <a:lstStyle>
            <a:lvl1pPr algn="l">
              <a:buNone/>
              <a:defRPr>
                <a:solidFill>
                  <a:schemeClr val="tx1"/>
                </a:solidFill>
              </a:defRPr>
            </a:lvl1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Statement Slide with bar">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BBD2D21-C171-1A2B-AC3E-F6A951934E44}"/>
              </a:ext>
            </a:extLst>
          </p:cNvPr>
          <p:cNvSpPr>
            <a:spLocks noGrp="1"/>
          </p:cNvSpPr>
          <p:nvPr>
            <p:ph type="pic" idx="13"/>
          </p:nvPr>
        </p:nvSpPr>
        <p:spPr>
          <a:xfrm>
            <a:off x="0" y="0"/>
            <a:ext cx="9144000" cy="5143500"/>
          </a:xfrm>
          <a:prstGeom prst="rect">
            <a:avLst/>
          </a:prstGeom>
          <a:solidFill>
            <a:schemeClr val="bg2">
              <a:lumMod val="85000"/>
            </a:schemeClr>
          </a:solidFill>
        </p:spPr>
        <p:txBody>
          <a:bodyPr tIns="1188720"/>
          <a:lstStyle>
            <a:lvl1pPr marL="0" indent="0" algn="ctr">
              <a:buNone/>
              <a:defRPr/>
            </a:lvl1pPr>
          </a:lstStyle>
          <a:p>
            <a:endParaRPr/>
          </a:p>
        </p:txBody>
      </p:sp>
      <p:sp>
        <p:nvSpPr>
          <p:cNvPr id="4" name="Date Placeholder 3">
            <a:extLst>
              <a:ext uri="{FF2B5EF4-FFF2-40B4-BE49-F238E27FC236}">
                <a16:creationId xmlns:a16="http://schemas.microsoft.com/office/drawing/2014/main" id="{A59EAC8B-604F-446C-90A7-FE81009AE11D}"/>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BB0C9A46-9BD5-42D4-8473-BFA2600B1101}"/>
              </a:ext>
            </a:extLst>
          </p:cNvPr>
          <p:cNvSpPr>
            <a:spLocks noGrp="1"/>
          </p:cNvSpPr>
          <p:nvPr>
            <p:ph type="ftr" idx="11"/>
          </p:nvPr>
        </p:nvSpPr>
        <p:spPr/>
        <p:txBody>
          <a:bodyPr/>
          <a:lstStyle>
            <a:lvl1pPr>
              <a:buNone/>
              <a:defRPr>
                <a:solidFill>
                  <a:schemeClr val="tx1"/>
                </a:solidFill>
              </a:defRPr>
            </a:lvl1pPr>
          </a:lstStyle>
          <a:p>
            <a:endParaRPr/>
          </a:p>
        </p:txBody>
      </p:sp>
      <p:sp>
        <p:nvSpPr>
          <p:cNvPr id="6" name="Slide Number Placeholder 5">
            <a:extLst>
              <a:ext uri="{FF2B5EF4-FFF2-40B4-BE49-F238E27FC236}">
                <a16:creationId xmlns:a16="http://schemas.microsoft.com/office/drawing/2014/main" id="{B62B73FF-ADD7-4915-AF57-AFE6DC32F52F}"/>
              </a:ext>
            </a:extLst>
          </p:cNvPr>
          <p:cNvSpPr>
            <a:spLocks noGrp="1"/>
          </p:cNvSpPr>
          <p:nvPr>
            <p:ph type="sldNum" idx="12"/>
          </p:nvPr>
        </p:nvSpPr>
        <p:spPr/>
        <p:txBody>
          <a:bodyPr/>
          <a:lstStyle>
            <a:lvl1pPr>
              <a:buNone/>
              <a:defRPr>
                <a:solidFill>
                  <a:schemeClr val="tx1"/>
                </a:solidFill>
              </a:defRPr>
            </a:lvl1pPr>
          </a:lstStyle>
          <a:p>
            <a:endParaRPr/>
          </a:p>
        </p:txBody>
      </p:sp>
      <p:sp>
        <p:nvSpPr>
          <p:cNvPr id="3" name="Title 1">
            <a:extLst>
              <a:ext uri="{FF2B5EF4-FFF2-40B4-BE49-F238E27FC236}">
                <a16:creationId xmlns:a16="http://schemas.microsoft.com/office/drawing/2014/main" id="{82A131D3-0540-078D-DF01-87FBF7750DB1}"/>
              </a:ext>
            </a:extLst>
          </p:cNvPr>
          <p:cNvSpPr>
            <a:spLocks noGrp="1"/>
          </p:cNvSpPr>
          <p:nvPr>
            <p:ph type="title"/>
          </p:nvPr>
        </p:nvSpPr>
        <p:spPr>
          <a:xfrm>
            <a:off x="430212" y="3621522"/>
            <a:ext cx="7891524" cy="730353"/>
          </a:xfrm>
        </p:spPr>
        <p:txBody>
          <a:bodyPr anchor="ctr"/>
          <a:lstStyle>
            <a:lvl1pPr>
              <a:buNone/>
              <a:defRPr>
                <a:solidFill>
                  <a:schemeClr val="bg2"/>
                </a:solidFill>
              </a:defRPr>
            </a:lvl1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losing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AC206-B52C-4638-AB5D-D0DB33E19EC1}"/>
              </a:ext>
            </a:extLst>
          </p:cNvPr>
          <p:cNvSpPr>
            <a:spLocks noGrp="1"/>
          </p:cNvSpPr>
          <p:nvPr>
            <p:ph type="title"/>
          </p:nvPr>
        </p:nvSpPr>
        <p:spPr>
          <a:xfrm>
            <a:off x="419100" y="680339"/>
            <a:ext cx="4504056" cy="2428443"/>
          </a:xfrm>
        </p:spPr>
        <p:txBody>
          <a:bodyPr anchor="t"/>
          <a:lstStyle>
            <a:lvl1pPr>
              <a:lnSpc>
                <a:spcPct val="100000"/>
              </a:lnSpc>
              <a:buNone/>
              <a:defRPr sz="5400">
                <a:solidFill>
                  <a:schemeClr val="bg1"/>
                </a:solidFill>
              </a:defRPr>
            </a:lvl1pPr>
          </a:lstStyle>
          <a:p>
            <a:endParaRPr/>
          </a:p>
        </p:txBody>
      </p:sp>
      <p:sp>
        <p:nvSpPr>
          <p:cNvPr id="4" name="Date Placeholder 3">
            <a:extLst>
              <a:ext uri="{FF2B5EF4-FFF2-40B4-BE49-F238E27FC236}">
                <a16:creationId xmlns:a16="http://schemas.microsoft.com/office/drawing/2014/main" id="{1B32705D-7162-4CAE-9E66-E63C3FB82801}"/>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A58CAAFC-1B93-4FC8-BE7F-A109976E395C}"/>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E90B03A7-081C-4B1E-8977-583DF458541F}"/>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90945-C2CE-4AE3-9AD1-6B578ECE1047}"/>
              </a:ext>
            </a:extLst>
          </p:cNvPr>
          <p:cNvSpPr>
            <a:spLocks noGrp="1"/>
          </p:cNvSpPr>
          <p:nvPr>
            <p:ph type="title"/>
          </p:nvPr>
        </p:nvSpPr>
        <p:spPr/>
        <p:txBody>
          <a:bodyPr anchor="t"/>
          <a:lstStyle/>
          <a:p>
            <a:endParaRPr/>
          </a:p>
        </p:txBody>
      </p:sp>
      <p:sp>
        <p:nvSpPr>
          <p:cNvPr id="3" name="Date Placeholder 2">
            <a:extLst>
              <a:ext uri="{FF2B5EF4-FFF2-40B4-BE49-F238E27FC236}">
                <a16:creationId xmlns:a16="http://schemas.microsoft.com/office/drawing/2014/main" id="{BAC04EC7-AFFD-4ABD-BC3F-C2812FB8DC9C}"/>
              </a:ext>
            </a:extLst>
          </p:cNvPr>
          <p:cNvSpPr>
            <a:spLocks noGrp="1"/>
          </p:cNvSpPr>
          <p:nvPr>
            <p:ph type="dt" idx="10"/>
          </p:nvPr>
        </p:nvSpPr>
        <p:spPr/>
        <p:txBody>
          <a:bodyPr/>
          <a:lstStyle/>
          <a:p>
            <a:endParaRPr/>
          </a:p>
        </p:txBody>
      </p:sp>
      <p:sp>
        <p:nvSpPr>
          <p:cNvPr id="4" name="Footer Placeholder 3">
            <a:extLst>
              <a:ext uri="{FF2B5EF4-FFF2-40B4-BE49-F238E27FC236}">
                <a16:creationId xmlns:a16="http://schemas.microsoft.com/office/drawing/2014/main" id="{DD4657FB-B1A9-4CF1-93C3-A0DCF40D492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236A4E05-BB86-44D6-878E-E5E3CE4B5E2B}"/>
              </a:ext>
            </a:extLst>
          </p:cNvPr>
          <p:cNvSpPr>
            <a:spLocks noGrp="1"/>
          </p:cNvSpPr>
          <p:nvPr>
            <p:ph type="sldNum" idx="12"/>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Full Slide Image With Fram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5BD3C95-659A-8892-1572-85CAFF6F3746}"/>
              </a:ext>
            </a:extLst>
          </p:cNvPr>
          <p:cNvSpPr>
            <a:spLocks noGrp="1"/>
          </p:cNvSpPr>
          <p:nvPr>
            <p:ph type="pic" idx="18"/>
          </p:nvPr>
        </p:nvSpPr>
        <p:spPr>
          <a:xfrm>
            <a:off x="481430" y="454400"/>
            <a:ext cx="8182724" cy="3946047"/>
          </a:xfrm>
          <a:prstGeom prst="rect">
            <a:avLst/>
          </a:prstGeom>
          <a:solidFill>
            <a:schemeClr val="bg2">
              <a:lumMod val="85000"/>
            </a:schemeClr>
          </a:solidFill>
        </p:spPr>
        <p:txBody>
          <a:bodyPr tIns="1097280"/>
          <a:lstStyle>
            <a:lvl1pPr marL="0" indent="0" algn="ctr">
              <a:buNone/>
              <a:defRPr/>
            </a:lvl1pPr>
          </a:lstStyle>
          <a:p>
            <a:endParaRPr/>
          </a:p>
        </p:txBody>
      </p:sp>
      <p:sp>
        <p:nvSpPr>
          <p:cNvPr id="5" name="Date Placeholder 4">
            <a:extLst>
              <a:ext uri="{FF2B5EF4-FFF2-40B4-BE49-F238E27FC236}">
                <a16:creationId xmlns:a16="http://schemas.microsoft.com/office/drawing/2014/main" id="{56615BEC-BFFE-40A0-896D-1859B7CF0B06}"/>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E106C210-D2AE-4ED2-8AE0-FB76AE4E12DC}"/>
              </a:ext>
            </a:extLst>
          </p:cNvPr>
          <p:cNvSpPr>
            <a:spLocks noGrp="1"/>
          </p:cNvSpPr>
          <p:nvPr>
            <p:ph type="ftr" idx="11"/>
          </p:nvPr>
        </p:nvSpPr>
        <p:spPr/>
        <p:txBody>
          <a:bodyPr/>
          <a:lstStyle>
            <a:lvl1pPr>
              <a:buNone/>
              <a:defRPr>
                <a:solidFill>
                  <a:schemeClr val="tx1"/>
                </a:solidFill>
              </a:defRPr>
            </a:lvl1pPr>
          </a:lstStyle>
          <a:p>
            <a:endParaRPr/>
          </a:p>
        </p:txBody>
      </p:sp>
      <p:sp>
        <p:nvSpPr>
          <p:cNvPr id="7" name="Slide Number Placeholder 6">
            <a:extLst>
              <a:ext uri="{FF2B5EF4-FFF2-40B4-BE49-F238E27FC236}">
                <a16:creationId xmlns:a16="http://schemas.microsoft.com/office/drawing/2014/main" id="{3E6DF2AA-BC4C-412B-A9B2-7FB38AD18171}"/>
              </a:ext>
            </a:extLst>
          </p:cNvPr>
          <p:cNvSpPr>
            <a:spLocks noGrp="1"/>
          </p:cNvSpPr>
          <p:nvPr>
            <p:ph type="sldNum" idx="12"/>
          </p:nvPr>
        </p:nvSpPr>
        <p:spPr/>
        <p:txBody>
          <a:bodyPr/>
          <a:lstStyle>
            <a:lvl1pPr>
              <a:buNone/>
              <a:defRPr>
                <a:solidFill>
                  <a:schemeClr val="tx1"/>
                </a:solidFill>
              </a:defRPr>
            </a:lvl1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Slide 3">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BBD2D21-C171-1A2B-AC3E-F6A951934E44}"/>
              </a:ext>
            </a:extLst>
          </p:cNvPr>
          <p:cNvSpPr>
            <a:spLocks noGrp="1"/>
          </p:cNvSpPr>
          <p:nvPr>
            <p:ph type="pic" idx="13"/>
          </p:nvPr>
        </p:nvSpPr>
        <p:spPr>
          <a:xfrm>
            <a:off x="0" y="0"/>
            <a:ext cx="9144000" cy="5143500"/>
          </a:xfrm>
          <a:prstGeom prst="rect">
            <a:avLst/>
          </a:prstGeom>
          <a:solidFill>
            <a:schemeClr val="bg2">
              <a:lumMod val="85000"/>
            </a:schemeClr>
          </a:solidFill>
        </p:spPr>
        <p:txBody>
          <a:bodyPr tIns="1188720"/>
          <a:lstStyle>
            <a:lvl1pPr marL="0" indent="0" algn="ctr">
              <a:buNone/>
              <a:defRPr/>
            </a:lvl1pPr>
          </a:lstStyle>
          <a:p>
            <a:endParaRPr/>
          </a:p>
        </p:txBody>
      </p:sp>
      <p:sp>
        <p:nvSpPr>
          <p:cNvPr id="2" name="Title 1">
            <a:extLst>
              <a:ext uri="{FF2B5EF4-FFF2-40B4-BE49-F238E27FC236}">
                <a16:creationId xmlns:a16="http://schemas.microsoft.com/office/drawing/2014/main" id="{FA5A5620-CF96-4211-8D85-F55D44C1029A}"/>
              </a:ext>
            </a:extLst>
          </p:cNvPr>
          <p:cNvSpPr>
            <a:spLocks noGrp="1"/>
          </p:cNvSpPr>
          <p:nvPr>
            <p:ph type="title"/>
          </p:nvPr>
        </p:nvSpPr>
        <p:spPr>
          <a:xfrm>
            <a:off x="419100" y="699389"/>
            <a:ext cx="4504056" cy="2639453"/>
          </a:xfrm>
        </p:spPr>
        <p:txBody>
          <a:bodyPr anchor="t"/>
          <a:lstStyle>
            <a:lvl1pPr>
              <a:lnSpc>
                <a:spcPct val="100000"/>
              </a:lnSpc>
              <a:buNone/>
              <a:defRPr sz="4400">
                <a:solidFill>
                  <a:schemeClr val="tx1"/>
                </a:solidFill>
              </a:defRPr>
            </a:lvl1pPr>
          </a:lstStyle>
          <a:p>
            <a:endParaRPr/>
          </a:p>
        </p:txBody>
      </p:sp>
      <p:sp>
        <p:nvSpPr>
          <p:cNvPr id="4" name="Date Placeholder 3">
            <a:extLst>
              <a:ext uri="{FF2B5EF4-FFF2-40B4-BE49-F238E27FC236}">
                <a16:creationId xmlns:a16="http://schemas.microsoft.com/office/drawing/2014/main" id="{B3E97B07-F795-4B0D-B8A6-65DAD8CC6CA4}"/>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D4AA1CA9-07B0-4834-A528-2F421358D62F}"/>
              </a:ext>
            </a:extLst>
          </p:cNvPr>
          <p:cNvSpPr>
            <a:spLocks noGrp="1"/>
          </p:cNvSpPr>
          <p:nvPr>
            <p:ph type="ftr" idx="11"/>
          </p:nvPr>
        </p:nvSpPr>
        <p:spPr/>
        <p:txBody>
          <a:bodyPr/>
          <a:lstStyle>
            <a:lvl1pPr>
              <a:buNone/>
              <a:defRPr>
                <a:solidFill>
                  <a:schemeClr val="tx1"/>
                </a:solidFill>
              </a:defRPr>
            </a:lvl1pPr>
          </a:lstStyle>
          <a:p>
            <a:endParaRPr/>
          </a:p>
        </p:txBody>
      </p:sp>
      <p:sp>
        <p:nvSpPr>
          <p:cNvPr id="6" name="Slide Number Placeholder 5">
            <a:extLst>
              <a:ext uri="{FF2B5EF4-FFF2-40B4-BE49-F238E27FC236}">
                <a16:creationId xmlns:a16="http://schemas.microsoft.com/office/drawing/2014/main" id="{4B99CFC8-BDCF-414C-A01F-C5D00109A3FA}"/>
              </a:ext>
            </a:extLst>
          </p:cNvPr>
          <p:cNvSpPr>
            <a:spLocks noGrp="1"/>
          </p:cNvSpPr>
          <p:nvPr>
            <p:ph type="sldNum" idx="12"/>
          </p:nvPr>
        </p:nvSpPr>
        <p:spPr/>
        <p:txBody>
          <a:bodyPr/>
          <a:lstStyle>
            <a:lvl1pPr>
              <a:buNone/>
              <a:defRPr>
                <a:solidFill>
                  <a:schemeClr val="tx1"/>
                </a:solidFill>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hank You 2">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9023-F46A-4572-AA6C-1C60BD78D242}"/>
              </a:ext>
            </a:extLst>
          </p:cNvPr>
          <p:cNvSpPr>
            <a:spLocks noGrp="1"/>
          </p:cNvSpPr>
          <p:nvPr>
            <p:ph type="title"/>
          </p:nvPr>
        </p:nvSpPr>
        <p:spPr>
          <a:xfrm>
            <a:off x="419100" y="680339"/>
            <a:ext cx="4504056" cy="2428443"/>
          </a:xfrm>
        </p:spPr>
        <p:txBody>
          <a:bodyPr anchor="t"/>
          <a:lstStyle>
            <a:lvl1pPr>
              <a:lnSpc>
                <a:spcPct val="100000"/>
              </a:lnSpc>
              <a:buNone/>
              <a:defRPr sz="5400">
                <a:solidFill>
                  <a:schemeClr val="accent2"/>
                </a:solidFill>
              </a:defRPr>
            </a:lvl1pPr>
          </a:lstStyle>
          <a:p>
            <a:endParaRPr/>
          </a:p>
        </p:txBody>
      </p:sp>
      <p:sp>
        <p:nvSpPr>
          <p:cNvPr id="4" name="Date Placeholder 3">
            <a:extLst>
              <a:ext uri="{FF2B5EF4-FFF2-40B4-BE49-F238E27FC236}">
                <a16:creationId xmlns:a16="http://schemas.microsoft.com/office/drawing/2014/main" id="{0E27368C-B713-4353-8A10-1ED0A9A60885}"/>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F6D522E7-2363-4A32-A0D6-D917EC1BC0F7}"/>
              </a:ext>
            </a:extLst>
          </p:cNvPr>
          <p:cNvSpPr>
            <a:spLocks noGrp="1"/>
          </p:cNvSpPr>
          <p:nvPr>
            <p:ph type="ftr" idx="11"/>
          </p:nvPr>
        </p:nvSpPr>
        <p:spPr/>
        <p:txBody>
          <a:bodyPr/>
          <a:lstStyle>
            <a:lvl1pPr>
              <a:buNone/>
              <a:defRPr>
                <a:solidFill>
                  <a:schemeClr val="tx1"/>
                </a:solidFill>
              </a:defRPr>
            </a:lvl1pPr>
          </a:lstStyle>
          <a:p>
            <a:endParaRPr/>
          </a:p>
        </p:txBody>
      </p:sp>
      <p:sp>
        <p:nvSpPr>
          <p:cNvPr id="6" name="Slide Number Placeholder 5">
            <a:extLst>
              <a:ext uri="{FF2B5EF4-FFF2-40B4-BE49-F238E27FC236}">
                <a16:creationId xmlns:a16="http://schemas.microsoft.com/office/drawing/2014/main" id="{5CE3F305-3EB0-4F54-8AA5-78198A03F537}"/>
              </a:ext>
            </a:extLst>
          </p:cNvPr>
          <p:cNvSpPr>
            <a:spLocks noGrp="1"/>
          </p:cNvSpPr>
          <p:nvPr>
            <p:ph type="sldNum" idx="12"/>
          </p:nvPr>
        </p:nvSpPr>
        <p:spPr/>
        <p:txBody>
          <a:bodyPr/>
          <a:lstStyle>
            <a:lvl1pPr>
              <a:buNone/>
              <a:defRPr>
                <a:solidFill>
                  <a:schemeClr val="tx1"/>
                </a:solidFill>
              </a:defRPr>
            </a:lvl1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hank You">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4E53-9282-436B-A294-A701E4CE0994}"/>
              </a:ext>
            </a:extLst>
          </p:cNvPr>
          <p:cNvSpPr>
            <a:spLocks noGrp="1"/>
          </p:cNvSpPr>
          <p:nvPr>
            <p:ph type="title"/>
          </p:nvPr>
        </p:nvSpPr>
        <p:spPr>
          <a:xfrm>
            <a:off x="419100" y="680339"/>
            <a:ext cx="4504056" cy="2428443"/>
          </a:xfrm>
        </p:spPr>
        <p:txBody>
          <a:bodyPr anchor="t"/>
          <a:lstStyle>
            <a:lvl1pPr>
              <a:lnSpc>
                <a:spcPct val="100000"/>
              </a:lnSpc>
              <a:buNone/>
              <a:defRPr sz="5400">
                <a:solidFill>
                  <a:schemeClr val="bg1"/>
                </a:solidFill>
              </a:defRPr>
            </a:lvl1pPr>
          </a:lstStyle>
          <a:p>
            <a:endParaRPr/>
          </a:p>
        </p:txBody>
      </p:sp>
      <p:sp>
        <p:nvSpPr>
          <p:cNvPr id="4" name="Date Placeholder 3">
            <a:extLst>
              <a:ext uri="{FF2B5EF4-FFF2-40B4-BE49-F238E27FC236}">
                <a16:creationId xmlns:a16="http://schemas.microsoft.com/office/drawing/2014/main" id="{17A677B2-818A-412B-9C66-9A5BB765C255}"/>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66502FEB-2D7B-40C6-AB8F-D806754DBB8B}"/>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81F9330F-06DA-4AAB-B61E-2EB18BB715D5}"/>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hree Column Process With Imag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5BD3C95-659A-8892-1572-85CAFF6F3746}"/>
              </a:ext>
            </a:extLst>
          </p:cNvPr>
          <p:cNvSpPr>
            <a:spLocks noGrp="1"/>
          </p:cNvSpPr>
          <p:nvPr>
            <p:ph type="pic" idx="18"/>
          </p:nvPr>
        </p:nvSpPr>
        <p:spPr>
          <a:xfrm>
            <a:off x="0" y="0"/>
            <a:ext cx="9144000" cy="5143500"/>
          </a:xfrm>
          <a:prstGeom prst="rect">
            <a:avLst/>
          </a:prstGeom>
          <a:solidFill>
            <a:schemeClr val="bg2">
              <a:lumMod val="85000"/>
            </a:schemeClr>
          </a:solidFill>
        </p:spPr>
        <p:txBody>
          <a:bodyPr tIns="1097280"/>
          <a:lstStyle>
            <a:lvl1pPr marL="0" indent="0" algn="ctr">
              <a:buNone/>
              <a:defRPr/>
            </a:lvl1pPr>
          </a:lstStyle>
          <a:p>
            <a:endParaRPr/>
          </a:p>
        </p:txBody>
      </p:sp>
      <p:sp>
        <p:nvSpPr>
          <p:cNvPr id="2" name="Title 1">
            <a:extLst>
              <a:ext uri="{FF2B5EF4-FFF2-40B4-BE49-F238E27FC236}">
                <a16:creationId xmlns:a16="http://schemas.microsoft.com/office/drawing/2014/main" id="{9F0AF498-7363-4878-BDBF-450680F03788}"/>
              </a:ext>
            </a:extLst>
          </p:cNvPr>
          <p:cNvSpPr>
            <a:spLocks noGrp="1"/>
          </p:cNvSpPr>
          <p:nvPr>
            <p:ph type="title"/>
          </p:nvPr>
        </p:nvSpPr>
        <p:spPr>
          <a:xfrm>
            <a:off x="419098" y="393106"/>
            <a:ext cx="8305803" cy="730353"/>
          </a:xfrm>
        </p:spPr>
        <p:txBody>
          <a:bodyPr anchor="t"/>
          <a:lstStyle>
            <a:lvl1pPr>
              <a:buNone/>
              <a:defRPr>
                <a:solidFill>
                  <a:schemeClr val="bg1"/>
                </a:solidFill>
              </a:defRPr>
            </a:lvl1pPr>
          </a:lstStyle>
          <a:p>
            <a:endParaRPr/>
          </a:p>
        </p:txBody>
      </p:sp>
      <p:sp>
        <p:nvSpPr>
          <p:cNvPr id="5" name="Date Placeholder 4">
            <a:extLst>
              <a:ext uri="{FF2B5EF4-FFF2-40B4-BE49-F238E27FC236}">
                <a16:creationId xmlns:a16="http://schemas.microsoft.com/office/drawing/2014/main" id="{72B29214-C51E-4BC3-8C13-99217A785A1F}"/>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ECB72988-58A9-4620-9EBC-1A9A21E3FE0D}"/>
              </a:ext>
            </a:extLst>
          </p:cNvPr>
          <p:cNvSpPr>
            <a:spLocks noGrp="1"/>
          </p:cNvSpPr>
          <p:nvPr>
            <p:ph type="ftr" idx="11"/>
          </p:nvPr>
        </p:nvSpPr>
        <p:spPr/>
        <p:txBody>
          <a:bodyPr/>
          <a:lstStyle>
            <a:lvl1pPr>
              <a:buNone/>
              <a:defRPr>
                <a:solidFill>
                  <a:schemeClr val="bg1"/>
                </a:solidFill>
              </a:defRPr>
            </a:lvl1pPr>
          </a:lstStyle>
          <a:p>
            <a:endParaRPr/>
          </a:p>
        </p:txBody>
      </p:sp>
      <p:sp>
        <p:nvSpPr>
          <p:cNvPr id="7" name="Slide Number Placeholder 6">
            <a:extLst>
              <a:ext uri="{FF2B5EF4-FFF2-40B4-BE49-F238E27FC236}">
                <a16:creationId xmlns:a16="http://schemas.microsoft.com/office/drawing/2014/main" id="{97A30386-1C86-40FA-A64B-9B414AE6063F}"/>
              </a:ext>
            </a:extLst>
          </p:cNvPr>
          <p:cNvSpPr>
            <a:spLocks noGrp="1"/>
          </p:cNvSpPr>
          <p:nvPr>
            <p:ph type="sldNum" idx="12"/>
          </p:nvPr>
        </p:nvSpPr>
        <p:spPr/>
        <p:txBody>
          <a:bodyPr/>
          <a:lstStyle>
            <a:lvl1pPr>
              <a:buNone/>
              <a:defRPr>
                <a:solidFill>
                  <a:schemeClr val="bg1"/>
                </a:solidFill>
              </a:defRPr>
            </a:lvl1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9" y="2520473"/>
            <a:ext cx="2138764" cy="1940401"/>
          </a:xfrm>
        </p:spPr>
        <p:txBody>
          <a:bodyPr/>
          <a:lstStyle>
            <a:lvl1pPr marL="0" indent="0">
              <a:buNone/>
              <a:defRPr sz="1800" b="1">
                <a:solidFill>
                  <a:schemeClr val="bg1"/>
                </a:solidFill>
              </a:defRPr>
            </a:lvl1pPr>
            <a:lvl2pPr marL="0" indent="0">
              <a:spcBef>
                <a:spcPts val="1800"/>
              </a:spcBef>
              <a:buNone/>
              <a:defRPr>
                <a:solidFill>
                  <a:schemeClr val="bg1"/>
                </a:solidFill>
              </a:defRPr>
            </a:lvl2pPr>
            <a:lvl3pPr marL="171450" indent="-171450">
              <a:spcBef>
                <a:spcPts val="1200"/>
              </a:spcBef>
              <a:buNone/>
              <a:defRPr>
                <a:solidFill>
                  <a:schemeClr val="bg1"/>
                </a:solidFill>
              </a:defRPr>
            </a:lvl3pPr>
          </a:lstStyle>
          <a:p>
            <a:endParaRPr/>
          </a:p>
        </p:txBody>
      </p:sp>
      <p:sp>
        <p:nvSpPr>
          <p:cNvPr id="4" name="Text Placeholder 13">
            <a:extLst>
              <a:ext uri="{FF2B5EF4-FFF2-40B4-BE49-F238E27FC236}">
                <a16:creationId xmlns:a16="http://schemas.microsoft.com/office/drawing/2014/main" id="{642A8771-4A82-CB8D-C424-41BF6D808A00}"/>
              </a:ext>
            </a:extLst>
          </p:cNvPr>
          <p:cNvSpPr>
            <a:spLocks noGrp="1"/>
          </p:cNvSpPr>
          <p:nvPr>
            <p:ph type="body" idx="16"/>
          </p:nvPr>
        </p:nvSpPr>
        <p:spPr>
          <a:xfrm>
            <a:off x="3264847" y="2520473"/>
            <a:ext cx="2138764" cy="1940401"/>
          </a:xfrm>
        </p:spPr>
        <p:txBody>
          <a:bodyPr/>
          <a:lstStyle>
            <a:lvl1pPr marL="0" indent="0">
              <a:buNone/>
              <a:defRPr sz="1800" b="1">
                <a:solidFill>
                  <a:schemeClr val="bg1"/>
                </a:solidFill>
              </a:defRPr>
            </a:lvl1pPr>
            <a:lvl2pPr marL="0" indent="0">
              <a:spcBef>
                <a:spcPts val="1800"/>
              </a:spcBef>
              <a:buNone/>
              <a:defRPr>
                <a:solidFill>
                  <a:schemeClr val="bg1"/>
                </a:solidFill>
              </a:defRPr>
            </a:lvl2pPr>
            <a:lvl3pPr marL="171450" indent="-171450">
              <a:spcBef>
                <a:spcPts val="1200"/>
              </a:spcBef>
              <a:buNone/>
              <a:defRPr>
                <a:solidFill>
                  <a:schemeClr val="bg1"/>
                </a:solidFill>
              </a:defRPr>
            </a:lvl3pPr>
          </a:lstStyle>
          <a:p>
            <a:endParaRPr/>
          </a:p>
        </p:txBody>
      </p:sp>
      <p:sp>
        <p:nvSpPr>
          <p:cNvPr id="8" name="Text Placeholder 13">
            <a:extLst>
              <a:ext uri="{FF2B5EF4-FFF2-40B4-BE49-F238E27FC236}">
                <a16:creationId xmlns:a16="http://schemas.microsoft.com/office/drawing/2014/main" id="{DDE02F3C-8D05-3406-3842-5B3130A895E5}"/>
              </a:ext>
            </a:extLst>
          </p:cNvPr>
          <p:cNvSpPr>
            <a:spLocks noGrp="1"/>
          </p:cNvSpPr>
          <p:nvPr>
            <p:ph type="body" idx="17"/>
          </p:nvPr>
        </p:nvSpPr>
        <p:spPr>
          <a:xfrm>
            <a:off x="6110596" y="2520473"/>
            <a:ext cx="2138764" cy="1940401"/>
          </a:xfrm>
        </p:spPr>
        <p:txBody>
          <a:bodyPr/>
          <a:lstStyle>
            <a:lvl1pPr marL="0" indent="0">
              <a:buNone/>
              <a:defRPr sz="1800" b="1">
                <a:solidFill>
                  <a:schemeClr val="bg1"/>
                </a:solidFill>
              </a:defRPr>
            </a:lvl1pPr>
            <a:lvl2pPr marL="0" indent="0">
              <a:spcBef>
                <a:spcPts val="1800"/>
              </a:spcBef>
              <a:buNone/>
              <a:defRPr>
                <a:solidFill>
                  <a:schemeClr val="bg1"/>
                </a:solidFill>
              </a:defRPr>
            </a:lvl2pPr>
            <a:lvl3pPr marL="171450" indent="-171450">
              <a:spcBef>
                <a:spcPts val="1200"/>
              </a:spcBef>
              <a:buNone/>
              <a:defRPr>
                <a:solidFill>
                  <a:schemeClr val="bg1"/>
                </a:solidFill>
              </a:defRPr>
            </a:lvl3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13649-D07C-4167-AE86-97DC7A4A51F0}"/>
              </a:ext>
            </a:extLst>
          </p:cNvPr>
          <p:cNvSpPr>
            <a:spLocks noGrp="1"/>
          </p:cNvSpPr>
          <p:nvPr>
            <p:ph type="title"/>
          </p:nvPr>
        </p:nvSpPr>
        <p:spPr>
          <a:xfrm>
            <a:off x="419100" y="734829"/>
            <a:ext cx="4323816" cy="2139553"/>
          </a:xfrm>
        </p:spPr>
        <p:txBody>
          <a:bodyPr anchor="t"/>
          <a:lstStyle>
            <a:lvl1pPr>
              <a:buNone/>
              <a:defRPr sz="5400">
                <a:solidFill>
                  <a:schemeClr val="bg1"/>
                </a:solidFill>
              </a:defRPr>
            </a:lvl1pPr>
          </a:lstStyle>
          <a:p>
            <a:endParaRPr/>
          </a:p>
        </p:txBody>
      </p:sp>
      <p:sp>
        <p:nvSpPr>
          <p:cNvPr id="3" name="Text Placeholder 2">
            <a:extLst>
              <a:ext uri="{FF2B5EF4-FFF2-40B4-BE49-F238E27FC236}">
                <a16:creationId xmlns:a16="http://schemas.microsoft.com/office/drawing/2014/main" id="{F5665526-CF3A-4F5D-9C6E-698F07877958}"/>
              </a:ext>
            </a:extLst>
          </p:cNvPr>
          <p:cNvSpPr>
            <a:spLocks noGrp="1"/>
          </p:cNvSpPr>
          <p:nvPr>
            <p:ph type="body" idx="1"/>
          </p:nvPr>
        </p:nvSpPr>
        <p:spPr>
          <a:xfrm>
            <a:off x="419100" y="3374282"/>
            <a:ext cx="4323816" cy="770428"/>
          </a:xfrm>
        </p:spPr>
        <p:txBody>
          <a:bodyPr/>
          <a:lstStyle>
            <a:lvl1pPr marL="0" indent="0">
              <a:buNone/>
              <a:defRPr sz="20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endParaRPr/>
          </a:p>
        </p:txBody>
      </p:sp>
      <p:sp>
        <p:nvSpPr>
          <p:cNvPr id="4" name="Date Placeholder 3">
            <a:extLst>
              <a:ext uri="{FF2B5EF4-FFF2-40B4-BE49-F238E27FC236}">
                <a16:creationId xmlns:a16="http://schemas.microsoft.com/office/drawing/2014/main" id="{51CABC67-9A58-440F-9DA2-7C30B9DED458}"/>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E3823A63-B077-4F29-96A1-EFB1855A2BD2}"/>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6C5E529A-7C1F-45BC-8953-3050BC679E5F}"/>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ext Left_Chart Right">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EC8B280-C11C-4AEA-A2BD-16793F035BEA}"/>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DDBEAB4D-0CE4-41CF-9220-E396A76F5D1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EAD1497-ED50-423D-BB30-435AC5CBA334}"/>
              </a:ext>
            </a:extLst>
          </p:cNvPr>
          <p:cNvSpPr>
            <a:spLocks noGrp="1"/>
          </p:cNvSpPr>
          <p:nvPr>
            <p:ph type="sldNum" idx="12"/>
          </p:nvPr>
        </p:nvSpPr>
        <p:spPr/>
        <p:txBody>
          <a:body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8" y="1674813"/>
            <a:ext cx="2358285" cy="2786063"/>
          </a:xfrm>
        </p:spPr>
        <p:txBody>
          <a:bodyPr/>
          <a:lstStyle>
            <a:lvl1pPr marL="0" indent="0">
              <a:lnSpc>
                <a:spcPct val="105000"/>
              </a:lnSpc>
              <a:buNone/>
              <a:defRPr/>
            </a:lvl1pPr>
            <a:lvl2pPr marL="0" indent="0">
              <a:buNone/>
              <a:defRPr sz="1400">
                <a:solidFill>
                  <a:schemeClr val="accent3"/>
                </a:solidFill>
              </a:defRPr>
            </a:lvl2pPr>
          </a:lstStyle>
          <a:p>
            <a:endParaRPr/>
          </a:p>
        </p:txBody>
      </p:sp>
      <p:sp>
        <p:nvSpPr>
          <p:cNvPr id="2" name="Title 1">
            <a:extLst>
              <a:ext uri="{FF2B5EF4-FFF2-40B4-BE49-F238E27FC236}">
                <a16:creationId xmlns:a16="http://schemas.microsoft.com/office/drawing/2014/main" id="{82FA77CF-6FD1-45FE-4C52-667680635741}"/>
              </a:ext>
            </a:extLst>
          </p:cNvPr>
          <p:cNvSpPr>
            <a:spLocks noGrp="1"/>
          </p:cNvSpPr>
          <p:nvPr>
            <p:ph type="title"/>
          </p:nvPr>
        </p:nvSpPr>
        <p:spPr>
          <a:xfrm>
            <a:off x="419098" y="393106"/>
            <a:ext cx="3200400" cy="811530"/>
          </a:xfrm>
        </p:spPr>
        <p:txBody>
          <a:bodyPr anchor="t"/>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Full Slide Imag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5BD3C95-659A-8892-1572-85CAFF6F3746}"/>
              </a:ext>
            </a:extLst>
          </p:cNvPr>
          <p:cNvSpPr>
            <a:spLocks noGrp="1"/>
          </p:cNvSpPr>
          <p:nvPr>
            <p:ph type="pic" idx="18"/>
          </p:nvPr>
        </p:nvSpPr>
        <p:spPr>
          <a:xfrm>
            <a:off x="421898" y="392591"/>
            <a:ext cx="8303001" cy="4068284"/>
          </a:xfrm>
          <a:prstGeom prst="rect">
            <a:avLst/>
          </a:prstGeom>
          <a:solidFill>
            <a:schemeClr val="bg2">
              <a:lumMod val="85000"/>
            </a:schemeClr>
          </a:solidFill>
        </p:spPr>
        <p:txBody>
          <a:bodyPr tIns="1097280"/>
          <a:lstStyle>
            <a:lvl1pPr marL="0" indent="0" algn="ctr">
              <a:buNone/>
              <a:defRPr/>
            </a:lvl1pPr>
          </a:lstStyle>
          <a:p>
            <a:endParaRPr/>
          </a:p>
        </p:txBody>
      </p:sp>
      <p:sp>
        <p:nvSpPr>
          <p:cNvPr id="5" name="Date Placeholder 4">
            <a:extLst>
              <a:ext uri="{FF2B5EF4-FFF2-40B4-BE49-F238E27FC236}">
                <a16:creationId xmlns:a16="http://schemas.microsoft.com/office/drawing/2014/main" id="{3EC14A97-48A1-459B-986C-47AC4FFC4064}"/>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15FD9F62-703E-46F9-A8AE-B46E64F9A345}"/>
              </a:ext>
            </a:extLst>
          </p:cNvPr>
          <p:cNvSpPr>
            <a:spLocks noGrp="1"/>
          </p:cNvSpPr>
          <p:nvPr>
            <p:ph type="ftr" idx="11"/>
          </p:nvPr>
        </p:nvSpPr>
        <p:spPr/>
        <p:txBody>
          <a:bodyPr/>
          <a:lstStyle>
            <a:lvl1pPr>
              <a:buNone/>
              <a:defRPr>
                <a:solidFill>
                  <a:schemeClr val="tx1"/>
                </a:solidFill>
              </a:defRPr>
            </a:lvl1pPr>
          </a:lstStyle>
          <a:p>
            <a:endParaRPr/>
          </a:p>
        </p:txBody>
      </p:sp>
      <p:sp>
        <p:nvSpPr>
          <p:cNvPr id="7" name="Slide Number Placeholder 6">
            <a:extLst>
              <a:ext uri="{FF2B5EF4-FFF2-40B4-BE49-F238E27FC236}">
                <a16:creationId xmlns:a16="http://schemas.microsoft.com/office/drawing/2014/main" id="{749B82C9-6CC7-46D7-BD7F-161A1D849DC1}"/>
              </a:ext>
            </a:extLst>
          </p:cNvPr>
          <p:cNvSpPr>
            <a:spLocks noGrp="1"/>
          </p:cNvSpPr>
          <p:nvPr>
            <p:ph type="sldNum" idx="12"/>
          </p:nvPr>
        </p:nvSpPr>
        <p:spPr/>
        <p:txBody>
          <a:bodyPr/>
          <a:lstStyle>
            <a:lvl1pPr>
              <a:buNone/>
              <a:defRPr>
                <a:solidFill>
                  <a:schemeClr val="tx1"/>
                </a:solidFill>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hree Column Text with image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E278-FF3B-44D2-8A2A-E9E4EC59D0BD}"/>
              </a:ext>
            </a:extLst>
          </p:cNvPr>
          <p:cNvSpPr>
            <a:spLocks noGrp="1"/>
          </p:cNvSpPr>
          <p:nvPr>
            <p:ph type="title"/>
          </p:nvPr>
        </p:nvSpPr>
        <p:spPr>
          <a:xfrm>
            <a:off x="419098" y="393106"/>
            <a:ext cx="8305803" cy="730353"/>
          </a:xfrm>
        </p:spPr>
        <p:txBody>
          <a:bodyPr anchor="t"/>
          <a:lstStyle/>
          <a:p>
            <a:endParaRPr/>
          </a:p>
        </p:txBody>
      </p:sp>
      <p:sp>
        <p:nvSpPr>
          <p:cNvPr id="5" name="Date Placeholder 4">
            <a:extLst>
              <a:ext uri="{FF2B5EF4-FFF2-40B4-BE49-F238E27FC236}">
                <a16:creationId xmlns:a16="http://schemas.microsoft.com/office/drawing/2014/main" id="{5D5FA67A-6A06-4EFB-A88C-196662764C3D}"/>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5BB85A38-9170-402D-8B20-70CC3C6A3B7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9ECCC67-47F0-40C5-B7F5-030AA2291923}"/>
              </a:ext>
            </a:extLst>
          </p:cNvPr>
          <p:cNvSpPr>
            <a:spLocks noGrp="1"/>
          </p:cNvSpPr>
          <p:nvPr>
            <p:ph type="sldNum" idx="12"/>
          </p:nvPr>
        </p:nvSpPr>
        <p:spPr/>
        <p:txBody>
          <a:bodyPr/>
          <a:lstStyle/>
          <a:p>
            <a:endParaRPr/>
          </a:p>
        </p:txBody>
      </p:sp>
      <p:sp>
        <p:nvSpPr>
          <p:cNvPr id="9" name="Picture Placeholder 8">
            <a:extLst>
              <a:ext uri="{FF2B5EF4-FFF2-40B4-BE49-F238E27FC236}">
                <a16:creationId xmlns:a16="http://schemas.microsoft.com/office/drawing/2014/main" id="{5D3D91AF-105B-FCD6-C4F5-C67B716D571D}"/>
              </a:ext>
            </a:extLst>
          </p:cNvPr>
          <p:cNvSpPr>
            <a:spLocks noGrp="1"/>
          </p:cNvSpPr>
          <p:nvPr>
            <p:ph type="pic" idx="18"/>
          </p:nvPr>
        </p:nvSpPr>
        <p:spPr>
          <a:xfrm>
            <a:off x="419098" y="2777384"/>
            <a:ext cx="2651760" cy="1683492"/>
          </a:xfrm>
          <a:prstGeom prst="rect">
            <a:avLst/>
          </a:prstGeom>
          <a:solidFill>
            <a:schemeClr val="bg2">
              <a:lumMod val="85000"/>
            </a:schemeClr>
          </a:solidFill>
        </p:spPr>
        <p:txBody>
          <a:bodyPr tIns="914400"/>
          <a:lstStyle>
            <a:lvl1pPr marL="0" indent="0" algn="ctr">
              <a:buNone/>
              <a:defRPr/>
            </a:lvl1pPr>
          </a:lstStyle>
          <a:p>
            <a:endParaRPr/>
          </a:p>
        </p:txBody>
      </p:sp>
      <p:sp>
        <p:nvSpPr>
          <p:cNvPr id="10" name="Picture Placeholder 8">
            <a:extLst>
              <a:ext uri="{FF2B5EF4-FFF2-40B4-BE49-F238E27FC236}">
                <a16:creationId xmlns:a16="http://schemas.microsoft.com/office/drawing/2014/main" id="{306B345E-D8AD-5ABF-C286-5E6C94298122}"/>
              </a:ext>
            </a:extLst>
          </p:cNvPr>
          <p:cNvSpPr>
            <a:spLocks noGrp="1"/>
          </p:cNvSpPr>
          <p:nvPr>
            <p:ph type="pic" idx="19"/>
          </p:nvPr>
        </p:nvSpPr>
        <p:spPr>
          <a:xfrm>
            <a:off x="3246119" y="2777384"/>
            <a:ext cx="2651760" cy="1683492"/>
          </a:xfrm>
          <a:prstGeom prst="rect">
            <a:avLst/>
          </a:prstGeom>
          <a:solidFill>
            <a:schemeClr val="bg2">
              <a:lumMod val="85000"/>
            </a:schemeClr>
          </a:solidFill>
        </p:spPr>
        <p:txBody>
          <a:bodyPr tIns="914400"/>
          <a:lstStyle>
            <a:lvl1pPr marL="0" indent="0" algn="ctr">
              <a:buNone/>
              <a:defRPr/>
            </a:lvl1pPr>
          </a:lstStyle>
          <a:p>
            <a:endParaRPr/>
          </a:p>
        </p:txBody>
      </p:sp>
      <p:sp>
        <p:nvSpPr>
          <p:cNvPr id="11" name="Picture Placeholder 8">
            <a:extLst>
              <a:ext uri="{FF2B5EF4-FFF2-40B4-BE49-F238E27FC236}">
                <a16:creationId xmlns:a16="http://schemas.microsoft.com/office/drawing/2014/main" id="{774D32F3-07D7-A773-4B83-740E4AFDFF0B}"/>
              </a:ext>
            </a:extLst>
          </p:cNvPr>
          <p:cNvSpPr>
            <a:spLocks noGrp="1"/>
          </p:cNvSpPr>
          <p:nvPr>
            <p:ph type="pic" idx="20"/>
          </p:nvPr>
        </p:nvSpPr>
        <p:spPr>
          <a:xfrm>
            <a:off x="6076058" y="2777384"/>
            <a:ext cx="2651760" cy="1683492"/>
          </a:xfrm>
          <a:prstGeom prst="rect">
            <a:avLst/>
          </a:prstGeom>
          <a:solidFill>
            <a:schemeClr val="bg2">
              <a:lumMod val="85000"/>
            </a:schemeClr>
          </a:solidFill>
        </p:spPr>
        <p:txBody>
          <a:bodyPr tIns="914400"/>
          <a:lstStyle>
            <a:lvl1pPr marL="0" indent="0" algn="ctr">
              <a:buNone/>
              <a:defRPr/>
            </a:lvl1pPr>
          </a:lstStyle>
          <a:p>
            <a:endParaRPr/>
          </a:p>
        </p:txBody>
      </p:sp>
      <p:sp>
        <p:nvSpPr>
          <p:cNvPr id="17" name="Text Placeholder 13">
            <a:extLst>
              <a:ext uri="{FF2B5EF4-FFF2-40B4-BE49-F238E27FC236}">
                <a16:creationId xmlns:a16="http://schemas.microsoft.com/office/drawing/2014/main" id="{9F8DACD0-57C1-A420-18D0-79585384046E}"/>
              </a:ext>
            </a:extLst>
          </p:cNvPr>
          <p:cNvSpPr>
            <a:spLocks noGrp="1"/>
          </p:cNvSpPr>
          <p:nvPr>
            <p:ph type="body" idx="21"/>
          </p:nvPr>
        </p:nvSpPr>
        <p:spPr>
          <a:xfrm>
            <a:off x="3246120" y="1676217"/>
            <a:ext cx="2651760" cy="1380492"/>
          </a:xfrm>
        </p:spPr>
        <p:txBody>
          <a:bodyPr/>
          <a:lstStyle>
            <a:lvl1pPr marL="0" indent="0">
              <a:buNone/>
              <a:defRPr sz="2000" b="1">
                <a:solidFill>
                  <a:schemeClr val="accent2"/>
                </a:solidFill>
              </a:defRPr>
            </a:lvl1pPr>
            <a:lvl2pPr marL="0" indent="0">
              <a:spcBef>
                <a:spcPts val="600"/>
              </a:spcBef>
              <a:buNone/>
              <a:defRPr/>
            </a:lvl2pPr>
            <a:lvl3pPr marL="171450" indent="-171450">
              <a:spcBef>
                <a:spcPts val="1200"/>
              </a:spcBef>
              <a:buNone/>
              <a:defRPr/>
            </a:lvl3pPr>
          </a:lstStyle>
          <a:p>
            <a:endParaRPr/>
          </a:p>
        </p:txBody>
      </p:sp>
      <p:sp>
        <p:nvSpPr>
          <p:cNvPr id="18" name="Text Placeholder 13">
            <a:extLst>
              <a:ext uri="{FF2B5EF4-FFF2-40B4-BE49-F238E27FC236}">
                <a16:creationId xmlns:a16="http://schemas.microsoft.com/office/drawing/2014/main" id="{84B27034-5514-D99C-E637-202A25B1FD6F}"/>
              </a:ext>
            </a:extLst>
          </p:cNvPr>
          <p:cNvSpPr>
            <a:spLocks noGrp="1"/>
          </p:cNvSpPr>
          <p:nvPr>
            <p:ph type="body" idx="22"/>
          </p:nvPr>
        </p:nvSpPr>
        <p:spPr>
          <a:xfrm>
            <a:off x="6073141" y="1676216"/>
            <a:ext cx="2651760" cy="1380491"/>
          </a:xfrm>
        </p:spPr>
        <p:txBody>
          <a:bodyPr/>
          <a:lstStyle>
            <a:lvl1pPr marL="0" indent="0">
              <a:buNone/>
              <a:defRPr sz="2000" b="1">
                <a:solidFill>
                  <a:schemeClr val="accent2"/>
                </a:solidFill>
              </a:defRPr>
            </a:lvl1pPr>
            <a:lvl2pPr marL="0" indent="0">
              <a:spcBef>
                <a:spcPts val="600"/>
              </a:spcBef>
              <a:buNone/>
              <a:defRPr/>
            </a:lvl2pPr>
            <a:lvl3pPr marL="171450" indent="-171450">
              <a:spcBef>
                <a:spcPts val="1200"/>
              </a:spcBef>
              <a:buNone/>
              <a:defRPr/>
            </a:lvl3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19099" y="1676217"/>
            <a:ext cx="2651760" cy="1101167"/>
          </a:xfrm>
        </p:spPr>
        <p:txBody>
          <a:bodyPr/>
          <a:lstStyle>
            <a:lvl1pPr marL="0" indent="0">
              <a:buNone/>
              <a:defRPr sz="2000" b="1">
                <a:solidFill>
                  <a:schemeClr val="accent2"/>
                </a:solidFill>
              </a:defRPr>
            </a:lvl1pPr>
            <a:lvl2pPr marL="0" indent="0">
              <a:spcBef>
                <a:spcPts val="600"/>
              </a:spcBef>
              <a:buNone/>
              <a:defRPr/>
            </a:lvl2pPr>
            <a:lvl3pPr marL="171450" indent="-171450">
              <a:spcBef>
                <a:spcPts val="1200"/>
              </a:spcBef>
              <a:buNone/>
              <a:defRPr/>
            </a:lvl3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ection Header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6E48-0072-4DCB-A783-EE24054F81E6}"/>
              </a:ext>
            </a:extLst>
          </p:cNvPr>
          <p:cNvSpPr>
            <a:spLocks noGrp="1"/>
          </p:cNvSpPr>
          <p:nvPr>
            <p:ph type="title"/>
          </p:nvPr>
        </p:nvSpPr>
        <p:spPr>
          <a:xfrm>
            <a:off x="419100" y="734829"/>
            <a:ext cx="4323816" cy="2139553"/>
          </a:xfrm>
        </p:spPr>
        <p:txBody>
          <a:bodyPr anchor="t"/>
          <a:lstStyle>
            <a:lvl1pPr>
              <a:buNone/>
              <a:defRPr sz="5400">
                <a:solidFill>
                  <a:schemeClr val="bg1"/>
                </a:solidFill>
              </a:defRPr>
            </a:lvl1pPr>
          </a:lstStyle>
          <a:p>
            <a:endParaRPr/>
          </a:p>
        </p:txBody>
      </p:sp>
      <p:sp>
        <p:nvSpPr>
          <p:cNvPr id="3" name="Text Placeholder 2">
            <a:extLst>
              <a:ext uri="{FF2B5EF4-FFF2-40B4-BE49-F238E27FC236}">
                <a16:creationId xmlns:a16="http://schemas.microsoft.com/office/drawing/2014/main" id="{9A6169D6-5941-428B-9957-7C58356CD30C}"/>
              </a:ext>
            </a:extLst>
          </p:cNvPr>
          <p:cNvSpPr>
            <a:spLocks noGrp="1"/>
          </p:cNvSpPr>
          <p:nvPr>
            <p:ph type="body" idx="1"/>
          </p:nvPr>
        </p:nvSpPr>
        <p:spPr>
          <a:xfrm>
            <a:off x="419100" y="3374282"/>
            <a:ext cx="4323816" cy="770428"/>
          </a:xfrm>
        </p:spPr>
        <p:txBody>
          <a:bodyPr/>
          <a:lstStyle>
            <a:lvl1pPr marL="0" indent="0">
              <a:buNone/>
              <a:defRPr sz="20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endParaRPr/>
          </a:p>
        </p:txBody>
      </p:sp>
      <p:sp>
        <p:nvSpPr>
          <p:cNvPr id="4" name="Date Placeholder 3">
            <a:extLst>
              <a:ext uri="{FF2B5EF4-FFF2-40B4-BE49-F238E27FC236}">
                <a16:creationId xmlns:a16="http://schemas.microsoft.com/office/drawing/2014/main" id="{C99A4389-6B42-4143-B7CE-DB02A11BD1D5}"/>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0A97C9A4-4018-4325-A122-006421F041C3}"/>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67D6693E-F378-42DB-890B-F9833E3EAB98}"/>
              </a:ext>
            </a:extLst>
          </p:cNvPr>
          <p:cNvSpPr>
            <a:spLocks noGrp="1"/>
          </p:cNvSpPr>
          <p:nvPr>
            <p:ph type="sldNum" idx="12"/>
          </p:nvPr>
        </p:nvSpPr>
        <p:spPr/>
        <p:txBody>
          <a:bodyPr/>
          <a:lstStyle>
            <a:lvl1pPr>
              <a:buNone/>
              <a:defRPr>
                <a:solidFill>
                  <a:schemeClr val="bg1"/>
                </a:solidFill>
              </a:defRPr>
            </a:lvl1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Blank">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4B001C-1ECE-49DA-8500-0E9EBEB7B439}"/>
              </a:ext>
            </a:extLst>
          </p:cNvPr>
          <p:cNvSpPr>
            <a:spLocks noGrp="1"/>
          </p:cNvSpPr>
          <p:nvPr>
            <p:ph type="dt" idx="10"/>
          </p:nvPr>
        </p:nvSpPr>
        <p:spPr/>
        <p:txBody>
          <a:bodyPr/>
          <a:lstStyle/>
          <a:p>
            <a:endParaRPr/>
          </a:p>
        </p:txBody>
      </p:sp>
      <p:sp>
        <p:nvSpPr>
          <p:cNvPr id="3" name="Footer Placeholder 2">
            <a:extLst>
              <a:ext uri="{FF2B5EF4-FFF2-40B4-BE49-F238E27FC236}">
                <a16:creationId xmlns:a16="http://schemas.microsoft.com/office/drawing/2014/main" id="{9D6068E7-D67D-4B32-9958-1E40A2E3AAC2}"/>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ABA7F0B-9047-45A4-9A5B-6A569C6451A4}"/>
              </a:ext>
            </a:extLst>
          </p:cNvPr>
          <p:cNvSpPr>
            <a:spLocks noGrp="1"/>
          </p:cNvSpPr>
          <p:nvPr>
            <p:ph type="sldNum" idx="12"/>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tatement Soft Blue">
    <p:bg>
      <p:bgPr>
        <a:solidFill>
          <a:schemeClr val="accent4"/>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8C6BF0C-5945-4FFF-B95D-63550064D2F8}"/>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06165F60-EF76-4750-A316-BF6F9B1D9CD3}"/>
              </a:ext>
            </a:extLst>
          </p:cNvPr>
          <p:cNvSpPr>
            <a:spLocks noGrp="1"/>
          </p:cNvSpPr>
          <p:nvPr>
            <p:ph type="ftr" idx="11"/>
          </p:nvPr>
        </p:nvSpPr>
        <p:spPr/>
        <p:txBody>
          <a:bodyPr/>
          <a:lstStyle>
            <a:lvl1pPr>
              <a:buNone/>
              <a:defRPr>
                <a:solidFill>
                  <a:schemeClr val="tx1"/>
                </a:solidFill>
              </a:defRPr>
            </a:lvl1pPr>
          </a:lstStyle>
          <a:p>
            <a:endParaRPr/>
          </a:p>
        </p:txBody>
      </p:sp>
      <p:sp>
        <p:nvSpPr>
          <p:cNvPr id="7" name="Slide Number Placeholder 6">
            <a:extLst>
              <a:ext uri="{FF2B5EF4-FFF2-40B4-BE49-F238E27FC236}">
                <a16:creationId xmlns:a16="http://schemas.microsoft.com/office/drawing/2014/main" id="{6E120F2D-8620-4D81-AD88-63FDD344631E}"/>
              </a:ext>
            </a:extLst>
          </p:cNvPr>
          <p:cNvSpPr>
            <a:spLocks noGrp="1"/>
          </p:cNvSpPr>
          <p:nvPr>
            <p:ph type="sldNum" idx="12"/>
          </p:nvPr>
        </p:nvSpPr>
        <p:spPr/>
        <p:txBody>
          <a:bodyPr/>
          <a:lstStyle>
            <a:lvl1pPr>
              <a:buNone/>
              <a:defRPr>
                <a:solidFill>
                  <a:schemeClr val="tx1"/>
                </a:solidFill>
              </a:defRPr>
            </a:lvl1pPr>
          </a:lstStyle>
          <a:p>
            <a:endParaRPr/>
          </a:p>
        </p:txBody>
      </p:sp>
      <p:sp>
        <p:nvSpPr>
          <p:cNvPr id="14" name="Text Placeholder 13">
            <a:extLst>
              <a:ext uri="{FF2B5EF4-FFF2-40B4-BE49-F238E27FC236}">
                <a16:creationId xmlns:a16="http://schemas.microsoft.com/office/drawing/2014/main" id="{3C931A1D-33AA-0C07-1D74-3196D9C35973}"/>
              </a:ext>
            </a:extLst>
          </p:cNvPr>
          <p:cNvSpPr>
            <a:spLocks noGrp="1"/>
          </p:cNvSpPr>
          <p:nvPr>
            <p:ph type="body" idx="15"/>
          </p:nvPr>
        </p:nvSpPr>
        <p:spPr>
          <a:xfrm>
            <a:off x="4684714" y="833007"/>
            <a:ext cx="3732894" cy="1858918"/>
          </a:xfrm>
        </p:spPr>
        <p:txBody>
          <a:bodyPr/>
          <a:lstStyle>
            <a:lvl1pPr marL="0" indent="0">
              <a:buNone/>
              <a:defRPr sz="2000">
                <a:solidFill>
                  <a:schemeClr val="tx1"/>
                </a:solidFill>
              </a:defRPr>
            </a:lvl1pPr>
            <a:lvl2pPr>
              <a:buNone/>
              <a:defRPr>
                <a:solidFill>
                  <a:schemeClr val="tx1"/>
                </a:solidFill>
              </a:defRPr>
            </a:lvl2pPr>
          </a:lstStyle>
          <a:p>
            <a:endParaRPr/>
          </a:p>
        </p:txBody>
      </p:sp>
      <p:sp>
        <p:nvSpPr>
          <p:cNvPr id="8" name="Title 1">
            <a:extLst>
              <a:ext uri="{FF2B5EF4-FFF2-40B4-BE49-F238E27FC236}">
                <a16:creationId xmlns:a16="http://schemas.microsoft.com/office/drawing/2014/main" id="{B328F577-4841-9649-336F-3AB9DFB7BDEA}"/>
              </a:ext>
            </a:extLst>
          </p:cNvPr>
          <p:cNvSpPr>
            <a:spLocks noGrp="1"/>
          </p:cNvSpPr>
          <p:nvPr>
            <p:ph type="title"/>
          </p:nvPr>
        </p:nvSpPr>
        <p:spPr>
          <a:xfrm>
            <a:off x="419100" y="756093"/>
            <a:ext cx="3846513" cy="3704782"/>
          </a:xfrm>
        </p:spPr>
        <p:txBody>
          <a:bodyPr anchor="t"/>
          <a:lstStyle>
            <a:lvl1pPr>
              <a:lnSpc>
                <a:spcPct val="100000"/>
              </a:lnSpc>
              <a:buNone/>
              <a:defRPr sz="3600">
                <a:solidFill>
                  <a:schemeClr val="tx1"/>
                </a:solidFill>
              </a:defRPr>
            </a:lvl1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9BC7E5-EBF6-40A6-9F96-CB04A78A54FA}"/>
              </a:ext>
            </a:extLst>
          </p:cNvPr>
          <p:cNvSpPr>
            <a:spLocks noGrp="1"/>
          </p:cNvSpPr>
          <p:nvPr>
            <p:ph type="title"/>
          </p:nvPr>
        </p:nvSpPr>
        <p:spPr>
          <a:xfrm>
            <a:off x="419098" y="393106"/>
            <a:ext cx="8305801" cy="730353"/>
          </a:xfrm>
          <a:prstGeom prst="rect">
            <a:avLst/>
          </a:prstGeom>
        </p:spPr>
        <p:txBody>
          <a:bodyPr vert="horz" lIns="0" tIns="0" rIns="0" bIns="0" anchor="t">
            <a:noAutofit/>
          </a:bodyPr>
          <a:lstStyle/>
          <a:p>
            <a:endParaRPr/>
          </a:p>
        </p:txBody>
      </p:sp>
      <p:sp>
        <p:nvSpPr>
          <p:cNvPr id="3" name="Text Placeholder 2">
            <a:extLst>
              <a:ext uri="{FF2B5EF4-FFF2-40B4-BE49-F238E27FC236}">
                <a16:creationId xmlns:a16="http://schemas.microsoft.com/office/drawing/2014/main" id="{774694C7-E966-47BD-A95F-C8BF3FEC86B6}"/>
              </a:ext>
            </a:extLst>
          </p:cNvPr>
          <p:cNvSpPr>
            <a:spLocks noGrp="1"/>
          </p:cNvSpPr>
          <p:nvPr>
            <p:ph type="body" idx="1"/>
          </p:nvPr>
        </p:nvSpPr>
        <p:spPr>
          <a:xfrm>
            <a:off x="419099" y="1674813"/>
            <a:ext cx="5486400" cy="2784845"/>
          </a:xfrm>
          <a:prstGeom prst="rect">
            <a:avLst/>
          </a:prstGeom>
        </p:spPr>
        <p:txBody>
          <a:bodyPr vert="horz" lIns="0" tIns="0" rIns="0" bIns="0">
            <a:noAutofit/>
          </a:bodyPr>
          <a:lstStyle/>
          <a:p>
            <a:endParaRPr/>
          </a:p>
        </p:txBody>
      </p:sp>
      <p:sp>
        <p:nvSpPr>
          <p:cNvPr id="4" name="Date Placeholder 3">
            <a:extLst>
              <a:ext uri="{FF2B5EF4-FFF2-40B4-BE49-F238E27FC236}">
                <a16:creationId xmlns:a16="http://schemas.microsoft.com/office/drawing/2014/main" id="{0A647A20-376F-4F47-A028-6FB9EE700C07}"/>
              </a:ext>
            </a:extLst>
          </p:cNvPr>
          <p:cNvSpPr>
            <a:spLocks noGrp="1"/>
          </p:cNvSpPr>
          <p:nvPr>
            <p:ph type="dt" idx="2"/>
          </p:nvPr>
        </p:nvSpPr>
        <p:spPr>
          <a:xfrm>
            <a:off x="500463" y="5430974"/>
            <a:ext cx="2057400" cy="273844"/>
          </a:xfrm>
          <a:prstGeom prst="rect">
            <a:avLst/>
          </a:prstGeom>
        </p:spPr>
        <p:txBody>
          <a:bodyPr vert="horz" lIns="91440" tIns="45720" rIns="91440" bIns="45720" anchor="ctr"/>
          <a:lstStyle>
            <a:lvl1pPr algn="l">
              <a:buNone/>
              <a:defRPr sz="900">
                <a:solidFill>
                  <a:schemeClr val="tx1">
                    <a:tint val="75000"/>
                  </a:schemeClr>
                </a:solidFill>
              </a:defRPr>
            </a:lvl1pPr>
          </a:lstStyle>
          <a:p>
            <a:endParaRPr/>
          </a:p>
        </p:txBody>
      </p:sp>
      <p:sp>
        <p:nvSpPr>
          <p:cNvPr id="5" name="Footer Placeholder 4">
            <a:extLst>
              <a:ext uri="{FF2B5EF4-FFF2-40B4-BE49-F238E27FC236}">
                <a16:creationId xmlns:a16="http://schemas.microsoft.com/office/drawing/2014/main" id="{E4461B05-90E0-44BC-ACC3-5C9DC2F3EAAB}"/>
              </a:ext>
            </a:extLst>
          </p:cNvPr>
          <p:cNvSpPr>
            <a:spLocks noGrp="1"/>
          </p:cNvSpPr>
          <p:nvPr>
            <p:ph type="ftr" idx="3"/>
          </p:nvPr>
        </p:nvSpPr>
        <p:spPr>
          <a:xfrm>
            <a:off x="4923156" y="4767388"/>
            <a:ext cx="3086100" cy="107722"/>
          </a:xfrm>
          <a:prstGeom prst="rect">
            <a:avLst/>
          </a:prstGeom>
        </p:spPr>
        <p:txBody>
          <a:bodyPr vert="horz" lIns="0" tIns="0" rIns="0" bIns="0" anchor="ctr">
            <a:noAutofit/>
          </a:bodyPr>
          <a:lstStyle>
            <a:lvl1pPr algn="r">
              <a:buNone/>
              <a:defRPr sz="700">
                <a:solidFill>
                  <a:schemeClr val="accent1"/>
                </a:solidFill>
              </a:defRPr>
            </a:lvl1pPr>
          </a:lstStyle>
          <a:p>
            <a:endParaRPr/>
          </a:p>
        </p:txBody>
      </p:sp>
      <p:sp>
        <p:nvSpPr>
          <p:cNvPr id="6" name="Slide Number Placeholder 5">
            <a:extLst>
              <a:ext uri="{FF2B5EF4-FFF2-40B4-BE49-F238E27FC236}">
                <a16:creationId xmlns:a16="http://schemas.microsoft.com/office/drawing/2014/main" id="{4E68711C-06F4-45E3-B29B-297D354955F5}"/>
              </a:ext>
            </a:extLst>
          </p:cNvPr>
          <p:cNvSpPr>
            <a:spLocks noGrp="1"/>
          </p:cNvSpPr>
          <p:nvPr>
            <p:ph type="sldNum" idx="4"/>
          </p:nvPr>
        </p:nvSpPr>
        <p:spPr>
          <a:xfrm>
            <a:off x="8439468" y="4767388"/>
            <a:ext cx="274320" cy="107722"/>
          </a:xfrm>
          <a:prstGeom prst="rect">
            <a:avLst/>
          </a:prstGeom>
        </p:spPr>
        <p:txBody>
          <a:bodyPr vert="horz" lIns="0" tIns="0" rIns="0" bIns="0" anchor="ctr">
            <a:noAutofit/>
          </a:bodyPr>
          <a:lstStyle>
            <a:lvl1pPr algn="r">
              <a:buNone/>
              <a:defRPr sz="700">
                <a:solidFill>
                  <a:schemeClr val="accent1"/>
                </a:solidFill>
              </a:defRPr>
            </a:lvl1pPr>
          </a:lstStyle>
          <a:p>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Lst>
  <p:txStyles>
    <p:titleStyle>
      <a:lvl1pPr algn="l">
        <a:lnSpc>
          <a:spcPct val="90000"/>
        </a:lnSpc>
        <a:spcBef>
          <a:spcPts val="0"/>
        </a:spcBef>
        <a:buNone/>
        <a:defRPr sz="2800">
          <a:solidFill>
            <a:schemeClr val="tx1"/>
          </a:solidFill>
          <a:latin typeface="+mj-lt"/>
          <a:ea typeface="+mj-lt"/>
          <a:cs typeface="+mj-lt"/>
        </a:defRPr>
      </a:lvl1pPr>
    </p:titleStyle>
    <p:bodyStyle>
      <a:lvl1pPr marL="171450" indent="-171450" algn="l">
        <a:lnSpc>
          <a:spcPct val="100000"/>
        </a:lnSpc>
        <a:spcBef>
          <a:spcPts val="1200"/>
        </a:spcBef>
        <a:buChar char="•"/>
        <a:defRPr sz="1800" b="0">
          <a:solidFill>
            <a:schemeClr val="tx1"/>
          </a:solidFill>
          <a:latin typeface="+mn-lt"/>
          <a:ea typeface="+mn-lt"/>
          <a:cs typeface="+mn-lt"/>
        </a:defRPr>
      </a:lvl1pPr>
      <a:lvl2pPr marL="512763" indent="-171450" algn="l">
        <a:lnSpc>
          <a:spcPct val="100000"/>
        </a:lnSpc>
        <a:spcBef>
          <a:spcPts val="1200"/>
        </a:spcBef>
        <a:buChar char="–"/>
        <a:defRPr sz="1800">
          <a:solidFill>
            <a:schemeClr val="tx1"/>
          </a:solidFill>
          <a:latin typeface="+mn-lt"/>
          <a:ea typeface="+mn-lt"/>
          <a:cs typeface="+mn-lt"/>
        </a:defRPr>
      </a:lvl2pPr>
      <a:lvl3pPr marL="857250" indent="-171450" algn="l">
        <a:lnSpc>
          <a:spcPct val="100000"/>
        </a:lnSpc>
        <a:spcBef>
          <a:spcPts val="1200"/>
        </a:spcBef>
        <a:buChar char="•"/>
        <a:defRPr sz="1800">
          <a:solidFill>
            <a:schemeClr val="tx1"/>
          </a:solidFill>
          <a:latin typeface="+mn-lt"/>
          <a:ea typeface="+mn-lt"/>
          <a:cs typeface="+mn-lt"/>
        </a:defRPr>
      </a:lvl3pPr>
      <a:lvl4pPr marL="1200150" indent="-171450" algn="l">
        <a:lnSpc>
          <a:spcPct val="100000"/>
        </a:lnSpc>
        <a:spcBef>
          <a:spcPts val="1200"/>
        </a:spcBef>
        <a:buChar char="–"/>
        <a:defRPr sz="1800">
          <a:solidFill>
            <a:schemeClr val="tx1"/>
          </a:solidFill>
          <a:latin typeface="+mn-lt"/>
          <a:ea typeface="+mn-lt"/>
          <a:cs typeface="+mn-lt"/>
        </a:defRPr>
      </a:lvl4pPr>
      <a:lvl5pPr marL="1543050" indent="-171450" algn="l">
        <a:lnSpc>
          <a:spcPct val="100000"/>
        </a:lnSpc>
        <a:spcBef>
          <a:spcPts val="1200"/>
        </a:spcBef>
        <a:buChar char="•"/>
        <a:defRPr sz="1800">
          <a:solidFill>
            <a:schemeClr val="tx1"/>
          </a:solidFill>
          <a:latin typeface="+mn-lt"/>
          <a:ea typeface="+mn-lt"/>
          <a:cs typeface="+mn-lt"/>
        </a:defRPr>
      </a:lvl5pPr>
      <a:lvl6pPr marL="1885950" indent="-171450" algn="l">
        <a:lnSpc>
          <a:spcPct val="90000"/>
        </a:lnSpc>
        <a:spcBef>
          <a:spcPts val="375"/>
        </a:spcBef>
        <a:buChar char="•"/>
        <a:defRPr sz="1350">
          <a:solidFill>
            <a:schemeClr val="tx1"/>
          </a:solidFill>
          <a:latin typeface="+mn-lt"/>
          <a:ea typeface="+mn-lt"/>
          <a:cs typeface="+mn-lt"/>
        </a:defRPr>
      </a:lvl6pPr>
      <a:lvl7pPr marL="2228850" indent="-171450" algn="l">
        <a:lnSpc>
          <a:spcPct val="90000"/>
        </a:lnSpc>
        <a:spcBef>
          <a:spcPts val="375"/>
        </a:spcBef>
        <a:buChar char="•"/>
        <a:defRPr sz="1350">
          <a:solidFill>
            <a:schemeClr val="tx1"/>
          </a:solidFill>
          <a:latin typeface="+mn-lt"/>
          <a:ea typeface="+mn-lt"/>
          <a:cs typeface="+mn-lt"/>
        </a:defRPr>
      </a:lvl7pPr>
      <a:lvl8pPr marL="2571750" indent="-171450" algn="l">
        <a:lnSpc>
          <a:spcPct val="90000"/>
        </a:lnSpc>
        <a:spcBef>
          <a:spcPts val="375"/>
        </a:spcBef>
        <a:buChar char="•"/>
        <a:defRPr sz="1350">
          <a:solidFill>
            <a:schemeClr val="tx1"/>
          </a:solidFill>
          <a:latin typeface="+mn-lt"/>
          <a:ea typeface="+mn-lt"/>
          <a:cs typeface="+mn-lt"/>
        </a:defRPr>
      </a:lvl8pPr>
      <a:lvl9pPr marL="2914650" indent="-171450" algn="l">
        <a:lnSpc>
          <a:spcPct val="90000"/>
        </a:lnSpc>
        <a:spcBef>
          <a:spcPts val="375"/>
        </a:spcBef>
        <a:buChar char="•"/>
        <a:defRPr sz="1350">
          <a:solidFill>
            <a:schemeClr val="tx1"/>
          </a:solidFill>
          <a:latin typeface="+mn-lt"/>
          <a:ea typeface="+mn-lt"/>
          <a:cs typeface="+mn-lt"/>
        </a:defRPr>
      </a:lvl9pPr>
    </p:bodyStyle>
    <p:otherStyle>
      <a:lvl1pPr marL="0" algn="l">
        <a:buNone/>
        <a:defRPr sz="1350">
          <a:solidFill>
            <a:schemeClr val="tx1"/>
          </a:solidFill>
          <a:latin typeface="+mn-lt"/>
          <a:ea typeface="+mn-lt"/>
          <a:cs typeface="+mn-lt"/>
        </a:defRPr>
      </a:lvl1pPr>
      <a:lvl2pPr marL="342900" algn="l">
        <a:buNone/>
        <a:defRPr sz="1350">
          <a:solidFill>
            <a:schemeClr val="tx1"/>
          </a:solidFill>
          <a:latin typeface="+mn-lt"/>
          <a:ea typeface="+mn-lt"/>
          <a:cs typeface="+mn-lt"/>
        </a:defRPr>
      </a:lvl2pPr>
      <a:lvl3pPr marL="685800" algn="l">
        <a:buNone/>
        <a:defRPr sz="1350">
          <a:solidFill>
            <a:schemeClr val="tx1"/>
          </a:solidFill>
          <a:latin typeface="+mn-lt"/>
          <a:ea typeface="+mn-lt"/>
          <a:cs typeface="+mn-lt"/>
        </a:defRPr>
      </a:lvl3pPr>
      <a:lvl4pPr marL="1028700" algn="l">
        <a:buNone/>
        <a:defRPr sz="1350">
          <a:solidFill>
            <a:schemeClr val="tx1"/>
          </a:solidFill>
          <a:latin typeface="+mn-lt"/>
          <a:ea typeface="+mn-lt"/>
          <a:cs typeface="+mn-lt"/>
        </a:defRPr>
      </a:lvl4pPr>
      <a:lvl5pPr marL="1371600" algn="l">
        <a:buNone/>
        <a:defRPr sz="1350">
          <a:solidFill>
            <a:schemeClr val="tx1"/>
          </a:solidFill>
          <a:latin typeface="+mn-lt"/>
          <a:ea typeface="+mn-lt"/>
          <a:cs typeface="+mn-lt"/>
        </a:defRPr>
      </a:lvl5pPr>
      <a:lvl6pPr marL="1714500" algn="l">
        <a:buNone/>
        <a:defRPr sz="1350">
          <a:solidFill>
            <a:schemeClr val="tx1"/>
          </a:solidFill>
          <a:latin typeface="+mn-lt"/>
          <a:ea typeface="+mn-lt"/>
          <a:cs typeface="+mn-lt"/>
        </a:defRPr>
      </a:lvl6pPr>
      <a:lvl7pPr marL="2057400" algn="l">
        <a:buNone/>
        <a:defRPr sz="1350">
          <a:solidFill>
            <a:schemeClr val="tx1"/>
          </a:solidFill>
          <a:latin typeface="+mn-lt"/>
          <a:ea typeface="+mn-lt"/>
          <a:cs typeface="+mn-lt"/>
        </a:defRPr>
      </a:lvl7pPr>
      <a:lvl8pPr marL="2400300" algn="l">
        <a:buNone/>
        <a:defRPr sz="1350">
          <a:solidFill>
            <a:schemeClr val="tx1"/>
          </a:solidFill>
          <a:latin typeface="+mn-lt"/>
          <a:ea typeface="+mn-lt"/>
          <a:cs typeface="+mn-lt"/>
        </a:defRPr>
      </a:lvl8pPr>
      <a:lvl9pPr marL="2743200" algn="l">
        <a:buNone/>
        <a:defRPr sz="135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3.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9.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FFFFFF"/>
          </a:solidFill>
          <a:ln w="12700">
            <a:solidFill>
              <a:srgbClr val="FFFFFF">
                <a:alpha val="0"/>
              </a:srgbClr>
            </a:solidFill>
            <a:prstDash val="solid"/>
          </a:ln>
        </p:spPr>
        <p:txBody>
          <a:bodyPr/>
          <a:lstStyle/>
          <a:p>
            <a:endParaRPr lang="en-US" sz="1600" b="1">
              <a:latin typeface="Arial"/>
              <a:cs typeface="Arial"/>
            </a:endParaRPr>
          </a:p>
        </p:txBody>
      </p:sp>
      <p:sp>
        <p:nvSpPr>
          <p:cNvPr id="3" name="Shape 1"/>
          <p:cNvSpPr/>
          <p:nvPr/>
        </p:nvSpPr>
        <p:spPr>
          <a:xfrm>
            <a:off x="1" y="0"/>
            <a:ext cx="9143771" cy="28575"/>
          </a:xfrm>
          <a:prstGeom prst="rect">
            <a:avLst/>
          </a:prstGeom>
          <a:solidFill>
            <a:srgbClr val="4B00E8"/>
          </a:solidFill>
          <a:ln w="12700">
            <a:solidFill>
              <a:srgbClr val="FFFFFF">
                <a:alpha val="0"/>
              </a:srgbClr>
            </a:solidFill>
            <a:prstDash val="solid"/>
          </a:ln>
        </p:spPr>
        <p:txBody>
          <a:bodyPr/>
          <a:lstStyle/>
          <a:p>
            <a:endParaRPr lang="en-US" sz="1100" b="1">
              <a:latin typeface="Arial"/>
              <a:cs typeface="Arial"/>
            </a:endParaRPr>
          </a:p>
        </p:txBody>
      </p:sp>
      <p:sp>
        <p:nvSpPr>
          <p:cNvPr id="5" name="Shape 3"/>
          <p:cNvSpPr/>
          <p:nvPr/>
        </p:nvSpPr>
        <p:spPr>
          <a:xfrm>
            <a:off x="528624" y="942975"/>
            <a:ext cx="78579" cy="2800350"/>
          </a:xfrm>
          <a:prstGeom prst="rect">
            <a:avLst/>
          </a:prstGeom>
          <a:solidFill>
            <a:srgbClr val="4B00E8"/>
          </a:solidFill>
          <a:ln w="12700">
            <a:solidFill>
              <a:srgbClr val="FFFFFF">
                <a:alpha val="0"/>
              </a:srgbClr>
            </a:solidFill>
            <a:prstDash val="solid"/>
          </a:ln>
        </p:spPr>
        <p:txBody>
          <a:bodyPr/>
          <a:lstStyle/>
          <a:p>
            <a:endParaRPr lang="en-US" sz="1400" b="1">
              <a:latin typeface="Arial"/>
              <a:cs typeface="Arial"/>
            </a:endParaRPr>
          </a:p>
        </p:txBody>
      </p:sp>
      <p:sp>
        <p:nvSpPr>
          <p:cNvPr id="7" name="Text 5"/>
          <p:cNvSpPr/>
          <p:nvPr/>
        </p:nvSpPr>
        <p:spPr>
          <a:xfrm>
            <a:off x="914378" y="1042988"/>
            <a:ext cx="6214907" cy="142875"/>
          </a:xfrm>
          <a:prstGeom prst="rect">
            <a:avLst/>
          </a:prstGeom>
          <a:noFill/>
          <a:ln/>
        </p:spPr>
        <p:txBody>
          <a:bodyPr wrap="square" lIns="0" tIns="0" rIns="0" bIns="0" rtlCol="0" anchor="t">
            <a:noAutofit/>
          </a:bodyPr>
          <a:lstStyle>
            <a:lvl1pPr marL="0" algn="l" defTabSz="685800" rtl="0" eaLnBrk="1" latinLnBrk="0" hangingPunct="1">
              <a:defRPr sz="1400" b="1" kern="1200">
                <a:solidFill>
                  <a:schemeClr val="tx1"/>
                </a:solidFill>
                <a:latin typeface="Arial"/>
                <a:ea typeface="+mn-ea"/>
                <a:cs typeface="Arial"/>
              </a:defRPr>
            </a:lvl1pPr>
            <a:lvl2pPr marL="342900" algn="l" defTabSz="685800" rtl="0" eaLnBrk="1" latinLnBrk="0" hangingPunct="1">
              <a:defRPr sz="1400" b="1" kern="1200">
                <a:solidFill>
                  <a:schemeClr val="tx1"/>
                </a:solidFill>
                <a:latin typeface="Arial"/>
                <a:ea typeface="+mn-ea"/>
                <a:cs typeface="Arial"/>
              </a:defRPr>
            </a:lvl2pPr>
            <a:lvl3pPr marL="685800" algn="l" defTabSz="685800" rtl="0" eaLnBrk="1" latinLnBrk="0" hangingPunct="1">
              <a:defRPr sz="1400" b="1" kern="1200">
                <a:solidFill>
                  <a:schemeClr val="tx1"/>
                </a:solidFill>
                <a:latin typeface="Arial"/>
                <a:ea typeface="+mn-ea"/>
                <a:cs typeface="Arial"/>
              </a:defRPr>
            </a:lvl3pPr>
            <a:lvl4pPr marL="1028700" algn="l" defTabSz="685800" rtl="0" eaLnBrk="1" latinLnBrk="0" hangingPunct="1">
              <a:defRPr sz="1400" b="1" kern="1200">
                <a:solidFill>
                  <a:schemeClr val="tx1"/>
                </a:solidFill>
                <a:latin typeface="Arial"/>
                <a:ea typeface="+mn-ea"/>
                <a:cs typeface="Arial"/>
              </a:defRPr>
            </a:lvl4pPr>
            <a:lvl5pPr marL="1371600" algn="l" defTabSz="685800" rtl="0" eaLnBrk="1" latinLnBrk="0" hangingPunct="1">
              <a:defRPr sz="1400" b="1" kern="1200">
                <a:solidFill>
                  <a:schemeClr val="tx1"/>
                </a:solidFill>
                <a:latin typeface="Arial"/>
                <a:ea typeface="+mn-ea"/>
                <a:cs typeface="Arial"/>
              </a:defRPr>
            </a:lvl5pPr>
            <a:lvl6pPr marL="1714500" algn="l" defTabSz="685800" rtl="0" eaLnBrk="1" latinLnBrk="0" hangingPunct="1">
              <a:defRPr sz="1400" b="1" kern="1200">
                <a:solidFill>
                  <a:schemeClr val="tx1"/>
                </a:solidFill>
                <a:latin typeface="Arial"/>
                <a:ea typeface="+mn-ea"/>
                <a:cs typeface="Arial"/>
              </a:defRPr>
            </a:lvl6pPr>
            <a:lvl7pPr marL="2057400" algn="l" defTabSz="685800" rtl="0" eaLnBrk="1" latinLnBrk="0" hangingPunct="1">
              <a:defRPr sz="1400" b="1" kern="1200">
                <a:solidFill>
                  <a:schemeClr val="tx1"/>
                </a:solidFill>
                <a:latin typeface="Arial"/>
                <a:ea typeface="+mn-ea"/>
                <a:cs typeface="Arial"/>
              </a:defRPr>
            </a:lvl7pPr>
            <a:lvl8pPr marL="2400300" algn="l" defTabSz="685800" rtl="0" eaLnBrk="1" latinLnBrk="0" hangingPunct="1">
              <a:defRPr sz="1400" b="1" kern="1200">
                <a:solidFill>
                  <a:schemeClr val="tx1"/>
                </a:solidFill>
                <a:latin typeface="Arial"/>
                <a:ea typeface="+mn-ea"/>
                <a:cs typeface="Arial"/>
              </a:defRPr>
            </a:lvl8pPr>
            <a:lvl9pPr marL="2743200" algn="l" defTabSz="685800" rtl="0" eaLnBrk="1" latinLnBrk="0" hangingPunct="1">
              <a:defRPr sz="1400" b="1" kern="1200">
                <a:solidFill>
                  <a:schemeClr val="tx1"/>
                </a:solidFill>
                <a:latin typeface="Arial"/>
                <a:ea typeface="+mn-ea"/>
                <a:cs typeface="Arial"/>
              </a:defRPr>
            </a:lvl9pPr>
          </a:lstStyle>
          <a:p>
            <a:pPr marL="0" indent="0" algn="l">
              <a:buNone/>
            </a:pPr>
            <a:r>
              <a:rPr lang="en-US" sz="1400" dirty="0">
                <a:solidFill>
                  <a:srgbClr val="4B00E8"/>
                </a:solidFill>
                <a:ea typeface="Aptos" pitchFamily="34" charset="-122"/>
                <a:cs typeface="Arial"/>
              </a:rPr>
              <a:t>MACHINE LEARNING FOR CLINICAL CARE AND RESEARCH AT INTERMOUNTAIN</a:t>
            </a:r>
            <a:endParaRPr lang="en-US" sz="1400" dirty="0">
              <a:latin typeface="Arial"/>
              <a:cs typeface="Arial"/>
            </a:endParaRPr>
          </a:p>
        </p:txBody>
      </p:sp>
      <p:sp>
        <p:nvSpPr>
          <p:cNvPr id="8" name="Text 6"/>
          <p:cNvSpPr/>
          <p:nvPr/>
        </p:nvSpPr>
        <p:spPr>
          <a:xfrm>
            <a:off x="914377" y="1414463"/>
            <a:ext cx="5571986" cy="1457325"/>
          </a:xfrm>
          <a:prstGeom prst="rect">
            <a:avLst/>
          </a:prstGeom>
          <a:noFill/>
          <a:ln/>
        </p:spPr>
        <p:txBody>
          <a:bodyPr wrap="square" lIns="0" tIns="0" rIns="0" bIns="0" rtlCol="0" anchor="t">
            <a:normAutofit/>
          </a:bodyPr>
          <a:lstStyle>
            <a:lvl1pPr marL="0" algn="l" defTabSz="685800" rtl="0" eaLnBrk="1" latinLnBrk="0" hangingPunct="1">
              <a:defRPr sz="3200" b="1" kern="1200">
                <a:solidFill>
                  <a:schemeClr val="tx1"/>
                </a:solidFill>
                <a:latin typeface="Arial"/>
                <a:ea typeface="+mn-ea"/>
                <a:cs typeface="Arial"/>
              </a:defRPr>
            </a:lvl1pPr>
            <a:lvl2pPr marL="342900" algn="l" defTabSz="685800" rtl="0" eaLnBrk="1" latinLnBrk="0" hangingPunct="1">
              <a:defRPr sz="3200" b="1" kern="1200">
                <a:solidFill>
                  <a:schemeClr val="tx1"/>
                </a:solidFill>
                <a:latin typeface="Arial"/>
                <a:ea typeface="+mn-ea"/>
                <a:cs typeface="Arial"/>
              </a:defRPr>
            </a:lvl2pPr>
            <a:lvl3pPr marL="685800" algn="l" defTabSz="685800" rtl="0" eaLnBrk="1" latinLnBrk="0" hangingPunct="1">
              <a:defRPr sz="3200" b="1" kern="1200">
                <a:solidFill>
                  <a:schemeClr val="tx1"/>
                </a:solidFill>
                <a:latin typeface="Arial"/>
                <a:ea typeface="+mn-ea"/>
                <a:cs typeface="Arial"/>
              </a:defRPr>
            </a:lvl3pPr>
            <a:lvl4pPr marL="1028700" algn="l" defTabSz="685800" rtl="0" eaLnBrk="1" latinLnBrk="0" hangingPunct="1">
              <a:defRPr sz="3200" b="1" kern="1200">
                <a:solidFill>
                  <a:schemeClr val="tx1"/>
                </a:solidFill>
                <a:latin typeface="Arial"/>
                <a:ea typeface="+mn-ea"/>
                <a:cs typeface="Arial"/>
              </a:defRPr>
            </a:lvl4pPr>
            <a:lvl5pPr marL="1371600" algn="l" defTabSz="685800" rtl="0" eaLnBrk="1" latinLnBrk="0" hangingPunct="1">
              <a:defRPr sz="3200" b="1" kern="1200">
                <a:solidFill>
                  <a:schemeClr val="tx1"/>
                </a:solidFill>
                <a:latin typeface="Arial"/>
                <a:ea typeface="+mn-ea"/>
                <a:cs typeface="Arial"/>
              </a:defRPr>
            </a:lvl5pPr>
            <a:lvl6pPr marL="1714500" algn="l" defTabSz="685800" rtl="0" eaLnBrk="1" latinLnBrk="0" hangingPunct="1">
              <a:defRPr sz="3200" b="1" kern="1200">
                <a:solidFill>
                  <a:schemeClr val="tx1"/>
                </a:solidFill>
                <a:latin typeface="Arial"/>
                <a:ea typeface="+mn-ea"/>
                <a:cs typeface="Arial"/>
              </a:defRPr>
            </a:lvl6pPr>
            <a:lvl7pPr marL="2057400" algn="l" defTabSz="685800" rtl="0" eaLnBrk="1" latinLnBrk="0" hangingPunct="1">
              <a:defRPr sz="3200" b="1" kern="1200">
                <a:solidFill>
                  <a:schemeClr val="tx1"/>
                </a:solidFill>
                <a:latin typeface="Arial"/>
                <a:ea typeface="+mn-ea"/>
                <a:cs typeface="Arial"/>
              </a:defRPr>
            </a:lvl7pPr>
            <a:lvl8pPr marL="2400300" algn="l" defTabSz="685800" rtl="0" eaLnBrk="1" latinLnBrk="0" hangingPunct="1">
              <a:defRPr sz="3200" b="1" kern="1200">
                <a:solidFill>
                  <a:schemeClr val="tx1"/>
                </a:solidFill>
                <a:latin typeface="Arial"/>
                <a:ea typeface="+mn-ea"/>
                <a:cs typeface="Arial"/>
              </a:defRPr>
            </a:lvl8pPr>
            <a:lvl9pPr marL="2743200" algn="l" defTabSz="685800" rtl="0" eaLnBrk="1" latinLnBrk="0" hangingPunct="1">
              <a:defRPr sz="3200" b="1" kern="1200">
                <a:solidFill>
                  <a:schemeClr val="tx1"/>
                </a:solidFill>
                <a:latin typeface="Arial"/>
                <a:ea typeface="+mn-ea"/>
                <a:cs typeface="Arial"/>
              </a:defRPr>
            </a:lvl9pPr>
          </a:lstStyle>
          <a:p>
            <a:pPr marL="0" indent="0" algn="l">
              <a:buNone/>
            </a:pPr>
            <a:r>
              <a:rPr lang="en-US" sz="3200" b="1" dirty="0">
                <a:solidFill>
                  <a:srgbClr val="1C0A63"/>
                </a:solidFill>
                <a:ea typeface="Aptos" pitchFamily="34" charset="-122"/>
                <a:cs typeface="Arial"/>
              </a:rPr>
              <a:t>You can predict the future.</a:t>
            </a:r>
            <a:endParaRPr lang="en-US" sz="3200" b="1" dirty="0">
              <a:latin typeface="Arial"/>
              <a:cs typeface="Arial"/>
            </a:endParaRPr>
          </a:p>
          <a:p>
            <a:pPr marL="0" indent="0" algn="l">
              <a:buNone/>
            </a:pPr>
            <a:r>
              <a:rPr lang="en-US" sz="3200" b="1" dirty="0">
                <a:solidFill>
                  <a:srgbClr val="1C0A63"/>
                </a:solidFill>
                <a:ea typeface="Aptos" pitchFamily="34" charset="-122"/>
                <a:cs typeface="Arial"/>
              </a:rPr>
              <a:t>So what?</a:t>
            </a:r>
            <a:endParaRPr lang="en-US" sz="3200" b="1" dirty="0">
              <a:latin typeface="Arial"/>
              <a:cs typeface="Arial"/>
            </a:endParaRPr>
          </a:p>
        </p:txBody>
      </p:sp>
      <p:sp>
        <p:nvSpPr>
          <p:cNvPr id="9" name="Text 7"/>
          <p:cNvSpPr/>
          <p:nvPr/>
        </p:nvSpPr>
        <p:spPr>
          <a:xfrm>
            <a:off x="928665" y="2921000"/>
            <a:ext cx="5857729" cy="485775"/>
          </a:xfrm>
          <a:prstGeom prst="rect">
            <a:avLst/>
          </a:prstGeom>
          <a:noFill/>
          <a:ln/>
        </p:spPr>
        <p:txBody>
          <a:bodyPr wrap="square" lIns="0" tIns="0" rIns="0" bIns="0" rtlCol="0" anchor="t">
            <a:noAutofit/>
          </a:bodyPr>
          <a:lstStyle>
            <a:lvl1pPr marL="0" algn="l" defTabSz="685800" rtl="0" eaLnBrk="1" latinLnBrk="0" hangingPunct="1">
              <a:defRPr sz="1600" kern="1200">
                <a:solidFill>
                  <a:schemeClr val="tx1"/>
                </a:solidFill>
                <a:latin typeface="Arial"/>
                <a:ea typeface="+mn-ea"/>
                <a:cs typeface="Arial"/>
              </a:defRPr>
            </a:lvl1pPr>
            <a:lvl2pPr marL="342900" algn="l" defTabSz="685800" rtl="0" eaLnBrk="1" latinLnBrk="0" hangingPunct="1">
              <a:defRPr sz="1600" kern="1200">
                <a:solidFill>
                  <a:schemeClr val="tx1"/>
                </a:solidFill>
                <a:latin typeface="Arial"/>
                <a:ea typeface="+mn-ea"/>
                <a:cs typeface="Arial"/>
              </a:defRPr>
            </a:lvl2pPr>
            <a:lvl3pPr marL="685800" algn="l" defTabSz="685800" rtl="0" eaLnBrk="1" latinLnBrk="0" hangingPunct="1">
              <a:defRPr sz="1600" kern="1200">
                <a:solidFill>
                  <a:schemeClr val="tx1"/>
                </a:solidFill>
                <a:latin typeface="Arial"/>
                <a:ea typeface="+mn-ea"/>
                <a:cs typeface="Arial"/>
              </a:defRPr>
            </a:lvl3pPr>
            <a:lvl4pPr marL="1028700" algn="l" defTabSz="685800" rtl="0" eaLnBrk="1" latinLnBrk="0" hangingPunct="1">
              <a:defRPr sz="1600" kern="1200">
                <a:solidFill>
                  <a:schemeClr val="tx1"/>
                </a:solidFill>
                <a:latin typeface="Arial"/>
                <a:ea typeface="+mn-ea"/>
                <a:cs typeface="Arial"/>
              </a:defRPr>
            </a:lvl4pPr>
            <a:lvl5pPr marL="1371600" algn="l" defTabSz="685800" rtl="0" eaLnBrk="1" latinLnBrk="0" hangingPunct="1">
              <a:defRPr sz="1600" kern="1200">
                <a:solidFill>
                  <a:schemeClr val="tx1"/>
                </a:solidFill>
                <a:latin typeface="Arial"/>
                <a:ea typeface="+mn-ea"/>
                <a:cs typeface="Arial"/>
              </a:defRPr>
            </a:lvl5pPr>
            <a:lvl6pPr marL="1714500" algn="l" defTabSz="685800" rtl="0" eaLnBrk="1" latinLnBrk="0" hangingPunct="1">
              <a:defRPr sz="1600" kern="1200">
                <a:solidFill>
                  <a:schemeClr val="tx1"/>
                </a:solidFill>
                <a:latin typeface="Arial"/>
                <a:ea typeface="+mn-ea"/>
                <a:cs typeface="Arial"/>
              </a:defRPr>
            </a:lvl6pPr>
            <a:lvl7pPr marL="2057400" algn="l" defTabSz="685800" rtl="0" eaLnBrk="1" latinLnBrk="0" hangingPunct="1">
              <a:defRPr sz="1600" kern="1200">
                <a:solidFill>
                  <a:schemeClr val="tx1"/>
                </a:solidFill>
                <a:latin typeface="Arial"/>
                <a:ea typeface="+mn-ea"/>
                <a:cs typeface="Arial"/>
              </a:defRPr>
            </a:lvl7pPr>
            <a:lvl8pPr marL="2400300" algn="l" defTabSz="685800" rtl="0" eaLnBrk="1" latinLnBrk="0" hangingPunct="1">
              <a:defRPr sz="1600" kern="1200">
                <a:solidFill>
                  <a:schemeClr val="tx1"/>
                </a:solidFill>
                <a:latin typeface="Arial"/>
                <a:ea typeface="+mn-ea"/>
                <a:cs typeface="Arial"/>
              </a:defRPr>
            </a:lvl8pPr>
            <a:lvl9pPr marL="2743200" algn="l" defTabSz="685800" rtl="0" eaLnBrk="1" latinLnBrk="0" hangingPunct="1">
              <a:defRPr sz="1600" kern="1200">
                <a:solidFill>
                  <a:schemeClr val="tx1"/>
                </a:solidFill>
                <a:latin typeface="Arial"/>
                <a:ea typeface="+mn-ea"/>
                <a:cs typeface="Arial"/>
              </a:defRPr>
            </a:lvl9pPr>
          </a:lstStyle>
          <a:p>
            <a:pPr marL="0" indent="0" algn="l">
              <a:buNone/>
            </a:pPr>
            <a:r>
              <a:rPr lang="en-US" dirty="0">
                <a:solidFill>
                  <a:srgbClr val="4E416F"/>
                </a:solidFill>
                <a:ea typeface="Aptos" pitchFamily="34" charset="-122"/>
              </a:rPr>
              <a:t>Moving from accurate predictions to rigorous, patient-centered treatment decisions</a:t>
            </a:r>
            <a:endParaRPr lang="en-US" dirty="0"/>
          </a:p>
        </p:txBody>
      </p:sp>
      <p:sp>
        <p:nvSpPr>
          <p:cNvPr id="11" name="Shape 9"/>
          <p:cNvSpPr/>
          <p:nvPr/>
        </p:nvSpPr>
        <p:spPr>
          <a:xfrm>
            <a:off x="1" y="4107657"/>
            <a:ext cx="9143771" cy="1035844"/>
          </a:xfrm>
          <a:prstGeom prst="rect">
            <a:avLst/>
          </a:prstGeom>
          <a:solidFill>
            <a:srgbClr val="16006B"/>
          </a:solidFill>
          <a:ln w="12700">
            <a:solidFill>
              <a:srgbClr val="FFFFFF">
                <a:alpha val="0"/>
              </a:srgbClr>
            </a:solidFill>
            <a:prstDash val="solid"/>
          </a:ln>
        </p:spPr>
        <p:txBody>
          <a:bodyPr/>
          <a:lstStyle/>
          <a:p>
            <a:endParaRPr lang="en-US" sz="1600">
              <a:latin typeface="Arial"/>
              <a:cs typeface="Arial"/>
            </a:endParaRPr>
          </a:p>
        </p:txBody>
      </p:sp>
      <p:sp>
        <p:nvSpPr>
          <p:cNvPr id="12" name="Text 10"/>
          <p:cNvSpPr/>
          <p:nvPr/>
        </p:nvSpPr>
        <p:spPr>
          <a:xfrm>
            <a:off x="584200" y="4267200"/>
            <a:ext cx="5969000" cy="279400"/>
          </a:xfrm>
          <a:prstGeom prst="rect">
            <a:avLst/>
          </a:prstGeom>
          <a:noFill/>
          <a:ln/>
        </p:spPr>
        <p:txBody>
          <a:bodyPr wrap="square" lIns="0" tIns="0" rIns="0" bIns="0" rtlCol="0" anchor="t">
            <a:noAutofit/>
          </a:bodyPr>
          <a:lstStyle>
            <a:lvl1pPr marL="0" algn="l" defTabSz="685800" rtl="0" eaLnBrk="1" latinLnBrk="0" hangingPunct="1">
              <a:defRPr sz="1400" kern="1200">
                <a:solidFill>
                  <a:schemeClr val="tx1"/>
                </a:solidFill>
                <a:latin typeface="Arial"/>
                <a:ea typeface="+mn-ea"/>
                <a:cs typeface="Arial"/>
              </a:defRPr>
            </a:lvl1pPr>
            <a:lvl2pPr marL="342900" algn="l" defTabSz="685800" rtl="0" eaLnBrk="1" latinLnBrk="0" hangingPunct="1">
              <a:defRPr sz="1400" kern="1200">
                <a:solidFill>
                  <a:schemeClr val="tx1"/>
                </a:solidFill>
                <a:latin typeface="Arial"/>
                <a:ea typeface="+mn-ea"/>
                <a:cs typeface="Arial"/>
              </a:defRPr>
            </a:lvl2pPr>
            <a:lvl3pPr marL="685800" algn="l" defTabSz="685800" rtl="0" eaLnBrk="1" latinLnBrk="0" hangingPunct="1">
              <a:defRPr sz="1400" kern="1200">
                <a:solidFill>
                  <a:schemeClr val="tx1"/>
                </a:solidFill>
                <a:latin typeface="Arial"/>
                <a:ea typeface="+mn-ea"/>
                <a:cs typeface="Arial"/>
              </a:defRPr>
            </a:lvl3pPr>
            <a:lvl4pPr marL="1028700" algn="l" defTabSz="685800" rtl="0" eaLnBrk="1" latinLnBrk="0" hangingPunct="1">
              <a:defRPr sz="1400" kern="1200">
                <a:solidFill>
                  <a:schemeClr val="tx1"/>
                </a:solidFill>
                <a:latin typeface="Arial"/>
                <a:ea typeface="+mn-ea"/>
                <a:cs typeface="Arial"/>
              </a:defRPr>
            </a:lvl4pPr>
            <a:lvl5pPr marL="1371600" algn="l" defTabSz="685800" rtl="0" eaLnBrk="1" latinLnBrk="0" hangingPunct="1">
              <a:defRPr sz="1400" kern="1200">
                <a:solidFill>
                  <a:schemeClr val="tx1"/>
                </a:solidFill>
                <a:latin typeface="Arial"/>
                <a:ea typeface="+mn-ea"/>
                <a:cs typeface="Arial"/>
              </a:defRPr>
            </a:lvl5pPr>
            <a:lvl6pPr marL="1714500" algn="l" defTabSz="685800" rtl="0" eaLnBrk="1" latinLnBrk="0" hangingPunct="1">
              <a:defRPr sz="1400" kern="1200">
                <a:solidFill>
                  <a:schemeClr val="tx1"/>
                </a:solidFill>
                <a:latin typeface="Arial"/>
                <a:ea typeface="+mn-ea"/>
                <a:cs typeface="Arial"/>
              </a:defRPr>
            </a:lvl6pPr>
            <a:lvl7pPr marL="2057400" algn="l" defTabSz="685800" rtl="0" eaLnBrk="1" latinLnBrk="0" hangingPunct="1">
              <a:defRPr sz="1400" kern="1200">
                <a:solidFill>
                  <a:schemeClr val="tx1"/>
                </a:solidFill>
                <a:latin typeface="Arial"/>
                <a:ea typeface="+mn-ea"/>
                <a:cs typeface="Arial"/>
              </a:defRPr>
            </a:lvl7pPr>
            <a:lvl8pPr marL="2400300" algn="l" defTabSz="685800" rtl="0" eaLnBrk="1" latinLnBrk="0" hangingPunct="1">
              <a:defRPr sz="1400" kern="1200">
                <a:solidFill>
                  <a:schemeClr val="tx1"/>
                </a:solidFill>
                <a:latin typeface="Arial"/>
                <a:ea typeface="+mn-ea"/>
                <a:cs typeface="Arial"/>
              </a:defRPr>
            </a:lvl8pPr>
            <a:lvl9pPr marL="2743200" algn="l" defTabSz="685800" rtl="0" eaLnBrk="1" latinLnBrk="0" hangingPunct="1">
              <a:defRPr sz="1400" kern="1200">
                <a:solidFill>
                  <a:schemeClr val="tx1"/>
                </a:solidFill>
                <a:latin typeface="Arial"/>
                <a:ea typeface="+mn-ea"/>
                <a:cs typeface="Arial"/>
              </a:defRPr>
            </a:lvl9pPr>
          </a:lstStyle>
          <a:p>
            <a:pPr marL="0" indent="0" algn="l">
              <a:buNone/>
            </a:pPr>
            <a:r>
              <a:rPr lang="en-US" sz="1400" dirty="0">
                <a:solidFill>
                  <a:srgbClr val="FFFFFF"/>
                </a:solidFill>
                <a:ea typeface="Aptos" pitchFamily="34" charset="-122"/>
                <a:cs typeface="Arial"/>
              </a:rPr>
              <a:t>Brian Locke, MD, MSCI  |  Pulmonary &amp; Critical Care Grand Rounds  |  Intermountain Medical Center</a:t>
            </a:r>
          </a:p>
        </p:txBody>
      </p:sp>
      <p:sp>
        <p:nvSpPr>
          <p:cNvPr id="13" name="Shape 11"/>
          <p:cNvSpPr/>
          <p:nvPr/>
        </p:nvSpPr>
        <p:spPr>
          <a:xfrm>
            <a:off x="7112000" y="4241800"/>
            <a:ext cx="1447800" cy="330200"/>
          </a:xfrm>
          <a:prstGeom prst="rect">
            <a:avLst/>
          </a:prstGeom>
          <a:solidFill>
            <a:srgbClr val="FFFFFF">
              <a:alpha val="0"/>
            </a:srgbClr>
          </a:solidFill>
          <a:ln w="9525">
            <a:solidFill>
              <a:srgbClr val="FFFFFF"/>
            </a:solidFill>
            <a:prstDash val="solid"/>
          </a:ln>
        </p:spPr>
        <p:txBody>
          <a:bodyPr/>
          <a:lstStyle/>
          <a:p>
            <a:endParaRPr lang="en-US" sz="1400">
              <a:latin typeface="Arial"/>
              <a:cs typeface="Arial"/>
            </a:endParaRPr>
          </a:p>
        </p:txBody>
      </p:sp>
      <p:sp>
        <p:nvSpPr>
          <p:cNvPr id="14" name="Text 12"/>
          <p:cNvSpPr/>
          <p:nvPr/>
        </p:nvSpPr>
        <p:spPr>
          <a:xfrm>
            <a:off x="7112000" y="4279900"/>
            <a:ext cx="1447800" cy="254000"/>
          </a:xfrm>
          <a:prstGeom prst="rect">
            <a:avLst/>
          </a:prstGeom>
          <a:noFill/>
          <a:ln/>
        </p:spPr>
        <p:txBody>
          <a:bodyPr wrap="square" lIns="0" tIns="0" rIns="0" bIns="0" rtlCol="0" anchor="t">
            <a:normAutofit/>
          </a:bodyPr>
          <a:lstStyle>
            <a:lvl1pPr marL="0" algn="l" defTabSz="685800" rtl="0" eaLnBrk="1" latinLnBrk="0" hangingPunct="1">
              <a:defRPr sz="1400" kern="1200">
                <a:solidFill>
                  <a:schemeClr val="tx1"/>
                </a:solidFill>
                <a:latin typeface="Arial"/>
                <a:ea typeface="+mn-ea"/>
                <a:cs typeface="Arial"/>
              </a:defRPr>
            </a:lvl1pPr>
            <a:lvl2pPr marL="342900" algn="l" defTabSz="685800" rtl="0" eaLnBrk="1" latinLnBrk="0" hangingPunct="1">
              <a:defRPr sz="1400" kern="1200">
                <a:solidFill>
                  <a:schemeClr val="tx1"/>
                </a:solidFill>
                <a:latin typeface="Arial"/>
                <a:ea typeface="+mn-ea"/>
                <a:cs typeface="Arial"/>
              </a:defRPr>
            </a:lvl2pPr>
            <a:lvl3pPr marL="685800" algn="l" defTabSz="685800" rtl="0" eaLnBrk="1" latinLnBrk="0" hangingPunct="1">
              <a:defRPr sz="1400" kern="1200">
                <a:solidFill>
                  <a:schemeClr val="tx1"/>
                </a:solidFill>
                <a:latin typeface="Arial"/>
                <a:ea typeface="+mn-ea"/>
                <a:cs typeface="Arial"/>
              </a:defRPr>
            </a:lvl3pPr>
            <a:lvl4pPr marL="1028700" algn="l" defTabSz="685800" rtl="0" eaLnBrk="1" latinLnBrk="0" hangingPunct="1">
              <a:defRPr sz="1400" kern="1200">
                <a:solidFill>
                  <a:schemeClr val="tx1"/>
                </a:solidFill>
                <a:latin typeface="Arial"/>
                <a:ea typeface="+mn-ea"/>
                <a:cs typeface="Arial"/>
              </a:defRPr>
            </a:lvl4pPr>
            <a:lvl5pPr marL="1371600" algn="l" defTabSz="685800" rtl="0" eaLnBrk="1" latinLnBrk="0" hangingPunct="1">
              <a:defRPr sz="1400" kern="1200">
                <a:solidFill>
                  <a:schemeClr val="tx1"/>
                </a:solidFill>
                <a:latin typeface="Arial"/>
                <a:ea typeface="+mn-ea"/>
                <a:cs typeface="Arial"/>
              </a:defRPr>
            </a:lvl5pPr>
            <a:lvl6pPr marL="1714500" algn="l" defTabSz="685800" rtl="0" eaLnBrk="1" latinLnBrk="0" hangingPunct="1">
              <a:defRPr sz="1400" kern="1200">
                <a:solidFill>
                  <a:schemeClr val="tx1"/>
                </a:solidFill>
                <a:latin typeface="Arial"/>
                <a:ea typeface="+mn-ea"/>
                <a:cs typeface="Arial"/>
              </a:defRPr>
            </a:lvl6pPr>
            <a:lvl7pPr marL="2057400" algn="l" defTabSz="685800" rtl="0" eaLnBrk="1" latinLnBrk="0" hangingPunct="1">
              <a:defRPr sz="1400" kern="1200">
                <a:solidFill>
                  <a:schemeClr val="tx1"/>
                </a:solidFill>
                <a:latin typeface="Arial"/>
                <a:ea typeface="+mn-ea"/>
                <a:cs typeface="Arial"/>
              </a:defRPr>
            </a:lvl7pPr>
            <a:lvl8pPr marL="2400300" algn="l" defTabSz="685800" rtl="0" eaLnBrk="1" latinLnBrk="0" hangingPunct="1">
              <a:defRPr sz="1400" kern="1200">
                <a:solidFill>
                  <a:schemeClr val="tx1"/>
                </a:solidFill>
                <a:latin typeface="Arial"/>
                <a:ea typeface="+mn-ea"/>
                <a:cs typeface="Arial"/>
              </a:defRPr>
            </a:lvl8pPr>
            <a:lvl9pPr marL="2743200" algn="l" defTabSz="685800" rtl="0" eaLnBrk="1" latinLnBrk="0" hangingPunct="1">
              <a:defRPr sz="1400" kern="1200">
                <a:solidFill>
                  <a:schemeClr val="tx1"/>
                </a:solidFill>
                <a:latin typeface="Arial"/>
                <a:ea typeface="+mn-ea"/>
                <a:cs typeface="Arial"/>
              </a:defRPr>
            </a:lvl9pPr>
          </a:lstStyle>
          <a:p>
            <a:pPr marL="0" indent="0" algn="ctr">
              <a:buNone/>
            </a:pPr>
            <a:r>
              <a:rPr lang="en-US" sz="1400" dirty="0">
                <a:solidFill>
                  <a:srgbClr val="FFFFFF"/>
                </a:solidFill>
                <a:ea typeface="Aptos" pitchFamily="34" charset="-122"/>
                <a:cs typeface="Arial"/>
              </a:rPr>
              <a:t>June 2, 2026</a:t>
            </a:r>
          </a:p>
        </p:txBody>
      </p:sp>
      <p:sp>
        <p:nvSpPr>
          <p:cNvPr id="15" name="Text 13"/>
          <p:cNvSpPr/>
          <p:nvPr/>
        </p:nvSpPr>
        <p:spPr>
          <a:xfrm>
            <a:off x="584200" y="4699000"/>
            <a:ext cx="7962900" cy="279400"/>
          </a:xfrm>
          <a:prstGeom prst="rect">
            <a:avLst/>
          </a:prstGeom>
          <a:noFill/>
          <a:ln/>
        </p:spPr>
        <p:txBody>
          <a:bodyPr wrap="square" lIns="0" tIns="0" rIns="0" bIns="0" rtlCol="0" anchor="t">
            <a:noAutofit/>
          </a:bodyPr>
          <a:lstStyle>
            <a:lvl1pPr marL="0" algn="l" defTabSz="685800" rtl="0" eaLnBrk="1" latinLnBrk="0" hangingPunct="1">
              <a:defRPr sz="1400" kern="1200">
                <a:solidFill>
                  <a:schemeClr val="tx1"/>
                </a:solidFill>
                <a:latin typeface="Arial"/>
                <a:ea typeface="+mn-ea"/>
                <a:cs typeface="Arial"/>
              </a:defRPr>
            </a:lvl1pPr>
            <a:lvl2pPr marL="342900" algn="l" defTabSz="685800" rtl="0" eaLnBrk="1" latinLnBrk="0" hangingPunct="1">
              <a:defRPr sz="1400" kern="1200">
                <a:solidFill>
                  <a:schemeClr val="tx1"/>
                </a:solidFill>
                <a:latin typeface="Arial"/>
                <a:ea typeface="+mn-ea"/>
                <a:cs typeface="Arial"/>
              </a:defRPr>
            </a:lvl2pPr>
            <a:lvl3pPr marL="685800" algn="l" defTabSz="685800" rtl="0" eaLnBrk="1" latinLnBrk="0" hangingPunct="1">
              <a:defRPr sz="1400" kern="1200">
                <a:solidFill>
                  <a:schemeClr val="tx1"/>
                </a:solidFill>
                <a:latin typeface="Arial"/>
                <a:ea typeface="+mn-ea"/>
                <a:cs typeface="Arial"/>
              </a:defRPr>
            </a:lvl3pPr>
            <a:lvl4pPr marL="1028700" algn="l" defTabSz="685800" rtl="0" eaLnBrk="1" latinLnBrk="0" hangingPunct="1">
              <a:defRPr sz="1400" kern="1200">
                <a:solidFill>
                  <a:schemeClr val="tx1"/>
                </a:solidFill>
                <a:latin typeface="Arial"/>
                <a:ea typeface="+mn-ea"/>
                <a:cs typeface="Arial"/>
              </a:defRPr>
            </a:lvl4pPr>
            <a:lvl5pPr marL="1371600" algn="l" defTabSz="685800" rtl="0" eaLnBrk="1" latinLnBrk="0" hangingPunct="1">
              <a:defRPr sz="1400" kern="1200">
                <a:solidFill>
                  <a:schemeClr val="tx1"/>
                </a:solidFill>
                <a:latin typeface="Arial"/>
                <a:ea typeface="+mn-ea"/>
                <a:cs typeface="Arial"/>
              </a:defRPr>
            </a:lvl5pPr>
            <a:lvl6pPr marL="1714500" algn="l" defTabSz="685800" rtl="0" eaLnBrk="1" latinLnBrk="0" hangingPunct="1">
              <a:defRPr sz="1400" kern="1200">
                <a:solidFill>
                  <a:schemeClr val="tx1"/>
                </a:solidFill>
                <a:latin typeface="Arial"/>
                <a:ea typeface="+mn-ea"/>
                <a:cs typeface="Arial"/>
              </a:defRPr>
            </a:lvl6pPr>
            <a:lvl7pPr marL="2057400" algn="l" defTabSz="685800" rtl="0" eaLnBrk="1" latinLnBrk="0" hangingPunct="1">
              <a:defRPr sz="1400" kern="1200">
                <a:solidFill>
                  <a:schemeClr val="tx1"/>
                </a:solidFill>
                <a:latin typeface="Arial"/>
                <a:ea typeface="+mn-ea"/>
                <a:cs typeface="Arial"/>
              </a:defRPr>
            </a:lvl7pPr>
            <a:lvl8pPr marL="2400300" algn="l" defTabSz="685800" rtl="0" eaLnBrk="1" latinLnBrk="0" hangingPunct="1">
              <a:defRPr sz="1400" kern="1200">
                <a:solidFill>
                  <a:schemeClr val="tx1"/>
                </a:solidFill>
                <a:latin typeface="Arial"/>
                <a:ea typeface="+mn-ea"/>
                <a:cs typeface="Arial"/>
              </a:defRPr>
            </a:lvl8pPr>
            <a:lvl9pPr marL="2743200" algn="l" defTabSz="685800" rtl="0" eaLnBrk="1" latinLnBrk="0" hangingPunct="1">
              <a:defRPr sz="1400" kern="1200">
                <a:solidFill>
                  <a:schemeClr val="tx1"/>
                </a:solidFill>
                <a:latin typeface="Arial"/>
                <a:ea typeface="+mn-ea"/>
                <a:cs typeface="Arial"/>
              </a:defRPr>
            </a:lvl9pPr>
          </a:lstStyle>
          <a:p>
            <a:pPr marL="0" indent="0" algn="l">
              <a:buNone/>
            </a:pPr>
            <a:r>
              <a:rPr lang="en-US" sz="1050" dirty="0">
                <a:solidFill>
                  <a:srgbClr val="DCD6FF"/>
                </a:solidFill>
                <a:ea typeface="Aptos" pitchFamily="34" charset="-122"/>
                <a:cs typeface="Arial"/>
              </a:rPr>
              <a:t>Disclosure: Relevant financial relationship. Equity in Mountain Biometrics (MTN), non-clinical AI startup related to data harmonization.</a:t>
            </a:r>
          </a:p>
        </p:txBody>
      </p:sp>
    </p:spTree>
    <p:extLst>
      <p:ext uri="{BB962C8B-B14F-4D97-AF65-F5344CB8AC3E}">
        <p14:creationId xmlns:p14="http://schemas.microsoft.com/office/powerpoint/2010/main" val="3649018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B602749-C5F1-40F2-B54E-2D3DAFE8CA2C}"/>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D4821AAE-3F75-4687-989A-31F9509EB4EF}"/>
              </a:ext>
            </a:extLst>
          </p:cNvPr>
          <p:cNvSpPr>
            <a:spLocks noGrp="1"/>
          </p:cNvSpPr>
          <p:nvPr/>
        </p:nvSpPr>
        <p:spPr>
          <a:xfrm>
            <a:off x="361950" y="304800"/>
            <a:ext cx="57150" cy="4445000"/>
          </a:xfrm>
          <a:prstGeom prst="rect">
            <a:avLst/>
          </a:prstGeom>
          <a:solidFill>
            <a:srgbClr val="4A00E2"/>
          </a:solidFill>
          <a:ln w="0">
            <a:solidFill>
              <a:srgbClr val="000000">
                <a:alpha val="0"/>
              </a:srgbClr>
            </a:solidFill>
            <a:prstDash val="solid"/>
          </a:ln>
        </p:spPr>
        <p:txBody>
          <a:bodyPr/>
          <a:lstStyle/>
          <a:p>
            <a:endParaRPr lang="en-US" sz="1400">
              <a:latin typeface="Arial"/>
              <a:cs typeface="Arial"/>
            </a:endParaRPr>
          </a:p>
        </p:txBody>
      </p:sp>
      <p:sp>
        <p:nvSpPr>
          <p:cNvPr id="3" name="Rectangle 2">
            <a:extLst>
              <a:ext uri="{FF2B5EF4-FFF2-40B4-BE49-F238E27FC236}">
                <a16:creationId xmlns:a16="http://schemas.microsoft.com/office/drawing/2014/main" id="{EEEFF158-F781-4315-BB9B-D0524249676B}"/>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sz="1100" b="1">
                <a:solidFill>
                  <a:srgbClr val="4A00E2"/>
                </a:solidFill>
                <a:latin typeface="Arial"/>
                <a:ea typeface="Arial"/>
                <a:cs typeface="Arial"/>
              </a:rPr>
              <a:t>INTRODUCTION</a:t>
            </a:r>
          </a:p>
        </p:txBody>
      </p:sp>
      <p:sp>
        <p:nvSpPr>
          <p:cNvPr id="4" name="Rectangle 3">
            <a:extLst>
              <a:ext uri="{FF2B5EF4-FFF2-40B4-BE49-F238E27FC236}">
                <a16:creationId xmlns:a16="http://schemas.microsoft.com/office/drawing/2014/main" id="{A7EB5343-F3F4-4197-AA93-5E7A92383495}"/>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2400" b="1">
                <a:solidFill>
                  <a:srgbClr val="110057"/>
                </a:solidFill>
                <a:latin typeface="Arial"/>
                <a:ea typeface="Arial"/>
                <a:cs typeface="Arial"/>
              </a:defRPr>
            </a:pPr>
            <a:r>
              <a:rPr lang="en-US" sz="2400" b="1" dirty="0">
                <a:solidFill>
                  <a:srgbClr val="110057"/>
                </a:solidFill>
                <a:latin typeface="Arial"/>
                <a:ea typeface="Arial"/>
                <a:cs typeface="Arial"/>
              </a:rPr>
              <a:t>Predictions are purportedly accurate</a:t>
            </a:r>
          </a:p>
        </p:txBody>
      </p:sp>
      <p:sp>
        <p:nvSpPr>
          <p:cNvPr id="7" name="Rectangle 6">
            <a:extLst>
              <a:ext uri="{FF2B5EF4-FFF2-40B4-BE49-F238E27FC236}">
                <a16:creationId xmlns:a16="http://schemas.microsoft.com/office/drawing/2014/main" id="{C30E6528-6655-4D38-AD25-F428AA400BA4}"/>
              </a:ext>
            </a:extLst>
          </p:cNvPr>
          <p:cNvSpPr>
            <a:spLocks noGrp="1"/>
          </p:cNvSpPr>
          <p:nvPr/>
        </p:nvSpPr>
        <p:spPr>
          <a:xfrm>
            <a:off x="819150" y="1651000"/>
            <a:ext cx="3429000" cy="2540000"/>
          </a:xfrm>
          <a:prstGeom prst="rect">
            <a:avLst/>
          </a:prstGeom>
          <a:solidFill>
            <a:srgbClr val="EEF7F6"/>
          </a:solidFill>
          <a:ln w="9525">
            <a:solidFill>
              <a:srgbClr val="D8DEE7"/>
            </a:solidFill>
            <a:prstDash val="solid"/>
          </a:ln>
        </p:spPr>
        <p:txBody>
          <a:bodyPr/>
          <a:lstStyle/>
          <a:p>
            <a:endParaRPr lang="en-US" sz="3200" b="1">
              <a:latin typeface="Arial"/>
              <a:cs typeface="Arial"/>
            </a:endParaRPr>
          </a:p>
        </p:txBody>
      </p:sp>
      <p:sp>
        <p:nvSpPr>
          <p:cNvPr id="8" name="Rectangle 7">
            <a:extLst>
              <a:ext uri="{FF2B5EF4-FFF2-40B4-BE49-F238E27FC236}">
                <a16:creationId xmlns:a16="http://schemas.microsoft.com/office/drawing/2014/main" id="{7526705E-887C-426C-92AB-A668087A0153}"/>
              </a:ext>
            </a:extLst>
          </p:cNvPr>
          <p:cNvSpPr>
            <a:spLocks noGrp="1"/>
          </p:cNvSpPr>
          <p:nvPr/>
        </p:nvSpPr>
        <p:spPr>
          <a:xfrm>
            <a:off x="933450" y="1828800"/>
            <a:ext cx="32004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1">
                <a:solidFill>
                  <a:srgbClr val="4A00E2"/>
                </a:solidFill>
                <a:latin typeface="Arial"/>
                <a:ea typeface="Arial"/>
                <a:cs typeface="Arial"/>
              </a:defRPr>
            </a:pPr>
            <a:r>
              <a:rPr sz="1400" b="1">
                <a:solidFill>
                  <a:srgbClr val="4A00E2"/>
                </a:solidFill>
                <a:latin typeface="Arial"/>
                <a:ea typeface="Arial"/>
                <a:cs typeface="Arial"/>
              </a:rPr>
              <a:t>THE PROMISE</a:t>
            </a:r>
          </a:p>
        </p:txBody>
      </p:sp>
      <p:sp>
        <p:nvSpPr>
          <p:cNvPr id="9" name="Rectangle 8">
            <a:extLst>
              <a:ext uri="{FF2B5EF4-FFF2-40B4-BE49-F238E27FC236}">
                <a16:creationId xmlns:a16="http://schemas.microsoft.com/office/drawing/2014/main" id="{E0D13961-907B-4638-8B3F-01E14700767C}"/>
              </a:ext>
            </a:extLst>
          </p:cNvPr>
          <p:cNvSpPr>
            <a:spLocks noGrp="1"/>
          </p:cNvSpPr>
          <p:nvPr/>
        </p:nvSpPr>
        <p:spPr>
          <a:xfrm>
            <a:off x="933450" y="2133600"/>
            <a:ext cx="3200400" cy="279400"/>
          </a:xfrm>
          <a:prstGeom prst="rect">
            <a:avLst/>
          </a:prstGeom>
          <a:solidFill>
            <a:srgbClr val="000000">
              <a:alpha val="0"/>
            </a:srgbClr>
          </a:solidFill>
          <a:ln w="0">
            <a:solidFill>
              <a:srgbClr val="000000">
                <a:alpha val="0"/>
              </a:srgbClr>
            </a:solidFill>
            <a:prstDash val="solid"/>
          </a:ln>
        </p:spPr>
        <p:txBody>
          <a:bodyPr lIns="57150" tIns="38100" rIns="57150" bIns="38100" anchor="t" anchorCtr="0"/>
          <a:lstStyle/>
          <a:p>
            <a:pPr algn="l">
              <a:defRPr sz="1400" b="0">
                <a:solidFill>
                  <a:srgbClr val="110057"/>
                </a:solidFill>
                <a:latin typeface="Arial"/>
                <a:ea typeface="Arial"/>
                <a:cs typeface="Arial"/>
              </a:defRPr>
            </a:pPr>
            <a:r>
              <a:rPr sz="1400" b="0">
                <a:solidFill>
                  <a:srgbClr val="110057"/>
                </a:solidFill>
                <a:latin typeface="Arial"/>
                <a:ea typeface="Arial"/>
                <a:cs typeface="Arial"/>
              </a:rPr>
              <a:t>Impressive prediction.</a:t>
            </a:r>
          </a:p>
        </p:txBody>
      </p:sp>
      <p:sp>
        <p:nvSpPr>
          <p:cNvPr id="10" name="Rectangle 9">
            <a:extLst>
              <a:ext uri="{FF2B5EF4-FFF2-40B4-BE49-F238E27FC236}">
                <a16:creationId xmlns:a16="http://schemas.microsoft.com/office/drawing/2014/main" id="{1DC7B4B5-E9D4-4F3D-B6C4-C92D692D2945}"/>
              </a:ext>
            </a:extLst>
          </p:cNvPr>
          <p:cNvSpPr>
            <a:spLocks noGrp="1"/>
          </p:cNvSpPr>
          <p:nvPr/>
        </p:nvSpPr>
        <p:spPr>
          <a:xfrm>
            <a:off x="4895850" y="1651000"/>
            <a:ext cx="3429000" cy="2540000"/>
          </a:xfrm>
          <a:prstGeom prst="rect">
            <a:avLst/>
          </a:prstGeom>
          <a:solidFill>
            <a:srgbClr val="F2EEFA"/>
          </a:solidFill>
          <a:ln w="9525">
            <a:solidFill>
              <a:srgbClr val="D8DEE7"/>
            </a:solidFill>
            <a:prstDash val="solid"/>
          </a:ln>
        </p:spPr>
        <p:txBody>
          <a:bodyPr/>
          <a:lstStyle/>
          <a:p>
            <a:endParaRPr lang="en-US" sz="3200" b="1">
              <a:latin typeface="Arial"/>
              <a:cs typeface="Arial"/>
            </a:endParaRPr>
          </a:p>
        </p:txBody>
      </p:sp>
      <p:sp>
        <p:nvSpPr>
          <p:cNvPr id="11" name="Rectangle 10">
            <a:extLst>
              <a:ext uri="{FF2B5EF4-FFF2-40B4-BE49-F238E27FC236}">
                <a16:creationId xmlns:a16="http://schemas.microsoft.com/office/drawing/2014/main" id="{94F7D593-C16F-4E49-83B5-089EE645184B}"/>
              </a:ext>
            </a:extLst>
          </p:cNvPr>
          <p:cNvSpPr>
            <a:spLocks noGrp="1"/>
          </p:cNvSpPr>
          <p:nvPr/>
        </p:nvSpPr>
        <p:spPr>
          <a:xfrm>
            <a:off x="5010150" y="1828800"/>
            <a:ext cx="32004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1">
                <a:solidFill>
                  <a:srgbClr val="FF5D55"/>
                </a:solidFill>
                <a:latin typeface="Arial"/>
                <a:ea typeface="Arial"/>
                <a:cs typeface="Arial"/>
              </a:defRPr>
            </a:pPr>
            <a:r>
              <a:rPr sz="1400" b="1">
                <a:solidFill>
                  <a:srgbClr val="FF5D55"/>
                </a:solidFill>
                <a:latin typeface="Arial"/>
                <a:ea typeface="Arial"/>
                <a:cs typeface="Arial"/>
              </a:rPr>
              <a:t>THE REALITY</a:t>
            </a:r>
          </a:p>
        </p:txBody>
      </p:sp>
      <p:sp>
        <p:nvSpPr>
          <p:cNvPr id="12" name="Rectangle 11">
            <a:extLst>
              <a:ext uri="{FF2B5EF4-FFF2-40B4-BE49-F238E27FC236}">
                <a16:creationId xmlns:a16="http://schemas.microsoft.com/office/drawing/2014/main" id="{53E0BBFD-7A1F-4EEC-A3ED-11EF4D7702E3}"/>
              </a:ext>
            </a:extLst>
          </p:cNvPr>
          <p:cNvSpPr>
            <a:spLocks noGrp="1"/>
          </p:cNvSpPr>
          <p:nvPr/>
        </p:nvSpPr>
        <p:spPr>
          <a:xfrm>
            <a:off x="5010150" y="2209800"/>
            <a:ext cx="3200400" cy="1803400"/>
          </a:xfrm>
          <a:prstGeom prst="rect">
            <a:avLst/>
          </a:prstGeom>
          <a:solidFill>
            <a:srgbClr val="000000">
              <a:alpha val="0"/>
            </a:srgbClr>
          </a:solidFill>
          <a:ln w="0">
            <a:solidFill>
              <a:srgbClr val="000000">
                <a:alpha val="0"/>
              </a:srgbClr>
            </a:solidFill>
            <a:prstDash val="solid"/>
          </a:ln>
        </p:spPr>
        <p:txBody>
          <a:bodyPr lIns="57150" tIns="38100" rIns="57150" bIns="38100" anchor="ctr" anchorCtr="0"/>
          <a:lstStyle/>
          <a:p>
            <a:pPr marL="285750" indent="-285750" algn="l">
              <a:buFont typeface="Arial" panose="020B0604020202020204" pitchFamily="34" charset="0"/>
              <a:buChar char="•"/>
              <a:defRPr sz="1777" b="0">
                <a:solidFill>
                  <a:srgbClr val="110057"/>
                </a:solidFill>
                <a:latin typeface="Arial"/>
                <a:ea typeface="Arial"/>
                <a:cs typeface="Arial"/>
              </a:defRPr>
            </a:pPr>
            <a:r>
              <a:rPr lang="en-US" sz="1600" b="0" dirty="0">
                <a:solidFill>
                  <a:srgbClr val="110057"/>
                </a:solidFill>
                <a:latin typeface="Arial"/>
                <a:ea typeface="Arial"/>
                <a:cs typeface="Arial"/>
              </a:rPr>
              <a:t>Few are as accurate as claimed.</a:t>
            </a:r>
          </a:p>
          <a:p>
            <a:pPr marL="285750" indent="-285750" algn="l">
              <a:buFont typeface="Arial" panose="020B0604020202020204" pitchFamily="34" charset="0"/>
              <a:buChar char="•"/>
              <a:defRPr sz="1777" b="0">
                <a:solidFill>
                  <a:srgbClr val="110057"/>
                </a:solidFill>
                <a:latin typeface="Arial"/>
                <a:ea typeface="Arial"/>
                <a:cs typeface="Arial"/>
              </a:defRPr>
            </a:pPr>
            <a:r>
              <a:rPr sz="1600" b="0" dirty="0">
                <a:solidFill>
                  <a:srgbClr val="110057"/>
                </a:solidFill>
                <a:latin typeface="Arial"/>
                <a:ea typeface="Arial"/>
                <a:cs typeface="Arial"/>
              </a:rPr>
              <a:t>Few models </a:t>
            </a:r>
            <a:r>
              <a:rPr lang="en-US" sz="1600" b="0" dirty="0">
                <a:solidFill>
                  <a:srgbClr val="110057"/>
                </a:solidFill>
                <a:latin typeface="Arial"/>
                <a:ea typeface="Arial"/>
                <a:cs typeface="Arial"/>
              </a:rPr>
              <a:t>can be used at</a:t>
            </a:r>
            <a:r>
              <a:rPr sz="1600" b="0" dirty="0">
                <a:solidFill>
                  <a:srgbClr val="110057"/>
                </a:solidFill>
                <a:latin typeface="Arial"/>
                <a:ea typeface="Arial"/>
                <a:cs typeface="Arial"/>
              </a:rPr>
              <a:t> bedside.</a:t>
            </a:r>
          </a:p>
          <a:p>
            <a:pPr marL="285750" indent="-285750" algn="l">
              <a:buFont typeface="Arial" panose="020B0604020202020204" pitchFamily="34" charset="0"/>
              <a:buChar char="•"/>
              <a:defRPr sz="1777" b="0">
                <a:solidFill>
                  <a:srgbClr val="110057"/>
                </a:solidFill>
                <a:latin typeface="Arial"/>
                <a:ea typeface="Arial"/>
                <a:cs typeface="Arial"/>
              </a:defRPr>
            </a:pPr>
            <a:r>
              <a:rPr sz="1600" b="0" dirty="0">
                <a:solidFill>
                  <a:srgbClr val="110057"/>
                </a:solidFill>
                <a:latin typeface="Arial"/>
                <a:ea typeface="Arial"/>
                <a:cs typeface="Arial"/>
              </a:rPr>
              <a:t>Few change decisions.</a:t>
            </a:r>
          </a:p>
        </p:txBody>
      </p:sp>
      <p:sp>
        <p:nvSpPr>
          <p:cNvPr id="13" name="Rectangle 12">
            <a:extLst>
              <a:ext uri="{FF2B5EF4-FFF2-40B4-BE49-F238E27FC236}">
                <a16:creationId xmlns:a16="http://schemas.microsoft.com/office/drawing/2014/main" id="{7E6FFF72-AD7C-4A8C-BD10-82122C000DCD}"/>
              </a:ext>
            </a:extLst>
          </p:cNvPr>
          <p:cNvSpPr>
            <a:spLocks noGrp="1"/>
          </p:cNvSpPr>
          <p:nvPr/>
        </p:nvSpPr>
        <p:spPr>
          <a:xfrm>
            <a:off x="4400550" y="2717800"/>
            <a:ext cx="342900" cy="4000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400" b="1">
                <a:solidFill>
                  <a:srgbClr val="FF5D55"/>
                </a:solidFill>
                <a:latin typeface="Arial"/>
                <a:ea typeface="Arial"/>
                <a:cs typeface="Arial"/>
              </a:defRPr>
            </a:pPr>
            <a:r>
              <a:rPr sz="1400" b="1">
                <a:solidFill>
                  <a:srgbClr val="FF5D55"/>
                </a:solidFill>
                <a:latin typeface="Arial"/>
                <a:ea typeface="Arial"/>
                <a:cs typeface="Arial"/>
              </a:rPr>
              <a:t>?</a:t>
            </a:r>
          </a:p>
        </p:txBody>
      </p:sp>
      <p:sp>
        <p:nvSpPr>
          <p:cNvPr id="6" name="TextBox 5">
            <a:extLst>
              <a:ext uri="{FF2B5EF4-FFF2-40B4-BE49-F238E27FC236}">
                <a16:creationId xmlns:a16="http://schemas.microsoft.com/office/drawing/2014/main" id="{FC868D56-1E9B-9F41-89C3-1829C4713C24}"/>
              </a:ext>
            </a:extLst>
          </p:cNvPr>
          <p:cNvSpPr txBox="1"/>
          <p:nvPr/>
        </p:nvSpPr>
        <p:spPr>
          <a:xfrm>
            <a:off x="558800" y="1041400"/>
            <a:ext cx="7810500" cy="330200"/>
          </a:xfrm>
          <a:prstGeom prst="rect">
            <a:avLst/>
          </a:prstGeom>
          <a:noFill/>
          <a:ln>
            <a:noFill/>
          </a:ln>
        </p:spPr>
        <p:txBody>
          <a:bodyPr vertOverflow="overflow" vert="horz" wrap="square" rtlCol="0" anchor="t" anchorCtr="0">
            <a:noAutofit/>
          </a:bodyPr>
          <a:lstStyle/>
          <a:p>
            <a:pPr algn="l"/>
            <a:r>
              <a:rPr lang="en-US" b="1" dirty="0">
                <a:solidFill>
                  <a:srgbClr val="4A4170"/>
                </a:solidFill>
                <a:latin typeface="Arial"/>
                <a:cs typeface="Arial"/>
              </a:rPr>
              <a:t>Clinical impact generally remains … disappointing?</a:t>
            </a:r>
          </a:p>
        </p:txBody>
      </p:sp>
      <p:sp>
        <p:nvSpPr>
          <p:cNvPr id="16" name="Rectangle 15">
            <a:extLst>
              <a:ext uri="{FF2B5EF4-FFF2-40B4-BE49-F238E27FC236}">
                <a16:creationId xmlns:a16="http://schemas.microsoft.com/office/drawing/2014/main" id="{33D0BC9E-70F1-F047-B15C-42196DDA6A0A}"/>
              </a:ext>
            </a:extLst>
          </p:cNvPr>
          <p:cNvSpPr/>
          <p:nvPr/>
        </p:nvSpPr>
        <p:spPr>
          <a:xfrm>
            <a:off x="1498600" y="2489200"/>
            <a:ext cx="1422400" cy="1422400"/>
          </a:xfrm>
          <a:prstGeom prst="rect">
            <a:avLst/>
          </a:prstGeom>
          <a:solidFill>
            <a:srgbClr val="FFFFFF"/>
          </a:solidFill>
          <a:ln w="12700">
            <a:solidFill>
              <a:srgbClr val="B9B3C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400">
              <a:latin typeface="Arial"/>
              <a:cs typeface="Arial"/>
            </a:endParaRPr>
          </a:p>
        </p:txBody>
      </p:sp>
      <p:sp>
        <p:nvSpPr>
          <p:cNvPr id="60" name="Chance Line"/>
          <p:cNvSpPr/>
          <p:nvPr/>
        </p:nvSpPr>
        <p:spPr>
          <a:xfrm>
            <a:off x="1498600" y="2489200"/>
            <a:ext cx="1422400" cy="1422400"/>
          </a:xfrm>
          <a:custGeom>
            <a:avLst/>
            <a:gdLst/>
            <a:ahLst/>
            <a:cxnLst/>
            <a:rect l="0" t="0" r="0" b="0"/>
            <a:pathLst>
              <a:path w="1422400" h="1422400">
                <a:moveTo>
                  <a:pt x="0" y="1422400"/>
                </a:moveTo>
                <a:lnTo>
                  <a:pt x="1422400" y="0"/>
                </a:lnTo>
              </a:path>
            </a:pathLst>
          </a:custGeom>
          <a:noFill/>
          <a:ln w="15875" cap="rnd">
            <a:solidFill>
              <a:srgbClr val="B9B3C9"/>
            </a:solidFill>
            <a:prstDash val="dash"/>
            <a:round/>
          </a:ln>
        </p:spPr>
        <p:txBody>
          <a:bodyPr/>
          <a:lstStyle/>
          <a:p>
            <a:endParaRPr sz="1400">
              <a:latin typeface="Arial"/>
              <a:cs typeface="Arial"/>
            </a:endParaRPr>
          </a:p>
        </p:txBody>
      </p:sp>
      <p:sp>
        <p:nvSpPr>
          <p:cNvPr id="61" name="ROC Curve"/>
          <p:cNvSpPr/>
          <p:nvPr/>
        </p:nvSpPr>
        <p:spPr>
          <a:xfrm>
            <a:off x="1498600" y="2489200"/>
            <a:ext cx="1422400" cy="1422400"/>
          </a:xfrm>
          <a:custGeom>
            <a:avLst/>
            <a:gdLst/>
            <a:ahLst/>
            <a:cxnLst/>
            <a:rect l="0" t="0" r="0" b="0"/>
            <a:pathLst>
              <a:path w="1422400" h="1422400">
                <a:moveTo>
                  <a:pt x="0" y="1422400"/>
                </a:moveTo>
                <a:cubicBezTo>
                  <a:pt x="85344" y="426720"/>
                  <a:pt x="256032" y="113792"/>
                  <a:pt x="640080" y="71120"/>
                </a:cubicBezTo>
                <a:cubicBezTo>
                  <a:pt x="995680" y="42672"/>
                  <a:pt x="1280160" y="0"/>
                  <a:pt x="1422400" y="0"/>
                </a:cubicBezTo>
              </a:path>
            </a:pathLst>
          </a:custGeom>
          <a:noFill/>
          <a:ln w="31750" cap="rnd">
            <a:solidFill>
              <a:srgbClr val="4A00E2"/>
            </a:solidFill>
            <a:round/>
          </a:ln>
        </p:spPr>
        <p:txBody>
          <a:bodyPr/>
          <a:lstStyle/>
          <a:p>
            <a:endParaRPr sz="1400">
              <a:latin typeface="Arial"/>
              <a:cs typeface="Arial"/>
            </a:endParaRPr>
          </a:p>
        </p:txBody>
      </p:sp>
    </p:spTree>
    <p:extLst>
      <p:ext uri="{BB962C8B-B14F-4D97-AF65-F5344CB8AC3E}">
        <p14:creationId xmlns:p14="http://schemas.microsoft.com/office/powerpoint/2010/main" val="3798655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83CBF8-DFCF-274A-B082-7132E2FD9190}"/>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6D4EC875-58FE-FD43-B5C7-2FFCC1ED3C57}"/>
              </a:ext>
            </a:extLst>
          </p:cNvPr>
          <p:cNvSpPr/>
          <p:nvPr/>
        </p:nvSpPr>
        <p:spPr>
          <a:xfrm>
            <a:off x="355600" y="736600"/>
            <a:ext cx="63500" cy="36576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E4A8C32-0A7B-B145-97C1-A778BB2A701B}"/>
              </a:ext>
            </a:extLst>
          </p:cNvPr>
          <p:cNvSpPr txBox="1"/>
          <p:nvPr/>
        </p:nvSpPr>
        <p:spPr>
          <a:xfrm>
            <a:off x="635000" y="330200"/>
            <a:ext cx="6604000" cy="177800"/>
          </a:xfrm>
          <a:prstGeom prst="rect">
            <a:avLst/>
          </a:prstGeom>
          <a:noFill/>
        </p:spPr>
        <p:txBody>
          <a:bodyPr vertOverflow="overflow" vert="horz" wrap="square" rtlCol="0" anchor="t">
            <a:noAutofit/>
          </a:bodyPr>
          <a:lstStyle/>
          <a:p>
            <a:pPr algn="l"/>
            <a:r>
              <a:rPr lang="en-US" sz="900" b="1" dirty="0">
                <a:solidFill>
                  <a:srgbClr val="4A00E2"/>
                </a:solidFill>
                <a:latin typeface="Arial"/>
                <a:ea typeface="Arial"/>
                <a:cs typeface="Arial"/>
              </a:rPr>
              <a:t>CME QUESTION | RISK MODELS</a:t>
            </a:r>
          </a:p>
        </p:txBody>
      </p:sp>
      <p:sp>
        <p:nvSpPr>
          <p:cNvPr id="7" name="TextBox 6">
            <a:extLst>
              <a:ext uri="{FF2B5EF4-FFF2-40B4-BE49-F238E27FC236}">
                <a16:creationId xmlns:a16="http://schemas.microsoft.com/office/drawing/2014/main" id="{6F86B8E5-8D2A-AD46-BB15-BB12A4421219}"/>
              </a:ext>
            </a:extLst>
          </p:cNvPr>
          <p:cNvSpPr txBox="1"/>
          <p:nvPr/>
        </p:nvSpPr>
        <p:spPr>
          <a:xfrm>
            <a:off x="635000" y="558800"/>
            <a:ext cx="8001000" cy="685800"/>
          </a:xfrm>
          <a:prstGeom prst="rect">
            <a:avLst/>
          </a:prstGeom>
          <a:noFill/>
        </p:spPr>
        <p:txBody>
          <a:bodyPr vertOverflow="overflow" vert="horz" wrap="square" rtlCol="0" anchor="t">
            <a:normAutofit/>
          </a:bodyPr>
          <a:lstStyle/>
          <a:p>
            <a:pPr algn="l"/>
            <a:r>
              <a:rPr lang="en-US" sz="2400" b="1" dirty="0">
                <a:solidFill>
                  <a:srgbClr val="110057"/>
                </a:solidFill>
                <a:latin typeface="Arial"/>
                <a:ea typeface="Arial"/>
                <a:cs typeface="Arial"/>
              </a:rPr>
              <a:t>A properly used risk model can improve an RCT by:</a:t>
            </a:r>
          </a:p>
        </p:txBody>
      </p:sp>
      <p:sp>
        <p:nvSpPr>
          <p:cNvPr id="8" name="TextBox 7">
            <a:extLst>
              <a:ext uri="{FF2B5EF4-FFF2-40B4-BE49-F238E27FC236}">
                <a16:creationId xmlns:a16="http://schemas.microsoft.com/office/drawing/2014/main" id="{0E65643A-843C-ED44-86E8-56222813976B}"/>
              </a:ext>
            </a:extLst>
          </p:cNvPr>
          <p:cNvSpPr txBox="1"/>
          <p:nvPr/>
        </p:nvSpPr>
        <p:spPr>
          <a:xfrm>
            <a:off x="635000" y="1270000"/>
            <a:ext cx="3302000" cy="228600"/>
          </a:xfrm>
          <a:prstGeom prst="rect">
            <a:avLst/>
          </a:prstGeom>
          <a:noFill/>
        </p:spPr>
        <p:txBody>
          <a:bodyPr vertOverflow="overflow" vert="horz" wrap="square" rtlCol="0" anchor="t">
            <a:noAutofit/>
          </a:bodyPr>
          <a:lstStyle/>
          <a:p>
            <a:pPr algn="l"/>
            <a:r>
              <a:rPr lang="en-US" sz="1200" b="1" dirty="0">
                <a:solidFill>
                  <a:srgbClr val="4A4170"/>
                </a:solidFill>
                <a:latin typeface="Arial"/>
                <a:ea typeface="Arial"/>
                <a:cs typeface="Arial"/>
              </a:rPr>
              <a:t>Select the best answer</a:t>
            </a:r>
          </a:p>
        </p:txBody>
      </p:sp>
      <p:sp>
        <p:nvSpPr>
          <p:cNvPr id="9" name="Rectangle 8">
            <a:extLst>
              <a:ext uri="{FF2B5EF4-FFF2-40B4-BE49-F238E27FC236}">
                <a16:creationId xmlns:a16="http://schemas.microsoft.com/office/drawing/2014/main" id="{A7CF06F0-0521-024D-9226-B5E2E204008B}"/>
              </a:ext>
            </a:extLst>
          </p:cNvPr>
          <p:cNvSpPr/>
          <p:nvPr/>
        </p:nvSpPr>
        <p:spPr>
          <a:xfrm>
            <a:off x="889000" y="1651000"/>
            <a:ext cx="3429000" cy="9144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513B4D92-D7C5-DE41-83F2-22ABAF53D5C8}"/>
              </a:ext>
            </a:extLst>
          </p:cNvPr>
          <p:cNvSpPr/>
          <p:nvPr/>
        </p:nvSpPr>
        <p:spPr>
          <a:xfrm>
            <a:off x="1092200" y="18796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9512221-CFB9-3342-B9BA-3F3C51771F86}"/>
              </a:ext>
            </a:extLst>
          </p:cNvPr>
          <p:cNvSpPr txBox="1"/>
          <p:nvPr/>
        </p:nvSpPr>
        <p:spPr>
          <a:xfrm>
            <a:off x="1092200" y="19304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A</a:t>
            </a:r>
          </a:p>
        </p:txBody>
      </p:sp>
      <p:sp>
        <p:nvSpPr>
          <p:cNvPr id="12" name="TextBox 11">
            <a:extLst>
              <a:ext uri="{FF2B5EF4-FFF2-40B4-BE49-F238E27FC236}">
                <a16:creationId xmlns:a16="http://schemas.microsoft.com/office/drawing/2014/main" id="{1953C7A6-8F61-7B48-8741-610398424A56}"/>
              </a:ext>
            </a:extLst>
          </p:cNvPr>
          <p:cNvSpPr txBox="1"/>
          <p:nvPr/>
        </p:nvSpPr>
        <p:spPr>
          <a:xfrm>
            <a:off x="1574800" y="1772008"/>
            <a:ext cx="2540000" cy="533400"/>
          </a:xfrm>
          <a:prstGeom prst="rect">
            <a:avLst/>
          </a:prstGeom>
          <a:noFill/>
        </p:spPr>
        <p:txBody>
          <a:bodyPr vertOverflow="overflow" vert="horz" wrap="square" rtlCol="0" anchor="t">
            <a:noAutofit/>
          </a:bodyPr>
          <a:lstStyle/>
          <a:p>
            <a:pPr algn="l"/>
            <a:r>
              <a:rPr lang="en-US" sz="1400" dirty="0">
                <a:solidFill>
                  <a:srgbClr val="4A4170"/>
                </a:solidFill>
                <a:latin typeface="Arial"/>
                <a:ea typeface="Arial"/>
                <a:cs typeface="Arial"/>
              </a:rPr>
              <a:t>Enriching the population of interest, thereby making the trial more efficient</a:t>
            </a:r>
          </a:p>
        </p:txBody>
      </p:sp>
      <p:sp>
        <p:nvSpPr>
          <p:cNvPr id="13" name="Rectangle 12">
            <a:extLst>
              <a:ext uri="{FF2B5EF4-FFF2-40B4-BE49-F238E27FC236}">
                <a16:creationId xmlns:a16="http://schemas.microsoft.com/office/drawing/2014/main" id="{3BB1305D-C77A-7C41-9202-16A64E086841}"/>
              </a:ext>
            </a:extLst>
          </p:cNvPr>
          <p:cNvSpPr/>
          <p:nvPr/>
        </p:nvSpPr>
        <p:spPr>
          <a:xfrm>
            <a:off x="4826000" y="1651000"/>
            <a:ext cx="3429000" cy="9144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4BC34E0E-1AF5-DD4D-A8FD-5D6C86EA7648}"/>
              </a:ext>
            </a:extLst>
          </p:cNvPr>
          <p:cNvSpPr/>
          <p:nvPr/>
        </p:nvSpPr>
        <p:spPr>
          <a:xfrm>
            <a:off x="5029200" y="18796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6D789FDC-ED4C-2E4D-974C-45744CD6E7DF}"/>
              </a:ext>
            </a:extLst>
          </p:cNvPr>
          <p:cNvSpPr txBox="1"/>
          <p:nvPr/>
        </p:nvSpPr>
        <p:spPr>
          <a:xfrm>
            <a:off x="5029200" y="19304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B</a:t>
            </a:r>
          </a:p>
        </p:txBody>
      </p:sp>
      <p:sp>
        <p:nvSpPr>
          <p:cNvPr id="16" name="TextBox 15">
            <a:extLst>
              <a:ext uri="{FF2B5EF4-FFF2-40B4-BE49-F238E27FC236}">
                <a16:creationId xmlns:a16="http://schemas.microsoft.com/office/drawing/2014/main" id="{B90EEB0D-C1F3-C94F-98C4-A8DF93B4BB0E}"/>
              </a:ext>
            </a:extLst>
          </p:cNvPr>
          <p:cNvSpPr txBox="1"/>
          <p:nvPr/>
        </p:nvSpPr>
        <p:spPr>
          <a:xfrm>
            <a:off x="5511800" y="1751460"/>
            <a:ext cx="2540000" cy="533400"/>
          </a:xfrm>
          <a:prstGeom prst="rect">
            <a:avLst/>
          </a:prstGeom>
          <a:noFill/>
        </p:spPr>
        <p:txBody>
          <a:bodyPr vertOverflow="overflow" vert="horz" wrap="square" rtlCol="0" anchor="t">
            <a:noAutofit/>
          </a:bodyPr>
          <a:lstStyle/>
          <a:p>
            <a:pPr algn="l"/>
            <a:r>
              <a:rPr lang="en-US" sz="1400" dirty="0">
                <a:solidFill>
                  <a:srgbClr val="4A4170"/>
                </a:solidFill>
                <a:latin typeface="Arial"/>
                <a:ea typeface="Arial"/>
                <a:cs typeface="Arial"/>
              </a:rPr>
              <a:t>Allowing more efficient estimation of the treatment-effect size</a:t>
            </a:r>
          </a:p>
        </p:txBody>
      </p:sp>
      <p:sp>
        <p:nvSpPr>
          <p:cNvPr id="17" name="Rectangle 16">
            <a:extLst>
              <a:ext uri="{FF2B5EF4-FFF2-40B4-BE49-F238E27FC236}">
                <a16:creationId xmlns:a16="http://schemas.microsoft.com/office/drawing/2014/main" id="{9FE0303C-6B17-8B4E-9692-46ACFDE4FBAD}"/>
              </a:ext>
            </a:extLst>
          </p:cNvPr>
          <p:cNvSpPr/>
          <p:nvPr/>
        </p:nvSpPr>
        <p:spPr>
          <a:xfrm>
            <a:off x="889000" y="2844800"/>
            <a:ext cx="3429000" cy="10922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A794B7E0-9F9A-B74E-8CC9-F211B91C660A}"/>
              </a:ext>
            </a:extLst>
          </p:cNvPr>
          <p:cNvSpPr/>
          <p:nvPr/>
        </p:nvSpPr>
        <p:spPr>
          <a:xfrm>
            <a:off x="1092200" y="30734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CFC6B870-C5D3-C146-A94A-3C53A642E2FD}"/>
              </a:ext>
            </a:extLst>
          </p:cNvPr>
          <p:cNvSpPr txBox="1"/>
          <p:nvPr/>
        </p:nvSpPr>
        <p:spPr>
          <a:xfrm>
            <a:off x="1092200" y="31242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C</a:t>
            </a:r>
          </a:p>
        </p:txBody>
      </p:sp>
      <p:sp>
        <p:nvSpPr>
          <p:cNvPr id="20" name="TextBox 19">
            <a:extLst>
              <a:ext uri="{FF2B5EF4-FFF2-40B4-BE49-F238E27FC236}">
                <a16:creationId xmlns:a16="http://schemas.microsoft.com/office/drawing/2014/main" id="{63B920BA-12C3-3E41-A8BE-95146401EED9}"/>
              </a:ext>
            </a:extLst>
          </p:cNvPr>
          <p:cNvSpPr txBox="1"/>
          <p:nvPr/>
        </p:nvSpPr>
        <p:spPr>
          <a:xfrm>
            <a:off x="1574800" y="2965808"/>
            <a:ext cx="2540000" cy="711200"/>
          </a:xfrm>
          <a:prstGeom prst="rect">
            <a:avLst/>
          </a:prstGeom>
          <a:noFill/>
        </p:spPr>
        <p:txBody>
          <a:bodyPr vertOverflow="overflow" vert="horz" wrap="square" rtlCol="0" anchor="t">
            <a:noAutofit/>
          </a:bodyPr>
          <a:lstStyle/>
          <a:p>
            <a:pPr algn="l"/>
            <a:r>
              <a:rPr lang="en-US" sz="1400" dirty="0">
                <a:solidFill>
                  <a:srgbClr val="4A4170"/>
                </a:solidFill>
                <a:latin typeface="Arial"/>
                <a:ea typeface="Arial"/>
                <a:cs typeface="Arial"/>
              </a:rPr>
              <a:t>Enabling more personalized application of treatment-effect estimates to individual patients</a:t>
            </a:r>
          </a:p>
        </p:txBody>
      </p:sp>
      <p:sp>
        <p:nvSpPr>
          <p:cNvPr id="21" name="Rectangle 20">
            <a:extLst>
              <a:ext uri="{FF2B5EF4-FFF2-40B4-BE49-F238E27FC236}">
                <a16:creationId xmlns:a16="http://schemas.microsoft.com/office/drawing/2014/main" id="{2F93945D-522F-1E45-9102-544A9A2B0FCA}"/>
              </a:ext>
            </a:extLst>
          </p:cNvPr>
          <p:cNvSpPr/>
          <p:nvPr/>
        </p:nvSpPr>
        <p:spPr>
          <a:xfrm>
            <a:off x="4826000" y="2844800"/>
            <a:ext cx="3429000" cy="10922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1A80E40-8077-EC49-8D36-4DB7D59A8543}"/>
              </a:ext>
            </a:extLst>
          </p:cNvPr>
          <p:cNvSpPr/>
          <p:nvPr/>
        </p:nvSpPr>
        <p:spPr>
          <a:xfrm>
            <a:off x="5029200" y="30734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B1B0AACF-276C-1E4E-AC7D-9D91C4E7D14C}"/>
              </a:ext>
            </a:extLst>
          </p:cNvPr>
          <p:cNvSpPr txBox="1"/>
          <p:nvPr/>
        </p:nvSpPr>
        <p:spPr>
          <a:xfrm>
            <a:off x="5029200" y="31242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D</a:t>
            </a:r>
          </a:p>
        </p:txBody>
      </p:sp>
      <p:sp>
        <p:nvSpPr>
          <p:cNvPr id="24" name="TextBox 23">
            <a:extLst>
              <a:ext uri="{FF2B5EF4-FFF2-40B4-BE49-F238E27FC236}">
                <a16:creationId xmlns:a16="http://schemas.microsoft.com/office/drawing/2014/main" id="{F02A97F0-D4AC-A142-A87F-208661963911}"/>
              </a:ext>
            </a:extLst>
          </p:cNvPr>
          <p:cNvSpPr txBox="1"/>
          <p:nvPr/>
        </p:nvSpPr>
        <p:spPr>
          <a:xfrm>
            <a:off x="5511800" y="3048000"/>
            <a:ext cx="2540000" cy="711200"/>
          </a:xfrm>
          <a:prstGeom prst="rect">
            <a:avLst/>
          </a:prstGeom>
          <a:noFill/>
        </p:spPr>
        <p:txBody>
          <a:bodyPr vertOverflow="overflow" vert="horz" wrap="square" rtlCol="0" anchor="t">
            <a:normAutofit/>
          </a:bodyPr>
          <a:lstStyle/>
          <a:p>
            <a:pPr algn="l"/>
            <a:r>
              <a:rPr lang="en-US" sz="1400" dirty="0">
                <a:solidFill>
                  <a:srgbClr val="4A4170"/>
                </a:solidFill>
                <a:latin typeface="Arial"/>
                <a:ea typeface="Arial"/>
                <a:cs typeface="Arial"/>
              </a:rPr>
              <a:t>All of the above</a:t>
            </a:r>
          </a:p>
        </p:txBody>
      </p:sp>
    </p:spTree>
    <p:extLst>
      <p:ext uri="{BB962C8B-B14F-4D97-AF65-F5344CB8AC3E}">
        <p14:creationId xmlns:p14="http://schemas.microsoft.com/office/powerpoint/2010/main" val="4294368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ADCB-47AA-88A8-E8E6-4707CC12E1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443ADCF-F8D0-213C-A058-5A8D1D2FDF49}"/>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9DE2B145-A79C-429D-2186-8181EA1FD3EC}"/>
              </a:ext>
            </a:extLst>
          </p:cNvPr>
          <p:cNvSpPr/>
          <p:nvPr/>
        </p:nvSpPr>
        <p:spPr>
          <a:xfrm>
            <a:off x="1117600" y="4140200"/>
            <a:ext cx="7010400" cy="609600"/>
          </a:xfrm>
          <a:prstGeom prst="rect">
            <a:avLst/>
          </a:prstGeom>
          <a:solidFill>
            <a:srgbClr val="F6F2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25C5A5D4-1BA1-B980-EB12-22C5FE058CFF}"/>
              </a:ext>
            </a:extLst>
          </p:cNvPr>
          <p:cNvSpPr/>
          <p:nvPr/>
        </p:nvSpPr>
        <p:spPr>
          <a:xfrm>
            <a:off x="355600" y="736600"/>
            <a:ext cx="63500" cy="36576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34CE1967-02C0-468E-D671-AF5B3B1A315D}"/>
              </a:ext>
            </a:extLst>
          </p:cNvPr>
          <p:cNvSpPr txBox="1"/>
          <p:nvPr/>
        </p:nvSpPr>
        <p:spPr>
          <a:xfrm>
            <a:off x="635000" y="330200"/>
            <a:ext cx="6604000" cy="177800"/>
          </a:xfrm>
          <a:prstGeom prst="rect">
            <a:avLst/>
          </a:prstGeom>
          <a:noFill/>
        </p:spPr>
        <p:txBody>
          <a:bodyPr vertOverflow="overflow" vert="horz" wrap="square" rtlCol="0" anchor="t">
            <a:noAutofit/>
          </a:bodyPr>
          <a:lstStyle/>
          <a:p>
            <a:pPr algn="l"/>
            <a:r>
              <a:rPr lang="en-US" sz="900" b="1" dirty="0">
                <a:solidFill>
                  <a:srgbClr val="4A00E2"/>
                </a:solidFill>
                <a:latin typeface="Arial"/>
                <a:ea typeface="Arial"/>
                <a:cs typeface="Arial"/>
              </a:rPr>
              <a:t>CME QUESTION | RISK MODELS</a:t>
            </a:r>
          </a:p>
        </p:txBody>
      </p:sp>
      <p:sp>
        <p:nvSpPr>
          <p:cNvPr id="7" name="TextBox 6">
            <a:extLst>
              <a:ext uri="{FF2B5EF4-FFF2-40B4-BE49-F238E27FC236}">
                <a16:creationId xmlns:a16="http://schemas.microsoft.com/office/drawing/2014/main" id="{715464A2-B0CA-95D1-DDF8-5188B095D9FA}"/>
              </a:ext>
            </a:extLst>
          </p:cNvPr>
          <p:cNvSpPr txBox="1"/>
          <p:nvPr/>
        </p:nvSpPr>
        <p:spPr>
          <a:xfrm>
            <a:off x="635000" y="558800"/>
            <a:ext cx="8001000" cy="685800"/>
          </a:xfrm>
          <a:prstGeom prst="rect">
            <a:avLst/>
          </a:prstGeom>
          <a:noFill/>
        </p:spPr>
        <p:txBody>
          <a:bodyPr vertOverflow="overflow" vert="horz" wrap="square" rtlCol="0" anchor="t">
            <a:normAutofit/>
          </a:bodyPr>
          <a:lstStyle/>
          <a:p>
            <a:pPr algn="l"/>
            <a:r>
              <a:rPr lang="en-US" sz="2400" b="1" dirty="0">
                <a:solidFill>
                  <a:srgbClr val="110057"/>
                </a:solidFill>
                <a:latin typeface="Arial"/>
                <a:ea typeface="Arial"/>
                <a:cs typeface="Arial"/>
              </a:rPr>
              <a:t>A properly used risk model can improve an RCT by:</a:t>
            </a:r>
          </a:p>
        </p:txBody>
      </p:sp>
      <p:sp>
        <p:nvSpPr>
          <p:cNvPr id="8" name="TextBox 7">
            <a:extLst>
              <a:ext uri="{FF2B5EF4-FFF2-40B4-BE49-F238E27FC236}">
                <a16:creationId xmlns:a16="http://schemas.microsoft.com/office/drawing/2014/main" id="{0071774E-9A8C-D82E-1001-D166E64EEF75}"/>
              </a:ext>
            </a:extLst>
          </p:cNvPr>
          <p:cNvSpPr txBox="1"/>
          <p:nvPr/>
        </p:nvSpPr>
        <p:spPr>
          <a:xfrm>
            <a:off x="635000" y="1270000"/>
            <a:ext cx="3302000" cy="228600"/>
          </a:xfrm>
          <a:prstGeom prst="rect">
            <a:avLst/>
          </a:prstGeom>
          <a:noFill/>
        </p:spPr>
        <p:txBody>
          <a:bodyPr vertOverflow="overflow" vert="horz" wrap="square" rtlCol="0" anchor="t">
            <a:noAutofit/>
          </a:bodyPr>
          <a:lstStyle/>
          <a:p>
            <a:pPr algn="l"/>
            <a:r>
              <a:rPr lang="en-US" sz="1200" b="1" dirty="0">
                <a:solidFill>
                  <a:srgbClr val="4A4170"/>
                </a:solidFill>
                <a:latin typeface="Arial"/>
                <a:ea typeface="Arial"/>
                <a:cs typeface="Arial"/>
              </a:rPr>
              <a:t>Select the best answer</a:t>
            </a:r>
          </a:p>
        </p:txBody>
      </p:sp>
      <p:sp>
        <p:nvSpPr>
          <p:cNvPr id="9" name="Rectangle 8">
            <a:extLst>
              <a:ext uri="{FF2B5EF4-FFF2-40B4-BE49-F238E27FC236}">
                <a16:creationId xmlns:a16="http://schemas.microsoft.com/office/drawing/2014/main" id="{C11BDA98-BB07-E637-AAF9-0D01BD8DD892}"/>
              </a:ext>
            </a:extLst>
          </p:cNvPr>
          <p:cNvSpPr/>
          <p:nvPr/>
        </p:nvSpPr>
        <p:spPr>
          <a:xfrm>
            <a:off x="889000" y="1651000"/>
            <a:ext cx="3429000" cy="9144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6658EC57-D422-805B-B379-53B546C2603B}"/>
              </a:ext>
            </a:extLst>
          </p:cNvPr>
          <p:cNvSpPr/>
          <p:nvPr/>
        </p:nvSpPr>
        <p:spPr>
          <a:xfrm>
            <a:off x="1092200" y="18796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289E92F7-26E5-2C1D-8D7D-83C6ADAEB84D}"/>
              </a:ext>
            </a:extLst>
          </p:cNvPr>
          <p:cNvSpPr txBox="1"/>
          <p:nvPr/>
        </p:nvSpPr>
        <p:spPr>
          <a:xfrm>
            <a:off x="1092200" y="19304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A</a:t>
            </a:r>
          </a:p>
        </p:txBody>
      </p:sp>
      <p:sp>
        <p:nvSpPr>
          <p:cNvPr id="12" name="TextBox 11">
            <a:extLst>
              <a:ext uri="{FF2B5EF4-FFF2-40B4-BE49-F238E27FC236}">
                <a16:creationId xmlns:a16="http://schemas.microsoft.com/office/drawing/2014/main" id="{2B8F5632-6240-6539-44A8-78A1CA6FFC3D}"/>
              </a:ext>
            </a:extLst>
          </p:cNvPr>
          <p:cNvSpPr txBox="1"/>
          <p:nvPr/>
        </p:nvSpPr>
        <p:spPr>
          <a:xfrm>
            <a:off x="1574800" y="1772008"/>
            <a:ext cx="2540000" cy="533400"/>
          </a:xfrm>
          <a:prstGeom prst="rect">
            <a:avLst/>
          </a:prstGeom>
          <a:noFill/>
        </p:spPr>
        <p:txBody>
          <a:bodyPr vertOverflow="overflow" vert="horz" wrap="square" rtlCol="0" anchor="t">
            <a:noAutofit/>
          </a:bodyPr>
          <a:lstStyle/>
          <a:p>
            <a:pPr algn="l"/>
            <a:r>
              <a:rPr lang="en-US" sz="1400" dirty="0">
                <a:solidFill>
                  <a:srgbClr val="4A4170"/>
                </a:solidFill>
                <a:latin typeface="Arial"/>
                <a:ea typeface="Arial"/>
                <a:cs typeface="Arial"/>
              </a:rPr>
              <a:t>Enriching the population of interest, thereby making the trial more efficient</a:t>
            </a:r>
          </a:p>
        </p:txBody>
      </p:sp>
      <p:sp>
        <p:nvSpPr>
          <p:cNvPr id="13" name="Rectangle 12">
            <a:extLst>
              <a:ext uri="{FF2B5EF4-FFF2-40B4-BE49-F238E27FC236}">
                <a16:creationId xmlns:a16="http://schemas.microsoft.com/office/drawing/2014/main" id="{29AC94BB-693B-6102-28CB-668D291E21AC}"/>
              </a:ext>
            </a:extLst>
          </p:cNvPr>
          <p:cNvSpPr/>
          <p:nvPr/>
        </p:nvSpPr>
        <p:spPr>
          <a:xfrm>
            <a:off x="4826000" y="1651000"/>
            <a:ext cx="3429000" cy="9144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F0004C9A-DE61-5310-F8B9-069D31A14508}"/>
              </a:ext>
            </a:extLst>
          </p:cNvPr>
          <p:cNvSpPr/>
          <p:nvPr/>
        </p:nvSpPr>
        <p:spPr>
          <a:xfrm>
            <a:off x="5029200" y="18796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EA73311B-2846-4A65-F4CC-82867A83ADEC}"/>
              </a:ext>
            </a:extLst>
          </p:cNvPr>
          <p:cNvSpPr txBox="1"/>
          <p:nvPr/>
        </p:nvSpPr>
        <p:spPr>
          <a:xfrm>
            <a:off x="5029200" y="19304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B</a:t>
            </a:r>
          </a:p>
        </p:txBody>
      </p:sp>
      <p:sp>
        <p:nvSpPr>
          <p:cNvPr id="16" name="TextBox 15">
            <a:extLst>
              <a:ext uri="{FF2B5EF4-FFF2-40B4-BE49-F238E27FC236}">
                <a16:creationId xmlns:a16="http://schemas.microsoft.com/office/drawing/2014/main" id="{280E662C-C738-5165-A80D-E0B4C3AC526B}"/>
              </a:ext>
            </a:extLst>
          </p:cNvPr>
          <p:cNvSpPr txBox="1"/>
          <p:nvPr/>
        </p:nvSpPr>
        <p:spPr>
          <a:xfrm>
            <a:off x="5511800" y="1751460"/>
            <a:ext cx="2540000" cy="533400"/>
          </a:xfrm>
          <a:prstGeom prst="rect">
            <a:avLst/>
          </a:prstGeom>
          <a:noFill/>
        </p:spPr>
        <p:txBody>
          <a:bodyPr vertOverflow="overflow" vert="horz" wrap="square" rtlCol="0" anchor="t">
            <a:noAutofit/>
          </a:bodyPr>
          <a:lstStyle/>
          <a:p>
            <a:pPr algn="l"/>
            <a:r>
              <a:rPr lang="en-US" sz="1400" dirty="0">
                <a:solidFill>
                  <a:srgbClr val="4A4170"/>
                </a:solidFill>
                <a:latin typeface="Arial"/>
                <a:ea typeface="Arial"/>
                <a:cs typeface="Arial"/>
              </a:rPr>
              <a:t>Allowing more efficient estimation of the treatment-effect size</a:t>
            </a:r>
          </a:p>
        </p:txBody>
      </p:sp>
      <p:sp>
        <p:nvSpPr>
          <p:cNvPr id="17" name="Rectangle 16">
            <a:extLst>
              <a:ext uri="{FF2B5EF4-FFF2-40B4-BE49-F238E27FC236}">
                <a16:creationId xmlns:a16="http://schemas.microsoft.com/office/drawing/2014/main" id="{496DD8D1-9252-40B7-4DC6-41BE7D3645C7}"/>
              </a:ext>
            </a:extLst>
          </p:cNvPr>
          <p:cNvSpPr/>
          <p:nvPr/>
        </p:nvSpPr>
        <p:spPr>
          <a:xfrm>
            <a:off x="889000" y="2844800"/>
            <a:ext cx="3429000" cy="10922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36C88B86-EB02-2F08-7107-3362F5E95454}"/>
              </a:ext>
            </a:extLst>
          </p:cNvPr>
          <p:cNvSpPr/>
          <p:nvPr/>
        </p:nvSpPr>
        <p:spPr>
          <a:xfrm>
            <a:off x="1092200" y="30734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AD2358BD-DB14-B0EC-92DB-593E6B66B66C}"/>
              </a:ext>
            </a:extLst>
          </p:cNvPr>
          <p:cNvSpPr txBox="1"/>
          <p:nvPr/>
        </p:nvSpPr>
        <p:spPr>
          <a:xfrm>
            <a:off x="1092200" y="31242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C</a:t>
            </a:r>
          </a:p>
        </p:txBody>
      </p:sp>
      <p:sp>
        <p:nvSpPr>
          <p:cNvPr id="20" name="TextBox 19">
            <a:extLst>
              <a:ext uri="{FF2B5EF4-FFF2-40B4-BE49-F238E27FC236}">
                <a16:creationId xmlns:a16="http://schemas.microsoft.com/office/drawing/2014/main" id="{56ADC8ED-4CC7-0E91-A13B-F36723284CA9}"/>
              </a:ext>
            </a:extLst>
          </p:cNvPr>
          <p:cNvSpPr txBox="1"/>
          <p:nvPr/>
        </p:nvSpPr>
        <p:spPr>
          <a:xfrm>
            <a:off x="1574800" y="2965808"/>
            <a:ext cx="2540000" cy="711200"/>
          </a:xfrm>
          <a:prstGeom prst="rect">
            <a:avLst/>
          </a:prstGeom>
          <a:noFill/>
        </p:spPr>
        <p:txBody>
          <a:bodyPr vertOverflow="overflow" vert="horz" wrap="square" rtlCol="0" anchor="t">
            <a:noAutofit/>
          </a:bodyPr>
          <a:lstStyle/>
          <a:p>
            <a:pPr algn="l"/>
            <a:r>
              <a:rPr lang="en-US" sz="1400" dirty="0">
                <a:solidFill>
                  <a:srgbClr val="4A4170"/>
                </a:solidFill>
                <a:latin typeface="Arial"/>
                <a:ea typeface="Arial"/>
                <a:cs typeface="Arial"/>
              </a:rPr>
              <a:t>Enabling more personalized application of treatment-effect estimates to individual patients</a:t>
            </a:r>
          </a:p>
        </p:txBody>
      </p:sp>
      <p:sp>
        <p:nvSpPr>
          <p:cNvPr id="21" name="Rectangle 20">
            <a:extLst>
              <a:ext uri="{FF2B5EF4-FFF2-40B4-BE49-F238E27FC236}">
                <a16:creationId xmlns:a16="http://schemas.microsoft.com/office/drawing/2014/main" id="{D5FCF3B7-D3F1-3044-A581-0D9DEBB44023}"/>
              </a:ext>
            </a:extLst>
          </p:cNvPr>
          <p:cNvSpPr/>
          <p:nvPr/>
        </p:nvSpPr>
        <p:spPr>
          <a:xfrm>
            <a:off x="4826000" y="2844800"/>
            <a:ext cx="3429000" cy="10922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F7B876CA-3738-9C29-EE13-3A5A9BB78137}"/>
              </a:ext>
            </a:extLst>
          </p:cNvPr>
          <p:cNvSpPr/>
          <p:nvPr/>
        </p:nvSpPr>
        <p:spPr>
          <a:xfrm>
            <a:off x="5029200" y="3073400"/>
            <a:ext cx="330200" cy="330200"/>
          </a:xfrm>
          <a:prstGeom prst="rect">
            <a:avLst/>
          </a:prstGeom>
          <a:solidFill>
            <a:srgbClr val="5B19E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E1C3F0DA-CCB6-50B8-3AC0-BA40204ED473}"/>
              </a:ext>
            </a:extLst>
          </p:cNvPr>
          <p:cNvSpPr txBox="1"/>
          <p:nvPr/>
        </p:nvSpPr>
        <p:spPr>
          <a:xfrm>
            <a:off x="5029200" y="3124200"/>
            <a:ext cx="330200" cy="203200"/>
          </a:xfrm>
          <a:prstGeom prst="rect">
            <a:avLst/>
          </a:prstGeom>
          <a:noFill/>
        </p:spPr>
        <p:txBody>
          <a:bodyPr vertOverflow="overflow" vert="horz" wrap="square" rtlCol="0" anchor="t">
            <a:noAutofit/>
          </a:bodyPr>
          <a:lstStyle/>
          <a:p>
            <a:pPr algn="ctr"/>
            <a:r>
              <a:rPr lang="en-US" sz="1000" b="1" dirty="0">
                <a:solidFill>
                  <a:srgbClr val="FFFFFF"/>
                </a:solidFill>
                <a:latin typeface="Arial"/>
                <a:ea typeface="Arial"/>
                <a:cs typeface="Arial"/>
              </a:rPr>
              <a:t>D</a:t>
            </a:r>
          </a:p>
        </p:txBody>
      </p:sp>
      <p:sp>
        <p:nvSpPr>
          <p:cNvPr id="24" name="TextBox 23">
            <a:extLst>
              <a:ext uri="{FF2B5EF4-FFF2-40B4-BE49-F238E27FC236}">
                <a16:creationId xmlns:a16="http://schemas.microsoft.com/office/drawing/2014/main" id="{796788DB-B454-BA5D-2124-CCAAA9816252}"/>
              </a:ext>
            </a:extLst>
          </p:cNvPr>
          <p:cNvSpPr txBox="1"/>
          <p:nvPr/>
        </p:nvSpPr>
        <p:spPr>
          <a:xfrm>
            <a:off x="5511800" y="3048000"/>
            <a:ext cx="2540000" cy="711200"/>
          </a:xfrm>
          <a:prstGeom prst="rect">
            <a:avLst/>
          </a:prstGeom>
          <a:noFill/>
        </p:spPr>
        <p:txBody>
          <a:bodyPr vertOverflow="overflow" vert="horz" wrap="square" rtlCol="0" anchor="t">
            <a:normAutofit/>
          </a:bodyPr>
          <a:lstStyle/>
          <a:p>
            <a:pPr algn="l"/>
            <a:r>
              <a:rPr lang="en-US" sz="1400" b="1" dirty="0">
                <a:solidFill>
                  <a:srgbClr val="4A4170"/>
                </a:solidFill>
                <a:latin typeface="Arial"/>
                <a:ea typeface="Arial"/>
                <a:cs typeface="Arial"/>
              </a:rPr>
              <a:t>All of the above</a:t>
            </a:r>
          </a:p>
        </p:txBody>
      </p:sp>
      <p:sp>
        <p:nvSpPr>
          <p:cNvPr id="25" name="TextBox 24">
            <a:extLst>
              <a:ext uri="{FF2B5EF4-FFF2-40B4-BE49-F238E27FC236}">
                <a16:creationId xmlns:a16="http://schemas.microsoft.com/office/drawing/2014/main" id="{F9F77AA9-989F-C95F-3159-64D88C82B4C8}"/>
              </a:ext>
            </a:extLst>
          </p:cNvPr>
          <p:cNvSpPr txBox="1"/>
          <p:nvPr/>
        </p:nvSpPr>
        <p:spPr>
          <a:xfrm>
            <a:off x="1371600" y="4267200"/>
            <a:ext cx="6604000" cy="304800"/>
          </a:xfrm>
          <a:prstGeom prst="rect">
            <a:avLst/>
          </a:prstGeom>
          <a:noFill/>
        </p:spPr>
        <p:txBody>
          <a:bodyPr vertOverflow="overflow" vert="horz" wrap="square" rtlCol="0" anchor="t">
            <a:normAutofit fontScale="70000" lnSpcReduction="20000"/>
          </a:bodyPr>
          <a:lstStyle/>
          <a:p>
            <a:pPr algn="l"/>
            <a:r>
              <a:rPr lang="en-US" sz="1600" b="1" dirty="0">
                <a:solidFill>
                  <a:srgbClr val="110057"/>
                </a:solidFill>
                <a:latin typeface="Arial"/>
                <a:ea typeface="Arial"/>
                <a:cs typeface="Arial"/>
              </a:rPr>
              <a:t>Risk prediction can support trial design, effect estimation, and patient-level interpretation.</a:t>
            </a:r>
          </a:p>
        </p:txBody>
      </p:sp>
    </p:spTree>
    <p:extLst>
      <p:ext uri="{BB962C8B-B14F-4D97-AF65-F5344CB8AC3E}">
        <p14:creationId xmlns:p14="http://schemas.microsoft.com/office/powerpoint/2010/main" val="2753244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C7B8910-380F-4B0D-A842-C35E4B856C76}"/>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E88EC9FA-8A91-457B-A3E0-7D1E85B0B6D2}"/>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400">
              <a:latin typeface="Arial"/>
              <a:cs typeface="Arial"/>
            </a:endParaRPr>
          </a:p>
        </p:txBody>
      </p:sp>
      <p:sp>
        <p:nvSpPr>
          <p:cNvPr id="3" name="Rectangle 2">
            <a:extLst>
              <a:ext uri="{FF2B5EF4-FFF2-40B4-BE49-F238E27FC236}">
                <a16:creationId xmlns:a16="http://schemas.microsoft.com/office/drawing/2014/main" id="{78845740-7DEC-428B-8F7E-86E065346261}"/>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sz="1100" b="1">
                <a:solidFill>
                  <a:srgbClr val="4A00E2"/>
                </a:solidFill>
                <a:latin typeface="Arial"/>
                <a:ea typeface="Arial"/>
                <a:cs typeface="Arial"/>
              </a:rPr>
              <a:t>INTRODUCTION</a:t>
            </a:r>
          </a:p>
        </p:txBody>
      </p:sp>
      <p:sp>
        <p:nvSpPr>
          <p:cNvPr id="4" name="Rectangle 3">
            <a:extLst>
              <a:ext uri="{FF2B5EF4-FFF2-40B4-BE49-F238E27FC236}">
                <a16:creationId xmlns:a16="http://schemas.microsoft.com/office/drawing/2014/main" id="{6D0B3693-AA81-48C0-A6A2-A30ABADB374E}"/>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2400" b="1">
                <a:solidFill>
                  <a:srgbClr val="110057"/>
                </a:solidFill>
                <a:latin typeface="Arial"/>
                <a:ea typeface="Arial"/>
                <a:cs typeface="Arial"/>
              </a:defRPr>
            </a:pPr>
            <a:r>
              <a:rPr sz="2400" b="1" dirty="0">
                <a:solidFill>
                  <a:srgbClr val="110057"/>
                </a:solidFill>
                <a:latin typeface="Arial"/>
                <a:ea typeface="Arial"/>
                <a:cs typeface="Arial"/>
              </a:rPr>
              <a:t>You can predict the future. So what?</a:t>
            </a:r>
          </a:p>
        </p:txBody>
      </p:sp>
      <p:sp>
        <p:nvSpPr>
          <p:cNvPr id="6" name="Rectangle 5">
            <a:extLst>
              <a:ext uri="{FF2B5EF4-FFF2-40B4-BE49-F238E27FC236}">
                <a16:creationId xmlns:a16="http://schemas.microsoft.com/office/drawing/2014/main" id="{837F5CB4-57C6-4F46-9177-0193D20979BD}"/>
              </a:ext>
            </a:extLst>
          </p:cNvPr>
          <p:cNvSpPr>
            <a:spLocks noGrp="1"/>
          </p:cNvSpPr>
          <p:nvPr/>
        </p:nvSpPr>
        <p:spPr>
          <a:xfrm>
            <a:off x="857250" y="1905000"/>
            <a:ext cx="1671638" cy="1905000"/>
          </a:xfrm>
          <a:prstGeom prst="rect">
            <a:avLst/>
          </a:prstGeom>
          <a:solidFill>
            <a:srgbClr val="FFFFFF"/>
          </a:solidFill>
          <a:ln w="9525">
            <a:solidFill>
              <a:srgbClr val="D8DEE7"/>
            </a:solidFill>
            <a:prstDash val="solid"/>
          </a:ln>
        </p:spPr>
        <p:txBody>
          <a:bodyPr/>
          <a:lstStyle/>
          <a:p>
            <a:endParaRPr lang="en-US" sz="1400">
              <a:latin typeface="Arial"/>
              <a:cs typeface="Arial"/>
            </a:endParaRPr>
          </a:p>
        </p:txBody>
      </p:sp>
      <p:sp>
        <p:nvSpPr>
          <p:cNvPr id="7" name="Rectangle 6">
            <a:extLst>
              <a:ext uri="{FF2B5EF4-FFF2-40B4-BE49-F238E27FC236}">
                <a16:creationId xmlns:a16="http://schemas.microsoft.com/office/drawing/2014/main" id="{B89B04D3-0D0D-4FA7-89BA-A8A2162D2DAE}"/>
              </a:ext>
            </a:extLst>
          </p:cNvPr>
          <p:cNvSpPr>
            <a:spLocks noGrp="1"/>
          </p:cNvSpPr>
          <p:nvPr/>
        </p:nvSpPr>
        <p:spPr>
          <a:xfrm>
            <a:off x="1035050" y="2387600"/>
            <a:ext cx="1316038"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1">
                <a:solidFill>
                  <a:srgbClr val="4A00E2"/>
                </a:solidFill>
                <a:latin typeface="Arial"/>
                <a:ea typeface="Arial"/>
                <a:cs typeface="Arial"/>
              </a:defRPr>
            </a:pPr>
            <a:r>
              <a:rPr sz="1600" b="1" dirty="0">
                <a:solidFill>
                  <a:srgbClr val="4A00E2"/>
                </a:solidFill>
                <a:latin typeface="Arial"/>
                <a:ea typeface="Arial"/>
                <a:cs typeface="Arial"/>
              </a:rPr>
              <a:t>Prediction</a:t>
            </a:r>
          </a:p>
        </p:txBody>
      </p:sp>
      <p:sp>
        <p:nvSpPr>
          <p:cNvPr id="8" name="Rectangle 7">
            <a:extLst>
              <a:ext uri="{FF2B5EF4-FFF2-40B4-BE49-F238E27FC236}">
                <a16:creationId xmlns:a16="http://schemas.microsoft.com/office/drawing/2014/main" id="{F5073AE0-A6B0-4355-A98C-62E78BF6EFB9}"/>
              </a:ext>
            </a:extLst>
          </p:cNvPr>
          <p:cNvSpPr>
            <a:spLocks noGrp="1"/>
          </p:cNvSpPr>
          <p:nvPr/>
        </p:nvSpPr>
        <p:spPr>
          <a:xfrm>
            <a:off x="1035050" y="2717800"/>
            <a:ext cx="1316038" cy="1117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0">
                <a:solidFill>
                  <a:srgbClr val="110057"/>
                </a:solidFill>
                <a:latin typeface="Arial"/>
                <a:ea typeface="Arial"/>
                <a:cs typeface="Arial"/>
              </a:defRPr>
            </a:pPr>
            <a:r>
              <a:rPr sz="1600" b="0">
                <a:solidFill>
                  <a:srgbClr val="110057"/>
                </a:solidFill>
                <a:latin typeface="Arial"/>
                <a:ea typeface="Arial"/>
                <a:cs typeface="Arial"/>
              </a:rPr>
              <a:t>risk, class, outcome</a:t>
            </a:r>
          </a:p>
        </p:txBody>
      </p:sp>
      <p:sp>
        <p:nvSpPr>
          <p:cNvPr id="9" name="Rectangle 8">
            <a:extLst>
              <a:ext uri="{FF2B5EF4-FFF2-40B4-BE49-F238E27FC236}">
                <a16:creationId xmlns:a16="http://schemas.microsoft.com/office/drawing/2014/main" id="{CC81DD9F-5CE7-4AED-A973-5216AD1ECA74}"/>
              </a:ext>
            </a:extLst>
          </p:cNvPr>
          <p:cNvSpPr>
            <a:spLocks noGrp="1"/>
          </p:cNvSpPr>
          <p:nvPr/>
        </p:nvSpPr>
        <p:spPr>
          <a:xfrm>
            <a:off x="2470150" y="2705100"/>
            <a:ext cx="381000" cy="304800"/>
          </a:xfrm>
          <a:prstGeom prst="rect">
            <a:avLst/>
          </a:prstGeom>
          <a:solidFill>
            <a:srgbClr val="000000">
              <a:alpha val="0"/>
            </a:srgbClr>
          </a:solidFill>
          <a:ln w="0">
            <a:solidFill>
              <a:srgbClr val="000000">
                <a:alpha val="0"/>
              </a:srgbClr>
            </a:solidFill>
            <a:prstDash val="solid"/>
          </a:ln>
        </p:spPr>
        <p:txBody>
          <a:bodyPr wrap="none" lIns="57150" tIns="38100" rIns="57150" bIns="38100" anchor="ctr" anchorCtr="0">
            <a:noAutofit/>
          </a:bodyPr>
          <a:lstStyle/>
          <a:p>
            <a:pPr algn="ctr">
              <a:defRPr sz="1400" b="1">
                <a:solidFill>
                  <a:srgbClr val="4A4170"/>
                </a:solidFill>
                <a:latin typeface="Arial"/>
                <a:ea typeface="Arial"/>
                <a:cs typeface="Arial"/>
              </a:defRPr>
            </a:pPr>
            <a:r>
              <a:rPr lang="en-US" sz="1400" b="1">
                <a:solidFill>
                  <a:srgbClr val="4A4170"/>
                </a:solidFill>
                <a:latin typeface="Arial"/>
                <a:ea typeface="Arial"/>
                <a:cs typeface="Arial"/>
              </a:rPr>
              <a:t>→</a:t>
            </a:r>
            <a:endParaRPr sz="1400" b="1">
              <a:solidFill>
                <a:srgbClr val="4A4170"/>
              </a:solidFill>
              <a:latin typeface="Arial"/>
              <a:ea typeface="Arial"/>
              <a:cs typeface="Arial"/>
            </a:endParaRPr>
          </a:p>
        </p:txBody>
      </p:sp>
      <p:sp>
        <p:nvSpPr>
          <p:cNvPr id="10" name="Rectangle 9">
            <a:extLst>
              <a:ext uri="{FF2B5EF4-FFF2-40B4-BE49-F238E27FC236}">
                <a16:creationId xmlns:a16="http://schemas.microsoft.com/office/drawing/2014/main" id="{5C16F2A1-7618-4A80-A410-827C2F7F5E7D}"/>
              </a:ext>
            </a:extLst>
          </p:cNvPr>
          <p:cNvSpPr>
            <a:spLocks noGrp="1"/>
          </p:cNvSpPr>
          <p:nvPr/>
        </p:nvSpPr>
        <p:spPr>
          <a:xfrm>
            <a:off x="2776538" y="1905000"/>
            <a:ext cx="1671638" cy="1905000"/>
          </a:xfrm>
          <a:prstGeom prst="rect">
            <a:avLst/>
          </a:prstGeom>
          <a:solidFill>
            <a:srgbClr val="F2EEFA"/>
          </a:solidFill>
          <a:ln w="9525">
            <a:solidFill>
              <a:srgbClr val="D8DEE7"/>
            </a:solidFill>
            <a:prstDash val="solid"/>
          </a:ln>
        </p:spPr>
        <p:txBody>
          <a:bodyPr/>
          <a:lstStyle/>
          <a:p>
            <a:endParaRPr lang="en-US" sz="1400">
              <a:latin typeface="Arial"/>
              <a:cs typeface="Arial"/>
            </a:endParaRPr>
          </a:p>
        </p:txBody>
      </p:sp>
      <p:sp>
        <p:nvSpPr>
          <p:cNvPr id="11" name="Rectangle 10">
            <a:extLst>
              <a:ext uri="{FF2B5EF4-FFF2-40B4-BE49-F238E27FC236}">
                <a16:creationId xmlns:a16="http://schemas.microsoft.com/office/drawing/2014/main" id="{9D4DBBA0-5326-4C2D-B0E7-3B1BEECDA013}"/>
              </a:ext>
            </a:extLst>
          </p:cNvPr>
          <p:cNvSpPr>
            <a:spLocks noGrp="1"/>
          </p:cNvSpPr>
          <p:nvPr/>
        </p:nvSpPr>
        <p:spPr>
          <a:xfrm>
            <a:off x="2954338" y="2387600"/>
            <a:ext cx="1316038"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1">
                <a:solidFill>
                  <a:srgbClr val="FF5D55"/>
                </a:solidFill>
                <a:latin typeface="Arial"/>
                <a:ea typeface="Arial"/>
                <a:cs typeface="Arial"/>
              </a:defRPr>
            </a:pPr>
            <a:r>
              <a:rPr lang="en-US" sz="1600" b="1" dirty="0">
                <a:solidFill>
                  <a:srgbClr val="FF5D55"/>
                </a:solidFill>
                <a:latin typeface="Arial"/>
                <a:ea typeface="Arial"/>
                <a:cs typeface="Arial"/>
              </a:rPr>
              <a:t>Purpose</a:t>
            </a:r>
          </a:p>
        </p:txBody>
      </p:sp>
      <p:sp>
        <p:nvSpPr>
          <p:cNvPr id="12" name="Rectangle 11">
            <a:extLst>
              <a:ext uri="{FF2B5EF4-FFF2-40B4-BE49-F238E27FC236}">
                <a16:creationId xmlns:a16="http://schemas.microsoft.com/office/drawing/2014/main" id="{12964CDF-85FD-4670-AFC6-70259B6FA14D}"/>
              </a:ext>
            </a:extLst>
          </p:cNvPr>
          <p:cNvSpPr>
            <a:spLocks noGrp="1"/>
          </p:cNvSpPr>
          <p:nvPr/>
        </p:nvSpPr>
        <p:spPr>
          <a:xfrm>
            <a:off x="2954338" y="2717800"/>
            <a:ext cx="1316038" cy="1117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0">
                <a:solidFill>
                  <a:srgbClr val="110057"/>
                </a:solidFill>
                <a:latin typeface="Arial"/>
                <a:ea typeface="Arial"/>
                <a:cs typeface="Arial"/>
              </a:defRPr>
            </a:pPr>
            <a:r>
              <a:rPr sz="1600" b="0" dirty="0">
                <a:solidFill>
                  <a:srgbClr val="110057"/>
                </a:solidFill>
                <a:latin typeface="Arial"/>
                <a:ea typeface="Arial"/>
                <a:cs typeface="Arial"/>
              </a:rPr>
              <a:t>the bottleneck</a:t>
            </a:r>
          </a:p>
        </p:txBody>
      </p:sp>
      <p:sp>
        <p:nvSpPr>
          <p:cNvPr id="13" name="Rectangle 12">
            <a:extLst>
              <a:ext uri="{FF2B5EF4-FFF2-40B4-BE49-F238E27FC236}">
                <a16:creationId xmlns:a16="http://schemas.microsoft.com/office/drawing/2014/main" id="{1D6B8DC0-622C-45F4-954B-A491AE8A0211}"/>
              </a:ext>
            </a:extLst>
          </p:cNvPr>
          <p:cNvSpPr>
            <a:spLocks noGrp="1"/>
          </p:cNvSpPr>
          <p:nvPr/>
        </p:nvSpPr>
        <p:spPr>
          <a:xfrm>
            <a:off x="4387850" y="2705100"/>
            <a:ext cx="381000" cy="304800"/>
          </a:xfrm>
          <a:prstGeom prst="rect">
            <a:avLst/>
          </a:prstGeom>
          <a:solidFill>
            <a:srgbClr val="000000">
              <a:alpha val="0"/>
            </a:srgbClr>
          </a:solidFill>
          <a:ln w="0">
            <a:solidFill>
              <a:srgbClr val="000000">
                <a:alpha val="0"/>
              </a:srgbClr>
            </a:solidFill>
            <a:prstDash val="solid"/>
          </a:ln>
        </p:spPr>
        <p:txBody>
          <a:bodyPr wrap="none" lIns="57150" tIns="38100" rIns="57150" bIns="38100" anchor="ctr" anchorCtr="0">
            <a:noAutofit/>
          </a:bodyPr>
          <a:lstStyle/>
          <a:p>
            <a:pPr algn="ctr">
              <a:defRPr sz="1400" b="1">
                <a:solidFill>
                  <a:srgbClr val="4A4170"/>
                </a:solidFill>
                <a:latin typeface="Arial"/>
                <a:ea typeface="Arial"/>
                <a:cs typeface="Arial"/>
              </a:defRPr>
            </a:pPr>
            <a:r>
              <a:rPr lang="en-US" sz="1400" b="1">
                <a:solidFill>
                  <a:srgbClr val="4A4170"/>
                </a:solidFill>
                <a:latin typeface="Arial"/>
                <a:ea typeface="Arial"/>
                <a:cs typeface="Arial"/>
              </a:rPr>
              <a:t>→</a:t>
            </a:r>
            <a:endParaRPr sz="1400" b="1">
              <a:solidFill>
                <a:srgbClr val="4A4170"/>
              </a:solidFill>
              <a:latin typeface="Arial"/>
              <a:ea typeface="Arial"/>
              <a:cs typeface="Arial"/>
            </a:endParaRPr>
          </a:p>
        </p:txBody>
      </p:sp>
      <p:sp>
        <p:nvSpPr>
          <p:cNvPr id="14" name="Rectangle 13">
            <a:extLst>
              <a:ext uri="{FF2B5EF4-FFF2-40B4-BE49-F238E27FC236}">
                <a16:creationId xmlns:a16="http://schemas.microsoft.com/office/drawing/2014/main" id="{AD61384C-97D9-4EC8-B150-37487231C677}"/>
              </a:ext>
            </a:extLst>
          </p:cNvPr>
          <p:cNvSpPr>
            <a:spLocks noGrp="1"/>
          </p:cNvSpPr>
          <p:nvPr/>
        </p:nvSpPr>
        <p:spPr>
          <a:xfrm>
            <a:off x="4695825" y="1905000"/>
            <a:ext cx="1671638" cy="1905000"/>
          </a:xfrm>
          <a:prstGeom prst="rect">
            <a:avLst/>
          </a:prstGeom>
          <a:solidFill>
            <a:srgbClr val="FFFFFF"/>
          </a:solidFill>
          <a:ln w="9525">
            <a:solidFill>
              <a:srgbClr val="D8DEE7"/>
            </a:solidFill>
            <a:prstDash val="solid"/>
          </a:ln>
        </p:spPr>
        <p:txBody>
          <a:bodyPr/>
          <a:lstStyle/>
          <a:p>
            <a:endParaRPr lang="en-US" sz="1400">
              <a:latin typeface="Arial"/>
              <a:cs typeface="Arial"/>
            </a:endParaRPr>
          </a:p>
        </p:txBody>
      </p:sp>
      <p:sp>
        <p:nvSpPr>
          <p:cNvPr id="15" name="Rectangle 14">
            <a:extLst>
              <a:ext uri="{FF2B5EF4-FFF2-40B4-BE49-F238E27FC236}">
                <a16:creationId xmlns:a16="http://schemas.microsoft.com/office/drawing/2014/main" id="{ADBD7524-DA50-48A9-B337-B56CE3B99713}"/>
              </a:ext>
            </a:extLst>
          </p:cNvPr>
          <p:cNvSpPr>
            <a:spLocks noGrp="1"/>
          </p:cNvSpPr>
          <p:nvPr/>
        </p:nvSpPr>
        <p:spPr>
          <a:xfrm>
            <a:off x="4873625" y="2387600"/>
            <a:ext cx="1316038"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1">
                <a:solidFill>
                  <a:srgbClr val="4A00E2"/>
                </a:solidFill>
                <a:latin typeface="Arial"/>
                <a:ea typeface="Arial"/>
                <a:cs typeface="Arial"/>
              </a:defRPr>
            </a:pPr>
            <a:r>
              <a:rPr lang="en-US" sz="1600" b="1" dirty="0">
                <a:solidFill>
                  <a:srgbClr val="4A00E2"/>
                </a:solidFill>
                <a:latin typeface="Arial"/>
                <a:ea typeface="Arial"/>
                <a:cs typeface="Arial"/>
              </a:rPr>
              <a:t>Action</a:t>
            </a:r>
          </a:p>
        </p:txBody>
      </p:sp>
      <p:sp>
        <p:nvSpPr>
          <p:cNvPr id="16" name="Rectangle 15">
            <a:extLst>
              <a:ext uri="{FF2B5EF4-FFF2-40B4-BE49-F238E27FC236}">
                <a16:creationId xmlns:a16="http://schemas.microsoft.com/office/drawing/2014/main" id="{243FE310-C67B-459A-A2CF-6925FACDD8D0}"/>
              </a:ext>
            </a:extLst>
          </p:cNvPr>
          <p:cNvSpPr>
            <a:spLocks noGrp="1"/>
          </p:cNvSpPr>
          <p:nvPr/>
        </p:nvSpPr>
        <p:spPr>
          <a:xfrm>
            <a:off x="4873625" y="2717800"/>
            <a:ext cx="1316038" cy="1117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0">
                <a:solidFill>
                  <a:srgbClr val="110057"/>
                </a:solidFill>
                <a:latin typeface="Arial"/>
                <a:ea typeface="Arial"/>
                <a:cs typeface="Arial"/>
              </a:defRPr>
            </a:pPr>
            <a:r>
              <a:rPr lang="en-US" sz="1600" b="0" dirty="0">
                <a:solidFill>
                  <a:srgbClr val="110057"/>
                </a:solidFill>
                <a:latin typeface="Arial"/>
                <a:ea typeface="Arial"/>
                <a:cs typeface="Arial"/>
              </a:rPr>
              <a:t>change a decision</a:t>
            </a:r>
          </a:p>
        </p:txBody>
      </p:sp>
      <p:sp>
        <p:nvSpPr>
          <p:cNvPr id="17" name="Rectangle 16">
            <a:extLst>
              <a:ext uri="{FF2B5EF4-FFF2-40B4-BE49-F238E27FC236}">
                <a16:creationId xmlns:a16="http://schemas.microsoft.com/office/drawing/2014/main" id="{9AC5F2A8-A544-4A1D-A2CC-87768E800222}"/>
              </a:ext>
            </a:extLst>
          </p:cNvPr>
          <p:cNvSpPr>
            <a:spLocks noGrp="1"/>
          </p:cNvSpPr>
          <p:nvPr/>
        </p:nvSpPr>
        <p:spPr>
          <a:xfrm>
            <a:off x="6305550" y="2705100"/>
            <a:ext cx="381000" cy="304800"/>
          </a:xfrm>
          <a:prstGeom prst="rect">
            <a:avLst/>
          </a:prstGeom>
          <a:solidFill>
            <a:srgbClr val="000000">
              <a:alpha val="0"/>
            </a:srgbClr>
          </a:solidFill>
          <a:ln w="0">
            <a:solidFill>
              <a:srgbClr val="000000">
                <a:alpha val="0"/>
              </a:srgbClr>
            </a:solidFill>
            <a:prstDash val="solid"/>
          </a:ln>
        </p:spPr>
        <p:txBody>
          <a:bodyPr wrap="none" lIns="57150" tIns="38100" rIns="57150" bIns="38100" anchor="ctr" anchorCtr="0">
            <a:noAutofit/>
          </a:bodyPr>
          <a:lstStyle/>
          <a:p>
            <a:pPr algn="ctr">
              <a:defRPr sz="1400" b="1">
                <a:solidFill>
                  <a:srgbClr val="4A4170"/>
                </a:solidFill>
                <a:latin typeface="Arial"/>
                <a:ea typeface="Arial"/>
                <a:cs typeface="Arial"/>
              </a:defRPr>
            </a:pPr>
            <a:r>
              <a:rPr lang="en-US" sz="1400" b="1">
                <a:solidFill>
                  <a:srgbClr val="4A4170"/>
                </a:solidFill>
                <a:latin typeface="Arial"/>
                <a:ea typeface="Arial"/>
                <a:cs typeface="Arial"/>
              </a:rPr>
              <a:t>→</a:t>
            </a:r>
            <a:endParaRPr sz="1400" b="1">
              <a:solidFill>
                <a:srgbClr val="4A4170"/>
              </a:solidFill>
              <a:latin typeface="Arial"/>
              <a:ea typeface="Arial"/>
              <a:cs typeface="Arial"/>
            </a:endParaRPr>
          </a:p>
        </p:txBody>
      </p:sp>
      <p:sp>
        <p:nvSpPr>
          <p:cNvPr id="18" name="Rectangle 17">
            <a:extLst>
              <a:ext uri="{FF2B5EF4-FFF2-40B4-BE49-F238E27FC236}">
                <a16:creationId xmlns:a16="http://schemas.microsoft.com/office/drawing/2014/main" id="{C939B4AF-450E-4752-83BC-8098B1CE5FCF}"/>
              </a:ext>
            </a:extLst>
          </p:cNvPr>
          <p:cNvSpPr>
            <a:spLocks noGrp="1"/>
          </p:cNvSpPr>
          <p:nvPr/>
        </p:nvSpPr>
        <p:spPr>
          <a:xfrm>
            <a:off x="6615113" y="1905000"/>
            <a:ext cx="1671638" cy="1905000"/>
          </a:xfrm>
          <a:prstGeom prst="rect">
            <a:avLst/>
          </a:prstGeom>
          <a:solidFill>
            <a:srgbClr val="FFFFFF"/>
          </a:solidFill>
          <a:ln w="9525">
            <a:solidFill>
              <a:srgbClr val="D8DEE7"/>
            </a:solidFill>
            <a:prstDash val="solid"/>
          </a:ln>
        </p:spPr>
        <p:txBody>
          <a:bodyPr/>
          <a:lstStyle/>
          <a:p>
            <a:endParaRPr lang="en-US" sz="1400">
              <a:latin typeface="Arial"/>
              <a:cs typeface="Arial"/>
            </a:endParaRPr>
          </a:p>
        </p:txBody>
      </p:sp>
      <p:sp>
        <p:nvSpPr>
          <p:cNvPr id="19" name="Rectangle 18">
            <a:extLst>
              <a:ext uri="{FF2B5EF4-FFF2-40B4-BE49-F238E27FC236}">
                <a16:creationId xmlns:a16="http://schemas.microsoft.com/office/drawing/2014/main" id="{98D43A10-2BB4-4365-9CF5-56FF43C0BC78}"/>
              </a:ext>
            </a:extLst>
          </p:cNvPr>
          <p:cNvSpPr>
            <a:spLocks noGrp="1"/>
          </p:cNvSpPr>
          <p:nvPr/>
        </p:nvSpPr>
        <p:spPr>
          <a:xfrm>
            <a:off x="6792913" y="2387600"/>
            <a:ext cx="1316038"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1">
                <a:solidFill>
                  <a:srgbClr val="4A00E2"/>
                </a:solidFill>
                <a:latin typeface="Arial"/>
                <a:ea typeface="Arial"/>
                <a:cs typeface="Arial"/>
              </a:defRPr>
            </a:pPr>
            <a:r>
              <a:rPr sz="1600" b="1">
                <a:solidFill>
                  <a:srgbClr val="4A00E2"/>
                </a:solidFill>
                <a:latin typeface="Arial"/>
                <a:ea typeface="Arial"/>
                <a:cs typeface="Arial"/>
              </a:rPr>
              <a:t>Impact</a:t>
            </a:r>
          </a:p>
        </p:txBody>
      </p:sp>
      <p:sp>
        <p:nvSpPr>
          <p:cNvPr id="20" name="Rectangle 19">
            <a:extLst>
              <a:ext uri="{FF2B5EF4-FFF2-40B4-BE49-F238E27FC236}">
                <a16:creationId xmlns:a16="http://schemas.microsoft.com/office/drawing/2014/main" id="{D7663770-E653-4468-82BF-3B6F7A49CF22}"/>
              </a:ext>
            </a:extLst>
          </p:cNvPr>
          <p:cNvSpPr>
            <a:spLocks noGrp="1"/>
          </p:cNvSpPr>
          <p:nvPr/>
        </p:nvSpPr>
        <p:spPr>
          <a:xfrm>
            <a:off x="6792913" y="2717800"/>
            <a:ext cx="1316038" cy="1117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400" b="0">
                <a:solidFill>
                  <a:srgbClr val="110057"/>
                </a:solidFill>
                <a:latin typeface="Arial"/>
                <a:ea typeface="Arial"/>
                <a:cs typeface="Arial"/>
              </a:defRPr>
            </a:pPr>
            <a:r>
              <a:rPr sz="1600" b="0" dirty="0">
                <a:solidFill>
                  <a:srgbClr val="110057"/>
                </a:solidFill>
                <a:latin typeface="Arial"/>
                <a:ea typeface="Arial"/>
                <a:cs typeface="Arial"/>
              </a:rPr>
              <a:t>better care / research</a:t>
            </a:r>
          </a:p>
        </p:txBody>
      </p:sp>
      <p:pic>
        <p:nvPicPr>
          <p:cNvPr id="27" name="Picture 26">
            <a:extLst>
              <a:ext uri="{FF2B5EF4-FFF2-40B4-BE49-F238E27FC236}">
                <a16:creationId xmlns:a16="http://schemas.microsoft.com/office/drawing/2014/main" id="{54C19147-515C-862C-5746-F2FEECEABAB2}"/>
              </a:ext>
            </a:extLst>
          </p:cNvPr>
          <p:cNvPicPr>
            <a:picLocks noChangeAspect="1"/>
          </p:cNvPicPr>
          <p:nvPr/>
        </p:nvPicPr>
        <p:blipFill>
          <a:blip r:embed="rId3"/>
          <a:stretch>
            <a:fillRect/>
          </a:stretch>
        </p:blipFill>
        <p:spPr>
          <a:xfrm>
            <a:off x="7950200" y="3911600"/>
            <a:ext cx="812800" cy="1232310"/>
          </a:xfrm>
          <a:prstGeom prst="rect">
            <a:avLst/>
          </a:prstGeom>
        </p:spPr>
      </p:pic>
    </p:spTree>
    <p:extLst>
      <p:ext uri="{BB962C8B-B14F-4D97-AF65-F5344CB8AC3E}">
        <p14:creationId xmlns:p14="http://schemas.microsoft.com/office/powerpoint/2010/main" val="4398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B05F468-5756-4A05-8A80-6C92F42754EE}"/>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7DDA8B75-4C38-48D7-982F-333E1C1200AE}"/>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400">
              <a:latin typeface="Arial"/>
              <a:cs typeface="Arial"/>
            </a:endParaRPr>
          </a:p>
        </p:txBody>
      </p:sp>
      <p:sp>
        <p:nvSpPr>
          <p:cNvPr id="3" name="Rectangle 2">
            <a:extLst>
              <a:ext uri="{FF2B5EF4-FFF2-40B4-BE49-F238E27FC236}">
                <a16:creationId xmlns:a16="http://schemas.microsoft.com/office/drawing/2014/main" id="{18F2943F-4659-4372-9B3E-737DA45D7633}"/>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ROADMAP</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B4D63B5F-FB38-4065-88D6-CD67BE036084}"/>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2400" b="1">
                <a:solidFill>
                  <a:srgbClr val="110057"/>
                </a:solidFill>
                <a:latin typeface="Arial"/>
                <a:ea typeface="Arial"/>
                <a:cs typeface="Arial"/>
              </a:defRPr>
            </a:pPr>
            <a:r>
              <a:rPr lang="en-US" sz="2400" b="1" dirty="0">
                <a:solidFill>
                  <a:srgbClr val="110057"/>
                </a:solidFill>
                <a:latin typeface="Arial"/>
                <a:ea typeface="Arial"/>
                <a:cs typeface="Arial"/>
              </a:rPr>
              <a:t>Four ways to make use of good predictions</a:t>
            </a:r>
          </a:p>
        </p:txBody>
      </p:sp>
      <p:sp>
        <p:nvSpPr>
          <p:cNvPr id="6" name="Rectangle 5">
            <a:extLst>
              <a:ext uri="{FF2B5EF4-FFF2-40B4-BE49-F238E27FC236}">
                <a16:creationId xmlns:a16="http://schemas.microsoft.com/office/drawing/2014/main" id="{D31FADA2-4E8A-4D4F-A7AC-521224D6BC84}"/>
              </a:ext>
            </a:extLst>
          </p:cNvPr>
          <p:cNvSpPr>
            <a:spLocks noGrp="1"/>
          </p:cNvSpPr>
          <p:nvPr/>
        </p:nvSpPr>
        <p:spPr>
          <a:xfrm>
            <a:off x="876300" y="1270000"/>
            <a:ext cx="3238500" cy="1371600"/>
          </a:xfrm>
          <a:prstGeom prst="rect">
            <a:avLst/>
          </a:prstGeom>
          <a:solidFill>
            <a:srgbClr val="FFFFFF"/>
          </a:solidFill>
          <a:ln w="9525">
            <a:solidFill>
              <a:srgbClr val="D8DEE7"/>
            </a:solidFill>
            <a:prstDash val="solid"/>
          </a:ln>
        </p:spPr>
        <p:txBody>
          <a:bodyPr/>
          <a:lstStyle/>
          <a:p>
            <a:endParaRPr lang="en-US" sz="3200" b="1">
              <a:latin typeface="Arial"/>
              <a:cs typeface="Arial"/>
            </a:endParaRPr>
          </a:p>
        </p:txBody>
      </p:sp>
      <p:sp>
        <p:nvSpPr>
          <p:cNvPr id="7" name="Rectangle 6">
            <a:extLst>
              <a:ext uri="{FF2B5EF4-FFF2-40B4-BE49-F238E27FC236}">
                <a16:creationId xmlns:a16="http://schemas.microsoft.com/office/drawing/2014/main" id="{86425C6E-5BDF-4840-815C-67610B32884D}"/>
              </a:ext>
            </a:extLst>
          </p:cNvPr>
          <p:cNvSpPr>
            <a:spLocks noGrp="1"/>
          </p:cNvSpPr>
          <p:nvPr/>
        </p:nvSpPr>
        <p:spPr>
          <a:xfrm>
            <a:off x="876300" y="1270000"/>
            <a:ext cx="66675" cy="1371600"/>
          </a:xfrm>
          <a:prstGeom prst="rect">
            <a:avLst/>
          </a:prstGeom>
          <a:solidFill>
            <a:srgbClr val="FF5D55"/>
          </a:solidFill>
          <a:ln w="0">
            <a:solidFill>
              <a:srgbClr val="000000">
                <a:alpha val="0"/>
              </a:srgbClr>
            </a:solidFill>
            <a:prstDash val="solid"/>
          </a:ln>
        </p:spPr>
        <p:txBody>
          <a:bodyPr/>
          <a:lstStyle/>
          <a:p>
            <a:endParaRPr lang="en-US" sz="1400">
              <a:latin typeface="Arial"/>
              <a:cs typeface="Arial"/>
            </a:endParaRPr>
          </a:p>
        </p:txBody>
      </p:sp>
      <p:sp>
        <p:nvSpPr>
          <p:cNvPr id="8" name="Rectangle 7">
            <a:extLst>
              <a:ext uri="{FF2B5EF4-FFF2-40B4-BE49-F238E27FC236}">
                <a16:creationId xmlns:a16="http://schemas.microsoft.com/office/drawing/2014/main" id="{8D28C0C8-9044-4D26-8A74-61A9786A590C}"/>
              </a:ext>
            </a:extLst>
          </p:cNvPr>
          <p:cNvSpPr>
            <a:spLocks noGrp="1"/>
          </p:cNvSpPr>
          <p:nvPr/>
        </p:nvSpPr>
        <p:spPr>
          <a:xfrm>
            <a:off x="1123950" y="149860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FF5D55"/>
                </a:solidFill>
                <a:latin typeface="Arial"/>
                <a:ea typeface="Arial"/>
                <a:cs typeface="Arial"/>
              </a:rPr>
              <a:t>ACT</a:t>
            </a:r>
          </a:p>
        </p:txBody>
      </p:sp>
      <p:sp>
        <p:nvSpPr>
          <p:cNvPr id="10" name="Rectangle 9">
            <a:extLst>
              <a:ext uri="{FF2B5EF4-FFF2-40B4-BE49-F238E27FC236}">
                <a16:creationId xmlns:a16="http://schemas.microsoft.com/office/drawing/2014/main" id="{9951CD61-8B47-4B71-B460-2396A1AA95D4}"/>
              </a:ext>
            </a:extLst>
          </p:cNvPr>
          <p:cNvSpPr>
            <a:spLocks noGrp="1"/>
          </p:cNvSpPr>
          <p:nvPr/>
        </p:nvSpPr>
        <p:spPr>
          <a:xfrm>
            <a:off x="1123950" y="1828800"/>
            <a:ext cx="2743200" cy="711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chorCtr="0">
            <a:noAutofit/>
          </a:bodyPr>
          <a:lstStyle/>
          <a:p>
            <a:pPr algn="l">
              <a:buNone/>
            </a:pPr>
            <a:r>
              <a:rPr lang="en-US" sz="1600" dirty="0">
                <a:solidFill>
                  <a:srgbClr val="4A4170"/>
                </a:solidFill>
                <a:latin typeface="Arial"/>
                <a:ea typeface="Arial"/>
                <a:cs typeface="Arial"/>
              </a:rPr>
              <a:t>Clinical decision support: act when expected benefit exceeds burden</a:t>
            </a:r>
          </a:p>
        </p:txBody>
      </p:sp>
      <p:sp>
        <p:nvSpPr>
          <p:cNvPr id="11" name="Rectangle 10">
            <a:extLst>
              <a:ext uri="{FF2B5EF4-FFF2-40B4-BE49-F238E27FC236}">
                <a16:creationId xmlns:a16="http://schemas.microsoft.com/office/drawing/2014/main" id="{472226FD-0396-4724-BDE5-06A91CE677A4}"/>
              </a:ext>
            </a:extLst>
          </p:cNvPr>
          <p:cNvSpPr>
            <a:spLocks noGrp="1"/>
          </p:cNvSpPr>
          <p:nvPr/>
        </p:nvSpPr>
        <p:spPr>
          <a:xfrm>
            <a:off x="4762500" y="1270000"/>
            <a:ext cx="3238500" cy="1371600"/>
          </a:xfrm>
          <a:prstGeom prst="rect">
            <a:avLst/>
          </a:prstGeom>
          <a:solidFill>
            <a:srgbClr val="FFFFFF"/>
          </a:solidFill>
          <a:ln w="9525">
            <a:solidFill>
              <a:srgbClr val="D8DEE7"/>
            </a:solidFill>
            <a:prstDash val="solid"/>
          </a:ln>
        </p:spPr>
        <p:txBody>
          <a:bodyPr/>
          <a:lstStyle/>
          <a:p>
            <a:endParaRPr lang="en-US" sz="3200" b="1">
              <a:latin typeface="Arial"/>
              <a:cs typeface="Arial"/>
            </a:endParaRPr>
          </a:p>
        </p:txBody>
      </p:sp>
      <p:sp>
        <p:nvSpPr>
          <p:cNvPr id="12" name="Rectangle 11">
            <a:extLst>
              <a:ext uri="{FF2B5EF4-FFF2-40B4-BE49-F238E27FC236}">
                <a16:creationId xmlns:a16="http://schemas.microsoft.com/office/drawing/2014/main" id="{DE57914E-6998-4BEC-9D16-C06804506928}"/>
              </a:ext>
            </a:extLst>
          </p:cNvPr>
          <p:cNvSpPr>
            <a:spLocks noGrp="1"/>
          </p:cNvSpPr>
          <p:nvPr/>
        </p:nvSpPr>
        <p:spPr>
          <a:xfrm>
            <a:off x="4762500" y="1270000"/>
            <a:ext cx="66675" cy="1371600"/>
          </a:xfrm>
          <a:prstGeom prst="rect">
            <a:avLst/>
          </a:prstGeom>
          <a:solidFill>
            <a:srgbClr val="4A00E2"/>
          </a:solidFill>
          <a:ln w="0">
            <a:solidFill>
              <a:srgbClr val="000000">
                <a:alpha val="0"/>
              </a:srgbClr>
            </a:solidFill>
            <a:prstDash val="solid"/>
          </a:ln>
        </p:spPr>
        <p:txBody>
          <a:bodyPr/>
          <a:lstStyle/>
          <a:p>
            <a:endParaRPr lang="en-US" sz="1400">
              <a:latin typeface="Arial"/>
              <a:cs typeface="Arial"/>
            </a:endParaRPr>
          </a:p>
        </p:txBody>
      </p:sp>
      <p:sp>
        <p:nvSpPr>
          <p:cNvPr id="13" name="Rectangle 12">
            <a:extLst>
              <a:ext uri="{FF2B5EF4-FFF2-40B4-BE49-F238E27FC236}">
                <a16:creationId xmlns:a16="http://schemas.microsoft.com/office/drawing/2014/main" id="{D5AA61D5-FD7A-4429-AA63-BB937A7F4304}"/>
              </a:ext>
            </a:extLst>
          </p:cNvPr>
          <p:cNvSpPr>
            <a:spLocks noGrp="1"/>
          </p:cNvSpPr>
          <p:nvPr/>
        </p:nvSpPr>
        <p:spPr>
          <a:xfrm>
            <a:off x="5010150" y="149860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4A00E2"/>
                </a:solidFill>
                <a:latin typeface="Arial"/>
                <a:ea typeface="Arial"/>
                <a:cs typeface="Arial"/>
              </a:rPr>
              <a:t>ENRICH</a:t>
            </a:r>
          </a:p>
        </p:txBody>
      </p:sp>
      <p:sp>
        <p:nvSpPr>
          <p:cNvPr id="15" name="Rectangle 14">
            <a:extLst>
              <a:ext uri="{FF2B5EF4-FFF2-40B4-BE49-F238E27FC236}">
                <a16:creationId xmlns:a16="http://schemas.microsoft.com/office/drawing/2014/main" id="{7AAFE143-D291-467D-84E6-AE3F2A4103A3}"/>
              </a:ext>
            </a:extLst>
          </p:cNvPr>
          <p:cNvSpPr>
            <a:spLocks noGrp="1"/>
          </p:cNvSpPr>
          <p:nvPr/>
        </p:nvSpPr>
        <p:spPr>
          <a:xfrm>
            <a:off x="5010150" y="1828800"/>
            <a:ext cx="2743200" cy="711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chorCtr="0">
            <a:normAutofit/>
          </a:bodyPr>
          <a:lstStyle/>
          <a:p>
            <a:pPr algn="l">
              <a:buNone/>
            </a:pPr>
            <a:r>
              <a:rPr lang="en-US" sz="1600" dirty="0">
                <a:solidFill>
                  <a:srgbClr val="4A4170"/>
                </a:solidFill>
                <a:latin typeface="Arial"/>
                <a:ea typeface="Arial"/>
                <a:cs typeface="Arial"/>
              </a:rPr>
              <a:t>Run trials in the patients who may benefit most</a:t>
            </a:r>
          </a:p>
        </p:txBody>
      </p:sp>
      <p:sp>
        <p:nvSpPr>
          <p:cNvPr id="16" name="Rectangle 15">
            <a:extLst>
              <a:ext uri="{FF2B5EF4-FFF2-40B4-BE49-F238E27FC236}">
                <a16:creationId xmlns:a16="http://schemas.microsoft.com/office/drawing/2014/main" id="{6656AAB7-D656-4132-8826-2E69B8E6E7CD}"/>
              </a:ext>
            </a:extLst>
          </p:cNvPr>
          <p:cNvSpPr>
            <a:spLocks noGrp="1"/>
          </p:cNvSpPr>
          <p:nvPr/>
        </p:nvSpPr>
        <p:spPr>
          <a:xfrm>
            <a:off x="876300" y="2844800"/>
            <a:ext cx="3238500" cy="13716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7" name="Rectangle 16">
            <a:extLst>
              <a:ext uri="{FF2B5EF4-FFF2-40B4-BE49-F238E27FC236}">
                <a16:creationId xmlns:a16="http://schemas.microsoft.com/office/drawing/2014/main" id="{5D93FA2D-0D2C-4920-9E5A-C9FAB7FF1C8D}"/>
              </a:ext>
            </a:extLst>
          </p:cNvPr>
          <p:cNvSpPr>
            <a:spLocks noGrp="1"/>
          </p:cNvSpPr>
          <p:nvPr/>
        </p:nvSpPr>
        <p:spPr>
          <a:xfrm>
            <a:off x="876300" y="2844800"/>
            <a:ext cx="66675" cy="1371600"/>
          </a:xfrm>
          <a:prstGeom prst="rect">
            <a:avLst/>
          </a:prstGeom>
          <a:solidFill>
            <a:srgbClr val="7CAFD0"/>
          </a:solidFill>
          <a:ln w="0">
            <a:solidFill>
              <a:srgbClr val="000000">
                <a:alpha val="0"/>
              </a:srgbClr>
            </a:solidFill>
            <a:prstDash val="solid"/>
          </a:ln>
        </p:spPr>
        <p:txBody>
          <a:bodyPr/>
          <a:lstStyle/>
          <a:p>
            <a:endParaRPr lang="en-US" sz="1400">
              <a:latin typeface="Arial"/>
              <a:cs typeface="Arial"/>
            </a:endParaRPr>
          </a:p>
        </p:txBody>
      </p:sp>
      <p:sp>
        <p:nvSpPr>
          <p:cNvPr id="18" name="Rectangle 17">
            <a:extLst>
              <a:ext uri="{FF2B5EF4-FFF2-40B4-BE49-F238E27FC236}">
                <a16:creationId xmlns:a16="http://schemas.microsoft.com/office/drawing/2014/main" id="{71B4BE62-F7AE-4487-9AAB-D765D5C459DA}"/>
              </a:ext>
            </a:extLst>
          </p:cNvPr>
          <p:cNvSpPr>
            <a:spLocks noGrp="1"/>
          </p:cNvSpPr>
          <p:nvPr/>
        </p:nvSpPr>
        <p:spPr>
          <a:xfrm>
            <a:off x="1123950" y="307340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7CAFD0"/>
                </a:solidFill>
                <a:latin typeface="Arial"/>
                <a:ea typeface="Arial"/>
                <a:cs typeface="Arial"/>
              </a:rPr>
              <a:t>ESTIMATE</a:t>
            </a:r>
          </a:p>
        </p:txBody>
      </p:sp>
      <p:sp>
        <p:nvSpPr>
          <p:cNvPr id="20" name="Rectangle 19">
            <a:extLst>
              <a:ext uri="{FF2B5EF4-FFF2-40B4-BE49-F238E27FC236}">
                <a16:creationId xmlns:a16="http://schemas.microsoft.com/office/drawing/2014/main" id="{61324E9F-89D1-4159-8825-825743173E6E}"/>
              </a:ext>
            </a:extLst>
          </p:cNvPr>
          <p:cNvSpPr>
            <a:spLocks noGrp="1"/>
          </p:cNvSpPr>
          <p:nvPr/>
        </p:nvSpPr>
        <p:spPr>
          <a:xfrm>
            <a:off x="1123950" y="3403600"/>
            <a:ext cx="2743200" cy="711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chorCtr="0">
            <a:normAutofit fontScale="92500" lnSpcReduction="10000"/>
          </a:bodyPr>
          <a:lstStyle/>
          <a:p>
            <a:pPr algn="l">
              <a:buNone/>
            </a:pPr>
            <a:r>
              <a:rPr lang="en-US" sz="1600" dirty="0">
                <a:solidFill>
                  <a:srgbClr val="4A4170"/>
                </a:solidFill>
                <a:latin typeface="Arial"/>
                <a:ea typeface="Arial"/>
                <a:cs typeface="Arial"/>
              </a:rPr>
              <a:t>Reduce noise: remove predictable variation, preserve randomization</a:t>
            </a:r>
          </a:p>
        </p:txBody>
      </p:sp>
      <p:sp>
        <p:nvSpPr>
          <p:cNvPr id="21" name="Rectangle 20">
            <a:extLst>
              <a:ext uri="{FF2B5EF4-FFF2-40B4-BE49-F238E27FC236}">
                <a16:creationId xmlns:a16="http://schemas.microsoft.com/office/drawing/2014/main" id="{C8170B41-2F20-4280-BF61-5969174892A5}"/>
              </a:ext>
            </a:extLst>
          </p:cNvPr>
          <p:cNvSpPr>
            <a:spLocks noGrp="1"/>
          </p:cNvSpPr>
          <p:nvPr/>
        </p:nvSpPr>
        <p:spPr>
          <a:xfrm>
            <a:off x="4762500" y="2844800"/>
            <a:ext cx="3238500" cy="13716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22" name="Rectangle 21">
            <a:extLst>
              <a:ext uri="{FF2B5EF4-FFF2-40B4-BE49-F238E27FC236}">
                <a16:creationId xmlns:a16="http://schemas.microsoft.com/office/drawing/2014/main" id="{C30F8AF5-4BEE-4F56-92E9-08F84CA81A89}"/>
              </a:ext>
            </a:extLst>
          </p:cNvPr>
          <p:cNvSpPr>
            <a:spLocks noGrp="1"/>
          </p:cNvSpPr>
          <p:nvPr/>
        </p:nvSpPr>
        <p:spPr>
          <a:xfrm>
            <a:off x="4762500" y="2844800"/>
            <a:ext cx="66675" cy="1371600"/>
          </a:xfrm>
          <a:prstGeom prst="rect">
            <a:avLst/>
          </a:prstGeom>
          <a:solidFill>
            <a:srgbClr val="FF0044"/>
          </a:solidFill>
          <a:ln w="0">
            <a:solidFill>
              <a:srgbClr val="000000">
                <a:alpha val="0"/>
              </a:srgbClr>
            </a:solidFill>
            <a:prstDash val="solid"/>
          </a:ln>
        </p:spPr>
        <p:txBody>
          <a:bodyPr/>
          <a:lstStyle/>
          <a:p>
            <a:endParaRPr lang="en-US" sz="1400">
              <a:latin typeface="Arial"/>
              <a:cs typeface="Arial"/>
            </a:endParaRPr>
          </a:p>
        </p:txBody>
      </p:sp>
      <p:sp>
        <p:nvSpPr>
          <p:cNvPr id="23" name="Rectangle 22">
            <a:extLst>
              <a:ext uri="{FF2B5EF4-FFF2-40B4-BE49-F238E27FC236}">
                <a16:creationId xmlns:a16="http://schemas.microsoft.com/office/drawing/2014/main" id="{D5A498E4-217B-439E-973B-5C86702A4BE7}"/>
              </a:ext>
            </a:extLst>
          </p:cNvPr>
          <p:cNvSpPr>
            <a:spLocks noGrp="1"/>
          </p:cNvSpPr>
          <p:nvPr/>
        </p:nvSpPr>
        <p:spPr>
          <a:xfrm>
            <a:off x="5010150" y="307340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FF0044"/>
                </a:solidFill>
                <a:latin typeface="Arial"/>
                <a:ea typeface="Arial"/>
                <a:cs typeface="Arial"/>
              </a:rPr>
              <a:t>PERSONALIZE</a:t>
            </a:r>
          </a:p>
        </p:txBody>
      </p:sp>
      <p:sp>
        <p:nvSpPr>
          <p:cNvPr id="25" name="Rectangle 24">
            <a:extLst>
              <a:ext uri="{FF2B5EF4-FFF2-40B4-BE49-F238E27FC236}">
                <a16:creationId xmlns:a16="http://schemas.microsoft.com/office/drawing/2014/main" id="{0F171C36-CF36-4A9E-A448-0B12C4E09DE8}"/>
              </a:ext>
            </a:extLst>
          </p:cNvPr>
          <p:cNvSpPr>
            <a:spLocks noGrp="1"/>
          </p:cNvSpPr>
          <p:nvPr/>
        </p:nvSpPr>
        <p:spPr>
          <a:xfrm>
            <a:off x="5010150" y="3403600"/>
            <a:ext cx="2743200" cy="711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chorCtr="0">
            <a:noAutofit/>
          </a:bodyPr>
          <a:lstStyle/>
          <a:p>
            <a:pPr algn="l">
              <a:buNone/>
            </a:pPr>
            <a:r>
              <a:rPr lang="en-US" sz="1600" dirty="0">
                <a:solidFill>
                  <a:srgbClr val="4A4170"/>
                </a:solidFill>
                <a:latin typeface="Arial"/>
                <a:ea typeface="Arial"/>
                <a:cs typeface="Arial"/>
              </a:rPr>
              <a:t>Risk-targeting: tailor by each patient’s baseline risk</a:t>
            </a:r>
          </a:p>
        </p:txBody>
      </p:sp>
    </p:spTree>
    <p:extLst>
      <p:ext uri="{BB962C8B-B14F-4D97-AF65-F5344CB8AC3E}">
        <p14:creationId xmlns:p14="http://schemas.microsoft.com/office/powerpoint/2010/main" val="2243259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617F172-BD38-4C30-BF02-5847BEAC4D44}"/>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6" name="Hexagon 5">
            <a:extLst>
              <a:ext uri="{FF2B5EF4-FFF2-40B4-BE49-F238E27FC236}">
                <a16:creationId xmlns:a16="http://schemas.microsoft.com/office/drawing/2014/main" id="{7498A842-2950-9645-9836-3BF4A9670B06}"/>
              </a:ext>
            </a:extLst>
          </p:cNvPr>
          <p:cNvSpPr/>
          <p:nvPr/>
        </p:nvSpPr>
        <p:spPr>
          <a:xfrm>
            <a:off x="3517900" y="1816100"/>
            <a:ext cx="2133600" cy="952500"/>
          </a:xfrm>
          <a:prstGeom prst="hexagon">
            <a:avLst/>
          </a:prstGeom>
          <a:solidFill>
            <a:srgbClr val="EDE7FB"/>
          </a:solidFill>
          <a:ln w="15875">
            <a:solidFill>
              <a:srgbClr val="4A00E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 name="Rectangle 1">
            <a:extLst>
              <a:ext uri="{FF2B5EF4-FFF2-40B4-BE49-F238E27FC236}">
                <a16:creationId xmlns:a16="http://schemas.microsoft.com/office/drawing/2014/main" id="{D14351D5-C175-4D50-BDCE-1484C67800A3}"/>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41C392ED-3CC3-4620-983E-F39A2FFAFFF3}"/>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100" b="1" dirty="0">
                <a:solidFill>
                  <a:srgbClr val="4A00E2"/>
                </a:solidFill>
                <a:latin typeface="Arial"/>
                <a:ea typeface="Arial"/>
                <a:cs typeface="Arial"/>
              </a:rPr>
              <a:t>ACT | MACHINE LEARNING</a:t>
            </a:r>
          </a:p>
        </p:txBody>
      </p:sp>
      <p:sp>
        <p:nvSpPr>
          <p:cNvPr id="4" name="Rectangle 3">
            <a:extLst>
              <a:ext uri="{FF2B5EF4-FFF2-40B4-BE49-F238E27FC236}">
                <a16:creationId xmlns:a16="http://schemas.microsoft.com/office/drawing/2014/main" id="{0347D337-B120-48F9-B74D-250C02176F1B}"/>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2400" b="1" dirty="0">
                <a:solidFill>
                  <a:srgbClr val="110057"/>
                </a:solidFill>
                <a:latin typeface="Arial"/>
                <a:ea typeface="Arial"/>
                <a:cs typeface="Arial"/>
              </a:rPr>
              <a:t>ML finds the map from predictors to an outcome</a:t>
            </a:r>
          </a:p>
        </p:txBody>
      </p:sp>
      <p:sp>
        <p:nvSpPr>
          <p:cNvPr id="7" name="Rectangle 6">
            <a:extLst>
              <a:ext uri="{FF2B5EF4-FFF2-40B4-BE49-F238E27FC236}">
                <a16:creationId xmlns:a16="http://schemas.microsoft.com/office/drawing/2014/main" id="{F278B4D5-EF25-4DF3-8076-925FF82C4740}"/>
              </a:ext>
            </a:extLst>
          </p:cNvPr>
          <p:cNvSpPr>
            <a:spLocks noGrp="1"/>
          </p:cNvSpPr>
          <p:nvPr/>
        </p:nvSpPr>
        <p:spPr>
          <a:xfrm>
            <a:off x="863600" y="1809750"/>
            <a:ext cx="2133600" cy="9525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8" name="Rectangle 7">
            <a:extLst>
              <a:ext uri="{FF2B5EF4-FFF2-40B4-BE49-F238E27FC236}">
                <a16:creationId xmlns:a16="http://schemas.microsoft.com/office/drawing/2014/main" id="{8FF75645-C0DC-44ED-B76D-10A36D280CDF}"/>
              </a:ext>
            </a:extLst>
          </p:cNvPr>
          <p:cNvSpPr>
            <a:spLocks noGrp="1"/>
          </p:cNvSpPr>
          <p:nvPr/>
        </p:nvSpPr>
        <p:spPr>
          <a:xfrm>
            <a:off x="977900" y="1924050"/>
            <a:ext cx="19050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1" dirty="0">
                <a:solidFill>
                  <a:srgbClr val="4A00E2"/>
                </a:solidFill>
                <a:latin typeface="Arial"/>
                <a:ea typeface="Arial"/>
                <a:cs typeface="Arial"/>
              </a:rPr>
              <a:t>Predictors</a:t>
            </a:r>
          </a:p>
        </p:txBody>
      </p:sp>
      <p:sp>
        <p:nvSpPr>
          <p:cNvPr id="9" name="Rectangle 8">
            <a:extLst>
              <a:ext uri="{FF2B5EF4-FFF2-40B4-BE49-F238E27FC236}">
                <a16:creationId xmlns:a16="http://schemas.microsoft.com/office/drawing/2014/main" id="{D6F3D73D-FB84-496A-98DE-DA5283A7D280}"/>
              </a:ext>
            </a:extLst>
          </p:cNvPr>
          <p:cNvSpPr>
            <a:spLocks noGrp="1"/>
          </p:cNvSpPr>
          <p:nvPr/>
        </p:nvSpPr>
        <p:spPr>
          <a:xfrm>
            <a:off x="977900" y="2209800"/>
            <a:ext cx="1905000" cy="4381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0" dirty="0">
                <a:solidFill>
                  <a:srgbClr val="110057"/>
                </a:solidFill>
                <a:latin typeface="Arial"/>
                <a:ea typeface="Arial"/>
                <a:cs typeface="Arial"/>
              </a:rPr>
              <a:t>age, vitals, labs</a:t>
            </a:r>
          </a:p>
        </p:txBody>
      </p:sp>
      <p:sp>
        <p:nvSpPr>
          <p:cNvPr id="10" name="Rectangle 9">
            <a:extLst>
              <a:ext uri="{FF2B5EF4-FFF2-40B4-BE49-F238E27FC236}">
                <a16:creationId xmlns:a16="http://schemas.microsoft.com/office/drawing/2014/main" id="{AE480701-304A-4624-8AD3-53EED3EFBAD9}"/>
              </a:ext>
            </a:extLst>
          </p:cNvPr>
          <p:cNvSpPr>
            <a:spLocks noGrp="1"/>
          </p:cNvSpPr>
          <p:nvPr/>
        </p:nvSpPr>
        <p:spPr>
          <a:xfrm>
            <a:off x="3105150" y="2178050"/>
            <a:ext cx="3048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871" b="1">
                <a:solidFill>
                  <a:srgbClr val="4A4170"/>
                </a:solidFill>
                <a:latin typeface="Arial"/>
                <a:ea typeface="Arial"/>
                <a:cs typeface="Arial"/>
              </a:defRPr>
            </a:pPr>
            <a:r>
              <a:rPr lang="en-US" sz="1600" b="1" dirty="0">
                <a:solidFill>
                  <a:srgbClr val="4A4170"/>
                </a:solidFill>
                <a:latin typeface="Arial"/>
                <a:ea typeface="Arial"/>
                <a:cs typeface="Arial"/>
              </a:rPr>
              <a:t>→</a:t>
            </a:r>
            <a:endParaRPr sz="1600" b="1" dirty="0">
              <a:solidFill>
                <a:srgbClr val="4A4170"/>
              </a:solidFill>
              <a:latin typeface="Arial"/>
              <a:ea typeface="Arial"/>
              <a:cs typeface="Arial"/>
            </a:endParaRPr>
          </a:p>
        </p:txBody>
      </p:sp>
      <p:sp>
        <p:nvSpPr>
          <p:cNvPr id="12" name="Rectangle 11">
            <a:extLst>
              <a:ext uri="{FF2B5EF4-FFF2-40B4-BE49-F238E27FC236}">
                <a16:creationId xmlns:a16="http://schemas.microsoft.com/office/drawing/2014/main" id="{A430F0C0-4DC5-4FC1-B247-43C0DF279752}"/>
              </a:ext>
            </a:extLst>
          </p:cNvPr>
          <p:cNvSpPr>
            <a:spLocks noGrp="1"/>
          </p:cNvSpPr>
          <p:nvPr/>
        </p:nvSpPr>
        <p:spPr>
          <a:xfrm>
            <a:off x="3632200" y="1924050"/>
            <a:ext cx="19050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1" dirty="0">
                <a:solidFill>
                  <a:srgbClr val="4A00E2"/>
                </a:solidFill>
                <a:latin typeface="Arial"/>
                <a:ea typeface="Arial"/>
                <a:cs typeface="Arial"/>
              </a:rPr>
              <a:t>Algorithm</a:t>
            </a:r>
          </a:p>
        </p:txBody>
      </p:sp>
      <p:sp>
        <p:nvSpPr>
          <p:cNvPr id="13" name="Rectangle 12">
            <a:extLst>
              <a:ext uri="{FF2B5EF4-FFF2-40B4-BE49-F238E27FC236}">
                <a16:creationId xmlns:a16="http://schemas.microsoft.com/office/drawing/2014/main" id="{A828C8D4-0D26-4D4C-BF35-43DC4347C406}"/>
              </a:ext>
            </a:extLst>
          </p:cNvPr>
          <p:cNvSpPr>
            <a:spLocks noGrp="1"/>
          </p:cNvSpPr>
          <p:nvPr/>
        </p:nvSpPr>
        <p:spPr>
          <a:xfrm>
            <a:off x="3632200" y="2209800"/>
            <a:ext cx="1905000" cy="4381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0" dirty="0">
                <a:solidFill>
                  <a:srgbClr val="110057"/>
                </a:solidFill>
                <a:latin typeface="Arial"/>
                <a:ea typeface="Arial"/>
                <a:cs typeface="Arial"/>
              </a:rPr>
              <a:t>learns the mapping</a:t>
            </a:r>
          </a:p>
        </p:txBody>
      </p:sp>
      <p:sp>
        <p:nvSpPr>
          <p:cNvPr id="14" name="Rectangle 13">
            <a:extLst>
              <a:ext uri="{FF2B5EF4-FFF2-40B4-BE49-F238E27FC236}">
                <a16:creationId xmlns:a16="http://schemas.microsoft.com/office/drawing/2014/main" id="{DD2ED634-9319-43EF-BE43-8040BFE26E7D}"/>
              </a:ext>
            </a:extLst>
          </p:cNvPr>
          <p:cNvSpPr>
            <a:spLocks noGrp="1"/>
          </p:cNvSpPr>
          <p:nvPr/>
        </p:nvSpPr>
        <p:spPr>
          <a:xfrm>
            <a:off x="5759450" y="2178050"/>
            <a:ext cx="3048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871" b="1">
                <a:solidFill>
                  <a:srgbClr val="4A4170"/>
                </a:solidFill>
                <a:latin typeface="Arial"/>
                <a:ea typeface="Arial"/>
                <a:cs typeface="Arial"/>
              </a:defRPr>
            </a:pPr>
            <a:r>
              <a:rPr lang="en-US" sz="1600" b="1">
                <a:solidFill>
                  <a:srgbClr val="4A4170"/>
                </a:solidFill>
                <a:latin typeface="Arial"/>
                <a:ea typeface="Arial"/>
                <a:cs typeface="Arial"/>
              </a:rPr>
              <a:t>→</a:t>
            </a:r>
            <a:endParaRPr sz="1600" b="1">
              <a:solidFill>
                <a:srgbClr val="4A4170"/>
              </a:solidFill>
              <a:latin typeface="Arial"/>
              <a:ea typeface="Arial"/>
              <a:cs typeface="Arial"/>
            </a:endParaRPr>
          </a:p>
        </p:txBody>
      </p:sp>
      <p:sp>
        <p:nvSpPr>
          <p:cNvPr id="15" name="Rectangle 14">
            <a:extLst>
              <a:ext uri="{FF2B5EF4-FFF2-40B4-BE49-F238E27FC236}">
                <a16:creationId xmlns:a16="http://schemas.microsoft.com/office/drawing/2014/main" id="{09B2F72F-5578-430E-BE39-ACD3996E97C1}"/>
              </a:ext>
            </a:extLst>
          </p:cNvPr>
          <p:cNvSpPr>
            <a:spLocks noGrp="1"/>
          </p:cNvSpPr>
          <p:nvPr/>
        </p:nvSpPr>
        <p:spPr>
          <a:xfrm>
            <a:off x="6172200" y="1809750"/>
            <a:ext cx="2133600" cy="9525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6" name="Rectangle 15">
            <a:extLst>
              <a:ext uri="{FF2B5EF4-FFF2-40B4-BE49-F238E27FC236}">
                <a16:creationId xmlns:a16="http://schemas.microsoft.com/office/drawing/2014/main" id="{1B435467-1CED-45D8-8645-CAEFBE439365}"/>
              </a:ext>
            </a:extLst>
          </p:cNvPr>
          <p:cNvSpPr>
            <a:spLocks noGrp="1"/>
          </p:cNvSpPr>
          <p:nvPr/>
        </p:nvSpPr>
        <p:spPr>
          <a:xfrm>
            <a:off x="6286500" y="1924050"/>
            <a:ext cx="19050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1" dirty="0">
                <a:solidFill>
                  <a:srgbClr val="4A00E2"/>
                </a:solidFill>
                <a:latin typeface="Arial"/>
                <a:ea typeface="Arial"/>
                <a:cs typeface="Arial"/>
              </a:rPr>
              <a:t>Output</a:t>
            </a:r>
          </a:p>
        </p:txBody>
      </p:sp>
      <p:sp>
        <p:nvSpPr>
          <p:cNvPr id="17" name="Rectangle 16">
            <a:extLst>
              <a:ext uri="{FF2B5EF4-FFF2-40B4-BE49-F238E27FC236}">
                <a16:creationId xmlns:a16="http://schemas.microsoft.com/office/drawing/2014/main" id="{794880BA-7CB4-4A4B-904F-365F5318B225}"/>
              </a:ext>
            </a:extLst>
          </p:cNvPr>
          <p:cNvSpPr>
            <a:spLocks noGrp="1"/>
          </p:cNvSpPr>
          <p:nvPr/>
        </p:nvSpPr>
        <p:spPr>
          <a:xfrm>
            <a:off x="6286500" y="2209800"/>
            <a:ext cx="1905000" cy="4381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0" dirty="0">
                <a:solidFill>
                  <a:srgbClr val="110057"/>
                </a:solidFill>
                <a:latin typeface="Arial"/>
                <a:ea typeface="Arial"/>
                <a:cs typeface="Arial"/>
              </a:rPr>
              <a:t>classification or regression</a:t>
            </a:r>
          </a:p>
        </p:txBody>
      </p:sp>
      <p:sp>
        <p:nvSpPr>
          <p:cNvPr id="18" name="Rectangle 17">
            <a:extLst>
              <a:ext uri="{FF2B5EF4-FFF2-40B4-BE49-F238E27FC236}">
                <a16:creationId xmlns:a16="http://schemas.microsoft.com/office/drawing/2014/main" id="{BA313E50-C236-4605-B736-E9B0C5592794}"/>
              </a:ext>
            </a:extLst>
          </p:cNvPr>
          <p:cNvSpPr>
            <a:spLocks noGrp="1"/>
          </p:cNvSpPr>
          <p:nvPr/>
        </p:nvSpPr>
        <p:spPr>
          <a:xfrm>
            <a:off x="660400" y="3406003"/>
            <a:ext cx="7823200" cy="2667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r>
              <a:rPr lang="en-US" sz="1600" b="1" dirty="0">
                <a:solidFill>
                  <a:srgbClr val="110057"/>
                </a:solidFill>
                <a:latin typeface="Arial"/>
                <a:ea typeface="Arial"/>
                <a:cs typeface="Arial"/>
              </a:rPr>
              <a:t>Learn relationships in one set of observations, apply to new ones.</a:t>
            </a:r>
          </a:p>
        </p:txBody>
      </p:sp>
      <p:pic>
        <p:nvPicPr>
          <p:cNvPr id="5" name="Picture 4" descr="Amazon.com: The Elements of Statistical Learning: Data ...">
            <a:extLst>
              <a:ext uri="{FF2B5EF4-FFF2-40B4-BE49-F238E27FC236}">
                <a16:creationId xmlns:a16="http://schemas.microsoft.com/office/drawing/2014/main" id="{B710BA20-08AF-6874-A6F6-CBB99EBFA5D2}"/>
              </a:ext>
            </a:extLst>
          </p:cNvPr>
          <p:cNvPicPr>
            <a:picLocks noChangeAspect="1"/>
          </p:cNvPicPr>
          <p:nvPr/>
        </p:nvPicPr>
        <p:blipFill>
          <a:blip r:embed="rId3"/>
          <a:stretch>
            <a:fillRect/>
          </a:stretch>
        </p:blipFill>
        <p:spPr>
          <a:xfrm>
            <a:off x="7963622" y="3761602"/>
            <a:ext cx="892706" cy="1381897"/>
          </a:xfrm>
          <a:prstGeom prst="rect">
            <a:avLst/>
          </a:prstGeom>
        </p:spPr>
      </p:pic>
    </p:spTree>
    <p:extLst>
      <p:ext uri="{BB962C8B-B14F-4D97-AF65-F5344CB8AC3E}">
        <p14:creationId xmlns:p14="http://schemas.microsoft.com/office/powerpoint/2010/main" val="131452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D31A216-3D41-4822-B2DC-E76DE4849A3F}"/>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D9DC7F3F-2A50-4797-880F-8B6A68D7B5B9}"/>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E50CFF71-9B7B-4E89-A7BD-7BB361724C08}"/>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100" b="1" dirty="0">
                <a:solidFill>
                  <a:srgbClr val="4A00E2"/>
                </a:solidFill>
                <a:latin typeface="Arial"/>
                <a:ea typeface="Arial"/>
                <a:cs typeface="Arial"/>
              </a:rPr>
              <a:t>ACT | MACHINE LEARNING</a:t>
            </a:r>
          </a:p>
        </p:txBody>
      </p:sp>
      <p:sp>
        <p:nvSpPr>
          <p:cNvPr id="4" name="Rectangle 3">
            <a:extLst>
              <a:ext uri="{FF2B5EF4-FFF2-40B4-BE49-F238E27FC236}">
                <a16:creationId xmlns:a16="http://schemas.microsoft.com/office/drawing/2014/main" id="{DDB354E8-CD63-41F1-8240-D5337DA24862}"/>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2400" b="1" dirty="0">
                <a:solidFill>
                  <a:srgbClr val="110057"/>
                </a:solidFill>
                <a:latin typeface="Arial"/>
                <a:ea typeface="Arial"/>
                <a:cs typeface="Arial"/>
              </a:rPr>
              <a:t>Fit a best-fit line (in log-odds space) → probability</a:t>
            </a:r>
          </a:p>
        </p:txBody>
      </p:sp>
      <p:sp>
        <p:nvSpPr>
          <p:cNvPr id="19" name="Rectangle 18">
            <a:extLst>
              <a:ext uri="{FF2B5EF4-FFF2-40B4-BE49-F238E27FC236}">
                <a16:creationId xmlns:a16="http://schemas.microsoft.com/office/drawing/2014/main" id="{EAF82D2A-5DE4-4B10-9AFD-E9D590634A8F}"/>
              </a:ext>
            </a:extLst>
          </p:cNvPr>
          <p:cNvSpPr>
            <a:spLocks noGrp="1"/>
          </p:cNvSpPr>
          <p:nvPr/>
        </p:nvSpPr>
        <p:spPr>
          <a:xfrm>
            <a:off x="558800" y="3810000"/>
            <a:ext cx="4699000" cy="8890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r>
              <a:rPr lang="en-US" sz="1600" b="1" dirty="0">
                <a:solidFill>
                  <a:srgbClr val="000000"/>
                </a:solidFill>
                <a:latin typeface="Arial"/>
                <a:ea typeface="Arial"/>
                <a:cs typeface="Arial"/>
              </a:rPr>
              <a:t>No one does this math at the bedside… except you do.</a:t>
            </a:r>
          </a:p>
        </p:txBody>
      </p:sp>
      <p:pic>
        <p:nvPicPr>
          <p:cNvPr id="8" name="Picture 7">
            <a:extLst>
              <a:ext uri="{FF2B5EF4-FFF2-40B4-BE49-F238E27FC236}">
                <a16:creationId xmlns:a16="http://schemas.microsoft.com/office/drawing/2014/main" id="{6C5CD2C6-DBCF-37E1-200A-A787B02287E9}"/>
              </a:ext>
            </a:extLst>
          </p:cNvPr>
          <p:cNvPicPr>
            <a:picLocks noChangeAspect="1"/>
          </p:cNvPicPr>
          <p:nvPr/>
        </p:nvPicPr>
        <p:blipFill>
          <a:blip r:embed="rId3"/>
          <a:stretch>
            <a:fillRect/>
          </a:stretch>
        </p:blipFill>
        <p:spPr>
          <a:xfrm>
            <a:off x="6557009" y="1219200"/>
            <a:ext cx="2398511" cy="2958164"/>
          </a:xfrm>
          <a:prstGeom prst="rect">
            <a:avLst/>
          </a:prstGeom>
        </p:spPr>
      </p:pic>
      <p:sp>
        <p:nvSpPr>
          <p:cNvPr id="100" name="L100"/>
          <p:cNvSpPr/>
          <p:nvPr/>
        </p:nvSpPr>
        <p:spPr>
          <a:xfrm>
            <a:off x="914400" y="1397000"/>
            <a:ext cx="2286000" cy="1905000"/>
          </a:xfrm>
          <a:custGeom>
            <a:avLst/>
            <a:gdLst/>
            <a:ahLst/>
            <a:cxnLst/>
            <a:rect l="0" t="0" r="0" b="0"/>
            <a:pathLst>
              <a:path w="2286000" h="1905000">
                <a:moveTo>
                  <a:pt x="0" y="0"/>
                </a:moveTo>
                <a:lnTo>
                  <a:pt x="0" y="1905000"/>
                </a:lnTo>
                <a:lnTo>
                  <a:pt x="2286000" y="1905000"/>
                </a:lnTo>
              </a:path>
            </a:pathLst>
          </a:custGeom>
          <a:noFill/>
          <a:ln w="12700" cap="rnd">
            <a:solidFill>
              <a:srgbClr val="94A3B8"/>
            </a:solidFill>
            <a:round/>
          </a:ln>
        </p:spPr>
        <p:txBody>
          <a:bodyPr/>
          <a:lstStyle/>
          <a:p>
            <a:endParaRPr sz="1600">
              <a:latin typeface="Arial"/>
              <a:cs typeface="Arial"/>
            </a:endParaRPr>
          </a:p>
        </p:txBody>
      </p:sp>
      <p:sp>
        <p:nvSpPr>
          <p:cNvPr id="101" name="L101"/>
          <p:cNvSpPr/>
          <p:nvPr/>
        </p:nvSpPr>
        <p:spPr>
          <a:xfrm>
            <a:off x="914400" y="1397000"/>
            <a:ext cx="2286000" cy="1905000"/>
          </a:xfrm>
          <a:custGeom>
            <a:avLst/>
            <a:gdLst/>
            <a:ahLst/>
            <a:cxnLst/>
            <a:rect l="0" t="0" r="0" b="0"/>
            <a:pathLst>
              <a:path w="2286000" h="1905000">
                <a:moveTo>
                  <a:pt x="0" y="952500"/>
                </a:moveTo>
                <a:lnTo>
                  <a:pt x="2286000" y="952500"/>
                </a:lnTo>
              </a:path>
            </a:pathLst>
          </a:custGeom>
          <a:noFill/>
          <a:ln w="9525" cap="rnd">
            <a:solidFill>
              <a:srgbClr val="D8DEE7"/>
            </a:solidFill>
            <a:prstDash val="dash"/>
            <a:round/>
          </a:ln>
        </p:spPr>
        <p:txBody>
          <a:bodyPr/>
          <a:lstStyle/>
          <a:p>
            <a:endParaRPr sz="1600">
              <a:latin typeface="Arial"/>
              <a:cs typeface="Arial"/>
            </a:endParaRPr>
          </a:p>
        </p:txBody>
      </p:sp>
      <p:sp>
        <p:nvSpPr>
          <p:cNvPr id="102" name="L102"/>
          <p:cNvSpPr/>
          <p:nvPr/>
        </p:nvSpPr>
        <p:spPr>
          <a:xfrm>
            <a:off x="914400" y="1397000"/>
            <a:ext cx="2286000" cy="1905000"/>
          </a:xfrm>
          <a:custGeom>
            <a:avLst/>
            <a:gdLst/>
            <a:ahLst/>
            <a:cxnLst/>
            <a:rect l="0" t="0" r="0" b="0"/>
            <a:pathLst>
              <a:path w="2286000" h="1905000">
                <a:moveTo>
                  <a:pt x="0" y="1752600"/>
                </a:moveTo>
                <a:lnTo>
                  <a:pt x="2286000" y="152400"/>
                </a:lnTo>
              </a:path>
            </a:pathLst>
          </a:custGeom>
          <a:noFill/>
          <a:ln w="31750" cap="rnd">
            <a:solidFill>
              <a:srgbClr val="4A00E2"/>
            </a:solidFill>
            <a:round/>
          </a:ln>
        </p:spPr>
        <p:txBody>
          <a:bodyPr/>
          <a:lstStyle/>
          <a:p>
            <a:endParaRPr sz="1600">
              <a:latin typeface="Arial"/>
              <a:cs typeface="Arial"/>
            </a:endParaRPr>
          </a:p>
        </p:txBody>
      </p:sp>
      <p:sp>
        <p:nvSpPr>
          <p:cNvPr id="110" name="d110"/>
          <p:cNvSpPr/>
          <p:nvPr/>
        </p:nvSpPr>
        <p:spPr>
          <a:xfrm>
            <a:off x="1016000" y="2999740"/>
            <a:ext cx="71120" cy="71120"/>
          </a:xfrm>
          <a:prstGeom prst="ellipse">
            <a:avLst/>
          </a:prstGeom>
          <a:solidFill>
            <a:srgbClr val="64748B"/>
          </a:solidFill>
          <a:ln>
            <a:noFill/>
          </a:ln>
        </p:spPr>
        <p:txBody>
          <a:bodyPr/>
          <a:lstStyle/>
          <a:p>
            <a:endParaRPr sz="1600">
              <a:latin typeface="Arial"/>
              <a:cs typeface="Arial"/>
            </a:endParaRPr>
          </a:p>
        </p:txBody>
      </p:sp>
      <p:sp>
        <p:nvSpPr>
          <p:cNvPr id="111" name="d111"/>
          <p:cNvSpPr/>
          <p:nvPr/>
        </p:nvSpPr>
        <p:spPr>
          <a:xfrm>
            <a:off x="1198880" y="2923540"/>
            <a:ext cx="71120" cy="71120"/>
          </a:xfrm>
          <a:prstGeom prst="ellipse">
            <a:avLst/>
          </a:prstGeom>
          <a:solidFill>
            <a:srgbClr val="64748B"/>
          </a:solidFill>
          <a:ln>
            <a:noFill/>
          </a:ln>
        </p:spPr>
        <p:txBody>
          <a:bodyPr/>
          <a:lstStyle/>
          <a:p>
            <a:endParaRPr sz="1600">
              <a:latin typeface="Arial"/>
              <a:cs typeface="Arial"/>
            </a:endParaRPr>
          </a:p>
        </p:txBody>
      </p:sp>
      <p:sp>
        <p:nvSpPr>
          <p:cNvPr id="112" name="d112"/>
          <p:cNvSpPr/>
          <p:nvPr/>
        </p:nvSpPr>
        <p:spPr>
          <a:xfrm>
            <a:off x="1336040" y="2771140"/>
            <a:ext cx="71120" cy="71120"/>
          </a:xfrm>
          <a:prstGeom prst="ellipse">
            <a:avLst/>
          </a:prstGeom>
          <a:solidFill>
            <a:srgbClr val="64748B"/>
          </a:solidFill>
          <a:ln>
            <a:noFill/>
          </a:ln>
        </p:spPr>
        <p:txBody>
          <a:bodyPr/>
          <a:lstStyle/>
          <a:p>
            <a:endParaRPr sz="1600">
              <a:latin typeface="Arial"/>
              <a:cs typeface="Arial"/>
            </a:endParaRPr>
          </a:p>
        </p:txBody>
      </p:sp>
      <p:sp>
        <p:nvSpPr>
          <p:cNvPr id="113" name="d113"/>
          <p:cNvSpPr/>
          <p:nvPr/>
        </p:nvSpPr>
        <p:spPr>
          <a:xfrm>
            <a:off x="1518920" y="2694940"/>
            <a:ext cx="71120" cy="71120"/>
          </a:xfrm>
          <a:prstGeom prst="ellipse">
            <a:avLst/>
          </a:prstGeom>
          <a:solidFill>
            <a:srgbClr val="64748B"/>
          </a:solidFill>
          <a:ln>
            <a:noFill/>
          </a:ln>
        </p:spPr>
        <p:txBody>
          <a:bodyPr/>
          <a:lstStyle/>
          <a:p>
            <a:endParaRPr sz="1600">
              <a:latin typeface="Arial"/>
              <a:cs typeface="Arial"/>
            </a:endParaRPr>
          </a:p>
        </p:txBody>
      </p:sp>
      <p:sp>
        <p:nvSpPr>
          <p:cNvPr id="114" name="d114"/>
          <p:cNvSpPr/>
          <p:nvPr/>
        </p:nvSpPr>
        <p:spPr>
          <a:xfrm>
            <a:off x="1656080" y="2504440"/>
            <a:ext cx="71120" cy="71120"/>
          </a:xfrm>
          <a:prstGeom prst="ellipse">
            <a:avLst/>
          </a:prstGeom>
          <a:solidFill>
            <a:srgbClr val="64748B"/>
          </a:solidFill>
          <a:ln>
            <a:noFill/>
          </a:ln>
        </p:spPr>
        <p:txBody>
          <a:bodyPr/>
          <a:lstStyle/>
          <a:p>
            <a:endParaRPr sz="1600">
              <a:latin typeface="Arial"/>
              <a:cs typeface="Arial"/>
            </a:endParaRPr>
          </a:p>
        </p:txBody>
      </p:sp>
      <p:sp>
        <p:nvSpPr>
          <p:cNvPr id="115" name="d115"/>
          <p:cNvSpPr/>
          <p:nvPr/>
        </p:nvSpPr>
        <p:spPr>
          <a:xfrm>
            <a:off x="1838960" y="2409190"/>
            <a:ext cx="71120" cy="71120"/>
          </a:xfrm>
          <a:prstGeom prst="ellipse">
            <a:avLst/>
          </a:prstGeom>
          <a:solidFill>
            <a:srgbClr val="64748B"/>
          </a:solidFill>
          <a:ln>
            <a:noFill/>
          </a:ln>
        </p:spPr>
        <p:txBody>
          <a:bodyPr/>
          <a:lstStyle/>
          <a:p>
            <a:endParaRPr sz="1600">
              <a:latin typeface="Arial"/>
              <a:cs typeface="Arial"/>
            </a:endParaRPr>
          </a:p>
        </p:txBody>
      </p:sp>
      <p:sp>
        <p:nvSpPr>
          <p:cNvPr id="116" name="d116"/>
          <p:cNvSpPr/>
          <p:nvPr/>
        </p:nvSpPr>
        <p:spPr>
          <a:xfrm>
            <a:off x="2021840" y="2256790"/>
            <a:ext cx="71120" cy="71120"/>
          </a:xfrm>
          <a:prstGeom prst="ellipse">
            <a:avLst/>
          </a:prstGeom>
          <a:solidFill>
            <a:srgbClr val="64748B"/>
          </a:solidFill>
          <a:ln>
            <a:noFill/>
          </a:ln>
        </p:spPr>
        <p:txBody>
          <a:bodyPr/>
          <a:lstStyle/>
          <a:p>
            <a:endParaRPr sz="1600">
              <a:latin typeface="Arial"/>
              <a:cs typeface="Arial"/>
            </a:endParaRPr>
          </a:p>
        </p:txBody>
      </p:sp>
      <p:sp>
        <p:nvSpPr>
          <p:cNvPr id="117" name="d117"/>
          <p:cNvSpPr/>
          <p:nvPr/>
        </p:nvSpPr>
        <p:spPr>
          <a:xfrm>
            <a:off x="2204720" y="2123440"/>
            <a:ext cx="71120" cy="71120"/>
          </a:xfrm>
          <a:prstGeom prst="ellipse">
            <a:avLst/>
          </a:prstGeom>
          <a:solidFill>
            <a:srgbClr val="64748B"/>
          </a:solidFill>
          <a:ln>
            <a:noFill/>
          </a:ln>
        </p:spPr>
        <p:txBody>
          <a:bodyPr/>
          <a:lstStyle/>
          <a:p>
            <a:endParaRPr sz="1600">
              <a:latin typeface="Arial"/>
              <a:cs typeface="Arial"/>
            </a:endParaRPr>
          </a:p>
        </p:txBody>
      </p:sp>
      <p:sp>
        <p:nvSpPr>
          <p:cNvPr id="118" name="d118"/>
          <p:cNvSpPr/>
          <p:nvPr/>
        </p:nvSpPr>
        <p:spPr>
          <a:xfrm>
            <a:off x="2341880" y="2009140"/>
            <a:ext cx="71120" cy="71120"/>
          </a:xfrm>
          <a:prstGeom prst="ellipse">
            <a:avLst/>
          </a:prstGeom>
          <a:solidFill>
            <a:srgbClr val="64748B"/>
          </a:solidFill>
          <a:ln>
            <a:noFill/>
          </a:ln>
        </p:spPr>
        <p:txBody>
          <a:bodyPr/>
          <a:lstStyle/>
          <a:p>
            <a:endParaRPr sz="1600">
              <a:latin typeface="Arial"/>
              <a:cs typeface="Arial"/>
            </a:endParaRPr>
          </a:p>
        </p:txBody>
      </p:sp>
      <p:sp>
        <p:nvSpPr>
          <p:cNvPr id="119" name="d119"/>
          <p:cNvSpPr/>
          <p:nvPr/>
        </p:nvSpPr>
        <p:spPr>
          <a:xfrm>
            <a:off x="2524760" y="1856740"/>
            <a:ext cx="71120" cy="71120"/>
          </a:xfrm>
          <a:prstGeom prst="ellipse">
            <a:avLst/>
          </a:prstGeom>
          <a:solidFill>
            <a:srgbClr val="64748B"/>
          </a:solidFill>
          <a:ln>
            <a:noFill/>
          </a:ln>
        </p:spPr>
        <p:txBody>
          <a:bodyPr/>
          <a:lstStyle/>
          <a:p>
            <a:endParaRPr sz="1600">
              <a:latin typeface="Arial"/>
              <a:cs typeface="Arial"/>
            </a:endParaRPr>
          </a:p>
        </p:txBody>
      </p:sp>
      <p:sp>
        <p:nvSpPr>
          <p:cNvPr id="120" name="d120"/>
          <p:cNvSpPr/>
          <p:nvPr/>
        </p:nvSpPr>
        <p:spPr>
          <a:xfrm>
            <a:off x="2707640" y="1742440"/>
            <a:ext cx="71120" cy="71120"/>
          </a:xfrm>
          <a:prstGeom prst="ellipse">
            <a:avLst/>
          </a:prstGeom>
          <a:solidFill>
            <a:srgbClr val="64748B"/>
          </a:solidFill>
          <a:ln>
            <a:noFill/>
          </a:ln>
        </p:spPr>
        <p:txBody>
          <a:bodyPr/>
          <a:lstStyle/>
          <a:p>
            <a:endParaRPr sz="1600">
              <a:latin typeface="Arial"/>
              <a:cs typeface="Arial"/>
            </a:endParaRPr>
          </a:p>
        </p:txBody>
      </p:sp>
      <p:sp>
        <p:nvSpPr>
          <p:cNvPr id="121" name="d121"/>
          <p:cNvSpPr/>
          <p:nvPr/>
        </p:nvSpPr>
        <p:spPr>
          <a:xfrm>
            <a:off x="2890520" y="1628140"/>
            <a:ext cx="71120" cy="71120"/>
          </a:xfrm>
          <a:prstGeom prst="ellipse">
            <a:avLst/>
          </a:prstGeom>
          <a:solidFill>
            <a:srgbClr val="64748B"/>
          </a:solidFill>
          <a:ln>
            <a:noFill/>
          </a:ln>
        </p:spPr>
        <p:txBody>
          <a:bodyPr/>
          <a:lstStyle/>
          <a:p>
            <a:endParaRPr sz="1600">
              <a:latin typeface="Arial"/>
              <a:cs typeface="Arial"/>
            </a:endParaRPr>
          </a:p>
        </p:txBody>
      </p:sp>
      <p:sp>
        <p:nvSpPr>
          <p:cNvPr id="122" name="d122"/>
          <p:cNvSpPr/>
          <p:nvPr/>
        </p:nvSpPr>
        <p:spPr>
          <a:xfrm>
            <a:off x="3027680" y="1551940"/>
            <a:ext cx="71120" cy="71120"/>
          </a:xfrm>
          <a:prstGeom prst="ellipse">
            <a:avLst/>
          </a:prstGeom>
          <a:solidFill>
            <a:srgbClr val="64748B"/>
          </a:solidFill>
          <a:ln>
            <a:noFill/>
          </a:ln>
        </p:spPr>
        <p:txBody>
          <a:bodyPr/>
          <a:lstStyle/>
          <a:p>
            <a:endParaRPr sz="1600">
              <a:latin typeface="Arial"/>
              <a:cs typeface="Arial"/>
            </a:endParaRPr>
          </a:p>
        </p:txBody>
      </p:sp>
      <p:sp>
        <p:nvSpPr>
          <p:cNvPr id="150" name="t150"/>
          <p:cNvSpPr txBox="1"/>
          <p:nvPr/>
        </p:nvSpPr>
        <p:spPr>
          <a:xfrm>
            <a:off x="838200" y="1219200"/>
            <a:ext cx="762000" cy="152400"/>
          </a:xfrm>
          <a:prstGeom prst="rect">
            <a:avLst/>
          </a:prstGeom>
          <a:noFill/>
          <a:ln>
            <a:noFill/>
          </a:ln>
        </p:spPr>
        <p:txBody>
          <a:bodyPr wrap="none" lIns="0" tIns="0" rIns="0" bIns="0" anchor="ctr"/>
          <a:lstStyle/>
          <a:p>
            <a:pPr algn="l"/>
            <a:r>
              <a:rPr lang="en-US" sz="1600" b="0" dirty="0">
                <a:solidFill>
                  <a:srgbClr val="4A4170"/>
                </a:solidFill>
                <a:latin typeface="Arial"/>
                <a:cs typeface="Arial"/>
              </a:rPr>
              <a:t>log-odds</a:t>
            </a:r>
          </a:p>
        </p:txBody>
      </p:sp>
      <p:sp>
        <p:nvSpPr>
          <p:cNvPr id="151" name="t151"/>
          <p:cNvSpPr txBox="1"/>
          <p:nvPr/>
        </p:nvSpPr>
        <p:spPr>
          <a:xfrm>
            <a:off x="914400" y="3378200"/>
            <a:ext cx="2286000" cy="152400"/>
          </a:xfrm>
          <a:prstGeom prst="rect">
            <a:avLst/>
          </a:prstGeom>
          <a:noFill/>
          <a:ln>
            <a:noFill/>
          </a:ln>
        </p:spPr>
        <p:txBody>
          <a:bodyPr wrap="none" lIns="0" tIns="0" rIns="0" bIns="0" anchor="ctr"/>
          <a:lstStyle/>
          <a:p>
            <a:pPr algn="ctr"/>
            <a:r>
              <a:rPr lang="en-US" sz="1600" b="0" dirty="0">
                <a:solidFill>
                  <a:srgbClr val="4A4170"/>
                </a:solidFill>
                <a:latin typeface="Arial"/>
                <a:cs typeface="Arial"/>
              </a:rPr>
              <a:t>linear predictor (η)</a:t>
            </a:r>
          </a:p>
        </p:txBody>
      </p:sp>
      <p:sp>
        <p:nvSpPr>
          <p:cNvPr id="152" name="t152"/>
          <p:cNvSpPr txBox="1"/>
          <p:nvPr/>
        </p:nvSpPr>
        <p:spPr>
          <a:xfrm>
            <a:off x="3302000" y="2146300"/>
            <a:ext cx="660400" cy="152400"/>
          </a:xfrm>
          <a:prstGeom prst="rect">
            <a:avLst/>
          </a:prstGeom>
          <a:noFill/>
          <a:ln>
            <a:noFill/>
          </a:ln>
        </p:spPr>
        <p:txBody>
          <a:bodyPr wrap="none" lIns="0" tIns="0" rIns="0" bIns="0" anchor="ctr"/>
          <a:lstStyle/>
          <a:p>
            <a:pPr algn="ctr"/>
            <a:r>
              <a:rPr lang="en-US" sz="1600" b="1" dirty="0">
                <a:solidFill>
                  <a:srgbClr val="4A00E2"/>
                </a:solidFill>
                <a:latin typeface="Arial"/>
                <a:cs typeface="Arial"/>
              </a:rPr>
              <a:t>logit⁻¹</a:t>
            </a:r>
          </a:p>
        </p:txBody>
      </p:sp>
      <p:sp>
        <p:nvSpPr>
          <p:cNvPr id="153" name="t153"/>
          <p:cNvSpPr txBox="1"/>
          <p:nvPr/>
        </p:nvSpPr>
        <p:spPr>
          <a:xfrm>
            <a:off x="3378200" y="2324100"/>
            <a:ext cx="508000" cy="254000"/>
          </a:xfrm>
          <a:prstGeom prst="rect">
            <a:avLst/>
          </a:prstGeom>
          <a:noFill/>
          <a:ln>
            <a:noFill/>
          </a:ln>
        </p:spPr>
        <p:txBody>
          <a:bodyPr wrap="none" lIns="0" tIns="0" rIns="0" bIns="0" anchor="ctr"/>
          <a:lstStyle/>
          <a:p>
            <a:pPr algn="ctr"/>
            <a:r>
              <a:rPr lang="en-US" sz="1600" b="1" dirty="0">
                <a:solidFill>
                  <a:srgbClr val="4A00E2"/>
                </a:solidFill>
                <a:latin typeface="Arial"/>
                <a:cs typeface="Arial"/>
              </a:rPr>
              <a:t>→</a:t>
            </a:r>
          </a:p>
        </p:txBody>
      </p:sp>
      <p:sp>
        <p:nvSpPr>
          <p:cNvPr id="200" name="L200"/>
          <p:cNvSpPr/>
          <p:nvPr/>
        </p:nvSpPr>
        <p:spPr>
          <a:xfrm>
            <a:off x="3987800" y="1397000"/>
            <a:ext cx="2286000" cy="1905000"/>
          </a:xfrm>
          <a:custGeom>
            <a:avLst/>
            <a:gdLst/>
            <a:ahLst/>
            <a:cxnLst/>
            <a:rect l="0" t="0" r="0" b="0"/>
            <a:pathLst>
              <a:path w="2286000" h="1905000">
                <a:moveTo>
                  <a:pt x="0" y="0"/>
                </a:moveTo>
                <a:lnTo>
                  <a:pt x="0" y="1905000"/>
                </a:lnTo>
                <a:lnTo>
                  <a:pt x="2286000" y="1905000"/>
                </a:lnTo>
              </a:path>
            </a:pathLst>
          </a:custGeom>
          <a:noFill/>
          <a:ln w="12700" cap="rnd">
            <a:solidFill>
              <a:srgbClr val="94A3B8"/>
            </a:solidFill>
            <a:round/>
          </a:ln>
        </p:spPr>
        <p:txBody>
          <a:bodyPr/>
          <a:lstStyle/>
          <a:p>
            <a:endParaRPr sz="1600">
              <a:latin typeface="Arial"/>
              <a:cs typeface="Arial"/>
            </a:endParaRPr>
          </a:p>
        </p:txBody>
      </p:sp>
      <p:sp>
        <p:nvSpPr>
          <p:cNvPr id="201" name="L201"/>
          <p:cNvSpPr/>
          <p:nvPr/>
        </p:nvSpPr>
        <p:spPr>
          <a:xfrm>
            <a:off x="3987800" y="1397000"/>
            <a:ext cx="2286000" cy="1905000"/>
          </a:xfrm>
          <a:custGeom>
            <a:avLst/>
            <a:gdLst/>
            <a:ahLst/>
            <a:cxnLst/>
            <a:rect l="0" t="0" r="0" b="0"/>
            <a:pathLst>
              <a:path w="2286000" h="1905000">
                <a:moveTo>
                  <a:pt x="0" y="952500"/>
                </a:moveTo>
                <a:lnTo>
                  <a:pt x="2286000" y="952500"/>
                </a:lnTo>
              </a:path>
            </a:pathLst>
          </a:custGeom>
          <a:noFill/>
          <a:ln w="9525" cap="rnd">
            <a:solidFill>
              <a:srgbClr val="D8DEE7"/>
            </a:solidFill>
            <a:prstDash val="dash"/>
            <a:round/>
          </a:ln>
        </p:spPr>
        <p:txBody>
          <a:bodyPr/>
          <a:lstStyle/>
          <a:p>
            <a:endParaRPr sz="1600">
              <a:latin typeface="Arial"/>
              <a:cs typeface="Arial"/>
            </a:endParaRPr>
          </a:p>
        </p:txBody>
      </p:sp>
      <p:sp>
        <p:nvSpPr>
          <p:cNvPr id="202" name="L202"/>
          <p:cNvSpPr/>
          <p:nvPr/>
        </p:nvSpPr>
        <p:spPr>
          <a:xfrm>
            <a:off x="3987800" y="1397000"/>
            <a:ext cx="2286000" cy="1905000"/>
          </a:xfrm>
          <a:custGeom>
            <a:avLst/>
            <a:gdLst/>
            <a:ahLst/>
            <a:cxnLst/>
            <a:rect l="0" t="0" r="0" b="0"/>
            <a:pathLst>
              <a:path w="2286000" h="1905000">
                <a:moveTo>
                  <a:pt x="0" y="1897246"/>
                </a:moveTo>
                <a:lnTo>
                  <a:pt x="87923" y="1893188"/>
                </a:lnTo>
                <a:lnTo>
                  <a:pt x="175846" y="1887026"/>
                </a:lnTo>
                <a:lnTo>
                  <a:pt x="263769" y="1877696"/>
                </a:lnTo>
                <a:lnTo>
                  <a:pt x="351692" y="1863629"/>
                </a:lnTo>
                <a:lnTo>
                  <a:pt x="439615" y="1842555"/>
                </a:lnTo>
                <a:lnTo>
                  <a:pt x="527538" y="1811285"/>
                </a:lnTo>
                <a:lnTo>
                  <a:pt x="615462" y="1765544"/>
                </a:lnTo>
                <a:lnTo>
                  <a:pt x="703385" y="1700002"/>
                </a:lnTo>
                <a:lnTo>
                  <a:pt x="791308" y="1608825"/>
                </a:lnTo>
                <a:lnTo>
                  <a:pt x="879231" y="1487064"/>
                </a:lnTo>
                <a:lnTo>
                  <a:pt x="967154" y="1333042"/>
                </a:lnTo>
                <a:lnTo>
                  <a:pt x="1055077" y="1151038"/>
                </a:lnTo>
                <a:lnTo>
                  <a:pt x="1143000" y="952500"/>
                </a:lnTo>
                <a:lnTo>
                  <a:pt x="1230923" y="753962"/>
                </a:lnTo>
                <a:lnTo>
                  <a:pt x="1318846" y="571958"/>
                </a:lnTo>
                <a:lnTo>
                  <a:pt x="1406769" y="417936"/>
                </a:lnTo>
                <a:lnTo>
                  <a:pt x="1494692" y="296175"/>
                </a:lnTo>
                <a:lnTo>
                  <a:pt x="1582615" y="204998"/>
                </a:lnTo>
                <a:lnTo>
                  <a:pt x="1670538" y="139456"/>
                </a:lnTo>
                <a:lnTo>
                  <a:pt x="1758462" y="93715"/>
                </a:lnTo>
                <a:lnTo>
                  <a:pt x="1846385" y="62445"/>
                </a:lnTo>
                <a:lnTo>
                  <a:pt x="1934308" y="41371"/>
                </a:lnTo>
                <a:lnTo>
                  <a:pt x="2022231" y="27304"/>
                </a:lnTo>
                <a:lnTo>
                  <a:pt x="2110154" y="17974"/>
                </a:lnTo>
                <a:lnTo>
                  <a:pt x="2198077" y="11812"/>
                </a:lnTo>
                <a:lnTo>
                  <a:pt x="2286000" y="7754"/>
                </a:lnTo>
              </a:path>
            </a:pathLst>
          </a:custGeom>
          <a:noFill/>
          <a:ln w="31750" cap="rnd">
            <a:solidFill>
              <a:srgbClr val="4A00E2"/>
            </a:solidFill>
            <a:round/>
          </a:ln>
        </p:spPr>
        <p:txBody>
          <a:bodyPr/>
          <a:lstStyle/>
          <a:p>
            <a:endParaRPr sz="1600">
              <a:latin typeface="Arial"/>
              <a:cs typeface="Arial"/>
            </a:endParaRPr>
          </a:p>
        </p:txBody>
      </p:sp>
      <p:sp>
        <p:nvSpPr>
          <p:cNvPr id="250" name="t250"/>
          <p:cNvSpPr txBox="1"/>
          <p:nvPr/>
        </p:nvSpPr>
        <p:spPr>
          <a:xfrm>
            <a:off x="3606800" y="1358900"/>
            <a:ext cx="355600" cy="152400"/>
          </a:xfrm>
          <a:prstGeom prst="rect">
            <a:avLst/>
          </a:prstGeom>
          <a:noFill/>
          <a:ln>
            <a:noFill/>
          </a:ln>
        </p:spPr>
        <p:txBody>
          <a:bodyPr wrap="none" lIns="0" tIns="0" rIns="0" bIns="0" anchor="ctr"/>
          <a:lstStyle/>
          <a:p>
            <a:pPr algn="r"/>
            <a:r>
              <a:rPr lang="en-US" sz="1600" b="0" dirty="0">
                <a:solidFill>
                  <a:srgbClr val="4A4170"/>
                </a:solidFill>
                <a:latin typeface="Arial"/>
                <a:cs typeface="Arial"/>
              </a:rPr>
              <a:t>P = 1</a:t>
            </a:r>
          </a:p>
        </p:txBody>
      </p:sp>
      <p:sp>
        <p:nvSpPr>
          <p:cNvPr id="251" name="t251"/>
          <p:cNvSpPr txBox="1"/>
          <p:nvPr/>
        </p:nvSpPr>
        <p:spPr>
          <a:xfrm>
            <a:off x="3606800" y="3187700"/>
            <a:ext cx="355600" cy="152400"/>
          </a:xfrm>
          <a:prstGeom prst="rect">
            <a:avLst/>
          </a:prstGeom>
          <a:noFill/>
          <a:ln>
            <a:noFill/>
          </a:ln>
        </p:spPr>
        <p:txBody>
          <a:bodyPr wrap="none" lIns="0" tIns="0" rIns="0" bIns="0" anchor="ctr"/>
          <a:lstStyle/>
          <a:p>
            <a:pPr algn="r"/>
            <a:r>
              <a:rPr lang="en-US" sz="1600" b="0" dirty="0">
                <a:solidFill>
                  <a:srgbClr val="4A4170"/>
                </a:solidFill>
                <a:latin typeface="Arial"/>
                <a:cs typeface="Arial"/>
              </a:rPr>
              <a:t>P = 0</a:t>
            </a:r>
          </a:p>
        </p:txBody>
      </p:sp>
      <p:sp>
        <p:nvSpPr>
          <p:cNvPr id="252" name="t252"/>
          <p:cNvSpPr txBox="1"/>
          <p:nvPr/>
        </p:nvSpPr>
        <p:spPr>
          <a:xfrm>
            <a:off x="3987800" y="3378200"/>
            <a:ext cx="2286000" cy="152400"/>
          </a:xfrm>
          <a:prstGeom prst="rect">
            <a:avLst/>
          </a:prstGeom>
          <a:noFill/>
          <a:ln>
            <a:noFill/>
          </a:ln>
        </p:spPr>
        <p:txBody>
          <a:bodyPr wrap="none" lIns="0" tIns="0" rIns="0" bIns="0" anchor="ctr"/>
          <a:lstStyle/>
          <a:p>
            <a:pPr algn="ctr"/>
            <a:r>
              <a:rPr lang="en-US" sz="1600" b="0" dirty="0">
                <a:solidFill>
                  <a:srgbClr val="4A4170"/>
                </a:solidFill>
                <a:latin typeface="Arial"/>
                <a:cs typeface="Arial"/>
              </a:rPr>
              <a:t>linear predictor (η)</a:t>
            </a:r>
          </a:p>
        </p:txBody>
      </p:sp>
      <p:sp>
        <p:nvSpPr>
          <p:cNvPr id="300" name="thr300"/>
          <p:cNvSpPr/>
          <p:nvPr/>
        </p:nvSpPr>
        <p:spPr>
          <a:xfrm>
            <a:off x="4856480" y="1397000"/>
            <a:ext cx="0" cy="1905000"/>
          </a:xfrm>
          <a:custGeom>
            <a:avLst/>
            <a:gdLst/>
            <a:ahLst/>
            <a:cxnLst/>
            <a:rect l="0" t="0" r="0" b="0"/>
            <a:pathLst>
              <a:path h="1905000">
                <a:moveTo>
                  <a:pt x="0" y="0"/>
                </a:moveTo>
                <a:lnTo>
                  <a:pt x="0" y="1905000"/>
                </a:lnTo>
              </a:path>
            </a:pathLst>
          </a:custGeom>
          <a:noFill/>
          <a:ln w="19050" cap="rnd">
            <a:solidFill>
              <a:srgbClr val="FF5D55"/>
            </a:solidFill>
            <a:prstDash val="dash"/>
          </a:ln>
        </p:spPr>
        <p:txBody>
          <a:bodyPr/>
          <a:lstStyle/>
          <a:p>
            <a:endParaRPr sz="1600">
              <a:latin typeface="Arial"/>
              <a:cs typeface="Arial"/>
            </a:endParaRPr>
          </a:p>
        </p:txBody>
      </p:sp>
      <p:sp>
        <p:nvSpPr>
          <p:cNvPr id="301" name="thr301"/>
          <p:cNvSpPr/>
          <p:nvPr/>
        </p:nvSpPr>
        <p:spPr>
          <a:xfrm>
            <a:off x="5450840" y="1397000"/>
            <a:ext cx="0" cy="1905000"/>
          </a:xfrm>
          <a:custGeom>
            <a:avLst/>
            <a:gdLst/>
            <a:ahLst/>
            <a:cxnLst/>
            <a:rect l="0" t="0" r="0" b="0"/>
            <a:pathLst>
              <a:path h="1905000">
                <a:moveTo>
                  <a:pt x="0" y="0"/>
                </a:moveTo>
                <a:lnTo>
                  <a:pt x="0" y="1905000"/>
                </a:lnTo>
              </a:path>
            </a:pathLst>
          </a:custGeom>
          <a:noFill/>
          <a:ln w="19050" cap="rnd">
            <a:solidFill>
              <a:srgbClr val="FF0044"/>
            </a:solidFill>
            <a:prstDash val="dash"/>
          </a:ln>
        </p:spPr>
        <p:txBody>
          <a:bodyPr/>
          <a:lstStyle/>
          <a:p>
            <a:endParaRPr sz="1600">
              <a:latin typeface="Arial"/>
              <a:cs typeface="Arial"/>
            </a:endParaRPr>
          </a:p>
        </p:txBody>
      </p:sp>
      <p:sp>
        <p:nvSpPr>
          <p:cNvPr id="302" name="tl302"/>
          <p:cNvSpPr txBox="1"/>
          <p:nvPr/>
        </p:nvSpPr>
        <p:spPr>
          <a:xfrm>
            <a:off x="4433244" y="1172682"/>
            <a:ext cx="558800" cy="139700"/>
          </a:xfrm>
          <a:prstGeom prst="rect">
            <a:avLst/>
          </a:prstGeom>
          <a:noFill/>
          <a:ln>
            <a:noFill/>
          </a:ln>
        </p:spPr>
        <p:txBody>
          <a:bodyPr wrap="none" lIns="0" tIns="0" rIns="0" bIns="0" anchor="ctr"/>
          <a:lstStyle/>
          <a:p>
            <a:pPr algn="ctr"/>
            <a:r>
              <a:rPr lang="en-US" sz="1600" b="1" dirty="0">
                <a:solidFill>
                  <a:srgbClr val="FF5D55"/>
                </a:solidFill>
                <a:latin typeface="Arial"/>
                <a:cs typeface="Arial"/>
              </a:rPr>
              <a:t>rule-out</a:t>
            </a:r>
          </a:p>
        </p:txBody>
      </p:sp>
      <p:sp>
        <p:nvSpPr>
          <p:cNvPr id="303" name="tl303"/>
          <p:cNvSpPr txBox="1"/>
          <p:nvPr/>
        </p:nvSpPr>
        <p:spPr>
          <a:xfrm>
            <a:off x="5314706" y="1172682"/>
            <a:ext cx="508000" cy="139700"/>
          </a:xfrm>
          <a:prstGeom prst="rect">
            <a:avLst/>
          </a:prstGeom>
          <a:noFill/>
          <a:ln>
            <a:noFill/>
          </a:ln>
        </p:spPr>
        <p:txBody>
          <a:bodyPr wrap="none" lIns="0" tIns="0" rIns="0" bIns="0" anchor="ctr"/>
          <a:lstStyle/>
          <a:p>
            <a:pPr algn="ctr"/>
            <a:r>
              <a:rPr lang="en-US" sz="1600" b="1" dirty="0">
                <a:solidFill>
                  <a:srgbClr val="FF0044"/>
                </a:solidFill>
                <a:latin typeface="Arial"/>
                <a:cs typeface="Arial"/>
              </a:rPr>
              <a:t>rule-in</a:t>
            </a:r>
          </a:p>
        </p:txBody>
      </p:sp>
      <p:sp>
        <p:nvSpPr>
          <p:cNvPr id="5" name="TextBox 4">
            <a:extLst>
              <a:ext uri="{FF2B5EF4-FFF2-40B4-BE49-F238E27FC236}">
                <a16:creationId xmlns:a16="http://schemas.microsoft.com/office/drawing/2014/main" id="{1FC3BD47-B7C9-144D-9A56-302178622C99}"/>
              </a:ext>
            </a:extLst>
          </p:cNvPr>
          <p:cNvSpPr txBox="1"/>
          <p:nvPr/>
        </p:nvSpPr>
        <p:spPr>
          <a:xfrm>
            <a:off x="1484630" y="2865387"/>
            <a:ext cx="3048000" cy="228600"/>
          </a:xfrm>
          <a:prstGeom prst="rect">
            <a:avLst/>
          </a:prstGeom>
          <a:noFill/>
          <a:ln>
            <a:noFill/>
          </a:ln>
        </p:spPr>
        <p:txBody>
          <a:bodyPr vertOverflow="overflow" vert="horz" wrap="none" rtlCol="0" anchor="ctr" anchorCtr="0">
            <a:noAutofit/>
          </a:bodyPr>
          <a:lstStyle/>
          <a:p>
            <a:pPr algn="l"/>
            <a:r>
              <a:rPr lang="en-US" sz="1600" dirty="0">
                <a:solidFill>
                  <a:srgbClr val="110057"/>
                </a:solidFill>
                <a:latin typeface="Arial"/>
                <a:cs typeface="Arial"/>
              </a:rPr>
              <a:t>p = </a:t>
            </a:r>
            <a:r>
              <a:rPr lang="el-GR" sz="1600" dirty="0">
                <a:solidFill>
                  <a:srgbClr val="110057"/>
                </a:solidFill>
                <a:latin typeface="Arial"/>
                <a:cs typeface="Arial"/>
              </a:rPr>
              <a:t>β₀ + β₁</a:t>
            </a:r>
            <a:r>
              <a:rPr lang="en-US" sz="1600" dirty="0">
                <a:solidFill>
                  <a:srgbClr val="110057"/>
                </a:solidFill>
                <a:latin typeface="Arial"/>
                <a:cs typeface="Arial"/>
              </a:rPr>
              <a:t>x₁ + </a:t>
            </a:r>
            <a:r>
              <a:rPr lang="el-GR" sz="1600" dirty="0">
                <a:solidFill>
                  <a:srgbClr val="110057"/>
                </a:solidFill>
                <a:latin typeface="Arial"/>
                <a:cs typeface="Arial"/>
              </a:rPr>
              <a:t>β₂</a:t>
            </a:r>
            <a:r>
              <a:rPr lang="en-US" sz="1600" dirty="0">
                <a:solidFill>
                  <a:srgbClr val="110057"/>
                </a:solidFill>
                <a:latin typeface="Arial"/>
                <a:cs typeface="Arial"/>
              </a:rPr>
              <a:t>x₂</a:t>
            </a:r>
          </a:p>
        </p:txBody>
      </p:sp>
    </p:spTree>
    <p:extLst>
      <p:ext uri="{BB962C8B-B14F-4D97-AF65-F5344CB8AC3E}">
        <p14:creationId xmlns:p14="http://schemas.microsoft.com/office/powerpoint/2010/main" val="4233069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8327895-18FD-444E-96A0-342EE78F383D}"/>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A9746D00-EA13-43E0-B59A-5DC59E777C73}"/>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734EC69E-6A43-45A2-8599-F3B9E9CA887E}"/>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100" b="1" dirty="0">
                <a:solidFill>
                  <a:srgbClr val="4A00E2"/>
                </a:solidFill>
                <a:latin typeface="Arial"/>
                <a:ea typeface="Arial"/>
                <a:cs typeface="Arial"/>
              </a:rPr>
              <a:t>ACT | MACHINE LEARNING</a:t>
            </a:r>
          </a:p>
        </p:txBody>
      </p:sp>
      <p:sp>
        <p:nvSpPr>
          <p:cNvPr id="4" name="Rectangle 3">
            <a:extLst>
              <a:ext uri="{FF2B5EF4-FFF2-40B4-BE49-F238E27FC236}">
                <a16:creationId xmlns:a16="http://schemas.microsoft.com/office/drawing/2014/main" id="{06D67605-BAD1-4377-898A-BD617BE7087E}"/>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r>
              <a:rPr lang="en-US" sz="2400" b="1" dirty="0">
                <a:solidFill>
                  <a:srgbClr val="110057"/>
                </a:solidFill>
                <a:latin typeface="Arial"/>
                <a:ea typeface="Arial"/>
                <a:cs typeface="Arial"/>
              </a:rPr>
              <a:t>Wells: regression coefficients → point score</a:t>
            </a:r>
          </a:p>
        </p:txBody>
      </p:sp>
      <p:sp>
        <p:nvSpPr>
          <p:cNvPr id="22" name="Rectangle 21">
            <a:extLst>
              <a:ext uri="{FF2B5EF4-FFF2-40B4-BE49-F238E27FC236}">
                <a16:creationId xmlns:a16="http://schemas.microsoft.com/office/drawing/2014/main" id="{B02D0258-CF59-4DD0-A5E2-C25496A8DC07}"/>
              </a:ext>
            </a:extLst>
          </p:cNvPr>
          <p:cNvSpPr>
            <a:spLocks noGrp="1"/>
          </p:cNvSpPr>
          <p:nvPr/>
        </p:nvSpPr>
        <p:spPr>
          <a:xfrm>
            <a:off x="558799" y="4064000"/>
            <a:ext cx="7660527" cy="342900"/>
          </a:xfrm>
          <a:prstGeom prst="rect">
            <a:avLst/>
          </a:prstGeom>
          <a:solidFill>
            <a:srgbClr val="F2EEFA"/>
          </a:solidFill>
          <a:ln w="9525">
            <a:solidFill>
              <a:srgbClr val="F0C8C2"/>
            </a:solidFill>
            <a:prstDash val="solid"/>
          </a:ln>
        </p:spPr>
        <p:txBody>
          <a:bodyPr lIns="57150" tIns="38100" rIns="57150" bIns="38100" anchor="t"/>
          <a:lstStyle/>
          <a:p>
            <a:pPr algn="l"/>
            <a:r>
              <a:rPr lang="en-US" sz="1600" dirty="0">
                <a:solidFill>
                  <a:srgbClr val="4A4170"/>
                </a:solidFill>
                <a:latin typeface="Arial"/>
                <a:ea typeface="Arial"/>
                <a:cs typeface="Arial"/>
              </a:rPr>
              <a:t>R</a:t>
            </a:r>
            <a:r>
              <a:rPr lang="en-US" sz="1600" b="0" dirty="0">
                <a:solidFill>
                  <a:srgbClr val="4A4170"/>
                </a:solidFill>
                <a:latin typeface="Arial"/>
                <a:ea typeface="Arial"/>
                <a:cs typeface="Arial"/>
              </a:rPr>
              <a:t>ound the coefficients and pick points that line up with decision thresholds = score</a:t>
            </a:r>
          </a:p>
        </p:txBody>
      </p:sp>
      <p:sp>
        <p:nvSpPr>
          <p:cNvPr id="23" name="Rectangle 22">
            <a:extLst>
              <a:ext uri="{FF2B5EF4-FFF2-40B4-BE49-F238E27FC236}">
                <a16:creationId xmlns:a16="http://schemas.microsoft.com/office/drawing/2014/main" id="{79E43FD9-3F24-409D-AF0E-808EBE0DCFF8}"/>
              </a:ext>
            </a:extLst>
          </p:cNvPr>
          <p:cNvSpPr>
            <a:spLocks noGrp="1"/>
          </p:cNvSpPr>
          <p:nvPr/>
        </p:nvSpPr>
        <p:spPr>
          <a:xfrm>
            <a:off x="558800" y="4762500"/>
            <a:ext cx="5080000" cy="2857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r>
              <a:rPr lang="en-US" sz="1600" b="0" dirty="0">
                <a:solidFill>
                  <a:srgbClr val="4A4170"/>
                </a:solidFill>
                <a:latin typeface="Arial"/>
                <a:ea typeface="Arial"/>
                <a:cs typeface="Arial"/>
              </a:rPr>
              <a:t>Wells et al., Thromb Haemost 2000;83:416–20.</a:t>
            </a:r>
          </a:p>
        </p:txBody>
      </p:sp>
      <p:pic>
        <p:nvPicPr>
          <p:cNvPr id="5" name="Picture 4">
            <a:extLst>
              <a:ext uri="{FF2B5EF4-FFF2-40B4-BE49-F238E27FC236}">
                <a16:creationId xmlns:a16="http://schemas.microsoft.com/office/drawing/2014/main" id="{8E4A8CD6-87FD-000B-FEA2-C61115CE1232}"/>
              </a:ext>
            </a:extLst>
          </p:cNvPr>
          <p:cNvPicPr>
            <a:picLocks noChangeAspect="1"/>
          </p:cNvPicPr>
          <p:nvPr/>
        </p:nvPicPr>
        <p:blipFill>
          <a:blip r:embed="rId3"/>
          <a:stretch>
            <a:fillRect/>
          </a:stretch>
        </p:blipFill>
        <p:spPr>
          <a:xfrm>
            <a:off x="558799" y="1249748"/>
            <a:ext cx="5740513" cy="2571750"/>
          </a:xfrm>
          <a:prstGeom prst="rect">
            <a:avLst/>
          </a:prstGeom>
        </p:spPr>
      </p:pic>
      <p:pic>
        <p:nvPicPr>
          <p:cNvPr id="6" name="Picture 5">
            <a:extLst>
              <a:ext uri="{FF2B5EF4-FFF2-40B4-BE49-F238E27FC236}">
                <a16:creationId xmlns:a16="http://schemas.microsoft.com/office/drawing/2014/main" id="{B17D6598-604C-D368-AB08-811DBBC3DF96}"/>
              </a:ext>
            </a:extLst>
          </p:cNvPr>
          <p:cNvPicPr>
            <a:picLocks noChangeAspect="1"/>
          </p:cNvPicPr>
          <p:nvPr/>
        </p:nvPicPr>
        <p:blipFill>
          <a:blip r:embed="rId4"/>
          <a:stretch>
            <a:fillRect/>
          </a:stretch>
        </p:blipFill>
        <p:spPr>
          <a:xfrm>
            <a:off x="3677385" y="2191192"/>
            <a:ext cx="3175000" cy="1206500"/>
          </a:xfrm>
          <a:prstGeom prst="rect">
            <a:avLst/>
          </a:prstGeom>
        </p:spPr>
      </p:pic>
      <p:pic>
        <p:nvPicPr>
          <p:cNvPr id="7" name="Picture 6">
            <a:extLst>
              <a:ext uri="{FF2B5EF4-FFF2-40B4-BE49-F238E27FC236}">
                <a16:creationId xmlns:a16="http://schemas.microsoft.com/office/drawing/2014/main" id="{A90EF41E-D097-485F-23B9-CCB1546D783D}"/>
              </a:ext>
            </a:extLst>
          </p:cNvPr>
          <p:cNvPicPr>
            <a:picLocks noChangeAspect="1"/>
          </p:cNvPicPr>
          <p:nvPr/>
        </p:nvPicPr>
        <p:blipFill>
          <a:blip r:embed="rId5"/>
          <a:stretch>
            <a:fillRect/>
          </a:stretch>
        </p:blipFill>
        <p:spPr>
          <a:xfrm>
            <a:off x="6921500" y="1524000"/>
            <a:ext cx="1905000" cy="2349500"/>
          </a:xfrm>
          <a:prstGeom prst="rect">
            <a:avLst/>
          </a:prstGeom>
        </p:spPr>
      </p:pic>
    </p:spTree>
    <p:extLst>
      <p:ext uri="{BB962C8B-B14F-4D97-AF65-F5344CB8AC3E}">
        <p14:creationId xmlns:p14="http://schemas.microsoft.com/office/powerpoint/2010/main" val="884656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28F76A9-2F35-4FC8-AB29-61FB0330BE59}"/>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F1E464FF-546D-4E7D-8455-C432FED874EE}"/>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518939D8-9D47-4C64-A6D7-6842CF272BD8}"/>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100" b="1" dirty="0">
                <a:solidFill>
                  <a:srgbClr val="4A00E2"/>
                </a:solidFill>
                <a:latin typeface="Arial"/>
                <a:ea typeface="Arial"/>
                <a:cs typeface="Arial"/>
              </a:rPr>
              <a:t>ACT | MACHINE LEARNING</a:t>
            </a:r>
          </a:p>
        </p:txBody>
      </p:sp>
      <p:sp>
        <p:nvSpPr>
          <p:cNvPr id="4" name="Rectangle 3">
            <a:extLst>
              <a:ext uri="{FF2B5EF4-FFF2-40B4-BE49-F238E27FC236}">
                <a16:creationId xmlns:a16="http://schemas.microsoft.com/office/drawing/2014/main" id="{BA5BA2AB-6B38-49CF-9E54-16B59E80B338}"/>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2400" b="1" dirty="0">
                <a:solidFill>
                  <a:srgbClr val="110057"/>
                </a:solidFill>
                <a:latin typeface="Arial"/>
                <a:ea typeface="Arial"/>
                <a:cs typeface="Arial"/>
              </a:rPr>
              <a:t>Intermountain: bedside decision support in 1967</a:t>
            </a:r>
          </a:p>
        </p:txBody>
      </p:sp>
      <p:sp>
        <p:nvSpPr>
          <p:cNvPr id="7" name="Rectangle 6">
            <a:extLst>
              <a:ext uri="{FF2B5EF4-FFF2-40B4-BE49-F238E27FC236}">
                <a16:creationId xmlns:a16="http://schemas.microsoft.com/office/drawing/2014/main" id="{CF96604B-C1D2-4BE3-B0B0-B75619276875}"/>
              </a:ext>
            </a:extLst>
          </p:cNvPr>
          <p:cNvSpPr>
            <a:spLocks noGrp="1"/>
          </p:cNvSpPr>
          <p:nvPr/>
        </p:nvSpPr>
        <p:spPr>
          <a:xfrm>
            <a:off x="558800" y="1463218"/>
            <a:ext cx="3810000" cy="1803964"/>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9" name="Rectangle 8">
            <a:extLst>
              <a:ext uri="{FF2B5EF4-FFF2-40B4-BE49-F238E27FC236}">
                <a16:creationId xmlns:a16="http://schemas.microsoft.com/office/drawing/2014/main" id="{0AE16BA4-F591-45C2-8991-3EA00873402E}"/>
              </a:ext>
            </a:extLst>
          </p:cNvPr>
          <p:cNvSpPr>
            <a:spLocks noGrp="1"/>
          </p:cNvSpPr>
          <p:nvPr/>
        </p:nvSpPr>
        <p:spPr>
          <a:xfrm>
            <a:off x="736600" y="1590218"/>
            <a:ext cx="3479800" cy="14224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0" dirty="0">
                <a:solidFill>
                  <a:srgbClr val="110057"/>
                </a:solidFill>
                <a:latin typeface="Arial"/>
                <a:ea typeface="Arial"/>
                <a:cs typeface="Arial"/>
              </a:rPr>
              <a:t>At LDS Hospital, HELP captured coded clinical data into a shared patient record, applied modular medical logic, and returned patient-specific diagnoses, alerts, reminders, and treatment recommendations.</a:t>
            </a:r>
          </a:p>
        </p:txBody>
      </p:sp>
      <p:sp>
        <p:nvSpPr>
          <p:cNvPr id="14" name="Rectangle 13">
            <a:extLst>
              <a:ext uri="{FF2B5EF4-FFF2-40B4-BE49-F238E27FC236}">
                <a16:creationId xmlns:a16="http://schemas.microsoft.com/office/drawing/2014/main" id="{7CC63CBE-91A8-49F5-97F7-F973B86D9424}"/>
              </a:ext>
            </a:extLst>
          </p:cNvPr>
          <p:cNvSpPr>
            <a:spLocks noGrp="1"/>
          </p:cNvSpPr>
          <p:nvPr/>
        </p:nvSpPr>
        <p:spPr>
          <a:xfrm>
            <a:off x="558800" y="3347666"/>
            <a:ext cx="3810000" cy="8890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r>
              <a:rPr lang="en-US" sz="1600" b="1" dirty="0">
                <a:solidFill>
                  <a:srgbClr val="000000"/>
                </a:solidFill>
                <a:latin typeface="Arial"/>
                <a:ea typeface="Arial"/>
                <a:cs typeface="Arial"/>
              </a:rPr>
              <a:t>Capturing data for machine learning was the original motivation for the EHR.</a:t>
            </a:r>
          </a:p>
        </p:txBody>
      </p:sp>
      <p:pic>
        <p:nvPicPr>
          <p:cNvPr id="6" name="Picture 5">
            <a:extLst>
              <a:ext uri="{FF2B5EF4-FFF2-40B4-BE49-F238E27FC236}">
                <a16:creationId xmlns:a16="http://schemas.microsoft.com/office/drawing/2014/main" id="{E325A69E-3BB3-FA57-C61C-CD78569A3CAD}"/>
              </a:ext>
            </a:extLst>
          </p:cNvPr>
          <p:cNvPicPr>
            <a:picLocks noChangeAspect="1"/>
          </p:cNvPicPr>
          <p:nvPr/>
        </p:nvPicPr>
        <p:blipFill>
          <a:blip r:embed="rId3"/>
          <a:stretch>
            <a:fillRect/>
          </a:stretch>
        </p:blipFill>
        <p:spPr>
          <a:xfrm>
            <a:off x="4572000" y="1044542"/>
            <a:ext cx="4064000" cy="1562100"/>
          </a:xfrm>
          <a:prstGeom prst="rect">
            <a:avLst/>
          </a:prstGeom>
        </p:spPr>
      </p:pic>
      <p:pic>
        <p:nvPicPr>
          <p:cNvPr id="16" name="Picture 15">
            <a:extLst>
              <a:ext uri="{FF2B5EF4-FFF2-40B4-BE49-F238E27FC236}">
                <a16:creationId xmlns:a16="http://schemas.microsoft.com/office/drawing/2014/main" id="{AEA1C3CA-881E-1AA5-52BD-A98A0CD57A1B}"/>
              </a:ext>
            </a:extLst>
          </p:cNvPr>
          <p:cNvPicPr>
            <a:picLocks noChangeAspect="1"/>
          </p:cNvPicPr>
          <p:nvPr/>
        </p:nvPicPr>
        <p:blipFill>
          <a:blip r:embed="rId4"/>
          <a:stretch>
            <a:fillRect/>
          </a:stretch>
        </p:blipFill>
        <p:spPr>
          <a:xfrm>
            <a:off x="4572000" y="2695542"/>
            <a:ext cx="4064000" cy="1968500"/>
          </a:xfrm>
          <a:prstGeom prst="rect">
            <a:avLst/>
          </a:prstGeom>
        </p:spPr>
      </p:pic>
    </p:spTree>
    <p:extLst>
      <p:ext uri="{BB962C8B-B14F-4D97-AF65-F5344CB8AC3E}">
        <p14:creationId xmlns:p14="http://schemas.microsoft.com/office/powerpoint/2010/main" val="3110921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38B72A0-325D-4BCD-BCE3-AAF4431A5132}"/>
              </a:ext>
            </a:extLst>
          </p:cNvPr>
          <p:cNvSpPr>
            <a:spLocks noGrp="1"/>
          </p:cNvSpPr>
          <p:nvPr/>
        </p:nvSpPr>
        <p:spPr>
          <a:xfrm>
            <a:off x="0" y="0"/>
            <a:ext cx="9144000" cy="5143500"/>
          </a:xfrm>
          <a:prstGeom prst="rect">
            <a:avLst/>
          </a:prstGeom>
          <a:solidFill>
            <a:srgbClr val="FFFFFF">
              <a:alpha val="100000"/>
            </a:srgbClr>
          </a:solidFill>
          <a:ln w="0">
            <a:no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B9696F97-8A66-4215-9517-321B5FBA10B2}"/>
              </a:ext>
            </a:extLst>
          </p:cNvPr>
          <p:cNvSpPr>
            <a:spLocks noGrp="1"/>
          </p:cNvSpPr>
          <p:nvPr/>
        </p:nvSpPr>
        <p:spPr>
          <a:xfrm>
            <a:off x="355600" y="736600"/>
            <a:ext cx="50800" cy="3581400"/>
          </a:xfrm>
          <a:prstGeom prst="rect">
            <a:avLst/>
          </a:prstGeom>
          <a:solidFill>
            <a:srgbClr val="6C4FF6">
              <a:alpha val="100000"/>
            </a:srgbClr>
          </a:solidFill>
          <a:ln w="0">
            <a:no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AA72C13C-0024-4FC1-9729-E5512B8BA33F}"/>
              </a:ext>
            </a:extLst>
          </p:cNvPr>
          <p:cNvSpPr>
            <a:spLocks noGrp="1"/>
          </p:cNvSpPr>
          <p:nvPr/>
        </p:nvSpPr>
        <p:spPr>
          <a:xfrm>
            <a:off x="552450" y="317500"/>
            <a:ext cx="1905000" cy="152400"/>
          </a:xfrm>
          <a:prstGeom prst="rect">
            <a:avLst/>
          </a:prstGeom>
          <a:solidFill>
            <a:srgbClr val="FFFFFF">
              <a:alpha val="0"/>
            </a:srgbClr>
          </a:solidFill>
          <a:ln w="0">
            <a:solidFill>
              <a:srgbClr val="000000">
                <a:alpha val="0"/>
              </a:srgbClr>
            </a:solidFill>
            <a:prstDash val="solid"/>
          </a:ln>
        </p:spPr>
        <p:txBody>
          <a:bodyPr wrap="none" lIns="57150" tIns="38100" rIns="57150" bIns="38100" anchor="t" anchorCtr="0">
            <a:noAutofit/>
          </a:bodyPr>
          <a:lstStyle/>
          <a:p>
            <a:pPr algn="l">
              <a:defRPr sz="1000" b="1">
                <a:solidFill>
                  <a:srgbClr val="4A00E2"/>
                </a:solidFill>
                <a:latin typeface="Arial"/>
                <a:ea typeface="Arial"/>
                <a:cs typeface="Arial"/>
              </a:defRPr>
            </a:pPr>
            <a:r>
              <a:rPr lang="en-US" sz="1100" b="1">
                <a:solidFill>
                  <a:srgbClr val="6F63C5"/>
                </a:solidFill>
                <a:latin typeface="Arial"/>
                <a:ea typeface="Arial"/>
                <a:cs typeface="Arial"/>
              </a:rPr>
              <a:t>CLINICAL PREDICTION MODELS</a:t>
            </a:r>
            <a:endParaRPr sz="1100" b="1">
              <a:solidFill>
                <a:srgbClr val="6F63C5"/>
              </a:solidFill>
              <a:latin typeface="Arial"/>
              <a:ea typeface="Arial"/>
              <a:cs typeface="Arial"/>
            </a:endParaRPr>
          </a:p>
        </p:txBody>
      </p:sp>
      <p:sp>
        <p:nvSpPr>
          <p:cNvPr id="4" name="Rectangle 3">
            <a:extLst>
              <a:ext uri="{FF2B5EF4-FFF2-40B4-BE49-F238E27FC236}">
                <a16:creationId xmlns:a16="http://schemas.microsoft.com/office/drawing/2014/main" id="{2158BDEE-62EB-44FD-833E-06DFD7844175}"/>
              </a:ext>
            </a:extLst>
          </p:cNvPr>
          <p:cNvSpPr>
            <a:spLocks noGrp="1"/>
          </p:cNvSpPr>
          <p:nvPr/>
        </p:nvSpPr>
        <p:spPr>
          <a:xfrm>
            <a:off x="552450" y="533400"/>
            <a:ext cx="7874000" cy="431800"/>
          </a:xfrm>
          <a:prstGeom prst="rect">
            <a:avLst/>
          </a:prstGeom>
          <a:solidFill>
            <a:srgbClr val="000000">
              <a:alpha val="0"/>
            </a:srgbClr>
          </a:solidFill>
          <a:ln w="0">
            <a:solidFill>
              <a:srgbClr val="000000">
                <a:alpha val="0"/>
              </a:srgbClr>
            </a:solidFill>
            <a:prstDash val="solid"/>
          </a:ln>
        </p:spPr>
        <p:txBody>
          <a:bodyPr wrap="none" lIns="57150" tIns="38100" rIns="57150" bIns="38100" anchor="t" anchorCtr="0">
            <a:noAutofit/>
          </a:bodyPr>
          <a:lstStyle/>
          <a:p>
            <a:pPr algn="l"/>
            <a:r>
              <a:rPr lang="en-US" sz="2400" b="1" dirty="0">
                <a:solidFill>
                  <a:srgbClr val="1F184F"/>
                </a:solidFill>
                <a:latin typeface="Arial"/>
                <a:ea typeface="Arial"/>
                <a:cs typeface="Arial"/>
              </a:rPr>
              <a:t>Statistical learning </a:t>
            </a:r>
            <a:r>
              <a:rPr lang="en-US" sz="2400" b="1" u="sng" dirty="0">
                <a:solidFill>
                  <a:srgbClr val="1F184F"/>
                </a:solidFill>
                <a:latin typeface="Arial"/>
                <a:ea typeface="Arial"/>
                <a:cs typeface="Arial"/>
              </a:rPr>
              <a:t>is</a:t>
            </a:r>
            <a:r>
              <a:rPr lang="en-US" sz="2400" b="1" dirty="0">
                <a:solidFill>
                  <a:srgbClr val="1F184F"/>
                </a:solidFill>
                <a:latin typeface="Arial"/>
                <a:ea typeface="Arial"/>
                <a:cs typeface="Arial"/>
              </a:rPr>
              <a:t> embedded in routine care</a:t>
            </a:r>
          </a:p>
        </p:txBody>
      </p:sp>
      <p:sp>
        <p:nvSpPr>
          <p:cNvPr id="8" name="Rounded Rectangle 7">
            <a:extLst>
              <a:ext uri="{FF2B5EF4-FFF2-40B4-BE49-F238E27FC236}">
                <a16:creationId xmlns:a16="http://schemas.microsoft.com/office/drawing/2014/main" id="{8B08EAD1-FA59-7C44-AB1F-69188B2481E7}"/>
              </a:ext>
            </a:extLst>
          </p:cNvPr>
          <p:cNvSpPr/>
          <p:nvPr/>
        </p:nvSpPr>
        <p:spPr>
          <a:xfrm>
            <a:off x="558800" y="2489200"/>
            <a:ext cx="1905000" cy="1905000"/>
          </a:xfrm>
          <a:prstGeom prst="roundRect">
            <a:avLst/>
          </a:prstGeom>
          <a:solidFill>
            <a:srgbClr val="FCFBFF"/>
          </a:solidFill>
          <a:ln w="12700">
            <a:solidFill>
              <a:srgbClr val="D7CDF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 name="TextBox 5">
            <a:extLst>
              <a:ext uri="{FF2B5EF4-FFF2-40B4-BE49-F238E27FC236}">
                <a16:creationId xmlns:a16="http://schemas.microsoft.com/office/drawing/2014/main" id="{885D85FC-7700-7942-BB20-5FF44B97B7DB}"/>
              </a:ext>
            </a:extLst>
          </p:cNvPr>
          <p:cNvSpPr txBox="1"/>
          <p:nvPr/>
        </p:nvSpPr>
        <p:spPr>
          <a:xfrm>
            <a:off x="552450" y="1066800"/>
            <a:ext cx="7874000" cy="228600"/>
          </a:xfrm>
          <a:prstGeom prst="rect">
            <a:avLst/>
          </a:prstGeom>
          <a:noFill/>
        </p:spPr>
        <p:txBody>
          <a:bodyPr vertOverflow="overflow" vert="horz" wrap="square" rtlCol="0" anchor="t" anchorCtr="0">
            <a:noAutofit/>
          </a:bodyPr>
          <a:lstStyle/>
          <a:p>
            <a:pPr algn="l"/>
            <a:r>
              <a:rPr lang="en-US" sz="1600" dirty="0">
                <a:solidFill>
                  <a:srgbClr val="5A5470"/>
                </a:solidFill>
                <a:latin typeface="Arial"/>
                <a:cs typeface="Arial"/>
              </a:rPr>
              <a:t>Clinical tools convert observed features into estimates, categories, or action thresholds.</a:t>
            </a:r>
          </a:p>
        </p:txBody>
      </p:sp>
      <p:sp>
        <p:nvSpPr>
          <p:cNvPr id="12" name="Rounded Rectangle 11">
            <a:extLst>
              <a:ext uri="{FF2B5EF4-FFF2-40B4-BE49-F238E27FC236}">
                <a16:creationId xmlns:a16="http://schemas.microsoft.com/office/drawing/2014/main" id="{B55A5F41-C1ED-E646-BA10-2B2C48EFCE75}"/>
              </a:ext>
            </a:extLst>
          </p:cNvPr>
          <p:cNvSpPr/>
          <p:nvPr/>
        </p:nvSpPr>
        <p:spPr>
          <a:xfrm>
            <a:off x="2654300" y="2489200"/>
            <a:ext cx="1905000" cy="1905000"/>
          </a:xfrm>
          <a:prstGeom prst="roundRect">
            <a:avLst/>
          </a:prstGeom>
          <a:solidFill>
            <a:srgbClr val="FCFBFF"/>
          </a:solidFill>
          <a:ln w="12700">
            <a:solidFill>
              <a:srgbClr val="D7CDF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 name="TextBox 10">
            <a:extLst>
              <a:ext uri="{FF2B5EF4-FFF2-40B4-BE49-F238E27FC236}">
                <a16:creationId xmlns:a16="http://schemas.microsoft.com/office/drawing/2014/main" id="{4389FC13-2455-5B4A-AE4F-ACFCDE3A0024}"/>
              </a:ext>
            </a:extLst>
          </p:cNvPr>
          <p:cNvSpPr txBox="1"/>
          <p:nvPr/>
        </p:nvSpPr>
        <p:spPr>
          <a:xfrm>
            <a:off x="685800" y="2656156"/>
            <a:ext cx="1651000" cy="1524000"/>
          </a:xfrm>
          <a:prstGeom prst="rect">
            <a:avLst/>
          </a:prstGeom>
          <a:noFill/>
        </p:spPr>
        <p:txBody>
          <a:bodyPr vertOverflow="overflow" vert="horz" wrap="square" rtlCol="0" anchor="ctr" anchorCtr="0">
            <a:noAutofit/>
          </a:bodyPr>
          <a:lstStyle/>
          <a:p>
            <a:pPr algn="l">
              <a:lnSpc>
                <a:spcPts val="2000"/>
              </a:lnSpc>
            </a:pPr>
            <a:r>
              <a:rPr lang="en-US" sz="1600" dirty="0">
                <a:solidFill>
                  <a:srgbClr val="343047"/>
                </a:solidFill>
                <a:latin typeface="Arial"/>
                <a:cs typeface="Arial"/>
              </a:rPr>
              <a:t>Findings + history</a:t>
            </a:r>
          </a:p>
          <a:p>
            <a:pPr algn="l">
              <a:lnSpc>
                <a:spcPts val="2000"/>
              </a:lnSpc>
            </a:pPr>
            <a:r>
              <a:rPr lang="en-US" sz="1600" dirty="0">
                <a:solidFill>
                  <a:srgbClr val="343047"/>
                </a:solidFill>
                <a:latin typeface="Arial"/>
                <a:cs typeface="Arial"/>
              </a:rPr>
              <a:t>→ weighted rule</a:t>
            </a:r>
          </a:p>
          <a:p>
            <a:pPr algn="l">
              <a:lnSpc>
                <a:spcPts val="2000"/>
              </a:lnSpc>
            </a:pPr>
            <a:r>
              <a:rPr lang="en-US" sz="1600" dirty="0">
                <a:solidFill>
                  <a:srgbClr val="343047"/>
                </a:solidFill>
                <a:latin typeface="Arial"/>
                <a:cs typeface="Arial"/>
              </a:rPr>
              <a:t>→ probability estimate</a:t>
            </a:r>
          </a:p>
        </p:txBody>
      </p:sp>
      <p:sp>
        <p:nvSpPr>
          <p:cNvPr id="14" name="Rounded Rectangle 13">
            <a:extLst>
              <a:ext uri="{FF2B5EF4-FFF2-40B4-BE49-F238E27FC236}">
                <a16:creationId xmlns:a16="http://schemas.microsoft.com/office/drawing/2014/main" id="{903EF4B6-6BFA-7C4E-898C-D944287E7E82}"/>
              </a:ext>
            </a:extLst>
          </p:cNvPr>
          <p:cNvSpPr/>
          <p:nvPr/>
        </p:nvSpPr>
        <p:spPr>
          <a:xfrm>
            <a:off x="4749800" y="2489200"/>
            <a:ext cx="1905000" cy="1905000"/>
          </a:xfrm>
          <a:prstGeom prst="roundRect">
            <a:avLst/>
          </a:prstGeom>
          <a:solidFill>
            <a:srgbClr val="FCFBFF"/>
          </a:solidFill>
          <a:ln w="12700">
            <a:solidFill>
              <a:srgbClr val="D7CDF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 name="TextBox 12">
            <a:extLst>
              <a:ext uri="{FF2B5EF4-FFF2-40B4-BE49-F238E27FC236}">
                <a16:creationId xmlns:a16="http://schemas.microsoft.com/office/drawing/2014/main" id="{BC2CB002-8A50-9F4F-A1A4-375FA8543A01}"/>
              </a:ext>
            </a:extLst>
          </p:cNvPr>
          <p:cNvSpPr txBox="1"/>
          <p:nvPr/>
        </p:nvSpPr>
        <p:spPr>
          <a:xfrm>
            <a:off x="2781300" y="2656156"/>
            <a:ext cx="1651000" cy="1524000"/>
          </a:xfrm>
          <a:prstGeom prst="rect">
            <a:avLst/>
          </a:prstGeom>
          <a:noFill/>
        </p:spPr>
        <p:txBody>
          <a:bodyPr vertOverflow="overflow" vert="horz" wrap="square" rtlCol="0" anchor="ctr" anchorCtr="0">
            <a:noAutofit/>
          </a:bodyPr>
          <a:lstStyle/>
          <a:p>
            <a:pPr algn="l">
              <a:lnSpc>
                <a:spcPts val="2000"/>
              </a:lnSpc>
            </a:pPr>
            <a:r>
              <a:rPr lang="en-US" sz="1600" dirty="0">
                <a:solidFill>
                  <a:srgbClr val="343047"/>
                </a:solidFill>
                <a:latin typeface="Arial"/>
                <a:cs typeface="Arial"/>
              </a:rPr>
              <a:t>Creatinine + demographics</a:t>
            </a:r>
          </a:p>
          <a:p>
            <a:pPr algn="l">
              <a:lnSpc>
                <a:spcPts val="2000"/>
              </a:lnSpc>
            </a:pPr>
            <a:r>
              <a:rPr lang="en-US" sz="1600" dirty="0">
                <a:solidFill>
                  <a:srgbClr val="343047"/>
                </a:solidFill>
                <a:latin typeface="Arial"/>
                <a:cs typeface="Arial"/>
              </a:rPr>
              <a:t>→ regression model</a:t>
            </a:r>
          </a:p>
          <a:p>
            <a:pPr algn="l">
              <a:lnSpc>
                <a:spcPts val="2000"/>
              </a:lnSpc>
            </a:pPr>
            <a:r>
              <a:rPr lang="en-US" sz="1600" dirty="0">
                <a:solidFill>
                  <a:srgbClr val="343047"/>
                </a:solidFill>
                <a:latin typeface="Arial"/>
                <a:cs typeface="Arial"/>
              </a:rPr>
              <a:t>→ kidney estimate</a:t>
            </a:r>
          </a:p>
        </p:txBody>
      </p:sp>
      <p:sp>
        <p:nvSpPr>
          <p:cNvPr id="16" name="Rounded Rectangle 15">
            <a:extLst>
              <a:ext uri="{FF2B5EF4-FFF2-40B4-BE49-F238E27FC236}">
                <a16:creationId xmlns:a16="http://schemas.microsoft.com/office/drawing/2014/main" id="{AD6A436D-2EAB-E944-9E38-39919894F333}"/>
              </a:ext>
            </a:extLst>
          </p:cNvPr>
          <p:cNvSpPr/>
          <p:nvPr/>
        </p:nvSpPr>
        <p:spPr>
          <a:xfrm>
            <a:off x="6845300" y="2489200"/>
            <a:ext cx="1905000" cy="1905000"/>
          </a:xfrm>
          <a:prstGeom prst="roundRect">
            <a:avLst/>
          </a:prstGeom>
          <a:solidFill>
            <a:srgbClr val="FCFBFF"/>
          </a:solidFill>
          <a:ln w="12700">
            <a:solidFill>
              <a:srgbClr val="D7CDF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5" name="TextBox 14">
            <a:extLst>
              <a:ext uri="{FF2B5EF4-FFF2-40B4-BE49-F238E27FC236}">
                <a16:creationId xmlns:a16="http://schemas.microsoft.com/office/drawing/2014/main" id="{F8938AD1-D86C-5D4D-B6D7-ECE9CC34D1F2}"/>
              </a:ext>
            </a:extLst>
          </p:cNvPr>
          <p:cNvSpPr txBox="1"/>
          <p:nvPr/>
        </p:nvSpPr>
        <p:spPr>
          <a:xfrm>
            <a:off x="4876800" y="2656156"/>
            <a:ext cx="1651000" cy="1524000"/>
          </a:xfrm>
          <a:prstGeom prst="rect">
            <a:avLst/>
          </a:prstGeom>
          <a:noFill/>
        </p:spPr>
        <p:txBody>
          <a:bodyPr vertOverflow="overflow" vert="horz" wrap="square" rtlCol="0" anchor="ctr" anchorCtr="0">
            <a:noAutofit/>
          </a:bodyPr>
          <a:lstStyle/>
          <a:p>
            <a:pPr algn="l">
              <a:lnSpc>
                <a:spcPts val="2000"/>
              </a:lnSpc>
            </a:pPr>
            <a:r>
              <a:rPr lang="en-US" sz="1600" dirty="0">
                <a:solidFill>
                  <a:srgbClr val="343047"/>
                </a:solidFill>
                <a:latin typeface="Arial"/>
                <a:cs typeface="Arial"/>
              </a:rPr>
              <a:t>Observed signs</a:t>
            </a:r>
          </a:p>
          <a:p>
            <a:pPr algn="l">
              <a:lnSpc>
                <a:spcPts val="2000"/>
              </a:lnSpc>
            </a:pPr>
            <a:r>
              <a:rPr lang="en-US" sz="1600" dirty="0">
                <a:solidFill>
                  <a:srgbClr val="343047"/>
                </a:solidFill>
                <a:latin typeface="Arial"/>
                <a:cs typeface="Arial"/>
              </a:rPr>
              <a:t>→ composite score</a:t>
            </a:r>
          </a:p>
          <a:p>
            <a:pPr algn="l">
              <a:lnSpc>
                <a:spcPts val="2000"/>
              </a:lnSpc>
            </a:pPr>
            <a:r>
              <a:rPr lang="en-US" sz="1600" dirty="0">
                <a:solidFill>
                  <a:srgbClr val="343047"/>
                </a:solidFill>
                <a:latin typeface="Arial"/>
                <a:cs typeface="Arial"/>
              </a:rPr>
              <a:t>→ transition status</a:t>
            </a:r>
          </a:p>
        </p:txBody>
      </p:sp>
      <p:sp>
        <p:nvSpPr>
          <p:cNvPr id="17" name="TextBox 16">
            <a:extLst>
              <a:ext uri="{FF2B5EF4-FFF2-40B4-BE49-F238E27FC236}">
                <a16:creationId xmlns:a16="http://schemas.microsoft.com/office/drawing/2014/main" id="{DEF09130-32C5-7F4C-9B82-D4A25BCDFB96}"/>
              </a:ext>
            </a:extLst>
          </p:cNvPr>
          <p:cNvSpPr txBox="1"/>
          <p:nvPr/>
        </p:nvSpPr>
        <p:spPr>
          <a:xfrm>
            <a:off x="6972300" y="2656156"/>
            <a:ext cx="1651000" cy="1524000"/>
          </a:xfrm>
          <a:prstGeom prst="rect">
            <a:avLst/>
          </a:prstGeom>
          <a:noFill/>
        </p:spPr>
        <p:txBody>
          <a:bodyPr vertOverflow="overflow" vert="horz" wrap="square" rtlCol="0" anchor="ctr" anchorCtr="0">
            <a:noAutofit/>
          </a:bodyPr>
          <a:lstStyle/>
          <a:p>
            <a:pPr algn="l">
              <a:lnSpc>
                <a:spcPts val="2000"/>
              </a:lnSpc>
            </a:pPr>
            <a:r>
              <a:rPr lang="en-US" sz="1600" dirty="0">
                <a:solidFill>
                  <a:srgbClr val="343047"/>
                </a:solidFill>
                <a:latin typeface="Arial"/>
                <a:cs typeface="Arial"/>
              </a:rPr>
              <a:t>Risk factors + labels</a:t>
            </a:r>
          </a:p>
          <a:p>
            <a:pPr algn="l">
              <a:lnSpc>
                <a:spcPts val="2000"/>
              </a:lnSpc>
            </a:pPr>
            <a:r>
              <a:rPr lang="en-US" sz="1600" dirty="0">
                <a:solidFill>
                  <a:srgbClr val="343047"/>
                </a:solidFill>
                <a:latin typeface="Arial"/>
                <a:cs typeface="Arial"/>
              </a:rPr>
              <a:t>→ cohort model</a:t>
            </a:r>
          </a:p>
          <a:p>
            <a:pPr algn="l">
              <a:lnSpc>
                <a:spcPts val="2000"/>
              </a:lnSpc>
            </a:pPr>
            <a:r>
              <a:rPr lang="en-US" sz="1600" dirty="0">
                <a:solidFill>
                  <a:srgbClr val="343047"/>
                </a:solidFill>
                <a:latin typeface="Arial"/>
                <a:cs typeface="Arial"/>
              </a:rPr>
              <a:t>→ treatment threshold</a:t>
            </a:r>
          </a:p>
        </p:txBody>
      </p:sp>
      <p:sp>
        <p:nvSpPr>
          <p:cNvPr id="5" name="Rounded Rectangle 4">
            <a:extLst>
              <a:ext uri="{FF2B5EF4-FFF2-40B4-BE49-F238E27FC236}">
                <a16:creationId xmlns:a16="http://schemas.microsoft.com/office/drawing/2014/main" id="{8EF16732-AEC5-2C4F-B818-F8400E6AA24C}"/>
              </a:ext>
            </a:extLst>
          </p:cNvPr>
          <p:cNvSpPr/>
          <p:nvPr/>
        </p:nvSpPr>
        <p:spPr>
          <a:xfrm>
            <a:off x="558800" y="1905000"/>
            <a:ext cx="1905000" cy="508000"/>
          </a:xfrm>
          <a:prstGeom prst="roundRect">
            <a:avLst/>
          </a:prstGeom>
          <a:solidFill>
            <a:srgbClr val="4B35B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Arial"/>
                <a:cs typeface="Arial"/>
              </a:rPr>
              <a:t>Wells score</a:t>
            </a:r>
          </a:p>
        </p:txBody>
      </p:sp>
      <p:sp>
        <p:nvSpPr>
          <p:cNvPr id="7" name="Rounded Rectangle 6">
            <a:extLst>
              <a:ext uri="{FF2B5EF4-FFF2-40B4-BE49-F238E27FC236}">
                <a16:creationId xmlns:a16="http://schemas.microsoft.com/office/drawing/2014/main" id="{32EEF658-C505-8040-BE92-BD6AA25A8B93}"/>
              </a:ext>
            </a:extLst>
          </p:cNvPr>
          <p:cNvSpPr/>
          <p:nvPr/>
        </p:nvSpPr>
        <p:spPr>
          <a:xfrm>
            <a:off x="2654300" y="1905000"/>
            <a:ext cx="1905000" cy="508000"/>
          </a:xfrm>
          <a:prstGeom prst="roundRect">
            <a:avLst/>
          </a:prstGeom>
          <a:solidFill>
            <a:srgbClr val="4B35B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Arial"/>
                <a:cs typeface="Arial"/>
              </a:rPr>
              <a:t>eGFR</a:t>
            </a:r>
          </a:p>
        </p:txBody>
      </p:sp>
      <p:sp>
        <p:nvSpPr>
          <p:cNvPr id="9" name="Rounded Rectangle 8">
            <a:extLst>
              <a:ext uri="{FF2B5EF4-FFF2-40B4-BE49-F238E27FC236}">
                <a16:creationId xmlns:a16="http://schemas.microsoft.com/office/drawing/2014/main" id="{B2C984C5-E904-2040-BB51-C06917727F24}"/>
              </a:ext>
            </a:extLst>
          </p:cNvPr>
          <p:cNvSpPr/>
          <p:nvPr/>
        </p:nvSpPr>
        <p:spPr>
          <a:xfrm>
            <a:off x="4749800" y="1905000"/>
            <a:ext cx="1905000" cy="508000"/>
          </a:xfrm>
          <a:prstGeom prst="roundRect">
            <a:avLst/>
          </a:prstGeom>
          <a:solidFill>
            <a:srgbClr val="4B35B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Arial"/>
                <a:cs typeface="Arial"/>
              </a:rPr>
              <a:t>Apgar</a:t>
            </a:r>
          </a:p>
        </p:txBody>
      </p:sp>
      <p:sp>
        <p:nvSpPr>
          <p:cNvPr id="10" name="Rounded Rectangle 9">
            <a:extLst>
              <a:ext uri="{FF2B5EF4-FFF2-40B4-BE49-F238E27FC236}">
                <a16:creationId xmlns:a16="http://schemas.microsoft.com/office/drawing/2014/main" id="{31212893-A7C7-8342-AF5D-2AC625C56E9B}"/>
              </a:ext>
            </a:extLst>
          </p:cNvPr>
          <p:cNvSpPr/>
          <p:nvPr/>
        </p:nvSpPr>
        <p:spPr>
          <a:xfrm>
            <a:off x="6845300" y="1905000"/>
            <a:ext cx="1905000" cy="508000"/>
          </a:xfrm>
          <a:prstGeom prst="roundRect">
            <a:avLst/>
          </a:prstGeom>
          <a:solidFill>
            <a:srgbClr val="4B35B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Arial"/>
                <a:cs typeface="Arial"/>
              </a:rPr>
              <a:t>Framingham risk</a:t>
            </a:r>
          </a:p>
        </p:txBody>
      </p:sp>
    </p:spTree>
    <p:extLst>
      <p:ext uri="{BB962C8B-B14F-4D97-AF65-F5344CB8AC3E}">
        <p14:creationId xmlns:p14="http://schemas.microsoft.com/office/powerpoint/2010/main" val="2395559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ccent rail">
            <a:extLst>
              <a:ext uri="{FF2B5EF4-FFF2-40B4-BE49-F238E27FC236}">
                <a16:creationId xmlns:a16="http://schemas.microsoft.com/office/drawing/2014/main" id="{00FB05FA-38B8-8D43-96A7-F83E2FACA2EF}"/>
              </a:ext>
            </a:extLst>
          </p:cNvPr>
          <p:cNvSpPr/>
          <p:nvPr/>
        </p:nvSpPr>
        <p:spPr>
          <a:xfrm>
            <a:off x="368300" y="736600"/>
            <a:ext cx="63500" cy="3644900"/>
          </a:xfrm>
          <a:prstGeom prst="rect">
            <a:avLst/>
          </a:prstGeom>
          <a:solidFill>
            <a:srgbClr val="4A00E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kicker">
            <a:extLst>
              <a:ext uri="{FF2B5EF4-FFF2-40B4-BE49-F238E27FC236}">
                <a16:creationId xmlns:a16="http://schemas.microsoft.com/office/drawing/2014/main" id="{8976F8E0-7F0E-8D4B-BEBD-5EC59B84432B}"/>
              </a:ext>
            </a:extLst>
          </p:cNvPr>
          <p:cNvSpPr txBox="1"/>
          <p:nvPr/>
        </p:nvSpPr>
        <p:spPr>
          <a:xfrm>
            <a:off x="609600" y="304800"/>
            <a:ext cx="5080000" cy="261610"/>
          </a:xfrm>
          <a:prstGeom prst="rect">
            <a:avLst/>
          </a:prstGeom>
          <a:noFill/>
        </p:spPr>
        <p:txBody>
          <a:bodyPr vertOverflow="overflow" vert="horz" wrap="square" rtlCol="0" anchor="t">
            <a:spAutoFit/>
          </a:bodyPr>
          <a:lstStyle/>
          <a:p>
            <a:pPr marL="0" indent="0" algn="l">
              <a:buNone/>
            </a:pPr>
            <a:r>
              <a:rPr lang="en-US" sz="1100" b="1" dirty="0">
                <a:solidFill>
                  <a:srgbClr val="4A00E2"/>
                </a:solidFill>
                <a:latin typeface="Arial"/>
                <a:cs typeface="Arial"/>
              </a:rPr>
              <a:t>RECAP</a:t>
            </a:r>
          </a:p>
        </p:txBody>
      </p:sp>
      <p:sp>
        <p:nvSpPr>
          <p:cNvPr id="5" name="title">
            <a:extLst>
              <a:ext uri="{FF2B5EF4-FFF2-40B4-BE49-F238E27FC236}">
                <a16:creationId xmlns:a16="http://schemas.microsoft.com/office/drawing/2014/main" id="{7208EB9E-3960-9F49-8A76-DF14C6799139}"/>
              </a:ext>
            </a:extLst>
          </p:cNvPr>
          <p:cNvSpPr txBox="1"/>
          <p:nvPr/>
        </p:nvSpPr>
        <p:spPr>
          <a:xfrm>
            <a:off x="609600" y="508000"/>
            <a:ext cx="8128000" cy="461665"/>
          </a:xfrm>
          <a:prstGeom prst="rect">
            <a:avLst/>
          </a:prstGeom>
          <a:noFill/>
        </p:spPr>
        <p:txBody>
          <a:bodyPr vertOverflow="overflow" vert="horz" wrap="square" rtlCol="0" anchor="t">
            <a:spAutoFit/>
          </a:bodyPr>
          <a:lstStyle/>
          <a:p>
            <a:pPr marL="0" indent="0" algn="l">
              <a:buNone/>
            </a:pPr>
            <a:r>
              <a:rPr lang="en-US" sz="2400" b="1" dirty="0">
                <a:solidFill>
                  <a:srgbClr val="110057"/>
                </a:solidFill>
                <a:latin typeface="Arial"/>
                <a:cs typeface="Arial"/>
              </a:rPr>
              <a:t>Machine learning for clinical decisions</a:t>
            </a:r>
          </a:p>
        </p:txBody>
      </p:sp>
      <p:sp>
        <p:nvSpPr>
          <p:cNvPr id="6" name="Rounded Rectangle 5">
            <a:extLst>
              <a:ext uri="{FF2B5EF4-FFF2-40B4-BE49-F238E27FC236}">
                <a16:creationId xmlns:a16="http://schemas.microsoft.com/office/drawing/2014/main" id="{37860F8E-D69F-B64B-92F3-B98E782FAF9D}"/>
              </a:ext>
            </a:extLst>
          </p:cNvPr>
          <p:cNvSpPr/>
          <p:nvPr/>
        </p:nvSpPr>
        <p:spPr>
          <a:xfrm>
            <a:off x="635000" y="1524000"/>
            <a:ext cx="2413000" cy="16510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537B9ED-33CD-464F-963B-714C415C03FE}"/>
              </a:ext>
            </a:extLst>
          </p:cNvPr>
          <p:cNvSpPr txBox="1"/>
          <p:nvPr/>
        </p:nvSpPr>
        <p:spPr>
          <a:xfrm>
            <a:off x="812800" y="1701800"/>
            <a:ext cx="2057400" cy="307777"/>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ML learns patterns</a:t>
            </a:r>
          </a:p>
        </p:txBody>
      </p:sp>
      <p:sp>
        <p:nvSpPr>
          <p:cNvPr id="8" name="TextBox 7">
            <a:extLst>
              <a:ext uri="{FF2B5EF4-FFF2-40B4-BE49-F238E27FC236}">
                <a16:creationId xmlns:a16="http://schemas.microsoft.com/office/drawing/2014/main" id="{6DB99472-47AB-274C-AAB6-E43195E51D91}"/>
              </a:ext>
            </a:extLst>
          </p:cNvPr>
          <p:cNvSpPr txBox="1"/>
          <p:nvPr/>
        </p:nvSpPr>
        <p:spPr>
          <a:xfrm>
            <a:off x="812800" y="2184400"/>
            <a:ext cx="2057400" cy="738664"/>
          </a:xfrm>
          <a:prstGeom prst="rect">
            <a:avLst/>
          </a:prstGeom>
          <a:noFill/>
        </p:spPr>
        <p:txBody>
          <a:bodyPr vertOverflow="overflow" vert="horz" wrap="square" rtlCol="0" anchor="t" anchorCtr="0">
            <a:spAutoFit/>
          </a:bodyPr>
          <a:lstStyle/>
          <a:p>
            <a:pPr marL="0" indent="0" algn="l">
              <a:buNone/>
            </a:pPr>
            <a:r>
              <a:rPr lang="en-US" sz="1400" dirty="0">
                <a:solidFill>
                  <a:srgbClr val="2A2340"/>
                </a:solidFill>
                <a:latin typeface="Arial"/>
                <a:cs typeface="Arial"/>
              </a:rPr>
              <a:t>Machine learning finds mapping from predictors to an output.</a:t>
            </a:r>
          </a:p>
        </p:txBody>
      </p:sp>
      <p:sp>
        <p:nvSpPr>
          <p:cNvPr id="9" name="Rounded Rectangle 8">
            <a:extLst>
              <a:ext uri="{FF2B5EF4-FFF2-40B4-BE49-F238E27FC236}">
                <a16:creationId xmlns:a16="http://schemas.microsoft.com/office/drawing/2014/main" id="{FFDD2C80-3F79-D94C-89C6-8B1F2775AD20}"/>
              </a:ext>
            </a:extLst>
          </p:cNvPr>
          <p:cNvSpPr/>
          <p:nvPr/>
        </p:nvSpPr>
        <p:spPr>
          <a:xfrm>
            <a:off x="3378200" y="1524000"/>
            <a:ext cx="2413000" cy="16510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400"/>
          </a:p>
        </p:txBody>
      </p:sp>
      <p:sp>
        <p:nvSpPr>
          <p:cNvPr id="10" name="TextBox 9">
            <a:extLst>
              <a:ext uri="{FF2B5EF4-FFF2-40B4-BE49-F238E27FC236}">
                <a16:creationId xmlns:a16="http://schemas.microsoft.com/office/drawing/2014/main" id="{438CB2A0-D90E-9844-95AF-3687C129E2EE}"/>
              </a:ext>
            </a:extLst>
          </p:cNvPr>
          <p:cNvSpPr txBox="1"/>
          <p:nvPr/>
        </p:nvSpPr>
        <p:spPr>
          <a:xfrm>
            <a:off x="3556000" y="1701800"/>
            <a:ext cx="2057400" cy="523220"/>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Good ML is embedded</a:t>
            </a:r>
          </a:p>
        </p:txBody>
      </p:sp>
      <p:sp>
        <p:nvSpPr>
          <p:cNvPr id="11" name="TextBox 10">
            <a:extLst>
              <a:ext uri="{FF2B5EF4-FFF2-40B4-BE49-F238E27FC236}">
                <a16:creationId xmlns:a16="http://schemas.microsoft.com/office/drawing/2014/main" id="{5098A26D-755B-834A-8C6B-41927EB09CEF}"/>
              </a:ext>
            </a:extLst>
          </p:cNvPr>
          <p:cNvSpPr txBox="1"/>
          <p:nvPr/>
        </p:nvSpPr>
        <p:spPr>
          <a:xfrm>
            <a:off x="3556000" y="2184400"/>
            <a:ext cx="2057400" cy="523220"/>
          </a:xfrm>
          <a:prstGeom prst="rect">
            <a:avLst/>
          </a:prstGeom>
          <a:noFill/>
        </p:spPr>
        <p:txBody>
          <a:bodyPr vertOverflow="overflow" vert="horz" wrap="square" rtlCol="0" anchor="t" anchorCtr="0">
            <a:spAutoFit/>
          </a:bodyPr>
          <a:lstStyle/>
          <a:p>
            <a:pPr marL="0" indent="0" algn="l">
              <a:buNone/>
            </a:pPr>
            <a:r>
              <a:rPr lang="en-US" sz="1400" dirty="0">
                <a:solidFill>
                  <a:srgbClr val="2A2340"/>
                </a:solidFill>
                <a:latin typeface="Arial"/>
                <a:cs typeface="Arial"/>
              </a:rPr>
              <a:t>It quietly underlies much of usual practice</a:t>
            </a:r>
          </a:p>
        </p:txBody>
      </p:sp>
      <p:sp>
        <p:nvSpPr>
          <p:cNvPr id="12" name="Rounded Rectangle 11">
            <a:extLst>
              <a:ext uri="{FF2B5EF4-FFF2-40B4-BE49-F238E27FC236}">
                <a16:creationId xmlns:a16="http://schemas.microsoft.com/office/drawing/2014/main" id="{14FC747E-7937-AE4A-97AD-F98DA4C0084B}"/>
              </a:ext>
            </a:extLst>
          </p:cNvPr>
          <p:cNvSpPr/>
          <p:nvPr/>
        </p:nvSpPr>
        <p:spPr>
          <a:xfrm>
            <a:off x="6121400" y="1524000"/>
            <a:ext cx="2413000" cy="16510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95A646AB-2B25-024E-ABBF-9A9D74A01C36}"/>
              </a:ext>
            </a:extLst>
          </p:cNvPr>
          <p:cNvSpPr txBox="1"/>
          <p:nvPr/>
        </p:nvSpPr>
        <p:spPr>
          <a:xfrm>
            <a:off x="6299200" y="1701800"/>
            <a:ext cx="2057400" cy="307777"/>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It already has impact</a:t>
            </a:r>
          </a:p>
        </p:txBody>
      </p:sp>
      <p:sp>
        <p:nvSpPr>
          <p:cNvPr id="14" name="TextBox 13">
            <a:extLst>
              <a:ext uri="{FF2B5EF4-FFF2-40B4-BE49-F238E27FC236}">
                <a16:creationId xmlns:a16="http://schemas.microsoft.com/office/drawing/2014/main" id="{5E28C286-40A1-4640-AD21-DA9FCB8E7AD4}"/>
              </a:ext>
            </a:extLst>
          </p:cNvPr>
          <p:cNvSpPr txBox="1"/>
          <p:nvPr/>
        </p:nvSpPr>
        <p:spPr>
          <a:xfrm>
            <a:off x="6299200" y="2184400"/>
            <a:ext cx="2057400" cy="738664"/>
          </a:xfrm>
          <a:prstGeom prst="rect">
            <a:avLst/>
          </a:prstGeom>
          <a:noFill/>
        </p:spPr>
        <p:txBody>
          <a:bodyPr vertOverflow="overflow" vert="horz" wrap="square" rtlCol="0" anchor="t" anchorCtr="0">
            <a:spAutoFit/>
          </a:bodyPr>
          <a:lstStyle/>
          <a:p>
            <a:pPr marL="0" indent="0" algn="l">
              <a:buNone/>
            </a:pPr>
            <a:r>
              <a:rPr lang="en-US" sz="1400" dirty="0">
                <a:solidFill>
                  <a:srgbClr val="2A2340"/>
                </a:solidFill>
                <a:latin typeface="Arial"/>
                <a:cs typeface="Arial"/>
              </a:rPr>
              <a:t>Though perhaps not as much as it could (should)</a:t>
            </a:r>
          </a:p>
        </p:txBody>
      </p:sp>
      <p:sp>
        <p:nvSpPr>
          <p:cNvPr id="15" name="pivot band">
            <a:extLst>
              <a:ext uri="{FF2B5EF4-FFF2-40B4-BE49-F238E27FC236}">
                <a16:creationId xmlns:a16="http://schemas.microsoft.com/office/drawing/2014/main" id="{54CAD0F7-8661-8F4E-A3C1-794B3EFB6296}"/>
              </a:ext>
            </a:extLst>
          </p:cNvPr>
          <p:cNvSpPr/>
          <p:nvPr/>
        </p:nvSpPr>
        <p:spPr>
          <a:xfrm>
            <a:off x="635000" y="3454400"/>
            <a:ext cx="7899400" cy="787400"/>
          </a:xfrm>
          <a:prstGeom prst="roundRect">
            <a:avLst/>
          </a:prstGeom>
          <a:solidFill>
            <a:srgbClr val="11005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pivot text">
            <a:extLst>
              <a:ext uri="{FF2B5EF4-FFF2-40B4-BE49-F238E27FC236}">
                <a16:creationId xmlns:a16="http://schemas.microsoft.com/office/drawing/2014/main" id="{B642ADB6-C813-C44D-B975-91C83A6A84B3}"/>
              </a:ext>
            </a:extLst>
          </p:cNvPr>
          <p:cNvSpPr txBox="1"/>
          <p:nvPr/>
        </p:nvSpPr>
        <p:spPr>
          <a:xfrm>
            <a:off x="939800" y="3706912"/>
            <a:ext cx="7289800" cy="307777"/>
          </a:xfrm>
          <a:prstGeom prst="rect">
            <a:avLst/>
          </a:prstGeom>
          <a:noFill/>
        </p:spPr>
        <p:txBody>
          <a:bodyPr vertOverflow="overflow" vert="horz" wrap="square" rtlCol="0" anchor="ctr" anchorCtr="0">
            <a:spAutoFit/>
          </a:bodyPr>
          <a:lstStyle/>
          <a:p>
            <a:pPr marL="0" indent="0" algn="l">
              <a:buNone/>
            </a:pPr>
            <a:r>
              <a:rPr lang="en-US" sz="1400" b="1" dirty="0">
                <a:solidFill>
                  <a:srgbClr val="FFFFFF"/>
                </a:solidFill>
                <a:latin typeface="Arial"/>
                <a:cs typeface="Arial"/>
              </a:rPr>
              <a:t>Machine Learning can be used for things other than clinical decision support. </a:t>
            </a:r>
          </a:p>
        </p:txBody>
      </p:sp>
    </p:spTree>
    <p:extLst>
      <p:ext uri="{BB962C8B-B14F-4D97-AF65-F5344CB8AC3E}">
        <p14:creationId xmlns:p14="http://schemas.microsoft.com/office/powerpoint/2010/main" val="269797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38B72A0-325D-4BCD-BCE3-AAF4431A5132}"/>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B9696F97-8A66-4215-9517-321B5FBA10B2}"/>
              </a:ext>
            </a:extLst>
          </p:cNvPr>
          <p:cNvSpPr>
            <a:spLocks noGrp="1"/>
          </p:cNvSpPr>
          <p:nvPr/>
        </p:nvSpPr>
        <p:spPr>
          <a:xfrm>
            <a:off x="361950" y="742950"/>
            <a:ext cx="57150" cy="389890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AA72C13C-0024-4FC1-9729-E5512B8BA33F}"/>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000" b="1">
                <a:solidFill>
                  <a:srgbClr val="4A00E2"/>
                </a:solidFill>
                <a:latin typeface="Arial"/>
                <a:ea typeface="Arial"/>
                <a:cs typeface="Arial"/>
              </a:defRPr>
            </a:pPr>
            <a:r>
              <a:rPr sz="1100" b="1">
                <a:solidFill>
                  <a:srgbClr val="4A00E2"/>
                </a:solidFill>
                <a:latin typeface="Arial"/>
                <a:ea typeface="Arial"/>
                <a:cs typeface="Arial"/>
              </a:rPr>
              <a:t>PRAGMATIC NOSOLOGY</a:t>
            </a:r>
          </a:p>
        </p:txBody>
      </p:sp>
      <p:sp>
        <p:nvSpPr>
          <p:cNvPr id="4" name="Rectangle 3">
            <a:extLst>
              <a:ext uri="{FF2B5EF4-FFF2-40B4-BE49-F238E27FC236}">
                <a16:creationId xmlns:a16="http://schemas.microsoft.com/office/drawing/2014/main" id="{2158BDEE-62EB-44FD-833E-06DFD7844175}"/>
              </a:ext>
            </a:extLst>
          </p:cNvPr>
          <p:cNvSpPr>
            <a:spLocks noGrp="1"/>
          </p:cNvSpPr>
          <p:nvPr/>
        </p:nvSpPr>
        <p:spPr>
          <a:xfrm>
            <a:off x="548640" y="493776"/>
            <a:ext cx="8046720" cy="64008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lstStyle/>
          <a:p>
            <a:pPr algn="l"/>
            <a:r>
              <a:rPr lang="en-US" sz="2400" b="1" dirty="0">
                <a:solidFill>
                  <a:srgbClr val="110057"/>
                </a:solidFill>
                <a:latin typeface="Arial"/>
                <a:cs typeface="Arial"/>
              </a:rPr>
              <a:t>Prediction for </a:t>
            </a:r>
            <a:r>
              <a:rPr sz="2400" b="1" dirty="0">
                <a:solidFill>
                  <a:srgbClr val="110057"/>
                </a:solidFill>
                <a:latin typeface="Arial"/>
                <a:cs typeface="Arial"/>
              </a:rPr>
              <a:t>Condition labels</a:t>
            </a:r>
          </a:p>
        </p:txBody>
      </p:sp>
      <p:sp>
        <p:nvSpPr>
          <p:cNvPr id="23" name="TextBox 22"/>
          <p:cNvSpPr txBox="1"/>
          <p:nvPr/>
        </p:nvSpPr>
        <p:spPr>
          <a:xfrm>
            <a:off x="713232" y="1152134"/>
            <a:ext cx="7452360" cy="292608"/>
          </a:xfrm>
          <a:prstGeom prst="rect">
            <a:avLst/>
          </a:prstGeom>
          <a:noFill/>
        </p:spPr>
        <p:txBody>
          <a:bodyPr wrap="square" lIns="18288" tIns="18288" rIns="18288" bIns="18288">
            <a:spAutoFit/>
          </a:bodyPr>
          <a:lstStyle/>
          <a:p>
            <a:pPr algn="l"/>
            <a:r>
              <a:rPr sz="1600" b="0" dirty="0">
                <a:solidFill>
                  <a:srgbClr val="4C487A"/>
                </a:solidFill>
                <a:latin typeface="Arial"/>
                <a:cs typeface="Arial"/>
              </a:rPr>
              <a:t>Classification draws useful boundaries around </a:t>
            </a:r>
            <a:r>
              <a:rPr lang="en-US" sz="1600" b="0" dirty="0">
                <a:solidFill>
                  <a:srgbClr val="4C487A"/>
                </a:solidFill>
                <a:latin typeface="Arial"/>
                <a:cs typeface="Arial"/>
              </a:rPr>
              <a:t>physiology: pragmatic constructs</a:t>
            </a:r>
            <a:endParaRPr sz="1600" b="0" dirty="0">
              <a:solidFill>
                <a:srgbClr val="4C487A"/>
              </a:solidFill>
              <a:latin typeface="Arial"/>
              <a:cs typeface="Arial"/>
            </a:endParaRPr>
          </a:p>
        </p:txBody>
      </p:sp>
      <p:sp>
        <p:nvSpPr>
          <p:cNvPr id="24" name="Rounded Rectangle 23"/>
          <p:cNvSpPr/>
          <p:nvPr/>
        </p:nvSpPr>
        <p:spPr>
          <a:xfrm>
            <a:off x="713232" y="1778000"/>
            <a:ext cx="2212848" cy="1676400"/>
          </a:xfrm>
          <a:prstGeom prst="roundRect">
            <a:avLst/>
          </a:prstGeom>
          <a:solidFill>
            <a:srgbClr val="F8F9FC"/>
          </a:solidFill>
          <a:ln w="9525">
            <a:solidFill>
              <a:srgbClr val="D8DEEA"/>
            </a:solidFill>
          </a:ln>
        </p:spPr>
        <p:style>
          <a:lnRef idx="1">
            <a:schemeClr val="accent1"/>
          </a:lnRef>
          <a:fillRef idx="3">
            <a:schemeClr val="accent1"/>
          </a:fillRef>
          <a:effectRef idx="2">
            <a:schemeClr val="accent1"/>
          </a:effectRef>
          <a:fontRef idx="minor">
            <a:schemeClr val="lt1"/>
          </a:fontRef>
        </p:style>
        <p:txBody>
          <a:bodyPr wrap="square" lIns="128016" tIns="73152" rIns="109728" rtlCol="0" anchor="ctr" anchorCtr="0"/>
          <a:lstStyle/>
          <a:p>
            <a:pPr algn="l"/>
            <a:r>
              <a:rPr sz="1600" b="1" dirty="0">
                <a:solidFill>
                  <a:srgbClr val="4A00E2"/>
                </a:solidFill>
                <a:latin typeface="Arial"/>
                <a:cs typeface="Arial"/>
              </a:rPr>
              <a:t>Explain the present</a:t>
            </a:r>
          </a:p>
          <a:p>
            <a:pPr algn="l">
              <a:spcBef>
                <a:spcPts val="350"/>
              </a:spcBef>
            </a:pPr>
            <a:r>
              <a:rPr sz="1600" b="0" dirty="0">
                <a:solidFill>
                  <a:srgbClr val="110057"/>
                </a:solidFill>
                <a:latin typeface="Arial"/>
                <a:cs typeface="Arial"/>
              </a:rPr>
              <a:t>Make symptoms, signs, or </a:t>
            </a:r>
            <a:r>
              <a:rPr sz="1600" b="1" dirty="0">
                <a:solidFill>
                  <a:srgbClr val="110057"/>
                </a:solidFill>
                <a:latin typeface="Arial"/>
                <a:cs typeface="Arial"/>
              </a:rPr>
              <a:t>abnormal</a:t>
            </a:r>
            <a:r>
              <a:rPr sz="1600" b="0" dirty="0">
                <a:solidFill>
                  <a:srgbClr val="110057"/>
                </a:solidFill>
                <a:latin typeface="Arial"/>
                <a:cs typeface="Arial"/>
              </a:rPr>
              <a:t> findings cohere.</a:t>
            </a:r>
          </a:p>
        </p:txBody>
      </p:sp>
      <p:sp>
        <p:nvSpPr>
          <p:cNvPr id="25" name="Rounded Rectangle 24"/>
          <p:cNvSpPr/>
          <p:nvPr/>
        </p:nvSpPr>
        <p:spPr>
          <a:xfrm>
            <a:off x="3246120" y="1778000"/>
            <a:ext cx="2212848" cy="1676400"/>
          </a:xfrm>
          <a:prstGeom prst="roundRect">
            <a:avLst/>
          </a:prstGeom>
          <a:solidFill>
            <a:srgbClr val="F0EAFF"/>
          </a:solidFill>
          <a:ln w="9525">
            <a:solidFill>
              <a:srgbClr val="D8DEEA"/>
            </a:solidFill>
          </a:ln>
        </p:spPr>
        <p:style>
          <a:lnRef idx="1">
            <a:schemeClr val="accent1"/>
          </a:lnRef>
          <a:fillRef idx="3">
            <a:schemeClr val="accent1"/>
          </a:fillRef>
          <a:effectRef idx="2">
            <a:schemeClr val="accent1"/>
          </a:effectRef>
          <a:fontRef idx="minor">
            <a:schemeClr val="lt1"/>
          </a:fontRef>
        </p:style>
        <p:txBody>
          <a:bodyPr wrap="square" lIns="128016" tIns="73152" rIns="109728" rtlCol="0" anchor="ctr" anchorCtr="0"/>
          <a:lstStyle/>
          <a:p>
            <a:pPr algn="l"/>
            <a:r>
              <a:rPr sz="1600" b="1">
                <a:solidFill>
                  <a:srgbClr val="4A00E2"/>
                </a:solidFill>
                <a:latin typeface="Arial"/>
                <a:cs typeface="Arial"/>
              </a:rPr>
              <a:t>Predict the future</a:t>
            </a:r>
          </a:p>
          <a:p>
            <a:pPr algn="l">
              <a:spcBef>
                <a:spcPts val="350"/>
              </a:spcBef>
            </a:pPr>
            <a:r>
              <a:rPr sz="1600" b="0">
                <a:solidFill>
                  <a:srgbClr val="110057"/>
                </a:solidFill>
                <a:latin typeface="Arial"/>
                <a:cs typeface="Arial"/>
              </a:rPr>
              <a:t>Estimate risk of clinically important outcomes.</a:t>
            </a:r>
          </a:p>
        </p:txBody>
      </p:sp>
      <p:sp>
        <p:nvSpPr>
          <p:cNvPr id="26" name="Rounded Rectangle 25"/>
          <p:cNvSpPr/>
          <p:nvPr/>
        </p:nvSpPr>
        <p:spPr>
          <a:xfrm>
            <a:off x="5779008" y="1778000"/>
            <a:ext cx="2212848" cy="1676400"/>
          </a:xfrm>
          <a:prstGeom prst="roundRect">
            <a:avLst/>
          </a:prstGeom>
          <a:solidFill>
            <a:srgbClr val="F8F9FC"/>
          </a:solidFill>
          <a:ln w="9525">
            <a:solidFill>
              <a:srgbClr val="D8DEEA"/>
            </a:solidFill>
          </a:ln>
        </p:spPr>
        <p:style>
          <a:lnRef idx="1">
            <a:schemeClr val="accent1"/>
          </a:lnRef>
          <a:fillRef idx="3">
            <a:schemeClr val="accent1"/>
          </a:fillRef>
          <a:effectRef idx="2">
            <a:schemeClr val="accent1"/>
          </a:effectRef>
          <a:fontRef idx="minor">
            <a:schemeClr val="lt1"/>
          </a:fontRef>
        </p:style>
        <p:txBody>
          <a:bodyPr wrap="square" lIns="128016" tIns="73152" rIns="109728" rtlCol="0" anchor="ctr" anchorCtr="0"/>
          <a:lstStyle/>
          <a:p>
            <a:pPr algn="l"/>
            <a:r>
              <a:rPr sz="1600" b="1">
                <a:solidFill>
                  <a:srgbClr val="4A00E2"/>
                </a:solidFill>
                <a:latin typeface="Arial"/>
                <a:cs typeface="Arial"/>
              </a:rPr>
              <a:t>Guide action</a:t>
            </a:r>
          </a:p>
          <a:p>
            <a:pPr algn="l">
              <a:spcBef>
                <a:spcPts val="350"/>
              </a:spcBef>
            </a:pPr>
            <a:r>
              <a:rPr sz="1600" b="0">
                <a:solidFill>
                  <a:srgbClr val="110057"/>
                </a:solidFill>
                <a:latin typeface="Arial"/>
                <a:cs typeface="Arial"/>
              </a:rPr>
              <a:t>Identify who benefits enough to treat, monitor, or route.</a:t>
            </a:r>
          </a:p>
        </p:txBody>
      </p:sp>
      <p:sp>
        <p:nvSpPr>
          <p:cNvPr id="27" name="Rounded Rectangle 26"/>
          <p:cNvSpPr/>
          <p:nvPr/>
        </p:nvSpPr>
        <p:spPr>
          <a:xfrm>
            <a:off x="711200" y="3708400"/>
            <a:ext cx="7277100" cy="939800"/>
          </a:xfrm>
          <a:prstGeom prst="roundRect">
            <a:avLst/>
          </a:prstGeom>
          <a:solidFill>
            <a:srgbClr val="F0EAFF"/>
          </a:solidFill>
          <a:ln w="9525">
            <a:solidFill>
              <a:srgbClr val="D8DEEA"/>
            </a:solidFill>
          </a:ln>
        </p:spPr>
        <p:style>
          <a:lnRef idx="1">
            <a:schemeClr val="accent1"/>
          </a:lnRef>
          <a:fillRef idx="3">
            <a:schemeClr val="accent1"/>
          </a:fillRef>
          <a:effectRef idx="2">
            <a:schemeClr val="accent1"/>
          </a:effectRef>
          <a:fontRef idx="minor">
            <a:schemeClr val="lt1"/>
          </a:fontRef>
        </p:style>
        <p:txBody>
          <a:bodyPr wrap="square" lIns="128016" tIns="73152" rIns="109728" rtlCol="0" anchor="ctr" anchorCtr="0"/>
          <a:lstStyle/>
          <a:p>
            <a:pPr algn="l"/>
            <a:r>
              <a:rPr sz="1600" b="1" dirty="0">
                <a:solidFill>
                  <a:srgbClr val="4A00E2"/>
                </a:solidFill>
                <a:latin typeface="Arial"/>
                <a:cs typeface="Arial"/>
              </a:rPr>
              <a:t>Disease categories are tools, not natural kinds</a:t>
            </a:r>
            <a:r>
              <a:rPr lang="en-US" sz="1600" b="1" dirty="0">
                <a:solidFill>
                  <a:srgbClr val="4A00E2"/>
                </a:solidFill>
                <a:latin typeface="Arial"/>
                <a:cs typeface="Arial"/>
              </a:rPr>
              <a:t> (usually)</a:t>
            </a:r>
            <a:r>
              <a:rPr sz="1600" b="1" dirty="0">
                <a:solidFill>
                  <a:srgbClr val="4A00E2"/>
                </a:solidFill>
                <a:latin typeface="Arial"/>
                <a:cs typeface="Arial"/>
              </a:rPr>
              <a:t>.</a:t>
            </a:r>
          </a:p>
          <a:p>
            <a:pPr algn="l">
              <a:spcBef>
                <a:spcPts val="250"/>
              </a:spcBef>
            </a:pPr>
            <a:r>
              <a:rPr sz="1600" b="0" dirty="0">
                <a:solidFill>
                  <a:srgbClr val="110057"/>
                </a:solidFill>
                <a:latin typeface="Arial"/>
                <a:cs typeface="Arial"/>
              </a:rPr>
              <a:t>Boundaries are drawn across continuous physiology when the grouping helps describe, predict, or guide action.</a:t>
            </a:r>
          </a:p>
        </p:txBody>
      </p:sp>
      <p:sp>
        <p:nvSpPr>
          <p:cNvPr id="31" name="TextBox 30"/>
          <p:cNvSpPr txBox="1"/>
          <p:nvPr/>
        </p:nvSpPr>
        <p:spPr>
          <a:xfrm>
            <a:off x="548640" y="4855464"/>
            <a:ext cx="7680960" cy="206210"/>
          </a:xfrm>
          <a:prstGeom prst="rect">
            <a:avLst/>
          </a:prstGeom>
          <a:noFill/>
        </p:spPr>
        <p:txBody>
          <a:bodyPr wrap="square" lIns="18288" tIns="18288" rIns="18288" bIns="18288">
            <a:spAutoFit/>
          </a:bodyPr>
          <a:lstStyle/>
          <a:p>
            <a:pPr algn="l"/>
            <a:r>
              <a:rPr lang="en-US" sz="1100" b="0" dirty="0">
                <a:solidFill>
                  <a:srgbClr val="4C487A"/>
                </a:solidFill>
                <a:latin typeface="Aptos"/>
              </a:rPr>
              <a:t>Stegenga 2018; Doust et al., JAMA Intern Med 2017; Ranieri et al., AJRCCM 2022; Carrell et al., JAMIA 2025</a:t>
            </a:r>
          </a:p>
        </p:txBody>
      </p:sp>
    </p:spTree>
    <p:extLst>
      <p:ext uri="{BB962C8B-B14F-4D97-AF65-F5344CB8AC3E}">
        <p14:creationId xmlns:p14="http://schemas.microsoft.com/office/powerpoint/2010/main" val="3207857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3F2086-5B2A-9E49-8239-BC4897DF5113}"/>
              </a:ext>
            </a:extLst>
          </p:cNvPr>
          <p:cNvSpPr/>
          <p:nvPr/>
        </p:nvSpPr>
        <p:spPr>
          <a:xfrm>
            <a:off x="0" y="0"/>
            <a:ext cx="9144000" cy="5143500"/>
          </a:xfrm>
          <a:prstGeom prst="rect">
            <a:avLst/>
          </a:prstGeom>
          <a:solidFill>
            <a:srgbClr val="FBFAF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 name="Rectangle 5">
            <a:extLst>
              <a:ext uri="{FF2B5EF4-FFF2-40B4-BE49-F238E27FC236}">
                <a16:creationId xmlns:a16="http://schemas.microsoft.com/office/drawing/2014/main" id="{4AEDE236-FF1F-EB46-95CB-3B1D0645CCD8}"/>
              </a:ext>
            </a:extLst>
          </p:cNvPr>
          <p:cNvSpPr/>
          <p:nvPr/>
        </p:nvSpPr>
        <p:spPr>
          <a:xfrm>
            <a:off x="361950" y="742950"/>
            <a:ext cx="57150" cy="3619500"/>
          </a:xfrm>
          <a:prstGeom prst="rect">
            <a:avLst/>
          </a:prstGeom>
          <a:solidFill>
            <a:srgbClr val="5A21F0"/>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 name="TextBox 6">
            <a:extLst>
              <a:ext uri="{FF2B5EF4-FFF2-40B4-BE49-F238E27FC236}">
                <a16:creationId xmlns:a16="http://schemas.microsoft.com/office/drawing/2014/main" id="{85549EE6-4C7B-D443-983F-8FAE659FA9E6}"/>
              </a:ext>
            </a:extLst>
          </p:cNvPr>
          <p:cNvSpPr txBox="1"/>
          <p:nvPr/>
        </p:nvSpPr>
        <p:spPr>
          <a:xfrm>
            <a:off x="609600" y="304800"/>
            <a:ext cx="2286000" cy="203200"/>
          </a:xfrm>
          <a:prstGeom prst="rect">
            <a:avLst/>
          </a:prstGeom>
          <a:noFill/>
        </p:spPr>
        <p:txBody>
          <a:bodyPr vertOverflow="overflow" vert="horz" wrap="square" rtlCol="0" anchor="t">
            <a:spAutoFit/>
          </a:bodyPr>
          <a:lstStyle/>
          <a:p>
            <a:pPr algn="l"/>
            <a:r>
              <a:rPr lang="en-US" sz="1100" b="1">
                <a:solidFill>
                  <a:srgbClr val="4A00E2"/>
                </a:solidFill>
                <a:latin typeface="Arial"/>
                <a:cs typeface="Arial"/>
              </a:rPr>
              <a:t>LABEL DESIGN</a:t>
            </a:r>
          </a:p>
        </p:txBody>
      </p:sp>
      <p:sp>
        <p:nvSpPr>
          <p:cNvPr id="8" name="TextBox 7">
            <a:extLst>
              <a:ext uri="{FF2B5EF4-FFF2-40B4-BE49-F238E27FC236}">
                <a16:creationId xmlns:a16="http://schemas.microsoft.com/office/drawing/2014/main" id="{B7D97E9F-A693-FF47-ABFF-ED03C4D87C2A}"/>
              </a:ext>
            </a:extLst>
          </p:cNvPr>
          <p:cNvSpPr txBox="1"/>
          <p:nvPr/>
        </p:nvSpPr>
        <p:spPr>
          <a:xfrm>
            <a:off x="609600" y="598040"/>
            <a:ext cx="7747000" cy="461665"/>
          </a:xfrm>
          <a:prstGeom prst="rect">
            <a:avLst/>
          </a:prstGeom>
          <a:noFill/>
        </p:spPr>
        <p:txBody>
          <a:bodyPr vertOverflow="overflow" vert="horz" wrap="square" rtlCol="0" anchor="t">
            <a:spAutoFit/>
          </a:bodyPr>
          <a:lstStyle/>
          <a:p>
            <a:pPr algn="l"/>
            <a:r>
              <a:rPr lang="en-US" sz="2400" b="1" dirty="0" err="1">
                <a:solidFill>
                  <a:srgbClr val="110057"/>
                </a:solidFill>
                <a:latin typeface="Arial"/>
                <a:cs typeface="Arial"/>
              </a:rPr>
              <a:t>Cutpoints</a:t>
            </a:r>
            <a:r>
              <a:rPr lang="en-US" sz="2400" b="1" dirty="0">
                <a:solidFill>
                  <a:srgbClr val="110057"/>
                </a:solidFill>
                <a:latin typeface="Arial"/>
                <a:cs typeface="Arial"/>
              </a:rPr>
              <a:t>, risk thresholds serve different purposes</a:t>
            </a:r>
          </a:p>
        </p:txBody>
      </p:sp>
      <p:sp>
        <p:nvSpPr>
          <p:cNvPr id="9" name="TextBox 8">
            <a:extLst>
              <a:ext uri="{FF2B5EF4-FFF2-40B4-BE49-F238E27FC236}">
                <a16:creationId xmlns:a16="http://schemas.microsoft.com/office/drawing/2014/main" id="{188AF407-318C-744F-A0B8-F8F2A5F7CD4F}"/>
              </a:ext>
            </a:extLst>
          </p:cNvPr>
          <p:cNvSpPr txBox="1"/>
          <p:nvPr/>
        </p:nvSpPr>
        <p:spPr>
          <a:xfrm>
            <a:off x="609600" y="1117030"/>
            <a:ext cx="7620000" cy="338554"/>
          </a:xfrm>
          <a:prstGeom prst="rect">
            <a:avLst/>
          </a:prstGeom>
          <a:noFill/>
        </p:spPr>
        <p:txBody>
          <a:bodyPr vertOverflow="overflow" vert="horz" wrap="square" rtlCol="0" anchor="t">
            <a:spAutoFit/>
          </a:bodyPr>
          <a:lstStyle/>
          <a:p>
            <a:pPr algn="l"/>
            <a:r>
              <a:rPr lang="en-US" sz="1600" dirty="0">
                <a:solidFill>
                  <a:srgbClr val="2B2457"/>
                </a:solidFill>
                <a:latin typeface="Arial"/>
                <a:cs typeface="Arial"/>
              </a:rPr>
              <a:t>Use abnormality labels to describe observed state; use risk labels to justify action.</a:t>
            </a:r>
          </a:p>
        </p:txBody>
      </p:sp>
      <p:sp>
        <p:nvSpPr>
          <p:cNvPr id="10" name="Rectangle 9">
            <a:extLst>
              <a:ext uri="{FF2B5EF4-FFF2-40B4-BE49-F238E27FC236}">
                <a16:creationId xmlns:a16="http://schemas.microsoft.com/office/drawing/2014/main" id="{B66566FD-1072-1B47-878B-D2FFF3A6D83E}"/>
              </a:ext>
            </a:extLst>
          </p:cNvPr>
          <p:cNvSpPr/>
          <p:nvPr/>
        </p:nvSpPr>
        <p:spPr>
          <a:xfrm>
            <a:off x="1879600" y="1778000"/>
            <a:ext cx="3022600" cy="1066800"/>
          </a:xfrm>
          <a:prstGeom prst="rect">
            <a:avLst/>
          </a:prstGeom>
          <a:solidFill>
            <a:srgbClr val="EFE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 name="Rectangle 10">
            <a:extLst>
              <a:ext uri="{FF2B5EF4-FFF2-40B4-BE49-F238E27FC236}">
                <a16:creationId xmlns:a16="http://schemas.microsoft.com/office/drawing/2014/main" id="{3813D224-7F31-8245-B53D-A18AD3083810}"/>
              </a:ext>
            </a:extLst>
          </p:cNvPr>
          <p:cNvSpPr/>
          <p:nvPr/>
        </p:nvSpPr>
        <p:spPr>
          <a:xfrm>
            <a:off x="5105400" y="1778000"/>
            <a:ext cx="3022600" cy="1066800"/>
          </a:xfrm>
          <a:prstGeom prst="rect">
            <a:avLst/>
          </a:prstGeom>
          <a:solidFill>
            <a:srgbClr val="EAF6F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 name="TextBox 11">
            <a:extLst>
              <a:ext uri="{FF2B5EF4-FFF2-40B4-BE49-F238E27FC236}">
                <a16:creationId xmlns:a16="http://schemas.microsoft.com/office/drawing/2014/main" id="{ABFA282D-896A-704F-BCFD-A5AC25DA9566}"/>
              </a:ext>
            </a:extLst>
          </p:cNvPr>
          <p:cNvSpPr txBox="1"/>
          <p:nvPr/>
        </p:nvSpPr>
        <p:spPr>
          <a:xfrm>
            <a:off x="2082800" y="1879600"/>
            <a:ext cx="2717800" cy="215900"/>
          </a:xfrm>
          <a:prstGeom prst="rect">
            <a:avLst/>
          </a:prstGeom>
          <a:noFill/>
        </p:spPr>
        <p:txBody>
          <a:bodyPr vertOverflow="overflow" vert="horz" wrap="square" rtlCol="0" anchor="t">
            <a:spAutoFit/>
          </a:bodyPr>
          <a:lstStyle/>
          <a:p>
            <a:pPr algn="l"/>
            <a:r>
              <a:rPr lang="en-US" sz="1600" b="1">
                <a:solidFill>
                  <a:srgbClr val="5A21F0"/>
                </a:solidFill>
                <a:latin typeface="Arial"/>
                <a:cs typeface="Arial"/>
              </a:rPr>
              <a:t>Abnormality label</a:t>
            </a:r>
          </a:p>
        </p:txBody>
      </p:sp>
      <p:sp>
        <p:nvSpPr>
          <p:cNvPr id="13" name="TextBox 12">
            <a:extLst>
              <a:ext uri="{FF2B5EF4-FFF2-40B4-BE49-F238E27FC236}">
                <a16:creationId xmlns:a16="http://schemas.microsoft.com/office/drawing/2014/main" id="{D54FEA4D-222F-DD47-9316-D2FD740D9882}"/>
              </a:ext>
            </a:extLst>
          </p:cNvPr>
          <p:cNvSpPr txBox="1"/>
          <p:nvPr/>
        </p:nvSpPr>
        <p:spPr>
          <a:xfrm>
            <a:off x="2082800" y="2159000"/>
            <a:ext cx="2717800" cy="228600"/>
          </a:xfrm>
          <a:prstGeom prst="rect">
            <a:avLst/>
          </a:prstGeom>
          <a:noFill/>
        </p:spPr>
        <p:txBody>
          <a:bodyPr vertOverflow="overflow" vert="horz" wrap="square" rtlCol="0" anchor="t">
            <a:spAutoFit/>
          </a:bodyPr>
          <a:lstStyle/>
          <a:p>
            <a:pPr algn="l"/>
            <a:r>
              <a:rPr lang="en-US" sz="1600">
                <a:solidFill>
                  <a:srgbClr val="3A3168"/>
                </a:solidFill>
                <a:latin typeface="Arial"/>
                <a:cs typeface="Arial"/>
              </a:rPr>
              <a:t>How far from a reference state?</a:t>
            </a:r>
          </a:p>
        </p:txBody>
      </p:sp>
      <p:sp>
        <p:nvSpPr>
          <p:cNvPr id="14" name="TextBox 13">
            <a:extLst>
              <a:ext uri="{FF2B5EF4-FFF2-40B4-BE49-F238E27FC236}">
                <a16:creationId xmlns:a16="http://schemas.microsoft.com/office/drawing/2014/main" id="{B0902E48-335D-424D-AFB8-6F325CFF14BB}"/>
              </a:ext>
            </a:extLst>
          </p:cNvPr>
          <p:cNvSpPr txBox="1"/>
          <p:nvPr/>
        </p:nvSpPr>
        <p:spPr>
          <a:xfrm>
            <a:off x="5308600" y="1879600"/>
            <a:ext cx="2717800" cy="215900"/>
          </a:xfrm>
          <a:prstGeom prst="rect">
            <a:avLst/>
          </a:prstGeom>
          <a:noFill/>
        </p:spPr>
        <p:txBody>
          <a:bodyPr vertOverflow="overflow" vert="horz" wrap="square" rtlCol="0" anchor="t">
            <a:spAutoFit/>
          </a:bodyPr>
          <a:lstStyle/>
          <a:p>
            <a:pPr algn="l"/>
            <a:r>
              <a:rPr lang="en-US" sz="1600" b="1">
                <a:solidFill>
                  <a:srgbClr val="5A21F0"/>
                </a:solidFill>
                <a:latin typeface="Arial"/>
                <a:cs typeface="Arial"/>
              </a:rPr>
              <a:t>Risk / action label</a:t>
            </a:r>
          </a:p>
        </p:txBody>
      </p:sp>
      <p:sp>
        <p:nvSpPr>
          <p:cNvPr id="15" name="TextBox 14">
            <a:extLst>
              <a:ext uri="{FF2B5EF4-FFF2-40B4-BE49-F238E27FC236}">
                <a16:creationId xmlns:a16="http://schemas.microsoft.com/office/drawing/2014/main" id="{2BCB118A-6278-E24F-A9FC-E76941927330}"/>
              </a:ext>
            </a:extLst>
          </p:cNvPr>
          <p:cNvSpPr txBox="1"/>
          <p:nvPr/>
        </p:nvSpPr>
        <p:spPr>
          <a:xfrm>
            <a:off x="5308600" y="2159000"/>
            <a:ext cx="2717800" cy="228600"/>
          </a:xfrm>
          <a:prstGeom prst="rect">
            <a:avLst/>
          </a:prstGeom>
          <a:noFill/>
        </p:spPr>
        <p:txBody>
          <a:bodyPr vertOverflow="overflow" vert="horz" wrap="square" rtlCol="0" anchor="t">
            <a:spAutoFit/>
          </a:bodyPr>
          <a:lstStyle/>
          <a:p>
            <a:pPr algn="l"/>
            <a:r>
              <a:rPr lang="en-US" sz="1600">
                <a:solidFill>
                  <a:srgbClr val="3A3168"/>
                </a:solidFill>
                <a:latin typeface="Arial"/>
                <a:cs typeface="Arial"/>
              </a:rPr>
              <a:t>When is action worth taking?</a:t>
            </a:r>
          </a:p>
        </p:txBody>
      </p:sp>
      <p:sp>
        <p:nvSpPr>
          <p:cNvPr id="16" name="Rectangle 15">
            <a:extLst>
              <a:ext uri="{FF2B5EF4-FFF2-40B4-BE49-F238E27FC236}">
                <a16:creationId xmlns:a16="http://schemas.microsoft.com/office/drawing/2014/main" id="{ADE8D36E-39FE-9C4C-9B8D-A7AC8F1C01A6}"/>
              </a:ext>
            </a:extLst>
          </p:cNvPr>
          <p:cNvSpPr/>
          <p:nvPr/>
        </p:nvSpPr>
        <p:spPr>
          <a:xfrm>
            <a:off x="914400" y="2946400"/>
            <a:ext cx="7112000" cy="15240"/>
          </a:xfrm>
          <a:prstGeom prst="rect">
            <a:avLst/>
          </a:prstGeom>
          <a:solidFill>
            <a:srgbClr val="D8D2E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7" name="Rectangle 16">
            <a:extLst>
              <a:ext uri="{FF2B5EF4-FFF2-40B4-BE49-F238E27FC236}">
                <a16:creationId xmlns:a16="http://schemas.microsoft.com/office/drawing/2014/main" id="{8867E2F4-B3EF-5144-B781-FBBB6DFB22C8}"/>
              </a:ext>
            </a:extLst>
          </p:cNvPr>
          <p:cNvSpPr/>
          <p:nvPr/>
        </p:nvSpPr>
        <p:spPr>
          <a:xfrm>
            <a:off x="914400" y="3962400"/>
            <a:ext cx="7112000" cy="15240"/>
          </a:xfrm>
          <a:prstGeom prst="rect">
            <a:avLst/>
          </a:prstGeom>
          <a:solidFill>
            <a:srgbClr val="D8D2E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8" name="Rectangle 17">
            <a:extLst>
              <a:ext uri="{FF2B5EF4-FFF2-40B4-BE49-F238E27FC236}">
                <a16:creationId xmlns:a16="http://schemas.microsoft.com/office/drawing/2014/main" id="{4A026D89-C592-2A4F-9498-54CC7C384FA1}"/>
              </a:ext>
            </a:extLst>
          </p:cNvPr>
          <p:cNvSpPr/>
          <p:nvPr/>
        </p:nvSpPr>
        <p:spPr>
          <a:xfrm>
            <a:off x="4902200" y="2946400"/>
            <a:ext cx="15240" cy="1879600"/>
          </a:xfrm>
          <a:prstGeom prst="rect">
            <a:avLst/>
          </a:prstGeom>
          <a:solidFill>
            <a:srgbClr val="D8D2E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9" name="TextBox 18">
            <a:extLst>
              <a:ext uri="{FF2B5EF4-FFF2-40B4-BE49-F238E27FC236}">
                <a16:creationId xmlns:a16="http://schemas.microsoft.com/office/drawing/2014/main" id="{D1178D2B-28E2-4F43-B983-A38E10BB7086}"/>
              </a:ext>
            </a:extLst>
          </p:cNvPr>
          <p:cNvSpPr txBox="1"/>
          <p:nvPr/>
        </p:nvSpPr>
        <p:spPr>
          <a:xfrm>
            <a:off x="914400" y="3175000"/>
            <a:ext cx="1016000" cy="246221"/>
          </a:xfrm>
          <a:prstGeom prst="rect">
            <a:avLst/>
          </a:prstGeom>
          <a:noFill/>
        </p:spPr>
        <p:txBody>
          <a:bodyPr vertOverflow="overflow" vert="horz" wrap="square" rtlCol="0" anchor="t">
            <a:spAutoFit/>
          </a:bodyPr>
          <a:lstStyle/>
          <a:p>
            <a:pPr algn="l"/>
            <a:r>
              <a:rPr lang="en-US" sz="1600" b="1" dirty="0">
                <a:solidFill>
                  <a:srgbClr val="5A21F0"/>
                </a:solidFill>
                <a:latin typeface="Arial"/>
                <a:cs typeface="Arial"/>
              </a:rPr>
              <a:t>HLD</a:t>
            </a:r>
          </a:p>
        </p:txBody>
      </p:sp>
      <p:sp>
        <p:nvSpPr>
          <p:cNvPr id="20" name="TextBox 19">
            <a:extLst>
              <a:ext uri="{FF2B5EF4-FFF2-40B4-BE49-F238E27FC236}">
                <a16:creationId xmlns:a16="http://schemas.microsoft.com/office/drawing/2014/main" id="{CD33A017-A28A-8042-B6A7-CF2EDE2865BF}"/>
              </a:ext>
            </a:extLst>
          </p:cNvPr>
          <p:cNvSpPr txBox="1"/>
          <p:nvPr/>
        </p:nvSpPr>
        <p:spPr>
          <a:xfrm>
            <a:off x="2032000" y="3098800"/>
            <a:ext cx="2565400" cy="508000"/>
          </a:xfrm>
          <a:prstGeom prst="rect">
            <a:avLst/>
          </a:prstGeom>
          <a:noFill/>
        </p:spPr>
        <p:txBody>
          <a:bodyPr vertOverflow="overflow" vert="horz" wrap="square" rtlCol="0" anchor="t">
            <a:spAutoFit/>
          </a:bodyPr>
          <a:lstStyle/>
          <a:p>
            <a:pPr algn="l"/>
            <a:r>
              <a:rPr lang="en-US" sz="1600" dirty="0">
                <a:solidFill>
                  <a:srgbClr val="24135F"/>
                </a:solidFill>
                <a:latin typeface="Arial"/>
                <a:cs typeface="Arial"/>
              </a:rPr>
              <a:t>LDL-C above a </a:t>
            </a:r>
            <a:r>
              <a:rPr lang="en-US" sz="1600" dirty="0" err="1">
                <a:solidFill>
                  <a:srgbClr val="24135F"/>
                </a:solidFill>
                <a:latin typeface="Arial"/>
                <a:cs typeface="Arial"/>
              </a:rPr>
              <a:t>cutpoint</a:t>
            </a:r>
            <a:r>
              <a:rPr lang="en-US" sz="1600" dirty="0">
                <a:solidFill>
                  <a:srgbClr val="24135F"/>
                </a:solidFill>
                <a:latin typeface="Arial"/>
                <a:cs typeface="Arial"/>
              </a:rPr>
              <a:t> labels a lipid abnormality.</a:t>
            </a:r>
          </a:p>
        </p:txBody>
      </p:sp>
      <p:sp>
        <p:nvSpPr>
          <p:cNvPr id="21" name="TextBox 20">
            <a:extLst>
              <a:ext uri="{FF2B5EF4-FFF2-40B4-BE49-F238E27FC236}">
                <a16:creationId xmlns:a16="http://schemas.microsoft.com/office/drawing/2014/main" id="{2C441872-EA75-E24C-A0EA-28977415475A}"/>
              </a:ext>
            </a:extLst>
          </p:cNvPr>
          <p:cNvSpPr txBox="1"/>
          <p:nvPr/>
        </p:nvSpPr>
        <p:spPr>
          <a:xfrm>
            <a:off x="5308600" y="3098800"/>
            <a:ext cx="2413000" cy="533400"/>
          </a:xfrm>
          <a:prstGeom prst="rect">
            <a:avLst/>
          </a:prstGeom>
          <a:noFill/>
        </p:spPr>
        <p:txBody>
          <a:bodyPr vertOverflow="overflow" vert="horz" wrap="square" rtlCol="0" anchor="t">
            <a:spAutoFit/>
          </a:bodyPr>
          <a:lstStyle/>
          <a:p>
            <a:pPr algn="l"/>
            <a:r>
              <a:rPr lang="en-US" sz="1600">
                <a:solidFill>
                  <a:srgbClr val="24135F"/>
                </a:solidFill>
                <a:latin typeface="Arial"/>
                <a:cs typeface="Arial"/>
              </a:rPr>
              <a:t>Ten-year ASCVD risk estimates likely benefit from statin treatment.</a:t>
            </a:r>
          </a:p>
        </p:txBody>
      </p:sp>
      <p:sp>
        <p:nvSpPr>
          <p:cNvPr id="22" name="TextBox 21">
            <a:extLst>
              <a:ext uri="{FF2B5EF4-FFF2-40B4-BE49-F238E27FC236}">
                <a16:creationId xmlns:a16="http://schemas.microsoft.com/office/drawing/2014/main" id="{3BA1CDD6-F471-D249-BD56-0384530C8C71}"/>
              </a:ext>
            </a:extLst>
          </p:cNvPr>
          <p:cNvSpPr txBox="1"/>
          <p:nvPr/>
        </p:nvSpPr>
        <p:spPr>
          <a:xfrm>
            <a:off x="863600" y="4140200"/>
            <a:ext cx="1168400" cy="584775"/>
          </a:xfrm>
          <a:prstGeom prst="rect">
            <a:avLst/>
          </a:prstGeom>
          <a:noFill/>
        </p:spPr>
        <p:txBody>
          <a:bodyPr vertOverflow="overflow" vert="horz" wrap="square" rtlCol="0" anchor="t">
            <a:spAutoFit/>
          </a:bodyPr>
          <a:lstStyle/>
          <a:p>
            <a:pPr algn="l"/>
            <a:r>
              <a:rPr lang="en-US" sz="1600" b="1" dirty="0">
                <a:solidFill>
                  <a:srgbClr val="5A21F0"/>
                </a:solidFill>
                <a:latin typeface="Arial"/>
                <a:cs typeface="Arial"/>
              </a:rPr>
              <a:t>Lung nodule</a:t>
            </a:r>
          </a:p>
        </p:txBody>
      </p:sp>
      <p:sp>
        <p:nvSpPr>
          <p:cNvPr id="23" name="TextBox 22">
            <a:extLst>
              <a:ext uri="{FF2B5EF4-FFF2-40B4-BE49-F238E27FC236}">
                <a16:creationId xmlns:a16="http://schemas.microsoft.com/office/drawing/2014/main" id="{D26ECB6B-1CB9-FD49-B0F4-72FA38540A2D}"/>
              </a:ext>
            </a:extLst>
          </p:cNvPr>
          <p:cNvSpPr txBox="1"/>
          <p:nvPr/>
        </p:nvSpPr>
        <p:spPr>
          <a:xfrm>
            <a:off x="2032000" y="4089400"/>
            <a:ext cx="2667000" cy="685800"/>
          </a:xfrm>
          <a:prstGeom prst="rect">
            <a:avLst/>
          </a:prstGeom>
          <a:noFill/>
        </p:spPr>
        <p:txBody>
          <a:bodyPr vertOverflow="overflow" vert="horz" wrap="square" rtlCol="0" anchor="t">
            <a:spAutoFit/>
          </a:bodyPr>
          <a:lstStyle/>
          <a:p>
            <a:pPr algn="l"/>
            <a:r>
              <a:rPr lang="en-US" sz="1600">
                <a:solidFill>
                  <a:srgbClr val="24135F"/>
                </a:solidFill>
                <a:latin typeface="Arial"/>
                <a:cs typeface="Arial"/>
              </a:rPr>
              <a:t>Size and morphology label an imaging abnormality.</a:t>
            </a:r>
          </a:p>
        </p:txBody>
      </p:sp>
      <p:sp>
        <p:nvSpPr>
          <p:cNvPr id="30" name="TextBox 29">
            <a:extLst>
              <a:ext uri="{FF2B5EF4-FFF2-40B4-BE49-F238E27FC236}">
                <a16:creationId xmlns:a16="http://schemas.microsoft.com/office/drawing/2014/main" id="{82F46212-1F16-FA49-9C33-0E4037AD4CD4}"/>
              </a:ext>
            </a:extLst>
          </p:cNvPr>
          <p:cNvSpPr txBox="1"/>
          <p:nvPr/>
        </p:nvSpPr>
        <p:spPr>
          <a:xfrm>
            <a:off x="5308600" y="4089400"/>
            <a:ext cx="2717800" cy="787400"/>
          </a:xfrm>
          <a:prstGeom prst="rect">
            <a:avLst/>
          </a:prstGeom>
          <a:noFill/>
        </p:spPr>
        <p:txBody>
          <a:bodyPr vertOverflow="overflow" vert="horz" wrap="square" rtlCol="0" anchor="t">
            <a:spAutoFit/>
          </a:bodyPr>
          <a:lstStyle/>
          <a:p>
            <a:pPr algn="l"/>
            <a:r>
              <a:rPr lang="en-US" sz="1600">
                <a:solidFill>
                  <a:srgbClr val="24135F"/>
                </a:solidFill>
                <a:latin typeface="Arial"/>
                <a:cs typeface="Arial"/>
              </a:rPr>
              <a:t>Estimated malignancy risk determines surveillance, PET, biopsy, or resection.</a:t>
            </a:r>
          </a:p>
        </p:txBody>
      </p:sp>
    </p:spTree>
    <p:extLst>
      <p:ext uri="{BB962C8B-B14F-4D97-AF65-F5344CB8AC3E}">
        <p14:creationId xmlns:p14="http://schemas.microsoft.com/office/powerpoint/2010/main" val="2300106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ounded Rectangle 39">
            <a:extLst>
              <a:ext uri="{FF2B5EF4-FFF2-40B4-BE49-F238E27FC236}">
                <a16:creationId xmlns:a16="http://schemas.microsoft.com/office/drawing/2014/main" id="{85BC9CB0-0F08-F84B-9551-86E3D6B8C296}"/>
              </a:ext>
            </a:extLst>
          </p:cNvPr>
          <p:cNvSpPr/>
          <p:nvPr/>
        </p:nvSpPr>
        <p:spPr>
          <a:xfrm>
            <a:off x="736600" y="1905000"/>
            <a:ext cx="3149600" cy="2159000"/>
          </a:xfrm>
          <a:prstGeom prst="roundRect">
            <a:avLst/>
          </a:prstGeom>
          <a:solidFill>
            <a:srgbClr val="F5F0FF"/>
          </a:solidFill>
          <a:ln w="12700">
            <a:solidFill>
              <a:srgbClr val="D8CDF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1" name="TextBox 40">
            <a:extLst>
              <a:ext uri="{FF2B5EF4-FFF2-40B4-BE49-F238E27FC236}">
                <a16:creationId xmlns:a16="http://schemas.microsoft.com/office/drawing/2014/main" id="{2BA0F180-8D16-0641-B0A3-408F12A76BEE}"/>
              </a:ext>
            </a:extLst>
          </p:cNvPr>
          <p:cNvSpPr txBox="1"/>
          <p:nvPr/>
        </p:nvSpPr>
        <p:spPr>
          <a:xfrm>
            <a:off x="914400" y="2184400"/>
            <a:ext cx="2794000" cy="304800"/>
          </a:xfrm>
          <a:prstGeom prst="rect">
            <a:avLst/>
          </a:prstGeom>
          <a:noFill/>
        </p:spPr>
        <p:txBody>
          <a:bodyPr vertOverflow="overflow" vert="horz" wrap="square" rtlCol="0" anchor="t" anchorCtr="0">
            <a:spAutoFit/>
          </a:bodyPr>
          <a:lstStyle/>
          <a:p>
            <a:pPr algn="l"/>
            <a:r>
              <a:rPr lang="en-US" sz="1600" b="1">
                <a:solidFill>
                  <a:srgbClr val="3D2B78"/>
                </a:solidFill>
                <a:latin typeface="Arial"/>
                <a:cs typeface="Arial"/>
              </a:rPr>
              <a:t>LDL-C abnormality label</a:t>
            </a:r>
          </a:p>
        </p:txBody>
      </p:sp>
      <p:sp>
        <p:nvSpPr>
          <p:cNvPr id="42" name="TextBox 41">
            <a:extLst>
              <a:ext uri="{FF2B5EF4-FFF2-40B4-BE49-F238E27FC236}">
                <a16:creationId xmlns:a16="http://schemas.microsoft.com/office/drawing/2014/main" id="{812F5F8B-E9C0-8D4F-8AD7-27B787400ABA}"/>
              </a:ext>
            </a:extLst>
          </p:cNvPr>
          <p:cNvSpPr txBox="1"/>
          <p:nvPr/>
        </p:nvSpPr>
        <p:spPr>
          <a:xfrm>
            <a:off x="914400" y="2717800"/>
            <a:ext cx="2794000" cy="736600"/>
          </a:xfrm>
          <a:prstGeom prst="rect">
            <a:avLst/>
          </a:prstGeom>
          <a:noFill/>
        </p:spPr>
        <p:txBody>
          <a:bodyPr vertOverflow="overflow" vert="horz" wrap="square" rtlCol="0" anchor="t" anchorCtr="0">
            <a:spAutoFit/>
          </a:bodyPr>
          <a:lstStyle/>
          <a:p>
            <a:pPr algn="l"/>
            <a:r>
              <a:rPr lang="en-US" sz="1600" dirty="0">
                <a:solidFill>
                  <a:srgbClr val="2D2D2D"/>
                </a:solidFill>
                <a:latin typeface="Arial"/>
                <a:cs typeface="Arial"/>
              </a:rPr>
              <a:t>Classifies a measurement
Work: description</a:t>
            </a:r>
          </a:p>
        </p:txBody>
      </p:sp>
      <p:sp>
        <p:nvSpPr>
          <p:cNvPr id="43" name="Right Arrow 42">
            <a:extLst>
              <a:ext uri="{FF2B5EF4-FFF2-40B4-BE49-F238E27FC236}">
                <a16:creationId xmlns:a16="http://schemas.microsoft.com/office/drawing/2014/main" id="{29C52AC6-C091-C246-8589-2DF489426B3B}"/>
              </a:ext>
            </a:extLst>
          </p:cNvPr>
          <p:cNvSpPr/>
          <p:nvPr/>
        </p:nvSpPr>
        <p:spPr>
          <a:xfrm>
            <a:off x="4127500" y="2743200"/>
            <a:ext cx="914400" cy="482600"/>
          </a:xfrm>
          <a:prstGeom prst="rightArrow">
            <a:avLst/>
          </a:prstGeom>
          <a:solidFill>
            <a:srgbClr val="5E17E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5" name="Rounded Rectangle 44">
            <a:extLst>
              <a:ext uri="{FF2B5EF4-FFF2-40B4-BE49-F238E27FC236}">
                <a16:creationId xmlns:a16="http://schemas.microsoft.com/office/drawing/2014/main" id="{48FB0B69-668E-784E-9D3B-CB699FE9B747}"/>
              </a:ext>
            </a:extLst>
          </p:cNvPr>
          <p:cNvSpPr/>
          <p:nvPr/>
        </p:nvSpPr>
        <p:spPr>
          <a:xfrm>
            <a:off x="5283200" y="1905000"/>
            <a:ext cx="3530600" cy="2159000"/>
          </a:xfrm>
          <a:prstGeom prst="roundRect">
            <a:avLst/>
          </a:prstGeom>
          <a:solidFill>
            <a:srgbClr val="EEF9FC"/>
          </a:solidFill>
          <a:ln w="12700">
            <a:solidFill>
              <a:srgbClr val="CFE7E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6" name="TextBox 45">
            <a:extLst>
              <a:ext uri="{FF2B5EF4-FFF2-40B4-BE49-F238E27FC236}">
                <a16:creationId xmlns:a16="http://schemas.microsoft.com/office/drawing/2014/main" id="{B7C9501F-1E5F-EC4A-B0E4-A814065C8474}"/>
              </a:ext>
            </a:extLst>
          </p:cNvPr>
          <p:cNvSpPr txBox="1"/>
          <p:nvPr/>
        </p:nvSpPr>
        <p:spPr>
          <a:xfrm>
            <a:off x="5461000" y="2184400"/>
            <a:ext cx="3175000" cy="304800"/>
          </a:xfrm>
          <a:prstGeom prst="rect">
            <a:avLst/>
          </a:prstGeom>
          <a:noFill/>
        </p:spPr>
        <p:txBody>
          <a:bodyPr vertOverflow="overflow" vert="horz" wrap="square" rtlCol="0" anchor="t" anchorCtr="0">
            <a:spAutoFit/>
          </a:bodyPr>
          <a:lstStyle/>
          <a:p>
            <a:pPr algn="l"/>
            <a:r>
              <a:rPr lang="en-US" sz="1600" b="1">
                <a:solidFill>
                  <a:srgbClr val="155E75"/>
                </a:solidFill>
                <a:latin typeface="Arial"/>
                <a:cs typeface="Arial"/>
              </a:rPr>
              <a:t>Statin-benefit action class</a:t>
            </a:r>
          </a:p>
        </p:txBody>
      </p:sp>
      <p:sp>
        <p:nvSpPr>
          <p:cNvPr id="47" name="TextBox 46">
            <a:extLst>
              <a:ext uri="{FF2B5EF4-FFF2-40B4-BE49-F238E27FC236}">
                <a16:creationId xmlns:a16="http://schemas.microsoft.com/office/drawing/2014/main" id="{E75E9303-0C1C-A94A-BA13-317A76BBAEE0}"/>
              </a:ext>
            </a:extLst>
          </p:cNvPr>
          <p:cNvSpPr txBox="1"/>
          <p:nvPr/>
        </p:nvSpPr>
        <p:spPr>
          <a:xfrm>
            <a:off x="5461000" y="2717800"/>
            <a:ext cx="3175000" cy="736600"/>
          </a:xfrm>
          <a:prstGeom prst="rect">
            <a:avLst/>
          </a:prstGeom>
          <a:noFill/>
        </p:spPr>
        <p:txBody>
          <a:bodyPr vertOverflow="overflow" vert="horz" wrap="square" rtlCol="0" anchor="t" anchorCtr="0">
            <a:spAutoFit/>
          </a:bodyPr>
          <a:lstStyle/>
          <a:p>
            <a:pPr algn="l"/>
            <a:r>
              <a:rPr lang="en-US" sz="1600">
                <a:solidFill>
                  <a:srgbClr val="2D2D2D"/>
                </a:solidFill>
                <a:latin typeface="Arial"/>
                <a:cs typeface="Arial"/>
              </a:rPr>
              <a:t>Classifies expected benefit
Work: treatment threshold</a:t>
            </a:r>
          </a:p>
        </p:txBody>
      </p:sp>
      <p:sp>
        <p:nvSpPr>
          <p:cNvPr id="51" name="TextBox 50">
            <a:extLst>
              <a:ext uri="{FF2B5EF4-FFF2-40B4-BE49-F238E27FC236}">
                <a16:creationId xmlns:a16="http://schemas.microsoft.com/office/drawing/2014/main" id="{E61136DD-3A31-9949-9465-C46077758C31}"/>
              </a:ext>
            </a:extLst>
          </p:cNvPr>
          <p:cNvSpPr txBox="1"/>
          <p:nvPr/>
        </p:nvSpPr>
        <p:spPr>
          <a:xfrm>
            <a:off x="508000" y="4609676"/>
            <a:ext cx="8191500" cy="261610"/>
          </a:xfrm>
          <a:prstGeom prst="rect">
            <a:avLst/>
          </a:prstGeom>
          <a:noFill/>
        </p:spPr>
        <p:txBody>
          <a:bodyPr vertOverflow="overflow" vert="horz" wrap="square" rtlCol="0" anchor="t" anchorCtr="0">
            <a:spAutoFit/>
          </a:bodyPr>
          <a:lstStyle/>
          <a:p>
            <a:pPr algn="l"/>
            <a:r>
              <a:rPr lang="en-US" sz="1100" dirty="0">
                <a:solidFill>
                  <a:srgbClr val="777777"/>
                </a:solidFill>
                <a:latin typeface="Arial"/>
                <a:cs typeface="Arial"/>
              </a:rPr>
              <a:t>Sources: ATP III; 2013 ACC/AHA cholesterol guideline; Pooled Cohort Equations</a:t>
            </a:r>
          </a:p>
        </p:txBody>
      </p:sp>
      <p:sp>
        <p:nvSpPr>
          <p:cNvPr id="52" name="Rectangle 51">
            <a:extLst>
              <a:ext uri="{FF2B5EF4-FFF2-40B4-BE49-F238E27FC236}">
                <a16:creationId xmlns:a16="http://schemas.microsoft.com/office/drawing/2014/main" id="{8F114635-A6B1-6B40-8E47-02FF0189F2CF}"/>
              </a:ext>
            </a:extLst>
          </p:cNvPr>
          <p:cNvSpPr/>
          <p:nvPr/>
        </p:nvSpPr>
        <p:spPr>
          <a:xfrm>
            <a:off x="482600" y="330200"/>
            <a:ext cx="63500" cy="685800"/>
          </a:xfrm>
          <a:prstGeom prst="rect">
            <a:avLst/>
          </a:prstGeom>
          <a:solidFill>
            <a:srgbClr val="5E17E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3" name="TextBox 52">
            <a:extLst>
              <a:ext uri="{FF2B5EF4-FFF2-40B4-BE49-F238E27FC236}">
                <a16:creationId xmlns:a16="http://schemas.microsoft.com/office/drawing/2014/main" id="{6C165957-52EE-8146-8B7D-E43E7DE035E6}"/>
              </a:ext>
            </a:extLst>
          </p:cNvPr>
          <p:cNvSpPr txBox="1"/>
          <p:nvPr/>
        </p:nvSpPr>
        <p:spPr>
          <a:xfrm>
            <a:off x="711200" y="279400"/>
            <a:ext cx="2286000" cy="261610"/>
          </a:xfrm>
          <a:prstGeom prst="rect">
            <a:avLst/>
          </a:prstGeom>
          <a:noFill/>
        </p:spPr>
        <p:txBody>
          <a:bodyPr vertOverflow="overflow" vert="horz" wrap="square" rtlCol="0" anchor="t" anchorCtr="0">
            <a:spAutoFit/>
          </a:bodyPr>
          <a:lstStyle/>
          <a:p>
            <a:pPr algn="l"/>
            <a:r>
              <a:rPr lang="en-US" sz="1100" b="1">
                <a:solidFill>
                  <a:srgbClr val="4A00E2"/>
                </a:solidFill>
                <a:latin typeface="Arial"/>
                <a:cs typeface="Arial"/>
              </a:rPr>
              <a:t>GUIDELINE CASE</a:t>
            </a:r>
          </a:p>
        </p:txBody>
      </p:sp>
      <p:sp>
        <p:nvSpPr>
          <p:cNvPr id="54" name="TextBox 53">
            <a:extLst>
              <a:ext uri="{FF2B5EF4-FFF2-40B4-BE49-F238E27FC236}">
                <a16:creationId xmlns:a16="http://schemas.microsoft.com/office/drawing/2014/main" id="{32E1E3AD-7B34-794E-9397-5B31DDFAFC02}"/>
              </a:ext>
            </a:extLst>
          </p:cNvPr>
          <p:cNvSpPr txBox="1"/>
          <p:nvPr/>
        </p:nvSpPr>
        <p:spPr>
          <a:xfrm>
            <a:off x="711200" y="508000"/>
            <a:ext cx="8382000" cy="830997"/>
          </a:xfrm>
          <a:prstGeom prst="rect">
            <a:avLst/>
          </a:prstGeom>
          <a:noFill/>
        </p:spPr>
        <p:txBody>
          <a:bodyPr vertOverflow="overflow" vert="horz" wrap="square" rtlCol="0" anchor="t" anchorCtr="0">
            <a:spAutoFit/>
          </a:bodyPr>
          <a:lstStyle/>
          <a:p>
            <a:pPr algn="l"/>
            <a:r>
              <a:rPr lang="en-US" sz="2400" b="1" dirty="0">
                <a:solidFill>
                  <a:srgbClr val="110057"/>
                </a:solidFill>
                <a:latin typeface="Arial"/>
                <a:cs typeface="Arial"/>
              </a:rPr>
              <a:t>2013 ACC/AHA: used risk prediction to make cholesterol labels action-oriented</a:t>
            </a:r>
          </a:p>
        </p:txBody>
      </p:sp>
    </p:spTree>
    <p:extLst>
      <p:ext uri="{BB962C8B-B14F-4D97-AF65-F5344CB8AC3E}">
        <p14:creationId xmlns:p14="http://schemas.microsoft.com/office/powerpoint/2010/main" val="3278337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 name="bg"/>
          <p:cNvSpPr/>
          <p:nvPr/>
        </p:nvSpPr>
        <p:spPr>
          <a:xfrm>
            <a:off x="0" y="0"/>
            <a:ext cx="9144000" cy="5143500"/>
          </a:xfrm>
          <a:prstGeom prst="rect">
            <a:avLst/>
          </a:prstGeom>
          <a:solidFill>
            <a:srgbClr val="FFFFFF"/>
          </a:solidFill>
          <a:ln>
            <a:noFill/>
          </a:ln>
        </p:spPr>
        <p:txBody>
          <a:bodyPr/>
          <a:lstStyle/>
          <a:p>
            <a:endParaRPr/>
          </a:p>
        </p:txBody>
      </p:sp>
      <p:sp>
        <p:nvSpPr>
          <p:cNvPr id="101" name="accent"/>
          <p:cNvSpPr/>
          <p:nvPr/>
        </p:nvSpPr>
        <p:spPr>
          <a:xfrm>
            <a:off x="368300" y="749300"/>
            <a:ext cx="63500" cy="3644900"/>
          </a:xfrm>
          <a:prstGeom prst="rect">
            <a:avLst/>
          </a:prstGeom>
          <a:solidFill>
            <a:srgbClr val="4A00E2"/>
          </a:solidFill>
          <a:ln>
            <a:noFill/>
          </a:ln>
        </p:spPr>
        <p:txBody>
          <a:bodyPr/>
          <a:lstStyle/>
          <a:p>
            <a:endParaRPr/>
          </a:p>
        </p:txBody>
      </p:sp>
      <p:sp>
        <p:nvSpPr>
          <p:cNvPr id="102" name="eyebrow"/>
          <p:cNvSpPr txBox="1"/>
          <p:nvPr/>
        </p:nvSpPr>
        <p:spPr>
          <a:xfrm>
            <a:off x="635000" y="304800"/>
            <a:ext cx="7620000" cy="203200"/>
          </a:xfrm>
          <a:prstGeom prst="rect">
            <a:avLst/>
          </a:prstGeom>
          <a:noFill/>
        </p:spPr>
        <p:txBody>
          <a:bodyPr wrap="square" lIns="0" tIns="0" rIns="0" bIns="0" anchor="t">
            <a:noAutofit/>
          </a:bodyPr>
          <a:lstStyle/>
          <a:p>
            <a:pPr algn="l">
              <a:buNone/>
            </a:pPr>
            <a:r>
              <a:rPr lang="en-US" sz="1100" b="1" dirty="0">
                <a:solidFill>
                  <a:srgbClr val="4A00E2"/>
                </a:solidFill>
                <a:latin typeface="Arial"/>
                <a:cs typeface="Arial"/>
              </a:rPr>
              <a:t>ACT | DECISIONS UNDER UNCERTAINTY</a:t>
            </a:r>
          </a:p>
        </p:txBody>
      </p:sp>
      <p:sp>
        <p:nvSpPr>
          <p:cNvPr id="103" name="title"/>
          <p:cNvSpPr txBox="1"/>
          <p:nvPr/>
        </p:nvSpPr>
        <p:spPr>
          <a:xfrm>
            <a:off x="635000" y="533400"/>
            <a:ext cx="8128000" cy="508000"/>
          </a:xfrm>
          <a:prstGeom prst="rect">
            <a:avLst/>
          </a:prstGeom>
          <a:noFill/>
        </p:spPr>
        <p:txBody>
          <a:bodyPr wrap="square" lIns="0" tIns="0" rIns="0" bIns="0" anchor="t">
            <a:noAutofit/>
          </a:bodyPr>
          <a:lstStyle/>
          <a:p>
            <a:pPr algn="l">
              <a:buNone/>
            </a:pPr>
            <a:r>
              <a:rPr lang="en-US" sz="2400" b="1" dirty="0">
                <a:solidFill>
                  <a:srgbClr val="110057"/>
                </a:solidFill>
                <a:latin typeface="Arial"/>
                <a:cs typeface="Arial"/>
              </a:rPr>
              <a:t>We act before we know the counterfactual</a:t>
            </a:r>
          </a:p>
        </p:txBody>
      </p:sp>
      <p:sp>
        <p:nvSpPr>
          <p:cNvPr id="104" name="sub"/>
          <p:cNvSpPr txBox="1"/>
          <p:nvPr/>
        </p:nvSpPr>
        <p:spPr>
          <a:xfrm>
            <a:off x="635000" y="1092200"/>
            <a:ext cx="7874000" cy="203200"/>
          </a:xfrm>
          <a:prstGeom prst="rect">
            <a:avLst/>
          </a:prstGeom>
          <a:noFill/>
        </p:spPr>
        <p:txBody>
          <a:bodyPr wrap="square" lIns="0" tIns="0" rIns="0" bIns="0" anchor="t">
            <a:noAutofit/>
          </a:bodyPr>
          <a:lstStyle/>
          <a:p>
            <a:pPr algn="l">
              <a:buNone/>
            </a:pPr>
            <a:r>
              <a:rPr lang="en-US" sz="1300" dirty="0">
                <a:solidFill>
                  <a:srgbClr val="5F6B7A"/>
                </a:solidFill>
                <a:latin typeface="Arial"/>
                <a:cs typeface="Arial"/>
              </a:rPr>
              <a:t>At decision time, only one outcome will ever be observed — the rest stay hidden.</a:t>
            </a:r>
          </a:p>
        </p:txBody>
      </p:sp>
      <p:sp>
        <p:nvSpPr>
          <p:cNvPr id="110" name="leftbg"/>
          <p:cNvSpPr/>
          <p:nvPr/>
        </p:nvSpPr>
        <p:spPr>
          <a:xfrm>
            <a:off x="812800" y="1498600"/>
            <a:ext cx="3810000" cy="2235200"/>
          </a:xfrm>
          <a:prstGeom prst="roundRect">
            <a:avLst>
              <a:gd name="adj" fmla="val 9000"/>
            </a:avLst>
          </a:prstGeom>
          <a:solidFill>
            <a:srgbClr val="F7F6FC"/>
          </a:solidFill>
          <a:ln>
            <a:noFill/>
          </a:ln>
        </p:spPr>
        <p:txBody>
          <a:bodyPr/>
          <a:lstStyle/>
          <a:p>
            <a:endParaRPr/>
          </a:p>
        </p:txBody>
      </p:sp>
      <p:sp>
        <p:nvSpPr>
          <p:cNvPr id="111" name="lefthead"/>
          <p:cNvSpPr txBox="1"/>
          <p:nvPr/>
        </p:nvSpPr>
        <p:spPr>
          <a:xfrm>
            <a:off x="1066800" y="1651000"/>
            <a:ext cx="3302000" cy="203200"/>
          </a:xfrm>
          <a:prstGeom prst="rect">
            <a:avLst/>
          </a:prstGeom>
          <a:noFill/>
        </p:spPr>
        <p:txBody>
          <a:bodyPr wrap="square" lIns="0" tIns="0" rIns="0" bIns="0" anchor="t">
            <a:noAutofit/>
          </a:bodyPr>
          <a:lstStyle/>
          <a:p>
            <a:pPr algn="l">
              <a:buNone/>
            </a:pPr>
            <a:r>
              <a:rPr lang="en-US" sz="1100" b="1" dirty="0">
                <a:solidFill>
                  <a:srgbClr val="4A00E2"/>
                </a:solidFill>
                <a:latin typeface="Arial"/>
                <a:cs typeface="Arial"/>
              </a:rPr>
              <a:t>THE DECISION</a:t>
            </a:r>
          </a:p>
        </p:txBody>
      </p:sp>
      <p:sp>
        <p:nvSpPr>
          <p:cNvPr id="112" name="node"/>
          <p:cNvSpPr/>
          <p:nvPr/>
        </p:nvSpPr>
        <p:spPr>
          <a:xfrm>
            <a:off x="1117600" y="2235200"/>
            <a:ext cx="228600" cy="228600"/>
          </a:xfrm>
          <a:prstGeom prst="rect">
            <a:avLst/>
          </a:prstGeom>
          <a:solidFill>
            <a:srgbClr val="110057"/>
          </a:solidFill>
          <a:ln>
            <a:noFill/>
          </a:ln>
        </p:spPr>
        <p:txBody>
          <a:bodyPr/>
          <a:lstStyle/>
          <a:p>
            <a:endParaRPr/>
          </a:p>
        </p:txBody>
      </p:sp>
      <p:sp>
        <p:nvSpPr>
          <p:cNvPr id="113" name="taken"/>
          <p:cNvSpPr/>
          <p:nvPr/>
        </p:nvSpPr>
        <p:spPr>
          <a:xfrm>
            <a:off x="1422400" y="2006600"/>
            <a:ext cx="2946400" cy="381000"/>
          </a:xfrm>
          <a:prstGeom prst="rightArrow">
            <a:avLst>
              <a:gd name="adj1" fmla="val 50000"/>
              <a:gd name="adj2" fmla="val 45000"/>
            </a:avLst>
          </a:prstGeom>
          <a:solidFill>
            <a:srgbClr val="4A00E2"/>
          </a:solidFill>
          <a:ln>
            <a:noFill/>
          </a:ln>
        </p:spPr>
        <p:txBody>
          <a:bodyPr lIns="91440" anchor="ctr"/>
          <a:lstStyle/>
          <a:p>
            <a:pPr algn="l"/>
            <a:r>
              <a:rPr lang="en-US" sz="1300" b="1" dirty="0">
                <a:solidFill>
                  <a:srgbClr val="FFFFFF"/>
                </a:solidFill>
                <a:latin typeface="Arial"/>
                <a:cs typeface="Arial"/>
              </a:rPr>
              <a:t>Path taken — outcome seen</a:t>
            </a:r>
          </a:p>
        </p:txBody>
      </p:sp>
      <p:sp>
        <p:nvSpPr>
          <p:cNvPr id="114" name="nottaken"/>
          <p:cNvSpPr/>
          <p:nvPr/>
        </p:nvSpPr>
        <p:spPr>
          <a:xfrm>
            <a:off x="1422400" y="2540000"/>
            <a:ext cx="2946400" cy="381000"/>
          </a:xfrm>
          <a:prstGeom prst="rightArrow">
            <a:avLst>
              <a:gd name="adj1" fmla="val 50000"/>
              <a:gd name="adj2" fmla="val 45000"/>
            </a:avLst>
          </a:prstGeom>
          <a:noFill/>
          <a:ln w="19050">
            <a:solidFill>
              <a:srgbClr val="A8A0C8"/>
            </a:solidFill>
            <a:prstDash val="dash"/>
          </a:ln>
        </p:spPr>
        <p:txBody>
          <a:bodyPr lIns="91440" anchor="ctr"/>
          <a:lstStyle/>
          <a:p>
            <a:pPr algn="l"/>
            <a:r>
              <a:rPr lang="en-US" sz="1300" b="1" dirty="0">
                <a:solidFill>
                  <a:srgbClr val="8A82A8"/>
                </a:solidFill>
                <a:latin typeface="Arial"/>
                <a:cs typeface="Arial"/>
              </a:rPr>
              <a:t>Path not taken — never seen</a:t>
            </a:r>
          </a:p>
        </p:txBody>
      </p:sp>
      <p:sp>
        <p:nvSpPr>
          <p:cNvPr id="115" name="leftnote"/>
          <p:cNvSpPr txBox="1"/>
          <p:nvPr/>
        </p:nvSpPr>
        <p:spPr>
          <a:xfrm>
            <a:off x="1066800" y="3098800"/>
            <a:ext cx="3302000" cy="508000"/>
          </a:xfrm>
          <a:prstGeom prst="rect">
            <a:avLst/>
          </a:prstGeom>
          <a:noFill/>
        </p:spPr>
        <p:txBody>
          <a:bodyPr wrap="square" lIns="0" tIns="0" rIns="0" bIns="0" anchor="t">
            <a:noAutofit/>
          </a:bodyPr>
          <a:lstStyle/>
          <a:p>
            <a:pPr algn="l">
              <a:buNone/>
            </a:pPr>
            <a:r>
              <a:rPr lang="en-US" sz="1300" dirty="0">
                <a:solidFill>
                  <a:srgbClr val="4A4170"/>
                </a:solidFill>
                <a:latin typeface="Arial"/>
                <a:cs typeface="Arial"/>
              </a:rPr>
              <a:t>We choose one action; the other futures never reveal their results.</a:t>
            </a:r>
          </a:p>
        </p:txBody>
      </p:sp>
      <p:sp>
        <p:nvSpPr>
          <p:cNvPr id="120" name="rightbg"/>
          <p:cNvSpPr/>
          <p:nvPr/>
        </p:nvSpPr>
        <p:spPr>
          <a:xfrm>
            <a:off x="4978400" y="1498600"/>
            <a:ext cx="3352800" cy="2235200"/>
          </a:xfrm>
          <a:prstGeom prst="roundRect">
            <a:avLst>
              <a:gd name="adj" fmla="val 9000"/>
            </a:avLst>
          </a:prstGeom>
          <a:solidFill>
            <a:srgbClr val="EDE7FF"/>
          </a:solidFill>
          <a:ln w="19050">
            <a:solidFill>
              <a:srgbClr val="4A00E2"/>
            </a:solidFill>
          </a:ln>
        </p:spPr>
        <p:txBody>
          <a:bodyPr/>
          <a:lstStyle/>
          <a:p>
            <a:endParaRPr/>
          </a:p>
        </p:txBody>
      </p:sp>
      <p:sp>
        <p:nvSpPr>
          <p:cNvPr id="121" name="righthead"/>
          <p:cNvSpPr txBox="1"/>
          <p:nvPr/>
        </p:nvSpPr>
        <p:spPr>
          <a:xfrm>
            <a:off x="5232400" y="1651000"/>
            <a:ext cx="2844800" cy="203200"/>
          </a:xfrm>
          <a:prstGeom prst="rect">
            <a:avLst/>
          </a:prstGeom>
          <a:noFill/>
        </p:spPr>
        <p:txBody>
          <a:bodyPr wrap="square" lIns="0" tIns="0" rIns="0" bIns="0" anchor="t">
            <a:noAutofit/>
          </a:bodyPr>
          <a:lstStyle/>
          <a:p>
            <a:pPr algn="l">
              <a:buNone/>
            </a:pPr>
            <a:r>
              <a:rPr lang="en-US" sz="1100" b="1" dirty="0">
                <a:solidFill>
                  <a:srgbClr val="4A00E2"/>
                </a:solidFill>
                <a:latin typeface="Arial"/>
                <a:cs typeface="Arial"/>
              </a:rPr>
              <a:t>LIKE POKER</a:t>
            </a:r>
          </a:p>
        </p:txBody>
      </p:sp>
      <p:sp>
        <p:nvSpPr>
          <p:cNvPr id="122" name="rightbody"/>
          <p:cNvSpPr txBox="1"/>
          <p:nvPr/>
        </p:nvSpPr>
        <p:spPr>
          <a:xfrm>
            <a:off x="5232400" y="1955800"/>
            <a:ext cx="2844800" cy="1651000"/>
          </a:xfrm>
          <a:prstGeom prst="rect">
            <a:avLst/>
          </a:prstGeom>
          <a:noFill/>
        </p:spPr>
        <p:txBody>
          <a:bodyPr wrap="square" lIns="0" tIns="0" rIns="0" bIns="0" anchor="t">
            <a:noAutofit/>
          </a:bodyPr>
          <a:lstStyle/>
          <a:p>
            <a:pPr algn="l">
              <a:buNone/>
            </a:pPr>
            <a:r>
              <a:rPr lang="en-US" sz="1400" b="1" dirty="0">
                <a:solidFill>
                  <a:srgbClr val="110057"/>
                </a:solidFill>
                <a:latin typeface="Arial"/>
                <a:cs typeface="Arial"/>
              </a:rPr>
              <a:t>You don’t control the cards — you control the bet.</a:t>
            </a:r>
          </a:p>
          <a:p>
            <a:pPr algn="l">
              <a:spcBef>
                <a:spcPts val="600"/>
              </a:spcBef>
              <a:buNone/>
            </a:pPr>
            <a:r>
              <a:rPr lang="en-US" sz="1300" dirty="0">
                <a:solidFill>
                  <a:srgbClr val="4A4170"/>
                </a:solidFill>
                <a:latin typeface="Arial"/>
                <a:cs typeface="Arial"/>
              </a:rPr>
              <a:t>Good decisions play the odds toward outcomes you can’t yet see.</a:t>
            </a:r>
          </a:p>
        </p:txBody>
      </p:sp>
      <p:sp>
        <p:nvSpPr>
          <p:cNvPr id="130" name="band"/>
          <p:cNvSpPr/>
          <p:nvPr/>
        </p:nvSpPr>
        <p:spPr>
          <a:xfrm>
            <a:off x="812800" y="3911600"/>
            <a:ext cx="7518400" cy="660400"/>
          </a:xfrm>
          <a:prstGeom prst="rect">
            <a:avLst/>
          </a:prstGeom>
          <a:solidFill>
            <a:srgbClr val="110057"/>
          </a:solidFill>
          <a:ln>
            <a:noFill/>
          </a:ln>
        </p:spPr>
        <p:txBody>
          <a:bodyPr/>
          <a:lstStyle/>
          <a:p>
            <a:endParaRPr/>
          </a:p>
        </p:txBody>
      </p:sp>
      <p:sp>
        <p:nvSpPr>
          <p:cNvPr id="131" name="bandtxt"/>
          <p:cNvSpPr txBox="1"/>
          <p:nvPr/>
        </p:nvSpPr>
        <p:spPr>
          <a:xfrm>
            <a:off x="1066800" y="4013200"/>
            <a:ext cx="7010400" cy="457200"/>
          </a:xfrm>
          <a:prstGeom prst="rect">
            <a:avLst/>
          </a:prstGeom>
          <a:noFill/>
        </p:spPr>
        <p:txBody>
          <a:bodyPr wrap="square" lIns="0" tIns="0" rIns="0" bIns="0" anchor="ctr">
            <a:noAutofit/>
          </a:bodyPr>
          <a:lstStyle/>
          <a:p>
            <a:pPr algn="l">
              <a:buNone/>
            </a:pPr>
            <a:r>
              <a:rPr lang="en-US" sz="1500" b="1" dirty="0">
                <a:solidFill>
                  <a:srgbClr val="FFFFFF"/>
                </a:solidFill>
                <a:latin typeface="Arial"/>
                <a:cs typeface="Arial"/>
              </a:rPr>
              <a:t>Judge the decision by the odds it played, not only by the one outcome we happened to observe.</a:t>
            </a:r>
          </a:p>
        </p:txBody>
      </p:sp>
      <p:sp>
        <p:nvSpPr>
          <p:cNvPr id="132" name="footer"/>
          <p:cNvSpPr txBox="1"/>
          <p:nvPr/>
        </p:nvSpPr>
        <p:spPr>
          <a:xfrm>
            <a:off x="635000" y="4876800"/>
            <a:ext cx="7112000" cy="152400"/>
          </a:xfrm>
          <a:prstGeom prst="rect">
            <a:avLst/>
          </a:prstGeom>
          <a:noFill/>
        </p:spPr>
        <p:txBody>
          <a:bodyPr wrap="square" lIns="0" tIns="0" rIns="0" bIns="0" anchor="t">
            <a:noAutofit/>
          </a:bodyPr>
          <a:lstStyle/>
          <a:p>
            <a:pPr algn="l">
              <a:buNone/>
            </a:pPr>
            <a:r>
              <a:rPr lang="en-US" sz="900" dirty="0">
                <a:solidFill>
                  <a:srgbClr val="8A829E"/>
                </a:solidFill>
                <a:latin typeface="Arial"/>
                <a:cs typeface="Arial"/>
              </a:rPr>
              <a:t>Decision quality vs. outcome; counterfactual framing.</a:t>
            </a:r>
          </a:p>
        </p:txBody>
      </p:sp>
      <p:pic>
        <p:nvPicPr>
          <p:cNvPr id="133" name="Graphic 133" descr="Poker club suit motif"/>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23200" y="1625600"/>
            <a:ext cx="330200" cy="330200"/>
          </a:xfrm>
          <a:prstGeom prst="rect">
            <a:avLst/>
          </a:prstGeom>
        </p:spPr>
      </p:pic>
    </p:spTree>
    <p:extLst>
      <p:ext uri="{BB962C8B-B14F-4D97-AF65-F5344CB8AC3E}">
        <p14:creationId xmlns:p14="http://schemas.microsoft.com/office/powerpoint/2010/main" val="2232388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lean white background">
            <a:extLst>
              <a:ext uri="{FF2B5EF4-FFF2-40B4-BE49-F238E27FC236}">
                <a16:creationId xmlns:a16="http://schemas.microsoft.com/office/drawing/2014/main" id="{9B446110-8AF2-2644-B4B6-11275A28CF86}"/>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3" name="Left purple rail">
            <a:extLst>
              <a:ext uri="{FF2B5EF4-FFF2-40B4-BE49-F238E27FC236}">
                <a16:creationId xmlns:a16="http://schemas.microsoft.com/office/drawing/2014/main" id="{D2CA1A53-C6B6-B545-88F5-3E0B288B804D}"/>
              </a:ext>
            </a:extLst>
          </p:cNvPr>
          <p:cNvSpPr/>
          <p:nvPr/>
        </p:nvSpPr>
        <p:spPr>
          <a:xfrm>
            <a:off x="361950" y="742950"/>
            <a:ext cx="57150" cy="3638550"/>
          </a:xfrm>
          <a:prstGeom prst="rect">
            <a:avLst/>
          </a:prstGeom>
          <a:solidFill>
            <a:srgbClr val="4B00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4" name="Kicker">
            <a:extLst>
              <a:ext uri="{FF2B5EF4-FFF2-40B4-BE49-F238E27FC236}">
                <a16:creationId xmlns:a16="http://schemas.microsoft.com/office/drawing/2014/main" id="{74FFE5BD-0B66-BC49-90B5-7601F8C829A9}"/>
              </a:ext>
            </a:extLst>
          </p:cNvPr>
          <p:cNvSpPr txBox="1"/>
          <p:nvPr/>
        </p:nvSpPr>
        <p:spPr>
          <a:xfrm>
            <a:off x="609600" y="317500"/>
            <a:ext cx="2794000" cy="152400"/>
          </a:xfrm>
          <a:prstGeom prst="rect">
            <a:avLst/>
          </a:prstGeom>
          <a:noFill/>
        </p:spPr>
        <p:txBody>
          <a:bodyPr wrap="square" lIns="0" tIns="0" rIns="0" bIns="0"/>
          <a:lstStyle/>
          <a:p>
            <a:r>
              <a:rPr lang="en-US" sz="1100" b="1">
                <a:solidFill>
                  <a:srgbClr val="4A00E2"/>
                </a:solidFill>
                <a:latin typeface="Arial"/>
                <a:ea typeface="Arial"/>
                <a:cs typeface="Arial"/>
              </a:rPr>
              <a:t>ACT | RISK-BASED</a:t>
            </a:r>
          </a:p>
        </p:txBody>
      </p:sp>
      <p:sp>
        <p:nvSpPr>
          <p:cNvPr id="105" name="Title">
            <a:extLst>
              <a:ext uri="{FF2B5EF4-FFF2-40B4-BE49-F238E27FC236}">
                <a16:creationId xmlns:a16="http://schemas.microsoft.com/office/drawing/2014/main" id="{592C27E6-4C52-EC41-91E4-68973DB7EFC9}"/>
              </a:ext>
            </a:extLst>
          </p:cNvPr>
          <p:cNvSpPr txBox="1"/>
          <p:nvPr/>
        </p:nvSpPr>
        <p:spPr>
          <a:xfrm>
            <a:off x="609600" y="533400"/>
            <a:ext cx="7747000" cy="279400"/>
          </a:xfrm>
          <a:prstGeom prst="rect">
            <a:avLst/>
          </a:prstGeom>
          <a:noFill/>
        </p:spPr>
        <p:txBody>
          <a:bodyPr wrap="square" lIns="0" tIns="0" rIns="0" bIns="0"/>
          <a:lstStyle/>
          <a:p>
            <a:r>
              <a:rPr lang="en-US" sz="2400" b="1">
                <a:solidFill>
                  <a:srgbClr val="110057"/>
                </a:solidFill>
                <a:latin typeface="Arial"/>
                <a:ea typeface="Arial"/>
                <a:cs typeface="Arial"/>
              </a:rPr>
              <a:t>Baseline risk is a ceiling on benefit</a:t>
            </a:r>
          </a:p>
        </p:txBody>
      </p:sp>
      <p:sp>
        <p:nvSpPr>
          <p:cNvPr id="106" name="Footer">
            <a:extLst>
              <a:ext uri="{FF2B5EF4-FFF2-40B4-BE49-F238E27FC236}">
                <a16:creationId xmlns:a16="http://schemas.microsoft.com/office/drawing/2014/main" id="{BDDF11C5-B101-F341-9221-D19A7C077F87}"/>
              </a:ext>
            </a:extLst>
          </p:cNvPr>
          <p:cNvSpPr txBox="1"/>
          <p:nvPr/>
        </p:nvSpPr>
        <p:spPr>
          <a:xfrm>
            <a:off x="609600" y="4927600"/>
            <a:ext cx="1397000" cy="127000"/>
          </a:xfrm>
          <a:prstGeom prst="rect">
            <a:avLst/>
          </a:prstGeom>
          <a:noFill/>
        </p:spPr>
        <p:txBody>
          <a:bodyPr wrap="square" lIns="0" tIns="0" rIns="0" bIns="0"/>
          <a:lstStyle/>
          <a:p>
            <a:r>
              <a:rPr lang="en-US" sz="750">
                <a:solidFill>
                  <a:srgbClr val="6B7280"/>
                </a:solidFill>
                <a:latin typeface="Arial"/>
                <a:ea typeface="Arial"/>
                <a:cs typeface="Arial"/>
              </a:rPr>
              <a:t>Kent 2023</a:t>
            </a:r>
          </a:p>
        </p:txBody>
      </p:sp>
      <p:sp>
        <p:nvSpPr>
          <p:cNvPr id="107" name="Caliper explanation">
            <a:extLst>
              <a:ext uri="{FF2B5EF4-FFF2-40B4-BE49-F238E27FC236}">
                <a16:creationId xmlns:a16="http://schemas.microsoft.com/office/drawing/2014/main" id="{D8A2C010-64DD-2B49-A9BE-35E0E7CB49D1}"/>
              </a:ext>
            </a:extLst>
          </p:cNvPr>
          <p:cNvSpPr txBox="1"/>
          <p:nvPr/>
        </p:nvSpPr>
        <p:spPr>
          <a:xfrm>
            <a:off x="2032000" y="1117600"/>
            <a:ext cx="2984500" cy="330200"/>
          </a:xfrm>
          <a:prstGeom prst="rect">
            <a:avLst/>
          </a:prstGeom>
          <a:noFill/>
        </p:spPr>
        <p:txBody>
          <a:bodyPr wrap="square" lIns="0" tIns="0" rIns="0" bIns="0"/>
          <a:lstStyle/>
          <a:p>
            <a:r>
              <a:rPr lang="en-US" sz="1150" b="1">
                <a:solidFill>
                  <a:srgbClr val="170A5A"/>
                </a:solidFill>
                <a:latin typeface="Arial"/>
                <a:ea typeface="Arial"/>
                <a:cs typeface="Arial"/>
              </a:rPr>
              <a:t>Calipers mark the only group
that can possibly benefit</a:t>
            </a:r>
          </a:p>
        </p:txBody>
      </p:sp>
      <p:sp>
        <p:nvSpPr>
          <p:cNvPr id="108" name="Remaining label">
            <a:extLst>
              <a:ext uri="{FF2B5EF4-FFF2-40B4-BE49-F238E27FC236}">
                <a16:creationId xmlns:a16="http://schemas.microsoft.com/office/drawing/2014/main" id="{D4BFB158-DE8F-5E40-BEDF-E7BFECAEC680}"/>
              </a:ext>
            </a:extLst>
          </p:cNvPr>
          <p:cNvSpPr txBox="1"/>
          <p:nvPr/>
        </p:nvSpPr>
        <p:spPr>
          <a:xfrm>
            <a:off x="5461000" y="1117600"/>
            <a:ext cx="2921000" cy="330200"/>
          </a:xfrm>
          <a:prstGeom prst="rect">
            <a:avLst/>
          </a:prstGeom>
          <a:noFill/>
        </p:spPr>
        <p:txBody>
          <a:bodyPr wrap="square" lIns="0" tIns="0" rIns="0" bIns="0"/>
          <a:lstStyle/>
          <a:p>
            <a:r>
              <a:rPr lang="en-US" sz="1150" b="1">
                <a:solidFill>
                  <a:srgbClr val="170A5A"/>
                </a:solidFill>
                <a:latin typeface="Arial"/>
                <a:ea typeface="Arial"/>
                <a:cs typeface="Arial"/>
              </a:rPr>
              <a:t>remaining patients would
never have the outcome</a:t>
            </a:r>
          </a:p>
        </p:txBody>
      </p:sp>
      <p:sp>
        <p:nvSpPr>
          <p:cNvPr id="109" name="High risk label">
            <a:extLst>
              <a:ext uri="{FF2B5EF4-FFF2-40B4-BE49-F238E27FC236}">
                <a16:creationId xmlns:a16="http://schemas.microsoft.com/office/drawing/2014/main" id="{1DA56589-69CB-B846-B853-F2DA6C070178}"/>
              </a:ext>
            </a:extLst>
          </p:cNvPr>
          <p:cNvSpPr txBox="1"/>
          <p:nvPr/>
        </p:nvSpPr>
        <p:spPr>
          <a:xfrm>
            <a:off x="609600" y="1549400"/>
            <a:ext cx="1219200" cy="203200"/>
          </a:xfrm>
          <a:prstGeom prst="rect">
            <a:avLst/>
          </a:prstGeom>
          <a:noFill/>
        </p:spPr>
        <p:txBody>
          <a:bodyPr wrap="square" lIns="0" tIns="0" rIns="0" bIns="0"/>
          <a:lstStyle/>
          <a:p>
            <a:r>
              <a:rPr lang="en-US" sz="1400" b="1">
                <a:solidFill>
                  <a:srgbClr val="170A5A"/>
                </a:solidFill>
                <a:latin typeface="Arial"/>
                <a:ea typeface="Arial"/>
                <a:cs typeface="Arial"/>
              </a:rPr>
              <a:t>High risk</a:t>
            </a:r>
          </a:p>
        </p:txBody>
      </p:sp>
      <p:sp>
        <p:nvSpPr>
          <p:cNvPr id="110" name="High risk percent">
            <a:extLst>
              <a:ext uri="{FF2B5EF4-FFF2-40B4-BE49-F238E27FC236}">
                <a16:creationId xmlns:a16="http://schemas.microsoft.com/office/drawing/2014/main" id="{E155ADBB-77F0-794B-9652-8D126CE4F222}"/>
              </a:ext>
            </a:extLst>
          </p:cNvPr>
          <p:cNvSpPr txBox="1"/>
          <p:nvPr/>
        </p:nvSpPr>
        <p:spPr>
          <a:xfrm>
            <a:off x="609600" y="1790700"/>
            <a:ext cx="1219200" cy="177800"/>
          </a:xfrm>
          <a:prstGeom prst="rect">
            <a:avLst/>
          </a:prstGeom>
          <a:noFill/>
        </p:spPr>
        <p:txBody>
          <a:bodyPr wrap="square" lIns="0" tIns="0" rIns="0" bIns="0"/>
          <a:lstStyle/>
          <a:p>
            <a:r>
              <a:rPr lang="en-US" sz="1300" b="1">
                <a:solidFill>
                  <a:srgbClr val="EF4444"/>
                </a:solidFill>
                <a:latin typeface="Arial"/>
                <a:ea typeface="Arial"/>
                <a:cs typeface="Arial"/>
              </a:rPr>
              <a:t>~33%</a:t>
            </a:r>
          </a:p>
        </p:txBody>
      </p:sp>
      <p:sp>
        <p:nvSpPr>
          <p:cNvPr id="111" name="High risk caliper span">
            <a:extLst>
              <a:ext uri="{FF2B5EF4-FFF2-40B4-BE49-F238E27FC236}">
                <a16:creationId xmlns:a16="http://schemas.microsoft.com/office/drawing/2014/main" id="{4A24D146-4CF3-9740-8104-AF80EB6FBFE8}"/>
              </a:ext>
            </a:extLst>
          </p:cNvPr>
          <p:cNvSpPr/>
          <p:nvPr/>
        </p:nvSpPr>
        <p:spPr>
          <a:xfrm>
            <a:off x="2032000" y="1498600"/>
            <a:ext cx="1778000" cy="1905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2" name="High risk caliper left tick">
            <a:extLst>
              <a:ext uri="{FF2B5EF4-FFF2-40B4-BE49-F238E27FC236}">
                <a16:creationId xmlns:a16="http://schemas.microsoft.com/office/drawing/2014/main" id="{C39BC75F-B1E2-6844-86BA-0FEBFA8CFCEF}"/>
              </a:ext>
            </a:extLst>
          </p:cNvPr>
          <p:cNvSpPr/>
          <p:nvPr/>
        </p:nvSpPr>
        <p:spPr>
          <a:xfrm>
            <a:off x="2032000" y="1485900"/>
            <a:ext cx="19050" cy="11430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3" name="High risk caliper right tick">
            <a:extLst>
              <a:ext uri="{FF2B5EF4-FFF2-40B4-BE49-F238E27FC236}">
                <a16:creationId xmlns:a16="http://schemas.microsoft.com/office/drawing/2014/main" id="{5A5EAF51-0117-3541-9FC7-FA942C0A4BF6}"/>
              </a:ext>
            </a:extLst>
          </p:cNvPr>
          <p:cNvSpPr/>
          <p:nvPr/>
        </p:nvSpPr>
        <p:spPr>
          <a:xfrm>
            <a:off x="3790950" y="1485900"/>
            <a:ext cx="19050" cy="11430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4" name="High risk boundary percent">
            <a:extLst>
              <a:ext uri="{FF2B5EF4-FFF2-40B4-BE49-F238E27FC236}">
                <a16:creationId xmlns:a16="http://schemas.microsoft.com/office/drawing/2014/main" id="{1BAC59B4-6CC2-3F46-BB4E-BB2213676F9C}"/>
              </a:ext>
            </a:extLst>
          </p:cNvPr>
          <p:cNvSpPr txBox="1"/>
          <p:nvPr/>
        </p:nvSpPr>
        <p:spPr>
          <a:xfrm>
            <a:off x="3886200" y="1397000"/>
            <a:ext cx="533400" cy="127000"/>
          </a:xfrm>
          <a:prstGeom prst="rect">
            <a:avLst/>
          </a:prstGeom>
          <a:noFill/>
        </p:spPr>
        <p:txBody>
          <a:bodyPr wrap="square" lIns="0" tIns="0" rIns="0" bIns="0"/>
          <a:lstStyle/>
          <a:p>
            <a:r>
              <a:rPr lang="en-US" sz="1200" b="1">
                <a:solidFill>
                  <a:srgbClr val="EF4444"/>
                </a:solidFill>
                <a:latin typeface="Arial"/>
                <a:ea typeface="Arial"/>
                <a:cs typeface="Arial"/>
              </a:rPr>
              <a:t>~33</a:t>
            </a:r>
          </a:p>
        </p:txBody>
      </p:sp>
      <p:sp>
        <p:nvSpPr>
          <p:cNvPr id="115" name="High risk would get outcome">
            <a:extLst>
              <a:ext uri="{FF2B5EF4-FFF2-40B4-BE49-F238E27FC236}">
                <a16:creationId xmlns:a16="http://schemas.microsoft.com/office/drawing/2014/main" id="{A8BA4FAA-2E8D-B64F-8422-6719C2F5AA52}"/>
              </a:ext>
            </a:extLst>
          </p:cNvPr>
          <p:cNvSpPr/>
          <p:nvPr/>
        </p:nvSpPr>
        <p:spPr>
          <a:xfrm>
            <a:off x="2032000" y="1625600"/>
            <a:ext cx="1778000" cy="304800"/>
          </a:xfrm>
          <a:prstGeom prst="rect">
            <a:avLst/>
          </a:prstGeom>
          <a:solidFill>
            <a:srgbClr val="FF5A5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6" name="High risk would never">
            <a:extLst>
              <a:ext uri="{FF2B5EF4-FFF2-40B4-BE49-F238E27FC236}">
                <a16:creationId xmlns:a16="http://schemas.microsoft.com/office/drawing/2014/main" id="{1E2BB6EE-B4F7-0C4E-8011-0E12D5CC50FC}"/>
              </a:ext>
            </a:extLst>
          </p:cNvPr>
          <p:cNvSpPr/>
          <p:nvPr/>
        </p:nvSpPr>
        <p:spPr>
          <a:xfrm>
            <a:off x="3810000" y="1625600"/>
            <a:ext cx="3619500" cy="304800"/>
          </a:xfrm>
          <a:prstGeom prst="rect">
            <a:avLst/>
          </a:prstGeom>
          <a:solidFill>
            <a:srgbClr val="E7EDF2"/>
          </a:solidFill>
          <a:ln w="5080">
            <a:solidFill>
              <a:srgbClr val="D1D9E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7" name="High risk red segment label">
            <a:extLst>
              <a:ext uri="{FF2B5EF4-FFF2-40B4-BE49-F238E27FC236}">
                <a16:creationId xmlns:a16="http://schemas.microsoft.com/office/drawing/2014/main" id="{E6D3A55B-6ADC-9743-8024-4E4EFD903536}"/>
              </a:ext>
            </a:extLst>
          </p:cNvPr>
          <p:cNvSpPr txBox="1"/>
          <p:nvPr/>
        </p:nvSpPr>
        <p:spPr>
          <a:xfrm>
            <a:off x="2032000" y="1625600"/>
            <a:ext cx="1778000" cy="304800"/>
          </a:xfrm>
          <a:prstGeom prst="rect">
            <a:avLst/>
          </a:prstGeom>
          <a:noFill/>
        </p:spPr>
        <p:txBody>
          <a:bodyPr wrap="square" lIns="0" tIns="0" rIns="0" bIns="0" anchor="ctr" anchorCtr="0"/>
          <a:lstStyle/>
          <a:p>
            <a:pPr algn="ctr"/>
            <a:r>
              <a:rPr lang="en-US" sz="1000" b="1">
                <a:solidFill>
                  <a:srgbClr val="FFFFFF"/>
                </a:solidFill>
                <a:latin typeface="Arial"/>
                <a:ea typeface="Arial"/>
                <a:cs typeface="Arial"/>
              </a:rPr>
              <a:t>would get
outcome</a:t>
            </a:r>
          </a:p>
        </p:txBody>
      </p:sp>
      <p:sp>
        <p:nvSpPr>
          <p:cNvPr id="118" name="High risk gray segment label">
            <a:extLst>
              <a:ext uri="{FF2B5EF4-FFF2-40B4-BE49-F238E27FC236}">
                <a16:creationId xmlns:a16="http://schemas.microsoft.com/office/drawing/2014/main" id="{4613BF10-3F88-9A43-824E-CB42039CCB32}"/>
              </a:ext>
            </a:extLst>
          </p:cNvPr>
          <p:cNvSpPr txBox="1"/>
          <p:nvPr/>
        </p:nvSpPr>
        <p:spPr>
          <a:xfrm>
            <a:off x="4000500" y="1625600"/>
            <a:ext cx="3048000" cy="304800"/>
          </a:xfrm>
          <a:prstGeom prst="rect">
            <a:avLst/>
          </a:prstGeom>
          <a:noFill/>
        </p:spPr>
        <p:txBody>
          <a:bodyPr wrap="square" lIns="0" tIns="0" rIns="0" bIns="0" anchor="ctr" anchorCtr="0"/>
          <a:lstStyle/>
          <a:p>
            <a:pPr algn="ctr"/>
            <a:r>
              <a:rPr lang="en-US" sz="1100" b="1">
                <a:solidFill>
                  <a:srgbClr val="170A5A"/>
                </a:solidFill>
                <a:latin typeface="Arial"/>
                <a:ea typeface="Arial"/>
                <a:cs typeface="Arial"/>
              </a:rPr>
              <a:t>would never have outcome</a:t>
            </a:r>
          </a:p>
        </p:txBody>
      </p:sp>
      <p:sp>
        <p:nvSpPr>
          <p:cNvPr id="119" name="Medium risk label">
            <a:extLst>
              <a:ext uri="{FF2B5EF4-FFF2-40B4-BE49-F238E27FC236}">
                <a16:creationId xmlns:a16="http://schemas.microsoft.com/office/drawing/2014/main" id="{14137511-3976-F448-A6AE-8CB38F88D12C}"/>
              </a:ext>
            </a:extLst>
          </p:cNvPr>
          <p:cNvSpPr txBox="1"/>
          <p:nvPr/>
        </p:nvSpPr>
        <p:spPr>
          <a:xfrm>
            <a:off x="609600" y="2374900"/>
            <a:ext cx="1219200" cy="203200"/>
          </a:xfrm>
          <a:prstGeom prst="rect">
            <a:avLst/>
          </a:prstGeom>
          <a:noFill/>
        </p:spPr>
        <p:txBody>
          <a:bodyPr wrap="square" lIns="0" tIns="0" rIns="0" bIns="0"/>
          <a:lstStyle/>
          <a:p>
            <a:pPr algn="l"/>
            <a:r>
              <a:rPr lang="en-US" sz="1400" b="1" dirty="0">
                <a:solidFill>
                  <a:srgbClr val="1B0758"/>
                </a:solidFill>
                <a:latin typeface="Arial"/>
                <a:cs typeface="Arial"/>
              </a:rPr>
              <a:t>Medium risk</a:t>
            </a:r>
          </a:p>
        </p:txBody>
      </p:sp>
      <p:sp>
        <p:nvSpPr>
          <p:cNvPr id="120" name="Medium risk percent">
            <a:extLst>
              <a:ext uri="{FF2B5EF4-FFF2-40B4-BE49-F238E27FC236}">
                <a16:creationId xmlns:a16="http://schemas.microsoft.com/office/drawing/2014/main" id="{1615E9B8-920A-8F40-A7CA-B8CC35740754}"/>
              </a:ext>
            </a:extLst>
          </p:cNvPr>
          <p:cNvSpPr txBox="1"/>
          <p:nvPr/>
        </p:nvSpPr>
        <p:spPr>
          <a:xfrm>
            <a:off x="609600" y="2616200"/>
            <a:ext cx="1219200" cy="177800"/>
          </a:xfrm>
          <a:prstGeom prst="rect">
            <a:avLst/>
          </a:prstGeom>
          <a:noFill/>
        </p:spPr>
        <p:txBody>
          <a:bodyPr wrap="square" lIns="0" tIns="0" rIns="0" bIns="0"/>
          <a:lstStyle/>
          <a:p>
            <a:r>
              <a:rPr lang="en-US" sz="1300" b="1">
                <a:solidFill>
                  <a:srgbClr val="EF4444"/>
                </a:solidFill>
                <a:latin typeface="Arial"/>
                <a:ea typeface="Arial"/>
                <a:cs typeface="Arial"/>
              </a:rPr>
              <a:t>~15%</a:t>
            </a:r>
          </a:p>
        </p:txBody>
      </p:sp>
      <p:sp>
        <p:nvSpPr>
          <p:cNvPr id="121" name="Medium risk caliper span">
            <a:extLst>
              <a:ext uri="{FF2B5EF4-FFF2-40B4-BE49-F238E27FC236}">
                <a16:creationId xmlns:a16="http://schemas.microsoft.com/office/drawing/2014/main" id="{A3DF0B57-6EE5-EE42-ABEE-289A7AE03A01}"/>
              </a:ext>
            </a:extLst>
          </p:cNvPr>
          <p:cNvSpPr/>
          <p:nvPr/>
        </p:nvSpPr>
        <p:spPr>
          <a:xfrm>
            <a:off x="2032000" y="2324100"/>
            <a:ext cx="812800" cy="1905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2" name="Medium risk caliper left tick">
            <a:extLst>
              <a:ext uri="{FF2B5EF4-FFF2-40B4-BE49-F238E27FC236}">
                <a16:creationId xmlns:a16="http://schemas.microsoft.com/office/drawing/2014/main" id="{882386B9-0E7D-0E42-AEF9-9AAAC9632ACC}"/>
              </a:ext>
            </a:extLst>
          </p:cNvPr>
          <p:cNvSpPr/>
          <p:nvPr/>
        </p:nvSpPr>
        <p:spPr>
          <a:xfrm>
            <a:off x="2032000" y="2311400"/>
            <a:ext cx="19050" cy="11430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3" name="Medium risk caliper right tick">
            <a:extLst>
              <a:ext uri="{FF2B5EF4-FFF2-40B4-BE49-F238E27FC236}">
                <a16:creationId xmlns:a16="http://schemas.microsoft.com/office/drawing/2014/main" id="{054163B5-7AF0-2C4A-93C7-8968F39AA2CE}"/>
              </a:ext>
            </a:extLst>
          </p:cNvPr>
          <p:cNvSpPr/>
          <p:nvPr/>
        </p:nvSpPr>
        <p:spPr>
          <a:xfrm>
            <a:off x="2825750" y="2311400"/>
            <a:ext cx="19050" cy="11430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4" name="Medium risk boundary percent">
            <a:extLst>
              <a:ext uri="{FF2B5EF4-FFF2-40B4-BE49-F238E27FC236}">
                <a16:creationId xmlns:a16="http://schemas.microsoft.com/office/drawing/2014/main" id="{0834BC2C-4CFD-584C-8F4F-FAF365833D40}"/>
              </a:ext>
            </a:extLst>
          </p:cNvPr>
          <p:cNvSpPr txBox="1"/>
          <p:nvPr/>
        </p:nvSpPr>
        <p:spPr>
          <a:xfrm>
            <a:off x="2908300" y="2222500"/>
            <a:ext cx="533400" cy="127000"/>
          </a:xfrm>
          <a:prstGeom prst="rect">
            <a:avLst/>
          </a:prstGeom>
          <a:noFill/>
        </p:spPr>
        <p:txBody>
          <a:bodyPr wrap="square" lIns="0" tIns="0" rIns="0" bIns="0"/>
          <a:lstStyle/>
          <a:p>
            <a:r>
              <a:rPr lang="en-US" sz="1200" b="1">
                <a:solidFill>
                  <a:srgbClr val="EF4444"/>
                </a:solidFill>
                <a:latin typeface="Arial"/>
                <a:ea typeface="Arial"/>
                <a:cs typeface="Arial"/>
              </a:rPr>
              <a:t>~15</a:t>
            </a:r>
          </a:p>
        </p:txBody>
      </p:sp>
      <p:sp>
        <p:nvSpPr>
          <p:cNvPr id="125" name="Medium risk would get outcome">
            <a:extLst>
              <a:ext uri="{FF2B5EF4-FFF2-40B4-BE49-F238E27FC236}">
                <a16:creationId xmlns:a16="http://schemas.microsoft.com/office/drawing/2014/main" id="{C1413A9B-AC8C-5243-8C8F-FC6B8D85A4F0}"/>
              </a:ext>
            </a:extLst>
          </p:cNvPr>
          <p:cNvSpPr/>
          <p:nvPr/>
        </p:nvSpPr>
        <p:spPr>
          <a:xfrm>
            <a:off x="2032000" y="2451100"/>
            <a:ext cx="812800" cy="304800"/>
          </a:xfrm>
          <a:prstGeom prst="rect">
            <a:avLst/>
          </a:prstGeom>
          <a:solidFill>
            <a:srgbClr val="FF5A5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6" name="Medium risk would never">
            <a:extLst>
              <a:ext uri="{FF2B5EF4-FFF2-40B4-BE49-F238E27FC236}">
                <a16:creationId xmlns:a16="http://schemas.microsoft.com/office/drawing/2014/main" id="{CE706125-FDAB-D24F-A864-E8ACAEB6D4F9}"/>
              </a:ext>
            </a:extLst>
          </p:cNvPr>
          <p:cNvSpPr/>
          <p:nvPr/>
        </p:nvSpPr>
        <p:spPr>
          <a:xfrm>
            <a:off x="2844800" y="2451100"/>
            <a:ext cx="4584700" cy="304800"/>
          </a:xfrm>
          <a:prstGeom prst="rect">
            <a:avLst/>
          </a:prstGeom>
          <a:solidFill>
            <a:srgbClr val="E7EDF2"/>
          </a:solidFill>
          <a:ln w="5080">
            <a:solidFill>
              <a:srgbClr val="D1D9E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7" name="Low risk label">
            <a:extLst>
              <a:ext uri="{FF2B5EF4-FFF2-40B4-BE49-F238E27FC236}">
                <a16:creationId xmlns:a16="http://schemas.microsoft.com/office/drawing/2014/main" id="{822D73D2-BC6F-1949-B1AB-D0176AC33FB6}"/>
              </a:ext>
            </a:extLst>
          </p:cNvPr>
          <p:cNvSpPr txBox="1"/>
          <p:nvPr/>
        </p:nvSpPr>
        <p:spPr>
          <a:xfrm>
            <a:off x="609600" y="3200400"/>
            <a:ext cx="1219200" cy="203200"/>
          </a:xfrm>
          <a:prstGeom prst="rect">
            <a:avLst/>
          </a:prstGeom>
          <a:noFill/>
        </p:spPr>
        <p:txBody>
          <a:bodyPr wrap="square" lIns="0" tIns="0" rIns="0" bIns="0"/>
          <a:lstStyle/>
          <a:p>
            <a:r>
              <a:rPr lang="en-US" sz="1400" b="1">
                <a:solidFill>
                  <a:srgbClr val="170A5A"/>
                </a:solidFill>
                <a:latin typeface="Arial"/>
                <a:ea typeface="Arial"/>
                <a:cs typeface="Arial"/>
              </a:rPr>
              <a:t>Low risk</a:t>
            </a:r>
          </a:p>
        </p:txBody>
      </p:sp>
      <p:sp>
        <p:nvSpPr>
          <p:cNvPr id="128" name="Low risk percent">
            <a:extLst>
              <a:ext uri="{FF2B5EF4-FFF2-40B4-BE49-F238E27FC236}">
                <a16:creationId xmlns:a16="http://schemas.microsoft.com/office/drawing/2014/main" id="{19C28EC0-5B4B-8D42-8C05-E24611E8A9DB}"/>
              </a:ext>
            </a:extLst>
          </p:cNvPr>
          <p:cNvSpPr txBox="1"/>
          <p:nvPr/>
        </p:nvSpPr>
        <p:spPr>
          <a:xfrm>
            <a:off x="609600" y="3441700"/>
            <a:ext cx="1219200" cy="177800"/>
          </a:xfrm>
          <a:prstGeom prst="rect">
            <a:avLst/>
          </a:prstGeom>
          <a:noFill/>
        </p:spPr>
        <p:txBody>
          <a:bodyPr wrap="square" lIns="0" tIns="0" rIns="0" bIns="0"/>
          <a:lstStyle/>
          <a:p>
            <a:r>
              <a:rPr lang="en-US" sz="1300" b="1">
                <a:solidFill>
                  <a:srgbClr val="EF4444"/>
                </a:solidFill>
                <a:latin typeface="Arial"/>
                <a:ea typeface="Arial"/>
                <a:cs typeface="Arial"/>
              </a:rPr>
              <a:t>~5%</a:t>
            </a:r>
          </a:p>
        </p:txBody>
      </p:sp>
      <p:sp>
        <p:nvSpPr>
          <p:cNvPr id="129" name="Low risk caliper span">
            <a:extLst>
              <a:ext uri="{FF2B5EF4-FFF2-40B4-BE49-F238E27FC236}">
                <a16:creationId xmlns:a16="http://schemas.microsoft.com/office/drawing/2014/main" id="{21EA77CF-4A22-3B4B-AC6A-68D1FF5F8B8D}"/>
              </a:ext>
            </a:extLst>
          </p:cNvPr>
          <p:cNvSpPr/>
          <p:nvPr/>
        </p:nvSpPr>
        <p:spPr>
          <a:xfrm>
            <a:off x="2032000" y="3149600"/>
            <a:ext cx="266700" cy="1905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0" name="Low risk caliper left tick">
            <a:extLst>
              <a:ext uri="{FF2B5EF4-FFF2-40B4-BE49-F238E27FC236}">
                <a16:creationId xmlns:a16="http://schemas.microsoft.com/office/drawing/2014/main" id="{A9ADECAA-35F5-924E-85FF-93C68E50B12A}"/>
              </a:ext>
            </a:extLst>
          </p:cNvPr>
          <p:cNvSpPr/>
          <p:nvPr/>
        </p:nvSpPr>
        <p:spPr>
          <a:xfrm>
            <a:off x="2032000" y="3136900"/>
            <a:ext cx="19050" cy="11430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1" name="Low risk caliper right tick">
            <a:extLst>
              <a:ext uri="{FF2B5EF4-FFF2-40B4-BE49-F238E27FC236}">
                <a16:creationId xmlns:a16="http://schemas.microsoft.com/office/drawing/2014/main" id="{D10605CE-B26F-5F40-BA4D-93E60E69F2FA}"/>
              </a:ext>
            </a:extLst>
          </p:cNvPr>
          <p:cNvSpPr/>
          <p:nvPr/>
        </p:nvSpPr>
        <p:spPr>
          <a:xfrm>
            <a:off x="2279650" y="3136900"/>
            <a:ext cx="19050" cy="114300"/>
          </a:xfrm>
          <a:prstGeom prst="rect">
            <a:avLst/>
          </a:prstGeom>
          <a:solidFill>
            <a:srgbClr val="2B196E"/>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2" name="Low risk boundary percent">
            <a:extLst>
              <a:ext uri="{FF2B5EF4-FFF2-40B4-BE49-F238E27FC236}">
                <a16:creationId xmlns:a16="http://schemas.microsoft.com/office/drawing/2014/main" id="{5A3B5143-2FDB-B84A-94B1-604099709DB2}"/>
              </a:ext>
            </a:extLst>
          </p:cNvPr>
          <p:cNvSpPr txBox="1"/>
          <p:nvPr/>
        </p:nvSpPr>
        <p:spPr>
          <a:xfrm>
            <a:off x="2362200" y="3048000"/>
            <a:ext cx="533400" cy="127000"/>
          </a:xfrm>
          <a:prstGeom prst="rect">
            <a:avLst/>
          </a:prstGeom>
          <a:noFill/>
        </p:spPr>
        <p:txBody>
          <a:bodyPr wrap="square" lIns="0" tIns="0" rIns="0" bIns="0"/>
          <a:lstStyle/>
          <a:p>
            <a:r>
              <a:rPr lang="en-US" sz="1200" b="1">
                <a:solidFill>
                  <a:srgbClr val="EF4444"/>
                </a:solidFill>
                <a:latin typeface="Arial"/>
                <a:ea typeface="Arial"/>
                <a:cs typeface="Arial"/>
              </a:rPr>
              <a:t>~5</a:t>
            </a:r>
          </a:p>
        </p:txBody>
      </p:sp>
      <p:sp>
        <p:nvSpPr>
          <p:cNvPr id="133" name="Low risk would get outcome">
            <a:extLst>
              <a:ext uri="{FF2B5EF4-FFF2-40B4-BE49-F238E27FC236}">
                <a16:creationId xmlns:a16="http://schemas.microsoft.com/office/drawing/2014/main" id="{ABE8AAE0-046A-D348-A53B-CBBD61A8A92E}"/>
              </a:ext>
            </a:extLst>
          </p:cNvPr>
          <p:cNvSpPr/>
          <p:nvPr/>
        </p:nvSpPr>
        <p:spPr>
          <a:xfrm>
            <a:off x="2032000" y="3276600"/>
            <a:ext cx="266700" cy="304800"/>
          </a:xfrm>
          <a:prstGeom prst="rect">
            <a:avLst/>
          </a:prstGeom>
          <a:solidFill>
            <a:srgbClr val="FF5A5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4" name="Low risk would never">
            <a:extLst>
              <a:ext uri="{FF2B5EF4-FFF2-40B4-BE49-F238E27FC236}">
                <a16:creationId xmlns:a16="http://schemas.microsoft.com/office/drawing/2014/main" id="{7B9BFB95-D972-0143-8829-7B47452FE0EA}"/>
              </a:ext>
            </a:extLst>
          </p:cNvPr>
          <p:cNvSpPr/>
          <p:nvPr/>
        </p:nvSpPr>
        <p:spPr>
          <a:xfrm>
            <a:off x="2298700" y="3276600"/>
            <a:ext cx="5130800" cy="304800"/>
          </a:xfrm>
          <a:prstGeom prst="rect">
            <a:avLst/>
          </a:prstGeom>
          <a:solidFill>
            <a:srgbClr val="E7EDF2"/>
          </a:solidFill>
          <a:ln w="5080">
            <a:solidFill>
              <a:srgbClr val="D1D9E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5" name="Takeaway">
            <a:extLst>
              <a:ext uri="{FF2B5EF4-FFF2-40B4-BE49-F238E27FC236}">
                <a16:creationId xmlns:a16="http://schemas.microsoft.com/office/drawing/2014/main" id="{25190E61-CA31-E24D-B070-4B6E515DB03C}"/>
              </a:ext>
            </a:extLst>
          </p:cNvPr>
          <p:cNvSpPr txBox="1"/>
          <p:nvPr/>
        </p:nvSpPr>
        <p:spPr>
          <a:xfrm>
            <a:off x="889000" y="4102100"/>
            <a:ext cx="7620000" cy="279400"/>
          </a:xfrm>
          <a:prstGeom prst="rect">
            <a:avLst/>
          </a:prstGeom>
          <a:noFill/>
        </p:spPr>
        <p:txBody>
          <a:bodyPr wrap="square" lIns="0" tIns="0" rIns="0" bIns="0"/>
          <a:lstStyle/>
          <a:p>
            <a:r>
              <a:rPr lang="en-US" sz="1600" b="1">
                <a:solidFill>
                  <a:srgbClr val="4B00E8"/>
                </a:solidFill>
                <a:latin typeface="Arial"/>
                <a:ea typeface="Arial"/>
                <a:cs typeface="Arial"/>
              </a:rPr>
              <a:t>You can only prevent an outcome that was going to happen.</a:t>
            </a:r>
          </a:p>
        </p:txBody>
      </p:sp>
    </p:spTree>
    <p:extLst>
      <p:ext uri="{BB962C8B-B14F-4D97-AF65-F5344CB8AC3E}">
        <p14:creationId xmlns:p14="http://schemas.microsoft.com/office/powerpoint/2010/main" val="2141126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a:extLst>
              <a:ext uri="{FF2B5EF4-FFF2-40B4-BE49-F238E27FC236}">
                <a16:creationId xmlns:a16="http://schemas.microsoft.com/office/drawing/2014/main" id="{BE7DA973-D4D4-3C45-8F2A-F88FF9D6B0E5}"/>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5" name="TextBox 124">
            <a:extLst>
              <a:ext uri="{FF2B5EF4-FFF2-40B4-BE49-F238E27FC236}">
                <a16:creationId xmlns:a16="http://schemas.microsoft.com/office/drawing/2014/main" id="{2F0C9C25-B909-344F-A321-1A14DF5AE36D}"/>
              </a:ext>
            </a:extLst>
          </p:cNvPr>
          <p:cNvSpPr txBox="1"/>
          <p:nvPr/>
        </p:nvSpPr>
        <p:spPr>
          <a:xfrm>
            <a:off x="533400" y="621014"/>
            <a:ext cx="8128000" cy="304800"/>
          </a:xfrm>
          <a:prstGeom prst="rect">
            <a:avLst/>
          </a:prstGeom>
          <a:noFill/>
        </p:spPr>
        <p:txBody>
          <a:bodyPr vertOverflow="overflow" vert="horz" wrap="square" lIns="0" tIns="0" rIns="0" bIns="0" rtlCol="0" anchor="t" anchorCtr="0">
            <a:noAutofit/>
          </a:bodyPr>
          <a:lstStyle/>
          <a:p>
            <a:r>
              <a:rPr lang="en-US" sz="2400" b="1" dirty="0">
                <a:solidFill>
                  <a:srgbClr val="110057"/>
                </a:solidFill>
                <a:latin typeface="Arial"/>
              </a:rPr>
              <a:t>Preventive care has cruel base-rate math</a:t>
            </a:r>
          </a:p>
        </p:txBody>
      </p:sp>
      <p:sp>
        <p:nvSpPr>
          <p:cNvPr id="126" name="TextBox 125">
            <a:extLst>
              <a:ext uri="{FF2B5EF4-FFF2-40B4-BE49-F238E27FC236}">
                <a16:creationId xmlns:a16="http://schemas.microsoft.com/office/drawing/2014/main" id="{C16BFAAC-F409-7A49-BC4B-D686586EC58E}"/>
              </a:ext>
            </a:extLst>
          </p:cNvPr>
          <p:cNvSpPr txBox="1"/>
          <p:nvPr/>
        </p:nvSpPr>
        <p:spPr>
          <a:xfrm>
            <a:off x="533400" y="1325365"/>
            <a:ext cx="8128000" cy="203200"/>
          </a:xfrm>
          <a:prstGeom prst="rect">
            <a:avLst/>
          </a:prstGeom>
          <a:noFill/>
        </p:spPr>
        <p:txBody>
          <a:bodyPr vertOverflow="overflow" vert="horz" wrap="square" lIns="0" tIns="0" rIns="0" bIns="0" rtlCol="0" anchor="t" anchorCtr="0">
            <a:noAutofit/>
          </a:bodyPr>
          <a:lstStyle/>
          <a:p>
            <a:r>
              <a:rPr lang="en-US" sz="1400" dirty="0">
                <a:solidFill>
                  <a:srgbClr val="5B5B5B"/>
                </a:solidFill>
                <a:latin typeface="Arial"/>
              </a:rPr>
              <a:t>Before the outcome happens, most people cannot benefit; everyone touched can still be burdened.</a:t>
            </a:r>
          </a:p>
        </p:txBody>
      </p:sp>
      <p:sp>
        <p:nvSpPr>
          <p:cNvPr id="127" name="Rectangle 126">
            <a:extLst>
              <a:ext uri="{FF2B5EF4-FFF2-40B4-BE49-F238E27FC236}">
                <a16:creationId xmlns:a16="http://schemas.microsoft.com/office/drawing/2014/main" id="{5CE85E40-C08A-1841-A336-A421B6D6FA71}"/>
              </a:ext>
            </a:extLst>
          </p:cNvPr>
          <p:cNvSpPr/>
          <p:nvPr/>
        </p:nvSpPr>
        <p:spPr>
          <a:xfrm>
            <a:off x="431800" y="1168400"/>
            <a:ext cx="8280400" cy="15240"/>
          </a:xfrm>
          <a:prstGeom prst="rect">
            <a:avLst/>
          </a:prstGeom>
          <a:solidFill>
            <a:srgbClr val="E2E2E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9" name="Rounded Rectangle 128">
            <a:extLst>
              <a:ext uri="{FF2B5EF4-FFF2-40B4-BE49-F238E27FC236}">
                <a16:creationId xmlns:a16="http://schemas.microsoft.com/office/drawing/2014/main" id="{4CD6CE3C-C94A-CA45-8EBA-FF416923ACBE}"/>
              </a:ext>
            </a:extLst>
          </p:cNvPr>
          <p:cNvSpPr/>
          <p:nvPr/>
        </p:nvSpPr>
        <p:spPr>
          <a:xfrm>
            <a:off x="635000" y="1828800"/>
            <a:ext cx="7874000" cy="1092200"/>
          </a:xfrm>
          <a:prstGeom prst="roundRect">
            <a:avLst/>
          </a:prstGeom>
          <a:solidFill>
            <a:srgbClr val="F7F4FF"/>
          </a:solidFill>
          <a:ln w="12700">
            <a:solidFill>
              <a:srgbClr val="D9CC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0" name="Rectangle 129">
            <a:extLst>
              <a:ext uri="{FF2B5EF4-FFF2-40B4-BE49-F238E27FC236}">
                <a16:creationId xmlns:a16="http://schemas.microsoft.com/office/drawing/2014/main" id="{13CF2469-2923-C545-8495-64036CEA41FE}"/>
              </a:ext>
            </a:extLst>
          </p:cNvPr>
          <p:cNvSpPr/>
          <p:nvPr/>
        </p:nvSpPr>
        <p:spPr>
          <a:xfrm>
            <a:off x="1066800" y="2184400"/>
            <a:ext cx="6121400" cy="254000"/>
          </a:xfrm>
          <a:prstGeom prst="rect">
            <a:avLst/>
          </a:prstGeom>
          <a:solidFill>
            <a:srgbClr val="E5DC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1" name="Rectangle 130">
            <a:extLst>
              <a:ext uri="{FF2B5EF4-FFF2-40B4-BE49-F238E27FC236}">
                <a16:creationId xmlns:a16="http://schemas.microsoft.com/office/drawing/2014/main" id="{FA5E7CF1-8BE8-5747-9F18-023BC12DC204}"/>
              </a:ext>
            </a:extLst>
          </p:cNvPr>
          <p:cNvSpPr/>
          <p:nvPr/>
        </p:nvSpPr>
        <p:spPr>
          <a:xfrm>
            <a:off x="7188200" y="2184400"/>
            <a:ext cx="596900" cy="254000"/>
          </a:xfrm>
          <a:prstGeom prst="rect">
            <a:avLst/>
          </a:prstGeom>
          <a:solidFill>
            <a:srgbClr val="B8A1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2" name="Rectangle 131">
            <a:extLst>
              <a:ext uri="{FF2B5EF4-FFF2-40B4-BE49-F238E27FC236}">
                <a16:creationId xmlns:a16="http://schemas.microsoft.com/office/drawing/2014/main" id="{4FC01B58-B17E-FF45-89BF-D12512FE1C9F}"/>
              </a:ext>
            </a:extLst>
          </p:cNvPr>
          <p:cNvSpPr/>
          <p:nvPr/>
        </p:nvSpPr>
        <p:spPr>
          <a:xfrm>
            <a:off x="7785100" y="2184400"/>
            <a:ext cx="127000" cy="254000"/>
          </a:xfrm>
          <a:prstGeom prst="rect">
            <a:avLst/>
          </a:prstGeom>
          <a:solidFill>
            <a:srgbClr val="FF575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3" name="Rounded Rectangle 132">
            <a:extLst>
              <a:ext uri="{FF2B5EF4-FFF2-40B4-BE49-F238E27FC236}">
                <a16:creationId xmlns:a16="http://schemas.microsoft.com/office/drawing/2014/main" id="{7A4891BF-1D8B-2E42-8408-90948EF6304E}"/>
              </a:ext>
            </a:extLst>
          </p:cNvPr>
          <p:cNvSpPr/>
          <p:nvPr/>
        </p:nvSpPr>
        <p:spPr>
          <a:xfrm>
            <a:off x="7302500" y="1714500"/>
            <a:ext cx="1168400" cy="355600"/>
          </a:xfrm>
          <a:prstGeom prst="roundRect">
            <a:avLst/>
          </a:prstGeom>
          <a:solidFill>
            <a:srgbClr val="FF575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4" name="TextBox 133">
            <a:extLst>
              <a:ext uri="{FF2B5EF4-FFF2-40B4-BE49-F238E27FC236}">
                <a16:creationId xmlns:a16="http://schemas.microsoft.com/office/drawing/2014/main" id="{B9BA65AE-14C1-D04A-9240-9CF2FCB4A81F}"/>
              </a:ext>
            </a:extLst>
          </p:cNvPr>
          <p:cNvSpPr txBox="1"/>
          <p:nvPr/>
        </p:nvSpPr>
        <p:spPr>
          <a:xfrm>
            <a:off x="7431356" y="1801544"/>
            <a:ext cx="977900" cy="393700"/>
          </a:xfrm>
          <a:prstGeom prst="rect">
            <a:avLst/>
          </a:prstGeom>
          <a:noFill/>
        </p:spPr>
        <p:txBody>
          <a:bodyPr vertOverflow="overflow" vert="horz" wrap="square" lIns="0" tIns="0" rIns="0" bIns="0" rtlCol="0" anchor="t" anchorCtr="0">
            <a:noAutofit/>
          </a:bodyPr>
          <a:lstStyle/>
          <a:p>
            <a:r>
              <a:rPr lang="en-US" sz="1100" b="1" dirty="0">
                <a:solidFill>
                  <a:srgbClr val="FFFFFF"/>
                </a:solidFill>
                <a:latin typeface="Arial"/>
              </a:rPr>
              <a:t>Treatable few</a:t>
            </a:r>
          </a:p>
        </p:txBody>
      </p:sp>
      <p:sp>
        <p:nvSpPr>
          <p:cNvPr id="135" name="Rectangle 134">
            <a:extLst>
              <a:ext uri="{FF2B5EF4-FFF2-40B4-BE49-F238E27FC236}">
                <a16:creationId xmlns:a16="http://schemas.microsoft.com/office/drawing/2014/main" id="{F9170F11-825B-A843-9DEA-F4BF3774E927}"/>
              </a:ext>
            </a:extLst>
          </p:cNvPr>
          <p:cNvSpPr/>
          <p:nvPr/>
        </p:nvSpPr>
        <p:spPr>
          <a:xfrm>
            <a:off x="7848600" y="2070100"/>
            <a:ext cx="25400" cy="215900"/>
          </a:xfrm>
          <a:prstGeom prst="rect">
            <a:avLst/>
          </a:prstGeom>
          <a:solidFill>
            <a:srgbClr val="FF575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6" name="TextBox 135">
            <a:extLst>
              <a:ext uri="{FF2B5EF4-FFF2-40B4-BE49-F238E27FC236}">
                <a16:creationId xmlns:a16="http://schemas.microsoft.com/office/drawing/2014/main" id="{4DD12824-B47A-1E4E-9903-79B91CF2EA21}"/>
              </a:ext>
            </a:extLst>
          </p:cNvPr>
          <p:cNvSpPr txBox="1"/>
          <p:nvPr/>
        </p:nvSpPr>
        <p:spPr>
          <a:xfrm>
            <a:off x="1193800" y="2565400"/>
            <a:ext cx="3937000" cy="177800"/>
          </a:xfrm>
          <a:prstGeom prst="rect">
            <a:avLst/>
          </a:prstGeom>
          <a:noFill/>
        </p:spPr>
        <p:txBody>
          <a:bodyPr vertOverflow="overflow" vert="horz" wrap="square" lIns="0" tIns="0" rIns="0" bIns="0" rtlCol="0" anchor="t" anchorCtr="0">
            <a:noAutofit/>
          </a:bodyPr>
          <a:lstStyle/>
          <a:p>
            <a:r>
              <a:rPr lang="en-US" sz="1100" dirty="0">
                <a:solidFill>
                  <a:srgbClr val="686868"/>
                </a:solidFill>
                <a:latin typeface="Arial"/>
              </a:rPr>
              <a:t>Would not have event anyway</a:t>
            </a:r>
          </a:p>
        </p:txBody>
      </p:sp>
      <p:sp>
        <p:nvSpPr>
          <p:cNvPr id="137" name="TextBox 136">
            <a:extLst>
              <a:ext uri="{FF2B5EF4-FFF2-40B4-BE49-F238E27FC236}">
                <a16:creationId xmlns:a16="http://schemas.microsoft.com/office/drawing/2014/main" id="{B2075387-0977-744B-8B0A-139021D0C497}"/>
              </a:ext>
            </a:extLst>
          </p:cNvPr>
          <p:cNvSpPr txBox="1"/>
          <p:nvPr/>
        </p:nvSpPr>
        <p:spPr>
          <a:xfrm>
            <a:off x="6781800" y="2527300"/>
            <a:ext cx="1524000" cy="431800"/>
          </a:xfrm>
          <a:prstGeom prst="rect">
            <a:avLst/>
          </a:prstGeom>
          <a:noFill/>
        </p:spPr>
        <p:txBody>
          <a:bodyPr vertOverflow="overflow" vert="horz" wrap="square" lIns="0" tIns="0" rIns="0" bIns="0" rtlCol="0" anchor="t" anchorCtr="0">
            <a:noAutofit/>
          </a:bodyPr>
          <a:lstStyle/>
          <a:p>
            <a:r>
              <a:rPr lang="en-US" sz="1100" b="1" dirty="0">
                <a:solidFill>
                  <a:srgbClr val="5B5B5B"/>
                </a:solidFill>
                <a:latin typeface="Arial"/>
              </a:rPr>
              <a:t>Event despite action</a:t>
            </a:r>
          </a:p>
        </p:txBody>
      </p:sp>
      <p:sp>
        <p:nvSpPr>
          <p:cNvPr id="138" name="Rounded Rectangle 137">
            <a:extLst>
              <a:ext uri="{FF2B5EF4-FFF2-40B4-BE49-F238E27FC236}">
                <a16:creationId xmlns:a16="http://schemas.microsoft.com/office/drawing/2014/main" id="{596C2589-103F-FC44-B4E6-3E1B03B8BA4E}"/>
              </a:ext>
            </a:extLst>
          </p:cNvPr>
          <p:cNvSpPr/>
          <p:nvPr/>
        </p:nvSpPr>
        <p:spPr>
          <a:xfrm>
            <a:off x="635000" y="3149600"/>
            <a:ext cx="3810000" cy="889000"/>
          </a:xfrm>
          <a:prstGeom prst="roundRect">
            <a:avLst/>
          </a:prstGeom>
          <a:solidFill>
            <a:srgbClr val="FFFFFF"/>
          </a:solidFill>
          <a:ln w="12700">
            <a:solidFill>
              <a:srgbClr val="DADAD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9" name="TextBox 138">
            <a:extLst>
              <a:ext uri="{FF2B5EF4-FFF2-40B4-BE49-F238E27FC236}">
                <a16:creationId xmlns:a16="http://schemas.microsoft.com/office/drawing/2014/main" id="{F5C53D7C-C6E7-3947-91E6-B6DB468CDBFC}"/>
              </a:ext>
            </a:extLst>
          </p:cNvPr>
          <p:cNvSpPr txBox="1"/>
          <p:nvPr/>
        </p:nvSpPr>
        <p:spPr>
          <a:xfrm>
            <a:off x="914400" y="3276600"/>
            <a:ext cx="3302000" cy="215900"/>
          </a:xfrm>
          <a:prstGeom prst="rect">
            <a:avLst/>
          </a:prstGeom>
          <a:noFill/>
        </p:spPr>
        <p:txBody>
          <a:bodyPr vertOverflow="overflow" vert="horz" wrap="square" lIns="0" tIns="0" rIns="0" bIns="0" rtlCol="0" anchor="t" anchorCtr="0">
            <a:noAutofit/>
          </a:bodyPr>
          <a:lstStyle/>
          <a:p>
            <a:r>
              <a:rPr lang="en-US" sz="1400" b="1" dirty="0">
                <a:solidFill>
                  <a:srgbClr val="14005B"/>
                </a:solidFill>
                <a:latin typeface="Arial"/>
              </a:rPr>
              <a:t>Burden scales with everyone touched</a:t>
            </a:r>
          </a:p>
        </p:txBody>
      </p:sp>
      <p:sp>
        <p:nvSpPr>
          <p:cNvPr id="140" name="TextBox 139">
            <a:extLst>
              <a:ext uri="{FF2B5EF4-FFF2-40B4-BE49-F238E27FC236}">
                <a16:creationId xmlns:a16="http://schemas.microsoft.com/office/drawing/2014/main" id="{442CEEB8-8B49-9147-8AA9-B92455F80CFF}"/>
              </a:ext>
            </a:extLst>
          </p:cNvPr>
          <p:cNvSpPr txBox="1"/>
          <p:nvPr/>
        </p:nvSpPr>
        <p:spPr>
          <a:xfrm>
            <a:off x="914400" y="3581400"/>
            <a:ext cx="3429000" cy="355600"/>
          </a:xfrm>
          <a:prstGeom prst="rect">
            <a:avLst/>
          </a:prstGeom>
          <a:noFill/>
        </p:spPr>
        <p:txBody>
          <a:bodyPr vertOverflow="overflow" vert="horz" wrap="square" lIns="0" tIns="0" rIns="0" bIns="0" rtlCol="0" anchor="t" anchorCtr="0">
            <a:noAutofit/>
          </a:bodyPr>
          <a:lstStyle/>
          <a:p>
            <a:r>
              <a:rPr lang="en-US" sz="1400">
                <a:solidFill>
                  <a:srgbClr val="1F1F1F"/>
                </a:solidFill>
                <a:latin typeface="Arial"/>
              </a:rPr>
              <a:t>outreach, testing, false positives, anxiety, tx burden</a:t>
            </a:r>
          </a:p>
        </p:txBody>
      </p:sp>
      <p:sp>
        <p:nvSpPr>
          <p:cNvPr id="141" name="Rounded Rectangle 140">
            <a:extLst>
              <a:ext uri="{FF2B5EF4-FFF2-40B4-BE49-F238E27FC236}">
                <a16:creationId xmlns:a16="http://schemas.microsoft.com/office/drawing/2014/main" id="{83B3C395-C2F4-224D-B589-1D85AEC60875}"/>
              </a:ext>
            </a:extLst>
          </p:cNvPr>
          <p:cNvSpPr/>
          <p:nvPr/>
        </p:nvSpPr>
        <p:spPr>
          <a:xfrm>
            <a:off x="4699000" y="3149600"/>
            <a:ext cx="3810000" cy="889000"/>
          </a:xfrm>
          <a:prstGeom prst="roundRect">
            <a:avLst/>
          </a:prstGeom>
          <a:solidFill>
            <a:srgbClr val="FFFFFF"/>
          </a:solidFill>
          <a:ln w="12700">
            <a:solidFill>
              <a:srgbClr val="DADAD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400">
              <a:latin typeface="Arial"/>
              <a:cs typeface="Arial"/>
            </a:endParaRPr>
          </a:p>
        </p:txBody>
      </p:sp>
      <p:sp>
        <p:nvSpPr>
          <p:cNvPr id="142" name="TextBox 141">
            <a:extLst>
              <a:ext uri="{FF2B5EF4-FFF2-40B4-BE49-F238E27FC236}">
                <a16:creationId xmlns:a16="http://schemas.microsoft.com/office/drawing/2014/main" id="{D1074EDC-87CB-F54F-865A-622EDB2E8384}"/>
              </a:ext>
            </a:extLst>
          </p:cNvPr>
          <p:cNvSpPr txBox="1"/>
          <p:nvPr/>
        </p:nvSpPr>
        <p:spPr>
          <a:xfrm>
            <a:off x="4978400" y="3276600"/>
            <a:ext cx="3327400" cy="215900"/>
          </a:xfrm>
          <a:prstGeom prst="rect">
            <a:avLst/>
          </a:prstGeom>
          <a:noFill/>
        </p:spPr>
        <p:txBody>
          <a:bodyPr vertOverflow="overflow" vert="horz" wrap="square" lIns="0" tIns="0" rIns="0" bIns="0" rtlCol="0" anchor="t" anchorCtr="0">
            <a:noAutofit/>
          </a:bodyPr>
          <a:lstStyle/>
          <a:p>
            <a:r>
              <a:rPr lang="en-US" sz="1400" b="1">
                <a:solidFill>
                  <a:srgbClr val="FF4D55"/>
                </a:solidFill>
                <a:latin typeface="Arial"/>
              </a:rPr>
              <a:t>Benefit scales with the preventable few</a:t>
            </a:r>
          </a:p>
        </p:txBody>
      </p:sp>
      <p:sp>
        <p:nvSpPr>
          <p:cNvPr id="143" name="TextBox 142">
            <a:extLst>
              <a:ext uri="{FF2B5EF4-FFF2-40B4-BE49-F238E27FC236}">
                <a16:creationId xmlns:a16="http://schemas.microsoft.com/office/drawing/2014/main" id="{402700FA-DC59-CD4C-A7B7-BDD6FD7A306F}"/>
              </a:ext>
            </a:extLst>
          </p:cNvPr>
          <p:cNvSpPr txBox="1"/>
          <p:nvPr/>
        </p:nvSpPr>
        <p:spPr>
          <a:xfrm>
            <a:off x="4978400" y="3581400"/>
            <a:ext cx="3175000" cy="304800"/>
          </a:xfrm>
          <a:prstGeom prst="rect">
            <a:avLst/>
          </a:prstGeom>
          <a:noFill/>
        </p:spPr>
        <p:txBody>
          <a:bodyPr vertOverflow="overflow" vert="horz" wrap="square" lIns="0" tIns="0" rIns="0" bIns="0" rtlCol="0" anchor="t" anchorCtr="0">
            <a:noAutofit/>
          </a:bodyPr>
          <a:lstStyle/>
          <a:p>
            <a:r>
              <a:rPr lang="en-US" sz="1400">
                <a:solidFill>
                  <a:srgbClr val="1F1F1F"/>
                </a:solidFill>
                <a:latin typeface="Arial"/>
              </a:rPr>
              <a:t>avoided admissions, events, or deaths</a:t>
            </a:r>
          </a:p>
        </p:txBody>
      </p:sp>
      <p:sp>
        <p:nvSpPr>
          <p:cNvPr id="144" name="Rounded Rectangle 143">
            <a:extLst>
              <a:ext uri="{FF2B5EF4-FFF2-40B4-BE49-F238E27FC236}">
                <a16:creationId xmlns:a16="http://schemas.microsoft.com/office/drawing/2014/main" id="{A6576BB6-C2BA-4940-9FD3-321F88F9CBC5}"/>
              </a:ext>
            </a:extLst>
          </p:cNvPr>
          <p:cNvSpPr/>
          <p:nvPr/>
        </p:nvSpPr>
        <p:spPr>
          <a:xfrm>
            <a:off x="635000" y="4191000"/>
            <a:ext cx="7874000" cy="355600"/>
          </a:xfrm>
          <a:prstGeom prst="roundRect">
            <a:avLst/>
          </a:prstGeom>
          <a:solidFill>
            <a:srgbClr val="12005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45" name="TextBox 144">
            <a:extLst>
              <a:ext uri="{FF2B5EF4-FFF2-40B4-BE49-F238E27FC236}">
                <a16:creationId xmlns:a16="http://schemas.microsoft.com/office/drawing/2014/main" id="{64EFFEA9-A527-DE40-ABEE-4F06529742FF}"/>
              </a:ext>
            </a:extLst>
          </p:cNvPr>
          <p:cNvSpPr txBox="1"/>
          <p:nvPr/>
        </p:nvSpPr>
        <p:spPr>
          <a:xfrm>
            <a:off x="1041400" y="4279900"/>
            <a:ext cx="7061200" cy="165100"/>
          </a:xfrm>
          <a:prstGeom prst="rect">
            <a:avLst/>
          </a:prstGeom>
          <a:noFill/>
        </p:spPr>
        <p:txBody>
          <a:bodyPr vertOverflow="overflow" vert="horz" wrap="square" lIns="0" tIns="0" rIns="0" bIns="0" rtlCol="0" anchor="t" anchorCtr="0">
            <a:noAutofit/>
          </a:bodyPr>
          <a:lstStyle/>
          <a:p>
            <a:r>
              <a:rPr lang="en-US" sz="1400" b="1">
                <a:solidFill>
                  <a:srgbClr val="FFFFFF"/>
                </a:solidFill>
                <a:latin typeface="Arial"/>
              </a:rPr>
              <a:t>ARR = baseline risk x relative risk reduction;  NNT = 1 / ARR</a:t>
            </a:r>
          </a:p>
        </p:txBody>
      </p:sp>
      <p:sp>
        <p:nvSpPr>
          <p:cNvPr id="146" name="Rounded Rectangle 145">
            <a:extLst>
              <a:ext uri="{FF2B5EF4-FFF2-40B4-BE49-F238E27FC236}">
                <a16:creationId xmlns:a16="http://schemas.microsoft.com/office/drawing/2014/main" id="{549891FF-E37D-884D-9948-08F478634A68}"/>
              </a:ext>
            </a:extLst>
          </p:cNvPr>
          <p:cNvSpPr/>
          <p:nvPr/>
        </p:nvSpPr>
        <p:spPr>
          <a:xfrm>
            <a:off x="635000" y="4648200"/>
            <a:ext cx="7874000" cy="292100"/>
          </a:xfrm>
          <a:prstGeom prst="roundRect">
            <a:avLst/>
          </a:prstGeom>
          <a:solidFill>
            <a:srgbClr val="FF575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47" name="TextBox 146">
            <a:extLst>
              <a:ext uri="{FF2B5EF4-FFF2-40B4-BE49-F238E27FC236}">
                <a16:creationId xmlns:a16="http://schemas.microsoft.com/office/drawing/2014/main" id="{EA42E1C9-2A3F-6540-A4A3-CF7821DEB43C}"/>
              </a:ext>
            </a:extLst>
          </p:cNvPr>
          <p:cNvSpPr txBox="1"/>
          <p:nvPr/>
        </p:nvSpPr>
        <p:spPr>
          <a:xfrm>
            <a:off x="965200" y="4699000"/>
            <a:ext cx="7213600" cy="165100"/>
          </a:xfrm>
          <a:prstGeom prst="rect">
            <a:avLst/>
          </a:prstGeom>
          <a:noFill/>
        </p:spPr>
        <p:txBody>
          <a:bodyPr vertOverflow="overflow" vert="horz" wrap="square" lIns="0" tIns="0" rIns="0" bIns="0" rtlCol="0" anchor="t" anchorCtr="0">
            <a:noAutofit/>
          </a:bodyPr>
          <a:lstStyle/>
          <a:p>
            <a:r>
              <a:rPr lang="en-US" sz="1400" b="1">
                <a:solidFill>
                  <a:srgbClr val="FFFFFF"/>
                </a:solidFill>
                <a:latin typeface="Arial"/>
              </a:rPr>
              <a:t>Earlier action lowers the base rate; benefit:harm math becomes unforgiving.</a:t>
            </a:r>
          </a:p>
        </p:txBody>
      </p:sp>
      <p:sp>
        <p:nvSpPr>
          <p:cNvPr id="148" name="TextBox 147">
            <a:extLst>
              <a:ext uri="{FF2B5EF4-FFF2-40B4-BE49-F238E27FC236}">
                <a16:creationId xmlns:a16="http://schemas.microsoft.com/office/drawing/2014/main" id="{484D9364-9921-4442-B4C3-EF1AFDBB6365}"/>
              </a:ext>
            </a:extLst>
          </p:cNvPr>
          <p:cNvSpPr txBox="1"/>
          <p:nvPr/>
        </p:nvSpPr>
        <p:spPr>
          <a:xfrm>
            <a:off x="533400" y="4978400"/>
            <a:ext cx="8255000" cy="101600"/>
          </a:xfrm>
          <a:prstGeom prst="rect">
            <a:avLst/>
          </a:prstGeom>
          <a:noFill/>
        </p:spPr>
        <p:txBody>
          <a:bodyPr vertOverflow="overflow" vert="horz" wrap="square" lIns="0" tIns="0" rIns="0" bIns="0" rtlCol="0" anchor="t" anchorCtr="0">
            <a:noAutofit/>
          </a:bodyPr>
          <a:lstStyle/>
          <a:p>
            <a:r>
              <a:rPr lang="en-US" sz="560">
                <a:solidFill>
                  <a:srgbClr val="6B6B6B"/>
                </a:solidFill>
                <a:latin typeface="Arial"/>
              </a:rPr>
              <a:t>Sources: Welch &amp; Passow, JAMA Intern Med 2014; Welch, Schwartz &amp; Woloshin</a:t>
            </a:r>
          </a:p>
        </p:txBody>
      </p:sp>
      <p:sp>
        <p:nvSpPr>
          <p:cNvPr id="2" name="kicker">
            <a:extLst>
              <a:ext uri="{FF2B5EF4-FFF2-40B4-BE49-F238E27FC236}">
                <a16:creationId xmlns:a16="http://schemas.microsoft.com/office/drawing/2014/main" id="{7C9FEDAB-8F51-EC4D-869D-A74154DB2C4C}"/>
              </a:ext>
            </a:extLst>
          </p:cNvPr>
          <p:cNvSpPr txBox="1"/>
          <p:nvPr/>
        </p:nvSpPr>
        <p:spPr>
          <a:xfrm>
            <a:off x="533400" y="304800"/>
            <a:ext cx="5080000" cy="177800"/>
          </a:xfrm>
          <a:prstGeom prst="rect">
            <a:avLst/>
          </a:prstGeom>
          <a:noFill/>
        </p:spPr>
        <p:txBody>
          <a:bodyPr vertOverflow="overflow" vert="horz" wrap="square" rtlCol="0" anchor="t">
            <a:spAutoFit/>
          </a:bodyPr>
          <a:lstStyle/>
          <a:p>
            <a:pPr algn="l"/>
            <a:r>
              <a:rPr lang="en-US" sz="1100" b="1" dirty="0">
                <a:solidFill>
                  <a:srgbClr val="4A00E2"/>
                </a:solidFill>
                <a:latin typeface="Arial"/>
                <a:cs typeface="Arial"/>
              </a:rPr>
              <a:t>ACT | RISK-BASED TREATMENT</a:t>
            </a:r>
          </a:p>
        </p:txBody>
      </p:sp>
      <p:sp>
        <p:nvSpPr>
          <p:cNvPr id="3" name="accent rail">
            <a:extLst>
              <a:ext uri="{FF2B5EF4-FFF2-40B4-BE49-F238E27FC236}">
                <a16:creationId xmlns:a16="http://schemas.microsoft.com/office/drawing/2014/main" id="{EAC4777C-103E-0944-8765-B1B7A4ED36B9}"/>
              </a:ext>
            </a:extLst>
          </p:cNvPr>
          <p:cNvSpPr/>
          <p:nvPr/>
        </p:nvSpPr>
        <p:spPr>
          <a:xfrm>
            <a:off x="368300" y="304800"/>
            <a:ext cx="63500" cy="787400"/>
          </a:xfrm>
          <a:prstGeom prst="rect">
            <a:avLst/>
          </a:prstGeom>
          <a:solidFill>
            <a:srgbClr val="4A00E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55946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F918338-5D8C-F04A-A903-84427E09C2BC}"/>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1" name="TextBox 40">
            <a:extLst>
              <a:ext uri="{FF2B5EF4-FFF2-40B4-BE49-F238E27FC236}">
                <a16:creationId xmlns:a16="http://schemas.microsoft.com/office/drawing/2014/main" id="{A1DFB84D-0B89-A446-9CCF-B2D09DE48FEB}"/>
              </a:ext>
            </a:extLst>
          </p:cNvPr>
          <p:cNvSpPr txBox="1"/>
          <p:nvPr/>
        </p:nvSpPr>
        <p:spPr>
          <a:xfrm>
            <a:off x="711200" y="457200"/>
            <a:ext cx="8128000" cy="381000"/>
          </a:xfrm>
          <a:prstGeom prst="rect">
            <a:avLst/>
          </a:prstGeom>
          <a:noFill/>
        </p:spPr>
        <p:txBody>
          <a:bodyPr vertOverflow="overflow" vert="horz" wrap="square" rtlCol="0" anchor="t" anchorCtr="0">
            <a:noAutofit/>
          </a:bodyPr>
          <a:lstStyle/>
          <a:p>
            <a:pPr algn="l"/>
            <a:r>
              <a:rPr lang="en-US" sz="2400" b="1" dirty="0">
                <a:solidFill>
                  <a:srgbClr val="110057"/>
                </a:solidFill>
                <a:latin typeface="Arial"/>
                <a:cs typeface="Arial"/>
              </a:rPr>
              <a:t>Proactive care has two viable paths</a:t>
            </a:r>
          </a:p>
        </p:txBody>
      </p:sp>
      <p:sp>
        <p:nvSpPr>
          <p:cNvPr id="42" name="TextBox 41">
            <a:extLst>
              <a:ext uri="{FF2B5EF4-FFF2-40B4-BE49-F238E27FC236}">
                <a16:creationId xmlns:a16="http://schemas.microsoft.com/office/drawing/2014/main" id="{55C384B0-0A06-6948-9598-765DCB2D5FAA}"/>
              </a:ext>
            </a:extLst>
          </p:cNvPr>
          <p:cNvSpPr txBox="1"/>
          <p:nvPr/>
        </p:nvSpPr>
        <p:spPr>
          <a:xfrm>
            <a:off x="711200" y="838200"/>
            <a:ext cx="8128000" cy="254000"/>
          </a:xfrm>
          <a:prstGeom prst="rect">
            <a:avLst/>
          </a:prstGeom>
          <a:noFill/>
        </p:spPr>
        <p:txBody>
          <a:bodyPr vertOverflow="overflow" vert="horz" wrap="square" rtlCol="0" anchor="t" anchorCtr="0">
            <a:noAutofit/>
          </a:bodyPr>
          <a:lstStyle/>
          <a:p>
            <a:pPr algn="l"/>
            <a:r>
              <a:rPr lang="en-US" sz="1600" dirty="0">
                <a:solidFill>
                  <a:srgbClr val="666666"/>
                </a:solidFill>
                <a:latin typeface="Arial"/>
                <a:cs typeface="Arial"/>
              </a:rPr>
              <a:t>Unless action nearly harmless, the population must be selected by expected benefit.</a:t>
            </a:r>
          </a:p>
        </p:txBody>
      </p:sp>
      <p:sp>
        <p:nvSpPr>
          <p:cNvPr id="43" name="Rectangle 42">
            <a:extLst>
              <a:ext uri="{FF2B5EF4-FFF2-40B4-BE49-F238E27FC236}">
                <a16:creationId xmlns:a16="http://schemas.microsoft.com/office/drawing/2014/main" id="{619BC44F-D31C-0941-BCB9-A2C86167F367}"/>
              </a:ext>
            </a:extLst>
          </p:cNvPr>
          <p:cNvSpPr/>
          <p:nvPr/>
        </p:nvSpPr>
        <p:spPr>
          <a:xfrm>
            <a:off x="482600" y="279400"/>
            <a:ext cx="63500" cy="736600"/>
          </a:xfrm>
          <a:prstGeom prst="rect">
            <a:avLst/>
          </a:prstGeom>
          <a:solidFill>
            <a:srgbClr val="5E17E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4" name="Rounded Rectangle 43">
            <a:extLst>
              <a:ext uri="{FF2B5EF4-FFF2-40B4-BE49-F238E27FC236}">
                <a16:creationId xmlns:a16="http://schemas.microsoft.com/office/drawing/2014/main" id="{3C23C824-4FF6-004B-8291-D0BFE25160CC}"/>
              </a:ext>
            </a:extLst>
          </p:cNvPr>
          <p:cNvSpPr/>
          <p:nvPr/>
        </p:nvSpPr>
        <p:spPr>
          <a:xfrm>
            <a:off x="635000" y="1422400"/>
            <a:ext cx="7899400" cy="508000"/>
          </a:xfrm>
          <a:prstGeom prst="roundRect">
            <a:avLst/>
          </a:prstGeom>
          <a:solidFill>
            <a:srgbClr val="3D2B7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5" name="TextBox 44">
            <a:extLst>
              <a:ext uri="{FF2B5EF4-FFF2-40B4-BE49-F238E27FC236}">
                <a16:creationId xmlns:a16="http://schemas.microsoft.com/office/drawing/2014/main" id="{C0869703-8AF5-F440-A501-AD8E37A9A54F}"/>
              </a:ext>
            </a:extLst>
          </p:cNvPr>
          <p:cNvSpPr txBox="1"/>
          <p:nvPr/>
        </p:nvSpPr>
        <p:spPr>
          <a:xfrm>
            <a:off x="965200" y="1549400"/>
            <a:ext cx="7239000" cy="228600"/>
          </a:xfrm>
          <a:prstGeom prst="rect">
            <a:avLst/>
          </a:prstGeom>
          <a:noFill/>
        </p:spPr>
        <p:txBody>
          <a:bodyPr vertOverflow="overflow" vert="horz" wrap="square" rtlCol="0" anchor="ctr" anchorCtr="0">
            <a:noAutofit/>
          </a:bodyPr>
          <a:lstStyle/>
          <a:p>
            <a:pPr algn="l"/>
            <a:r>
              <a:rPr lang="en-US" sz="1600" b="1" dirty="0">
                <a:solidFill>
                  <a:srgbClr val="FFFFFF"/>
                </a:solidFill>
                <a:latin typeface="Arial"/>
                <a:cs typeface="Arial"/>
              </a:rPr>
              <a:t>Intermountain priority: act before avoidable deterioration</a:t>
            </a:r>
          </a:p>
        </p:txBody>
      </p:sp>
      <p:sp>
        <p:nvSpPr>
          <p:cNvPr id="46" name="Rounded Rectangle 45">
            <a:extLst>
              <a:ext uri="{FF2B5EF4-FFF2-40B4-BE49-F238E27FC236}">
                <a16:creationId xmlns:a16="http://schemas.microsoft.com/office/drawing/2014/main" id="{6C7C47F6-89C2-574F-ADE6-8A88D69C2BE2}"/>
              </a:ext>
            </a:extLst>
          </p:cNvPr>
          <p:cNvSpPr/>
          <p:nvPr/>
        </p:nvSpPr>
        <p:spPr>
          <a:xfrm>
            <a:off x="635000" y="2133600"/>
            <a:ext cx="2501900" cy="1905000"/>
          </a:xfrm>
          <a:prstGeom prst="roundRect">
            <a:avLst/>
          </a:prstGeom>
          <a:solidFill>
            <a:srgbClr val="F7F4FF"/>
          </a:solidFill>
          <a:ln w="12700">
            <a:solidFill>
              <a:srgbClr val="D9CC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7" name="TextBox 46">
            <a:extLst>
              <a:ext uri="{FF2B5EF4-FFF2-40B4-BE49-F238E27FC236}">
                <a16:creationId xmlns:a16="http://schemas.microsoft.com/office/drawing/2014/main" id="{2F3D8FAC-CD9A-B545-B6E6-1F11C29C8CE2}"/>
              </a:ext>
            </a:extLst>
          </p:cNvPr>
          <p:cNvSpPr txBox="1"/>
          <p:nvPr/>
        </p:nvSpPr>
        <p:spPr>
          <a:xfrm>
            <a:off x="889000" y="2336800"/>
            <a:ext cx="1993900" cy="304800"/>
          </a:xfrm>
          <a:prstGeom prst="rect">
            <a:avLst/>
          </a:prstGeom>
          <a:noFill/>
        </p:spPr>
        <p:txBody>
          <a:bodyPr vertOverflow="overflow" vert="horz" wrap="square" rtlCol="0" anchor="ctr" anchorCtr="0">
            <a:noAutofit/>
          </a:bodyPr>
          <a:lstStyle/>
          <a:p>
            <a:pPr algn="l"/>
            <a:r>
              <a:rPr lang="en-US" sz="1600" b="1">
                <a:solidFill>
                  <a:srgbClr val="3D2B78"/>
                </a:solidFill>
                <a:latin typeface="Arial"/>
                <a:cs typeface="Arial"/>
              </a:rPr>
              <a:t>1  Stay harmless</a:t>
            </a:r>
          </a:p>
        </p:txBody>
      </p:sp>
      <p:sp>
        <p:nvSpPr>
          <p:cNvPr id="48" name="TextBox 47">
            <a:extLst>
              <a:ext uri="{FF2B5EF4-FFF2-40B4-BE49-F238E27FC236}">
                <a16:creationId xmlns:a16="http://schemas.microsoft.com/office/drawing/2014/main" id="{0717C441-1DC7-F54B-A9A9-79A70AA73162}"/>
              </a:ext>
            </a:extLst>
          </p:cNvPr>
          <p:cNvSpPr txBox="1"/>
          <p:nvPr/>
        </p:nvSpPr>
        <p:spPr>
          <a:xfrm>
            <a:off x="889000" y="2743200"/>
            <a:ext cx="1993900" cy="1168400"/>
          </a:xfrm>
          <a:prstGeom prst="rect">
            <a:avLst/>
          </a:prstGeom>
          <a:noFill/>
        </p:spPr>
        <p:txBody>
          <a:bodyPr vertOverflow="overflow" vert="horz" wrap="square" rtlCol="0" anchor="t" anchorCtr="0">
            <a:noAutofit/>
          </a:bodyPr>
          <a:lstStyle/>
          <a:p>
            <a:pPr algn="l"/>
            <a:r>
              <a:rPr lang="en-US" sz="1600" dirty="0">
                <a:solidFill>
                  <a:srgbClr val="222222"/>
                </a:solidFill>
                <a:latin typeface="Arial"/>
                <a:cs typeface="Arial"/>
              </a:rPr>
              <a:t>Deploy broadly only when actions are safe, cheap, and low-burden.</a:t>
            </a:r>
          </a:p>
        </p:txBody>
      </p:sp>
      <p:sp>
        <p:nvSpPr>
          <p:cNvPr id="49" name="Rounded Rectangle 48">
            <a:extLst>
              <a:ext uri="{FF2B5EF4-FFF2-40B4-BE49-F238E27FC236}">
                <a16:creationId xmlns:a16="http://schemas.microsoft.com/office/drawing/2014/main" id="{2587BA56-4CAD-2B45-A75F-EAE7915ED707}"/>
              </a:ext>
            </a:extLst>
          </p:cNvPr>
          <p:cNvSpPr/>
          <p:nvPr/>
        </p:nvSpPr>
        <p:spPr>
          <a:xfrm>
            <a:off x="3340100" y="2133600"/>
            <a:ext cx="2501900" cy="1905000"/>
          </a:xfrm>
          <a:prstGeom prst="roundRect">
            <a:avLst/>
          </a:prstGeom>
          <a:solidFill>
            <a:srgbClr val="FFF5F5"/>
          </a:solidFill>
          <a:ln w="12700">
            <a:solidFill>
              <a:srgbClr val="FFC4C4"/>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0" name="TextBox 49">
            <a:extLst>
              <a:ext uri="{FF2B5EF4-FFF2-40B4-BE49-F238E27FC236}">
                <a16:creationId xmlns:a16="http://schemas.microsoft.com/office/drawing/2014/main" id="{F55D2929-DC40-E246-AE38-9A9B55C494A4}"/>
              </a:ext>
            </a:extLst>
          </p:cNvPr>
          <p:cNvSpPr txBox="1"/>
          <p:nvPr/>
        </p:nvSpPr>
        <p:spPr>
          <a:xfrm>
            <a:off x="3594100" y="2336800"/>
            <a:ext cx="1993900" cy="304800"/>
          </a:xfrm>
          <a:prstGeom prst="rect">
            <a:avLst/>
          </a:prstGeom>
          <a:noFill/>
        </p:spPr>
        <p:txBody>
          <a:bodyPr vertOverflow="overflow" vert="horz" wrap="square" rtlCol="0" anchor="ctr" anchorCtr="0">
            <a:noAutofit/>
          </a:bodyPr>
          <a:lstStyle/>
          <a:p>
            <a:pPr algn="l"/>
            <a:r>
              <a:rPr lang="en-US" sz="1600" b="1">
                <a:solidFill>
                  <a:srgbClr val="FF5757"/>
                </a:solidFill>
                <a:latin typeface="Arial"/>
                <a:cs typeface="Arial"/>
              </a:rPr>
              <a:t>2  Target preventable risk</a:t>
            </a:r>
          </a:p>
        </p:txBody>
      </p:sp>
      <p:sp>
        <p:nvSpPr>
          <p:cNvPr id="51" name="TextBox 50">
            <a:extLst>
              <a:ext uri="{FF2B5EF4-FFF2-40B4-BE49-F238E27FC236}">
                <a16:creationId xmlns:a16="http://schemas.microsoft.com/office/drawing/2014/main" id="{0599D5C6-06C8-2541-812A-CD1BDF87C341}"/>
              </a:ext>
            </a:extLst>
          </p:cNvPr>
          <p:cNvSpPr txBox="1"/>
          <p:nvPr/>
        </p:nvSpPr>
        <p:spPr>
          <a:xfrm>
            <a:off x="3594100" y="2743200"/>
            <a:ext cx="1993900" cy="1168400"/>
          </a:xfrm>
          <a:prstGeom prst="rect">
            <a:avLst/>
          </a:prstGeom>
          <a:noFill/>
        </p:spPr>
        <p:txBody>
          <a:bodyPr vertOverflow="overflow" vert="horz" wrap="square" rtlCol="0" anchor="t" anchorCtr="0">
            <a:noAutofit/>
          </a:bodyPr>
          <a:lstStyle/>
          <a:p>
            <a:pPr algn="l"/>
            <a:r>
              <a:rPr lang="en-US" sz="1600" dirty="0">
                <a:solidFill>
                  <a:srgbClr val="222222"/>
                </a:solidFill>
                <a:latin typeface="Arial"/>
                <a:cs typeface="Arial"/>
              </a:rPr>
              <a:t>Use models when action carries cost, harm, or capacity burden.</a:t>
            </a:r>
          </a:p>
        </p:txBody>
      </p:sp>
      <p:sp>
        <p:nvSpPr>
          <p:cNvPr id="52" name="Rounded Rectangle 51">
            <a:extLst>
              <a:ext uri="{FF2B5EF4-FFF2-40B4-BE49-F238E27FC236}">
                <a16:creationId xmlns:a16="http://schemas.microsoft.com/office/drawing/2014/main" id="{E4ACF3C5-F34C-A347-B87B-AB5367B16287}"/>
              </a:ext>
            </a:extLst>
          </p:cNvPr>
          <p:cNvSpPr/>
          <p:nvPr/>
        </p:nvSpPr>
        <p:spPr>
          <a:xfrm>
            <a:off x="6045200" y="2133600"/>
            <a:ext cx="2501900" cy="1905000"/>
          </a:xfrm>
          <a:prstGeom prst="roundRect">
            <a:avLst/>
          </a:prstGeom>
          <a:solidFill>
            <a:srgbClr val="F7F7F7"/>
          </a:solidFill>
          <a:ln w="12700">
            <a:solidFill>
              <a:srgbClr val="DADAD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3" name="TextBox 52">
            <a:extLst>
              <a:ext uri="{FF2B5EF4-FFF2-40B4-BE49-F238E27FC236}">
                <a16:creationId xmlns:a16="http://schemas.microsoft.com/office/drawing/2014/main" id="{FD988BA1-124C-2B44-9DFF-79761AB42443}"/>
              </a:ext>
            </a:extLst>
          </p:cNvPr>
          <p:cNvSpPr txBox="1"/>
          <p:nvPr/>
        </p:nvSpPr>
        <p:spPr>
          <a:xfrm>
            <a:off x="6299200" y="2336800"/>
            <a:ext cx="1993900" cy="304800"/>
          </a:xfrm>
          <a:prstGeom prst="rect">
            <a:avLst/>
          </a:prstGeom>
          <a:noFill/>
        </p:spPr>
        <p:txBody>
          <a:bodyPr vertOverflow="overflow" vert="horz" wrap="square" rtlCol="0" anchor="ctr" anchorCtr="0">
            <a:noAutofit/>
          </a:bodyPr>
          <a:lstStyle/>
          <a:p>
            <a:pPr algn="l"/>
            <a:r>
              <a:rPr lang="en-US" sz="1600" b="1" dirty="0">
                <a:solidFill>
                  <a:srgbClr val="666666"/>
                </a:solidFill>
                <a:latin typeface="Arial"/>
                <a:cs typeface="Arial"/>
              </a:rPr>
              <a:t>3  Failure mode</a:t>
            </a:r>
          </a:p>
        </p:txBody>
      </p:sp>
      <p:sp>
        <p:nvSpPr>
          <p:cNvPr id="54" name="TextBox 53">
            <a:extLst>
              <a:ext uri="{FF2B5EF4-FFF2-40B4-BE49-F238E27FC236}">
                <a16:creationId xmlns:a16="http://schemas.microsoft.com/office/drawing/2014/main" id="{B8FA0566-8B62-9541-8488-F564124BACFE}"/>
              </a:ext>
            </a:extLst>
          </p:cNvPr>
          <p:cNvSpPr txBox="1"/>
          <p:nvPr/>
        </p:nvSpPr>
        <p:spPr>
          <a:xfrm>
            <a:off x="6299200" y="2743200"/>
            <a:ext cx="1993900" cy="1168400"/>
          </a:xfrm>
          <a:prstGeom prst="rect">
            <a:avLst/>
          </a:prstGeom>
          <a:noFill/>
        </p:spPr>
        <p:txBody>
          <a:bodyPr vertOverflow="overflow" vert="horz" wrap="square" rtlCol="0" anchor="t" anchorCtr="0">
            <a:noAutofit/>
          </a:bodyPr>
          <a:lstStyle/>
          <a:p>
            <a:pPr algn="l"/>
            <a:r>
              <a:rPr lang="en-US" sz="1600" dirty="0">
                <a:solidFill>
                  <a:srgbClr val="222222"/>
                </a:solidFill>
                <a:latin typeface="Arial"/>
                <a:cs typeface="Arial"/>
              </a:rPr>
              <a:t>Treating everyone lets harms and costs accumulate.</a:t>
            </a:r>
          </a:p>
        </p:txBody>
      </p:sp>
      <p:sp>
        <p:nvSpPr>
          <p:cNvPr id="55" name="Rounded Rectangle 54">
            <a:extLst>
              <a:ext uri="{FF2B5EF4-FFF2-40B4-BE49-F238E27FC236}">
                <a16:creationId xmlns:a16="http://schemas.microsoft.com/office/drawing/2014/main" id="{378020A6-C58A-BC47-8D6A-EC2A18F768D6}"/>
              </a:ext>
            </a:extLst>
          </p:cNvPr>
          <p:cNvSpPr/>
          <p:nvPr/>
        </p:nvSpPr>
        <p:spPr>
          <a:xfrm>
            <a:off x="635000" y="4089400"/>
            <a:ext cx="7899400" cy="482600"/>
          </a:xfrm>
          <a:prstGeom prst="roundRect">
            <a:avLst/>
          </a:prstGeom>
          <a:solidFill>
            <a:srgbClr val="F1EEFF"/>
          </a:solidFill>
          <a:ln w="12700">
            <a:solidFill>
              <a:srgbClr val="D9CC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6" name="TextBox 55">
            <a:extLst>
              <a:ext uri="{FF2B5EF4-FFF2-40B4-BE49-F238E27FC236}">
                <a16:creationId xmlns:a16="http://schemas.microsoft.com/office/drawing/2014/main" id="{E7FA72CF-1C8B-1D44-B75C-2582FD3D4FA3}"/>
              </a:ext>
            </a:extLst>
          </p:cNvPr>
          <p:cNvSpPr txBox="1"/>
          <p:nvPr/>
        </p:nvSpPr>
        <p:spPr>
          <a:xfrm>
            <a:off x="939800" y="4178300"/>
            <a:ext cx="7289800" cy="304800"/>
          </a:xfrm>
          <a:prstGeom prst="rect">
            <a:avLst/>
          </a:prstGeom>
          <a:noFill/>
        </p:spPr>
        <p:txBody>
          <a:bodyPr vertOverflow="overflow" vert="horz" wrap="square" rtlCol="0" anchor="ctr" anchorCtr="0">
            <a:noAutofit/>
          </a:bodyPr>
          <a:lstStyle/>
          <a:p>
            <a:pPr algn="ctr"/>
            <a:r>
              <a:rPr lang="en-US" sz="1600" b="1" dirty="0">
                <a:solidFill>
                  <a:srgbClr val="3D2B78"/>
                </a:solidFill>
                <a:latin typeface="Arial"/>
                <a:cs typeface="Arial"/>
              </a:rPr>
              <a:t>Action threshold: expected benefit &gt; harm + cost + capacity burden</a:t>
            </a:r>
          </a:p>
        </p:txBody>
      </p:sp>
      <p:sp>
        <p:nvSpPr>
          <p:cNvPr id="57" name="Rounded Rectangle 56">
            <a:extLst>
              <a:ext uri="{FF2B5EF4-FFF2-40B4-BE49-F238E27FC236}">
                <a16:creationId xmlns:a16="http://schemas.microsoft.com/office/drawing/2014/main" id="{5E247585-D35B-D24D-AB9E-F39EB5384C0C}"/>
              </a:ext>
            </a:extLst>
          </p:cNvPr>
          <p:cNvSpPr/>
          <p:nvPr/>
        </p:nvSpPr>
        <p:spPr>
          <a:xfrm>
            <a:off x="635000" y="4648200"/>
            <a:ext cx="7899400" cy="381000"/>
          </a:xfrm>
          <a:prstGeom prst="roundRect">
            <a:avLst/>
          </a:prstGeom>
          <a:solidFill>
            <a:srgbClr val="FF575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8" name="TextBox 57">
            <a:extLst>
              <a:ext uri="{FF2B5EF4-FFF2-40B4-BE49-F238E27FC236}">
                <a16:creationId xmlns:a16="http://schemas.microsoft.com/office/drawing/2014/main" id="{8E4F22A8-295B-1446-A694-9C190C73EB0A}"/>
              </a:ext>
            </a:extLst>
          </p:cNvPr>
          <p:cNvSpPr txBox="1"/>
          <p:nvPr/>
        </p:nvSpPr>
        <p:spPr>
          <a:xfrm>
            <a:off x="914400" y="4699000"/>
            <a:ext cx="7340600" cy="279400"/>
          </a:xfrm>
          <a:prstGeom prst="rect">
            <a:avLst/>
          </a:prstGeom>
          <a:noFill/>
        </p:spPr>
        <p:txBody>
          <a:bodyPr vertOverflow="overflow" vert="horz" wrap="square" rtlCol="0" anchor="ctr" anchorCtr="0">
            <a:noAutofit/>
          </a:bodyPr>
          <a:lstStyle/>
          <a:p>
            <a:pPr algn="ctr"/>
            <a:r>
              <a:rPr lang="en-US" sz="1400" b="1" dirty="0">
                <a:solidFill>
                  <a:srgbClr val="FFFFFF"/>
                </a:solidFill>
                <a:latin typeface="Arial"/>
                <a:cs typeface="Arial"/>
              </a:rPr>
              <a:t>Modeling matters because proactive care is earlier care under uncertainty.</a:t>
            </a:r>
          </a:p>
        </p:txBody>
      </p:sp>
      <p:sp>
        <p:nvSpPr>
          <p:cNvPr id="2" name="kicker">
            <a:extLst>
              <a:ext uri="{FF2B5EF4-FFF2-40B4-BE49-F238E27FC236}">
                <a16:creationId xmlns:a16="http://schemas.microsoft.com/office/drawing/2014/main" id="{C1145AF4-414D-C34C-B359-324E53488726}"/>
              </a:ext>
            </a:extLst>
          </p:cNvPr>
          <p:cNvSpPr txBox="1"/>
          <p:nvPr/>
        </p:nvSpPr>
        <p:spPr>
          <a:xfrm>
            <a:off x="711200" y="254000"/>
            <a:ext cx="3810000" cy="203200"/>
          </a:xfrm>
          <a:prstGeom prst="rect">
            <a:avLst/>
          </a:prstGeom>
          <a:noFill/>
        </p:spPr>
        <p:txBody>
          <a:bodyPr vertOverflow="overflow" vert="horz" wrap="square" rtlCol="0" anchor="t">
            <a:spAutoFit/>
          </a:bodyPr>
          <a:lstStyle/>
          <a:p>
            <a:pPr algn="l"/>
            <a:r>
              <a:rPr lang="en-US" sz="1100" b="1">
                <a:solidFill>
                  <a:srgbClr val="4A00E2"/>
                </a:solidFill>
                <a:latin typeface="Arial"/>
                <a:cs typeface="Arial"/>
              </a:rPr>
              <a:t>CARE STRATEGY</a:t>
            </a:r>
          </a:p>
        </p:txBody>
      </p:sp>
    </p:spTree>
    <p:extLst>
      <p:ext uri="{BB962C8B-B14F-4D97-AF65-F5344CB8AC3E}">
        <p14:creationId xmlns:p14="http://schemas.microsoft.com/office/powerpoint/2010/main" val="3241656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3A84CB5C-721D-844C-BDFA-4D1EDF420AC1}"/>
              </a:ext>
            </a:extLst>
          </p:cNvPr>
          <p:cNvSpPr/>
          <p:nvPr/>
        </p:nvSpPr>
        <p:spPr>
          <a:xfrm>
            <a:off x="431800" y="736600"/>
            <a:ext cx="50800" cy="3911600"/>
          </a:xfrm>
          <a:prstGeom prst="rect">
            <a:avLst/>
          </a:prstGeom>
          <a:solidFill>
            <a:srgbClr val="4B00F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7" name="TextBox 46">
            <a:extLst>
              <a:ext uri="{FF2B5EF4-FFF2-40B4-BE49-F238E27FC236}">
                <a16:creationId xmlns:a16="http://schemas.microsoft.com/office/drawing/2014/main" id="{84CB1B18-DFBA-7B4F-BCAF-69EF5AD62EE7}"/>
              </a:ext>
            </a:extLst>
          </p:cNvPr>
          <p:cNvSpPr txBox="1"/>
          <p:nvPr/>
        </p:nvSpPr>
        <p:spPr>
          <a:xfrm>
            <a:off x="711200" y="304800"/>
            <a:ext cx="3810000" cy="203200"/>
          </a:xfrm>
          <a:prstGeom prst="rect">
            <a:avLst/>
          </a:prstGeom>
          <a:noFill/>
        </p:spPr>
        <p:txBody>
          <a:bodyPr vertOverflow="overflow" vert="horz" wrap="square" rtlCol="0" anchor="t">
            <a:noAutofit/>
          </a:bodyPr>
          <a:lstStyle/>
          <a:p>
            <a:pPr algn="l"/>
            <a:r>
              <a:rPr lang="en-US" sz="1100" b="1">
                <a:solidFill>
                  <a:srgbClr val="4A00E2"/>
                </a:solidFill>
                <a:latin typeface="Arial"/>
                <a:cs typeface="Arial"/>
              </a:rPr>
              <a:t>ACT I | USUAL CARE</a:t>
            </a:r>
          </a:p>
        </p:txBody>
      </p:sp>
      <p:sp>
        <p:nvSpPr>
          <p:cNvPr id="48" name="TextBox 47">
            <a:extLst>
              <a:ext uri="{FF2B5EF4-FFF2-40B4-BE49-F238E27FC236}">
                <a16:creationId xmlns:a16="http://schemas.microsoft.com/office/drawing/2014/main" id="{D5FB1D5A-0505-2949-8BC2-93DBEBA15309}"/>
              </a:ext>
            </a:extLst>
          </p:cNvPr>
          <p:cNvSpPr txBox="1"/>
          <p:nvPr/>
        </p:nvSpPr>
        <p:spPr>
          <a:xfrm>
            <a:off x="711200" y="495300"/>
            <a:ext cx="8001000" cy="508000"/>
          </a:xfrm>
          <a:prstGeom prst="rect">
            <a:avLst/>
          </a:prstGeom>
          <a:noFill/>
        </p:spPr>
        <p:txBody>
          <a:bodyPr vertOverflow="overflow" vert="horz" wrap="square" rtlCol="0" anchor="t">
            <a:normAutofit fontScale="85000" lnSpcReduction="10000"/>
          </a:bodyPr>
          <a:lstStyle/>
          <a:p>
            <a:pPr algn="l"/>
            <a:r>
              <a:rPr lang="en-US" sz="2400" b="1" dirty="0">
                <a:solidFill>
                  <a:srgbClr val="110057"/>
                </a:solidFill>
                <a:latin typeface="Arial"/>
                <a:cs typeface="Arial"/>
              </a:rPr>
              <a:t>Risk scores already route some patients into proactive care</a:t>
            </a:r>
          </a:p>
        </p:txBody>
      </p:sp>
      <p:sp>
        <p:nvSpPr>
          <p:cNvPr id="50" name="Rounded Rectangle 49">
            <a:extLst>
              <a:ext uri="{FF2B5EF4-FFF2-40B4-BE49-F238E27FC236}">
                <a16:creationId xmlns:a16="http://schemas.microsoft.com/office/drawing/2014/main" id="{E64D2BD9-F980-E343-8389-B543DD8F926A}"/>
              </a:ext>
            </a:extLst>
          </p:cNvPr>
          <p:cNvSpPr/>
          <p:nvPr/>
        </p:nvSpPr>
        <p:spPr>
          <a:xfrm>
            <a:off x="812800" y="1397000"/>
            <a:ext cx="2032000" cy="1905000"/>
          </a:xfrm>
          <a:prstGeom prst="roundRect">
            <a:avLst/>
          </a:prstGeom>
          <a:solidFill>
            <a:srgbClr val="FFFFFF"/>
          </a:solidFill>
          <a:ln w="12700">
            <a:solidFill>
              <a:srgbClr val="DDD9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1" name="TextBox 50">
            <a:extLst>
              <a:ext uri="{FF2B5EF4-FFF2-40B4-BE49-F238E27FC236}">
                <a16:creationId xmlns:a16="http://schemas.microsoft.com/office/drawing/2014/main" id="{5C15332F-6188-A247-89F0-9B915C153AD7}"/>
              </a:ext>
            </a:extLst>
          </p:cNvPr>
          <p:cNvSpPr txBox="1"/>
          <p:nvPr/>
        </p:nvSpPr>
        <p:spPr>
          <a:xfrm>
            <a:off x="1016000" y="1600200"/>
            <a:ext cx="1727200" cy="254000"/>
          </a:xfrm>
          <a:prstGeom prst="rect">
            <a:avLst/>
          </a:prstGeom>
          <a:noFill/>
        </p:spPr>
        <p:txBody>
          <a:bodyPr vertOverflow="overflow" vert="horz" wrap="square" rtlCol="0" anchor="t">
            <a:noAutofit/>
          </a:bodyPr>
          <a:lstStyle/>
          <a:p>
            <a:pPr algn="l"/>
            <a:r>
              <a:rPr lang="en-US" sz="1600" b="1" dirty="0">
                <a:solidFill>
                  <a:srgbClr val="1B0758"/>
                </a:solidFill>
                <a:latin typeface="Arial"/>
                <a:cs typeface="Arial"/>
              </a:rPr>
              <a:t>Prediction</a:t>
            </a:r>
          </a:p>
        </p:txBody>
      </p:sp>
      <p:sp>
        <p:nvSpPr>
          <p:cNvPr id="52" name="TextBox 51">
            <a:extLst>
              <a:ext uri="{FF2B5EF4-FFF2-40B4-BE49-F238E27FC236}">
                <a16:creationId xmlns:a16="http://schemas.microsoft.com/office/drawing/2014/main" id="{092FD787-BDD9-4247-8DF3-9CCE2EE822DA}"/>
              </a:ext>
            </a:extLst>
          </p:cNvPr>
          <p:cNvSpPr txBox="1"/>
          <p:nvPr/>
        </p:nvSpPr>
        <p:spPr>
          <a:xfrm>
            <a:off x="1016000" y="1879600"/>
            <a:ext cx="1727200" cy="1320800"/>
          </a:xfrm>
          <a:prstGeom prst="rect">
            <a:avLst/>
          </a:prstGeom>
          <a:noFill/>
        </p:spPr>
        <p:txBody>
          <a:bodyPr vertOverflow="overflow" vert="horz" wrap="square" rtlCol="0" anchor="t" anchorCtr="0">
            <a:noAutofit/>
          </a:bodyPr>
          <a:lstStyle/>
          <a:p>
            <a:pPr algn="l"/>
            <a:r>
              <a:rPr lang="en-US" sz="1300" dirty="0">
                <a:solidFill>
                  <a:srgbClr val="2A2340"/>
                </a:solidFill>
                <a:latin typeface="Arial"/>
                <a:cs typeface="Arial"/>
              </a:rPr>
              <a:t>Claims, utilization history, diagnoses, and demographics feed a Predictive Risk Model that flags high- or rising-risk members.</a:t>
            </a:r>
          </a:p>
        </p:txBody>
      </p:sp>
      <p:sp>
        <p:nvSpPr>
          <p:cNvPr id="53" name="Right Arrow 52">
            <a:extLst>
              <a:ext uri="{FF2B5EF4-FFF2-40B4-BE49-F238E27FC236}">
                <a16:creationId xmlns:a16="http://schemas.microsoft.com/office/drawing/2014/main" id="{09AB4D88-2447-834A-A62B-FAE22626B449}"/>
              </a:ext>
            </a:extLst>
          </p:cNvPr>
          <p:cNvSpPr/>
          <p:nvPr/>
        </p:nvSpPr>
        <p:spPr>
          <a:xfrm>
            <a:off x="2908300" y="2209800"/>
            <a:ext cx="431800" cy="279400"/>
          </a:xfrm>
          <a:prstGeom prst="rightArrow">
            <a:avLst/>
          </a:prstGeom>
          <a:solidFill>
            <a:srgbClr val="6C638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4" name="Rounded Rectangle 53">
            <a:extLst>
              <a:ext uri="{FF2B5EF4-FFF2-40B4-BE49-F238E27FC236}">
                <a16:creationId xmlns:a16="http://schemas.microsoft.com/office/drawing/2014/main" id="{2AA56AFB-D40E-BD47-8DCD-886EF6E0A3F7}"/>
              </a:ext>
            </a:extLst>
          </p:cNvPr>
          <p:cNvSpPr/>
          <p:nvPr/>
        </p:nvSpPr>
        <p:spPr>
          <a:xfrm>
            <a:off x="3403600" y="1397000"/>
            <a:ext cx="2032000" cy="1905000"/>
          </a:xfrm>
          <a:prstGeom prst="roundRect">
            <a:avLst/>
          </a:prstGeom>
          <a:solidFill>
            <a:srgbClr val="F4F1FF"/>
          </a:solidFill>
          <a:ln w="12700">
            <a:solidFill>
              <a:srgbClr val="DDD9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5" name="TextBox 54">
            <a:extLst>
              <a:ext uri="{FF2B5EF4-FFF2-40B4-BE49-F238E27FC236}">
                <a16:creationId xmlns:a16="http://schemas.microsoft.com/office/drawing/2014/main" id="{4B463F98-719F-A94D-8EA5-F652FAF0958C}"/>
              </a:ext>
            </a:extLst>
          </p:cNvPr>
          <p:cNvSpPr txBox="1"/>
          <p:nvPr/>
        </p:nvSpPr>
        <p:spPr>
          <a:xfrm>
            <a:off x="3606800" y="1600200"/>
            <a:ext cx="1727200" cy="254000"/>
          </a:xfrm>
          <a:prstGeom prst="rect">
            <a:avLst/>
          </a:prstGeom>
          <a:noFill/>
        </p:spPr>
        <p:txBody>
          <a:bodyPr vertOverflow="overflow" vert="horz" wrap="square" rtlCol="0" anchor="t">
            <a:noAutofit/>
          </a:bodyPr>
          <a:lstStyle/>
          <a:p>
            <a:pPr algn="l"/>
            <a:r>
              <a:rPr lang="en-US" sz="1600" b="1" dirty="0">
                <a:solidFill>
                  <a:srgbClr val="4B00F5"/>
                </a:solidFill>
                <a:latin typeface="Arial"/>
                <a:cs typeface="Arial"/>
              </a:rPr>
              <a:t>Triage</a:t>
            </a:r>
          </a:p>
        </p:txBody>
      </p:sp>
      <p:sp>
        <p:nvSpPr>
          <p:cNvPr id="56" name="TextBox 55">
            <a:extLst>
              <a:ext uri="{FF2B5EF4-FFF2-40B4-BE49-F238E27FC236}">
                <a16:creationId xmlns:a16="http://schemas.microsoft.com/office/drawing/2014/main" id="{F68E6959-7E97-5E4D-B13D-2EB4591A181C}"/>
              </a:ext>
            </a:extLst>
          </p:cNvPr>
          <p:cNvSpPr txBox="1"/>
          <p:nvPr/>
        </p:nvSpPr>
        <p:spPr>
          <a:xfrm>
            <a:off x="3606800" y="1879600"/>
            <a:ext cx="1727200" cy="1320800"/>
          </a:xfrm>
          <a:prstGeom prst="rect">
            <a:avLst/>
          </a:prstGeom>
          <a:noFill/>
        </p:spPr>
        <p:txBody>
          <a:bodyPr vertOverflow="overflow" vert="horz" wrap="square" rtlCol="0" anchor="t" anchorCtr="0">
            <a:noAutofit/>
          </a:bodyPr>
          <a:lstStyle/>
          <a:p>
            <a:pPr algn="l"/>
            <a:r>
              <a:rPr lang="en-US" sz="1300" dirty="0">
                <a:solidFill>
                  <a:srgbClr val="2A2340"/>
                </a:solidFill>
                <a:latin typeface="Arial"/>
                <a:cs typeface="Arial"/>
              </a:rPr>
              <a:t>Members are routed to care coordination or management.</a:t>
            </a:r>
          </a:p>
        </p:txBody>
      </p:sp>
      <p:sp>
        <p:nvSpPr>
          <p:cNvPr id="57" name="Right Arrow 56">
            <a:extLst>
              <a:ext uri="{FF2B5EF4-FFF2-40B4-BE49-F238E27FC236}">
                <a16:creationId xmlns:a16="http://schemas.microsoft.com/office/drawing/2014/main" id="{F9580115-76BE-7F42-B8E8-A1516C4D8425}"/>
              </a:ext>
            </a:extLst>
          </p:cNvPr>
          <p:cNvSpPr/>
          <p:nvPr/>
        </p:nvSpPr>
        <p:spPr>
          <a:xfrm>
            <a:off x="5499100" y="2209800"/>
            <a:ext cx="431800" cy="279400"/>
          </a:xfrm>
          <a:prstGeom prst="rightArrow">
            <a:avLst/>
          </a:prstGeom>
          <a:solidFill>
            <a:srgbClr val="6C638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8" name="Rounded Rectangle 57">
            <a:extLst>
              <a:ext uri="{FF2B5EF4-FFF2-40B4-BE49-F238E27FC236}">
                <a16:creationId xmlns:a16="http://schemas.microsoft.com/office/drawing/2014/main" id="{24EBC8B5-47E3-634F-B4C2-57153CDE34FB}"/>
              </a:ext>
            </a:extLst>
          </p:cNvPr>
          <p:cNvSpPr/>
          <p:nvPr/>
        </p:nvSpPr>
        <p:spPr>
          <a:xfrm>
            <a:off x="5994400" y="1397000"/>
            <a:ext cx="2032000" cy="1905000"/>
          </a:xfrm>
          <a:prstGeom prst="roundRect">
            <a:avLst/>
          </a:prstGeom>
          <a:solidFill>
            <a:srgbClr val="FFFFFF"/>
          </a:solidFill>
          <a:ln w="12700">
            <a:solidFill>
              <a:srgbClr val="DDD9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9" name="TextBox 58">
            <a:extLst>
              <a:ext uri="{FF2B5EF4-FFF2-40B4-BE49-F238E27FC236}">
                <a16:creationId xmlns:a16="http://schemas.microsoft.com/office/drawing/2014/main" id="{96DC813A-DC6F-9340-95EE-E371E172E04A}"/>
              </a:ext>
            </a:extLst>
          </p:cNvPr>
          <p:cNvSpPr txBox="1"/>
          <p:nvPr/>
        </p:nvSpPr>
        <p:spPr>
          <a:xfrm>
            <a:off x="6197600" y="1600200"/>
            <a:ext cx="1727200" cy="254000"/>
          </a:xfrm>
          <a:prstGeom prst="rect">
            <a:avLst/>
          </a:prstGeom>
          <a:noFill/>
        </p:spPr>
        <p:txBody>
          <a:bodyPr vertOverflow="overflow" vert="horz" wrap="square" rtlCol="0" anchor="t">
            <a:noAutofit/>
          </a:bodyPr>
          <a:lstStyle/>
          <a:p>
            <a:pPr algn="l"/>
            <a:r>
              <a:rPr lang="en-US" sz="1600" b="1" dirty="0">
                <a:solidFill>
                  <a:srgbClr val="1B0758"/>
                </a:solidFill>
                <a:latin typeface="Arial"/>
                <a:cs typeface="Arial"/>
              </a:rPr>
              <a:t>Navigator Help</a:t>
            </a:r>
          </a:p>
        </p:txBody>
      </p:sp>
      <p:sp>
        <p:nvSpPr>
          <p:cNvPr id="60" name="TextBox 59">
            <a:extLst>
              <a:ext uri="{FF2B5EF4-FFF2-40B4-BE49-F238E27FC236}">
                <a16:creationId xmlns:a16="http://schemas.microsoft.com/office/drawing/2014/main" id="{96FC4EAE-C5DA-D245-B1FB-5A783960CA5A}"/>
              </a:ext>
            </a:extLst>
          </p:cNvPr>
          <p:cNvSpPr txBox="1"/>
          <p:nvPr/>
        </p:nvSpPr>
        <p:spPr>
          <a:xfrm>
            <a:off x="6197600" y="1879600"/>
            <a:ext cx="1727200" cy="1320800"/>
          </a:xfrm>
          <a:prstGeom prst="rect">
            <a:avLst/>
          </a:prstGeom>
          <a:noFill/>
        </p:spPr>
        <p:txBody>
          <a:bodyPr vertOverflow="overflow" vert="horz" wrap="square" rtlCol="0" anchor="t" anchorCtr="0">
            <a:noAutofit/>
          </a:bodyPr>
          <a:lstStyle/>
          <a:p>
            <a:pPr algn="l"/>
            <a:r>
              <a:rPr lang="en-US" sz="1300" dirty="0">
                <a:solidFill>
                  <a:srgbClr val="2A2340"/>
                </a:solidFill>
                <a:latin typeface="Arial"/>
                <a:cs typeface="Arial"/>
              </a:rPr>
              <a:t>Care gaps, social determinants (SDoH), transitions, and escalation.</a:t>
            </a:r>
          </a:p>
        </p:txBody>
      </p:sp>
      <p:sp>
        <p:nvSpPr>
          <p:cNvPr id="61" name="Rounded Rectangle 60">
            <a:extLst>
              <a:ext uri="{FF2B5EF4-FFF2-40B4-BE49-F238E27FC236}">
                <a16:creationId xmlns:a16="http://schemas.microsoft.com/office/drawing/2014/main" id="{1BF35266-7C2E-C543-BB0F-A927489D5A06}"/>
              </a:ext>
            </a:extLst>
          </p:cNvPr>
          <p:cNvSpPr/>
          <p:nvPr/>
        </p:nvSpPr>
        <p:spPr>
          <a:xfrm>
            <a:off x="812800" y="3556000"/>
            <a:ext cx="7213600" cy="1092200"/>
          </a:xfrm>
          <a:prstGeom prst="roundRect">
            <a:avLst/>
          </a:prstGeom>
          <a:solidFill>
            <a:srgbClr val="FFFFFF"/>
          </a:solidFill>
          <a:ln w="12700">
            <a:solidFill>
              <a:srgbClr val="E6E1F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2" name="TextBox 61">
            <a:extLst>
              <a:ext uri="{FF2B5EF4-FFF2-40B4-BE49-F238E27FC236}">
                <a16:creationId xmlns:a16="http://schemas.microsoft.com/office/drawing/2014/main" id="{4E1139BE-8471-6947-AE8D-436E7339B78A}"/>
              </a:ext>
            </a:extLst>
          </p:cNvPr>
          <p:cNvSpPr txBox="1"/>
          <p:nvPr/>
        </p:nvSpPr>
        <p:spPr>
          <a:xfrm>
            <a:off x="1016000" y="3683000"/>
            <a:ext cx="6807200" cy="228600"/>
          </a:xfrm>
          <a:prstGeom prst="rect">
            <a:avLst/>
          </a:prstGeom>
          <a:noFill/>
        </p:spPr>
        <p:txBody>
          <a:bodyPr vertOverflow="overflow" vert="horz" wrap="square" rtlCol="0" anchor="t">
            <a:noAutofit/>
          </a:bodyPr>
          <a:lstStyle/>
          <a:p>
            <a:pPr algn="l"/>
            <a:r>
              <a:rPr lang="en-US" sz="1600" b="1" dirty="0">
                <a:solidFill>
                  <a:srgbClr val="1B0758"/>
                </a:solidFill>
                <a:latin typeface="Arial"/>
                <a:cs typeface="Arial"/>
              </a:rPr>
              <a:t>What this looks like operationally</a:t>
            </a:r>
          </a:p>
        </p:txBody>
      </p:sp>
      <p:sp>
        <p:nvSpPr>
          <p:cNvPr id="63" name="TextBox 62">
            <a:extLst>
              <a:ext uri="{FF2B5EF4-FFF2-40B4-BE49-F238E27FC236}">
                <a16:creationId xmlns:a16="http://schemas.microsoft.com/office/drawing/2014/main" id="{3EF1951A-45F8-0B47-8164-0C9E003BBBCE}"/>
              </a:ext>
            </a:extLst>
          </p:cNvPr>
          <p:cNvSpPr txBox="1"/>
          <p:nvPr/>
        </p:nvSpPr>
        <p:spPr>
          <a:xfrm>
            <a:off x="1016000" y="3987800"/>
            <a:ext cx="6807200" cy="685800"/>
          </a:xfrm>
          <a:prstGeom prst="rect">
            <a:avLst/>
          </a:prstGeom>
          <a:noFill/>
        </p:spPr>
        <p:txBody>
          <a:bodyPr vertOverflow="overflow" vert="horz" wrap="square" rtlCol="0" anchor="t">
            <a:noAutofit/>
          </a:bodyPr>
          <a:lstStyle/>
          <a:p>
            <a:pPr algn="l"/>
            <a:r>
              <a:rPr lang="en-US" sz="1600" dirty="0">
                <a:solidFill>
                  <a:srgbClr val="2A2340"/>
                </a:solidFill>
                <a:latin typeface="Arial"/>
                <a:cs typeface="Arial"/>
              </a:rPr>
              <a:t>Coordinators organize care, navigate benefits, and connect patients to preventive and social-needs support.</a:t>
            </a:r>
          </a:p>
        </p:txBody>
      </p:sp>
    </p:spTree>
    <p:extLst>
      <p:ext uri="{BB962C8B-B14F-4D97-AF65-F5344CB8AC3E}">
        <p14:creationId xmlns:p14="http://schemas.microsoft.com/office/powerpoint/2010/main" val="3325665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0FBDFF7-239F-F84E-8524-CFA88A354E53}"/>
              </a:ext>
            </a:extLst>
          </p:cNvPr>
          <p:cNvSpPr/>
          <p:nvPr/>
        </p:nvSpPr>
        <p:spPr>
          <a:xfrm>
            <a:off x="0" y="0"/>
            <a:ext cx="9144000" cy="5143500"/>
          </a:xfrm>
          <a:prstGeom prst="rect">
            <a:avLst/>
          </a:prstGeom>
          <a:solidFill>
            <a:srgbClr val="13004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 name="TextBox 10">
            <a:extLst>
              <a:ext uri="{FF2B5EF4-FFF2-40B4-BE49-F238E27FC236}">
                <a16:creationId xmlns:a16="http://schemas.microsoft.com/office/drawing/2014/main" id="{194F0AB3-F3F1-7E41-936D-360E7FCD0F1E}"/>
              </a:ext>
            </a:extLst>
          </p:cNvPr>
          <p:cNvSpPr txBox="1"/>
          <p:nvPr/>
        </p:nvSpPr>
        <p:spPr>
          <a:xfrm>
            <a:off x="609600" y="800100"/>
            <a:ext cx="7747000" cy="533400"/>
          </a:xfrm>
          <a:prstGeom prst="rect">
            <a:avLst/>
          </a:prstGeom>
          <a:noFill/>
          <a:ln>
            <a:noFill/>
          </a:ln>
        </p:spPr>
        <p:txBody>
          <a:bodyPr vertOverflow="overflow" vert="horz" wrap="square" rtlCol="0" anchor="t">
            <a:noAutofit/>
          </a:bodyPr>
          <a:lstStyle/>
          <a:p>
            <a:pPr algn="l"/>
            <a:r>
              <a:rPr lang="en-US" sz="3200" b="1" dirty="0">
                <a:solidFill>
                  <a:srgbClr val="FFFFFF"/>
                </a:solidFill>
                <a:latin typeface="Arial"/>
                <a:cs typeface="Arial"/>
              </a:rPr>
              <a:t>ASCEND-MA Trial</a:t>
            </a:r>
          </a:p>
        </p:txBody>
      </p:sp>
      <p:sp>
        <p:nvSpPr>
          <p:cNvPr id="12" name="TextBox 11">
            <a:extLst>
              <a:ext uri="{FF2B5EF4-FFF2-40B4-BE49-F238E27FC236}">
                <a16:creationId xmlns:a16="http://schemas.microsoft.com/office/drawing/2014/main" id="{0EFAAF4C-C337-9F4C-AD9B-E7921D5B77F0}"/>
              </a:ext>
            </a:extLst>
          </p:cNvPr>
          <p:cNvSpPr txBox="1"/>
          <p:nvPr/>
        </p:nvSpPr>
        <p:spPr>
          <a:xfrm>
            <a:off x="609600" y="1778000"/>
            <a:ext cx="8102600" cy="965200"/>
          </a:xfrm>
          <a:prstGeom prst="rect">
            <a:avLst/>
          </a:prstGeom>
          <a:noFill/>
          <a:ln>
            <a:noFill/>
          </a:ln>
        </p:spPr>
        <p:txBody>
          <a:bodyPr vertOverflow="overflow" vert="horz" wrap="square" rtlCol="0" anchor="t">
            <a:normAutofit/>
          </a:bodyPr>
          <a:lstStyle/>
          <a:p>
            <a:pPr algn="l"/>
            <a:r>
              <a:rPr lang="en-US" sz="2000" b="1">
                <a:solidFill>
                  <a:srgbClr val="FF5A5F"/>
                </a:solidFill>
                <a:latin typeface="Arial"/>
                <a:cs typeface="Arial"/>
              </a:rPr>
              <a:t>AI-Supported Care Engagement for Next-step Delivery</a:t>
            </a:r>
          </a:p>
          <a:p>
            <a:pPr algn="l"/>
            <a:r>
              <a:rPr lang="en-US" sz="2000" b="1">
                <a:solidFill>
                  <a:srgbClr val="FF5A5F"/>
                </a:solidFill>
                <a:latin typeface="Arial"/>
                <a:cs typeface="Arial"/>
              </a:rPr>
              <a:t>— Medicare Advantage</a:t>
            </a:r>
          </a:p>
        </p:txBody>
      </p:sp>
      <p:sp>
        <p:nvSpPr>
          <p:cNvPr id="13" name="TextBox 12">
            <a:extLst>
              <a:ext uri="{FF2B5EF4-FFF2-40B4-BE49-F238E27FC236}">
                <a16:creationId xmlns:a16="http://schemas.microsoft.com/office/drawing/2014/main" id="{C467D3A8-4949-AB43-97CF-CC52BB0FC493}"/>
              </a:ext>
            </a:extLst>
          </p:cNvPr>
          <p:cNvSpPr txBox="1"/>
          <p:nvPr/>
        </p:nvSpPr>
        <p:spPr>
          <a:xfrm>
            <a:off x="609600" y="4038600"/>
            <a:ext cx="7747000" cy="736600"/>
          </a:xfrm>
          <a:prstGeom prst="rect">
            <a:avLst/>
          </a:prstGeom>
          <a:noFill/>
          <a:ln>
            <a:noFill/>
          </a:ln>
        </p:spPr>
        <p:txBody>
          <a:bodyPr vertOverflow="overflow" vert="horz" wrap="square" rtlCol="0" anchor="t">
            <a:normAutofit/>
          </a:bodyPr>
          <a:lstStyle/>
          <a:p>
            <a:pPr algn="l"/>
            <a:r>
              <a:rPr lang="en-US" sz="1900" b="1" dirty="0">
                <a:solidFill>
                  <a:srgbClr val="FFFFFF"/>
                </a:solidFill>
                <a:latin typeface="Arial"/>
                <a:cs typeface="Arial"/>
              </a:rPr>
              <a:t>Can prediction extend preventive attention to patients</a:t>
            </a:r>
          </a:p>
          <a:p>
            <a:pPr algn="l"/>
            <a:r>
              <a:rPr lang="en-US" sz="1900" b="1" dirty="0">
                <a:solidFill>
                  <a:srgbClr val="FFFFFF"/>
                </a:solidFill>
                <a:latin typeface="Arial"/>
                <a:cs typeface="Arial"/>
              </a:rPr>
              <a:t>not yet reached by usual care?</a:t>
            </a:r>
          </a:p>
        </p:txBody>
      </p:sp>
      <p:sp>
        <p:nvSpPr>
          <p:cNvPr id="16" name="ASCEND-MA Study Team">
            <a:extLst>
              <a:ext uri="{FF2B5EF4-FFF2-40B4-BE49-F238E27FC236}">
                <a16:creationId xmlns:a16="http://schemas.microsoft.com/office/drawing/2014/main" id="{5E782831-C440-DE43-AF69-19AB9B7227C9}"/>
              </a:ext>
            </a:extLst>
          </p:cNvPr>
          <p:cNvSpPr txBox="1"/>
          <p:nvPr/>
        </p:nvSpPr>
        <p:spPr>
          <a:xfrm>
            <a:off x="609600" y="2984500"/>
            <a:ext cx="8102600" cy="736600"/>
          </a:xfrm>
          <a:prstGeom prst="rect">
            <a:avLst/>
          </a:prstGeom>
          <a:noFill/>
        </p:spPr>
        <p:txBody>
          <a:bodyPr vertOverflow="overflow" vert="horz" wrap="square" rtlCol="0" anchor="t">
            <a:normAutofit/>
          </a:bodyPr>
          <a:lstStyle/>
          <a:p>
            <a:pPr algn="l"/>
            <a:r>
              <a:rPr lang="en-US" sz="1350">
                <a:solidFill>
                  <a:srgbClr val="CADCFC"/>
                </a:solidFill>
                <a:latin typeface="Arial"/>
                <a:cs typeface="Arial"/>
              </a:rPr>
              <a:t>Study team: Joseph Kamerath, MD (PI); Brian Locke, MD; Haya Khalaf, RN;</a:t>
            </a:r>
          </a:p>
          <a:p>
            <a:pPr algn="l"/>
            <a:r>
              <a:rPr lang="en-US" sz="1350">
                <a:solidFill>
                  <a:srgbClr val="CADCFC"/>
                </a:solidFill>
                <a:latin typeface="Arial"/>
                <a:cs typeface="Arial"/>
              </a:rPr>
              <a:t>Kate Minick, PhD; Samuel Brown, MD</a:t>
            </a:r>
          </a:p>
        </p:txBody>
      </p:sp>
    </p:spTree>
    <p:extLst>
      <p:ext uri="{BB962C8B-B14F-4D97-AF65-F5344CB8AC3E}">
        <p14:creationId xmlns:p14="http://schemas.microsoft.com/office/powerpoint/2010/main" val="2345182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FFFFFF"/>
          </a:solidFill>
          <a:ln w="12700">
            <a:solidFill>
              <a:srgbClr val="FFFFFF">
                <a:alpha val="0"/>
              </a:srgbClr>
            </a:solidFill>
            <a:prstDash val="solid"/>
          </a:ln>
        </p:spPr>
        <p:txBody>
          <a:bodyPr/>
          <a:lstStyle/>
          <a:p>
            <a:endParaRPr lang="en-US" sz="1600">
              <a:latin typeface="Aptos"/>
              <a:cs typeface="Aptos"/>
            </a:endParaRPr>
          </a:p>
        </p:txBody>
      </p:sp>
      <p:sp>
        <p:nvSpPr>
          <p:cNvPr id="3" name="Text 1"/>
          <p:cNvSpPr/>
          <p:nvPr/>
        </p:nvSpPr>
        <p:spPr>
          <a:xfrm>
            <a:off x="542911" y="457200"/>
            <a:ext cx="7929365" cy="264319"/>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600" b="1" dirty="0">
                <a:solidFill>
                  <a:srgbClr val="3D2B78"/>
                </a:solidFill>
                <a:latin typeface="Aptos"/>
                <a:ea typeface="Aptos" pitchFamily="34" charset="-122"/>
                <a:cs typeface="Aptos"/>
              </a:rPr>
              <a:t>ASCEND-MA tests risk targeting under capacity constraints</a:t>
            </a:r>
            <a:endParaRPr lang="en-US" sz="1600" dirty="0">
              <a:latin typeface="Aptos"/>
              <a:cs typeface="Aptos"/>
            </a:endParaRPr>
          </a:p>
        </p:txBody>
      </p:sp>
      <p:sp>
        <p:nvSpPr>
          <p:cNvPr id="4" name="Text 2"/>
          <p:cNvSpPr/>
          <p:nvPr/>
        </p:nvSpPr>
        <p:spPr>
          <a:xfrm>
            <a:off x="557199" y="787400"/>
            <a:ext cx="7715057" cy="4318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600" dirty="0">
                <a:solidFill>
                  <a:srgbClr val="666666"/>
                </a:solidFill>
                <a:latin typeface="Aptos"/>
              </a:rPr>
              <a:t>The comparator is the best available workflow, not an ideal clinician.</a:t>
            </a:r>
          </a:p>
        </p:txBody>
      </p:sp>
      <p:sp>
        <p:nvSpPr>
          <p:cNvPr id="5" name="Shape 3"/>
          <p:cNvSpPr/>
          <p:nvPr/>
        </p:nvSpPr>
        <p:spPr>
          <a:xfrm>
            <a:off x="542912" y="1244600"/>
            <a:ext cx="8057948" cy="14288"/>
          </a:xfrm>
          <a:prstGeom prst="rect">
            <a:avLst/>
          </a:prstGeom>
          <a:solidFill>
            <a:srgbClr val="D7DCE3"/>
          </a:solidFill>
          <a:ln w="12700">
            <a:solidFill>
              <a:srgbClr val="FFFFFF">
                <a:alpha val="0"/>
              </a:srgbClr>
            </a:solidFill>
            <a:prstDash val="solid"/>
          </a:ln>
        </p:spPr>
        <p:txBody>
          <a:bodyPr/>
          <a:lstStyle/>
          <a:p>
            <a:endParaRPr lang="en-US" sz="1600">
              <a:latin typeface="Aptos"/>
              <a:cs typeface="Aptos"/>
            </a:endParaRPr>
          </a:p>
        </p:txBody>
      </p:sp>
      <p:sp>
        <p:nvSpPr>
          <p:cNvPr id="6" name="Text 4"/>
          <p:cNvSpPr/>
          <p:nvPr/>
        </p:nvSpPr>
        <p:spPr>
          <a:xfrm>
            <a:off x="660400" y="1498600"/>
            <a:ext cx="3810000" cy="2540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500" b="1" dirty="0">
                <a:solidFill>
                  <a:srgbClr val="1C0A63"/>
                </a:solidFill>
                <a:latin typeface="Aptos"/>
                <a:cs typeface="Aptos"/>
              </a:rPr>
              <a:t>Current risk-targeting infrastructure</a:t>
            </a:r>
          </a:p>
        </p:txBody>
      </p:sp>
      <p:sp>
        <p:nvSpPr>
          <p:cNvPr id="7" name="Text 5"/>
          <p:cNvSpPr/>
          <p:nvPr/>
        </p:nvSpPr>
        <p:spPr>
          <a:xfrm>
            <a:off x="4724400" y="1498600"/>
            <a:ext cx="3746500" cy="2540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500" b="1" dirty="0">
                <a:solidFill>
                  <a:srgbClr val="1C0A63"/>
                </a:solidFill>
                <a:latin typeface="Aptos"/>
                <a:cs typeface="Aptos"/>
              </a:rPr>
              <a:t>Why supervised AI is plausible here</a:t>
            </a:r>
          </a:p>
        </p:txBody>
      </p:sp>
      <p:sp>
        <p:nvSpPr>
          <p:cNvPr id="8" name="Shape 6"/>
          <p:cNvSpPr/>
          <p:nvPr/>
        </p:nvSpPr>
        <p:spPr>
          <a:xfrm>
            <a:off x="660400" y="1905000"/>
            <a:ext cx="3810000" cy="762000"/>
          </a:xfrm>
          <a:prstGeom prst="roundRect">
            <a:avLst/>
          </a:prstGeom>
          <a:solidFill>
            <a:srgbClr val="1C0A63"/>
          </a:solidFill>
          <a:ln w="12700">
            <a:solidFill>
              <a:srgbClr val="FFFFFF">
                <a:alpha val="0"/>
              </a:srgbClr>
            </a:solidFill>
            <a:prstDash val="solid"/>
          </a:ln>
        </p:spPr>
        <p:txBody>
          <a:bodyPr/>
          <a:lstStyle/>
          <a:p>
            <a:endParaRPr lang="en-US" sz="1600">
              <a:latin typeface="Aptos"/>
              <a:cs typeface="Aptos"/>
            </a:endParaRPr>
          </a:p>
        </p:txBody>
      </p:sp>
      <p:sp>
        <p:nvSpPr>
          <p:cNvPr id="9" name="Text 7"/>
          <p:cNvSpPr/>
          <p:nvPr/>
        </p:nvSpPr>
        <p:spPr>
          <a:xfrm>
            <a:off x="863600" y="2082800"/>
            <a:ext cx="3403600" cy="431800"/>
          </a:xfrm>
          <a:prstGeom prst="rect">
            <a:avLst/>
          </a:prstGeom>
          <a:noFill/>
          <a:ln/>
        </p:spPr>
        <p:txBody>
          <a:bodyPr wrap="square" lIns="0" tIns="0" rIns="0" bIns="0" rtlCol="0" anchor="ctr" anchorCtr="0">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dirty="0">
                <a:solidFill>
                  <a:srgbClr val="FFFFFF"/>
                </a:solidFill>
                <a:latin typeface="Aptos"/>
                <a:cs typeface="Aptos"/>
              </a:rPr>
              <a:t>High-risk CM</a:t>
            </a:r>
          </a:p>
          <a:p>
            <a:pPr marL="0" indent="0" algn="l">
              <a:buNone/>
            </a:pPr>
            <a:r>
              <a:rPr lang="en-US" sz="1400" b="1" dirty="0">
                <a:solidFill>
                  <a:srgbClr val="FFFFFF"/>
                </a:solidFill>
                <a:latin typeface="Aptos"/>
                <a:cs typeface="Aptos"/>
              </a:rPr>
              <a:t>high-touch support</a:t>
            </a:r>
          </a:p>
        </p:txBody>
      </p:sp>
      <p:sp>
        <p:nvSpPr>
          <p:cNvPr id="10" name="Shape 8"/>
          <p:cNvSpPr/>
          <p:nvPr/>
        </p:nvSpPr>
        <p:spPr>
          <a:xfrm>
            <a:off x="660400" y="2819400"/>
            <a:ext cx="3810000" cy="1320800"/>
          </a:xfrm>
          <a:prstGeom prst="roundRect">
            <a:avLst/>
          </a:prstGeom>
          <a:solidFill>
            <a:srgbClr val="E7E0FF"/>
          </a:solidFill>
          <a:ln w="12700">
            <a:solidFill>
              <a:srgbClr val="FFFFFF">
                <a:alpha val="0"/>
              </a:srgbClr>
            </a:solidFill>
            <a:prstDash val="solid"/>
          </a:ln>
        </p:spPr>
        <p:txBody>
          <a:bodyPr/>
          <a:lstStyle/>
          <a:p>
            <a:endParaRPr lang="en-US" sz="1600">
              <a:latin typeface="Aptos"/>
              <a:cs typeface="Aptos"/>
            </a:endParaRPr>
          </a:p>
        </p:txBody>
      </p:sp>
      <p:sp>
        <p:nvSpPr>
          <p:cNvPr id="11" name="Text 9"/>
          <p:cNvSpPr/>
          <p:nvPr/>
        </p:nvSpPr>
        <p:spPr>
          <a:xfrm>
            <a:off x="863600" y="2946400"/>
            <a:ext cx="3403600" cy="228600"/>
          </a:xfrm>
          <a:prstGeom prst="rect">
            <a:avLst/>
          </a:prstGeom>
          <a:noFill/>
          <a:ln/>
        </p:spPr>
        <p:txBody>
          <a:bodyPr wrap="square" lIns="0" tIns="0" rIns="0" bIns="0" rtlCol="0" anchor="ctr" anchorCtr="0">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dirty="0">
                <a:solidFill>
                  <a:srgbClr val="1C0A63"/>
                </a:solidFill>
                <a:latin typeface="Aptos"/>
                <a:cs typeface="Aptos"/>
              </a:rPr>
              <a:t>Rising-risk middle</a:t>
            </a:r>
          </a:p>
        </p:txBody>
      </p:sp>
      <p:sp>
        <p:nvSpPr>
          <p:cNvPr id="12" name="Text 10"/>
          <p:cNvSpPr/>
          <p:nvPr/>
        </p:nvSpPr>
        <p:spPr>
          <a:xfrm>
            <a:off x="863600" y="3225800"/>
            <a:ext cx="3403600" cy="685800"/>
          </a:xfrm>
          <a:prstGeom prst="rect">
            <a:avLst/>
          </a:prstGeom>
          <a:noFill/>
          <a:ln/>
        </p:spPr>
        <p:txBody>
          <a:bodyPr wrap="square" lIns="0" tIns="0" rIns="0" bIns="0" rtlCol="0" anchor="ctr" anchorCtr="0">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300" dirty="0">
                <a:solidFill>
                  <a:srgbClr val="2A2340"/>
                </a:solidFill>
                <a:latin typeface="Aptos"/>
                <a:cs typeface="Aptos"/>
              </a:rPr>
              <a:t>PRM RR ≥0.70; CR &lt;0.95</a:t>
            </a:r>
          </a:p>
          <a:p>
            <a:pPr marL="0" indent="0" algn="l">
              <a:buNone/>
            </a:pPr>
            <a:r>
              <a:rPr lang="en-US" sz="1300" dirty="0">
                <a:solidFill>
                  <a:srgbClr val="2A2340"/>
                </a:solidFill>
                <a:latin typeface="Aptos"/>
                <a:cs typeface="Aptos"/>
              </a:rPr>
              <a:t>≥30% predicted YoY cost growth</a:t>
            </a:r>
          </a:p>
          <a:p>
            <a:pPr marL="0" indent="0" algn="l">
              <a:buNone/>
            </a:pPr>
            <a:r>
              <a:rPr lang="en-US" sz="1300" dirty="0">
                <a:solidFill>
                  <a:srgbClr val="2A2340"/>
                </a:solidFill>
                <a:latin typeface="Aptos"/>
                <a:cs typeface="Aptos"/>
              </a:rPr>
              <a:t>not yet in high-risk CM</a:t>
            </a:r>
          </a:p>
        </p:txBody>
      </p:sp>
      <p:sp>
        <p:nvSpPr>
          <p:cNvPr id="13" name="Shape 11"/>
          <p:cNvSpPr/>
          <p:nvPr/>
        </p:nvSpPr>
        <p:spPr>
          <a:xfrm>
            <a:off x="660400" y="4292600"/>
            <a:ext cx="3810000" cy="762000"/>
          </a:xfrm>
          <a:prstGeom prst="roundRect">
            <a:avLst/>
          </a:prstGeom>
          <a:solidFill>
            <a:srgbClr val="F4F1FF"/>
          </a:solidFill>
          <a:ln w="12700">
            <a:solidFill>
              <a:srgbClr val="FFFFFF">
                <a:alpha val="0"/>
              </a:srgbClr>
            </a:solidFill>
            <a:prstDash val="solid"/>
          </a:ln>
        </p:spPr>
        <p:txBody>
          <a:bodyPr/>
          <a:lstStyle/>
          <a:p>
            <a:endParaRPr lang="en-US" sz="1600">
              <a:latin typeface="Aptos"/>
              <a:cs typeface="Aptos"/>
            </a:endParaRPr>
          </a:p>
        </p:txBody>
      </p:sp>
      <p:sp>
        <p:nvSpPr>
          <p:cNvPr id="14" name="Text 12"/>
          <p:cNvSpPr/>
          <p:nvPr/>
        </p:nvSpPr>
        <p:spPr>
          <a:xfrm>
            <a:off x="863600" y="4470400"/>
            <a:ext cx="3403600" cy="457200"/>
          </a:xfrm>
          <a:prstGeom prst="rect">
            <a:avLst/>
          </a:prstGeom>
          <a:noFill/>
          <a:ln/>
        </p:spPr>
        <p:txBody>
          <a:bodyPr wrap="square" lIns="0" tIns="0" rIns="0" bIns="0" rtlCol="0" anchor="ctr" anchorCtr="0">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dirty="0">
                <a:solidFill>
                  <a:srgbClr val="2A2340"/>
                </a:solidFill>
                <a:latin typeface="Aptos"/>
                <a:cs typeface="Aptos"/>
              </a:rPr>
              <a:t>Broad MA population</a:t>
            </a:r>
          </a:p>
          <a:p>
            <a:pPr marL="0" indent="0" algn="l">
              <a:buNone/>
            </a:pPr>
            <a:r>
              <a:rPr lang="en-US" sz="1400" b="1" dirty="0">
                <a:solidFill>
                  <a:srgbClr val="2A2340"/>
                </a:solidFill>
                <a:latin typeface="Aptos"/>
                <a:cs typeface="Aptos"/>
              </a:rPr>
              <a:t>routine care + low-intensity outreach</a:t>
            </a:r>
          </a:p>
        </p:txBody>
      </p:sp>
      <p:sp>
        <p:nvSpPr>
          <p:cNvPr id="15" name="Shape 13"/>
          <p:cNvSpPr/>
          <p:nvPr/>
        </p:nvSpPr>
        <p:spPr>
          <a:xfrm>
            <a:off x="4724400" y="1905000"/>
            <a:ext cx="3835400" cy="2895600"/>
          </a:xfrm>
          <a:prstGeom prst="rect">
            <a:avLst/>
          </a:prstGeom>
          <a:solidFill>
            <a:srgbClr val="F4F1FF"/>
          </a:solidFill>
          <a:ln w="12700">
            <a:solidFill>
              <a:srgbClr val="FFFFFF">
                <a:alpha val="0"/>
              </a:srgbClr>
            </a:solidFill>
            <a:prstDash val="solid"/>
          </a:ln>
        </p:spPr>
        <p:txBody>
          <a:bodyPr/>
          <a:lstStyle/>
          <a:p>
            <a:endParaRPr lang="en-US" sz="1600">
              <a:latin typeface="Aptos"/>
              <a:cs typeface="Aptos"/>
            </a:endParaRPr>
          </a:p>
        </p:txBody>
      </p:sp>
      <p:sp>
        <p:nvSpPr>
          <p:cNvPr id="16" name="Shape 14"/>
          <p:cNvSpPr/>
          <p:nvPr/>
        </p:nvSpPr>
        <p:spPr>
          <a:xfrm>
            <a:off x="4724400" y="1905000"/>
            <a:ext cx="76200" cy="2895600"/>
          </a:xfrm>
          <a:prstGeom prst="rect">
            <a:avLst/>
          </a:prstGeom>
          <a:solidFill>
            <a:srgbClr val="4B00E8"/>
          </a:solidFill>
          <a:ln w="12700">
            <a:solidFill>
              <a:srgbClr val="FFFFFF">
                <a:alpha val="0"/>
              </a:srgbClr>
            </a:solidFill>
            <a:prstDash val="solid"/>
          </a:ln>
        </p:spPr>
        <p:txBody>
          <a:bodyPr/>
          <a:lstStyle/>
          <a:p>
            <a:endParaRPr lang="en-US" sz="1600">
              <a:latin typeface="Aptos"/>
              <a:cs typeface="Aptos"/>
            </a:endParaRPr>
          </a:p>
        </p:txBody>
      </p:sp>
      <p:sp>
        <p:nvSpPr>
          <p:cNvPr id="17" name="Text 15"/>
          <p:cNvSpPr/>
          <p:nvPr/>
        </p:nvSpPr>
        <p:spPr>
          <a:xfrm>
            <a:off x="4978400" y="2108200"/>
            <a:ext cx="3403600" cy="2286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dirty="0">
                <a:solidFill>
                  <a:srgbClr val="1C0A63"/>
                </a:solidFill>
                <a:latin typeface="Aptos"/>
                <a:cs typeface="Aptos"/>
              </a:rPr>
              <a:t>Capacity constraint</a:t>
            </a:r>
          </a:p>
        </p:txBody>
      </p:sp>
      <p:sp>
        <p:nvSpPr>
          <p:cNvPr id="18" name="Text 16"/>
          <p:cNvSpPr/>
          <p:nvPr/>
        </p:nvSpPr>
        <p:spPr>
          <a:xfrm>
            <a:off x="4978400" y="2387600"/>
            <a:ext cx="3403600" cy="5080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dirty="0">
                <a:solidFill>
                  <a:srgbClr val="2A2340"/>
                </a:solidFill>
                <a:latin typeface="Aptos"/>
                <a:cs typeface="Aptos"/>
              </a:rPr>
              <a:t>Teams can't review the full rising-risk panel.</a:t>
            </a:r>
          </a:p>
        </p:txBody>
      </p:sp>
      <p:sp>
        <p:nvSpPr>
          <p:cNvPr id="19" name="Text 17"/>
          <p:cNvSpPr/>
          <p:nvPr/>
        </p:nvSpPr>
        <p:spPr>
          <a:xfrm>
            <a:off x="4978400" y="3124200"/>
            <a:ext cx="3403600" cy="2286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dirty="0">
                <a:solidFill>
                  <a:srgbClr val="1C0A63"/>
                </a:solidFill>
                <a:latin typeface="Aptos"/>
                <a:cs typeface="Aptos"/>
              </a:rPr>
              <a:t>Targeting problem</a:t>
            </a:r>
          </a:p>
        </p:txBody>
      </p:sp>
      <p:sp>
        <p:nvSpPr>
          <p:cNvPr id="20" name="Text 18"/>
          <p:cNvSpPr/>
          <p:nvPr/>
        </p:nvSpPr>
        <p:spPr>
          <a:xfrm>
            <a:off x="4978400" y="3403600"/>
            <a:ext cx="3403600" cy="2794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dirty="0">
                <a:solidFill>
                  <a:srgbClr val="2A2340"/>
                </a:solidFill>
                <a:latin typeface="Aptos"/>
                <a:cs typeface="Aptos"/>
              </a:rPr>
              <a:t>Reach preventable, unattended risk.</a:t>
            </a:r>
          </a:p>
        </p:txBody>
      </p:sp>
      <p:sp>
        <p:nvSpPr>
          <p:cNvPr id="21" name="Text 19"/>
          <p:cNvSpPr/>
          <p:nvPr/>
        </p:nvSpPr>
        <p:spPr>
          <a:xfrm>
            <a:off x="4978400" y="4140200"/>
            <a:ext cx="3403600" cy="2286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dirty="0">
                <a:solidFill>
                  <a:srgbClr val="1C0A63"/>
                </a:solidFill>
                <a:latin typeface="Aptos"/>
                <a:cs typeface="Aptos"/>
              </a:rPr>
              <a:t>Base-rate constraint</a:t>
            </a:r>
          </a:p>
        </p:txBody>
      </p:sp>
      <p:sp>
        <p:nvSpPr>
          <p:cNvPr id="22" name="Text 20"/>
          <p:cNvSpPr/>
          <p:nvPr/>
        </p:nvSpPr>
        <p:spPr>
          <a:xfrm>
            <a:off x="4978400" y="4419600"/>
            <a:ext cx="3403600" cy="6350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dirty="0">
                <a:solidFill>
                  <a:srgbClr val="2A2340"/>
                </a:solidFill>
                <a:latin typeface="Aptos"/>
                <a:cs typeface="Aptos"/>
              </a:rPr>
              <a:t>Expand reach only when benefit justifies burden.</a:t>
            </a:r>
          </a:p>
        </p:txBody>
      </p:sp>
      <p:sp>
        <p:nvSpPr>
          <p:cNvPr id="26" name="accent rail">
            <a:extLst>
              <a:ext uri="{FF2B5EF4-FFF2-40B4-BE49-F238E27FC236}">
                <a16:creationId xmlns:a16="http://schemas.microsoft.com/office/drawing/2014/main" id="{0BD4055D-FC22-FA49-8B35-645E2508AC68}"/>
              </a:ext>
            </a:extLst>
          </p:cNvPr>
          <p:cNvSpPr/>
          <p:nvPr/>
        </p:nvSpPr>
        <p:spPr>
          <a:xfrm>
            <a:off x="381000" y="457200"/>
            <a:ext cx="63500" cy="4343400"/>
          </a:xfrm>
          <a:prstGeom prst="rect">
            <a:avLst/>
          </a:prstGeom>
          <a:solidFill>
            <a:srgbClr val="5E17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6958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333258-3BDC-B340-8D77-DD832C646663}"/>
              </a:ext>
            </a:extLst>
          </p:cNvPr>
          <p:cNvSpPr/>
          <p:nvPr/>
        </p:nvSpPr>
        <p:spPr>
          <a:xfrm>
            <a:off x="431800" y="736600"/>
            <a:ext cx="50800" cy="3810000"/>
          </a:xfrm>
          <a:prstGeom prst="rect">
            <a:avLst/>
          </a:prstGeom>
          <a:solidFill>
            <a:srgbClr val="4B00E8"/>
          </a:solidFill>
          <a:ln w="12700">
            <a:solidFill>
              <a:srgbClr val="4B00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 name="TextBox 2">
            <a:extLst>
              <a:ext uri="{FF2B5EF4-FFF2-40B4-BE49-F238E27FC236}">
                <a16:creationId xmlns:a16="http://schemas.microsoft.com/office/drawing/2014/main" id="{50A5D9C9-8873-C043-807D-A4A87828E0A3}"/>
              </a:ext>
            </a:extLst>
          </p:cNvPr>
          <p:cNvSpPr txBox="1"/>
          <p:nvPr/>
        </p:nvSpPr>
        <p:spPr>
          <a:xfrm>
            <a:off x="800100" y="304800"/>
            <a:ext cx="5334000" cy="203200"/>
          </a:xfrm>
          <a:prstGeom prst="rect">
            <a:avLst/>
          </a:prstGeom>
          <a:noFill/>
        </p:spPr>
        <p:txBody>
          <a:bodyPr vertOverflow="overflow" vert="horz" wrap="square" rtlCol="0" anchor="t">
            <a:noAutofit/>
          </a:bodyPr>
          <a:lstStyle/>
          <a:p>
            <a:pPr algn="l"/>
            <a:r>
              <a:rPr lang="en-US" sz="1100" b="1" dirty="0">
                <a:solidFill>
                  <a:srgbClr val="4A00E2"/>
                </a:solidFill>
                <a:latin typeface="Arial"/>
                <a:cs typeface="Arial"/>
              </a:rPr>
              <a:t>ASCEND-MA INTERVENTION</a:t>
            </a:r>
          </a:p>
        </p:txBody>
      </p:sp>
      <p:sp>
        <p:nvSpPr>
          <p:cNvPr id="4" name="TextBox 3">
            <a:extLst>
              <a:ext uri="{FF2B5EF4-FFF2-40B4-BE49-F238E27FC236}">
                <a16:creationId xmlns:a16="http://schemas.microsoft.com/office/drawing/2014/main" id="{BD59B337-E39D-8748-AE58-FAE539956E3E}"/>
              </a:ext>
            </a:extLst>
          </p:cNvPr>
          <p:cNvSpPr txBox="1"/>
          <p:nvPr/>
        </p:nvSpPr>
        <p:spPr>
          <a:xfrm>
            <a:off x="800100" y="556944"/>
            <a:ext cx="7493000" cy="508000"/>
          </a:xfrm>
          <a:prstGeom prst="rect">
            <a:avLst/>
          </a:prstGeom>
          <a:noFill/>
        </p:spPr>
        <p:txBody>
          <a:bodyPr vertOverflow="overflow" vert="horz" wrap="square" rtlCol="0" anchor="t">
            <a:normAutofit fontScale="92500"/>
          </a:bodyPr>
          <a:lstStyle/>
          <a:p>
            <a:pPr algn="l"/>
            <a:r>
              <a:rPr lang="en-US" sz="2400" b="1" dirty="0">
                <a:solidFill>
                  <a:srgbClr val="110057"/>
                </a:solidFill>
                <a:latin typeface="Arial"/>
                <a:cs typeface="Arial"/>
              </a:rPr>
              <a:t>Can supervised AI extend proactive attention earlier?</a:t>
            </a:r>
          </a:p>
        </p:txBody>
      </p:sp>
      <p:sp>
        <p:nvSpPr>
          <p:cNvPr id="5" name="TextBox 4">
            <a:extLst>
              <a:ext uri="{FF2B5EF4-FFF2-40B4-BE49-F238E27FC236}">
                <a16:creationId xmlns:a16="http://schemas.microsoft.com/office/drawing/2014/main" id="{7EB2B8C5-F06E-C344-9450-2490B1DA6BF2}"/>
              </a:ext>
            </a:extLst>
          </p:cNvPr>
          <p:cNvSpPr txBox="1"/>
          <p:nvPr/>
        </p:nvSpPr>
        <p:spPr>
          <a:xfrm>
            <a:off x="800100" y="1066800"/>
            <a:ext cx="7366000" cy="292100"/>
          </a:xfrm>
          <a:prstGeom prst="rect">
            <a:avLst/>
          </a:prstGeom>
          <a:noFill/>
        </p:spPr>
        <p:txBody>
          <a:bodyPr vertOverflow="overflow" vert="horz" wrap="square" rtlCol="0" anchor="t">
            <a:noAutofit/>
          </a:bodyPr>
          <a:lstStyle/>
          <a:p>
            <a:pPr algn="l"/>
            <a:r>
              <a:rPr lang="en-US" sz="1600" dirty="0">
                <a:solidFill>
                  <a:srgbClr val="5F6B7A"/>
                </a:solidFill>
                <a:latin typeface="Aptos"/>
              </a:rPr>
              <a:t>The comparison is AI-supported review versus finite human bandwidth: not AI versus ideal care.</a:t>
            </a:r>
          </a:p>
        </p:txBody>
      </p:sp>
      <p:sp>
        <p:nvSpPr>
          <p:cNvPr id="6" name="Rounded Rectangle 5">
            <a:extLst>
              <a:ext uri="{FF2B5EF4-FFF2-40B4-BE49-F238E27FC236}">
                <a16:creationId xmlns:a16="http://schemas.microsoft.com/office/drawing/2014/main" id="{8E248583-3BF6-C04A-B4AE-F4EA22A183EB}"/>
              </a:ext>
            </a:extLst>
          </p:cNvPr>
          <p:cNvSpPr/>
          <p:nvPr/>
        </p:nvSpPr>
        <p:spPr>
          <a:xfrm>
            <a:off x="800100" y="1677540"/>
            <a:ext cx="7543800" cy="711200"/>
          </a:xfrm>
          <a:prstGeom prst="roundRect">
            <a:avLst/>
          </a:prstGeom>
          <a:solidFill>
            <a:srgbClr val="FFFF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 name="TextBox 6">
            <a:extLst>
              <a:ext uri="{FF2B5EF4-FFF2-40B4-BE49-F238E27FC236}">
                <a16:creationId xmlns:a16="http://schemas.microsoft.com/office/drawing/2014/main" id="{5872042B-4AAD-B84C-ABB5-60CA72F33D58}"/>
              </a:ext>
            </a:extLst>
          </p:cNvPr>
          <p:cNvSpPr txBox="1"/>
          <p:nvPr/>
        </p:nvSpPr>
        <p:spPr>
          <a:xfrm>
            <a:off x="1016000" y="1739900"/>
            <a:ext cx="1524000" cy="254000"/>
          </a:xfrm>
          <a:prstGeom prst="rect">
            <a:avLst/>
          </a:prstGeom>
          <a:noFill/>
        </p:spPr>
        <p:txBody>
          <a:bodyPr vertOverflow="overflow" vert="horz" wrap="square" rtlCol="0" anchor="t">
            <a:noAutofit/>
          </a:bodyPr>
          <a:lstStyle/>
          <a:p>
            <a:pPr algn="l"/>
            <a:r>
              <a:rPr lang="en-US" sz="1600" b="1" dirty="0">
                <a:solidFill>
                  <a:srgbClr val="4B00E8"/>
                </a:solidFill>
                <a:latin typeface="Arial"/>
                <a:cs typeface="Arial"/>
              </a:rPr>
              <a:t>Targeting premise</a:t>
            </a:r>
          </a:p>
        </p:txBody>
      </p:sp>
      <p:sp>
        <p:nvSpPr>
          <p:cNvPr id="8" name="TextBox 7">
            <a:extLst>
              <a:ext uri="{FF2B5EF4-FFF2-40B4-BE49-F238E27FC236}">
                <a16:creationId xmlns:a16="http://schemas.microsoft.com/office/drawing/2014/main" id="{9A7A0DD0-D5B1-6947-AC89-F2106B5CBD4F}"/>
              </a:ext>
            </a:extLst>
          </p:cNvPr>
          <p:cNvSpPr txBox="1"/>
          <p:nvPr/>
        </p:nvSpPr>
        <p:spPr>
          <a:xfrm>
            <a:off x="2667000" y="1791270"/>
            <a:ext cx="5486400" cy="431800"/>
          </a:xfrm>
          <a:prstGeom prst="rect">
            <a:avLst/>
          </a:prstGeom>
          <a:noFill/>
        </p:spPr>
        <p:txBody>
          <a:bodyPr vertOverflow="overflow" vert="horz" wrap="square" rtlCol="0" anchor="t">
            <a:noAutofit/>
          </a:bodyPr>
          <a:lstStyle/>
          <a:p>
            <a:pPr algn="l"/>
            <a:r>
              <a:rPr lang="en-US" sz="1300" dirty="0">
                <a:solidFill>
                  <a:srgbClr val="2A2340"/>
                </a:solidFill>
                <a:latin typeface="Arial"/>
                <a:cs typeface="Arial"/>
              </a:rPr>
              <a:t>Can a lower-intensity, reviewed workflow reach rising-risk patients before escalation?</a:t>
            </a:r>
          </a:p>
        </p:txBody>
      </p:sp>
      <p:sp>
        <p:nvSpPr>
          <p:cNvPr id="9" name="Rounded Rectangle 8">
            <a:extLst>
              <a:ext uri="{FF2B5EF4-FFF2-40B4-BE49-F238E27FC236}">
                <a16:creationId xmlns:a16="http://schemas.microsoft.com/office/drawing/2014/main" id="{65FF57DC-5D17-214D-AADB-CDD8B2E9BD33}"/>
              </a:ext>
            </a:extLst>
          </p:cNvPr>
          <p:cNvSpPr/>
          <p:nvPr/>
        </p:nvSpPr>
        <p:spPr>
          <a:xfrm>
            <a:off x="800100" y="2794000"/>
            <a:ext cx="1473200" cy="17018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 name="TextBox 9">
            <a:extLst>
              <a:ext uri="{FF2B5EF4-FFF2-40B4-BE49-F238E27FC236}">
                <a16:creationId xmlns:a16="http://schemas.microsoft.com/office/drawing/2014/main" id="{2F0DB5EA-D76E-174B-B0E9-F5D672D9559D}"/>
              </a:ext>
            </a:extLst>
          </p:cNvPr>
          <p:cNvSpPr txBox="1"/>
          <p:nvPr/>
        </p:nvSpPr>
        <p:spPr>
          <a:xfrm>
            <a:off x="1384300" y="2997200"/>
            <a:ext cx="304800" cy="254000"/>
          </a:xfrm>
          <a:prstGeom prst="rect">
            <a:avLst/>
          </a:prstGeom>
          <a:noFill/>
        </p:spPr>
        <p:txBody>
          <a:bodyPr vertOverflow="overflow" vert="horz" wrap="none" rtlCol="0" anchor="ctr" anchorCtr="0">
            <a:noAutofit/>
          </a:bodyPr>
          <a:lstStyle/>
          <a:p>
            <a:pPr algn="ctr"/>
            <a:r>
              <a:rPr lang="en-US" sz="1600" b="1" dirty="0">
                <a:solidFill>
                  <a:srgbClr val="4B00E8"/>
                </a:solidFill>
                <a:latin typeface="Arial"/>
                <a:cs typeface="Arial"/>
              </a:rPr>
              <a:t>1</a:t>
            </a:r>
          </a:p>
        </p:txBody>
      </p:sp>
      <p:sp>
        <p:nvSpPr>
          <p:cNvPr id="11" name="TextBox 10">
            <a:extLst>
              <a:ext uri="{FF2B5EF4-FFF2-40B4-BE49-F238E27FC236}">
                <a16:creationId xmlns:a16="http://schemas.microsoft.com/office/drawing/2014/main" id="{5DA971AF-A20E-6A4D-B9F0-31755B5EDDBB}"/>
              </a:ext>
            </a:extLst>
          </p:cNvPr>
          <p:cNvSpPr txBox="1"/>
          <p:nvPr/>
        </p:nvSpPr>
        <p:spPr>
          <a:xfrm>
            <a:off x="927100" y="3352800"/>
            <a:ext cx="1219200" cy="990600"/>
          </a:xfrm>
          <a:prstGeom prst="rect">
            <a:avLst/>
          </a:prstGeom>
          <a:noFill/>
        </p:spPr>
        <p:txBody>
          <a:bodyPr vertOverflow="overflow" vert="horz" wrap="square" rtlCol="0" anchor="t" anchorCtr="0">
            <a:noAutofit/>
          </a:bodyPr>
          <a:lstStyle/>
          <a:p>
            <a:pPr algn="ctr"/>
            <a:r>
              <a:rPr lang="en-US" sz="1600" b="1" dirty="0">
                <a:solidFill>
                  <a:srgbClr val="17003D"/>
                </a:solidFill>
                <a:latin typeface="Arial"/>
                <a:cs typeface="Arial"/>
              </a:rPr>
              <a:t>Risk model flags member</a:t>
            </a:r>
          </a:p>
        </p:txBody>
      </p:sp>
      <p:sp>
        <p:nvSpPr>
          <p:cNvPr id="13" name="Right Arrow 12">
            <a:extLst>
              <a:ext uri="{FF2B5EF4-FFF2-40B4-BE49-F238E27FC236}">
                <a16:creationId xmlns:a16="http://schemas.microsoft.com/office/drawing/2014/main" id="{98806856-2CA0-A84E-A13C-ECE557E0E8FF}"/>
              </a:ext>
            </a:extLst>
          </p:cNvPr>
          <p:cNvSpPr/>
          <p:nvPr/>
        </p:nvSpPr>
        <p:spPr>
          <a:xfrm>
            <a:off x="2374900" y="3543300"/>
            <a:ext cx="254000" cy="190500"/>
          </a:xfrm>
          <a:prstGeom prst="rightArrow">
            <a:avLst/>
          </a:prstGeom>
          <a:solidFill>
            <a:srgbClr val="6B638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4" name="Rounded Rectangle 13">
            <a:extLst>
              <a:ext uri="{FF2B5EF4-FFF2-40B4-BE49-F238E27FC236}">
                <a16:creationId xmlns:a16="http://schemas.microsoft.com/office/drawing/2014/main" id="{10448F49-8F84-8049-83D2-75795E73AD82}"/>
              </a:ext>
            </a:extLst>
          </p:cNvPr>
          <p:cNvSpPr/>
          <p:nvPr/>
        </p:nvSpPr>
        <p:spPr>
          <a:xfrm>
            <a:off x="2692400" y="2794000"/>
            <a:ext cx="1473200" cy="17018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5" name="TextBox 14">
            <a:extLst>
              <a:ext uri="{FF2B5EF4-FFF2-40B4-BE49-F238E27FC236}">
                <a16:creationId xmlns:a16="http://schemas.microsoft.com/office/drawing/2014/main" id="{3321179F-5916-9A49-AB49-69DCE3937FED}"/>
              </a:ext>
            </a:extLst>
          </p:cNvPr>
          <p:cNvSpPr txBox="1"/>
          <p:nvPr/>
        </p:nvSpPr>
        <p:spPr>
          <a:xfrm>
            <a:off x="3276600" y="2997200"/>
            <a:ext cx="304800" cy="254000"/>
          </a:xfrm>
          <a:prstGeom prst="rect">
            <a:avLst/>
          </a:prstGeom>
          <a:noFill/>
        </p:spPr>
        <p:txBody>
          <a:bodyPr vertOverflow="overflow" vert="horz" wrap="none" rtlCol="0" anchor="ctr" anchorCtr="0">
            <a:noAutofit/>
          </a:bodyPr>
          <a:lstStyle/>
          <a:p>
            <a:pPr algn="ctr"/>
            <a:r>
              <a:rPr lang="en-US" sz="1600" b="1" dirty="0">
                <a:solidFill>
                  <a:srgbClr val="4B00E8"/>
                </a:solidFill>
                <a:latin typeface="Arial"/>
                <a:cs typeface="Arial"/>
              </a:rPr>
              <a:t>2</a:t>
            </a:r>
          </a:p>
        </p:txBody>
      </p:sp>
      <p:sp>
        <p:nvSpPr>
          <p:cNvPr id="16" name="TextBox 15">
            <a:extLst>
              <a:ext uri="{FF2B5EF4-FFF2-40B4-BE49-F238E27FC236}">
                <a16:creationId xmlns:a16="http://schemas.microsoft.com/office/drawing/2014/main" id="{3ECF279F-DF13-C748-A0A1-C70F9C5F0906}"/>
              </a:ext>
            </a:extLst>
          </p:cNvPr>
          <p:cNvSpPr txBox="1"/>
          <p:nvPr/>
        </p:nvSpPr>
        <p:spPr>
          <a:xfrm>
            <a:off x="2819400" y="3352800"/>
            <a:ext cx="1219200" cy="990600"/>
          </a:xfrm>
          <a:prstGeom prst="rect">
            <a:avLst/>
          </a:prstGeom>
          <a:noFill/>
        </p:spPr>
        <p:txBody>
          <a:bodyPr vertOverflow="overflow" vert="horz" wrap="square" rtlCol="0" anchor="t" anchorCtr="0">
            <a:noAutofit/>
          </a:bodyPr>
          <a:lstStyle/>
          <a:p>
            <a:pPr algn="ctr"/>
            <a:r>
              <a:rPr lang="en-US" sz="1600" b="1" dirty="0">
                <a:solidFill>
                  <a:srgbClr val="17003D"/>
                </a:solidFill>
                <a:latin typeface="Arial"/>
                <a:cs typeface="Arial"/>
              </a:rPr>
              <a:t>AI drafts 1–4 care gaps</a:t>
            </a:r>
          </a:p>
        </p:txBody>
      </p:sp>
      <p:sp>
        <p:nvSpPr>
          <p:cNvPr id="18" name="Right Arrow 17">
            <a:extLst>
              <a:ext uri="{FF2B5EF4-FFF2-40B4-BE49-F238E27FC236}">
                <a16:creationId xmlns:a16="http://schemas.microsoft.com/office/drawing/2014/main" id="{5342FF46-F57A-5447-9915-4D3A339E9A8F}"/>
              </a:ext>
            </a:extLst>
          </p:cNvPr>
          <p:cNvSpPr/>
          <p:nvPr/>
        </p:nvSpPr>
        <p:spPr>
          <a:xfrm>
            <a:off x="4267200" y="3543300"/>
            <a:ext cx="254000" cy="190500"/>
          </a:xfrm>
          <a:prstGeom prst="rightArrow">
            <a:avLst/>
          </a:prstGeom>
          <a:solidFill>
            <a:srgbClr val="6B638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9" name="Rounded Rectangle 18">
            <a:extLst>
              <a:ext uri="{FF2B5EF4-FFF2-40B4-BE49-F238E27FC236}">
                <a16:creationId xmlns:a16="http://schemas.microsoft.com/office/drawing/2014/main" id="{636228D4-C8F6-8C49-ABA0-B86C1D007ECA}"/>
              </a:ext>
            </a:extLst>
          </p:cNvPr>
          <p:cNvSpPr/>
          <p:nvPr/>
        </p:nvSpPr>
        <p:spPr>
          <a:xfrm>
            <a:off x="4584700" y="2794000"/>
            <a:ext cx="1473200" cy="17018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0" name="TextBox 19">
            <a:extLst>
              <a:ext uri="{FF2B5EF4-FFF2-40B4-BE49-F238E27FC236}">
                <a16:creationId xmlns:a16="http://schemas.microsoft.com/office/drawing/2014/main" id="{6F444757-C071-9049-A937-D4A2FC170D5F}"/>
              </a:ext>
            </a:extLst>
          </p:cNvPr>
          <p:cNvSpPr txBox="1"/>
          <p:nvPr/>
        </p:nvSpPr>
        <p:spPr>
          <a:xfrm>
            <a:off x="5168900" y="2997200"/>
            <a:ext cx="304800" cy="254000"/>
          </a:xfrm>
          <a:prstGeom prst="rect">
            <a:avLst/>
          </a:prstGeom>
          <a:noFill/>
        </p:spPr>
        <p:txBody>
          <a:bodyPr vertOverflow="overflow" vert="horz" wrap="none" rtlCol="0" anchor="ctr" anchorCtr="0">
            <a:noAutofit/>
          </a:bodyPr>
          <a:lstStyle/>
          <a:p>
            <a:pPr algn="ctr"/>
            <a:r>
              <a:rPr lang="en-US" sz="1600" b="1" dirty="0">
                <a:solidFill>
                  <a:srgbClr val="4B00E8"/>
                </a:solidFill>
                <a:latin typeface="Arial"/>
                <a:cs typeface="Arial"/>
              </a:rPr>
              <a:t>3</a:t>
            </a:r>
          </a:p>
        </p:txBody>
      </p:sp>
      <p:sp>
        <p:nvSpPr>
          <p:cNvPr id="21" name="TextBox 20">
            <a:extLst>
              <a:ext uri="{FF2B5EF4-FFF2-40B4-BE49-F238E27FC236}">
                <a16:creationId xmlns:a16="http://schemas.microsoft.com/office/drawing/2014/main" id="{CA0BFD47-2B6D-3A4B-8FBA-A546F477F7DF}"/>
              </a:ext>
            </a:extLst>
          </p:cNvPr>
          <p:cNvSpPr txBox="1"/>
          <p:nvPr/>
        </p:nvSpPr>
        <p:spPr>
          <a:xfrm>
            <a:off x="4711700" y="3352800"/>
            <a:ext cx="1219200" cy="990600"/>
          </a:xfrm>
          <a:prstGeom prst="rect">
            <a:avLst/>
          </a:prstGeom>
          <a:noFill/>
        </p:spPr>
        <p:txBody>
          <a:bodyPr vertOverflow="overflow" vert="horz" wrap="square" rtlCol="0" anchor="t" anchorCtr="0">
            <a:noAutofit/>
          </a:bodyPr>
          <a:lstStyle/>
          <a:p>
            <a:pPr algn="ctr"/>
            <a:r>
              <a:rPr lang="en-US" sz="1600" b="1" dirty="0">
                <a:solidFill>
                  <a:srgbClr val="17003D"/>
                </a:solidFill>
                <a:latin typeface="Arial"/>
                <a:cs typeface="Arial"/>
              </a:rPr>
              <a:t>RN accepts, modifies, or rejects</a:t>
            </a:r>
          </a:p>
        </p:txBody>
      </p:sp>
      <p:sp>
        <p:nvSpPr>
          <p:cNvPr id="23" name="Right Arrow 22">
            <a:extLst>
              <a:ext uri="{FF2B5EF4-FFF2-40B4-BE49-F238E27FC236}">
                <a16:creationId xmlns:a16="http://schemas.microsoft.com/office/drawing/2014/main" id="{E9DCF672-57E2-EB47-B173-5D472F924328}"/>
              </a:ext>
            </a:extLst>
          </p:cNvPr>
          <p:cNvSpPr/>
          <p:nvPr/>
        </p:nvSpPr>
        <p:spPr>
          <a:xfrm>
            <a:off x="6159500" y="3543300"/>
            <a:ext cx="254000" cy="190500"/>
          </a:xfrm>
          <a:prstGeom prst="rightArrow">
            <a:avLst/>
          </a:prstGeom>
          <a:solidFill>
            <a:srgbClr val="6B638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4" name="Rounded Rectangle 23">
            <a:extLst>
              <a:ext uri="{FF2B5EF4-FFF2-40B4-BE49-F238E27FC236}">
                <a16:creationId xmlns:a16="http://schemas.microsoft.com/office/drawing/2014/main" id="{506A533A-005F-D74C-997C-B2464D52A5D7}"/>
              </a:ext>
            </a:extLst>
          </p:cNvPr>
          <p:cNvSpPr/>
          <p:nvPr/>
        </p:nvSpPr>
        <p:spPr>
          <a:xfrm>
            <a:off x="6477000" y="2794000"/>
            <a:ext cx="1473200" cy="17018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5" name="TextBox 24">
            <a:extLst>
              <a:ext uri="{FF2B5EF4-FFF2-40B4-BE49-F238E27FC236}">
                <a16:creationId xmlns:a16="http://schemas.microsoft.com/office/drawing/2014/main" id="{8EF73D68-04E9-4446-B628-5581535DD43C}"/>
              </a:ext>
            </a:extLst>
          </p:cNvPr>
          <p:cNvSpPr txBox="1"/>
          <p:nvPr/>
        </p:nvSpPr>
        <p:spPr>
          <a:xfrm>
            <a:off x="7061200" y="2997200"/>
            <a:ext cx="304800" cy="254000"/>
          </a:xfrm>
          <a:prstGeom prst="rect">
            <a:avLst/>
          </a:prstGeom>
          <a:noFill/>
        </p:spPr>
        <p:txBody>
          <a:bodyPr vertOverflow="overflow" vert="horz" wrap="none" rtlCol="0" anchor="ctr" anchorCtr="0">
            <a:noAutofit/>
          </a:bodyPr>
          <a:lstStyle/>
          <a:p>
            <a:pPr algn="ctr"/>
            <a:r>
              <a:rPr lang="en-US" sz="1600" b="1" dirty="0">
                <a:solidFill>
                  <a:srgbClr val="4B00E8"/>
                </a:solidFill>
                <a:latin typeface="Arial"/>
                <a:cs typeface="Arial"/>
              </a:rPr>
              <a:t>4</a:t>
            </a:r>
          </a:p>
        </p:txBody>
      </p:sp>
      <p:sp>
        <p:nvSpPr>
          <p:cNvPr id="26" name="TextBox 25">
            <a:extLst>
              <a:ext uri="{FF2B5EF4-FFF2-40B4-BE49-F238E27FC236}">
                <a16:creationId xmlns:a16="http://schemas.microsoft.com/office/drawing/2014/main" id="{ECDB2CF8-0E79-C14E-8905-AA87955B7ECE}"/>
              </a:ext>
            </a:extLst>
          </p:cNvPr>
          <p:cNvSpPr txBox="1"/>
          <p:nvPr/>
        </p:nvSpPr>
        <p:spPr>
          <a:xfrm>
            <a:off x="6604000" y="3352800"/>
            <a:ext cx="1219200" cy="990600"/>
          </a:xfrm>
          <a:prstGeom prst="rect">
            <a:avLst/>
          </a:prstGeom>
          <a:noFill/>
        </p:spPr>
        <p:txBody>
          <a:bodyPr vertOverflow="overflow" vert="horz" wrap="square" rtlCol="0" anchor="t" anchorCtr="0">
            <a:noAutofit/>
          </a:bodyPr>
          <a:lstStyle/>
          <a:p>
            <a:pPr algn="ctr"/>
            <a:r>
              <a:rPr lang="en-US" sz="1600" b="1" dirty="0">
                <a:solidFill>
                  <a:srgbClr val="17003D"/>
                </a:solidFill>
                <a:latin typeface="Arial"/>
                <a:cs typeface="Arial"/>
              </a:rPr>
              <a:t>Nudge sent</a:t>
            </a:r>
          </a:p>
        </p:txBody>
      </p:sp>
      <p:sp>
        <p:nvSpPr>
          <p:cNvPr id="40" name="riserDown"/>
          <p:cNvSpPr/>
          <p:nvPr/>
        </p:nvSpPr>
        <p:spPr>
          <a:xfrm>
            <a:off x="7188200" y="4495800"/>
            <a:ext cx="38100" cy="203200"/>
          </a:xfrm>
          <a:prstGeom prst="rect">
            <a:avLst/>
          </a:prstGeom>
          <a:solidFill>
            <a:srgbClr val="4B00E8"/>
          </a:solidFill>
          <a:ln>
            <a:noFill/>
          </a:ln>
        </p:spPr>
        <p:txBody>
          <a:bodyPr/>
          <a:lstStyle/>
          <a:p>
            <a:endParaRPr/>
          </a:p>
        </p:txBody>
      </p:sp>
      <p:sp>
        <p:nvSpPr>
          <p:cNvPr id="41" name="horiz"/>
          <p:cNvSpPr/>
          <p:nvPr/>
        </p:nvSpPr>
        <p:spPr>
          <a:xfrm>
            <a:off x="3429000" y="4673600"/>
            <a:ext cx="3784600" cy="38100"/>
          </a:xfrm>
          <a:prstGeom prst="rect">
            <a:avLst/>
          </a:prstGeom>
          <a:solidFill>
            <a:srgbClr val="4B00E8"/>
          </a:solidFill>
          <a:ln>
            <a:noFill/>
          </a:ln>
        </p:spPr>
        <p:txBody>
          <a:bodyPr/>
          <a:lstStyle/>
          <a:p>
            <a:endParaRPr/>
          </a:p>
        </p:txBody>
      </p:sp>
      <p:sp>
        <p:nvSpPr>
          <p:cNvPr id="42" name="riserUp"/>
          <p:cNvSpPr/>
          <p:nvPr/>
        </p:nvSpPr>
        <p:spPr>
          <a:xfrm>
            <a:off x="3403600" y="4546600"/>
            <a:ext cx="38100" cy="152400"/>
          </a:xfrm>
          <a:prstGeom prst="rect">
            <a:avLst/>
          </a:prstGeom>
          <a:solidFill>
            <a:srgbClr val="4B00E8"/>
          </a:solidFill>
          <a:ln>
            <a:noFill/>
          </a:ln>
        </p:spPr>
        <p:txBody>
          <a:bodyPr/>
          <a:lstStyle/>
          <a:p>
            <a:endParaRPr/>
          </a:p>
        </p:txBody>
      </p:sp>
      <p:sp>
        <p:nvSpPr>
          <p:cNvPr id="43" name="loopHead"/>
          <p:cNvSpPr/>
          <p:nvPr/>
        </p:nvSpPr>
        <p:spPr>
          <a:xfrm>
            <a:off x="3340100" y="4432300"/>
            <a:ext cx="165100" cy="127000"/>
          </a:xfrm>
          <a:prstGeom prst="triangle">
            <a:avLst/>
          </a:prstGeom>
          <a:solidFill>
            <a:srgbClr val="4B00E8"/>
          </a:solidFill>
          <a:ln>
            <a:noFill/>
          </a:ln>
        </p:spPr>
        <p:txBody>
          <a:bodyPr/>
          <a:lstStyle/>
          <a:p>
            <a:endParaRPr/>
          </a:p>
        </p:txBody>
      </p:sp>
      <p:sp>
        <p:nvSpPr>
          <p:cNvPr id="44" name="loopLabel"/>
          <p:cNvSpPr txBox="1"/>
          <p:nvPr/>
        </p:nvSpPr>
        <p:spPr>
          <a:xfrm>
            <a:off x="3810000" y="4724400"/>
            <a:ext cx="3022600" cy="152400"/>
          </a:xfrm>
          <a:prstGeom prst="rect">
            <a:avLst/>
          </a:prstGeom>
          <a:noFill/>
        </p:spPr>
        <p:txBody>
          <a:bodyPr wrap="square" lIns="0" tIns="0" rIns="0" bIns="0" anchor="ctr"/>
          <a:lstStyle/>
          <a:p>
            <a:pPr algn="ctr"/>
            <a:r>
              <a:rPr lang="en-US" sz="1100" b="1" dirty="0">
                <a:solidFill>
                  <a:srgbClr val="4B00E8"/>
                </a:solidFill>
                <a:latin typeface="Arial"/>
                <a:cs typeface="Arial"/>
              </a:rPr>
              <a:t>Repeats 1–4× over 90 days</a:t>
            </a:r>
          </a:p>
        </p:txBody>
      </p:sp>
    </p:spTree>
    <p:extLst>
      <p:ext uri="{BB962C8B-B14F-4D97-AF65-F5344CB8AC3E}">
        <p14:creationId xmlns:p14="http://schemas.microsoft.com/office/powerpoint/2010/main" val="4166934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left accent rail">
            <a:extLst>
              <a:ext uri="{FF2B5EF4-FFF2-40B4-BE49-F238E27FC236}">
                <a16:creationId xmlns:a16="http://schemas.microsoft.com/office/drawing/2014/main" id="{19F89BF6-96C5-C54A-8722-19C4DF25BC69}"/>
              </a:ext>
            </a:extLst>
          </p:cNvPr>
          <p:cNvSpPr/>
          <p:nvPr/>
        </p:nvSpPr>
        <p:spPr>
          <a:xfrm>
            <a:off x="431800" y="736600"/>
            <a:ext cx="50800" cy="3937000"/>
          </a:xfrm>
          <a:prstGeom prst="rect">
            <a:avLst/>
          </a:prstGeom>
          <a:solidFill>
            <a:srgbClr val="6C4BA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5" name="kicker">
            <a:extLst>
              <a:ext uri="{FF2B5EF4-FFF2-40B4-BE49-F238E27FC236}">
                <a16:creationId xmlns:a16="http://schemas.microsoft.com/office/drawing/2014/main" id="{A10F71EA-A2F8-DB46-AD9D-E0842D9C44A3}"/>
              </a:ext>
            </a:extLst>
          </p:cNvPr>
          <p:cNvSpPr txBox="1"/>
          <p:nvPr/>
        </p:nvSpPr>
        <p:spPr>
          <a:xfrm>
            <a:off x="711200" y="381000"/>
            <a:ext cx="6604000" cy="203200"/>
          </a:xfrm>
          <a:prstGeom prst="rect">
            <a:avLst/>
          </a:prstGeom>
          <a:noFill/>
        </p:spPr>
        <p:txBody>
          <a:bodyPr vertOverflow="overflow" vert="horz" wrap="square" rtlCol="0" anchor="t" anchorCtr="0">
            <a:noAutofit/>
          </a:bodyPr>
          <a:lstStyle/>
          <a:p>
            <a:pPr algn="l"/>
            <a:r>
              <a:rPr lang="en-US" sz="1100" b="1" dirty="0">
                <a:solidFill>
                  <a:srgbClr val="4A00E2"/>
                </a:solidFill>
                <a:latin typeface="Arial"/>
              </a:rPr>
              <a:t>PROTOCOL DESIGN · ASCEND-MA</a:t>
            </a:r>
          </a:p>
        </p:txBody>
      </p:sp>
      <p:sp>
        <p:nvSpPr>
          <p:cNvPr id="106" name="title">
            <a:extLst>
              <a:ext uri="{FF2B5EF4-FFF2-40B4-BE49-F238E27FC236}">
                <a16:creationId xmlns:a16="http://schemas.microsoft.com/office/drawing/2014/main" id="{3117002C-C9AE-D24F-8ABF-5F2D41F038B2}"/>
              </a:ext>
            </a:extLst>
          </p:cNvPr>
          <p:cNvSpPr txBox="1"/>
          <p:nvPr/>
        </p:nvSpPr>
        <p:spPr>
          <a:xfrm>
            <a:off x="711200" y="660400"/>
            <a:ext cx="7747000" cy="685800"/>
          </a:xfrm>
          <a:prstGeom prst="rect">
            <a:avLst/>
          </a:prstGeom>
          <a:noFill/>
        </p:spPr>
        <p:txBody>
          <a:bodyPr vertOverflow="overflow" vert="horz" wrap="square" rtlCol="0" anchor="t" anchorCtr="0">
            <a:normAutofit/>
          </a:bodyPr>
          <a:lstStyle/>
          <a:p>
            <a:pPr algn="l"/>
            <a:r>
              <a:rPr lang="en-US" sz="2400" b="1" dirty="0">
                <a:solidFill>
                  <a:srgbClr val="110057"/>
                </a:solidFill>
                <a:latin typeface="Arial"/>
                <a:cs typeface="Arial"/>
              </a:rPr>
              <a:t>Trial design at a glance</a:t>
            </a:r>
          </a:p>
        </p:txBody>
      </p:sp>
      <p:sp>
        <p:nvSpPr>
          <p:cNvPr id="108" name="title divider">
            <a:extLst>
              <a:ext uri="{FF2B5EF4-FFF2-40B4-BE49-F238E27FC236}">
                <a16:creationId xmlns:a16="http://schemas.microsoft.com/office/drawing/2014/main" id="{299A72D1-7D12-0D4E-8A5A-9C8D5361BDEE}"/>
              </a:ext>
            </a:extLst>
          </p:cNvPr>
          <p:cNvSpPr/>
          <p:nvPr/>
        </p:nvSpPr>
        <p:spPr>
          <a:xfrm>
            <a:off x="711200" y="1244600"/>
            <a:ext cx="7721600" cy="15240"/>
          </a:xfrm>
          <a:prstGeom prst="rect">
            <a:avLst/>
          </a:prstGeom>
          <a:solidFill>
            <a:srgbClr val="D6DE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 name="Rounded Rectangle 5">
            <a:extLst>
              <a:ext uri="{FF2B5EF4-FFF2-40B4-BE49-F238E27FC236}">
                <a16:creationId xmlns:a16="http://schemas.microsoft.com/office/drawing/2014/main" id="{4DDFCBF3-48F7-C542-8569-F9DBDA104148}"/>
              </a:ext>
            </a:extLst>
          </p:cNvPr>
          <p:cNvSpPr/>
          <p:nvPr/>
        </p:nvSpPr>
        <p:spPr>
          <a:xfrm>
            <a:off x="711200" y="2311970"/>
            <a:ext cx="2844800" cy="7620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 name="TextBox 6">
            <a:extLst>
              <a:ext uri="{FF2B5EF4-FFF2-40B4-BE49-F238E27FC236}">
                <a16:creationId xmlns:a16="http://schemas.microsoft.com/office/drawing/2014/main" id="{1736618F-5C0C-2947-8408-44383E46E8E7}"/>
              </a:ext>
            </a:extLst>
          </p:cNvPr>
          <p:cNvSpPr txBox="1"/>
          <p:nvPr/>
        </p:nvSpPr>
        <p:spPr>
          <a:xfrm>
            <a:off x="914400" y="2400870"/>
            <a:ext cx="2438400" cy="203200"/>
          </a:xfrm>
          <a:prstGeom prst="rect">
            <a:avLst/>
          </a:prstGeom>
          <a:noFill/>
        </p:spPr>
        <p:txBody>
          <a:bodyPr vertOverflow="overflow" vert="horz" wrap="square" rtlCol="0" anchor="t">
            <a:spAutoFit/>
          </a:bodyPr>
          <a:lstStyle/>
          <a:p>
            <a:pPr algn="l"/>
            <a:r>
              <a:rPr lang="en-US" sz="1300" b="1" dirty="0">
                <a:solidFill>
                  <a:srgbClr val="1C0A63"/>
                </a:solidFill>
                <a:latin typeface="Arial"/>
                <a:cs typeface="Arial"/>
              </a:rPr>
              <a:t>QUASI-RANDOMIZATION</a:t>
            </a:r>
          </a:p>
        </p:txBody>
      </p:sp>
      <p:sp>
        <p:nvSpPr>
          <p:cNvPr id="8" name="TextBox 7">
            <a:extLst>
              <a:ext uri="{FF2B5EF4-FFF2-40B4-BE49-F238E27FC236}">
                <a16:creationId xmlns:a16="http://schemas.microsoft.com/office/drawing/2014/main" id="{72376D44-2BD6-A047-A26C-488EBF8B27BC}"/>
              </a:ext>
            </a:extLst>
          </p:cNvPr>
          <p:cNvSpPr txBox="1"/>
          <p:nvPr/>
        </p:nvSpPr>
        <p:spPr>
          <a:xfrm>
            <a:off x="914400" y="2629470"/>
            <a:ext cx="2438400" cy="461665"/>
          </a:xfrm>
          <a:prstGeom prst="rect">
            <a:avLst/>
          </a:prstGeom>
          <a:noFill/>
        </p:spPr>
        <p:txBody>
          <a:bodyPr vertOverflow="overflow" vert="horz" wrap="square" rtlCol="0" anchor="t" anchorCtr="0">
            <a:spAutoFit/>
          </a:bodyPr>
          <a:lstStyle/>
          <a:p>
            <a:pPr algn="l"/>
            <a:r>
              <a:rPr lang="en-US" sz="1200" dirty="0">
                <a:solidFill>
                  <a:srgbClr val="2A2340"/>
                </a:solidFill>
                <a:latin typeface="Arial"/>
                <a:cs typeface="Arial"/>
              </a:rPr>
              <a:t>MRN parity (1:1) assignment; ITT primary analysis.</a:t>
            </a:r>
          </a:p>
        </p:txBody>
      </p:sp>
      <p:sp>
        <p:nvSpPr>
          <p:cNvPr id="12" name="Rounded Rectangle 11">
            <a:extLst>
              <a:ext uri="{FF2B5EF4-FFF2-40B4-BE49-F238E27FC236}">
                <a16:creationId xmlns:a16="http://schemas.microsoft.com/office/drawing/2014/main" id="{F91B65D8-EAAC-F442-AB31-EC8FB7C76DF3}"/>
              </a:ext>
            </a:extLst>
          </p:cNvPr>
          <p:cNvSpPr/>
          <p:nvPr/>
        </p:nvSpPr>
        <p:spPr>
          <a:xfrm>
            <a:off x="711200" y="1397000"/>
            <a:ext cx="2844800" cy="8636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 name="TextBox 12">
            <a:extLst>
              <a:ext uri="{FF2B5EF4-FFF2-40B4-BE49-F238E27FC236}">
                <a16:creationId xmlns:a16="http://schemas.microsoft.com/office/drawing/2014/main" id="{EC27EC48-AA60-8843-B686-97E0AEEA2438}"/>
              </a:ext>
            </a:extLst>
          </p:cNvPr>
          <p:cNvSpPr txBox="1"/>
          <p:nvPr/>
        </p:nvSpPr>
        <p:spPr>
          <a:xfrm>
            <a:off x="914400" y="1372886"/>
            <a:ext cx="2438400" cy="203200"/>
          </a:xfrm>
          <a:prstGeom prst="rect">
            <a:avLst/>
          </a:prstGeom>
          <a:noFill/>
        </p:spPr>
        <p:txBody>
          <a:bodyPr vertOverflow="overflow" vert="horz" wrap="square" rtlCol="0" anchor="t">
            <a:spAutoFit/>
          </a:bodyPr>
          <a:lstStyle/>
          <a:p>
            <a:pPr algn="l"/>
            <a:r>
              <a:rPr lang="en-US" sz="1300" b="1" dirty="0">
                <a:solidFill>
                  <a:srgbClr val="1C0A63"/>
                </a:solidFill>
                <a:latin typeface="Arial"/>
                <a:cs typeface="Arial"/>
              </a:rPr>
              <a:t>EXCLUSION CRITERIA</a:t>
            </a:r>
          </a:p>
        </p:txBody>
      </p:sp>
      <p:sp>
        <p:nvSpPr>
          <p:cNvPr id="14" name="TextBox 13">
            <a:extLst>
              <a:ext uri="{FF2B5EF4-FFF2-40B4-BE49-F238E27FC236}">
                <a16:creationId xmlns:a16="http://schemas.microsoft.com/office/drawing/2014/main" id="{20EBA901-8077-BF4B-95CE-207D340356E3}"/>
              </a:ext>
            </a:extLst>
          </p:cNvPr>
          <p:cNvSpPr txBox="1"/>
          <p:nvPr/>
        </p:nvSpPr>
        <p:spPr>
          <a:xfrm>
            <a:off x="914400" y="1601486"/>
            <a:ext cx="2438400" cy="482600"/>
          </a:xfrm>
          <a:prstGeom prst="rect">
            <a:avLst/>
          </a:prstGeom>
          <a:noFill/>
        </p:spPr>
        <p:txBody>
          <a:bodyPr vertOverflow="overflow" vert="horz" wrap="square" rtlCol="0" anchor="t" anchorCtr="0">
            <a:spAutoFit/>
          </a:bodyPr>
          <a:lstStyle/>
          <a:p>
            <a:pPr algn="l"/>
            <a:r>
              <a:rPr lang="en-US" sz="1200" dirty="0">
                <a:solidFill>
                  <a:srgbClr val="2A2340"/>
                </a:solidFill>
                <a:latin typeface="Arial"/>
                <a:cs typeface="Arial"/>
              </a:rPr>
              <a:t>In high-risk CM at index, hospice/EOL, or insufficient scoring history.</a:t>
            </a:r>
          </a:p>
        </p:txBody>
      </p:sp>
      <p:sp>
        <p:nvSpPr>
          <p:cNvPr id="15" name="outcomes band">
            <a:extLst>
              <a:ext uri="{FF2B5EF4-FFF2-40B4-BE49-F238E27FC236}">
                <a16:creationId xmlns:a16="http://schemas.microsoft.com/office/drawing/2014/main" id="{BC503926-55D1-7949-9A6A-9ED86DAD7477}"/>
              </a:ext>
            </a:extLst>
          </p:cNvPr>
          <p:cNvSpPr/>
          <p:nvPr/>
        </p:nvSpPr>
        <p:spPr>
          <a:xfrm>
            <a:off x="711200" y="3124200"/>
            <a:ext cx="2844800" cy="1346200"/>
          </a:xfrm>
          <a:prstGeom prst="roundRect">
            <a:avLst/>
          </a:prstGeom>
          <a:solidFill>
            <a:srgbClr val="1C0A6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band label">
            <a:extLst>
              <a:ext uri="{FF2B5EF4-FFF2-40B4-BE49-F238E27FC236}">
                <a16:creationId xmlns:a16="http://schemas.microsoft.com/office/drawing/2014/main" id="{CDD6C773-9500-F044-899A-F5CF858342D2}"/>
              </a:ext>
            </a:extLst>
          </p:cNvPr>
          <p:cNvSpPr txBox="1"/>
          <p:nvPr/>
        </p:nvSpPr>
        <p:spPr>
          <a:xfrm>
            <a:off x="909548" y="3199830"/>
            <a:ext cx="2489200" cy="152400"/>
          </a:xfrm>
          <a:prstGeom prst="rect">
            <a:avLst/>
          </a:prstGeom>
          <a:noFill/>
        </p:spPr>
        <p:txBody>
          <a:bodyPr vertOverflow="overflow" vert="horz" wrap="square" rtlCol="0" anchor="t" anchorCtr="0">
            <a:noAutofit/>
          </a:bodyPr>
          <a:lstStyle/>
          <a:p>
            <a:pPr algn="l"/>
            <a:r>
              <a:rPr lang="en-US" sz="1000" b="1" dirty="0">
                <a:solidFill>
                  <a:srgbClr val="B8A6F0"/>
                </a:solidFill>
                <a:latin typeface="Arial"/>
                <a:cs typeface="Arial"/>
              </a:rPr>
              <a:t>PRIMARY OUTCOME</a:t>
            </a:r>
          </a:p>
        </p:txBody>
      </p:sp>
      <p:sp>
        <p:nvSpPr>
          <p:cNvPr id="17" name="band val">
            <a:extLst>
              <a:ext uri="{FF2B5EF4-FFF2-40B4-BE49-F238E27FC236}">
                <a16:creationId xmlns:a16="http://schemas.microsoft.com/office/drawing/2014/main" id="{B81129A3-2DC2-EE49-84E8-8F428A89E9FA}"/>
              </a:ext>
            </a:extLst>
          </p:cNvPr>
          <p:cNvSpPr txBox="1"/>
          <p:nvPr/>
        </p:nvSpPr>
        <p:spPr>
          <a:xfrm>
            <a:off x="909548" y="3364930"/>
            <a:ext cx="2489200" cy="190500"/>
          </a:xfrm>
          <a:prstGeom prst="rect">
            <a:avLst/>
          </a:prstGeom>
          <a:noFill/>
        </p:spPr>
        <p:txBody>
          <a:bodyPr vertOverflow="overflow" vert="horz" wrap="square" rtlCol="0" anchor="t" anchorCtr="0">
            <a:noAutofit/>
          </a:bodyPr>
          <a:lstStyle/>
          <a:p>
            <a:pPr algn="l"/>
            <a:r>
              <a:rPr lang="en-US" sz="1200" b="1" dirty="0">
                <a:solidFill>
                  <a:srgbClr val="FFFFFF"/>
                </a:solidFill>
                <a:latin typeface="Arial"/>
                <a:cs typeface="Arial"/>
              </a:rPr>
              <a:t>12-mo medical spend</a:t>
            </a:r>
          </a:p>
        </p:txBody>
      </p:sp>
      <p:sp>
        <p:nvSpPr>
          <p:cNvPr id="18" name="band label">
            <a:extLst>
              <a:ext uri="{FF2B5EF4-FFF2-40B4-BE49-F238E27FC236}">
                <a16:creationId xmlns:a16="http://schemas.microsoft.com/office/drawing/2014/main" id="{1AB32376-AFBB-524E-88E2-1D4B1C9DB482}"/>
              </a:ext>
            </a:extLst>
          </p:cNvPr>
          <p:cNvSpPr txBox="1"/>
          <p:nvPr/>
        </p:nvSpPr>
        <p:spPr>
          <a:xfrm>
            <a:off x="909548" y="3606230"/>
            <a:ext cx="2489200" cy="152400"/>
          </a:xfrm>
          <a:prstGeom prst="rect">
            <a:avLst/>
          </a:prstGeom>
          <a:noFill/>
        </p:spPr>
        <p:txBody>
          <a:bodyPr vertOverflow="overflow" vert="horz" wrap="square" rtlCol="0" anchor="t" anchorCtr="0">
            <a:noAutofit/>
          </a:bodyPr>
          <a:lstStyle/>
          <a:p>
            <a:pPr algn="l"/>
            <a:r>
              <a:rPr lang="en-US" sz="1000" b="1" dirty="0">
                <a:solidFill>
                  <a:srgbClr val="B8A6F0"/>
                </a:solidFill>
                <a:latin typeface="Arial"/>
                <a:cs typeface="Arial"/>
              </a:rPr>
              <a:t>SECONDARY (e.g. PULMONARY)</a:t>
            </a:r>
          </a:p>
        </p:txBody>
      </p:sp>
      <p:sp>
        <p:nvSpPr>
          <p:cNvPr id="19" name="band val">
            <a:extLst>
              <a:ext uri="{FF2B5EF4-FFF2-40B4-BE49-F238E27FC236}">
                <a16:creationId xmlns:a16="http://schemas.microsoft.com/office/drawing/2014/main" id="{14D25691-0892-6E42-BC39-43D81598E61D}"/>
              </a:ext>
            </a:extLst>
          </p:cNvPr>
          <p:cNvSpPr txBox="1"/>
          <p:nvPr/>
        </p:nvSpPr>
        <p:spPr>
          <a:xfrm>
            <a:off x="909548" y="3771330"/>
            <a:ext cx="2489200" cy="190500"/>
          </a:xfrm>
          <a:prstGeom prst="rect">
            <a:avLst/>
          </a:prstGeom>
          <a:noFill/>
        </p:spPr>
        <p:txBody>
          <a:bodyPr vertOverflow="overflow" vert="horz" wrap="square" rtlCol="0" anchor="t" anchorCtr="0">
            <a:noAutofit/>
          </a:bodyPr>
          <a:lstStyle/>
          <a:p>
            <a:pPr algn="l"/>
            <a:r>
              <a:rPr lang="en-US" sz="1200" b="1" dirty="0">
                <a:solidFill>
                  <a:srgbClr val="FFFFFF"/>
                </a:solidFill>
                <a:latin typeface="Arial"/>
                <a:cs typeface="Arial"/>
              </a:rPr>
              <a:t>COPD deterioration</a:t>
            </a:r>
          </a:p>
        </p:txBody>
      </p:sp>
      <p:sp>
        <p:nvSpPr>
          <p:cNvPr id="20" name="band label">
            <a:extLst>
              <a:ext uri="{FF2B5EF4-FFF2-40B4-BE49-F238E27FC236}">
                <a16:creationId xmlns:a16="http://schemas.microsoft.com/office/drawing/2014/main" id="{82AD30F5-2919-474F-A18E-876130B92242}"/>
              </a:ext>
            </a:extLst>
          </p:cNvPr>
          <p:cNvSpPr txBox="1"/>
          <p:nvPr/>
        </p:nvSpPr>
        <p:spPr>
          <a:xfrm>
            <a:off x="909548" y="4012630"/>
            <a:ext cx="2489200" cy="152400"/>
          </a:xfrm>
          <a:prstGeom prst="rect">
            <a:avLst/>
          </a:prstGeom>
          <a:noFill/>
        </p:spPr>
        <p:txBody>
          <a:bodyPr vertOverflow="overflow" vert="horz" wrap="square" rtlCol="0" anchor="t" anchorCtr="0">
            <a:noAutofit/>
          </a:bodyPr>
          <a:lstStyle/>
          <a:p>
            <a:pPr algn="l"/>
            <a:r>
              <a:rPr lang="en-US" sz="1000" b="1" dirty="0">
                <a:solidFill>
                  <a:srgbClr val="B8A6F0"/>
                </a:solidFill>
                <a:latin typeface="Arial"/>
                <a:cs typeface="Arial"/>
              </a:rPr>
              <a:t>ANALYSIS</a:t>
            </a:r>
          </a:p>
        </p:txBody>
      </p:sp>
      <p:sp>
        <p:nvSpPr>
          <p:cNvPr id="21" name="band val">
            <a:extLst>
              <a:ext uri="{FF2B5EF4-FFF2-40B4-BE49-F238E27FC236}">
                <a16:creationId xmlns:a16="http://schemas.microsoft.com/office/drawing/2014/main" id="{7A380F0E-4AFC-EB41-9853-64DDD89E9AB3}"/>
              </a:ext>
            </a:extLst>
          </p:cNvPr>
          <p:cNvSpPr txBox="1"/>
          <p:nvPr/>
        </p:nvSpPr>
        <p:spPr>
          <a:xfrm>
            <a:off x="909548" y="4177730"/>
            <a:ext cx="2489200" cy="190500"/>
          </a:xfrm>
          <a:prstGeom prst="rect">
            <a:avLst/>
          </a:prstGeom>
          <a:noFill/>
        </p:spPr>
        <p:txBody>
          <a:bodyPr vertOverflow="overflow" vert="horz" wrap="square" rtlCol="0" anchor="t" anchorCtr="0">
            <a:noAutofit/>
          </a:bodyPr>
          <a:lstStyle/>
          <a:p>
            <a:pPr algn="l"/>
            <a:r>
              <a:rPr lang="en-US" sz="1200" b="1" dirty="0">
                <a:solidFill>
                  <a:srgbClr val="FFFFFF"/>
                </a:solidFill>
                <a:latin typeface="Arial"/>
                <a:cs typeface="Arial"/>
              </a:rPr>
              <a:t>ITT vs usual care</a:t>
            </a:r>
          </a:p>
        </p:txBody>
      </p:sp>
      <p:pic>
        <p:nvPicPr>
          <p:cNvPr id="2" name="drawing">
            <a:extLst>
              <a:ext uri="{FF2B5EF4-FFF2-40B4-BE49-F238E27FC236}">
                <a16:creationId xmlns:a16="http://schemas.microsoft.com/office/drawing/2014/main" id="{0F425B14-98E6-78B6-AAE3-5E2C8F9912E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594246" y="1386724"/>
            <a:ext cx="5385202" cy="3032875"/>
          </a:xfrm>
          <a:prstGeom prst="rect">
            <a:avLst/>
          </a:prstGeom>
        </p:spPr>
      </p:pic>
    </p:spTree>
    <p:extLst>
      <p:ext uri="{BB962C8B-B14F-4D97-AF65-F5344CB8AC3E}">
        <p14:creationId xmlns:p14="http://schemas.microsoft.com/office/powerpoint/2010/main" val="4098192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FFFFFF"/>
          </a:solidFill>
          <a:ln w="12700">
            <a:solidFill>
              <a:srgbClr val="FFFFFF">
                <a:alpha val="0"/>
              </a:srgbClr>
            </a:solidFill>
            <a:prstDash val="solid"/>
          </a:ln>
        </p:spPr>
        <p:txBody>
          <a:bodyPr/>
          <a:lstStyle/>
          <a:p>
            <a:endParaRPr lang="en-US" sz="1600">
              <a:latin typeface="Arial"/>
              <a:cs typeface="Arial"/>
            </a:endParaRPr>
          </a:p>
        </p:txBody>
      </p:sp>
      <p:sp>
        <p:nvSpPr>
          <p:cNvPr id="3" name="Shape 1"/>
          <p:cNvSpPr/>
          <p:nvPr/>
        </p:nvSpPr>
        <p:spPr>
          <a:xfrm>
            <a:off x="428615" y="728663"/>
            <a:ext cx="50005" cy="3714750"/>
          </a:xfrm>
          <a:prstGeom prst="rect">
            <a:avLst/>
          </a:prstGeom>
          <a:solidFill>
            <a:srgbClr val="6B46C1"/>
          </a:solidFill>
          <a:ln w="12700">
            <a:solidFill>
              <a:srgbClr val="FFFFFF">
                <a:alpha val="0"/>
              </a:srgbClr>
            </a:solidFill>
            <a:prstDash val="solid"/>
          </a:ln>
        </p:spPr>
        <p:txBody>
          <a:bodyPr/>
          <a:lstStyle/>
          <a:p>
            <a:endParaRPr lang="en-US" sz="1600">
              <a:latin typeface="Arial"/>
              <a:cs typeface="Arial"/>
            </a:endParaRPr>
          </a:p>
        </p:txBody>
      </p:sp>
      <p:sp>
        <p:nvSpPr>
          <p:cNvPr id="4" name="Text 2"/>
          <p:cNvSpPr/>
          <p:nvPr/>
        </p:nvSpPr>
        <p:spPr>
          <a:xfrm>
            <a:off x="714357" y="304800"/>
            <a:ext cx="5334000" cy="128588"/>
          </a:xfrm>
          <a:prstGeom prst="rect">
            <a:avLst/>
          </a:prstGeom>
          <a:noFill/>
          <a:ln/>
        </p:spPr>
        <p:txBody>
          <a:bodyPr wrap="square" lIns="0" tIns="0" rIns="0" bIns="0" rtlCol="0" anchor="t">
            <a:noAutofit/>
          </a:bodyPr>
          <a:lstStyle>
            <a:lvl1pPr marL="0" algn="l" defTabSz="685800" rtl="0" eaLnBrk="1" latinLnBrk="0" hangingPunct="1">
              <a:defRPr sz="1100" b="1" kern="1200">
                <a:solidFill>
                  <a:srgbClr val="4A00E2"/>
                </a:solidFill>
                <a:latin typeface="Arial"/>
                <a:ea typeface="+mn-ea"/>
                <a:cs typeface="Arial"/>
              </a:defRPr>
            </a:lvl1pPr>
            <a:lvl2pPr marL="342900" algn="l" defTabSz="685800" rtl="0" eaLnBrk="1" latinLnBrk="0" hangingPunct="1">
              <a:defRPr sz="1100" b="1" kern="1200">
                <a:solidFill>
                  <a:srgbClr val="4A00E2"/>
                </a:solidFill>
                <a:latin typeface="Arial"/>
                <a:ea typeface="+mn-ea"/>
                <a:cs typeface="Arial"/>
              </a:defRPr>
            </a:lvl2pPr>
            <a:lvl3pPr marL="685800" algn="l" defTabSz="685800" rtl="0" eaLnBrk="1" latinLnBrk="0" hangingPunct="1">
              <a:defRPr sz="1100" b="1" kern="1200">
                <a:solidFill>
                  <a:srgbClr val="4A00E2"/>
                </a:solidFill>
                <a:latin typeface="Arial"/>
                <a:ea typeface="+mn-ea"/>
                <a:cs typeface="Arial"/>
              </a:defRPr>
            </a:lvl3pPr>
            <a:lvl4pPr marL="1028700" algn="l" defTabSz="685800" rtl="0" eaLnBrk="1" latinLnBrk="0" hangingPunct="1">
              <a:defRPr sz="1100" b="1" kern="1200">
                <a:solidFill>
                  <a:srgbClr val="4A00E2"/>
                </a:solidFill>
                <a:latin typeface="Arial"/>
                <a:ea typeface="+mn-ea"/>
                <a:cs typeface="Arial"/>
              </a:defRPr>
            </a:lvl4pPr>
            <a:lvl5pPr marL="1371600" algn="l" defTabSz="685800" rtl="0" eaLnBrk="1" latinLnBrk="0" hangingPunct="1">
              <a:defRPr sz="1100" b="1" kern="1200">
                <a:solidFill>
                  <a:srgbClr val="4A00E2"/>
                </a:solidFill>
                <a:latin typeface="Arial"/>
                <a:ea typeface="+mn-ea"/>
                <a:cs typeface="Arial"/>
              </a:defRPr>
            </a:lvl5pPr>
            <a:lvl6pPr marL="1714500" algn="l" defTabSz="685800" rtl="0" eaLnBrk="1" latinLnBrk="0" hangingPunct="1">
              <a:defRPr sz="1100" b="1" kern="1200">
                <a:solidFill>
                  <a:srgbClr val="4A00E2"/>
                </a:solidFill>
                <a:latin typeface="Arial"/>
                <a:ea typeface="+mn-ea"/>
                <a:cs typeface="Arial"/>
              </a:defRPr>
            </a:lvl6pPr>
            <a:lvl7pPr marL="2057400" algn="l" defTabSz="685800" rtl="0" eaLnBrk="1" latinLnBrk="0" hangingPunct="1">
              <a:defRPr sz="1100" b="1" kern="1200">
                <a:solidFill>
                  <a:srgbClr val="4A00E2"/>
                </a:solidFill>
                <a:latin typeface="Arial"/>
                <a:ea typeface="+mn-ea"/>
                <a:cs typeface="Arial"/>
              </a:defRPr>
            </a:lvl7pPr>
            <a:lvl8pPr marL="2400300" algn="l" defTabSz="685800" rtl="0" eaLnBrk="1" latinLnBrk="0" hangingPunct="1">
              <a:defRPr sz="1100" b="1" kern="1200">
                <a:solidFill>
                  <a:srgbClr val="4A00E2"/>
                </a:solidFill>
                <a:latin typeface="Arial"/>
                <a:ea typeface="+mn-ea"/>
                <a:cs typeface="Arial"/>
              </a:defRPr>
            </a:lvl8pPr>
            <a:lvl9pPr marL="2743200" algn="l" defTabSz="685800" rtl="0" eaLnBrk="1" latinLnBrk="0" hangingPunct="1">
              <a:defRPr sz="1100" b="1" kern="1200">
                <a:solidFill>
                  <a:srgbClr val="4A00E2"/>
                </a:solidFill>
                <a:latin typeface="Arial"/>
                <a:ea typeface="+mn-ea"/>
                <a:cs typeface="Arial"/>
              </a:defRPr>
            </a:lvl9pPr>
          </a:lstStyle>
          <a:p>
            <a:pPr marL="0" indent="0" algn="l">
              <a:buNone/>
            </a:pPr>
            <a:r>
              <a:rPr lang="en-US" sz="1100" b="1" dirty="0">
                <a:solidFill>
                  <a:srgbClr val="4A00E2"/>
                </a:solidFill>
                <a:latin typeface="Arial"/>
                <a:cs typeface="Arial"/>
              </a:rPr>
              <a:t>ASCEND-MA | WHY EVALUATE NOW</a:t>
            </a:r>
          </a:p>
        </p:txBody>
      </p:sp>
      <p:sp>
        <p:nvSpPr>
          <p:cNvPr id="5" name="Text 3"/>
          <p:cNvSpPr/>
          <p:nvPr/>
        </p:nvSpPr>
        <p:spPr>
          <a:xfrm>
            <a:off x="714358" y="508000"/>
            <a:ext cx="7715057" cy="635000"/>
          </a:xfrm>
          <a:prstGeom prst="rect">
            <a:avLst/>
          </a:prstGeom>
          <a:noFill/>
          <a:ln/>
        </p:spPr>
        <p:txBody>
          <a:bodyPr wrap="square" lIns="0" tIns="0" rIns="0" bIns="0" rtlCol="0" anchor="t">
            <a:normAutofit fontScale="92500" lnSpcReduction="10000"/>
          </a:bodyPr>
          <a:lstStyle>
            <a:lvl1pPr marL="0" algn="l" defTabSz="685800" rtl="0" eaLnBrk="1" latinLnBrk="0" hangingPunct="1">
              <a:defRPr sz="2400" b="1" kern="1200">
                <a:solidFill>
                  <a:srgbClr val="110057"/>
                </a:solidFill>
                <a:latin typeface="Arial"/>
                <a:ea typeface="+mn-ea"/>
                <a:cs typeface="Arial"/>
              </a:defRPr>
            </a:lvl1pPr>
            <a:lvl2pPr marL="342900" algn="l" defTabSz="685800" rtl="0" eaLnBrk="1" latinLnBrk="0" hangingPunct="1">
              <a:defRPr sz="2400" b="1" kern="1200">
                <a:solidFill>
                  <a:srgbClr val="110057"/>
                </a:solidFill>
                <a:latin typeface="Arial"/>
                <a:ea typeface="+mn-ea"/>
                <a:cs typeface="Arial"/>
              </a:defRPr>
            </a:lvl2pPr>
            <a:lvl3pPr marL="685800" algn="l" defTabSz="685800" rtl="0" eaLnBrk="1" latinLnBrk="0" hangingPunct="1">
              <a:defRPr sz="2400" b="1" kern="1200">
                <a:solidFill>
                  <a:srgbClr val="110057"/>
                </a:solidFill>
                <a:latin typeface="Arial"/>
                <a:ea typeface="+mn-ea"/>
                <a:cs typeface="Arial"/>
              </a:defRPr>
            </a:lvl3pPr>
            <a:lvl4pPr marL="1028700" algn="l" defTabSz="685800" rtl="0" eaLnBrk="1" latinLnBrk="0" hangingPunct="1">
              <a:defRPr sz="2400" b="1" kern="1200">
                <a:solidFill>
                  <a:srgbClr val="110057"/>
                </a:solidFill>
                <a:latin typeface="Arial"/>
                <a:ea typeface="+mn-ea"/>
                <a:cs typeface="Arial"/>
              </a:defRPr>
            </a:lvl4pPr>
            <a:lvl5pPr marL="1371600" algn="l" defTabSz="685800" rtl="0" eaLnBrk="1" latinLnBrk="0" hangingPunct="1">
              <a:defRPr sz="2400" b="1" kern="1200">
                <a:solidFill>
                  <a:srgbClr val="110057"/>
                </a:solidFill>
                <a:latin typeface="Arial"/>
                <a:ea typeface="+mn-ea"/>
                <a:cs typeface="Arial"/>
              </a:defRPr>
            </a:lvl5pPr>
            <a:lvl6pPr marL="1714500" algn="l" defTabSz="685800" rtl="0" eaLnBrk="1" latinLnBrk="0" hangingPunct="1">
              <a:defRPr sz="2400" b="1" kern="1200">
                <a:solidFill>
                  <a:srgbClr val="110057"/>
                </a:solidFill>
                <a:latin typeface="Arial"/>
                <a:ea typeface="+mn-ea"/>
                <a:cs typeface="Arial"/>
              </a:defRPr>
            </a:lvl6pPr>
            <a:lvl7pPr marL="2057400" algn="l" defTabSz="685800" rtl="0" eaLnBrk="1" latinLnBrk="0" hangingPunct="1">
              <a:defRPr sz="2400" b="1" kern="1200">
                <a:solidFill>
                  <a:srgbClr val="110057"/>
                </a:solidFill>
                <a:latin typeface="Arial"/>
                <a:ea typeface="+mn-ea"/>
                <a:cs typeface="Arial"/>
              </a:defRPr>
            </a:lvl7pPr>
            <a:lvl8pPr marL="2400300" algn="l" defTabSz="685800" rtl="0" eaLnBrk="1" latinLnBrk="0" hangingPunct="1">
              <a:defRPr sz="2400" b="1" kern="1200">
                <a:solidFill>
                  <a:srgbClr val="110057"/>
                </a:solidFill>
                <a:latin typeface="Arial"/>
                <a:ea typeface="+mn-ea"/>
                <a:cs typeface="Arial"/>
              </a:defRPr>
            </a:lvl8pPr>
            <a:lvl9pPr marL="2743200" algn="l" defTabSz="685800" rtl="0" eaLnBrk="1" latinLnBrk="0" hangingPunct="1">
              <a:defRPr sz="2400" b="1" kern="1200">
                <a:solidFill>
                  <a:srgbClr val="110057"/>
                </a:solidFill>
                <a:latin typeface="Arial"/>
                <a:ea typeface="+mn-ea"/>
                <a:cs typeface="Arial"/>
              </a:defRPr>
            </a:lvl9pPr>
          </a:lstStyle>
          <a:p>
            <a:pPr marL="0" indent="0" algn="l">
              <a:buNone/>
            </a:pPr>
            <a:r>
              <a:rPr lang="en-US" sz="2400" b="1" dirty="0">
                <a:solidFill>
                  <a:srgbClr val="110057"/>
                </a:solidFill>
                <a:latin typeface="Arial"/>
                <a:cs typeface="Arial"/>
              </a:rPr>
              <a:t>Adoption is coming either way — design now to learn whether it helps</a:t>
            </a:r>
          </a:p>
        </p:txBody>
      </p:sp>
      <p:sp>
        <p:nvSpPr>
          <p:cNvPr id="7" name="Shape 5"/>
          <p:cNvSpPr/>
          <p:nvPr/>
        </p:nvSpPr>
        <p:spPr>
          <a:xfrm>
            <a:off x="714358" y="1219200"/>
            <a:ext cx="7715057" cy="14288"/>
          </a:xfrm>
          <a:prstGeom prst="rect">
            <a:avLst/>
          </a:prstGeom>
          <a:solidFill>
            <a:srgbClr val="D5DCE5"/>
          </a:solidFill>
          <a:ln w="12700">
            <a:solidFill>
              <a:srgbClr val="FFFFFF">
                <a:alpha val="0"/>
              </a:srgbClr>
            </a:solidFill>
            <a:prstDash val="solid"/>
          </a:ln>
        </p:spPr>
        <p:txBody>
          <a:bodyPr/>
          <a:lstStyle/>
          <a:p>
            <a:endParaRPr lang="en-US" sz="1600">
              <a:latin typeface="Arial"/>
              <a:cs typeface="Arial"/>
            </a:endParaRPr>
          </a:p>
        </p:txBody>
      </p:sp>
      <p:sp>
        <p:nvSpPr>
          <p:cNvPr id="8" name="Shape 6"/>
          <p:cNvSpPr/>
          <p:nvPr/>
        </p:nvSpPr>
        <p:spPr>
          <a:xfrm>
            <a:off x="711200" y="1778000"/>
            <a:ext cx="2082800" cy="1905000"/>
          </a:xfrm>
          <a:prstGeom prst="roundRect">
            <a:avLst/>
          </a:prstGeom>
          <a:solidFill>
            <a:srgbClr val="F8FAFC"/>
          </a:solidFill>
          <a:ln w="19050">
            <a:solidFill>
              <a:srgbClr val="D8E0EA"/>
            </a:solidFill>
            <a:prstDash val="solid"/>
          </a:ln>
        </p:spPr>
        <p:txBody>
          <a:bodyPr/>
          <a:lstStyle/>
          <a:p>
            <a:endParaRPr lang="en-US" sz="1600">
              <a:latin typeface="Arial"/>
              <a:cs typeface="Arial"/>
            </a:endParaRPr>
          </a:p>
        </p:txBody>
      </p:sp>
      <p:sp>
        <p:nvSpPr>
          <p:cNvPr id="9" name="Text 7"/>
          <p:cNvSpPr/>
          <p:nvPr/>
        </p:nvSpPr>
        <p:spPr>
          <a:xfrm>
            <a:off x="889000" y="1955800"/>
            <a:ext cx="271456" cy="214313"/>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600" b="1" dirty="0">
                <a:solidFill>
                  <a:srgbClr val="6B46C1"/>
                </a:solidFill>
                <a:latin typeface="Arial"/>
                <a:ea typeface="Arial" pitchFamily="34" charset="-122"/>
                <a:cs typeface="Arial"/>
              </a:rPr>
              <a:t>1</a:t>
            </a:r>
            <a:endParaRPr lang="en-US" sz="1600" dirty="0">
              <a:latin typeface="Arial"/>
              <a:cs typeface="Arial"/>
            </a:endParaRPr>
          </a:p>
        </p:txBody>
      </p:sp>
      <p:sp>
        <p:nvSpPr>
          <p:cNvPr id="10" name="Text 8"/>
          <p:cNvSpPr/>
          <p:nvPr/>
        </p:nvSpPr>
        <p:spPr>
          <a:xfrm>
            <a:off x="1117600" y="1955800"/>
            <a:ext cx="1524000" cy="482600"/>
          </a:xfrm>
          <a:prstGeom prst="rect">
            <a:avLst/>
          </a:prstGeom>
          <a:noFill/>
          <a:ln/>
        </p:spPr>
        <p:txBody>
          <a:bodyPr wrap="square" lIns="0" tIns="0" rIns="0" bIns="0" rtlCol="0" anchor="t">
            <a:noAutofit/>
          </a:bodyPr>
          <a:lstStyle>
            <a:lvl1pPr marL="0" algn="l" defTabSz="685800" rtl="0" eaLnBrk="1" latinLnBrk="0" hangingPunct="1">
              <a:defRPr sz="1300" b="1" kern="1200">
                <a:solidFill>
                  <a:srgbClr val="110057"/>
                </a:solidFill>
                <a:latin typeface="Arial"/>
                <a:ea typeface="+mn-ea"/>
                <a:cs typeface="Arial"/>
              </a:defRPr>
            </a:lvl1pPr>
            <a:lvl2pPr marL="342900" algn="l" defTabSz="685800" rtl="0" eaLnBrk="1" latinLnBrk="0" hangingPunct="1">
              <a:defRPr sz="1300" b="1" kern="1200">
                <a:solidFill>
                  <a:srgbClr val="110057"/>
                </a:solidFill>
                <a:latin typeface="Arial"/>
                <a:ea typeface="+mn-ea"/>
                <a:cs typeface="Arial"/>
              </a:defRPr>
            </a:lvl2pPr>
            <a:lvl3pPr marL="685800" algn="l" defTabSz="685800" rtl="0" eaLnBrk="1" latinLnBrk="0" hangingPunct="1">
              <a:defRPr sz="1300" b="1" kern="1200">
                <a:solidFill>
                  <a:srgbClr val="110057"/>
                </a:solidFill>
                <a:latin typeface="Arial"/>
                <a:ea typeface="+mn-ea"/>
                <a:cs typeface="Arial"/>
              </a:defRPr>
            </a:lvl3pPr>
            <a:lvl4pPr marL="1028700" algn="l" defTabSz="685800" rtl="0" eaLnBrk="1" latinLnBrk="0" hangingPunct="1">
              <a:defRPr sz="1300" b="1" kern="1200">
                <a:solidFill>
                  <a:srgbClr val="110057"/>
                </a:solidFill>
                <a:latin typeface="Arial"/>
                <a:ea typeface="+mn-ea"/>
                <a:cs typeface="Arial"/>
              </a:defRPr>
            </a:lvl4pPr>
            <a:lvl5pPr marL="1371600" algn="l" defTabSz="685800" rtl="0" eaLnBrk="1" latinLnBrk="0" hangingPunct="1">
              <a:defRPr sz="1300" b="1" kern="1200">
                <a:solidFill>
                  <a:srgbClr val="110057"/>
                </a:solidFill>
                <a:latin typeface="Arial"/>
                <a:ea typeface="+mn-ea"/>
                <a:cs typeface="Arial"/>
              </a:defRPr>
            </a:lvl5pPr>
            <a:lvl6pPr marL="1714500" algn="l" defTabSz="685800" rtl="0" eaLnBrk="1" latinLnBrk="0" hangingPunct="1">
              <a:defRPr sz="1300" b="1" kern="1200">
                <a:solidFill>
                  <a:srgbClr val="110057"/>
                </a:solidFill>
                <a:latin typeface="Arial"/>
                <a:ea typeface="+mn-ea"/>
                <a:cs typeface="Arial"/>
              </a:defRPr>
            </a:lvl6pPr>
            <a:lvl7pPr marL="2057400" algn="l" defTabSz="685800" rtl="0" eaLnBrk="1" latinLnBrk="0" hangingPunct="1">
              <a:defRPr sz="1300" b="1" kern="1200">
                <a:solidFill>
                  <a:srgbClr val="110057"/>
                </a:solidFill>
                <a:latin typeface="Arial"/>
                <a:ea typeface="+mn-ea"/>
                <a:cs typeface="Arial"/>
              </a:defRPr>
            </a:lvl7pPr>
            <a:lvl8pPr marL="2400300" algn="l" defTabSz="685800" rtl="0" eaLnBrk="1" latinLnBrk="0" hangingPunct="1">
              <a:defRPr sz="1300" b="1" kern="1200">
                <a:solidFill>
                  <a:srgbClr val="110057"/>
                </a:solidFill>
                <a:latin typeface="Arial"/>
                <a:ea typeface="+mn-ea"/>
                <a:cs typeface="Arial"/>
              </a:defRPr>
            </a:lvl8pPr>
            <a:lvl9pPr marL="2743200" algn="l" defTabSz="685800" rtl="0" eaLnBrk="1" latinLnBrk="0" hangingPunct="1">
              <a:defRPr sz="1300" b="1" kern="1200">
                <a:solidFill>
                  <a:srgbClr val="110057"/>
                </a:solidFill>
                <a:latin typeface="Arial"/>
                <a:ea typeface="+mn-ea"/>
                <a:cs typeface="Arial"/>
              </a:defRPr>
            </a:lvl9pPr>
          </a:lstStyle>
          <a:p>
            <a:pPr marL="0" indent="0" algn="l">
              <a:buNone/>
            </a:pPr>
            <a:r>
              <a:rPr lang="en-US" sz="1300" b="1" dirty="0">
                <a:solidFill>
                  <a:srgbClr val="110057"/>
                </a:solidFill>
                <a:latin typeface="Arial"/>
                <a:cs typeface="Arial"/>
              </a:rPr>
              <a:t>Adoption is happening </a:t>
            </a:r>
          </a:p>
        </p:txBody>
      </p:sp>
      <p:sp>
        <p:nvSpPr>
          <p:cNvPr id="11" name="Text 9"/>
          <p:cNvSpPr/>
          <p:nvPr/>
        </p:nvSpPr>
        <p:spPr>
          <a:xfrm>
            <a:off x="889000" y="2489200"/>
            <a:ext cx="1727200" cy="1041400"/>
          </a:xfrm>
          <a:prstGeom prst="rect">
            <a:avLst/>
          </a:prstGeom>
          <a:noFill/>
          <a:ln/>
        </p:spPr>
        <p:txBody>
          <a:bodyPr wrap="square" lIns="0" tIns="0" rIns="0" bIns="0" rtlCol="0" anchor="t">
            <a:noAutofit/>
          </a:bodyPr>
          <a:lstStyle>
            <a:lvl1pPr marL="0" algn="l" defTabSz="685800" rtl="0" eaLnBrk="1" latinLnBrk="0" hangingPunct="1">
              <a:defRPr sz="1200" b="0" kern="1200">
                <a:solidFill>
                  <a:srgbClr val="2A2340"/>
                </a:solidFill>
                <a:latin typeface="Arial"/>
                <a:ea typeface="+mn-ea"/>
                <a:cs typeface="Arial"/>
              </a:defRPr>
            </a:lvl1pPr>
            <a:lvl2pPr marL="342900" algn="l" defTabSz="685800" rtl="0" eaLnBrk="1" latinLnBrk="0" hangingPunct="1">
              <a:defRPr sz="1200" b="0" kern="1200">
                <a:solidFill>
                  <a:srgbClr val="2A2340"/>
                </a:solidFill>
                <a:latin typeface="Arial"/>
                <a:ea typeface="+mn-ea"/>
                <a:cs typeface="Arial"/>
              </a:defRPr>
            </a:lvl2pPr>
            <a:lvl3pPr marL="685800" algn="l" defTabSz="685800" rtl="0" eaLnBrk="1" latinLnBrk="0" hangingPunct="1">
              <a:defRPr sz="1200" b="0" kern="1200">
                <a:solidFill>
                  <a:srgbClr val="2A2340"/>
                </a:solidFill>
                <a:latin typeface="Arial"/>
                <a:ea typeface="+mn-ea"/>
                <a:cs typeface="Arial"/>
              </a:defRPr>
            </a:lvl3pPr>
            <a:lvl4pPr marL="1028700" algn="l" defTabSz="685800" rtl="0" eaLnBrk="1" latinLnBrk="0" hangingPunct="1">
              <a:defRPr sz="1200" b="0" kern="1200">
                <a:solidFill>
                  <a:srgbClr val="2A2340"/>
                </a:solidFill>
                <a:latin typeface="Arial"/>
                <a:ea typeface="+mn-ea"/>
                <a:cs typeface="Arial"/>
              </a:defRPr>
            </a:lvl4pPr>
            <a:lvl5pPr marL="1371600" algn="l" defTabSz="685800" rtl="0" eaLnBrk="1" latinLnBrk="0" hangingPunct="1">
              <a:defRPr sz="1200" b="0" kern="1200">
                <a:solidFill>
                  <a:srgbClr val="2A2340"/>
                </a:solidFill>
                <a:latin typeface="Arial"/>
                <a:ea typeface="+mn-ea"/>
                <a:cs typeface="Arial"/>
              </a:defRPr>
            </a:lvl5pPr>
            <a:lvl6pPr marL="1714500" algn="l" defTabSz="685800" rtl="0" eaLnBrk="1" latinLnBrk="0" hangingPunct="1">
              <a:defRPr sz="1200" b="0" kern="1200">
                <a:solidFill>
                  <a:srgbClr val="2A2340"/>
                </a:solidFill>
                <a:latin typeface="Arial"/>
                <a:ea typeface="+mn-ea"/>
                <a:cs typeface="Arial"/>
              </a:defRPr>
            </a:lvl6pPr>
            <a:lvl7pPr marL="2057400" algn="l" defTabSz="685800" rtl="0" eaLnBrk="1" latinLnBrk="0" hangingPunct="1">
              <a:defRPr sz="1200" b="0" kern="1200">
                <a:solidFill>
                  <a:srgbClr val="2A2340"/>
                </a:solidFill>
                <a:latin typeface="Arial"/>
                <a:ea typeface="+mn-ea"/>
                <a:cs typeface="Arial"/>
              </a:defRPr>
            </a:lvl7pPr>
            <a:lvl8pPr marL="2400300" algn="l" defTabSz="685800" rtl="0" eaLnBrk="1" latinLnBrk="0" hangingPunct="1">
              <a:defRPr sz="1200" b="0" kern="1200">
                <a:solidFill>
                  <a:srgbClr val="2A2340"/>
                </a:solidFill>
                <a:latin typeface="Arial"/>
                <a:ea typeface="+mn-ea"/>
                <a:cs typeface="Arial"/>
              </a:defRPr>
            </a:lvl8pPr>
            <a:lvl9pPr marL="2743200" algn="l" defTabSz="685800" rtl="0" eaLnBrk="1" latinLnBrk="0" hangingPunct="1">
              <a:defRPr sz="1200" b="0" kern="1200">
                <a:solidFill>
                  <a:srgbClr val="2A2340"/>
                </a:solidFill>
                <a:latin typeface="Arial"/>
                <a:ea typeface="+mn-ea"/>
                <a:cs typeface="Arial"/>
              </a:defRPr>
            </a:lvl9pPr>
          </a:lstStyle>
          <a:p>
            <a:pPr marL="0" indent="0" algn="l">
              <a:buNone/>
            </a:pPr>
            <a:r>
              <a:rPr lang="en-US" sz="1200" dirty="0">
                <a:solidFill>
                  <a:srgbClr val="2A2340"/>
                </a:solidFill>
                <a:latin typeface="Arial"/>
                <a:cs typeface="Arial"/>
              </a:rPr>
              <a:t>AI tools are spreading across the organization for many reasons, and will expand as models improve.</a:t>
            </a:r>
          </a:p>
        </p:txBody>
      </p:sp>
      <p:sp>
        <p:nvSpPr>
          <p:cNvPr id="12" name="Shape 10"/>
          <p:cNvSpPr/>
          <p:nvPr/>
        </p:nvSpPr>
        <p:spPr>
          <a:xfrm>
            <a:off x="3429000" y="1778000"/>
            <a:ext cx="2082800" cy="1905000"/>
          </a:xfrm>
          <a:prstGeom prst="roundRect">
            <a:avLst/>
          </a:prstGeom>
          <a:solidFill>
            <a:srgbClr val="F8FAFC"/>
          </a:solidFill>
          <a:ln w="19050">
            <a:solidFill>
              <a:srgbClr val="D8E0EA"/>
            </a:solidFill>
            <a:prstDash val="solid"/>
          </a:ln>
        </p:spPr>
        <p:txBody>
          <a:bodyPr/>
          <a:lstStyle/>
          <a:p>
            <a:endParaRPr lang="en-US" sz="1600">
              <a:latin typeface="Arial"/>
              <a:cs typeface="Arial"/>
            </a:endParaRPr>
          </a:p>
        </p:txBody>
      </p:sp>
      <p:sp>
        <p:nvSpPr>
          <p:cNvPr id="13" name="Text 11"/>
          <p:cNvSpPr/>
          <p:nvPr/>
        </p:nvSpPr>
        <p:spPr>
          <a:xfrm>
            <a:off x="3606800" y="1955800"/>
            <a:ext cx="271456" cy="214313"/>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600" b="1" dirty="0">
                <a:solidFill>
                  <a:srgbClr val="6B46C1"/>
                </a:solidFill>
                <a:latin typeface="Arial"/>
                <a:ea typeface="Arial" pitchFamily="34" charset="-122"/>
                <a:cs typeface="Arial"/>
              </a:rPr>
              <a:t>2</a:t>
            </a:r>
            <a:endParaRPr lang="en-US" sz="1600" dirty="0">
              <a:latin typeface="Arial"/>
              <a:cs typeface="Arial"/>
            </a:endParaRPr>
          </a:p>
        </p:txBody>
      </p:sp>
      <p:sp>
        <p:nvSpPr>
          <p:cNvPr id="14" name="Text 12"/>
          <p:cNvSpPr/>
          <p:nvPr/>
        </p:nvSpPr>
        <p:spPr>
          <a:xfrm>
            <a:off x="3835400" y="1955800"/>
            <a:ext cx="1524000" cy="482600"/>
          </a:xfrm>
          <a:prstGeom prst="rect">
            <a:avLst/>
          </a:prstGeom>
          <a:noFill/>
          <a:ln/>
        </p:spPr>
        <p:txBody>
          <a:bodyPr wrap="square" lIns="0" tIns="0" rIns="0" bIns="0" rtlCol="0" anchor="t">
            <a:noAutofit/>
          </a:bodyPr>
          <a:lstStyle>
            <a:lvl1pPr marL="0" algn="l" defTabSz="685800" rtl="0" eaLnBrk="1" latinLnBrk="0" hangingPunct="1">
              <a:defRPr sz="1300" b="1" kern="1200">
                <a:solidFill>
                  <a:srgbClr val="110057"/>
                </a:solidFill>
                <a:latin typeface="Arial"/>
                <a:ea typeface="+mn-ea"/>
                <a:cs typeface="Arial"/>
              </a:defRPr>
            </a:lvl1pPr>
            <a:lvl2pPr marL="342900" algn="l" defTabSz="685800" rtl="0" eaLnBrk="1" latinLnBrk="0" hangingPunct="1">
              <a:defRPr sz="1300" b="1" kern="1200">
                <a:solidFill>
                  <a:srgbClr val="110057"/>
                </a:solidFill>
                <a:latin typeface="Arial"/>
                <a:ea typeface="+mn-ea"/>
                <a:cs typeface="Arial"/>
              </a:defRPr>
            </a:lvl2pPr>
            <a:lvl3pPr marL="685800" algn="l" defTabSz="685800" rtl="0" eaLnBrk="1" latinLnBrk="0" hangingPunct="1">
              <a:defRPr sz="1300" b="1" kern="1200">
                <a:solidFill>
                  <a:srgbClr val="110057"/>
                </a:solidFill>
                <a:latin typeface="Arial"/>
                <a:ea typeface="+mn-ea"/>
                <a:cs typeface="Arial"/>
              </a:defRPr>
            </a:lvl3pPr>
            <a:lvl4pPr marL="1028700" algn="l" defTabSz="685800" rtl="0" eaLnBrk="1" latinLnBrk="0" hangingPunct="1">
              <a:defRPr sz="1300" b="1" kern="1200">
                <a:solidFill>
                  <a:srgbClr val="110057"/>
                </a:solidFill>
                <a:latin typeface="Arial"/>
                <a:ea typeface="+mn-ea"/>
                <a:cs typeface="Arial"/>
              </a:defRPr>
            </a:lvl4pPr>
            <a:lvl5pPr marL="1371600" algn="l" defTabSz="685800" rtl="0" eaLnBrk="1" latinLnBrk="0" hangingPunct="1">
              <a:defRPr sz="1300" b="1" kern="1200">
                <a:solidFill>
                  <a:srgbClr val="110057"/>
                </a:solidFill>
                <a:latin typeface="Arial"/>
                <a:ea typeface="+mn-ea"/>
                <a:cs typeface="Arial"/>
              </a:defRPr>
            </a:lvl5pPr>
            <a:lvl6pPr marL="1714500" algn="l" defTabSz="685800" rtl="0" eaLnBrk="1" latinLnBrk="0" hangingPunct="1">
              <a:defRPr sz="1300" b="1" kern="1200">
                <a:solidFill>
                  <a:srgbClr val="110057"/>
                </a:solidFill>
                <a:latin typeface="Arial"/>
                <a:ea typeface="+mn-ea"/>
                <a:cs typeface="Arial"/>
              </a:defRPr>
            </a:lvl6pPr>
            <a:lvl7pPr marL="2057400" algn="l" defTabSz="685800" rtl="0" eaLnBrk="1" latinLnBrk="0" hangingPunct="1">
              <a:defRPr sz="1300" b="1" kern="1200">
                <a:solidFill>
                  <a:srgbClr val="110057"/>
                </a:solidFill>
                <a:latin typeface="Arial"/>
                <a:ea typeface="+mn-ea"/>
                <a:cs typeface="Arial"/>
              </a:defRPr>
            </a:lvl7pPr>
            <a:lvl8pPr marL="2400300" algn="l" defTabSz="685800" rtl="0" eaLnBrk="1" latinLnBrk="0" hangingPunct="1">
              <a:defRPr sz="1300" b="1" kern="1200">
                <a:solidFill>
                  <a:srgbClr val="110057"/>
                </a:solidFill>
                <a:latin typeface="Arial"/>
                <a:ea typeface="+mn-ea"/>
                <a:cs typeface="Arial"/>
              </a:defRPr>
            </a:lvl8pPr>
            <a:lvl9pPr marL="2743200" algn="l" defTabSz="685800" rtl="0" eaLnBrk="1" latinLnBrk="0" hangingPunct="1">
              <a:defRPr sz="1300" b="1" kern="1200">
                <a:solidFill>
                  <a:srgbClr val="110057"/>
                </a:solidFill>
                <a:latin typeface="Arial"/>
                <a:ea typeface="+mn-ea"/>
                <a:cs typeface="Arial"/>
              </a:defRPr>
            </a:lvl9pPr>
          </a:lstStyle>
          <a:p>
            <a:pPr marL="0" indent="0" algn="l">
              <a:buNone/>
            </a:pPr>
            <a:r>
              <a:rPr lang="en-US" sz="1300" b="1" dirty="0">
                <a:solidFill>
                  <a:srgbClr val="110057"/>
                </a:solidFill>
                <a:latin typeface="Arial"/>
                <a:cs typeface="Arial"/>
              </a:rPr>
              <a:t>Narrow design window</a:t>
            </a:r>
          </a:p>
        </p:txBody>
      </p:sp>
      <p:sp>
        <p:nvSpPr>
          <p:cNvPr id="15" name="Text 13"/>
          <p:cNvSpPr/>
          <p:nvPr/>
        </p:nvSpPr>
        <p:spPr>
          <a:xfrm>
            <a:off x="3606800" y="2489200"/>
            <a:ext cx="1727200" cy="1041400"/>
          </a:xfrm>
          <a:prstGeom prst="rect">
            <a:avLst/>
          </a:prstGeom>
          <a:noFill/>
          <a:ln/>
        </p:spPr>
        <p:txBody>
          <a:bodyPr wrap="square" lIns="0" tIns="0" rIns="0" bIns="0" rtlCol="0" anchor="t">
            <a:noAutofit/>
          </a:bodyPr>
          <a:lstStyle>
            <a:lvl1pPr marL="0" algn="l" defTabSz="685800" rtl="0" eaLnBrk="1" latinLnBrk="0" hangingPunct="1">
              <a:defRPr sz="1200" b="0" kern="1200">
                <a:solidFill>
                  <a:srgbClr val="2A2340"/>
                </a:solidFill>
                <a:latin typeface="Arial"/>
                <a:ea typeface="+mn-ea"/>
                <a:cs typeface="Arial"/>
              </a:defRPr>
            </a:lvl1pPr>
            <a:lvl2pPr marL="342900" algn="l" defTabSz="685800" rtl="0" eaLnBrk="1" latinLnBrk="0" hangingPunct="1">
              <a:defRPr sz="1200" b="0" kern="1200">
                <a:solidFill>
                  <a:srgbClr val="2A2340"/>
                </a:solidFill>
                <a:latin typeface="Arial"/>
                <a:ea typeface="+mn-ea"/>
                <a:cs typeface="Arial"/>
              </a:defRPr>
            </a:lvl2pPr>
            <a:lvl3pPr marL="685800" algn="l" defTabSz="685800" rtl="0" eaLnBrk="1" latinLnBrk="0" hangingPunct="1">
              <a:defRPr sz="1200" b="0" kern="1200">
                <a:solidFill>
                  <a:srgbClr val="2A2340"/>
                </a:solidFill>
                <a:latin typeface="Arial"/>
                <a:ea typeface="+mn-ea"/>
                <a:cs typeface="Arial"/>
              </a:defRPr>
            </a:lvl3pPr>
            <a:lvl4pPr marL="1028700" algn="l" defTabSz="685800" rtl="0" eaLnBrk="1" latinLnBrk="0" hangingPunct="1">
              <a:defRPr sz="1200" b="0" kern="1200">
                <a:solidFill>
                  <a:srgbClr val="2A2340"/>
                </a:solidFill>
                <a:latin typeface="Arial"/>
                <a:ea typeface="+mn-ea"/>
                <a:cs typeface="Arial"/>
              </a:defRPr>
            </a:lvl4pPr>
            <a:lvl5pPr marL="1371600" algn="l" defTabSz="685800" rtl="0" eaLnBrk="1" latinLnBrk="0" hangingPunct="1">
              <a:defRPr sz="1200" b="0" kern="1200">
                <a:solidFill>
                  <a:srgbClr val="2A2340"/>
                </a:solidFill>
                <a:latin typeface="Arial"/>
                <a:ea typeface="+mn-ea"/>
                <a:cs typeface="Arial"/>
              </a:defRPr>
            </a:lvl5pPr>
            <a:lvl6pPr marL="1714500" algn="l" defTabSz="685800" rtl="0" eaLnBrk="1" latinLnBrk="0" hangingPunct="1">
              <a:defRPr sz="1200" b="0" kern="1200">
                <a:solidFill>
                  <a:srgbClr val="2A2340"/>
                </a:solidFill>
                <a:latin typeface="Arial"/>
                <a:ea typeface="+mn-ea"/>
                <a:cs typeface="Arial"/>
              </a:defRPr>
            </a:lvl6pPr>
            <a:lvl7pPr marL="2057400" algn="l" defTabSz="685800" rtl="0" eaLnBrk="1" latinLnBrk="0" hangingPunct="1">
              <a:defRPr sz="1200" b="0" kern="1200">
                <a:solidFill>
                  <a:srgbClr val="2A2340"/>
                </a:solidFill>
                <a:latin typeface="Arial"/>
                <a:ea typeface="+mn-ea"/>
                <a:cs typeface="Arial"/>
              </a:defRPr>
            </a:lvl7pPr>
            <a:lvl8pPr marL="2400300" algn="l" defTabSz="685800" rtl="0" eaLnBrk="1" latinLnBrk="0" hangingPunct="1">
              <a:defRPr sz="1200" b="0" kern="1200">
                <a:solidFill>
                  <a:srgbClr val="2A2340"/>
                </a:solidFill>
                <a:latin typeface="Arial"/>
                <a:ea typeface="+mn-ea"/>
                <a:cs typeface="Arial"/>
              </a:defRPr>
            </a:lvl8pPr>
            <a:lvl9pPr marL="2743200" algn="l" defTabSz="685800" rtl="0" eaLnBrk="1" latinLnBrk="0" hangingPunct="1">
              <a:defRPr sz="1200" b="0" kern="1200">
                <a:solidFill>
                  <a:srgbClr val="2A2340"/>
                </a:solidFill>
                <a:latin typeface="Arial"/>
                <a:ea typeface="+mn-ea"/>
                <a:cs typeface="Arial"/>
              </a:defRPr>
            </a:lvl9pPr>
          </a:lstStyle>
          <a:p>
            <a:pPr marL="0" indent="0" algn="l">
              <a:buNone/>
            </a:pPr>
            <a:r>
              <a:rPr lang="en-US" sz="1200" dirty="0">
                <a:solidFill>
                  <a:srgbClr val="2A2340"/>
                </a:solidFill>
                <a:latin typeface="Arial"/>
                <a:cs typeface="Arial"/>
              </a:rPr>
              <a:t>Moving early lets us build causal-inference design in before adoption is locked in everywhere.</a:t>
            </a:r>
          </a:p>
        </p:txBody>
      </p:sp>
      <p:sp>
        <p:nvSpPr>
          <p:cNvPr id="16" name="Shape 14"/>
          <p:cNvSpPr/>
          <p:nvPr/>
        </p:nvSpPr>
        <p:spPr>
          <a:xfrm>
            <a:off x="6146800" y="1778000"/>
            <a:ext cx="2082800" cy="1905000"/>
          </a:xfrm>
          <a:prstGeom prst="roundRect">
            <a:avLst/>
          </a:prstGeom>
          <a:solidFill>
            <a:srgbClr val="F8FAFC"/>
          </a:solidFill>
          <a:ln w="19050">
            <a:solidFill>
              <a:srgbClr val="D8E0EA"/>
            </a:solidFill>
            <a:prstDash val="solid"/>
          </a:ln>
        </p:spPr>
        <p:txBody>
          <a:bodyPr/>
          <a:lstStyle/>
          <a:p>
            <a:endParaRPr lang="en-US" sz="1600">
              <a:latin typeface="Arial"/>
              <a:cs typeface="Arial"/>
            </a:endParaRPr>
          </a:p>
        </p:txBody>
      </p:sp>
      <p:sp>
        <p:nvSpPr>
          <p:cNvPr id="17" name="Text 15"/>
          <p:cNvSpPr/>
          <p:nvPr/>
        </p:nvSpPr>
        <p:spPr>
          <a:xfrm>
            <a:off x="6324600" y="1955800"/>
            <a:ext cx="271456" cy="214313"/>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600" b="1" dirty="0">
                <a:solidFill>
                  <a:srgbClr val="6B46C1"/>
                </a:solidFill>
                <a:latin typeface="Arial"/>
                <a:ea typeface="Arial" pitchFamily="34" charset="-122"/>
                <a:cs typeface="Arial"/>
              </a:rPr>
              <a:t>3</a:t>
            </a:r>
            <a:endParaRPr lang="en-US" sz="1600" dirty="0">
              <a:latin typeface="Arial"/>
              <a:cs typeface="Arial"/>
            </a:endParaRPr>
          </a:p>
        </p:txBody>
      </p:sp>
      <p:sp>
        <p:nvSpPr>
          <p:cNvPr id="18" name="Text 16"/>
          <p:cNvSpPr/>
          <p:nvPr/>
        </p:nvSpPr>
        <p:spPr>
          <a:xfrm>
            <a:off x="6553200" y="1955800"/>
            <a:ext cx="1524000" cy="482600"/>
          </a:xfrm>
          <a:prstGeom prst="rect">
            <a:avLst/>
          </a:prstGeom>
          <a:noFill/>
          <a:ln/>
        </p:spPr>
        <p:txBody>
          <a:bodyPr wrap="square" lIns="0" tIns="0" rIns="0" bIns="0" rtlCol="0" anchor="t">
            <a:noAutofit/>
          </a:bodyPr>
          <a:lstStyle>
            <a:lvl1pPr marL="0" algn="l" defTabSz="685800" rtl="0" eaLnBrk="1" latinLnBrk="0" hangingPunct="1">
              <a:defRPr sz="1300" b="1" kern="1200">
                <a:solidFill>
                  <a:srgbClr val="110057"/>
                </a:solidFill>
                <a:latin typeface="Arial"/>
                <a:ea typeface="+mn-ea"/>
                <a:cs typeface="Arial"/>
              </a:defRPr>
            </a:lvl1pPr>
            <a:lvl2pPr marL="342900" algn="l" defTabSz="685800" rtl="0" eaLnBrk="1" latinLnBrk="0" hangingPunct="1">
              <a:defRPr sz="1300" b="1" kern="1200">
                <a:solidFill>
                  <a:srgbClr val="110057"/>
                </a:solidFill>
                <a:latin typeface="Arial"/>
                <a:ea typeface="+mn-ea"/>
                <a:cs typeface="Arial"/>
              </a:defRPr>
            </a:lvl2pPr>
            <a:lvl3pPr marL="685800" algn="l" defTabSz="685800" rtl="0" eaLnBrk="1" latinLnBrk="0" hangingPunct="1">
              <a:defRPr sz="1300" b="1" kern="1200">
                <a:solidFill>
                  <a:srgbClr val="110057"/>
                </a:solidFill>
                <a:latin typeface="Arial"/>
                <a:ea typeface="+mn-ea"/>
                <a:cs typeface="Arial"/>
              </a:defRPr>
            </a:lvl3pPr>
            <a:lvl4pPr marL="1028700" algn="l" defTabSz="685800" rtl="0" eaLnBrk="1" latinLnBrk="0" hangingPunct="1">
              <a:defRPr sz="1300" b="1" kern="1200">
                <a:solidFill>
                  <a:srgbClr val="110057"/>
                </a:solidFill>
                <a:latin typeface="Arial"/>
                <a:ea typeface="+mn-ea"/>
                <a:cs typeface="Arial"/>
              </a:defRPr>
            </a:lvl4pPr>
            <a:lvl5pPr marL="1371600" algn="l" defTabSz="685800" rtl="0" eaLnBrk="1" latinLnBrk="0" hangingPunct="1">
              <a:defRPr sz="1300" b="1" kern="1200">
                <a:solidFill>
                  <a:srgbClr val="110057"/>
                </a:solidFill>
                <a:latin typeface="Arial"/>
                <a:ea typeface="+mn-ea"/>
                <a:cs typeface="Arial"/>
              </a:defRPr>
            </a:lvl5pPr>
            <a:lvl6pPr marL="1714500" algn="l" defTabSz="685800" rtl="0" eaLnBrk="1" latinLnBrk="0" hangingPunct="1">
              <a:defRPr sz="1300" b="1" kern="1200">
                <a:solidFill>
                  <a:srgbClr val="110057"/>
                </a:solidFill>
                <a:latin typeface="Arial"/>
                <a:ea typeface="+mn-ea"/>
                <a:cs typeface="Arial"/>
              </a:defRPr>
            </a:lvl6pPr>
            <a:lvl7pPr marL="2057400" algn="l" defTabSz="685800" rtl="0" eaLnBrk="1" latinLnBrk="0" hangingPunct="1">
              <a:defRPr sz="1300" b="1" kern="1200">
                <a:solidFill>
                  <a:srgbClr val="110057"/>
                </a:solidFill>
                <a:latin typeface="Arial"/>
                <a:ea typeface="+mn-ea"/>
                <a:cs typeface="Arial"/>
              </a:defRPr>
            </a:lvl7pPr>
            <a:lvl8pPr marL="2400300" algn="l" defTabSz="685800" rtl="0" eaLnBrk="1" latinLnBrk="0" hangingPunct="1">
              <a:defRPr sz="1300" b="1" kern="1200">
                <a:solidFill>
                  <a:srgbClr val="110057"/>
                </a:solidFill>
                <a:latin typeface="Arial"/>
                <a:ea typeface="+mn-ea"/>
                <a:cs typeface="Arial"/>
              </a:defRPr>
            </a:lvl8pPr>
            <a:lvl9pPr marL="2743200" algn="l" defTabSz="685800" rtl="0" eaLnBrk="1" latinLnBrk="0" hangingPunct="1">
              <a:defRPr sz="1300" b="1" kern="1200">
                <a:solidFill>
                  <a:srgbClr val="110057"/>
                </a:solidFill>
                <a:latin typeface="Arial"/>
                <a:ea typeface="+mn-ea"/>
                <a:cs typeface="Arial"/>
              </a:defRPr>
            </a:lvl9pPr>
          </a:lstStyle>
          <a:p>
            <a:pPr marL="0" indent="0" algn="l">
              <a:buNone/>
            </a:pPr>
            <a:r>
              <a:rPr lang="en-US" sz="1300" b="1" dirty="0">
                <a:solidFill>
                  <a:srgbClr val="110057"/>
                </a:solidFill>
                <a:latin typeface="Arial"/>
                <a:cs typeface="Arial"/>
              </a:rPr>
              <a:t>A cautionary precedent</a:t>
            </a:r>
          </a:p>
        </p:txBody>
      </p:sp>
      <p:sp>
        <p:nvSpPr>
          <p:cNvPr id="19" name="Text 17"/>
          <p:cNvSpPr/>
          <p:nvPr/>
        </p:nvSpPr>
        <p:spPr>
          <a:xfrm>
            <a:off x="6324600" y="2489200"/>
            <a:ext cx="1727200" cy="1041400"/>
          </a:xfrm>
          <a:prstGeom prst="rect">
            <a:avLst/>
          </a:prstGeom>
          <a:noFill/>
          <a:ln/>
        </p:spPr>
        <p:txBody>
          <a:bodyPr wrap="square" lIns="0" tIns="0" rIns="0" bIns="0" rtlCol="0" anchor="t">
            <a:noAutofit/>
          </a:bodyPr>
          <a:lstStyle>
            <a:lvl1pPr marL="0" algn="l" defTabSz="685800" rtl="0" eaLnBrk="1" latinLnBrk="0" hangingPunct="1">
              <a:defRPr sz="1200" b="0" kern="1200">
                <a:solidFill>
                  <a:srgbClr val="2A2340"/>
                </a:solidFill>
                <a:latin typeface="Arial"/>
                <a:ea typeface="+mn-ea"/>
                <a:cs typeface="Arial"/>
              </a:defRPr>
            </a:lvl1pPr>
            <a:lvl2pPr marL="342900" algn="l" defTabSz="685800" rtl="0" eaLnBrk="1" latinLnBrk="0" hangingPunct="1">
              <a:defRPr sz="1200" b="0" kern="1200">
                <a:solidFill>
                  <a:srgbClr val="2A2340"/>
                </a:solidFill>
                <a:latin typeface="Arial"/>
                <a:ea typeface="+mn-ea"/>
                <a:cs typeface="Arial"/>
              </a:defRPr>
            </a:lvl2pPr>
            <a:lvl3pPr marL="685800" algn="l" defTabSz="685800" rtl="0" eaLnBrk="1" latinLnBrk="0" hangingPunct="1">
              <a:defRPr sz="1200" b="0" kern="1200">
                <a:solidFill>
                  <a:srgbClr val="2A2340"/>
                </a:solidFill>
                <a:latin typeface="Arial"/>
                <a:ea typeface="+mn-ea"/>
                <a:cs typeface="Arial"/>
              </a:defRPr>
            </a:lvl3pPr>
            <a:lvl4pPr marL="1028700" algn="l" defTabSz="685800" rtl="0" eaLnBrk="1" latinLnBrk="0" hangingPunct="1">
              <a:defRPr sz="1200" b="0" kern="1200">
                <a:solidFill>
                  <a:srgbClr val="2A2340"/>
                </a:solidFill>
                <a:latin typeface="Arial"/>
                <a:ea typeface="+mn-ea"/>
                <a:cs typeface="Arial"/>
              </a:defRPr>
            </a:lvl4pPr>
            <a:lvl5pPr marL="1371600" algn="l" defTabSz="685800" rtl="0" eaLnBrk="1" latinLnBrk="0" hangingPunct="1">
              <a:defRPr sz="1200" b="0" kern="1200">
                <a:solidFill>
                  <a:srgbClr val="2A2340"/>
                </a:solidFill>
                <a:latin typeface="Arial"/>
                <a:ea typeface="+mn-ea"/>
                <a:cs typeface="Arial"/>
              </a:defRPr>
            </a:lvl5pPr>
            <a:lvl6pPr marL="1714500" algn="l" defTabSz="685800" rtl="0" eaLnBrk="1" latinLnBrk="0" hangingPunct="1">
              <a:defRPr sz="1200" b="0" kern="1200">
                <a:solidFill>
                  <a:srgbClr val="2A2340"/>
                </a:solidFill>
                <a:latin typeface="Arial"/>
                <a:ea typeface="+mn-ea"/>
                <a:cs typeface="Arial"/>
              </a:defRPr>
            </a:lvl6pPr>
            <a:lvl7pPr marL="2057400" algn="l" defTabSz="685800" rtl="0" eaLnBrk="1" latinLnBrk="0" hangingPunct="1">
              <a:defRPr sz="1200" b="0" kern="1200">
                <a:solidFill>
                  <a:srgbClr val="2A2340"/>
                </a:solidFill>
                <a:latin typeface="Arial"/>
                <a:ea typeface="+mn-ea"/>
                <a:cs typeface="Arial"/>
              </a:defRPr>
            </a:lvl7pPr>
            <a:lvl8pPr marL="2400300" algn="l" defTabSz="685800" rtl="0" eaLnBrk="1" latinLnBrk="0" hangingPunct="1">
              <a:defRPr sz="1200" b="0" kern="1200">
                <a:solidFill>
                  <a:srgbClr val="2A2340"/>
                </a:solidFill>
                <a:latin typeface="Arial"/>
                <a:ea typeface="+mn-ea"/>
                <a:cs typeface="Arial"/>
              </a:defRPr>
            </a:lvl8pPr>
            <a:lvl9pPr marL="2743200" algn="l" defTabSz="685800" rtl="0" eaLnBrk="1" latinLnBrk="0" hangingPunct="1">
              <a:defRPr sz="1200" b="0" kern="1200">
                <a:solidFill>
                  <a:srgbClr val="2A2340"/>
                </a:solidFill>
                <a:latin typeface="Arial"/>
                <a:ea typeface="+mn-ea"/>
                <a:cs typeface="Arial"/>
              </a:defRPr>
            </a:lvl9pPr>
          </a:lstStyle>
          <a:p>
            <a:pPr marL="0" indent="0" algn="l">
              <a:buNone/>
            </a:pPr>
            <a:r>
              <a:rPr lang="en-US" sz="1200" dirty="0">
                <a:solidFill>
                  <a:srgbClr val="2A2340"/>
                </a:solidFill>
                <a:latin typeface="Arial"/>
                <a:cs typeface="Arial"/>
              </a:rPr>
              <a:t>“Hotspotting” looked transformative — until the RCT showed regression to the mean. Enthusiasm is not evidence.</a:t>
            </a:r>
          </a:p>
        </p:txBody>
      </p:sp>
      <p:sp>
        <p:nvSpPr>
          <p:cNvPr id="20" name="Shape 18"/>
          <p:cNvSpPr/>
          <p:nvPr/>
        </p:nvSpPr>
        <p:spPr>
          <a:xfrm>
            <a:off x="942952" y="3962400"/>
            <a:ext cx="7257869" cy="558800"/>
          </a:xfrm>
          <a:prstGeom prst="roundRect">
            <a:avLst/>
          </a:prstGeom>
          <a:solidFill>
            <a:srgbClr val="F1ECFF"/>
          </a:solidFill>
          <a:ln w="19050">
            <a:solidFill>
              <a:srgbClr val="C7B7FF"/>
            </a:solidFill>
            <a:prstDash val="solid"/>
          </a:ln>
        </p:spPr>
        <p:txBody>
          <a:bodyPr/>
          <a:lstStyle/>
          <a:p>
            <a:endParaRPr lang="en-US" sz="1600">
              <a:latin typeface="Arial"/>
              <a:cs typeface="Arial"/>
            </a:endParaRPr>
          </a:p>
        </p:txBody>
      </p:sp>
      <p:sp>
        <p:nvSpPr>
          <p:cNvPr id="21" name="Text 19"/>
          <p:cNvSpPr/>
          <p:nvPr/>
        </p:nvSpPr>
        <p:spPr>
          <a:xfrm>
            <a:off x="1171546" y="4064000"/>
            <a:ext cx="6800680" cy="3810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200" b="1" dirty="0">
                <a:solidFill>
                  <a:srgbClr val="2E0B7A"/>
                </a:solidFill>
                <a:latin typeface="Arial"/>
                <a:cs typeface="Arial"/>
              </a:rPr>
              <a:t>Design the evaluation now and we learn which AI workflows truly help and which should be discouraged or de-adopted.</a:t>
            </a:r>
          </a:p>
        </p:txBody>
      </p:sp>
      <p:sp>
        <p:nvSpPr>
          <p:cNvPr id="22" name="Text 20"/>
          <p:cNvSpPr/>
          <p:nvPr/>
        </p:nvSpPr>
        <p:spPr>
          <a:xfrm>
            <a:off x="714358" y="4902200"/>
            <a:ext cx="7715057" cy="1524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000" dirty="0">
                <a:solidFill>
                  <a:srgbClr val="7A7A7A"/>
                </a:solidFill>
                <a:latin typeface="Arial"/>
                <a:cs typeface="Arial"/>
              </a:rPr>
              <a:t>Cautionary precedent: Camden Coalition hotspotting RCT (Finkelstein et al., NEJM 2020).</a:t>
            </a:r>
          </a:p>
        </p:txBody>
      </p:sp>
      <p:sp>
        <p:nvSpPr>
          <p:cNvPr id="6" name="flow_arrow_1">
            <a:extLst>
              <a:ext uri="{FF2B5EF4-FFF2-40B4-BE49-F238E27FC236}">
                <a16:creationId xmlns:a16="http://schemas.microsoft.com/office/drawing/2014/main" id="{A4099E2E-8D4B-234C-B514-E09396CCA819}"/>
              </a:ext>
            </a:extLst>
          </p:cNvPr>
          <p:cNvSpPr/>
          <p:nvPr/>
        </p:nvSpPr>
        <p:spPr>
          <a:xfrm>
            <a:off x="2895600" y="2616200"/>
            <a:ext cx="457200" cy="228600"/>
          </a:xfrm>
          <a:prstGeom prst="rightArrow">
            <a:avLst/>
          </a:prstGeom>
          <a:solidFill>
            <a:srgbClr val="4B00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flow_arrow_2">
            <a:extLst>
              <a:ext uri="{FF2B5EF4-FFF2-40B4-BE49-F238E27FC236}">
                <a16:creationId xmlns:a16="http://schemas.microsoft.com/office/drawing/2014/main" id="{5DFF395A-1B2D-2A49-B0BA-B6F1F33255CB}"/>
              </a:ext>
            </a:extLst>
          </p:cNvPr>
          <p:cNvSpPr/>
          <p:nvPr/>
        </p:nvSpPr>
        <p:spPr>
          <a:xfrm>
            <a:off x="5613400" y="2616200"/>
            <a:ext cx="457200" cy="228600"/>
          </a:xfrm>
          <a:prstGeom prst="rightArrow">
            <a:avLst/>
          </a:prstGeom>
          <a:solidFill>
            <a:srgbClr val="4B00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93803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FFFFFF"/>
          </a:solidFill>
          <a:ln w="12700">
            <a:solidFill>
              <a:srgbClr val="FFFFFF">
                <a:alpha val="0"/>
              </a:srgbClr>
            </a:solidFill>
            <a:prstDash val="solid"/>
          </a:ln>
        </p:spPr>
        <p:txBody>
          <a:bodyPr/>
          <a:lstStyle/>
          <a:p>
            <a:endParaRPr lang="en-US" sz="1600">
              <a:latin typeface="Arial"/>
              <a:cs typeface="Arial"/>
            </a:endParaRPr>
          </a:p>
        </p:txBody>
      </p:sp>
      <p:sp>
        <p:nvSpPr>
          <p:cNvPr id="3" name="Shape 1"/>
          <p:cNvSpPr/>
          <p:nvPr/>
        </p:nvSpPr>
        <p:spPr>
          <a:xfrm>
            <a:off x="428615" y="728663"/>
            <a:ext cx="50005" cy="3714750"/>
          </a:xfrm>
          <a:prstGeom prst="rect">
            <a:avLst/>
          </a:prstGeom>
          <a:solidFill>
            <a:srgbClr val="6B46C1"/>
          </a:solidFill>
          <a:ln w="12700">
            <a:solidFill>
              <a:srgbClr val="FFFFFF">
                <a:alpha val="0"/>
              </a:srgbClr>
            </a:solidFill>
            <a:prstDash val="solid"/>
          </a:ln>
        </p:spPr>
        <p:txBody>
          <a:bodyPr/>
          <a:lstStyle/>
          <a:p>
            <a:endParaRPr lang="en-US" sz="1600">
              <a:latin typeface="Arial"/>
              <a:cs typeface="Arial"/>
            </a:endParaRPr>
          </a:p>
        </p:txBody>
      </p:sp>
      <p:sp>
        <p:nvSpPr>
          <p:cNvPr id="4" name="Text 2"/>
          <p:cNvSpPr/>
          <p:nvPr/>
        </p:nvSpPr>
        <p:spPr>
          <a:xfrm>
            <a:off x="714357" y="304800"/>
            <a:ext cx="5334000" cy="128588"/>
          </a:xfrm>
          <a:prstGeom prst="rect">
            <a:avLst/>
          </a:prstGeom>
          <a:noFill/>
          <a:ln/>
        </p:spPr>
        <p:txBody>
          <a:bodyPr wrap="square" lIns="0" tIns="0" rIns="0" bIns="0" rtlCol="0" anchor="t">
            <a:noAutofit/>
          </a:bodyPr>
          <a:lstStyle>
            <a:lvl1pPr marL="0" algn="l" defTabSz="685800" rtl="0" eaLnBrk="1" latinLnBrk="0" hangingPunct="1">
              <a:defRPr sz="1100" b="1" kern="1200">
                <a:solidFill>
                  <a:srgbClr val="4A00E2"/>
                </a:solidFill>
                <a:latin typeface="Arial"/>
                <a:ea typeface="+mn-ea"/>
                <a:cs typeface="Arial"/>
              </a:defRPr>
            </a:lvl1pPr>
            <a:lvl2pPr marL="342900" algn="l" defTabSz="685800" rtl="0" eaLnBrk="1" latinLnBrk="0" hangingPunct="1">
              <a:defRPr sz="1100" b="1" kern="1200">
                <a:solidFill>
                  <a:srgbClr val="4A00E2"/>
                </a:solidFill>
                <a:latin typeface="Arial"/>
                <a:ea typeface="+mn-ea"/>
                <a:cs typeface="Arial"/>
              </a:defRPr>
            </a:lvl2pPr>
            <a:lvl3pPr marL="685800" algn="l" defTabSz="685800" rtl="0" eaLnBrk="1" latinLnBrk="0" hangingPunct="1">
              <a:defRPr sz="1100" b="1" kern="1200">
                <a:solidFill>
                  <a:srgbClr val="4A00E2"/>
                </a:solidFill>
                <a:latin typeface="Arial"/>
                <a:ea typeface="+mn-ea"/>
                <a:cs typeface="Arial"/>
              </a:defRPr>
            </a:lvl3pPr>
            <a:lvl4pPr marL="1028700" algn="l" defTabSz="685800" rtl="0" eaLnBrk="1" latinLnBrk="0" hangingPunct="1">
              <a:defRPr sz="1100" b="1" kern="1200">
                <a:solidFill>
                  <a:srgbClr val="4A00E2"/>
                </a:solidFill>
                <a:latin typeface="Arial"/>
                <a:ea typeface="+mn-ea"/>
                <a:cs typeface="Arial"/>
              </a:defRPr>
            </a:lvl4pPr>
            <a:lvl5pPr marL="1371600" algn="l" defTabSz="685800" rtl="0" eaLnBrk="1" latinLnBrk="0" hangingPunct="1">
              <a:defRPr sz="1100" b="1" kern="1200">
                <a:solidFill>
                  <a:srgbClr val="4A00E2"/>
                </a:solidFill>
                <a:latin typeface="Arial"/>
                <a:ea typeface="+mn-ea"/>
                <a:cs typeface="Arial"/>
              </a:defRPr>
            </a:lvl5pPr>
            <a:lvl6pPr marL="1714500" algn="l" defTabSz="685800" rtl="0" eaLnBrk="1" latinLnBrk="0" hangingPunct="1">
              <a:defRPr sz="1100" b="1" kern="1200">
                <a:solidFill>
                  <a:srgbClr val="4A00E2"/>
                </a:solidFill>
                <a:latin typeface="Arial"/>
                <a:ea typeface="+mn-ea"/>
                <a:cs typeface="Arial"/>
              </a:defRPr>
            </a:lvl6pPr>
            <a:lvl7pPr marL="2057400" algn="l" defTabSz="685800" rtl="0" eaLnBrk="1" latinLnBrk="0" hangingPunct="1">
              <a:defRPr sz="1100" b="1" kern="1200">
                <a:solidFill>
                  <a:srgbClr val="4A00E2"/>
                </a:solidFill>
                <a:latin typeface="Arial"/>
                <a:ea typeface="+mn-ea"/>
                <a:cs typeface="Arial"/>
              </a:defRPr>
            </a:lvl7pPr>
            <a:lvl8pPr marL="2400300" algn="l" defTabSz="685800" rtl="0" eaLnBrk="1" latinLnBrk="0" hangingPunct="1">
              <a:defRPr sz="1100" b="1" kern="1200">
                <a:solidFill>
                  <a:srgbClr val="4A00E2"/>
                </a:solidFill>
                <a:latin typeface="Arial"/>
                <a:ea typeface="+mn-ea"/>
                <a:cs typeface="Arial"/>
              </a:defRPr>
            </a:lvl8pPr>
            <a:lvl9pPr marL="2743200" algn="l" defTabSz="685800" rtl="0" eaLnBrk="1" latinLnBrk="0" hangingPunct="1">
              <a:defRPr sz="1100" b="1" kern="1200">
                <a:solidFill>
                  <a:srgbClr val="4A00E2"/>
                </a:solidFill>
                <a:latin typeface="Arial"/>
                <a:ea typeface="+mn-ea"/>
                <a:cs typeface="Arial"/>
              </a:defRPr>
            </a:lvl9pPr>
          </a:lstStyle>
          <a:p>
            <a:pPr marL="0" indent="0" algn="l">
              <a:buNone/>
            </a:pPr>
            <a:r>
              <a:rPr lang="en-US" sz="1100" b="1" dirty="0">
                <a:solidFill>
                  <a:srgbClr val="4A00E2"/>
                </a:solidFill>
                <a:latin typeface="Arial"/>
                <a:cs typeface="Arial"/>
              </a:rPr>
              <a:t>ASCEND-MA | CAUTIONARY PRECEDENT</a:t>
            </a:r>
          </a:p>
        </p:txBody>
      </p:sp>
      <p:sp>
        <p:nvSpPr>
          <p:cNvPr id="5" name="Text 3"/>
          <p:cNvSpPr/>
          <p:nvPr/>
        </p:nvSpPr>
        <p:spPr>
          <a:xfrm>
            <a:off x="714358" y="508000"/>
            <a:ext cx="7715057" cy="635000"/>
          </a:xfrm>
          <a:prstGeom prst="rect">
            <a:avLst/>
          </a:prstGeom>
          <a:noFill/>
          <a:ln/>
        </p:spPr>
        <p:txBody>
          <a:bodyPr wrap="square" lIns="0" tIns="0" rIns="0" bIns="0" rtlCol="0" anchor="t">
            <a:normAutofit fontScale="92500" lnSpcReduction="10000"/>
          </a:bodyPr>
          <a:lstStyle>
            <a:lvl1pPr marL="0" algn="l" defTabSz="685800" rtl="0" eaLnBrk="1" latinLnBrk="0" hangingPunct="1">
              <a:defRPr sz="2400" b="1" kern="1200">
                <a:solidFill>
                  <a:srgbClr val="110057"/>
                </a:solidFill>
                <a:latin typeface="Arial"/>
                <a:ea typeface="+mn-ea"/>
                <a:cs typeface="Arial"/>
              </a:defRPr>
            </a:lvl1pPr>
            <a:lvl2pPr marL="342900" algn="l" defTabSz="685800" rtl="0" eaLnBrk="1" latinLnBrk="0" hangingPunct="1">
              <a:defRPr sz="2400" b="1" kern="1200">
                <a:solidFill>
                  <a:srgbClr val="110057"/>
                </a:solidFill>
                <a:latin typeface="Arial"/>
                <a:ea typeface="+mn-ea"/>
                <a:cs typeface="Arial"/>
              </a:defRPr>
            </a:lvl2pPr>
            <a:lvl3pPr marL="685800" algn="l" defTabSz="685800" rtl="0" eaLnBrk="1" latinLnBrk="0" hangingPunct="1">
              <a:defRPr sz="2400" b="1" kern="1200">
                <a:solidFill>
                  <a:srgbClr val="110057"/>
                </a:solidFill>
                <a:latin typeface="Arial"/>
                <a:ea typeface="+mn-ea"/>
                <a:cs typeface="Arial"/>
              </a:defRPr>
            </a:lvl3pPr>
            <a:lvl4pPr marL="1028700" algn="l" defTabSz="685800" rtl="0" eaLnBrk="1" latinLnBrk="0" hangingPunct="1">
              <a:defRPr sz="2400" b="1" kern="1200">
                <a:solidFill>
                  <a:srgbClr val="110057"/>
                </a:solidFill>
                <a:latin typeface="Arial"/>
                <a:ea typeface="+mn-ea"/>
                <a:cs typeface="Arial"/>
              </a:defRPr>
            </a:lvl4pPr>
            <a:lvl5pPr marL="1371600" algn="l" defTabSz="685800" rtl="0" eaLnBrk="1" latinLnBrk="0" hangingPunct="1">
              <a:defRPr sz="2400" b="1" kern="1200">
                <a:solidFill>
                  <a:srgbClr val="110057"/>
                </a:solidFill>
                <a:latin typeface="Arial"/>
                <a:ea typeface="+mn-ea"/>
                <a:cs typeface="Arial"/>
              </a:defRPr>
            </a:lvl5pPr>
            <a:lvl6pPr marL="1714500" algn="l" defTabSz="685800" rtl="0" eaLnBrk="1" latinLnBrk="0" hangingPunct="1">
              <a:defRPr sz="2400" b="1" kern="1200">
                <a:solidFill>
                  <a:srgbClr val="110057"/>
                </a:solidFill>
                <a:latin typeface="Arial"/>
                <a:ea typeface="+mn-ea"/>
                <a:cs typeface="Arial"/>
              </a:defRPr>
            </a:lvl6pPr>
            <a:lvl7pPr marL="2057400" algn="l" defTabSz="685800" rtl="0" eaLnBrk="1" latinLnBrk="0" hangingPunct="1">
              <a:defRPr sz="2400" b="1" kern="1200">
                <a:solidFill>
                  <a:srgbClr val="110057"/>
                </a:solidFill>
                <a:latin typeface="Arial"/>
                <a:ea typeface="+mn-ea"/>
                <a:cs typeface="Arial"/>
              </a:defRPr>
            </a:lvl7pPr>
            <a:lvl8pPr marL="2400300" algn="l" defTabSz="685800" rtl="0" eaLnBrk="1" latinLnBrk="0" hangingPunct="1">
              <a:defRPr sz="2400" b="1" kern="1200">
                <a:solidFill>
                  <a:srgbClr val="110057"/>
                </a:solidFill>
                <a:latin typeface="Arial"/>
                <a:ea typeface="+mn-ea"/>
                <a:cs typeface="Arial"/>
              </a:defRPr>
            </a:lvl8pPr>
            <a:lvl9pPr marL="2743200" algn="l" defTabSz="685800" rtl="0" eaLnBrk="1" latinLnBrk="0" hangingPunct="1">
              <a:defRPr sz="2400" b="1" kern="1200">
                <a:solidFill>
                  <a:srgbClr val="110057"/>
                </a:solidFill>
                <a:latin typeface="Arial"/>
                <a:ea typeface="+mn-ea"/>
                <a:cs typeface="Arial"/>
              </a:defRPr>
            </a:lvl9pPr>
          </a:lstStyle>
          <a:p>
            <a:pPr marL="0" indent="0" algn="l">
              <a:buNone/>
            </a:pPr>
            <a:r>
              <a:rPr lang="en-US" sz="2400" b="1" dirty="0">
                <a:solidFill>
                  <a:srgbClr val="110057"/>
                </a:solidFill>
                <a:latin typeface="Arial"/>
                <a:cs typeface="Arial"/>
              </a:rPr>
              <a:t>Hotspotting looked transformative — until it was randomized</a:t>
            </a:r>
          </a:p>
        </p:txBody>
      </p:sp>
      <p:sp>
        <p:nvSpPr>
          <p:cNvPr id="7" name="Shape 5"/>
          <p:cNvSpPr/>
          <p:nvPr/>
        </p:nvSpPr>
        <p:spPr>
          <a:xfrm>
            <a:off x="714358" y="1219200"/>
            <a:ext cx="7715057" cy="14288"/>
          </a:xfrm>
          <a:prstGeom prst="rect">
            <a:avLst/>
          </a:prstGeom>
          <a:solidFill>
            <a:srgbClr val="D5DCE5"/>
          </a:solidFill>
          <a:ln w="12700">
            <a:solidFill>
              <a:srgbClr val="FFFFFF">
                <a:alpha val="0"/>
              </a:srgbClr>
            </a:solidFill>
            <a:prstDash val="solid"/>
          </a:ln>
        </p:spPr>
        <p:txBody>
          <a:bodyPr/>
          <a:lstStyle/>
          <a:p>
            <a:endParaRPr lang="en-US" sz="1600">
              <a:latin typeface="Arial"/>
              <a:cs typeface="Arial"/>
            </a:endParaRPr>
          </a:p>
        </p:txBody>
      </p:sp>
      <p:sp>
        <p:nvSpPr>
          <p:cNvPr id="8" name="Shape 6"/>
          <p:cNvSpPr/>
          <p:nvPr/>
        </p:nvSpPr>
        <p:spPr>
          <a:xfrm>
            <a:off x="711200" y="1397000"/>
            <a:ext cx="4572000" cy="1066800"/>
          </a:xfrm>
          <a:prstGeom prst="roundRect">
            <a:avLst/>
          </a:prstGeom>
          <a:solidFill>
            <a:srgbClr val="F4F1FF"/>
          </a:solidFill>
          <a:ln w="12700">
            <a:solidFill>
              <a:srgbClr val="E2DAFF"/>
            </a:solidFill>
            <a:prstDash val="solid"/>
          </a:ln>
        </p:spPr>
        <p:txBody>
          <a:bodyPr/>
          <a:lstStyle/>
          <a:p>
            <a:endParaRPr lang="en-US" sz="1600">
              <a:latin typeface="Arial"/>
              <a:cs typeface="Arial"/>
            </a:endParaRPr>
          </a:p>
        </p:txBody>
      </p:sp>
      <p:sp>
        <p:nvSpPr>
          <p:cNvPr id="10" name="Text 8"/>
          <p:cNvSpPr/>
          <p:nvPr/>
        </p:nvSpPr>
        <p:spPr>
          <a:xfrm>
            <a:off x="914400" y="1524000"/>
            <a:ext cx="4165600" cy="228600"/>
          </a:xfrm>
          <a:prstGeom prst="rect">
            <a:avLst/>
          </a:prstGeom>
          <a:noFill/>
          <a:ln/>
        </p:spPr>
        <p:txBody>
          <a:bodyPr wrap="square" lIns="0" tIns="0" rIns="0" bIns="0" rtlCol="0" anchor="t">
            <a:noAutofit/>
          </a:bodyPr>
          <a:lstStyle>
            <a:lvl1pPr marL="0" algn="l" defTabSz="685800" rtl="0" eaLnBrk="1" latinLnBrk="0" hangingPunct="1">
              <a:defRPr sz="1300" b="1" kern="1200">
                <a:solidFill>
                  <a:srgbClr val="110057"/>
                </a:solidFill>
                <a:latin typeface="Arial"/>
                <a:ea typeface="+mn-ea"/>
                <a:cs typeface="Arial"/>
              </a:defRPr>
            </a:lvl1pPr>
            <a:lvl2pPr marL="342900" algn="l" defTabSz="685800" rtl="0" eaLnBrk="1" latinLnBrk="0" hangingPunct="1">
              <a:defRPr sz="1300" b="1" kern="1200">
                <a:solidFill>
                  <a:srgbClr val="110057"/>
                </a:solidFill>
                <a:latin typeface="Arial"/>
                <a:ea typeface="+mn-ea"/>
                <a:cs typeface="Arial"/>
              </a:defRPr>
            </a:lvl2pPr>
            <a:lvl3pPr marL="685800" algn="l" defTabSz="685800" rtl="0" eaLnBrk="1" latinLnBrk="0" hangingPunct="1">
              <a:defRPr sz="1300" b="1" kern="1200">
                <a:solidFill>
                  <a:srgbClr val="110057"/>
                </a:solidFill>
                <a:latin typeface="Arial"/>
                <a:ea typeface="+mn-ea"/>
                <a:cs typeface="Arial"/>
              </a:defRPr>
            </a:lvl3pPr>
            <a:lvl4pPr marL="1028700" algn="l" defTabSz="685800" rtl="0" eaLnBrk="1" latinLnBrk="0" hangingPunct="1">
              <a:defRPr sz="1300" b="1" kern="1200">
                <a:solidFill>
                  <a:srgbClr val="110057"/>
                </a:solidFill>
                <a:latin typeface="Arial"/>
                <a:ea typeface="+mn-ea"/>
                <a:cs typeface="Arial"/>
              </a:defRPr>
            </a:lvl4pPr>
            <a:lvl5pPr marL="1371600" algn="l" defTabSz="685800" rtl="0" eaLnBrk="1" latinLnBrk="0" hangingPunct="1">
              <a:defRPr sz="1300" b="1" kern="1200">
                <a:solidFill>
                  <a:srgbClr val="110057"/>
                </a:solidFill>
                <a:latin typeface="Arial"/>
                <a:ea typeface="+mn-ea"/>
                <a:cs typeface="Arial"/>
              </a:defRPr>
            </a:lvl5pPr>
            <a:lvl6pPr marL="1714500" algn="l" defTabSz="685800" rtl="0" eaLnBrk="1" latinLnBrk="0" hangingPunct="1">
              <a:defRPr sz="1300" b="1" kern="1200">
                <a:solidFill>
                  <a:srgbClr val="110057"/>
                </a:solidFill>
                <a:latin typeface="Arial"/>
                <a:ea typeface="+mn-ea"/>
                <a:cs typeface="Arial"/>
              </a:defRPr>
            </a:lvl6pPr>
            <a:lvl7pPr marL="2057400" algn="l" defTabSz="685800" rtl="0" eaLnBrk="1" latinLnBrk="0" hangingPunct="1">
              <a:defRPr sz="1300" b="1" kern="1200">
                <a:solidFill>
                  <a:srgbClr val="110057"/>
                </a:solidFill>
                <a:latin typeface="Arial"/>
                <a:ea typeface="+mn-ea"/>
                <a:cs typeface="Arial"/>
              </a:defRPr>
            </a:lvl7pPr>
            <a:lvl8pPr marL="2400300" algn="l" defTabSz="685800" rtl="0" eaLnBrk="1" latinLnBrk="0" hangingPunct="1">
              <a:defRPr sz="1300" b="1" kern="1200">
                <a:solidFill>
                  <a:srgbClr val="110057"/>
                </a:solidFill>
                <a:latin typeface="Arial"/>
                <a:ea typeface="+mn-ea"/>
                <a:cs typeface="Arial"/>
              </a:defRPr>
            </a:lvl8pPr>
            <a:lvl9pPr marL="2743200" algn="l" defTabSz="685800" rtl="0" eaLnBrk="1" latinLnBrk="0" hangingPunct="1">
              <a:defRPr sz="1300" b="1" kern="1200">
                <a:solidFill>
                  <a:srgbClr val="110057"/>
                </a:solidFill>
                <a:latin typeface="Arial"/>
                <a:ea typeface="+mn-ea"/>
                <a:cs typeface="Arial"/>
              </a:defRPr>
            </a:lvl9pPr>
          </a:lstStyle>
          <a:p>
            <a:pPr algn="l"/>
            <a:r>
              <a:rPr lang="en-US" sz="1300" b="1" dirty="0">
                <a:solidFill>
                  <a:srgbClr val="2E0B7A"/>
                </a:solidFill>
                <a:latin typeface="Arial"/>
                <a:cs typeface="Arial"/>
              </a:rPr>
              <a:t>THE EXCITEMENT</a:t>
            </a:r>
          </a:p>
        </p:txBody>
      </p:sp>
      <p:sp>
        <p:nvSpPr>
          <p:cNvPr id="11" name="Text 9"/>
          <p:cNvSpPr/>
          <p:nvPr/>
        </p:nvSpPr>
        <p:spPr>
          <a:xfrm>
            <a:off x="914400" y="1803400"/>
            <a:ext cx="4165600" cy="584200"/>
          </a:xfrm>
          <a:prstGeom prst="rect">
            <a:avLst/>
          </a:prstGeom>
          <a:noFill/>
          <a:ln/>
        </p:spPr>
        <p:txBody>
          <a:bodyPr wrap="square" lIns="0" tIns="0" rIns="0" bIns="0" rtlCol="0" anchor="t">
            <a:noAutofit/>
          </a:bodyPr>
          <a:lstStyle>
            <a:lvl1pPr marL="0" algn="l" defTabSz="685800" rtl="0" eaLnBrk="1" latinLnBrk="0" hangingPunct="1">
              <a:defRPr sz="1200" b="0" kern="1200">
                <a:solidFill>
                  <a:srgbClr val="2A2340"/>
                </a:solidFill>
                <a:latin typeface="Arial"/>
                <a:ea typeface="+mn-ea"/>
                <a:cs typeface="Arial"/>
              </a:defRPr>
            </a:lvl1pPr>
            <a:lvl2pPr marL="342900" algn="l" defTabSz="685800" rtl="0" eaLnBrk="1" latinLnBrk="0" hangingPunct="1">
              <a:defRPr sz="1200" b="0" kern="1200">
                <a:solidFill>
                  <a:srgbClr val="2A2340"/>
                </a:solidFill>
                <a:latin typeface="Arial"/>
                <a:ea typeface="+mn-ea"/>
                <a:cs typeface="Arial"/>
              </a:defRPr>
            </a:lvl2pPr>
            <a:lvl3pPr marL="685800" algn="l" defTabSz="685800" rtl="0" eaLnBrk="1" latinLnBrk="0" hangingPunct="1">
              <a:defRPr sz="1200" b="0" kern="1200">
                <a:solidFill>
                  <a:srgbClr val="2A2340"/>
                </a:solidFill>
                <a:latin typeface="Arial"/>
                <a:ea typeface="+mn-ea"/>
                <a:cs typeface="Arial"/>
              </a:defRPr>
            </a:lvl3pPr>
            <a:lvl4pPr marL="1028700" algn="l" defTabSz="685800" rtl="0" eaLnBrk="1" latinLnBrk="0" hangingPunct="1">
              <a:defRPr sz="1200" b="0" kern="1200">
                <a:solidFill>
                  <a:srgbClr val="2A2340"/>
                </a:solidFill>
                <a:latin typeface="Arial"/>
                <a:ea typeface="+mn-ea"/>
                <a:cs typeface="Arial"/>
              </a:defRPr>
            </a:lvl4pPr>
            <a:lvl5pPr marL="1371600" algn="l" defTabSz="685800" rtl="0" eaLnBrk="1" latinLnBrk="0" hangingPunct="1">
              <a:defRPr sz="1200" b="0" kern="1200">
                <a:solidFill>
                  <a:srgbClr val="2A2340"/>
                </a:solidFill>
                <a:latin typeface="Arial"/>
                <a:ea typeface="+mn-ea"/>
                <a:cs typeface="Arial"/>
              </a:defRPr>
            </a:lvl5pPr>
            <a:lvl6pPr marL="1714500" algn="l" defTabSz="685800" rtl="0" eaLnBrk="1" latinLnBrk="0" hangingPunct="1">
              <a:defRPr sz="1200" b="0" kern="1200">
                <a:solidFill>
                  <a:srgbClr val="2A2340"/>
                </a:solidFill>
                <a:latin typeface="Arial"/>
                <a:ea typeface="+mn-ea"/>
                <a:cs typeface="Arial"/>
              </a:defRPr>
            </a:lvl6pPr>
            <a:lvl7pPr marL="2057400" algn="l" defTabSz="685800" rtl="0" eaLnBrk="1" latinLnBrk="0" hangingPunct="1">
              <a:defRPr sz="1200" b="0" kern="1200">
                <a:solidFill>
                  <a:srgbClr val="2A2340"/>
                </a:solidFill>
                <a:latin typeface="Arial"/>
                <a:ea typeface="+mn-ea"/>
                <a:cs typeface="Arial"/>
              </a:defRPr>
            </a:lvl7pPr>
            <a:lvl8pPr marL="2400300" algn="l" defTabSz="685800" rtl="0" eaLnBrk="1" latinLnBrk="0" hangingPunct="1">
              <a:defRPr sz="1200" b="0" kern="1200">
                <a:solidFill>
                  <a:srgbClr val="2A2340"/>
                </a:solidFill>
                <a:latin typeface="Arial"/>
                <a:ea typeface="+mn-ea"/>
                <a:cs typeface="Arial"/>
              </a:defRPr>
            </a:lvl8pPr>
            <a:lvl9pPr marL="2743200" algn="l" defTabSz="685800" rtl="0" eaLnBrk="1" latinLnBrk="0" hangingPunct="1">
              <a:defRPr sz="1200" b="0" kern="1200">
                <a:solidFill>
                  <a:srgbClr val="2A2340"/>
                </a:solidFill>
                <a:latin typeface="Arial"/>
                <a:ea typeface="+mn-ea"/>
                <a:cs typeface="Arial"/>
              </a:defRPr>
            </a:lvl9pPr>
          </a:lstStyle>
          <a:p>
            <a:pPr algn="l"/>
            <a:r>
              <a:rPr lang="en-US" sz="1300" dirty="0">
                <a:solidFill>
                  <a:srgbClr val="2A2340"/>
                </a:solidFill>
                <a:latin typeface="Arial"/>
                <a:cs typeface="Arial"/>
              </a:rPr>
              <a:t>Intensive care management for super-utilizers showed steep drops in admissions and cost in before-after data.</a:t>
            </a:r>
          </a:p>
        </p:txBody>
      </p:sp>
      <p:sp>
        <p:nvSpPr>
          <p:cNvPr id="16" name="Shape 14"/>
          <p:cNvSpPr/>
          <p:nvPr/>
        </p:nvSpPr>
        <p:spPr>
          <a:xfrm>
            <a:off x="711200" y="2590800"/>
            <a:ext cx="4572000" cy="1066800"/>
          </a:xfrm>
          <a:prstGeom prst="roundRect">
            <a:avLst/>
          </a:prstGeom>
          <a:solidFill>
            <a:srgbClr val="FFF0F0"/>
          </a:solidFill>
          <a:ln w="12700">
            <a:solidFill>
              <a:srgbClr val="FFC9C9"/>
            </a:solidFill>
            <a:prstDash val="solid"/>
          </a:ln>
        </p:spPr>
        <p:txBody>
          <a:bodyPr/>
          <a:lstStyle/>
          <a:p>
            <a:endParaRPr lang="en-US" sz="1600">
              <a:latin typeface="Arial"/>
              <a:cs typeface="Arial"/>
            </a:endParaRPr>
          </a:p>
        </p:txBody>
      </p:sp>
      <p:sp>
        <p:nvSpPr>
          <p:cNvPr id="18" name="Text 16"/>
          <p:cNvSpPr/>
          <p:nvPr/>
        </p:nvSpPr>
        <p:spPr>
          <a:xfrm>
            <a:off x="914400" y="2717800"/>
            <a:ext cx="4165600" cy="228600"/>
          </a:xfrm>
          <a:prstGeom prst="rect">
            <a:avLst/>
          </a:prstGeom>
          <a:noFill/>
          <a:ln/>
        </p:spPr>
        <p:txBody>
          <a:bodyPr wrap="square" lIns="0" tIns="0" rIns="0" bIns="0" rtlCol="0" anchor="t">
            <a:noAutofit/>
          </a:bodyPr>
          <a:lstStyle>
            <a:lvl1pPr marL="0" algn="l" defTabSz="685800" rtl="0" eaLnBrk="1" latinLnBrk="0" hangingPunct="1">
              <a:defRPr sz="1300" b="1" kern="1200">
                <a:solidFill>
                  <a:srgbClr val="110057"/>
                </a:solidFill>
                <a:latin typeface="Arial"/>
                <a:ea typeface="+mn-ea"/>
                <a:cs typeface="Arial"/>
              </a:defRPr>
            </a:lvl1pPr>
            <a:lvl2pPr marL="342900" algn="l" defTabSz="685800" rtl="0" eaLnBrk="1" latinLnBrk="0" hangingPunct="1">
              <a:defRPr sz="1300" b="1" kern="1200">
                <a:solidFill>
                  <a:srgbClr val="110057"/>
                </a:solidFill>
                <a:latin typeface="Arial"/>
                <a:ea typeface="+mn-ea"/>
                <a:cs typeface="Arial"/>
              </a:defRPr>
            </a:lvl2pPr>
            <a:lvl3pPr marL="685800" algn="l" defTabSz="685800" rtl="0" eaLnBrk="1" latinLnBrk="0" hangingPunct="1">
              <a:defRPr sz="1300" b="1" kern="1200">
                <a:solidFill>
                  <a:srgbClr val="110057"/>
                </a:solidFill>
                <a:latin typeface="Arial"/>
                <a:ea typeface="+mn-ea"/>
                <a:cs typeface="Arial"/>
              </a:defRPr>
            </a:lvl3pPr>
            <a:lvl4pPr marL="1028700" algn="l" defTabSz="685800" rtl="0" eaLnBrk="1" latinLnBrk="0" hangingPunct="1">
              <a:defRPr sz="1300" b="1" kern="1200">
                <a:solidFill>
                  <a:srgbClr val="110057"/>
                </a:solidFill>
                <a:latin typeface="Arial"/>
                <a:ea typeface="+mn-ea"/>
                <a:cs typeface="Arial"/>
              </a:defRPr>
            </a:lvl4pPr>
            <a:lvl5pPr marL="1371600" algn="l" defTabSz="685800" rtl="0" eaLnBrk="1" latinLnBrk="0" hangingPunct="1">
              <a:defRPr sz="1300" b="1" kern="1200">
                <a:solidFill>
                  <a:srgbClr val="110057"/>
                </a:solidFill>
                <a:latin typeface="Arial"/>
                <a:ea typeface="+mn-ea"/>
                <a:cs typeface="Arial"/>
              </a:defRPr>
            </a:lvl5pPr>
            <a:lvl6pPr marL="1714500" algn="l" defTabSz="685800" rtl="0" eaLnBrk="1" latinLnBrk="0" hangingPunct="1">
              <a:defRPr sz="1300" b="1" kern="1200">
                <a:solidFill>
                  <a:srgbClr val="110057"/>
                </a:solidFill>
                <a:latin typeface="Arial"/>
                <a:ea typeface="+mn-ea"/>
                <a:cs typeface="Arial"/>
              </a:defRPr>
            </a:lvl6pPr>
            <a:lvl7pPr marL="2057400" algn="l" defTabSz="685800" rtl="0" eaLnBrk="1" latinLnBrk="0" hangingPunct="1">
              <a:defRPr sz="1300" b="1" kern="1200">
                <a:solidFill>
                  <a:srgbClr val="110057"/>
                </a:solidFill>
                <a:latin typeface="Arial"/>
                <a:ea typeface="+mn-ea"/>
                <a:cs typeface="Arial"/>
              </a:defRPr>
            </a:lvl7pPr>
            <a:lvl8pPr marL="2400300" algn="l" defTabSz="685800" rtl="0" eaLnBrk="1" latinLnBrk="0" hangingPunct="1">
              <a:defRPr sz="1300" b="1" kern="1200">
                <a:solidFill>
                  <a:srgbClr val="110057"/>
                </a:solidFill>
                <a:latin typeface="Arial"/>
                <a:ea typeface="+mn-ea"/>
                <a:cs typeface="Arial"/>
              </a:defRPr>
            </a:lvl8pPr>
            <a:lvl9pPr marL="2743200" algn="l" defTabSz="685800" rtl="0" eaLnBrk="1" latinLnBrk="0" hangingPunct="1">
              <a:defRPr sz="1300" b="1" kern="1200">
                <a:solidFill>
                  <a:srgbClr val="110057"/>
                </a:solidFill>
                <a:latin typeface="Arial"/>
                <a:ea typeface="+mn-ea"/>
                <a:cs typeface="Arial"/>
              </a:defRPr>
            </a:lvl9pPr>
          </a:lstStyle>
          <a:p>
            <a:pPr algn="l"/>
            <a:r>
              <a:rPr lang="en-US" sz="1300" b="1" dirty="0">
                <a:solidFill>
                  <a:srgbClr val="C62828"/>
                </a:solidFill>
                <a:latin typeface="Arial"/>
                <a:cs typeface="Arial"/>
              </a:rPr>
              <a:t>THE CONTROLLED REALITY</a:t>
            </a:r>
          </a:p>
        </p:txBody>
      </p:sp>
      <p:sp>
        <p:nvSpPr>
          <p:cNvPr id="19" name="Text 17"/>
          <p:cNvSpPr/>
          <p:nvPr/>
        </p:nvSpPr>
        <p:spPr>
          <a:xfrm>
            <a:off x="914400" y="2997200"/>
            <a:ext cx="4165600" cy="584200"/>
          </a:xfrm>
          <a:prstGeom prst="rect">
            <a:avLst/>
          </a:prstGeom>
          <a:noFill/>
          <a:ln/>
        </p:spPr>
        <p:txBody>
          <a:bodyPr wrap="square" lIns="0" tIns="0" rIns="0" bIns="0" rtlCol="0" anchor="t">
            <a:noAutofit/>
          </a:bodyPr>
          <a:lstStyle>
            <a:lvl1pPr marL="0" algn="l" defTabSz="685800" rtl="0" eaLnBrk="1" latinLnBrk="0" hangingPunct="1">
              <a:defRPr sz="1200" b="0" kern="1200">
                <a:solidFill>
                  <a:srgbClr val="2A2340"/>
                </a:solidFill>
                <a:latin typeface="Arial"/>
                <a:ea typeface="+mn-ea"/>
                <a:cs typeface="Arial"/>
              </a:defRPr>
            </a:lvl1pPr>
            <a:lvl2pPr marL="342900" algn="l" defTabSz="685800" rtl="0" eaLnBrk="1" latinLnBrk="0" hangingPunct="1">
              <a:defRPr sz="1200" b="0" kern="1200">
                <a:solidFill>
                  <a:srgbClr val="2A2340"/>
                </a:solidFill>
                <a:latin typeface="Arial"/>
                <a:ea typeface="+mn-ea"/>
                <a:cs typeface="Arial"/>
              </a:defRPr>
            </a:lvl2pPr>
            <a:lvl3pPr marL="685800" algn="l" defTabSz="685800" rtl="0" eaLnBrk="1" latinLnBrk="0" hangingPunct="1">
              <a:defRPr sz="1200" b="0" kern="1200">
                <a:solidFill>
                  <a:srgbClr val="2A2340"/>
                </a:solidFill>
                <a:latin typeface="Arial"/>
                <a:ea typeface="+mn-ea"/>
                <a:cs typeface="Arial"/>
              </a:defRPr>
            </a:lvl3pPr>
            <a:lvl4pPr marL="1028700" algn="l" defTabSz="685800" rtl="0" eaLnBrk="1" latinLnBrk="0" hangingPunct="1">
              <a:defRPr sz="1200" b="0" kern="1200">
                <a:solidFill>
                  <a:srgbClr val="2A2340"/>
                </a:solidFill>
                <a:latin typeface="Arial"/>
                <a:ea typeface="+mn-ea"/>
                <a:cs typeface="Arial"/>
              </a:defRPr>
            </a:lvl4pPr>
            <a:lvl5pPr marL="1371600" algn="l" defTabSz="685800" rtl="0" eaLnBrk="1" latinLnBrk="0" hangingPunct="1">
              <a:defRPr sz="1200" b="0" kern="1200">
                <a:solidFill>
                  <a:srgbClr val="2A2340"/>
                </a:solidFill>
                <a:latin typeface="Arial"/>
                <a:ea typeface="+mn-ea"/>
                <a:cs typeface="Arial"/>
              </a:defRPr>
            </a:lvl5pPr>
            <a:lvl6pPr marL="1714500" algn="l" defTabSz="685800" rtl="0" eaLnBrk="1" latinLnBrk="0" hangingPunct="1">
              <a:defRPr sz="1200" b="0" kern="1200">
                <a:solidFill>
                  <a:srgbClr val="2A2340"/>
                </a:solidFill>
                <a:latin typeface="Arial"/>
                <a:ea typeface="+mn-ea"/>
                <a:cs typeface="Arial"/>
              </a:defRPr>
            </a:lvl6pPr>
            <a:lvl7pPr marL="2057400" algn="l" defTabSz="685800" rtl="0" eaLnBrk="1" latinLnBrk="0" hangingPunct="1">
              <a:defRPr sz="1200" b="0" kern="1200">
                <a:solidFill>
                  <a:srgbClr val="2A2340"/>
                </a:solidFill>
                <a:latin typeface="Arial"/>
                <a:ea typeface="+mn-ea"/>
                <a:cs typeface="Arial"/>
              </a:defRPr>
            </a:lvl7pPr>
            <a:lvl8pPr marL="2400300" algn="l" defTabSz="685800" rtl="0" eaLnBrk="1" latinLnBrk="0" hangingPunct="1">
              <a:defRPr sz="1200" b="0" kern="1200">
                <a:solidFill>
                  <a:srgbClr val="2A2340"/>
                </a:solidFill>
                <a:latin typeface="Arial"/>
                <a:ea typeface="+mn-ea"/>
                <a:cs typeface="Arial"/>
              </a:defRPr>
            </a:lvl8pPr>
            <a:lvl9pPr marL="2743200" algn="l" defTabSz="685800" rtl="0" eaLnBrk="1" latinLnBrk="0" hangingPunct="1">
              <a:defRPr sz="1200" b="0" kern="1200">
                <a:solidFill>
                  <a:srgbClr val="2A2340"/>
                </a:solidFill>
                <a:latin typeface="Arial"/>
                <a:ea typeface="+mn-ea"/>
                <a:cs typeface="Arial"/>
              </a:defRPr>
            </a:lvl9pPr>
          </a:lstStyle>
          <a:p>
            <a:pPr algn="l"/>
            <a:r>
              <a:rPr lang="en-US" sz="1300" dirty="0">
                <a:solidFill>
                  <a:srgbClr val="2A2340"/>
                </a:solidFill>
                <a:latin typeface="Arial"/>
                <a:cs typeface="Arial"/>
              </a:rPr>
              <a:t>The Camden Coalition RCT found no reduction in 180-day readmissions versus usual care.</a:t>
            </a:r>
          </a:p>
        </p:txBody>
      </p:sp>
      <p:sp>
        <p:nvSpPr>
          <p:cNvPr id="20" name="Shape 18"/>
          <p:cNvSpPr/>
          <p:nvPr/>
        </p:nvSpPr>
        <p:spPr>
          <a:xfrm>
            <a:off x="711200" y="3810000"/>
            <a:ext cx="4572000" cy="990600"/>
          </a:xfrm>
          <a:prstGeom prst="roundRect">
            <a:avLst/>
          </a:prstGeom>
          <a:solidFill>
            <a:srgbClr val="F1ECFF"/>
          </a:solidFill>
          <a:ln w="19050">
            <a:solidFill>
              <a:srgbClr val="C7B7FF"/>
            </a:solidFill>
            <a:prstDash val="solid"/>
          </a:ln>
        </p:spPr>
        <p:txBody>
          <a:bodyPr/>
          <a:lstStyle/>
          <a:p>
            <a:endParaRPr lang="en-US" sz="1600">
              <a:latin typeface="Arial"/>
              <a:cs typeface="Arial"/>
            </a:endParaRPr>
          </a:p>
        </p:txBody>
      </p:sp>
      <p:sp>
        <p:nvSpPr>
          <p:cNvPr id="21" name="Text 19"/>
          <p:cNvSpPr/>
          <p:nvPr/>
        </p:nvSpPr>
        <p:spPr>
          <a:xfrm>
            <a:off x="914400" y="3911600"/>
            <a:ext cx="4165600" cy="7874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en-US" sz="1300" dirty="0">
                <a:solidFill>
                  <a:srgbClr val="2A2340"/>
                </a:solidFill>
                <a:latin typeface="Arial"/>
                <a:cs typeface="Arial"/>
              </a:rPr>
              <a:t>Why it failed: patients enter at a peak and many improve anyway… without a control arm, </a:t>
            </a:r>
            <a:r>
              <a:rPr lang="en-US" sz="1300" b="1" dirty="0">
                <a:solidFill>
                  <a:srgbClr val="2A2340"/>
                </a:solidFill>
                <a:latin typeface="Arial"/>
                <a:cs typeface="Arial"/>
              </a:rPr>
              <a:t>regression to the mean looks like impact</a:t>
            </a:r>
            <a:r>
              <a:rPr lang="en-US" sz="1300" dirty="0">
                <a:solidFill>
                  <a:srgbClr val="2A2340"/>
                </a:solidFill>
                <a:latin typeface="Arial"/>
                <a:cs typeface="Arial"/>
              </a:rPr>
              <a:t>.</a:t>
            </a:r>
          </a:p>
        </p:txBody>
      </p:sp>
      <p:sp>
        <p:nvSpPr>
          <p:cNvPr id="22" name="Text 20"/>
          <p:cNvSpPr/>
          <p:nvPr/>
        </p:nvSpPr>
        <p:spPr>
          <a:xfrm>
            <a:off x="714358" y="4902200"/>
            <a:ext cx="7715057" cy="152400"/>
          </a:xfrm>
          <a:prstGeom prst="rect">
            <a:avLst/>
          </a:prstGeom>
          <a:noFill/>
          <a:ln/>
        </p:spPr>
        <p:txBody>
          <a:bodyPr wrap="square" lIns="0" tIns="0" rIns="0" bIns="0" rtlCol="0" anchor="t">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000" dirty="0">
                <a:solidFill>
                  <a:srgbClr val="7A7A7A"/>
                </a:solidFill>
                <a:latin typeface="Arial"/>
                <a:cs typeface="Arial"/>
              </a:rPr>
              <a:t>Source: Finkelstein et al., Health Care Hotspotting — A Randomized, Controlled Trial. N Engl J Med 2020;382:152-162.</a:t>
            </a:r>
          </a:p>
        </p:txBody>
      </p:sp>
      <p:sp>
        <p:nvSpPr>
          <p:cNvPr id="6" name="vs_marker">
            <a:extLst>
              <a:ext uri="{FF2B5EF4-FFF2-40B4-BE49-F238E27FC236}">
                <a16:creationId xmlns:a16="http://schemas.microsoft.com/office/drawing/2014/main" id="{D1CAC94D-8D2F-CA48-9701-2D5954ECB2BA}"/>
              </a:ext>
            </a:extLst>
          </p:cNvPr>
          <p:cNvSpPr/>
          <p:nvPr/>
        </p:nvSpPr>
        <p:spPr>
          <a:xfrm>
            <a:off x="2794000" y="2324100"/>
            <a:ext cx="406400" cy="406400"/>
          </a:xfrm>
          <a:prstGeom prst="ellipse">
            <a:avLst/>
          </a:prstGeom>
          <a:solidFill>
            <a:srgbClr val="1700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latin typeface="Arial"/>
                <a:cs typeface="Arial"/>
              </a:rPr>
              <a:t>vs</a:t>
            </a:r>
          </a:p>
        </p:txBody>
      </p:sp>
      <p:pic>
        <p:nvPicPr>
          <p:cNvPr id="9" name="Picture 8">
            <a:extLst>
              <a:ext uri="{FF2B5EF4-FFF2-40B4-BE49-F238E27FC236}">
                <a16:creationId xmlns:a16="http://schemas.microsoft.com/office/drawing/2014/main" id="{B629EAEF-F3DE-03C3-2C01-AE253620EC12}"/>
              </a:ext>
            </a:extLst>
          </p:cNvPr>
          <p:cNvPicPr>
            <a:picLocks noChangeAspect="1"/>
          </p:cNvPicPr>
          <p:nvPr/>
        </p:nvPicPr>
        <p:blipFill>
          <a:blip r:embed="rId3"/>
          <a:stretch>
            <a:fillRect/>
          </a:stretch>
        </p:blipFill>
        <p:spPr>
          <a:xfrm>
            <a:off x="5937250" y="1397000"/>
            <a:ext cx="2222500" cy="3403600"/>
          </a:xfrm>
          <a:prstGeom prst="rect">
            <a:avLst/>
          </a:prstGeom>
        </p:spPr>
      </p:pic>
    </p:spTree>
    <p:extLst>
      <p:ext uri="{BB962C8B-B14F-4D97-AF65-F5344CB8AC3E}">
        <p14:creationId xmlns:p14="http://schemas.microsoft.com/office/powerpoint/2010/main" val="224527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0FBDFF7-239F-F84E-8524-CFA88A354E53}"/>
              </a:ext>
            </a:extLst>
          </p:cNvPr>
          <p:cNvSpPr/>
          <p:nvPr/>
        </p:nvSpPr>
        <p:spPr>
          <a:xfrm>
            <a:off x="0" y="0"/>
            <a:ext cx="9144000" cy="5143500"/>
          </a:xfrm>
          <a:prstGeom prst="rect">
            <a:avLst/>
          </a:prstGeom>
          <a:solidFill>
            <a:srgbClr val="13004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 name="TextBox 10">
            <a:extLst>
              <a:ext uri="{FF2B5EF4-FFF2-40B4-BE49-F238E27FC236}">
                <a16:creationId xmlns:a16="http://schemas.microsoft.com/office/drawing/2014/main" id="{194F0AB3-F3F1-7E41-936D-360E7FCD0F1E}"/>
              </a:ext>
            </a:extLst>
          </p:cNvPr>
          <p:cNvSpPr txBox="1"/>
          <p:nvPr/>
        </p:nvSpPr>
        <p:spPr>
          <a:xfrm>
            <a:off x="609600" y="787400"/>
            <a:ext cx="7924800" cy="381000"/>
          </a:xfrm>
          <a:prstGeom prst="rect">
            <a:avLst/>
          </a:prstGeom>
          <a:noFill/>
          <a:ln>
            <a:noFill/>
          </a:ln>
        </p:spPr>
        <p:txBody>
          <a:bodyPr vertOverflow="overflow" vert="horz" wrap="square" rtlCol="0" anchor="t">
            <a:noAutofit/>
          </a:bodyPr>
          <a:lstStyle/>
          <a:p>
            <a:r>
              <a:rPr lang="en-US" b="1" dirty="0">
                <a:solidFill>
                  <a:srgbClr val="FFFFFF"/>
                </a:solidFill>
                <a:latin typeface="Arial"/>
                <a:cs typeface="Arial"/>
              </a:rPr>
              <a:t>AIM-HIGH: Intermountain-</a:t>
            </a:r>
            <a:r>
              <a:rPr lang="en-US" b="1" dirty="0" err="1">
                <a:solidFill>
                  <a:srgbClr val="FFFFFF"/>
                </a:solidFill>
                <a:latin typeface="Arial"/>
                <a:cs typeface="Arial"/>
              </a:rPr>
              <a:t>SelectHealth</a:t>
            </a:r>
            <a:endParaRPr lang="en-US" b="1" dirty="0">
              <a:solidFill>
                <a:srgbClr val="FFFFFF"/>
              </a:solidFill>
              <a:latin typeface="Arial"/>
              <a:cs typeface="Arial"/>
            </a:endParaRPr>
          </a:p>
        </p:txBody>
      </p:sp>
      <p:sp>
        <p:nvSpPr>
          <p:cNvPr id="12" name="TextBox 11">
            <a:extLst>
              <a:ext uri="{FF2B5EF4-FFF2-40B4-BE49-F238E27FC236}">
                <a16:creationId xmlns:a16="http://schemas.microsoft.com/office/drawing/2014/main" id="{0EFAAF4C-C337-9F4C-AD9B-E7921D5B77F0}"/>
              </a:ext>
            </a:extLst>
          </p:cNvPr>
          <p:cNvSpPr txBox="1"/>
          <p:nvPr/>
        </p:nvSpPr>
        <p:spPr>
          <a:xfrm>
            <a:off x="609600" y="1549400"/>
            <a:ext cx="8102600" cy="660400"/>
          </a:xfrm>
          <a:prstGeom prst="rect">
            <a:avLst/>
          </a:prstGeom>
          <a:noFill/>
          <a:ln>
            <a:noFill/>
          </a:ln>
        </p:spPr>
        <p:txBody>
          <a:bodyPr vertOverflow="overflow" vert="horz" wrap="square" rtlCol="0" anchor="t">
            <a:noAutofit/>
          </a:bodyPr>
          <a:lstStyle/>
          <a:p>
            <a:r>
              <a:rPr lang="en-US" sz="3000" b="1" dirty="0">
                <a:solidFill>
                  <a:srgbClr val="FF5A5A"/>
                </a:solidFill>
                <a:latin typeface="Arial"/>
                <a:cs typeface="Arial"/>
              </a:rPr>
              <a:t>Inpatient-Outpatient Transition for Patients with Hypercapnic Respiratory Failure</a:t>
            </a:r>
          </a:p>
        </p:txBody>
      </p:sp>
      <p:sp>
        <p:nvSpPr>
          <p:cNvPr id="13" name="TextBox 12">
            <a:extLst>
              <a:ext uri="{FF2B5EF4-FFF2-40B4-BE49-F238E27FC236}">
                <a16:creationId xmlns:a16="http://schemas.microsoft.com/office/drawing/2014/main" id="{C467D3A8-4949-AB43-97CF-CC52BB0FC493}"/>
              </a:ext>
            </a:extLst>
          </p:cNvPr>
          <p:cNvSpPr txBox="1"/>
          <p:nvPr/>
        </p:nvSpPr>
        <p:spPr>
          <a:xfrm>
            <a:off x="609600" y="3556000"/>
            <a:ext cx="8255000" cy="1168400"/>
          </a:xfrm>
          <a:prstGeom prst="rect">
            <a:avLst/>
          </a:prstGeom>
          <a:noFill/>
          <a:ln>
            <a:noFill/>
          </a:ln>
        </p:spPr>
        <p:txBody>
          <a:bodyPr vertOverflow="overflow" vert="horz" wrap="square" rtlCol="0" anchor="t">
            <a:noAutofit/>
          </a:bodyPr>
          <a:lstStyle/>
          <a:p>
            <a:r>
              <a:rPr lang="en-US" sz="1500" b="1" dirty="0">
                <a:solidFill>
                  <a:srgbClr val="FFFFFF"/>
                </a:solidFill>
                <a:latin typeface="Arial"/>
                <a:cs typeface="Arial"/>
              </a:rPr>
              <a:t>K23: </a:t>
            </a:r>
          </a:p>
          <a:p>
            <a:r>
              <a:rPr lang="en-US" sz="1500" dirty="0">
                <a:solidFill>
                  <a:srgbClr val="FFFFFF"/>
                </a:solidFill>
                <a:latin typeface="Arial"/>
                <a:cs typeface="Arial"/>
              </a:rPr>
              <a:t>Aim 1: Develop and temporally validate automated discharge-risk estimates
</a:t>
            </a:r>
            <a:r>
              <a:rPr lang="en-US" sz="1500" u="sng" dirty="0">
                <a:solidFill>
                  <a:srgbClr val="FFFFFF"/>
                </a:solidFill>
                <a:latin typeface="Arial"/>
                <a:cs typeface="Arial"/>
              </a:rPr>
              <a:t>Aim 2: Compare early EHR, discharge EHR, and claims-augmented predictor sets</a:t>
            </a:r>
            <a:r>
              <a:rPr lang="en-US" sz="1500" dirty="0">
                <a:solidFill>
                  <a:srgbClr val="FFFFFF"/>
                </a:solidFill>
                <a:latin typeface="Arial"/>
                <a:cs typeface="Arial"/>
              </a:rPr>
              <a:t>
Aim 3: Test whether target choice changes capacity-limited triage panels</a:t>
            </a:r>
          </a:p>
        </p:txBody>
      </p:sp>
      <p:sp>
        <p:nvSpPr>
          <p:cNvPr id="16" name="ASCEND-MA Study Team">
            <a:extLst>
              <a:ext uri="{FF2B5EF4-FFF2-40B4-BE49-F238E27FC236}">
                <a16:creationId xmlns:a16="http://schemas.microsoft.com/office/drawing/2014/main" id="{5E782831-C440-DE43-AF69-19AB9B7227C9}"/>
              </a:ext>
            </a:extLst>
          </p:cNvPr>
          <p:cNvSpPr txBox="1"/>
          <p:nvPr/>
        </p:nvSpPr>
        <p:spPr>
          <a:xfrm>
            <a:off x="609600" y="2641600"/>
            <a:ext cx="8102600" cy="457200"/>
          </a:xfrm>
          <a:prstGeom prst="rect">
            <a:avLst/>
          </a:prstGeom>
          <a:noFill/>
        </p:spPr>
        <p:txBody>
          <a:bodyPr vertOverflow="overflow" vert="horz" wrap="square" rtlCol="0" anchor="t">
            <a:noAutofit/>
          </a:bodyPr>
          <a:lstStyle/>
          <a:p>
            <a:r>
              <a:rPr lang="en-US" sz="1400" b="1">
                <a:solidFill>
                  <a:srgbClr val="C9C3EA"/>
                </a:solidFill>
                <a:latin typeface="Arial"/>
                <a:cs typeface="Arial"/>
              </a:rPr>
              <a:t>AIM-HIGH study team: Brian Locke, David Hedges, Rylan Fowers, Nick Green, Samuel Brown</a:t>
            </a:r>
          </a:p>
        </p:txBody>
      </p:sp>
    </p:spTree>
    <p:extLst>
      <p:ext uri="{BB962C8B-B14F-4D97-AF65-F5344CB8AC3E}">
        <p14:creationId xmlns:p14="http://schemas.microsoft.com/office/powerpoint/2010/main" val="1035597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65A1-5871-0F61-E7D9-E4BEB74EC58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911D5D2-7088-C972-4C76-BF743A0146BD}"/>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5" name="Rectangle 14">
            <a:extLst>
              <a:ext uri="{FF2B5EF4-FFF2-40B4-BE49-F238E27FC236}">
                <a16:creationId xmlns:a16="http://schemas.microsoft.com/office/drawing/2014/main" id="{EC5B4619-707F-771D-2A5E-C38B8D279B98}"/>
              </a:ext>
            </a:extLst>
          </p:cNvPr>
          <p:cNvSpPr/>
          <p:nvPr/>
        </p:nvSpPr>
        <p:spPr>
          <a:xfrm>
            <a:off x="361950" y="742950"/>
            <a:ext cx="57150" cy="3638550"/>
          </a:xfrm>
          <a:prstGeom prst="rect">
            <a:avLst/>
          </a:prstGeom>
          <a:solidFill>
            <a:srgbClr val="5200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6" name="TextBox 15">
            <a:extLst>
              <a:ext uri="{FF2B5EF4-FFF2-40B4-BE49-F238E27FC236}">
                <a16:creationId xmlns:a16="http://schemas.microsoft.com/office/drawing/2014/main" id="{0E7F6582-2484-D2E2-35A3-A92C7172B5CC}"/>
              </a:ext>
            </a:extLst>
          </p:cNvPr>
          <p:cNvSpPr txBox="1"/>
          <p:nvPr/>
        </p:nvSpPr>
        <p:spPr>
          <a:xfrm>
            <a:off x="552450" y="304800"/>
            <a:ext cx="4646274" cy="363020"/>
          </a:xfrm>
          <a:prstGeom prst="rect">
            <a:avLst/>
          </a:prstGeom>
          <a:noFill/>
        </p:spPr>
        <p:txBody>
          <a:bodyPr vertOverflow="overflow" vert="horz" wrap="square" rtlCol="0" anchor="t" anchorCtr="0">
            <a:noAutofit/>
          </a:bodyPr>
          <a:lstStyle/>
          <a:p>
            <a:pPr algn="l"/>
            <a:r>
              <a:rPr lang="en-US" sz="1100" b="1" dirty="0">
                <a:solidFill>
                  <a:srgbClr val="4A00E2"/>
                </a:solidFill>
                <a:latin typeface="Arial"/>
                <a:cs typeface="Arial"/>
              </a:rPr>
              <a:t>RATIONALE | HYPERCAPNIC RF TRANSITION</a:t>
            </a:r>
          </a:p>
        </p:txBody>
      </p:sp>
      <p:sp>
        <p:nvSpPr>
          <p:cNvPr id="17" name="TextBox 16">
            <a:extLst>
              <a:ext uri="{FF2B5EF4-FFF2-40B4-BE49-F238E27FC236}">
                <a16:creationId xmlns:a16="http://schemas.microsoft.com/office/drawing/2014/main" id="{B77A4DB7-BD82-E565-D85B-A5A5555ADCC7}"/>
              </a:ext>
            </a:extLst>
          </p:cNvPr>
          <p:cNvSpPr txBox="1"/>
          <p:nvPr/>
        </p:nvSpPr>
        <p:spPr>
          <a:xfrm>
            <a:off x="552450" y="495300"/>
            <a:ext cx="7937500" cy="711200"/>
          </a:xfrm>
          <a:prstGeom prst="rect">
            <a:avLst/>
          </a:prstGeom>
          <a:noFill/>
        </p:spPr>
        <p:txBody>
          <a:bodyPr vertOverflow="overflow" vert="horz" wrap="square" rtlCol="0" anchor="t" anchorCtr="0">
            <a:normAutofit fontScale="92500" lnSpcReduction="10000"/>
          </a:bodyPr>
          <a:lstStyle/>
          <a:p>
            <a:pPr algn="l"/>
            <a:r>
              <a:rPr lang="en-US" sz="2400" b="1" dirty="0">
                <a:solidFill>
                  <a:srgbClr val="110057"/>
                </a:solidFill>
                <a:latin typeface="Arial"/>
                <a:cs typeface="Arial"/>
              </a:rPr>
              <a:t>Hypercapnic respiratory failure is high-burden — and these patients are under-evaluated</a:t>
            </a:r>
          </a:p>
        </p:txBody>
      </p:sp>
      <p:sp>
        <p:nvSpPr>
          <p:cNvPr id="27" name="Rectangle 26">
            <a:extLst>
              <a:ext uri="{FF2B5EF4-FFF2-40B4-BE49-F238E27FC236}">
                <a16:creationId xmlns:a16="http://schemas.microsoft.com/office/drawing/2014/main" id="{D85A214D-FD24-D329-9279-2F798DC44786}"/>
              </a:ext>
            </a:extLst>
          </p:cNvPr>
          <p:cNvSpPr/>
          <p:nvPr/>
        </p:nvSpPr>
        <p:spPr>
          <a:xfrm>
            <a:off x="668035" y="1226477"/>
            <a:ext cx="3465814" cy="433227"/>
          </a:xfrm>
          <a:prstGeom prst="rect">
            <a:avLst/>
          </a:prstGeom>
          <a:solidFill>
            <a:srgbClr val="FFFFFF"/>
          </a:solidFill>
          <a:ln w="12700">
            <a:solidFill>
              <a:srgbClr val="D7DD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8" name="TextBox 27">
            <a:extLst>
              <a:ext uri="{FF2B5EF4-FFF2-40B4-BE49-F238E27FC236}">
                <a16:creationId xmlns:a16="http://schemas.microsoft.com/office/drawing/2014/main" id="{186DDED0-F4EF-450E-ECC6-43727B0FF722}"/>
              </a:ext>
            </a:extLst>
          </p:cNvPr>
          <p:cNvSpPr txBox="1"/>
          <p:nvPr/>
        </p:nvSpPr>
        <p:spPr>
          <a:xfrm>
            <a:off x="652972" y="1257300"/>
            <a:ext cx="2491355" cy="304800"/>
          </a:xfrm>
          <a:prstGeom prst="rect">
            <a:avLst/>
          </a:prstGeom>
          <a:noFill/>
        </p:spPr>
        <p:txBody>
          <a:bodyPr vertOverflow="overflow" vert="horz" wrap="square" rtlCol="0" anchor="t" anchorCtr="0">
            <a:noAutofit/>
          </a:bodyPr>
          <a:lstStyle/>
          <a:p>
            <a:pPr algn="l"/>
            <a:r>
              <a:rPr lang="en-US" sz="2000" b="1" dirty="0">
                <a:solidFill>
                  <a:srgbClr val="5200FF"/>
                </a:solidFill>
                <a:latin typeface="Arial"/>
                <a:cs typeface="Arial"/>
              </a:rPr>
              <a:t>~1 in 3</a:t>
            </a:r>
          </a:p>
        </p:txBody>
      </p:sp>
      <p:sp>
        <p:nvSpPr>
          <p:cNvPr id="29" name="TextBox 28">
            <a:extLst>
              <a:ext uri="{FF2B5EF4-FFF2-40B4-BE49-F238E27FC236}">
                <a16:creationId xmlns:a16="http://schemas.microsoft.com/office/drawing/2014/main" id="{0A1DE83D-66A7-8A7A-4F74-EE1DE60B32B6}"/>
              </a:ext>
            </a:extLst>
          </p:cNvPr>
          <p:cNvSpPr txBox="1"/>
          <p:nvPr/>
        </p:nvSpPr>
        <p:spPr>
          <a:xfrm>
            <a:off x="1535987" y="1312666"/>
            <a:ext cx="2941491" cy="711200"/>
          </a:xfrm>
          <a:prstGeom prst="rect">
            <a:avLst/>
          </a:prstGeom>
          <a:noFill/>
        </p:spPr>
        <p:txBody>
          <a:bodyPr vertOverflow="overflow" vert="horz" wrap="square" rtlCol="0" anchor="t" anchorCtr="0">
            <a:noAutofit/>
          </a:bodyPr>
          <a:lstStyle/>
          <a:p>
            <a:pPr algn="l"/>
            <a:r>
              <a:rPr lang="en-US" sz="1200" dirty="0">
                <a:solidFill>
                  <a:srgbClr val="16004B"/>
                </a:solidFill>
                <a:latin typeface="Arial"/>
                <a:cs typeface="Arial"/>
              </a:rPr>
              <a:t>readmitted within 30 days (national)</a:t>
            </a:r>
          </a:p>
        </p:txBody>
      </p:sp>
      <p:sp>
        <p:nvSpPr>
          <p:cNvPr id="30" name="Rectangle 29">
            <a:extLst>
              <a:ext uri="{FF2B5EF4-FFF2-40B4-BE49-F238E27FC236}">
                <a16:creationId xmlns:a16="http://schemas.microsoft.com/office/drawing/2014/main" id="{D2457AEC-054C-0A65-8888-64C10E898E34}"/>
              </a:ext>
            </a:extLst>
          </p:cNvPr>
          <p:cNvSpPr/>
          <p:nvPr/>
        </p:nvSpPr>
        <p:spPr>
          <a:xfrm>
            <a:off x="4398303" y="1209997"/>
            <a:ext cx="3041650" cy="447996"/>
          </a:xfrm>
          <a:prstGeom prst="rect">
            <a:avLst/>
          </a:prstGeom>
          <a:solidFill>
            <a:srgbClr val="FFFFFF"/>
          </a:solidFill>
          <a:ln w="12700">
            <a:solidFill>
              <a:srgbClr val="D7DD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1" name="TextBox 30">
            <a:extLst>
              <a:ext uri="{FF2B5EF4-FFF2-40B4-BE49-F238E27FC236}">
                <a16:creationId xmlns:a16="http://schemas.microsoft.com/office/drawing/2014/main" id="{0E26B2E4-7275-4794-A512-CAB78FF10C1A}"/>
              </a:ext>
            </a:extLst>
          </p:cNvPr>
          <p:cNvSpPr txBox="1"/>
          <p:nvPr/>
        </p:nvSpPr>
        <p:spPr>
          <a:xfrm>
            <a:off x="4398303" y="1213493"/>
            <a:ext cx="1968500" cy="304800"/>
          </a:xfrm>
          <a:prstGeom prst="rect">
            <a:avLst/>
          </a:prstGeom>
          <a:noFill/>
        </p:spPr>
        <p:txBody>
          <a:bodyPr vertOverflow="overflow" vert="horz" wrap="square" rtlCol="0" anchor="t" anchorCtr="0">
            <a:noAutofit/>
          </a:bodyPr>
          <a:lstStyle/>
          <a:p>
            <a:pPr algn="l"/>
            <a:r>
              <a:rPr lang="en-US" sz="2000" b="1" dirty="0">
                <a:solidFill>
                  <a:srgbClr val="5200FF"/>
                </a:solidFill>
                <a:latin typeface="Arial"/>
                <a:cs typeface="Arial"/>
              </a:rPr>
              <a:t>~10×</a:t>
            </a:r>
          </a:p>
        </p:txBody>
      </p:sp>
      <p:sp>
        <p:nvSpPr>
          <p:cNvPr id="32" name="TextBox 31">
            <a:extLst>
              <a:ext uri="{FF2B5EF4-FFF2-40B4-BE49-F238E27FC236}">
                <a16:creationId xmlns:a16="http://schemas.microsoft.com/office/drawing/2014/main" id="{6158AEB0-6AB8-BB6B-BD9E-3B837A38CC97}"/>
              </a:ext>
            </a:extLst>
          </p:cNvPr>
          <p:cNvSpPr txBox="1"/>
          <p:nvPr/>
        </p:nvSpPr>
        <p:spPr>
          <a:xfrm>
            <a:off x="5053851" y="1282700"/>
            <a:ext cx="2552700" cy="711200"/>
          </a:xfrm>
          <a:prstGeom prst="rect">
            <a:avLst/>
          </a:prstGeom>
          <a:noFill/>
        </p:spPr>
        <p:txBody>
          <a:bodyPr vertOverflow="overflow" vert="horz" wrap="square" rtlCol="0" anchor="t" anchorCtr="0">
            <a:noAutofit/>
          </a:bodyPr>
          <a:lstStyle/>
          <a:p>
            <a:pPr algn="l"/>
            <a:r>
              <a:rPr lang="en-US" sz="1200" dirty="0">
                <a:solidFill>
                  <a:srgbClr val="16004B"/>
                </a:solidFill>
                <a:latin typeface="Arial"/>
                <a:cs typeface="Arial"/>
              </a:rPr>
              <a:t>age-expected mortality (national)</a:t>
            </a:r>
          </a:p>
        </p:txBody>
      </p:sp>
      <p:sp>
        <p:nvSpPr>
          <p:cNvPr id="33" name="Rectangle 32">
            <a:extLst>
              <a:ext uri="{FF2B5EF4-FFF2-40B4-BE49-F238E27FC236}">
                <a16:creationId xmlns:a16="http://schemas.microsoft.com/office/drawing/2014/main" id="{BD67568A-B793-208D-94D1-0BD0443FC5BB}"/>
              </a:ext>
            </a:extLst>
          </p:cNvPr>
          <p:cNvSpPr/>
          <p:nvPr/>
        </p:nvSpPr>
        <p:spPr>
          <a:xfrm>
            <a:off x="1397000" y="3522328"/>
            <a:ext cx="6350000" cy="990600"/>
          </a:xfrm>
          <a:prstGeom prst="rect">
            <a:avLst/>
          </a:prstGeom>
          <a:solidFill>
            <a:srgbClr val="FFFFFF"/>
          </a:solidFill>
          <a:ln w="12700">
            <a:solidFill>
              <a:srgbClr val="D7DD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4" name="TextBox 33">
            <a:extLst>
              <a:ext uri="{FF2B5EF4-FFF2-40B4-BE49-F238E27FC236}">
                <a16:creationId xmlns:a16="http://schemas.microsoft.com/office/drawing/2014/main" id="{D18642A6-F4EC-0AEF-92C7-825F2AFC1854}"/>
              </a:ext>
            </a:extLst>
          </p:cNvPr>
          <p:cNvSpPr txBox="1"/>
          <p:nvPr/>
        </p:nvSpPr>
        <p:spPr>
          <a:xfrm>
            <a:off x="1651000" y="3649328"/>
            <a:ext cx="5842000" cy="304800"/>
          </a:xfrm>
          <a:prstGeom prst="rect">
            <a:avLst/>
          </a:prstGeom>
          <a:noFill/>
        </p:spPr>
        <p:txBody>
          <a:bodyPr vertOverflow="overflow" vert="horz" wrap="square" rtlCol="0" anchor="t" anchorCtr="0">
            <a:noAutofit/>
          </a:bodyPr>
          <a:lstStyle/>
          <a:p>
            <a:pPr algn="l"/>
            <a:r>
              <a:rPr lang="en-US" sz="2000" b="1" dirty="0">
                <a:solidFill>
                  <a:srgbClr val="4A00E2"/>
                </a:solidFill>
                <a:latin typeface="Arial"/>
                <a:cs typeface="Arial"/>
              </a:rPr>
              <a:t>Cause Seldom Investigated in Utah</a:t>
            </a:r>
          </a:p>
        </p:txBody>
      </p:sp>
      <p:sp>
        <p:nvSpPr>
          <p:cNvPr id="35" name="TextBox 34">
            <a:extLst>
              <a:ext uri="{FF2B5EF4-FFF2-40B4-BE49-F238E27FC236}">
                <a16:creationId xmlns:a16="http://schemas.microsoft.com/office/drawing/2014/main" id="{CD6C49E1-FDAB-DE78-057D-1140A631C7FA}"/>
              </a:ext>
            </a:extLst>
          </p:cNvPr>
          <p:cNvSpPr txBox="1"/>
          <p:nvPr/>
        </p:nvSpPr>
        <p:spPr>
          <a:xfrm>
            <a:off x="1651000" y="3979528"/>
            <a:ext cx="5842000" cy="508000"/>
          </a:xfrm>
          <a:prstGeom prst="rect">
            <a:avLst/>
          </a:prstGeom>
          <a:noFill/>
        </p:spPr>
        <p:txBody>
          <a:bodyPr vertOverflow="overflow" vert="horz" wrap="square" rtlCol="0" anchor="t" anchorCtr="0">
            <a:noAutofit/>
          </a:bodyPr>
          <a:lstStyle/>
          <a:p>
            <a:pPr algn="l"/>
            <a:r>
              <a:rPr lang="en-US" sz="1200" dirty="0">
                <a:solidFill>
                  <a:srgbClr val="16004B"/>
                </a:solidFill>
                <a:latin typeface="Arial"/>
                <a:cs typeface="Arial"/>
              </a:rPr>
              <a:t>31% PFTs, 21% Sleep study 5y before; 15% PFTs, 10% Sleep study 1y after. </a:t>
            </a:r>
          </a:p>
        </p:txBody>
      </p:sp>
      <p:sp>
        <p:nvSpPr>
          <p:cNvPr id="2" name="cost_label">
            <a:extLst>
              <a:ext uri="{FF2B5EF4-FFF2-40B4-BE49-F238E27FC236}">
                <a16:creationId xmlns:a16="http://schemas.microsoft.com/office/drawing/2014/main" id="{FEC80EE4-C2A4-C64B-927A-6717B5B99942}"/>
              </a:ext>
            </a:extLst>
          </p:cNvPr>
          <p:cNvSpPr txBox="1"/>
          <p:nvPr/>
        </p:nvSpPr>
        <p:spPr>
          <a:xfrm>
            <a:off x="711200" y="1676400"/>
            <a:ext cx="7721600" cy="261610"/>
          </a:xfrm>
          <a:prstGeom prst="rect">
            <a:avLst/>
          </a:prstGeom>
          <a:noFill/>
        </p:spPr>
        <p:txBody>
          <a:bodyPr vertOverflow="overflow" vert="horz" wrap="square" rtlCol="0" anchor="t">
            <a:spAutoFit/>
          </a:bodyPr>
          <a:lstStyle/>
          <a:p>
            <a:pPr algn="l"/>
            <a:r>
              <a:rPr lang="en-US" sz="1100" b="1" dirty="0">
                <a:solidFill>
                  <a:srgbClr val="4A00E2"/>
                </a:solidFill>
                <a:latin typeface="Arial"/>
                <a:cs typeface="Arial"/>
              </a:rPr>
              <a:t>COST BURDEN · PLAN-PAID PER-MEMBER-PER-MONTH (n=5,624, first </a:t>
            </a:r>
            <a:r>
              <a:rPr lang="en-US" sz="1100" b="1" dirty="0" err="1">
                <a:solidFill>
                  <a:srgbClr val="4A00E2"/>
                </a:solidFill>
                <a:latin typeface="Arial"/>
                <a:cs typeface="Arial"/>
              </a:rPr>
              <a:t>hypercap</a:t>
            </a:r>
            <a:r>
              <a:rPr lang="en-US" sz="1100" b="1" dirty="0">
                <a:solidFill>
                  <a:srgbClr val="4A00E2"/>
                </a:solidFill>
                <a:latin typeface="Arial"/>
                <a:cs typeface="Arial"/>
              </a:rPr>
              <a:t> RF hospitalization, 2016–2024)</a:t>
            </a:r>
          </a:p>
        </p:txBody>
      </p:sp>
      <p:sp>
        <p:nvSpPr>
          <p:cNvPr id="3" name="coststep">
            <a:extLst>
              <a:ext uri="{FF2B5EF4-FFF2-40B4-BE49-F238E27FC236}">
                <a16:creationId xmlns:a16="http://schemas.microsoft.com/office/drawing/2014/main" id="{6ADAA43F-5B79-6644-BC5B-7034B7E3C610}"/>
              </a:ext>
            </a:extLst>
          </p:cNvPr>
          <p:cNvSpPr/>
          <p:nvPr/>
        </p:nvSpPr>
        <p:spPr>
          <a:xfrm>
            <a:off x="711200" y="1981200"/>
            <a:ext cx="1549400" cy="1041400"/>
          </a:xfrm>
          <a:prstGeom prst="roundRect">
            <a:avLst/>
          </a:prstGeom>
          <a:solidFill>
            <a:srgbClr val="F4F1FF"/>
          </a:solidFill>
          <a:ln w="9525">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C5F10D9B-BAA2-F649-845B-96F7884F6D00}"/>
              </a:ext>
            </a:extLst>
          </p:cNvPr>
          <p:cNvSpPr txBox="1"/>
          <p:nvPr/>
        </p:nvSpPr>
        <p:spPr>
          <a:xfrm>
            <a:off x="838200" y="2133600"/>
            <a:ext cx="1295400" cy="177800"/>
          </a:xfrm>
          <a:prstGeom prst="rect">
            <a:avLst/>
          </a:prstGeom>
          <a:noFill/>
        </p:spPr>
        <p:txBody>
          <a:bodyPr vertOverflow="overflow" vert="horz" wrap="square" rtlCol="0" anchor="t">
            <a:spAutoFit/>
          </a:bodyPr>
          <a:lstStyle/>
          <a:p>
            <a:pPr algn="l"/>
            <a:r>
              <a:rPr lang="en-US" sz="1000" b="1">
                <a:solidFill>
                  <a:srgbClr val="4A00E2"/>
                </a:solidFill>
                <a:latin typeface="Arial"/>
                <a:cs typeface="Arial"/>
              </a:rPr>
              <a:t>Early baseline</a:t>
            </a:r>
          </a:p>
        </p:txBody>
      </p:sp>
      <p:sp>
        <p:nvSpPr>
          <p:cNvPr id="5" name="TextBox 4">
            <a:extLst>
              <a:ext uri="{FF2B5EF4-FFF2-40B4-BE49-F238E27FC236}">
                <a16:creationId xmlns:a16="http://schemas.microsoft.com/office/drawing/2014/main" id="{0C5E75A0-8A11-4C4D-BCD3-62594C164D4E}"/>
              </a:ext>
            </a:extLst>
          </p:cNvPr>
          <p:cNvSpPr txBox="1"/>
          <p:nvPr/>
        </p:nvSpPr>
        <p:spPr>
          <a:xfrm>
            <a:off x="838200" y="2362200"/>
            <a:ext cx="1295400" cy="304800"/>
          </a:xfrm>
          <a:prstGeom prst="rect">
            <a:avLst/>
          </a:prstGeom>
          <a:noFill/>
        </p:spPr>
        <p:txBody>
          <a:bodyPr vertOverflow="overflow" vert="horz" wrap="square" rtlCol="0" anchor="t">
            <a:spAutoFit/>
          </a:bodyPr>
          <a:lstStyle/>
          <a:p>
            <a:pPr algn="l"/>
            <a:r>
              <a:rPr lang="en-US" sz="1600" b="1">
                <a:solidFill>
                  <a:srgbClr val="110057"/>
                </a:solidFill>
                <a:latin typeface="Arial"/>
                <a:cs typeface="Arial"/>
              </a:rPr>
              <a:t>$3,571/mo</a:t>
            </a:r>
          </a:p>
        </p:txBody>
      </p:sp>
      <p:sp>
        <p:nvSpPr>
          <p:cNvPr id="7" name="TextBox 6">
            <a:extLst>
              <a:ext uri="{FF2B5EF4-FFF2-40B4-BE49-F238E27FC236}">
                <a16:creationId xmlns:a16="http://schemas.microsoft.com/office/drawing/2014/main" id="{5BEDAFD9-F0F6-8647-A2C7-FB19B440830E}"/>
              </a:ext>
            </a:extLst>
          </p:cNvPr>
          <p:cNvSpPr txBox="1"/>
          <p:nvPr/>
        </p:nvSpPr>
        <p:spPr>
          <a:xfrm>
            <a:off x="838200" y="2717800"/>
            <a:ext cx="1295400" cy="381000"/>
          </a:xfrm>
          <a:prstGeom prst="rect">
            <a:avLst/>
          </a:prstGeom>
          <a:noFill/>
        </p:spPr>
        <p:txBody>
          <a:bodyPr vertOverflow="overflow" vert="horz" wrap="square" rtlCol="0" anchor="t">
            <a:spAutoFit/>
          </a:bodyPr>
          <a:lstStyle/>
          <a:p>
            <a:pPr algn="l"/>
            <a:r>
              <a:rPr lang="en-US" sz="900">
                <a:solidFill>
                  <a:srgbClr val="2A2340"/>
                </a:solidFill>
                <a:latin typeface="Arial"/>
                <a:cs typeface="Arial"/>
              </a:rPr>
              <a:t>months −12 to −4</a:t>
            </a:r>
          </a:p>
        </p:txBody>
      </p:sp>
      <p:sp>
        <p:nvSpPr>
          <p:cNvPr id="8" name="coststep">
            <a:extLst>
              <a:ext uri="{FF2B5EF4-FFF2-40B4-BE49-F238E27FC236}">
                <a16:creationId xmlns:a16="http://schemas.microsoft.com/office/drawing/2014/main" id="{F63A7FA0-EE95-4F4B-927D-88632FE5E0FF}"/>
              </a:ext>
            </a:extLst>
          </p:cNvPr>
          <p:cNvSpPr/>
          <p:nvPr/>
        </p:nvSpPr>
        <p:spPr>
          <a:xfrm>
            <a:off x="2768600" y="1981200"/>
            <a:ext cx="1549400" cy="1041400"/>
          </a:xfrm>
          <a:prstGeom prst="roundRect">
            <a:avLst/>
          </a:prstGeom>
          <a:solidFill>
            <a:srgbClr val="F4F1FF"/>
          </a:solidFill>
          <a:ln w="9525">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A6BF7AB3-F955-BF47-9411-77776971998E}"/>
              </a:ext>
            </a:extLst>
          </p:cNvPr>
          <p:cNvSpPr txBox="1"/>
          <p:nvPr/>
        </p:nvSpPr>
        <p:spPr>
          <a:xfrm>
            <a:off x="2895600" y="2133600"/>
            <a:ext cx="1295400" cy="177800"/>
          </a:xfrm>
          <a:prstGeom prst="rect">
            <a:avLst/>
          </a:prstGeom>
          <a:noFill/>
        </p:spPr>
        <p:txBody>
          <a:bodyPr vertOverflow="overflow" vert="horz" wrap="square" rtlCol="0" anchor="t">
            <a:spAutoFit/>
          </a:bodyPr>
          <a:lstStyle/>
          <a:p>
            <a:pPr algn="l"/>
            <a:r>
              <a:rPr lang="en-US" sz="1000" b="1">
                <a:solidFill>
                  <a:srgbClr val="4A00E2"/>
                </a:solidFill>
                <a:latin typeface="Arial"/>
                <a:cs typeface="Arial"/>
              </a:rPr>
              <a:t>Pre-index 3 mo</a:t>
            </a:r>
          </a:p>
        </p:txBody>
      </p:sp>
      <p:sp>
        <p:nvSpPr>
          <p:cNvPr id="10" name="TextBox 9">
            <a:extLst>
              <a:ext uri="{FF2B5EF4-FFF2-40B4-BE49-F238E27FC236}">
                <a16:creationId xmlns:a16="http://schemas.microsoft.com/office/drawing/2014/main" id="{9CAA7B8E-E3EA-0349-8D71-CA2E724D6E3B}"/>
              </a:ext>
            </a:extLst>
          </p:cNvPr>
          <p:cNvSpPr txBox="1"/>
          <p:nvPr/>
        </p:nvSpPr>
        <p:spPr>
          <a:xfrm>
            <a:off x="2895600" y="2362200"/>
            <a:ext cx="1295400" cy="304800"/>
          </a:xfrm>
          <a:prstGeom prst="rect">
            <a:avLst/>
          </a:prstGeom>
          <a:noFill/>
        </p:spPr>
        <p:txBody>
          <a:bodyPr vertOverflow="overflow" vert="horz" wrap="square" rtlCol="0" anchor="t">
            <a:spAutoFit/>
          </a:bodyPr>
          <a:lstStyle/>
          <a:p>
            <a:pPr algn="l"/>
            <a:r>
              <a:rPr lang="en-US" sz="1600" b="1">
                <a:solidFill>
                  <a:srgbClr val="110057"/>
                </a:solidFill>
                <a:latin typeface="Arial"/>
                <a:cs typeface="Arial"/>
              </a:rPr>
              <a:t>$6,311/mo</a:t>
            </a:r>
          </a:p>
        </p:txBody>
      </p:sp>
      <p:sp>
        <p:nvSpPr>
          <p:cNvPr id="11" name="TextBox 10">
            <a:extLst>
              <a:ext uri="{FF2B5EF4-FFF2-40B4-BE49-F238E27FC236}">
                <a16:creationId xmlns:a16="http://schemas.microsoft.com/office/drawing/2014/main" id="{06B889A7-FE51-B949-9B70-10A93359B8EF}"/>
              </a:ext>
            </a:extLst>
          </p:cNvPr>
          <p:cNvSpPr txBox="1"/>
          <p:nvPr/>
        </p:nvSpPr>
        <p:spPr>
          <a:xfrm>
            <a:off x="2895600" y="2717800"/>
            <a:ext cx="1295400" cy="381000"/>
          </a:xfrm>
          <a:prstGeom prst="rect">
            <a:avLst/>
          </a:prstGeom>
          <a:noFill/>
        </p:spPr>
        <p:txBody>
          <a:bodyPr vertOverflow="overflow" vert="horz" wrap="square" rtlCol="0" anchor="t">
            <a:spAutoFit/>
          </a:bodyPr>
          <a:lstStyle/>
          <a:p>
            <a:pPr algn="l"/>
            <a:r>
              <a:rPr lang="en-US" sz="900">
                <a:solidFill>
                  <a:srgbClr val="2A2340"/>
                </a:solidFill>
                <a:latin typeface="Arial"/>
                <a:cs typeface="Arial"/>
              </a:rPr>
              <a:t>+77% vs baseline</a:t>
            </a:r>
          </a:p>
        </p:txBody>
      </p:sp>
      <p:sp>
        <p:nvSpPr>
          <p:cNvPr id="12" name="coststep">
            <a:extLst>
              <a:ext uri="{FF2B5EF4-FFF2-40B4-BE49-F238E27FC236}">
                <a16:creationId xmlns:a16="http://schemas.microsoft.com/office/drawing/2014/main" id="{E1C1D516-9978-3B42-A0F0-F6FCFD075ED3}"/>
              </a:ext>
            </a:extLst>
          </p:cNvPr>
          <p:cNvSpPr/>
          <p:nvPr/>
        </p:nvSpPr>
        <p:spPr>
          <a:xfrm>
            <a:off x="4826000" y="1981200"/>
            <a:ext cx="1549400" cy="1041400"/>
          </a:xfrm>
          <a:prstGeom prst="roundRect">
            <a:avLst/>
          </a:prstGeom>
          <a:solidFill>
            <a:srgbClr val="110057"/>
          </a:solidFill>
          <a:ln w="9525">
            <a:solidFill>
              <a:srgbClr val="1100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9A486CB7-2001-A742-912D-0E0AFDC6E8C4}"/>
              </a:ext>
            </a:extLst>
          </p:cNvPr>
          <p:cNvSpPr txBox="1"/>
          <p:nvPr/>
        </p:nvSpPr>
        <p:spPr>
          <a:xfrm>
            <a:off x="4953000" y="2133600"/>
            <a:ext cx="1295400" cy="177800"/>
          </a:xfrm>
          <a:prstGeom prst="rect">
            <a:avLst/>
          </a:prstGeom>
          <a:noFill/>
        </p:spPr>
        <p:txBody>
          <a:bodyPr vertOverflow="overflow" vert="horz" wrap="square" rtlCol="0" anchor="t">
            <a:spAutoFit/>
          </a:bodyPr>
          <a:lstStyle/>
          <a:p>
            <a:pPr algn="l"/>
            <a:r>
              <a:rPr lang="en-US" sz="1000" b="1">
                <a:solidFill>
                  <a:srgbClr val="C9BFFF"/>
                </a:solidFill>
                <a:latin typeface="Arial"/>
                <a:cs typeface="Arial"/>
              </a:rPr>
              <a:t>Index month</a:t>
            </a:r>
          </a:p>
        </p:txBody>
      </p:sp>
      <p:sp>
        <p:nvSpPr>
          <p:cNvPr id="14" name="TextBox 13">
            <a:extLst>
              <a:ext uri="{FF2B5EF4-FFF2-40B4-BE49-F238E27FC236}">
                <a16:creationId xmlns:a16="http://schemas.microsoft.com/office/drawing/2014/main" id="{B40BD6B3-9DC5-AC4F-83FD-270163929590}"/>
              </a:ext>
            </a:extLst>
          </p:cNvPr>
          <p:cNvSpPr txBox="1"/>
          <p:nvPr/>
        </p:nvSpPr>
        <p:spPr>
          <a:xfrm>
            <a:off x="4953000" y="2362200"/>
            <a:ext cx="1295400" cy="304800"/>
          </a:xfrm>
          <a:prstGeom prst="rect">
            <a:avLst/>
          </a:prstGeom>
          <a:noFill/>
        </p:spPr>
        <p:txBody>
          <a:bodyPr vertOverflow="overflow" vert="horz" wrap="square" rtlCol="0" anchor="t">
            <a:spAutoFit/>
          </a:bodyPr>
          <a:lstStyle/>
          <a:p>
            <a:pPr algn="l"/>
            <a:r>
              <a:rPr lang="en-US" b="1">
                <a:solidFill>
                  <a:srgbClr val="FFFFFF"/>
                </a:solidFill>
                <a:latin typeface="Arial"/>
                <a:cs typeface="Arial"/>
              </a:rPr>
              <a:t>$50,084</a:t>
            </a:r>
          </a:p>
        </p:txBody>
      </p:sp>
      <p:sp>
        <p:nvSpPr>
          <p:cNvPr id="18" name="TextBox 17">
            <a:extLst>
              <a:ext uri="{FF2B5EF4-FFF2-40B4-BE49-F238E27FC236}">
                <a16:creationId xmlns:a16="http://schemas.microsoft.com/office/drawing/2014/main" id="{9CF40235-64B7-194A-8922-273BC4304DF0}"/>
              </a:ext>
            </a:extLst>
          </p:cNvPr>
          <p:cNvSpPr txBox="1"/>
          <p:nvPr/>
        </p:nvSpPr>
        <p:spPr>
          <a:xfrm>
            <a:off x="4953000" y="2717800"/>
            <a:ext cx="1295400" cy="381000"/>
          </a:xfrm>
          <a:prstGeom prst="rect">
            <a:avLst/>
          </a:prstGeom>
          <a:noFill/>
        </p:spPr>
        <p:txBody>
          <a:bodyPr vertOverflow="overflow" vert="horz" wrap="square" rtlCol="0" anchor="t">
            <a:spAutoFit/>
          </a:bodyPr>
          <a:lstStyle/>
          <a:p>
            <a:pPr algn="l"/>
            <a:r>
              <a:rPr lang="en-US" sz="900">
                <a:solidFill>
                  <a:srgbClr val="DCD6FF"/>
                </a:solidFill>
                <a:latin typeface="Arial"/>
                <a:cs typeface="Arial"/>
              </a:rPr>
              <a:t>≈14× baseline · 84% inpatient</a:t>
            </a:r>
          </a:p>
        </p:txBody>
      </p:sp>
      <p:sp>
        <p:nvSpPr>
          <p:cNvPr id="36" name="coststep">
            <a:extLst>
              <a:ext uri="{FF2B5EF4-FFF2-40B4-BE49-F238E27FC236}">
                <a16:creationId xmlns:a16="http://schemas.microsoft.com/office/drawing/2014/main" id="{53080DE9-31EB-A44B-8485-E56E53004853}"/>
              </a:ext>
            </a:extLst>
          </p:cNvPr>
          <p:cNvSpPr/>
          <p:nvPr/>
        </p:nvSpPr>
        <p:spPr>
          <a:xfrm>
            <a:off x="6883400" y="1981200"/>
            <a:ext cx="1549400" cy="1041400"/>
          </a:xfrm>
          <a:prstGeom prst="roundRect">
            <a:avLst/>
          </a:prstGeom>
          <a:solidFill>
            <a:srgbClr val="F4F1FF"/>
          </a:solidFill>
          <a:ln w="9525">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TextBox 36">
            <a:extLst>
              <a:ext uri="{FF2B5EF4-FFF2-40B4-BE49-F238E27FC236}">
                <a16:creationId xmlns:a16="http://schemas.microsoft.com/office/drawing/2014/main" id="{1E84F0C4-859F-A346-A356-3B8AF2B17CFD}"/>
              </a:ext>
            </a:extLst>
          </p:cNvPr>
          <p:cNvSpPr txBox="1"/>
          <p:nvPr/>
        </p:nvSpPr>
        <p:spPr>
          <a:xfrm>
            <a:off x="7010400" y="2133600"/>
            <a:ext cx="1295400" cy="177800"/>
          </a:xfrm>
          <a:prstGeom prst="rect">
            <a:avLst/>
          </a:prstGeom>
          <a:noFill/>
        </p:spPr>
        <p:txBody>
          <a:bodyPr vertOverflow="overflow" vert="horz" wrap="square" rtlCol="0" anchor="t">
            <a:spAutoFit/>
          </a:bodyPr>
          <a:lstStyle/>
          <a:p>
            <a:pPr algn="l"/>
            <a:r>
              <a:rPr lang="en-US" sz="1000" b="1">
                <a:solidFill>
                  <a:srgbClr val="4A00E2"/>
                </a:solidFill>
                <a:latin typeface="Arial"/>
                <a:cs typeface="Arial"/>
              </a:rPr>
              <a:t>Post-index 3 mo</a:t>
            </a:r>
          </a:p>
        </p:txBody>
      </p:sp>
      <p:sp>
        <p:nvSpPr>
          <p:cNvPr id="38" name="TextBox 37">
            <a:extLst>
              <a:ext uri="{FF2B5EF4-FFF2-40B4-BE49-F238E27FC236}">
                <a16:creationId xmlns:a16="http://schemas.microsoft.com/office/drawing/2014/main" id="{096649DB-C096-0545-9B12-D47A15413967}"/>
              </a:ext>
            </a:extLst>
          </p:cNvPr>
          <p:cNvSpPr txBox="1"/>
          <p:nvPr/>
        </p:nvSpPr>
        <p:spPr>
          <a:xfrm>
            <a:off x="7010400" y="2362200"/>
            <a:ext cx="1295400" cy="304800"/>
          </a:xfrm>
          <a:prstGeom prst="rect">
            <a:avLst/>
          </a:prstGeom>
          <a:noFill/>
        </p:spPr>
        <p:txBody>
          <a:bodyPr vertOverflow="overflow" vert="horz" wrap="square" rtlCol="0" anchor="t">
            <a:spAutoFit/>
          </a:bodyPr>
          <a:lstStyle/>
          <a:p>
            <a:pPr algn="l"/>
            <a:r>
              <a:rPr lang="en-US" sz="1600" b="1">
                <a:solidFill>
                  <a:srgbClr val="110057"/>
                </a:solidFill>
                <a:latin typeface="Arial"/>
                <a:cs typeface="Arial"/>
              </a:rPr>
              <a:t>$6,121/mo</a:t>
            </a:r>
          </a:p>
        </p:txBody>
      </p:sp>
      <p:sp>
        <p:nvSpPr>
          <p:cNvPr id="39" name="TextBox 38">
            <a:extLst>
              <a:ext uri="{FF2B5EF4-FFF2-40B4-BE49-F238E27FC236}">
                <a16:creationId xmlns:a16="http://schemas.microsoft.com/office/drawing/2014/main" id="{A621E956-1952-1D4B-AFA3-D942746DCF93}"/>
              </a:ext>
            </a:extLst>
          </p:cNvPr>
          <p:cNvSpPr txBox="1"/>
          <p:nvPr/>
        </p:nvSpPr>
        <p:spPr>
          <a:xfrm>
            <a:off x="7010400" y="2717800"/>
            <a:ext cx="1295400" cy="381000"/>
          </a:xfrm>
          <a:prstGeom prst="rect">
            <a:avLst/>
          </a:prstGeom>
          <a:noFill/>
        </p:spPr>
        <p:txBody>
          <a:bodyPr vertOverflow="overflow" vert="horz" wrap="square" rtlCol="0" anchor="t">
            <a:spAutoFit/>
          </a:bodyPr>
          <a:lstStyle/>
          <a:p>
            <a:pPr algn="l"/>
            <a:r>
              <a:rPr lang="en-US" sz="900">
                <a:solidFill>
                  <a:srgbClr val="2A2340"/>
                </a:solidFill>
                <a:latin typeface="Arial"/>
                <a:cs typeface="Arial"/>
              </a:rPr>
              <a:t>+71% vs baseline</a:t>
            </a:r>
          </a:p>
        </p:txBody>
      </p:sp>
      <p:sp>
        <p:nvSpPr>
          <p:cNvPr id="40" name="cost_arrow">
            <a:extLst>
              <a:ext uri="{FF2B5EF4-FFF2-40B4-BE49-F238E27FC236}">
                <a16:creationId xmlns:a16="http://schemas.microsoft.com/office/drawing/2014/main" id="{64C26100-7B93-D942-AE0D-81D1BADD95BC}"/>
              </a:ext>
            </a:extLst>
          </p:cNvPr>
          <p:cNvSpPr/>
          <p:nvPr/>
        </p:nvSpPr>
        <p:spPr>
          <a:xfrm>
            <a:off x="2413000" y="2400300"/>
            <a:ext cx="330200" cy="203200"/>
          </a:xfrm>
          <a:prstGeom prst="rightArrow">
            <a:avLst/>
          </a:prstGeom>
          <a:solidFill>
            <a:srgbClr val="4B00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cost_arrow">
            <a:extLst>
              <a:ext uri="{FF2B5EF4-FFF2-40B4-BE49-F238E27FC236}">
                <a16:creationId xmlns:a16="http://schemas.microsoft.com/office/drawing/2014/main" id="{F2BA6814-F622-1A4A-9CAF-6B3E0CED06B7}"/>
              </a:ext>
            </a:extLst>
          </p:cNvPr>
          <p:cNvSpPr/>
          <p:nvPr/>
        </p:nvSpPr>
        <p:spPr>
          <a:xfrm>
            <a:off x="4470400" y="2400300"/>
            <a:ext cx="330200" cy="203200"/>
          </a:xfrm>
          <a:prstGeom prst="rightArrow">
            <a:avLst/>
          </a:prstGeom>
          <a:solidFill>
            <a:srgbClr val="4B00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cost_arrow">
            <a:extLst>
              <a:ext uri="{FF2B5EF4-FFF2-40B4-BE49-F238E27FC236}">
                <a16:creationId xmlns:a16="http://schemas.microsoft.com/office/drawing/2014/main" id="{7081C1CA-F2C6-D04F-B06B-18E3D721DACB}"/>
              </a:ext>
            </a:extLst>
          </p:cNvPr>
          <p:cNvSpPr/>
          <p:nvPr/>
        </p:nvSpPr>
        <p:spPr>
          <a:xfrm>
            <a:off x="6527800" y="2400300"/>
            <a:ext cx="330200" cy="203200"/>
          </a:xfrm>
          <a:prstGeom prst="rightArrow">
            <a:avLst/>
          </a:prstGeom>
          <a:solidFill>
            <a:srgbClr val="4B00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cost_source">
            <a:extLst>
              <a:ext uri="{FF2B5EF4-FFF2-40B4-BE49-F238E27FC236}">
                <a16:creationId xmlns:a16="http://schemas.microsoft.com/office/drawing/2014/main" id="{45E35748-8602-A048-836B-46947AF0E608}"/>
              </a:ext>
            </a:extLst>
          </p:cNvPr>
          <p:cNvSpPr txBox="1"/>
          <p:nvPr/>
        </p:nvSpPr>
        <p:spPr>
          <a:xfrm>
            <a:off x="711200" y="3187846"/>
            <a:ext cx="7721600" cy="177800"/>
          </a:xfrm>
          <a:prstGeom prst="rect">
            <a:avLst/>
          </a:prstGeom>
          <a:noFill/>
        </p:spPr>
        <p:txBody>
          <a:bodyPr vertOverflow="overflow" vert="horz" wrap="square" rtlCol="0" anchor="t">
            <a:spAutoFit/>
          </a:bodyPr>
          <a:lstStyle/>
          <a:p>
            <a:pPr algn="l"/>
            <a:r>
              <a:rPr lang="en-US" sz="1000" dirty="0">
                <a:solidFill>
                  <a:srgbClr val="7A7A7A"/>
                </a:solidFill>
                <a:latin typeface="Arial"/>
                <a:cs typeface="Arial"/>
              </a:rPr>
              <a:t>Locke et al., ATS 2026 — </a:t>
            </a:r>
            <a:r>
              <a:rPr lang="en-US" sz="1000" dirty="0" err="1">
                <a:solidFill>
                  <a:srgbClr val="7A7A7A"/>
                </a:solidFill>
                <a:latin typeface="Arial"/>
                <a:cs typeface="Arial"/>
              </a:rPr>
              <a:t>SelectHealth</a:t>
            </a:r>
            <a:r>
              <a:rPr lang="en-US" sz="1000" dirty="0">
                <a:solidFill>
                  <a:srgbClr val="7A7A7A"/>
                </a:solidFill>
                <a:latin typeface="Arial"/>
                <a:cs typeface="Arial"/>
              </a:rPr>
              <a:t>/Intermountain cohort, 2016–2024; nominal insurer-paid claims.</a:t>
            </a:r>
          </a:p>
        </p:txBody>
      </p:sp>
      <p:sp>
        <p:nvSpPr>
          <p:cNvPr id="19" name="cost_source">
            <a:extLst>
              <a:ext uri="{FF2B5EF4-FFF2-40B4-BE49-F238E27FC236}">
                <a16:creationId xmlns:a16="http://schemas.microsoft.com/office/drawing/2014/main" id="{3C005E96-55C0-23B5-B862-ACE3FED556BF}"/>
              </a:ext>
            </a:extLst>
          </p:cNvPr>
          <p:cNvSpPr txBox="1"/>
          <p:nvPr/>
        </p:nvSpPr>
        <p:spPr>
          <a:xfrm>
            <a:off x="699216" y="4501224"/>
            <a:ext cx="7721600" cy="246221"/>
          </a:xfrm>
          <a:prstGeom prst="rect">
            <a:avLst/>
          </a:prstGeom>
          <a:noFill/>
        </p:spPr>
        <p:txBody>
          <a:bodyPr vertOverflow="overflow" vert="horz" wrap="square" rtlCol="0" anchor="t">
            <a:spAutoFit/>
          </a:bodyPr>
          <a:lstStyle/>
          <a:p>
            <a:pPr algn="l"/>
            <a:r>
              <a:rPr lang="en-US" sz="1000" dirty="0">
                <a:solidFill>
                  <a:srgbClr val="7A7A7A"/>
                </a:solidFill>
                <a:latin typeface="Arial"/>
                <a:cs typeface="Arial"/>
              </a:rPr>
              <a:t>Locke et al., ATS 2025 — Utah All Payor Claims Data, 2016–2024</a:t>
            </a:r>
          </a:p>
        </p:txBody>
      </p:sp>
    </p:spTree>
    <p:extLst>
      <p:ext uri="{BB962C8B-B14F-4D97-AF65-F5344CB8AC3E}">
        <p14:creationId xmlns:p14="http://schemas.microsoft.com/office/powerpoint/2010/main" val="2301734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A4C21795-2A1E-0642-A902-E7E624569E14}"/>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964E14AF-677B-7243-BC1E-0BB83059EE56}"/>
              </a:ext>
            </a:extLst>
          </p:cNvPr>
          <p:cNvSpPr/>
          <p:nvPr/>
        </p:nvSpPr>
        <p:spPr>
          <a:xfrm>
            <a:off x="355600" y="723900"/>
            <a:ext cx="63500" cy="3657600"/>
          </a:xfrm>
          <a:prstGeom prst="rect">
            <a:avLst/>
          </a:prstGeom>
          <a:solidFill>
            <a:srgbClr val="4A00E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C4AF1EB8-7617-DA46-BAF7-665C56FC330A}"/>
              </a:ext>
            </a:extLst>
          </p:cNvPr>
          <p:cNvSpPr txBox="1"/>
          <p:nvPr/>
        </p:nvSpPr>
        <p:spPr>
          <a:xfrm>
            <a:off x="558800" y="279400"/>
            <a:ext cx="5461000" cy="261610"/>
          </a:xfrm>
          <a:prstGeom prst="rect">
            <a:avLst/>
          </a:prstGeom>
          <a:noFill/>
        </p:spPr>
        <p:txBody>
          <a:bodyPr vertOverflow="overflow" vert="horz" wrap="square" rtlCol="0" anchor="t">
            <a:spAutoFit/>
          </a:bodyPr>
          <a:lstStyle/>
          <a:p>
            <a:pPr algn="l">
              <a:buNone/>
            </a:pPr>
            <a:r>
              <a:rPr lang="en-US" sz="1100" b="1" dirty="0">
                <a:solidFill>
                  <a:srgbClr val="4A00E2"/>
                </a:solidFill>
                <a:latin typeface="Arial"/>
                <a:ea typeface="Arial"/>
                <a:cs typeface="Arial"/>
              </a:rPr>
              <a:t>RISK TARGETING | HIGH-RISK, UNDER-MANAGED</a:t>
            </a:r>
          </a:p>
        </p:txBody>
      </p:sp>
      <p:sp>
        <p:nvSpPr>
          <p:cNvPr id="39" name="TextBox 38">
            <a:extLst>
              <a:ext uri="{FF2B5EF4-FFF2-40B4-BE49-F238E27FC236}">
                <a16:creationId xmlns:a16="http://schemas.microsoft.com/office/drawing/2014/main" id="{67A73B03-06BC-DE45-8287-9ECF3D05509B}"/>
              </a:ext>
            </a:extLst>
          </p:cNvPr>
          <p:cNvSpPr txBox="1"/>
          <p:nvPr/>
        </p:nvSpPr>
        <p:spPr>
          <a:xfrm>
            <a:off x="558800" y="508000"/>
            <a:ext cx="7975600" cy="461665"/>
          </a:xfrm>
          <a:prstGeom prst="rect">
            <a:avLst/>
          </a:prstGeom>
          <a:noFill/>
        </p:spPr>
        <p:txBody>
          <a:bodyPr vertOverflow="overflow" vert="horz" wrap="square" rtlCol="0" anchor="t">
            <a:spAutoFit/>
          </a:bodyPr>
          <a:lstStyle/>
          <a:p>
            <a:pPr algn="l"/>
            <a:r>
              <a:rPr lang="en-US" sz="2400" b="1" dirty="0">
                <a:solidFill>
                  <a:srgbClr val="110057"/>
                </a:solidFill>
                <a:latin typeface="Arial"/>
                <a:ea typeface="Arial"/>
                <a:cs typeface="Arial"/>
              </a:rPr>
              <a:t>Identifiers of high-risk, under-managed patients</a:t>
            </a:r>
          </a:p>
        </p:txBody>
      </p:sp>
      <p:sp>
        <p:nvSpPr>
          <p:cNvPr id="52" name="Rectangle 51">
            <a:extLst>
              <a:ext uri="{FF2B5EF4-FFF2-40B4-BE49-F238E27FC236}">
                <a16:creationId xmlns:a16="http://schemas.microsoft.com/office/drawing/2014/main" id="{09EFFEF0-F5D7-E541-8B65-B30C7378C6CD}"/>
              </a:ext>
            </a:extLst>
          </p:cNvPr>
          <p:cNvSpPr/>
          <p:nvPr/>
        </p:nvSpPr>
        <p:spPr>
          <a:xfrm>
            <a:off x="812800" y="1498599"/>
            <a:ext cx="2362200" cy="2689301"/>
          </a:xfrm>
          <a:prstGeom prst="rect">
            <a:avLst/>
          </a:prstGeom>
          <a:solidFill>
            <a:srgbClr val="FFFFFF"/>
          </a:solidFill>
          <a:ln w="12700">
            <a:solidFill>
              <a:srgbClr val="D9D3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79163958-0E06-BD42-A225-1D8F788E6559}"/>
              </a:ext>
            </a:extLst>
          </p:cNvPr>
          <p:cNvSpPr/>
          <p:nvPr/>
        </p:nvSpPr>
        <p:spPr>
          <a:xfrm>
            <a:off x="3403600" y="1498600"/>
            <a:ext cx="2260600" cy="2692400"/>
          </a:xfrm>
          <a:prstGeom prst="rect">
            <a:avLst/>
          </a:prstGeom>
          <a:solidFill>
            <a:srgbClr val="FFFFFF"/>
          </a:solidFill>
          <a:ln w="12700">
            <a:solidFill>
              <a:srgbClr val="D9D3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480352E5-4797-E648-939B-6834E4758EC6}"/>
              </a:ext>
            </a:extLst>
          </p:cNvPr>
          <p:cNvSpPr/>
          <p:nvPr/>
        </p:nvSpPr>
        <p:spPr>
          <a:xfrm>
            <a:off x="5994400" y="1498600"/>
            <a:ext cx="2260600" cy="2692400"/>
          </a:xfrm>
          <a:prstGeom prst="rect">
            <a:avLst/>
          </a:prstGeom>
          <a:solidFill>
            <a:srgbClr val="FFFFFF"/>
          </a:solidFill>
          <a:ln w="12700">
            <a:solidFill>
              <a:srgbClr val="D9D3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Rectangle 54">
            <a:extLst>
              <a:ext uri="{FF2B5EF4-FFF2-40B4-BE49-F238E27FC236}">
                <a16:creationId xmlns:a16="http://schemas.microsoft.com/office/drawing/2014/main" id="{3A59A5BD-3A93-8F4C-A477-09E061336253}"/>
              </a:ext>
            </a:extLst>
          </p:cNvPr>
          <p:cNvSpPr/>
          <p:nvPr/>
        </p:nvSpPr>
        <p:spPr>
          <a:xfrm>
            <a:off x="3175000" y="2463800"/>
            <a:ext cx="228600" cy="38100"/>
          </a:xfrm>
          <a:prstGeom prst="rect">
            <a:avLst/>
          </a:prstGeom>
          <a:solidFill>
            <a:srgbClr val="D9D3E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Rectangle 55">
            <a:extLst>
              <a:ext uri="{FF2B5EF4-FFF2-40B4-BE49-F238E27FC236}">
                <a16:creationId xmlns:a16="http://schemas.microsoft.com/office/drawing/2014/main" id="{EE3FC804-8A3D-394B-A070-DF41ABACA9E5}"/>
              </a:ext>
            </a:extLst>
          </p:cNvPr>
          <p:cNvSpPr/>
          <p:nvPr/>
        </p:nvSpPr>
        <p:spPr>
          <a:xfrm>
            <a:off x="5765800" y="2463800"/>
            <a:ext cx="228600" cy="38100"/>
          </a:xfrm>
          <a:prstGeom prst="rect">
            <a:avLst/>
          </a:prstGeom>
          <a:solidFill>
            <a:srgbClr val="D9D3E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Rectangle 56">
            <a:extLst>
              <a:ext uri="{FF2B5EF4-FFF2-40B4-BE49-F238E27FC236}">
                <a16:creationId xmlns:a16="http://schemas.microsoft.com/office/drawing/2014/main" id="{730856BD-B872-C74D-A591-E2B1B79A88AA}"/>
              </a:ext>
            </a:extLst>
          </p:cNvPr>
          <p:cNvSpPr/>
          <p:nvPr/>
        </p:nvSpPr>
        <p:spPr>
          <a:xfrm>
            <a:off x="965200" y="1651000"/>
            <a:ext cx="1073150" cy="168077"/>
          </a:xfrm>
          <a:prstGeom prst="rect">
            <a:avLst/>
          </a:prstGeom>
          <a:solidFill>
            <a:srgbClr val="FF5D5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900" b="1" dirty="0">
                <a:solidFill>
                  <a:srgbClr val="FFFFFF"/>
                </a:solidFill>
                <a:latin typeface="Arial"/>
                <a:ea typeface="Arial"/>
                <a:cs typeface="Arial"/>
              </a:rPr>
              <a:t>WILSON ET AL.</a:t>
            </a:r>
          </a:p>
        </p:txBody>
      </p:sp>
      <p:sp>
        <p:nvSpPr>
          <p:cNvPr id="58" name="TextBox 57">
            <a:extLst>
              <a:ext uri="{FF2B5EF4-FFF2-40B4-BE49-F238E27FC236}">
                <a16:creationId xmlns:a16="http://schemas.microsoft.com/office/drawing/2014/main" id="{E896E7AB-69FD-CE41-AD07-DB3D6E20B6BE}"/>
              </a:ext>
            </a:extLst>
          </p:cNvPr>
          <p:cNvSpPr txBox="1"/>
          <p:nvPr/>
        </p:nvSpPr>
        <p:spPr>
          <a:xfrm>
            <a:off x="965200" y="1943100"/>
            <a:ext cx="1905000" cy="307777"/>
          </a:xfrm>
          <a:prstGeom prst="rect">
            <a:avLst/>
          </a:prstGeom>
          <a:noFill/>
        </p:spPr>
        <p:txBody>
          <a:bodyPr vertOverflow="overflow" vert="horz" wrap="square" rtlCol="0" anchor="t">
            <a:spAutoFit/>
          </a:bodyPr>
          <a:lstStyle/>
          <a:p>
            <a:pPr algn="l"/>
            <a:r>
              <a:rPr lang="en-US" sz="1400" b="1" dirty="0">
                <a:solidFill>
                  <a:srgbClr val="110057"/>
                </a:solidFill>
                <a:latin typeface="Arial"/>
                <a:ea typeface="Arial"/>
                <a:cs typeface="Arial"/>
              </a:rPr>
              <a:t>1  Risk signal</a:t>
            </a:r>
          </a:p>
        </p:txBody>
      </p:sp>
      <p:sp>
        <p:nvSpPr>
          <p:cNvPr id="59" name="TextBox 58">
            <a:extLst>
              <a:ext uri="{FF2B5EF4-FFF2-40B4-BE49-F238E27FC236}">
                <a16:creationId xmlns:a16="http://schemas.microsoft.com/office/drawing/2014/main" id="{8039207E-4861-364B-A1E8-2CD128D77E37}"/>
              </a:ext>
            </a:extLst>
          </p:cNvPr>
          <p:cNvSpPr txBox="1"/>
          <p:nvPr/>
        </p:nvSpPr>
        <p:spPr>
          <a:xfrm>
            <a:off x="965200" y="2286000"/>
            <a:ext cx="1917700" cy="1015663"/>
          </a:xfrm>
          <a:prstGeom prst="rect">
            <a:avLst/>
          </a:prstGeom>
          <a:noFill/>
        </p:spPr>
        <p:txBody>
          <a:bodyPr vertOverflow="overflow" vert="horz" wrap="square" rtlCol="0" anchor="t">
            <a:spAutoFit/>
          </a:bodyPr>
          <a:lstStyle/>
          <a:p>
            <a:pPr algn="l"/>
            <a:r>
              <a:rPr lang="en-US" sz="1200" dirty="0">
                <a:solidFill>
                  <a:srgbClr val="4A4170"/>
                </a:solidFill>
                <a:latin typeface="Arial"/>
                <a:ea typeface="Arial"/>
                <a:cs typeface="Arial"/>
              </a:rPr>
              <a:t>Wilson: PaCO</a:t>
            </a:r>
            <a:r>
              <a:rPr lang="en-US" sz="1200" baseline="-25000" dirty="0">
                <a:solidFill>
                  <a:srgbClr val="4A4170"/>
                </a:solidFill>
                <a:latin typeface="Arial"/>
                <a:ea typeface="Arial"/>
                <a:cs typeface="Arial"/>
              </a:rPr>
              <a:t>2</a:t>
            </a:r>
            <a:r>
              <a:rPr lang="en-US" sz="1200" dirty="0">
                <a:solidFill>
                  <a:srgbClr val="4A4170"/>
                </a:solidFill>
                <a:latin typeface="Arial"/>
                <a:ea typeface="Arial"/>
                <a:cs typeface="Arial"/>
              </a:rPr>
              <a:t> &gt;50 with normal pH was high risk — 44% died over median 592 days; 44% had ≥2 admissions in 1 year.</a:t>
            </a:r>
          </a:p>
        </p:txBody>
      </p:sp>
      <p:sp>
        <p:nvSpPr>
          <p:cNvPr id="60" name="TextBox 59">
            <a:extLst>
              <a:ext uri="{FF2B5EF4-FFF2-40B4-BE49-F238E27FC236}">
                <a16:creationId xmlns:a16="http://schemas.microsoft.com/office/drawing/2014/main" id="{798BE698-3515-E14F-B35F-E1818C2838DC}"/>
              </a:ext>
            </a:extLst>
          </p:cNvPr>
          <p:cNvSpPr txBox="1"/>
          <p:nvPr/>
        </p:nvSpPr>
        <p:spPr>
          <a:xfrm>
            <a:off x="977900" y="3356904"/>
            <a:ext cx="1905000" cy="646331"/>
          </a:xfrm>
          <a:prstGeom prst="rect">
            <a:avLst/>
          </a:prstGeom>
          <a:noFill/>
        </p:spPr>
        <p:txBody>
          <a:bodyPr vertOverflow="overflow" vert="horz" wrap="square" rtlCol="0" anchor="t">
            <a:spAutoFit/>
          </a:bodyPr>
          <a:lstStyle/>
          <a:p>
            <a:pPr algn="l"/>
            <a:r>
              <a:rPr lang="en-US" sz="1200" dirty="0">
                <a:solidFill>
                  <a:srgbClr val="4A4170"/>
                </a:solidFill>
                <a:latin typeface="Arial"/>
                <a:ea typeface="Arial"/>
                <a:cs typeface="Arial"/>
              </a:rPr>
              <a:t>Risk rose with higher PCO</a:t>
            </a:r>
            <a:r>
              <a:rPr lang="en-US" sz="1200" baseline="-25000" dirty="0">
                <a:solidFill>
                  <a:srgbClr val="4A4170"/>
                </a:solidFill>
                <a:latin typeface="Arial"/>
                <a:ea typeface="Arial"/>
                <a:cs typeface="Arial"/>
              </a:rPr>
              <a:t>2</a:t>
            </a:r>
            <a:r>
              <a:rPr lang="en-US" sz="1200" dirty="0">
                <a:solidFill>
                  <a:srgbClr val="4A4170"/>
                </a:solidFill>
                <a:latin typeface="Arial"/>
                <a:ea typeface="Arial"/>
                <a:cs typeface="Arial"/>
              </a:rPr>
              <a:t> (adj. HR 1.09 per 5 mmHg).</a:t>
            </a:r>
          </a:p>
        </p:txBody>
      </p:sp>
      <p:sp>
        <p:nvSpPr>
          <p:cNvPr id="61" name="Rectangle 60">
            <a:extLst>
              <a:ext uri="{FF2B5EF4-FFF2-40B4-BE49-F238E27FC236}">
                <a16:creationId xmlns:a16="http://schemas.microsoft.com/office/drawing/2014/main" id="{F12E25F6-1DA5-F54B-9EAD-120A4218D39B}"/>
              </a:ext>
            </a:extLst>
          </p:cNvPr>
          <p:cNvSpPr/>
          <p:nvPr/>
        </p:nvSpPr>
        <p:spPr>
          <a:xfrm>
            <a:off x="6165850" y="1642153"/>
            <a:ext cx="939800" cy="203200"/>
          </a:xfrm>
          <a:prstGeom prst="rect">
            <a:avLst/>
          </a:prstGeom>
          <a:solidFill>
            <a:srgbClr val="FF5D5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900" b="1" dirty="0">
                <a:solidFill>
                  <a:srgbClr val="FFFFFF"/>
                </a:solidFill>
                <a:latin typeface="Arial"/>
                <a:ea typeface="Arial"/>
                <a:cs typeface="Arial"/>
              </a:rPr>
              <a:t>PROPOSED</a:t>
            </a:r>
          </a:p>
        </p:txBody>
      </p:sp>
      <p:sp>
        <p:nvSpPr>
          <p:cNvPr id="62" name="TextBox 61">
            <a:extLst>
              <a:ext uri="{FF2B5EF4-FFF2-40B4-BE49-F238E27FC236}">
                <a16:creationId xmlns:a16="http://schemas.microsoft.com/office/drawing/2014/main" id="{89CE0796-1DE7-5F4C-B60F-793B63BFC5C2}"/>
              </a:ext>
            </a:extLst>
          </p:cNvPr>
          <p:cNvSpPr txBox="1"/>
          <p:nvPr/>
        </p:nvSpPr>
        <p:spPr>
          <a:xfrm>
            <a:off x="6165850" y="1934253"/>
            <a:ext cx="1905000" cy="523220"/>
          </a:xfrm>
          <a:prstGeom prst="rect">
            <a:avLst/>
          </a:prstGeom>
          <a:noFill/>
        </p:spPr>
        <p:txBody>
          <a:bodyPr vertOverflow="overflow" vert="horz" wrap="square" rtlCol="0" anchor="t">
            <a:spAutoFit/>
          </a:bodyPr>
          <a:lstStyle/>
          <a:p>
            <a:pPr algn="l"/>
            <a:r>
              <a:rPr lang="en-US" sz="1400" b="1" dirty="0">
                <a:solidFill>
                  <a:srgbClr val="110057"/>
                </a:solidFill>
                <a:latin typeface="Arial"/>
                <a:ea typeface="Arial"/>
                <a:cs typeface="Arial"/>
              </a:rPr>
              <a:t>3  High-risk phenotype</a:t>
            </a:r>
          </a:p>
        </p:txBody>
      </p:sp>
      <p:sp>
        <p:nvSpPr>
          <p:cNvPr id="63" name="TextBox 62">
            <a:extLst>
              <a:ext uri="{FF2B5EF4-FFF2-40B4-BE49-F238E27FC236}">
                <a16:creationId xmlns:a16="http://schemas.microsoft.com/office/drawing/2014/main" id="{F583107C-6F0F-434D-83BD-CDFA606561D4}"/>
              </a:ext>
            </a:extLst>
          </p:cNvPr>
          <p:cNvSpPr txBox="1"/>
          <p:nvPr/>
        </p:nvSpPr>
        <p:spPr>
          <a:xfrm>
            <a:off x="6165850" y="2493053"/>
            <a:ext cx="1917700" cy="1294970"/>
          </a:xfrm>
          <a:prstGeom prst="rect">
            <a:avLst/>
          </a:prstGeom>
          <a:noFill/>
        </p:spPr>
        <p:txBody>
          <a:bodyPr vertOverflow="overflow" vert="horz" wrap="square" rtlCol="0" anchor="t">
            <a:spAutoFit/>
          </a:bodyPr>
          <a:lstStyle/>
          <a:p>
            <a:pPr algn="l">
              <a:buNone/>
            </a:pPr>
            <a:r>
              <a:rPr lang="en-US" sz="1200" b="1" dirty="0">
                <a:solidFill>
                  <a:srgbClr val="110057"/>
                </a:solidFill>
                <a:latin typeface="Arial"/>
                <a:ea typeface="Arial"/>
                <a:cs typeface="Arial"/>
              </a:rPr>
              <a:t>Candidate high-risk signal:</a:t>
            </a:r>
          </a:p>
          <a:p>
            <a:pPr marL="142875" indent="-142875" algn="l">
              <a:lnSpc>
                <a:spcPts val="1500"/>
              </a:lnSpc>
              <a:spcAft>
                <a:spcPts val="300"/>
              </a:spcAft>
              <a:buFont typeface="Arial"/>
              <a:buChar char="•"/>
            </a:pPr>
            <a:r>
              <a:rPr lang="en-US" sz="1200" dirty="0">
                <a:solidFill>
                  <a:srgbClr val="4A4170"/>
                </a:solidFill>
                <a:latin typeface="Arial"/>
                <a:ea typeface="Arial"/>
                <a:cs typeface="Arial"/>
              </a:rPr>
              <a:t>High HCO₃</a:t>
            </a:r>
          </a:p>
          <a:p>
            <a:pPr marL="142875" indent="-142875" algn="l">
              <a:lnSpc>
                <a:spcPts val="1500"/>
              </a:lnSpc>
              <a:spcAft>
                <a:spcPts val="300"/>
              </a:spcAft>
              <a:buFont typeface="Arial"/>
              <a:buChar char="•"/>
            </a:pPr>
            <a:r>
              <a:rPr lang="en-US" sz="1200" dirty="0">
                <a:solidFill>
                  <a:srgbClr val="4A4170"/>
                </a:solidFill>
                <a:latin typeface="Arial"/>
                <a:ea typeface="Arial"/>
                <a:cs typeface="Arial"/>
              </a:rPr>
              <a:t>PCO₂ above borderline</a:t>
            </a:r>
          </a:p>
          <a:p>
            <a:pPr marL="142875" indent="-142875" algn="l">
              <a:lnSpc>
                <a:spcPts val="1500"/>
              </a:lnSpc>
              <a:spcAft>
                <a:spcPts val="300"/>
              </a:spcAft>
              <a:buFont typeface="Arial"/>
              <a:buChar char="•"/>
            </a:pPr>
            <a:r>
              <a:rPr lang="en-US" sz="1200" dirty="0">
                <a:solidFill>
                  <a:srgbClr val="4A4170"/>
                </a:solidFill>
                <a:latin typeface="Arial"/>
                <a:ea typeface="Arial"/>
                <a:cs typeface="Arial"/>
              </a:rPr>
              <a:t>No recent PFT / sleep / NIV review</a:t>
            </a:r>
          </a:p>
        </p:txBody>
      </p:sp>
      <p:sp>
        <p:nvSpPr>
          <p:cNvPr id="65" name="Rectangle 64">
            <a:extLst>
              <a:ext uri="{FF2B5EF4-FFF2-40B4-BE49-F238E27FC236}">
                <a16:creationId xmlns:a16="http://schemas.microsoft.com/office/drawing/2014/main" id="{B0CD4E6B-13AD-2F48-A3DE-71CD977B5127}"/>
              </a:ext>
            </a:extLst>
          </p:cNvPr>
          <p:cNvSpPr/>
          <p:nvPr/>
        </p:nvSpPr>
        <p:spPr>
          <a:xfrm>
            <a:off x="3657599" y="1651000"/>
            <a:ext cx="1099335" cy="228762"/>
          </a:xfrm>
          <a:prstGeom prst="rect">
            <a:avLst/>
          </a:prstGeom>
          <a:solidFill>
            <a:srgbClr val="FF5D5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900" b="1" dirty="0">
                <a:solidFill>
                  <a:srgbClr val="FFFFFF"/>
                </a:solidFill>
                <a:latin typeface="Arial"/>
                <a:ea typeface="Arial"/>
                <a:cs typeface="Arial"/>
              </a:rPr>
              <a:t>MERDAD ET AL.</a:t>
            </a:r>
          </a:p>
        </p:txBody>
      </p:sp>
      <p:sp>
        <p:nvSpPr>
          <p:cNvPr id="71" name="TextBox 70">
            <a:extLst>
              <a:ext uri="{FF2B5EF4-FFF2-40B4-BE49-F238E27FC236}">
                <a16:creationId xmlns:a16="http://schemas.microsoft.com/office/drawing/2014/main" id="{CD2DF60B-8231-9346-89FE-217280058F97}"/>
              </a:ext>
            </a:extLst>
          </p:cNvPr>
          <p:cNvSpPr txBox="1"/>
          <p:nvPr/>
        </p:nvSpPr>
        <p:spPr>
          <a:xfrm>
            <a:off x="3594100" y="2307118"/>
            <a:ext cx="1905000" cy="1938992"/>
          </a:xfrm>
          <a:prstGeom prst="rect">
            <a:avLst/>
          </a:prstGeom>
          <a:noFill/>
        </p:spPr>
        <p:txBody>
          <a:bodyPr vertOverflow="overflow" vert="horz" wrap="square" rtlCol="0" anchor="t">
            <a:spAutoFit/>
          </a:bodyPr>
          <a:lstStyle/>
          <a:p>
            <a:pPr algn="l">
              <a:lnSpc>
                <a:spcPts val="1500"/>
              </a:lnSpc>
              <a:spcAft>
                <a:spcPts val="600"/>
              </a:spcAft>
              <a:buNone/>
            </a:pPr>
            <a:r>
              <a:rPr lang="en-US" sz="1200" dirty="0">
                <a:solidFill>
                  <a:srgbClr val="4A4170"/>
                </a:solidFill>
                <a:latin typeface="Arial"/>
                <a:ea typeface="Arial"/>
                <a:cs typeface="Arial"/>
              </a:rPr>
              <a:t>ICD-coded cases and those with evidence of compensation more often had respiratory chief complaints in MIMIC-IV.</a:t>
            </a:r>
          </a:p>
          <a:p>
            <a:pPr algn="l">
              <a:lnSpc>
                <a:spcPts val="1500"/>
              </a:lnSpc>
              <a:buNone/>
            </a:pPr>
            <a:r>
              <a:rPr lang="en-US" sz="1200" b="1" dirty="0">
                <a:solidFill>
                  <a:srgbClr val="110057"/>
                </a:solidFill>
                <a:latin typeface="Arial"/>
                <a:ea typeface="Arial"/>
                <a:cs typeface="Arial"/>
              </a:rPr>
              <a:t>Both point to a primary respiratory problem needing chronic management.</a:t>
            </a:r>
          </a:p>
        </p:txBody>
      </p:sp>
      <p:sp>
        <p:nvSpPr>
          <p:cNvPr id="73" name="TextBox 72">
            <a:extLst>
              <a:ext uri="{FF2B5EF4-FFF2-40B4-BE49-F238E27FC236}">
                <a16:creationId xmlns:a16="http://schemas.microsoft.com/office/drawing/2014/main" id="{54AE8B6E-A107-E64F-BB94-6D31F49AA1D5}"/>
              </a:ext>
            </a:extLst>
          </p:cNvPr>
          <p:cNvSpPr txBox="1"/>
          <p:nvPr/>
        </p:nvSpPr>
        <p:spPr>
          <a:xfrm>
            <a:off x="812800" y="4978400"/>
            <a:ext cx="7429500" cy="215444"/>
          </a:xfrm>
          <a:prstGeom prst="rect">
            <a:avLst/>
          </a:prstGeom>
          <a:noFill/>
        </p:spPr>
        <p:txBody>
          <a:bodyPr vertOverflow="overflow" vert="horz" wrap="square" rtlCol="0" anchor="t">
            <a:spAutoFit/>
          </a:bodyPr>
          <a:lstStyle/>
          <a:p>
            <a:pPr algn="l">
              <a:buNone/>
            </a:pPr>
            <a:r>
              <a:rPr lang="en-US" sz="800" dirty="0">
                <a:solidFill>
                  <a:srgbClr val="7B8490"/>
                </a:solidFill>
                <a:latin typeface="Arial"/>
                <a:ea typeface="Arial"/>
                <a:cs typeface="Arial"/>
              </a:rPr>
              <a:t>Sources: Wilson et al., Ann Am Thorac Soc 2021; Merdad et al., manuscript draft. Phenotype proposed; validation needed.</a:t>
            </a:r>
          </a:p>
        </p:txBody>
      </p:sp>
      <p:sp>
        <p:nvSpPr>
          <p:cNvPr id="74" name="TextBox 73">
            <a:extLst>
              <a:ext uri="{FF2B5EF4-FFF2-40B4-BE49-F238E27FC236}">
                <a16:creationId xmlns:a16="http://schemas.microsoft.com/office/drawing/2014/main" id="{069E002C-7156-EA80-EEBF-F7ACC59DD774}"/>
              </a:ext>
            </a:extLst>
          </p:cNvPr>
          <p:cNvSpPr txBox="1"/>
          <p:nvPr/>
        </p:nvSpPr>
        <p:spPr>
          <a:xfrm>
            <a:off x="3575050" y="1930562"/>
            <a:ext cx="1905000" cy="307777"/>
          </a:xfrm>
          <a:prstGeom prst="rect">
            <a:avLst/>
          </a:prstGeom>
          <a:noFill/>
        </p:spPr>
        <p:txBody>
          <a:bodyPr vertOverflow="overflow" vert="horz" wrap="square" rtlCol="0" anchor="t">
            <a:spAutoFit/>
          </a:bodyPr>
          <a:lstStyle/>
          <a:p>
            <a:pPr algn="l"/>
            <a:r>
              <a:rPr lang="en-US" sz="1400" b="1" dirty="0">
                <a:solidFill>
                  <a:srgbClr val="110057"/>
                </a:solidFill>
                <a:latin typeface="Arial"/>
                <a:ea typeface="Arial"/>
                <a:cs typeface="Arial"/>
              </a:rPr>
              <a:t>2  Context</a:t>
            </a:r>
          </a:p>
        </p:txBody>
      </p:sp>
      <p:sp>
        <p:nvSpPr>
          <p:cNvPr id="69" name="Rectangle 68">
            <a:extLst>
              <a:ext uri="{FF2B5EF4-FFF2-40B4-BE49-F238E27FC236}">
                <a16:creationId xmlns:a16="http://schemas.microsoft.com/office/drawing/2014/main" id="{5F1A36D9-F2D3-A947-9806-C3D8894EF97F}"/>
              </a:ext>
            </a:extLst>
          </p:cNvPr>
          <p:cNvSpPr/>
          <p:nvPr/>
        </p:nvSpPr>
        <p:spPr>
          <a:xfrm>
            <a:off x="812800" y="4368800"/>
            <a:ext cx="7442200" cy="558800"/>
          </a:xfrm>
          <a:prstGeom prst="rect">
            <a:avLst/>
          </a:prstGeom>
          <a:solidFill>
            <a:srgbClr val="F6F2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TextBox 65">
            <a:extLst>
              <a:ext uri="{FF2B5EF4-FFF2-40B4-BE49-F238E27FC236}">
                <a16:creationId xmlns:a16="http://schemas.microsoft.com/office/drawing/2014/main" id="{737B3941-7C68-9742-8A1E-2384404CB656}"/>
              </a:ext>
            </a:extLst>
          </p:cNvPr>
          <p:cNvSpPr txBox="1"/>
          <p:nvPr/>
        </p:nvSpPr>
        <p:spPr>
          <a:xfrm>
            <a:off x="990600" y="4495800"/>
            <a:ext cx="1905000" cy="307777"/>
          </a:xfrm>
          <a:prstGeom prst="rect">
            <a:avLst/>
          </a:prstGeom>
          <a:noFill/>
        </p:spPr>
        <p:txBody>
          <a:bodyPr vertOverflow="overflow" vert="horz" wrap="square" rtlCol="0" anchor="t">
            <a:spAutoFit/>
          </a:bodyPr>
          <a:lstStyle/>
          <a:p>
            <a:pPr algn="l"/>
            <a:r>
              <a:rPr lang="en-US" sz="1400" b="1" dirty="0">
                <a:solidFill>
                  <a:srgbClr val="4A00E2"/>
                </a:solidFill>
                <a:latin typeface="Arial"/>
                <a:ea typeface="Arial"/>
                <a:cs typeface="Arial"/>
              </a:rPr>
              <a:t>ML OPTIMIZATION</a:t>
            </a:r>
          </a:p>
        </p:txBody>
      </p:sp>
      <p:sp>
        <p:nvSpPr>
          <p:cNvPr id="67" name="TextBox 66">
            <a:extLst>
              <a:ext uri="{FF2B5EF4-FFF2-40B4-BE49-F238E27FC236}">
                <a16:creationId xmlns:a16="http://schemas.microsoft.com/office/drawing/2014/main" id="{80B3C30F-72E5-0A40-B02F-9865B8BAD180}"/>
              </a:ext>
            </a:extLst>
          </p:cNvPr>
          <p:cNvSpPr txBox="1"/>
          <p:nvPr/>
        </p:nvSpPr>
        <p:spPr>
          <a:xfrm>
            <a:off x="3022600" y="4521200"/>
            <a:ext cx="5080000" cy="279400"/>
          </a:xfrm>
          <a:prstGeom prst="rect">
            <a:avLst/>
          </a:prstGeom>
          <a:noFill/>
        </p:spPr>
        <p:txBody>
          <a:bodyPr vertOverflow="overflow" vert="horz" wrap="square" rtlCol="0" anchor="t">
            <a:spAutoFit/>
          </a:bodyPr>
          <a:lstStyle/>
          <a:p>
            <a:pPr algn="l"/>
            <a:r>
              <a:rPr lang="en-US" sz="1200" dirty="0">
                <a:solidFill>
                  <a:srgbClr val="4A4170"/>
                </a:solidFill>
                <a:latin typeface="Arial"/>
                <a:ea typeface="Arial"/>
                <a:cs typeface="Arial"/>
              </a:rPr>
              <a:t>Quantify strength of predictors, find best workable set</a:t>
            </a:r>
          </a:p>
        </p:txBody>
      </p:sp>
    </p:spTree>
    <p:extLst>
      <p:ext uri="{BB962C8B-B14F-4D97-AF65-F5344CB8AC3E}">
        <p14:creationId xmlns:p14="http://schemas.microsoft.com/office/powerpoint/2010/main" val="159976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12A1361-7A94-498E-B134-6AED1405F26C}"/>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E6D73A1C-1CAE-4096-B2BE-6E76DDC760AF}"/>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91E86DEB-4BB2-408B-9C2A-152DAAA6EA7F}"/>
              </a:ext>
            </a:extLst>
          </p:cNvPr>
          <p:cNvSpPr>
            <a:spLocks noGrp="1"/>
          </p:cNvSpPr>
          <p:nvPr/>
        </p:nvSpPr>
        <p:spPr>
          <a:xfrm>
            <a:off x="552450" y="335622"/>
            <a:ext cx="3429000" cy="171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APPLY | K23 ROADMAP</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A2D3E707-70AA-437B-ACBA-309ED7A7FF0E}"/>
              </a:ext>
            </a:extLst>
          </p:cNvPr>
          <p:cNvSpPr>
            <a:spLocks noGrp="1"/>
          </p:cNvSpPr>
          <p:nvPr/>
        </p:nvSpPr>
        <p:spPr>
          <a:xfrm>
            <a:off x="552450" y="598040"/>
            <a:ext cx="7810500" cy="5143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rmAutofit/>
          </a:bodyPr>
          <a:lstStyle/>
          <a:p>
            <a:pPr algn="l">
              <a:defRPr sz="2400" b="1">
                <a:solidFill>
                  <a:srgbClr val="110057"/>
                </a:solidFill>
                <a:latin typeface="Arial"/>
                <a:ea typeface="Arial"/>
                <a:cs typeface="Arial"/>
              </a:defRPr>
            </a:pPr>
            <a:r>
              <a:rPr lang="en-US" sz="2400" b="1" dirty="0">
                <a:solidFill>
                  <a:srgbClr val="110057"/>
                </a:solidFill>
                <a:latin typeface="Arial"/>
                <a:ea typeface="Arial"/>
                <a:cs typeface="Arial"/>
              </a:rPr>
              <a:t>Transition-care evidence proposal for </a:t>
            </a:r>
            <a:r>
              <a:rPr lang="en-US" sz="2400" b="1" dirty="0" err="1">
                <a:solidFill>
                  <a:srgbClr val="110057"/>
                </a:solidFill>
                <a:latin typeface="Arial"/>
                <a:ea typeface="Arial"/>
                <a:cs typeface="Arial"/>
              </a:rPr>
              <a:t>Hypercap</a:t>
            </a:r>
            <a:r>
              <a:rPr lang="en-US" sz="2400" b="1" dirty="0">
                <a:solidFill>
                  <a:srgbClr val="110057"/>
                </a:solidFill>
                <a:latin typeface="Arial"/>
                <a:ea typeface="Arial"/>
                <a:cs typeface="Arial"/>
              </a:rPr>
              <a:t> RF</a:t>
            </a:r>
            <a:endParaRPr sz="2400" b="1" dirty="0">
              <a:solidFill>
                <a:srgbClr val="110057"/>
              </a:solidFill>
              <a:latin typeface="Arial"/>
              <a:ea typeface="Arial"/>
              <a:cs typeface="Arial"/>
            </a:endParaRPr>
          </a:p>
        </p:txBody>
      </p:sp>
      <p:sp>
        <p:nvSpPr>
          <p:cNvPr id="7" name="Rectangle 6">
            <a:extLst>
              <a:ext uri="{FF2B5EF4-FFF2-40B4-BE49-F238E27FC236}">
                <a16:creationId xmlns:a16="http://schemas.microsoft.com/office/drawing/2014/main" id="{D754CE83-0D2B-4EBC-ACF2-C842A8ABB39E}"/>
              </a:ext>
            </a:extLst>
          </p:cNvPr>
          <p:cNvSpPr>
            <a:spLocks noGrp="1"/>
          </p:cNvSpPr>
          <p:nvPr/>
        </p:nvSpPr>
        <p:spPr>
          <a:xfrm>
            <a:off x="857250" y="1543050"/>
            <a:ext cx="2311400" cy="186797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8" name="Rectangle 7">
            <a:extLst>
              <a:ext uri="{FF2B5EF4-FFF2-40B4-BE49-F238E27FC236}">
                <a16:creationId xmlns:a16="http://schemas.microsoft.com/office/drawing/2014/main" id="{387A73F8-4974-4195-8ADA-3091F3BAD6FC}"/>
              </a:ext>
            </a:extLst>
          </p:cNvPr>
          <p:cNvSpPr>
            <a:spLocks noGrp="1"/>
          </p:cNvSpPr>
          <p:nvPr/>
        </p:nvSpPr>
        <p:spPr>
          <a:xfrm>
            <a:off x="971550" y="1657350"/>
            <a:ext cx="2082800" cy="2286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310" b="1">
                <a:solidFill>
                  <a:srgbClr val="4A00E2"/>
                </a:solidFill>
                <a:latin typeface="Arial"/>
                <a:ea typeface="Arial"/>
                <a:cs typeface="Arial"/>
              </a:defRPr>
            </a:pPr>
            <a:r>
              <a:rPr lang="en-US" sz="1600" b="1">
                <a:solidFill>
                  <a:srgbClr val="5A00FF"/>
                </a:solidFill>
                <a:latin typeface="Arial"/>
                <a:ea typeface="Arial"/>
                <a:cs typeface="Arial"/>
              </a:rPr>
              <a:t>Aim 1</a:t>
            </a:r>
            <a:endParaRPr sz="1600" b="1">
              <a:solidFill>
                <a:srgbClr val="5A00FF"/>
              </a:solidFill>
              <a:latin typeface="Arial"/>
              <a:ea typeface="Arial"/>
              <a:cs typeface="Arial"/>
            </a:endParaRPr>
          </a:p>
        </p:txBody>
      </p:sp>
      <p:sp>
        <p:nvSpPr>
          <p:cNvPr id="9" name="Rectangle 8">
            <a:extLst>
              <a:ext uri="{FF2B5EF4-FFF2-40B4-BE49-F238E27FC236}">
                <a16:creationId xmlns:a16="http://schemas.microsoft.com/office/drawing/2014/main" id="{11247C9A-DDE8-4213-8A85-D8F793A3AA47}"/>
              </a:ext>
            </a:extLst>
          </p:cNvPr>
          <p:cNvSpPr>
            <a:spLocks noGrp="1"/>
          </p:cNvSpPr>
          <p:nvPr/>
        </p:nvSpPr>
        <p:spPr>
          <a:xfrm>
            <a:off x="971550" y="1943100"/>
            <a:ext cx="2082800" cy="552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122" b="0">
                <a:solidFill>
                  <a:srgbClr val="110057"/>
                </a:solidFill>
                <a:latin typeface="Arial"/>
                <a:ea typeface="Arial"/>
                <a:cs typeface="Arial"/>
              </a:defRPr>
            </a:pPr>
            <a:r>
              <a:rPr lang="en-US" sz="1600" dirty="0">
                <a:solidFill>
                  <a:srgbClr val="120047"/>
                </a:solidFill>
                <a:latin typeface="Arial"/>
                <a:ea typeface="Arial"/>
                <a:cs typeface="Arial"/>
              </a:rPr>
              <a:t>Measure variation
Labeling, testing, equipment/med review, referral, follow-up across IH.</a:t>
            </a:r>
            <a:endParaRPr sz="1600" dirty="0">
              <a:solidFill>
                <a:srgbClr val="120047"/>
              </a:solidFill>
              <a:latin typeface="Arial"/>
              <a:ea typeface="Arial"/>
              <a:cs typeface="Arial"/>
            </a:endParaRPr>
          </a:p>
        </p:txBody>
      </p:sp>
      <p:sp>
        <p:nvSpPr>
          <p:cNvPr id="11" name="Rectangle 10">
            <a:extLst>
              <a:ext uri="{FF2B5EF4-FFF2-40B4-BE49-F238E27FC236}">
                <a16:creationId xmlns:a16="http://schemas.microsoft.com/office/drawing/2014/main" id="{7B447F8F-3214-49CC-94D6-5C8AF26F941C}"/>
              </a:ext>
            </a:extLst>
          </p:cNvPr>
          <p:cNvSpPr>
            <a:spLocks noGrp="1"/>
          </p:cNvSpPr>
          <p:nvPr/>
        </p:nvSpPr>
        <p:spPr>
          <a:xfrm>
            <a:off x="3416300" y="1543050"/>
            <a:ext cx="2311400" cy="186797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48BDC44C-36DD-4572-95E0-BFE87E1848D2}"/>
              </a:ext>
            </a:extLst>
          </p:cNvPr>
          <p:cNvSpPr>
            <a:spLocks noGrp="1"/>
          </p:cNvSpPr>
          <p:nvPr/>
        </p:nvSpPr>
        <p:spPr>
          <a:xfrm>
            <a:off x="3530600" y="1657350"/>
            <a:ext cx="2082800" cy="2286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310" b="1">
                <a:solidFill>
                  <a:srgbClr val="4A00E2"/>
                </a:solidFill>
                <a:latin typeface="Arial"/>
                <a:ea typeface="Arial"/>
                <a:cs typeface="Arial"/>
              </a:defRPr>
            </a:pPr>
            <a:r>
              <a:rPr lang="en-US" sz="1600" b="1">
                <a:solidFill>
                  <a:srgbClr val="5A00FF"/>
                </a:solidFill>
                <a:latin typeface="Arial"/>
                <a:ea typeface="Arial"/>
                <a:cs typeface="Arial"/>
              </a:rPr>
              <a:t>Aim 2</a:t>
            </a:r>
            <a:endParaRPr sz="1600" b="1">
              <a:solidFill>
                <a:srgbClr val="5A00FF"/>
              </a:solidFill>
              <a:latin typeface="Arial"/>
              <a:ea typeface="Arial"/>
              <a:cs typeface="Arial"/>
            </a:endParaRPr>
          </a:p>
        </p:txBody>
      </p:sp>
      <p:sp>
        <p:nvSpPr>
          <p:cNvPr id="13" name="Rectangle 12">
            <a:extLst>
              <a:ext uri="{FF2B5EF4-FFF2-40B4-BE49-F238E27FC236}">
                <a16:creationId xmlns:a16="http://schemas.microsoft.com/office/drawing/2014/main" id="{98BD406A-0D35-45DF-9DBD-5D38D3D74FE1}"/>
              </a:ext>
            </a:extLst>
          </p:cNvPr>
          <p:cNvSpPr>
            <a:spLocks noGrp="1"/>
          </p:cNvSpPr>
          <p:nvPr/>
        </p:nvSpPr>
        <p:spPr>
          <a:xfrm>
            <a:off x="3530600" y="1943100"/>
            <a:ext cx="2082800" cy="552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122" b="0">
                <a:solidFill>
                  <a:srgbClr val="110057"/>
                </a:solidFill>
                <a:latin typeface="Arial"/>
                <a:ea typeface="Arial"/>
                <a:cs typeface="Arial"/>
              </a:defRPr>
            </a:pPr>
            <a:r>
              <a:rPr lang="en-US" sz="1600" dirty="0">
                <a:solidFill>
                  <a:srgbClr val="120047"/>
                </a:solidFill>
                <a:latin typeface="Arial"/>
                <a:ea typeface="Arial"/>
                <a:cs typeface="Arial"/>
              </a:rPr>
              <a:t>Validate at-discharge risk model for 
repeat utilization, overall cost, care-burden  </a:t>
            </a:r>
            <a:endParaRPr sz="1600" dirty="0">
              <a:solidFill>
                <a:srgbClr val="120047"/>
              </a:solidFill>
              <a:latin typeface="Arial"/>
              <a:ea typeface="Arial"/>
              <a:cs typeface="Arial"/>
            </a:endParaRPr>
          </a:p>
        </p:txBody>
      </p:sp>
      <p:sp>
        <p:nvSpPr>
          <p:cNvPr id="15" name="Rectangle 14">
            <a:extLst>
              <a:ext uri="{FF2B5EF4-FFF2-40B4-BE49-F238E27FC236}">
                <a16:creationId xmlns:a16="http://schemas.microsoft.com/office/drawing/2014/main" id="{11DD2A00-16D2-465C-8803-A49D7F2FD6DF}"/>
              </a:ext>
            </a:extLst>
          </p:cNvPr>
          <p:cNvSpPr>
            <a:spLocks noGrp="1"/>
          </p:cNvSpPr>
          <p:nvPr/>
        </p:nvSpPr>
        <p:spPr>
          <a:xfrm>
            <a:off x="5975350" y="1543049"/>
            <a:ext cx="2311400" cy="1867969"/>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6" name="Rectangle 15">
            <a:extLst>
              <a:ext uri="{FF2B5EF4-FFF2-40B4-BE49-F238E27FC236}">
                <a16:creationId xmlns:a16="http://schemas.microsoft.com/office/drawing/2014/main" id="{9124259E-2186-460A-88AD-BD9BD6064B72}"/>
              </a:ext>
            </a:extLst>
          </p:cNvPr>
          <p:cNvSpPr>
            <a:spLocks noGrp="1"/>
          </p:cNvSpPr>
          <p:nvPr/>
        </p:nvSpPr>
        <p:spPr>
          <a:xfrm>
            <a:off x="6089650" y="1657350"/>
            <a:ext cx="2082800" cy="2286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310" b="1">
                <a:solidFill>
                  <a:srgbClr val="FF5D55"/>
                </a:solidFill>
                <a:latin typeface="Arial"/>
                <a:ea typeface="Arial"/>
                <a:cs typeface="Arial"/>
              </a:defRPr>
            </a:pPr>
            <a:r>
              <a:rPr lang="en-US" sz="1600" b="1">
                <a:solidFill>
                  <a:srgbClr val="FF5C5C"/>
                </a:solidFill>
                <a:latin typeface="Arial"/>
                <a:ea typeface="Arial"/>
                <a:cs typeface="Arial"/>
              </a:rPr>
              <a:t>Aim 3</a:t>
            </a:r>
            <a:endParaRPr sz="1600" b="1">
              <a:solidFill>
                <a:srgbClr val="FF5C5C"/>
              </a:solidFill>
              <a:latin typeface="Arial"/>
              <a:ea typeface="Arial"/>
              <a:cs typeface="Arial"/>
            </a:endParaRPr>
          </a:p>
        </p:txBody>
      </p:sp>
      <p:sp>
        <p:nvSpPr>
          <p:cNvPr id="17" name="Rectangle 16">
            <a:extLst>
              <a:ext uri="{FF2B5EF4-FFF2-40B4-BE49-F238E27FC236}">
                <a16:creationId xmlns:a16="http://schemas.microsoft.com/office/drawing/2014/main" id="{9067EB42-ACA5-4701-818F-8F99D45B7C26}"/>
              </a:ext>
            </a:extLst>
          </p:cNvPr>
          <p:cNvSpPr>
            <a:spLocks noGrp="1"/>
          </p:cNvSpPr>
          <p:nvPr/>
        </p:nvSpPr>
        <p:spPr>
          <a:xfrm>
            <a:off x="6089650" y="1943100"/>
            <a:ext cx="2082800" cy="552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122" b="0">
                <a:solidFill>
                  <a:srgbClr val="110057"/>
                </a:solidFill>
                <a:latin typeface="Arial"/>
                <a:ea typeface="Arial"/>
                <a:cs typeface="Arial"/>
              </a:defRPr>
            </a:pPr>
            <a:r>
              <a:rPr lang="en-US" sz="1600" dirty="0">
                <a:solidFill>
                  <a:srgbClr val="120047"/>
                </a:solidFill>
                <a:latin typeface="Arial"/>
                <a:ea typeface="Arial"/>
                <a:cs typeface="Arial"/>
              </a:rPr>
              <a:t>Test feasibility of 
Navigator assessment for prespecified high-risk patients</a:t>
            </a:r>
            <a:endParaRPr sz="1600" dirty="0">
              <a:solidFill>
                <a:srgbClr val="120047"/>
              </a:solidFill>
              <a:latin typeface="Arial"/>
              <a:ea typeface="Arial"/>
              <a:cs typeface="Arial"/>
            </a:endParaRPr>
          </a:p>
        </p:txBody>
      </p:sp>
      <p:sp>
        <p:nvSpPr>
          <p:cNvPr id="18" name="Rectangle 17">
            <a:extLst>
              <a:ext uri="{FF2B5EF4-FFF2-40B4-BE49-F238E27FC236}">
                <a16:creationId xmlns:a16="http://schemas.microsoft.com/office/drawing/2014/main" id="{3CD12A91-ACA8-488F-959D-780010FC416C}"/>
              </a:ext>
            </a:extLst>
          </p:cNvPr>
          <p:cNvSpPr>
            <a:spLocks noGrp="1"/>
          </p:cNvSpPr>
          <p:nvPr/>
        </p:nvSpPr>
        <p:spPr>
          <a:xfrm>
            <a:off x="1428750" y="3668086"/>
            <a:ext cx="6286500" cy="3238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ctr">
              <a:defRPr sz="1964" b="1">
                <a:solidFill>
                  <a:srgbClr val="4A00E2"/>
                </a:solidFill>
                <a:latin typeface="Arial"/>
                <a:ea typeface="Arial"/>
                <a:cs typeface="Arial"/>
              </a:defRPr>
            </a:pPr>
            <a:r>
              <a:rPr lang="en-US" sz="1600" b="1" dirty="0">
                <a:solidFill>
                  <a:schemeClr val="bg1">
                    <a:lumMod val="10000"/>
                  </a:schemeClr>
                </a:solidFill>
                <a:latin typeface="Arial"/>
                <a:ea typeface="Arial"/>
                <a:cs typeface="Arial"/>
              </a:rPr>
              <a:t>K23 products: train a health-services research expert in chronic respiratory failure care transitions, as well as planning data for effectiveness trial of risk-targeted care navigation. </a:t>
            </a:r>
            <a:endParaRPr sz="1600" b="1" dirty="0">
              <a:solidFill>
                <a:schemeClr val="bg1">
                  <a:lumMod val="10000"/>
                </a:schemeClr>
              </a:solidFill>
              <a:latin typeface="Arial"/>
              <a:ea typeface="Arial"/>
              <a:cs typeface="Arial"/>
            </a:endParaRPr>
          </a:p>
        </p:txBody>
      </p:sp>
    </p:spTree>
    <p:extLst>
      <p:ext uri="{BB962C8B-B14F-4D97-AF65-F5344CB8AC3E}">
        <p14:creationId xmlns:p14="http://schemas.microsoft.com/office/powerpoint/2010/main" val="1799850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67F893B-9FE1-427F-BE87-012596C0E1A0}"/>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C6385571-0665-4543-82BA-54B1986AF1E1}"/>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2197C359-5D83-4B23-91C5-FF5864C4F521}"/>
              </a:ext>
            </a:extLst>
          </p:cNvPr>
          <p:cNvSpPr>
            <a:spLocks noGrp="1"/>
          </p:cNvSpPr>
          <p:nvPr/>
        </p:nvSpPr>
        <p:spPr>
          <a:xfrm>
            <a:off x="552450" y="469184"/>
            <a:ext cx="3429000" cy="171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AIM 2 | RISK INFRASTRUCTURE</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7B270226-40EF-4AF5-8048-9F232C47DCB0}"/>
              </a:ext>
            </a:extLst>
          </p:cNvPr>
          <p:cNvSpPr>
            <a:spLocks noGrp="1"/>
          </p:cNvSpPr>
          <p:nvPr/>
        </p:nvSpPr>
        <p:spPr>
          <a:xfrm>
            <a:off x="552450" y="834342"/>
            <a:ext cx="7810500" cy="5143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rmAutofit/>
          </a:bodyPr>
          <a:lstStyle/>
          <a:p>
            <a:pPr algn="l">
              <a:defRPr sz="2400" b="1">
                <a:solidFill>
                  <a:srgbClr val="110057"/>
                </a:solidFill>
                <a:latin typeface="Arial"/>
                <a:ea typeface="Arial"/>
                <a:cs typeface="Arial"/>
              </a:defRPr>
            </a:pPr>
            <a:r>
              <a:rPr lang="en-US" sz="2400" b="1" dirty="0">
                <a:solidFill>
                  <a:srgbClr val="110057"/>
                </a:solidFill>
                <a:latin typeface="Arial"/>
                <a:ea typeface="Arial"/>
                <a:cs typeface="Arial"/>
              </a:rPr>
              <a:t>Aim 2 builds the risk model for trial design</a:t>
            </a:r>
          </a:p>
        </p:txBody>
      </p:sp>
      <p:sp>
        <p:nvSpPr>
          <p:cNvPr id="7" name="Rectangle 6">
            <a:extLst>
              <a:ext uri="{FF2B5EF4-FFF2-40B4-BE49-F238E27FC236}">
                <a16:creationId xmlns:a16="http://schemas.microsoft.com/office/drawing/2014/main" id="{C583F1BD-F23D-4976-B4B4-847086F03C8C}"/>
              </a:ext>
            </a:extLst>
          </p:cNvPr>
          <p:cNvSpPr>
            <a:spLocks noGrp="1"/>
          </p:cNvSpPr>
          <p:nvPr/>
        </p:nvSpPr>
        <p:spPr>
          <a:xfrm>
            <a:off x="857250" y="1930400"/>
            <a:ext cx="2311400" cy="21336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8" name="Rectangle 7">
            <a:extLst>
              <a:ext uri="{FF2B5EF4-FFF2-40B4-BE49-F238E27FC236}">
                <a16:creationId xmlns:a16="http://schemas.microsoft.com/office/drawing/2014/main" id="{40D13E8C-4AB6-4A40-B73E-15F7798C025D}"/>
              </a:ext>
            </a:extLst>
          </p:cNvPr>
          <p:cNvSpPr>
            <a:spLocks noGrp="1"/>
          </p:cNvSpPr>
          <p:nvPr/>
        </p:nvSpPr>
        <p:spPr>
          <a:xfrm>
            <a:off x="971550" y="2038350"/>
            <a:ext cx="2082800" cy="431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b="1" dirty="0">
                <a:solidFill>
                  <a:srgbClr val="5A00FF"/>
                </a:solidFill>
                <a:latin typeface="Arial"/>
                <a:ea typeface="Arial"/>
                <a:cs typeface="Arial"/>
              </a:rPr>
              <a:t>Enrich the cohort</a:t>
            </a:r>
          </a:p>
        </p:txBody>
      </p:sp>
      <p:sp>
        <p:nvSpPr>
          <p:cNvPr id="9" name="Rectangle 8">
            <a:extLst>
              <a:ext uri="{FF2B5EF4-FFF2-40B4-BE49-F238E27FC236}">
                <a16:creationId xmlns:a16="http://schemas.microsoft.com/office/drawing/2014/main" id="{9976F930-15F3-4775-9454-3C09483F3E6E}"/>
              </a:ext>
            </a:extLst>
          </p:cNvPr>
          <p:cNvSpPr>
            <a:spLocks noGrp="1"/>
          </p:cNvSpPr>
          <p:nvPr/>
        </p:nvSpPr>
        <p:spPr>
          <a:xfrm>
            <a:off x="971550" y="2463800"/>
            <a:ext cx="2082800" cy="12700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dirty="0">
                <a:solidFill>
                  <a:srgbClr val="2A2340"/>
                </a:solidFill>
                <a:latin typeface="Arial"/>
                <a:ea typeface="Arial"/>
                <a:cs typeface="Arial"/>
              </a:rPr>
              <a:t>Raise expected event yield: readmission, </a:t>
            </a:r>
            <a:r>
              <a:rPr lang="en-US" sz="1600" dirty="0" err="1">
                <a:solidFill>
                  <a:srgbClr val="2A2340"/>
                </a:solidFill>
                <a:latin typeface="Arial"/>
                <a:ea typeface="Arial"/>
                <a:cs typeface="Arial"/>
              </a:rPr>
              <a:t>Hypercap</a:t>
            </a:r>
            <a:r>
              <a:rPr lang="en-US" sz="1600" dirty="0">
                <a:solidFill>
                  <a:srgbClr val="2A2340"/>
                </a:solidFill>
                <a:latin typeface="Arial"/>
                <a:ea typeface="Arial"/>
                <a:cs typeface="Arial"/>
              </a:rPr>
              <a:t> RF acute care, or death after discharge.</a:t>
            </a:r>
          </a:p>
        </p:txBody>
      </p:sp>
      <p:sp>
        <p:nvSpPr>
          <p:cNvPr id="10" name="Rectangle 9">
            <a:extLst>
              <a:ext uri="{FF2B5EF4-FFF2-40B4-BE49-F238E27FC236}">
                <a16:creationId xmlns:a16="http://schemas.microsoft.com/office/drawing/2014/main" id="{822B3FF9-10FA-4B6F-AE1E-ECED49067AE4}"/>
              </a:ext>
            </a:extLst>
          </p:cNvPr>
          <p:cNvSpPr>
            <a:spLocks noGrp="1"/>
          </p:cNvSpPr>
          <p:nvPr/>
        </p:nvSpPr>
        <p:spPr>
          <a:xfrm>
            <a:off x="3178175" y="2819400"/>
            <a:ext cx="3048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871" b="1">
                <a:solidFill>
                  <a:srgbClr val="4A4170"/>
                </a:solidFill>
                <a:latin typeface="Arial"/>
                <a:ea typeface="Arial"/>
                <a:cs typeface="Arial"/>
              </a:defRPr>
            </a:pPr>
            <a:r>
              <a:rPr lang="en-US" sz="1600" b="1">
                <a:solidFill>
                  <a:srgbClr val="4A4170"/>
                </a:solidFill>
                <a:latin typeface="Arial"/>
                <a:ea typeface="Arial"/>
                <a:cs typeface="Arial"/>
              </a:rPr>
              <a:t>→</a:t>
            </a:r>
            <a:endParaRPr sz="1600" b="1">
              <a:solidFill>
                <a:srgbClr val="4A4170"/>
              </a:solidFill>
              <a:latin typeface="Arial"/>
              <a:ea typeface="Arial"/>
              <a:cs typeface="Arial"/>
            </a:endParaRPr>
          </a:p>
        </p:txBody>
      </p:sp>
      <p:sp>
        <p:nvSpPr>
          <p:cNvPr id="11" name="Rectangle 10">
            <a:extLst>
              <a:ext uri="{FF2B5EF4-FFF2-40B4-BE49-F238E27FC236}">
                <a16:creationId xmlns:a16="http://schemas.microsoft.com/office/drawing/2014/main" id="{3F7033E0-A23B-42C7-BB06-EE7F87BA745C}"/>
              </a:ext>
            </a:extLst>
          </p:cNvPr>
          <p:cNvSpPr>
            <a:spLocks noGrp="1"/>
          </p:cNvSpPr>
          <p:nvPr/>
        </p:nvSpPr>
        <p:spPr>
          <a:xfrm>
            <a:off x="3416300" y="1930400"/>
            <a:ext cx="2311400" cy="21336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F8F2D3B0-E609-4808-A390-4AAA4386F537}"/>
              </a:ext>
            </a:extLst>
          </p:cNvPr>
          <p:cNvSpPr>
            <a:spLocks noGrp="1"/>
          </p:cNvSpPr>
          <p:nvPr/>
        </p:nvSpPr>
        <p:spPr>
          <a:xfrm>
            <a:off x="3530600" y="2038350"/>
            <a:ext cx="2082800" cy="584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b="1" dirty="0">
                <a:solidFill>
                  <a:srgbClr val="5A00FF"/>
                </a:solidFill>
                <a:latin typeface="Arial"/>
                <a:ea typeface="Arial"/>
                <a:cs typeface="Arial"/>
              </a:rPr>
              <a:t>Estimate effects efficiently</a:t>
            </a:r>
          </a:p>
        </p:txBody>
      </p:sp>
      <p:sp>
        <p:nvSpPr>
          <p:cNvPr id="13" name="Rectangle 12">
            <a:extLst>
              <a:ext uri="{FF2B5EF4-FFF2-40B4-BE49-F238E27FC236}">
                <a16:creationId xmlns:a16="http://schemas.microsoft.com/office/drawing/2014/main" id="{C6320D10-66E7-496D-A01D-8ED52B97BB95}"/>
              </a:ext>
            </a:extLst>
          </p:cNvPr>
          <p:cNvSpPr>
            <a:spLocks noGrp="1"/>
          </p:cNvSpPr>
          <p:nvPr/>
        </p:nvSpPr>
        <p:spPr>
          <a:xfrm>
            <a:off x="3530600" y="2667000"/>
            <a:ext cx="2082800" cy="13970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dirty="0">
                <a:solidFill>
                  <a:srgbClr val="2A2340"/>
                </a:solidFill>
                <a:latin typeface="Arial"/>
                <a:ea typeface="Arial"/>
                <a:cs typeface="Arial"/>
              </a:rPr>
              <a:t>Prespecify risk strata to balance arms and sharpen effect estimates.</a:t>
            </a:r>
          </a:p>
        </p:txBody>
      </p:sp>
      <p:sp>
        <p:nvSpPr>
          <p:cNvPr id="14" name="Rectangle 13">
            <a:extLst>
              <a:ext uri="{FF2B5EF4-FFF2-40B4-BE49-F238E27FC236}">
                <a16:creationId xmlns:a16="http://schemas.microsoft.com/office/drawing/2014/main" id="{B3452E18-933E-4D99-8735-29CC6C545B70}"/>
              </a:ext>
            </a:extLst>
          </p:cNvPr>
          <p:cNvSpPr>
            <a:spLocks noGrp="1"/>
          </p:cNvSpPr>
          <p:nvPr/>
        </p:nvSpPr>
        <p:spPr>
          <a:xfrm>
            <a:off x="5737225" y="2819400"/>
            <a:ext cx="3048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871" b="1">
                <a:solidFill>
                  <a:srgbClr val="4A4170"/>
                </a:solidFill>
                <a:latin typeface="Arial"/>
                <a:ea typeface="Arial"/>
                <a:cs typeface="Arial"/>
              </a:defRPr>
            </a:pPr>
            <a:r>
              <a:rPr lang="en-US" sz="1600" b="1">
                <a:solidFill>
                  <a:srgbClr val="4A4170"/>
                </a:solidFill>
                <a:latin typeface="Arial"/>
                <a:ea typeface="Arial"/>
                <a:cs typeface="Arial"/>
              </a:rPr>
              <a:t>→</a:t>
            </a:r>
            <a:endParaRPr sz="1600" b="1">
              <a:solidFill>
                <a:srgbClr val="4A4170"/>
              </a:solidFill>
              <a:latin typeface="Arial"/>
              <a:ea typeface="Arial"/>
              <a:cs typeface="Arial"/>
            </a:endParaRPr>
          </a:p>
        </p:txBody>
      </p:sp>
      <p:sp>
        <p:nvSpPr>
          <p:cNvPr id="15" name="Rectangle 14">
            <a:extLst>
              <a:ext uri="{FF2B5EF4-FFF2-40B4-BE49-F238E27FC236}">
                <a16:creationId xmlns:a16="http://schemas.microsoft.com/office/drawing/2014/main" id="{3AA3F7ED-B2D4-4C03-9FC1-B8BF77587311}"/>
              </a:ext>
            </a:extLst>
          </p:cNvPr>
          <p:cNvSpPr>
            <a:spLocks noGrp="1"/>
          </p:cNvSpPr>
          <p:nvPr/>
        </p:nvSpPr>
        <p:spPr>
          <a:xfrm>
            <a:off x="5975350" y="1930400"/>
            <a:ext cx="2311400" cy="21336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6" name="Rectangle 15">
            <a:extLst>
              <a:ext uri="{FF2B5EF4-FFF2-40B4-BE49-F238E27FC236}">
                <a16:creationId xmlns:a16="http://schemas.microsoft.com/office/drawing/2014/main" id="{0F59DF1B-1C37-4A58-B29C-23D293575AD4}"/>
              </a:ext>
            </a:extLst>
          </p:cNvPr>
          <p:cNvSpPr>
            <a:spLocks noGrp="1"/>
          </p:cNvSpPr>
          <p:nvPr/>
        </p:nvSpPr>
        <p:spPr>
          <a:xfrm>
            <a:off x="6089650" y="2038350"/>
            <a:ext cx="2082800" cy="431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b="1" dirty="0">
                <a:solidFill>
                  <a:srgbClr val="5A00FF"/>
                </a:solidFill>
                <a:latin typeface="Arial"/>
                <a:ea typeface="Arial"/>
                <a:cs typeface="Arial"/>
              </a:rPr>
              <a:t>Size the workflow</a:t>
            </a:r>
          </a:p>
        </p:txBody>
      </p:sp>
      <p:sp>
        <p:nvSpPr>
          <p:cNvPr id="17" name="Rectangle 16">
            <a:extLst>
              <a:ext uri="{FF2B5EF4-FFF2-40B4-BE49-F238E27FC236}">
                <a16:creationId xmlns:a16="http://schemas.microsoft.com/office/drawing/2014/main" id="{6D5DFB66-97A5-4E6E-8FB2-C869097318F7}"/>
              </a:ext>
            </a:extLst>
          </p:cNvPr>
          <p:cNvSpPr>
            <a:spLocks noGrp="1"/>
          </p:cNvSpPr>
          <p:nvPr/>
        </p:nvSpPr>
        <p:spPr>
          <a:xfrm>
            <a:off x="6089650" y="2463800"/>
            <a:ext cx="2082800" cy="12700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dirty="0">
                <a:solidFill>
                  <a:srgbClr val="2A2340"/>
                </a:solidFill>
                <a:latin typeface="Arial"/>
                <a:ea typeface="Arial"/>
                <a:cs typeface="Arial"/>
              </a:rPr>
              <a:t>Estimate weekly review lists, site volume, and navigator / RT capacity needs.</a:t>
            </a:r>
          </a:p>
        </p:txBody>
      </p:sp>
      <p:sp>
        <p:nvSpPr>
          <p:cNvPr id="60" name="subtitle"/>
          <p:cNvSpPr txBox="1"/>
          <p:nvPr/>
        </p:nvSpPr>
        <p:spPr>
          <a:xfrm>
            <a:off x="558800" y="1320800"/>
            <a:ext cx="7810500" cy="228600"/>
          </a:xfrm>
          <a:prstGeom prst="rect">
            <a:avLst/>
          </a:prstGeom>
          <a:noFill/>
        </p:spPr>
        <p:txBody>
          <a:bodyPr wrap="square" lIns="0" tIns="0" rIns="0" bIns="0">
            <a:noAutofit/>
          </a:bodyPr>
          <a:lstStyle/>
          <a:p>
            <a:pPr algn="l"/>
            <a:r>
              <a:rPr lang="en-US" sz="1300" dirty="0">
                <a:solidFill>
                  <a:srgbClr val="4A4170"/>
                </a:solidFill>
                <a:latin typeface="Arial"/>
                <a:cs typeface="Arial"/>
              </a:rPr>
              <a:t>Refines the earlier proposed criteria by selecting features and optimizing prediction in </a:t>
            </a:r>
            <a:r>
              <a:rPr lang="en-US" sz="1300" dirty="0" err="1">
                <a:solidFill>
                  <a:srgbClr val="4A4170"/>
                </a:solidFill>
                <a:latin typeface="Arial"/>
                <a:cs typeface="Arial"/>
              </a:rPr>
              <a:t>SelectHealth</a:t>
            </a:r>
            <a:r>
              <a:rPr lang="en-US" sz="1300" dirty="0">
                <a:solidFill>
                  <a:srgbClr val="4A4170"/>
                </a:solidFill>
                <a:latin typeface="Arial"/>
                <a:cs typeface="Arial"/>
              </a:rPr>
              <a:t> insured patients, with transportability assessment to Utah All Payer Claims Data</a:t>
            </a:r>
          </a:p>
        </p:txBody>
      </p:sp>
    </p:spTree>
    <p:extLst>
      <p:ext uri="{BB962C8B-B14F-4D97-AF65-F5344CB8AC3E}">
        <p14:creationId xmlns:p14="http://schemas.microsoft.com/office/powerpoint/2010/main" val="323324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67F893B-9FE1-427F-BE87-012596C0E1A0}"/>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C6385571-0665-4543-82BA-54B1986AF1E1}"/>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2197C359-5D83-4B23-91C5-FF5864C4F521}"/>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r>
              <a:rPr lang="en-US" sz="1100" b="1" dirty="0">
                <a:solidFill>
                  <a:srgbClr val="4A00E2"/>
                </a:solidFill>
                <a:latin typeface="Arial"/>
                <a:cs typeface="Arial"/>
              </a:rPr>
              <a:t>AIM 2 | PREDICTION DESIGN</a:t>
            </a:r>
          </a:p>
        </p:txBody>
      </p:sp>
      <p:sp>
        <p:nvSpPr>
          <p:cNvPr id="4" name="Rectangle 3">
            <a:extLst>
              <a:ext uri="{FF2B5EF4-FFF2-40B4-BE49-F238E27FC236}">
                <a16:creationId xmlns:a16="http://schemas.microsoft.com/office/drawing/2014/main" id="{7B270226-40EF-4AF5-8048-9F232C47DCB0}"/>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rmAutofit/>
          </a:bodyPr>
          <a:lstStyle/>
          <a:p>
            <a:pPr algn="l"/>
            <a:r>
              <a:rPr lang="en-US" sz="2400" b="1" dirty="0">
                <a:solidFill>
                  <a:srgbClr val="110057"/>
                </a:solidFill>
                <a:latin typeface="Arial"/>
                <a:cs typeface="Arial"/>
              </a:rPr>
              <a:t>Discharge-time risk model</a:t>
            </a:r>
          </a:p>
        </p:txBody>
      </p:sp>
      <p:sp>
        <p:nvSpPr>
          <p:cNvPr id="7" name="Rectangle 6">
            <a:extLst>
              <a:ext uri="{FF2B5EF4-FFF2-40B4-BE49-F238E27FC236}">
                <a16:creationId xmlns:a16="http://schemas.microsoft.com/office/drawing/2014/main" id="{C583F1BD-F23D-4976-B4B4-847086F03C8C}"/>
              </a:ext>
            </a:extLst>
          </p:cNvPr>
          <p:cNvSpPr>
            <a:spLocks noGrp="1"/>
          </p:cNvSpPr>
          <p:nvPr/>
        </p:nvSpPr>
        <p:spPr>
          <a:xfrm>
            <a:off x="558800" y="1905000"/>
            <a:ext cx="2476500" cy="1066800"/>
          </a:xfrm>
          <a:prstGeom prst="rect">
            <a:avLst/>
          </a:prstGeom>
          <a:solidFill>
            <a:srgbClr val="F4F1FF"/>
          </a:solidFill>
          <a:ln w="9525">
            <a:solidFill>
              <a:srgbClr val="EDE7FF"/>
            </a:solidFill>
            <a:prstDash val="solid"/>
          </a:ln>
        </p:spPr>
        <p:txBody>
          <a:bodyPr/>
          <a:lstStyle/>
          <a:p>
            <a:endParaRPr lang="en-US" sz="1600">
              <a:latin typeface="Arial"/>
              <a:cs typeface="Arial"/>
            </a:endParaRPr>
          </a:p>
        </p:txBody>
      </p:sp>
      <p:sp>
        <p:nvSpPr>
          <p:cNvPr id="8" name="Rectangle 7">
            <a:extLst>
              <a:ext uri="{FF2B5EF4-FFF2-40B4-BE49-F238E27FC236}">
                <a16:creationId xmlns:a16="http://schemas.microsoft.com/office/drawing/2014/main" id="{40D13E8C-4AB6-4A40-B73E-15F7798C025D}"/>
              </a:ext>
            </a:extLst>
          </p:cNvPr>
          <p:cNvSpPr>
            <a:spLocks noGrp="1"/>
          </p:cNvSpPr>
          <p:nvPr/>
        </p:nvSpPr>
        <p:spPr>
          <a:xfrm>
            <a:off x="736600" y="2032000"/>
            <a:ext cx="2120900" cy="2540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r>
              <a:rPr lang="en-US" sz="1200" b="1" dirty="0">
                <a:solidFill>
                  <a:srgbClr val="110057"/>
                </a:solidFill>
                <a:latin typeface="Arial"/>
                <a:cs typeface="Arial"/>
              </a:rPr>
              <a:t>Primary</a:t>
            </a:r>
          </a:p>
        </p:txBody>
      </p:sp>
      <p:sp>
        <p:nvSpPr>
          <p:cNvPr id="9" name="Rectangle 8">
            <a:extLst>
              <a:ext uri="{FF2B5EF4-FFF2-40B4-BE49-F238E27FC236}">
                <a16:creationId xmlns:a16="http://schemas.microsoft.com/office/drawing/2014/main" id="{9976F930-15F3-4775-9454-3C09483F3E6E}"/>
              </a:ext>
            </a:extLst>
          </p:cNvPr>
          <p:cNvSpPr>
            <a:spLocks noGrp="1"/>
          </p:cNvSpPr>
          <p:nvPr/>
        </p:nvSpPr>
        <p:spPr>
          <a:xfrm>
            <a:off x="736600" y="2336800"/>
            <a:ext cx="2120900" cy="558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r>
              <a:rPr lang="en-US" sz="1200" dirty="0">
                <a:solidFill>
                  <a:srgbClr val="2A2340"/>
                </a:solidFill>
                <a:latin typeface="Arial"/>
                <a:cs typeface="Arial"/>
              </a:rPr>
              <a:t>Clinical failure: death or unplanned readmission</a:t>
            </a:r>
          </a:p>
        </p:txBody>
      </p:sp>
      <p:sp>
        <p:nvSpPr>
          <p:cNvPr id="11" name="Rectangle 10">
            <a:extLst>
              <a:ext uri="{FF2B5EF4-FFF2-40B4-BE49-F238E27FC236}">
                <a16:creationId xmlns:a16="http://schemas.microsoft.com/office/drawing/2014/main" id="{3F7033E0-A23B-42C7-BB06-EE7F87BA745C}"/>
              </a:ext>
            </a:extLst>
          </p:cNvPr>
          <p:cNvSpPr>
            <a:spLocks noGrp="1"/>
          </p:cNvSpPr>
          <p:nvPr/>
        </p:nvSpPr>
        <p:spPr>
          <a:xfrm>
            <a:off x="3225800" y="1905000"/>
            <a:ext cx="2476500" cy="1066800"/>
          </a:xfrm>
          <a:prstGeom prst="rect">
            <a:avLst/>
          </a:prstGeom>
          <a:solidFill>
            <a:srgbClr val="F4F1FF"/>
          </a:solidFill>
          <a:ln w="9525">
            <a:solidFill>
              <a:srgbClr val="EDE7FF"/>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F8F2D3B0-E609-4808-A390-4AAA4386F537}"/>
              </a:ext>
            </a:extLst>
          </p:cNvPr>
          <p:cNvSpPr>
            <a:spLocks noGrp="1"/>
          </p:cNvSpPr>
          <p:nvPr/>
        </p:nvSpPr>
        <p:spPr>
          <a:xfrm>
            <a:off x="3403600" y="2032000"/>
            <a:ext cx="2120900" cy="2540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r>
              <a:rPr lang="en-US" sz="1200" b="1" dirty="0">
                <a:solidFill>
                  <a:srgbClr val="110057"/>
                </a:solidFill>
                <a:latin typeface="Arial"/>
                <a:cs typeface="Arial"/>
              </a:rPr>
              <a:t>Utilization</a:t>
            </a:r>
          </a:p>
        </p:txBody>
      </p:sp>
      <p:sp>
        <p:nvSpPr>
          <p:cNvPr id="13" name="Rectangle 12">
            <a:extLst>
              <a:ext uri="{FF2B5EF4-FFF2-40B4-BE49-F238E27FC236}">
                <a16:creationId xmlns:a16="http://schemas.microsoft.com/office/drawing/2014/main" id="{C6320D10-66E7-496D-A01D-8ED52B97BB95}"/>
              </a:ext>
            </a:extLst>
          </p:cNvPr>
          <p:cNvSpPr>
            <a:spLocks noGrp="1"/>
          </p:cNvSpPr>
          <p:nvPr/>
        </p:nvSpPr>
        <p:spPr>
          <a:xfrm>
            <a:off x="3403600" y="2336800"/>
            <a:ext cx="2120900" cy="558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r>
              <a:rPr lang="en-US" sz="1200" dirty="0">
                <a:solidFill>
                  <a:srgbClr val="2A2340"/>
                </a:solidFill>
                <a:latin typeface="Arial"/>
                <a:cs typeface="Arial"/>
              </a:rPr>
              <a:t>Acute-care use</a:t>
            </a:r>
          </a:p>
        </p:txBody>
      </p:sp>
      <p:sp>
        <p:nvSpPr>
          <p:cNvPr id="18" name="Rectangle 17">
            <a:extLst>
              <a:ext uri="{FF2B5EF4-FFF2-40B4-BE49-F238E27FC236}">
                <a16:creationId xmlns:a16="http://schemas.microsoft.com/office/drawing/2014/main" id="{31097E70-2193-428B-91C6-11E1A97FBBDF}"/>
              </a:ext>
            </a:extLst>
          </p:cNvPr>
          <p:cNvSpPr>
            <a:spLocks noGrp="1"/>
          </p:cNvSpPr>
          <p:nvPr/>
        </p:nvSpPr>
        <p:spPr>
          <a:xfrm>
            <a:off x="558800" y="4572000"/>
            <a:ext cx="7810500" cy="2286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ctr"/>
            <a:r>
              <a:rPr lang="en-US" sz="1200" b="1" dirty="0">
                <a:solidFill>
                  <a:srgbClr val="110057"/>
                </a:solidFill>
                <a:latin typeface="Arial"/>
                <a:cs typeface="Arial"/>
              </a:rPr>
              <a:t>Model: LASSO / elastic-net Cox</a:t>
            </a:r>
            <a:r>
              <a:rPr lang="en-US" sz="1200" dirty="0">
                <a:solidFill>
                  <a:srgbClr val="2A2340"/>
                </a:solidFill>
                <a:latin typeface="Arial"/>
                <a:cs typeface="Arial"/>
              </a:rPr>
              <a:t>  ·  calibrated hazard at 30 / 90 / 365 days  ·  temporal test set 2023–2024</a:t>
            </a:r>
          </a:p>
        </p:txBody>
      </p:sp>
      <p:sp>
        <p:nvSpPr>
          <p:cNvPr id="6" name="cohort_strip">
            <a:extLst>
              <a:ext uri="{FF2B5EF4-FFF2-40B4-BE49-F238E27FC236}">
                <a16:creationId xmlns:a16="http://schemas.microsoft.com/office/drawing/2014/main" id="{9EDA2A68-4A73-5A44-9D80-D5FB3F50FAAF}"/>
              </a:ext>
            </a:extLst>
          </p:cNvPr>
          <p:cNvSpPr/>
          <p:nvPr/>
        </p:nvSpPr>
        <p:spPr>
          <a:xfrm>
            <a:off x="558800" y="1168400"/>
            <a:ext cx="7810500" cy="406400"/>
          </a:xfrm>
          <a:prstGeom prst="roundRect">
            <a:avLst/>
          </a:prstGeom>
          <a:solidFill>
            <a:srgbClr val="F4F1FF"/>
          </a:solidFill>
          <a:ln w="12700">
            <a:solidFill>
              <a:srgbClr val="E2DA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r>
              <a:rPr lang="en-US" sz="1200" dirty="0">
                <a:solidFill>
                  <a:srgbClr val="2A2340"/>
                </a:solidFill>
                <a:latin typeface="Arial"/>
                <a:cs typeface="Arial"/>
              </a:rPr>
              <a:t>Entry: ABG </a:t>
            </a:r>
            <a:r>
              <a:rPr lang="en-US" sz="1200" dirty="0" err="1">
                <a:solidFill>
                  <a:srgbClr val="2A2340"/>
                </a:solidFill>
                <a:latin typeface="Arial"/>
                <a:cs typeface="Arial"/>
              </a:rPr>
              <a:t>PaCO</a:t>
            </a:r>
            <a:r>
              <a:rPr lang="en-US" sz="1200" dirty="0">
                <a:solidFill>
                  <a:srgbClr val="2A2340"/>
                </a:solidFill>
                <a:latin typeface="Arial"/>
                <a:cs typeface="Arial"/>
              </a:rPr>
              <a:t>₂ &gt;45, VBG PCO₂ &gt;50, or ICD </a:t>
            </a:r>
            <a:r>
              <a:rPr lang="en-US" sz="1200" dirty="0" err="1">
                <a:solidFill>
                  <a:srgbClr val="2A2340"/>
                </a:solidFill>
                <a:latin typeface="Arial"/>
                <a:cs typeface="Arial"/>
              </a:rPr>
              <a:t>Hypercap</a:t>
            </a:r>
            <a:r>
              <a:rPr lang="en-US" sz="1200" dirty="0">
                <a:solidFill>
                  <a:srgbClr val="2A2340"/>
                </a:solidFill>
                <a:latin typeface="Arial"/>
                <a:cs typeface="Arial"/>
              </a:rPr>
              <a:t> RF codes  →  discharge = time zero (pre-routing)</a:t>
            </a:r>
          </a:p>
        </p:txBody>
      </p:sp>
      <p:sp>
        <p:nvSpPr>
          <p:cNvPr id="23" name="ocard4">
            <a:extLst>
              <a:ext uri="{FF2B5EF4-FFF2-40B4-BE49-F238E27FC236}">
                <a16:creationId xmlns:a16="http://schemas.microsoft.com/office/drawing/2014/main" id="{313C4403-EE1F-F642-BCAE-2E13308CDBF1}"/>
              </a:ext>
            </a:extLst>
          </p:cNvPr>
          <p:cNvSpPr/>
          <p:nvPr/>
        </p:nvSpPr>
        <p:spPr>
          <a:xfrm>
            <a:off x="5892800" y="1905000"/>
            <a:ext cx="2476500" cy="1066800"/>
          </a:xfrm>
          <a:prstGeom prst="roundRect">
            <a:avLst/>
          </a:prstGeom>
          <a:solidFill>
            <a:srgbClr val="F4F1FF"/>
          </a:solidFill>
          <a:ln w="9525">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ohead4">
            <a:extLst>
              <a:ext uri="{FF2B5EF4-FFF2-40B4-BE49-F238E27FC236}">
                <a16:creationId xmlns:a16="http://schemas.microsoft.com/office/drawing/2014/main" id="{3C8E03F1-F151-474E-9FDA-3300B39336E2}"/>
              </a:ext>
            </a:extLst>
          </p:cNvPr>
          <p:cNvSpPr txBox="1"/>
          <p:nvPr/>
        </p:nvSpPr>
        <p:spPr>
          <a:xfrm>
            <a:off x="6070600" y="2032000"/>
            <a:ext cx="2120900" cy="276999"/>
          </a:xfrm>
          <a:prstGeom prst="rect">
            <a:avLst/>
          </a:prstGeom>
          <a:noFill/>
        </p:spPr>
        <p:txBody>
          <a:bodyPr vertOverflow="overflow" vert="horz" wrap="square" rtlCol="0" anchor="t">
            <a:spAutoFit/>
          </a:bodyPr>
          <a:lstStyle/>
          <a:p>
            <a:pPr algn="l"/>
            <a:r>
              <a:rPr lang="en-US" sz="1200" b="1">
                <a:solidFill>
                  <a:srgbClr val="110057"/>
                </a:solidFill>
                <a:latin typeface="Arial"/>
                <a:cs typeface="Arial"/>
              </a:rPr>
              <a:t>Cost</a:t>
            </a:r>
          </a:p>
        </p:txBody>
      </p:sp>
      <p:sp>
        <p:nvSpPr>
          <p:cNvPr id="25" name="obody4">
            <a:extLst>
              <a:ext uri="{FF2B5EF4-FFF2-40B4-BE49-F238E27FC236}">
                <a16:creationId xmlns:a16="http://schemas.microsoft.com/office/drawing/2014/main" id="{768DF581-24A6-FF4A-B98B-6EE959700005}"/>
              </a:ext>
            </a:extLst>
          </p:cNvPr>
          <p:cNvSpPr txBox="1"/>
          <p:nvPr/>
        </p:nvSpPr>
        <p:spPr>
          <a:xfrm>
            <a:off x="6070600" y="2336800"/>
            <a:ext cx="2120900" cy="276999"/>
          </a:xfrm>
          <a:prstGeom prst="rect">
            <a:avLst/>
          </a:prstGeom>
          <a:noFill/>
        </p:spPr>
        <p:txBody>
          <a:bodyPr vertOverflow="overflow" vert="horz" wrap="square" rtlCol="0" anchor="t">
            <a:spAutoFit/>
          </a:bodyPr>
          <a:lstStyle/>
          <a:p>
            <a:pPr algn="l"/>
            <a:r>
              <a:rPr lang="en-US" sz="1200">
                <a:solidFill>
                  <a:srgbClr val="2A2340"/>
                </a:solidFill>
                <a:latin typeface="Arial"/>
                <a:cs typeface="Arial"/>
              </a:rPr>
              <a:t>1-year postdischarge cost</a:t>
            </a:r>
          </a:p>
        </p:txBody>
      </p:sp>
      <p:sp>
        <p:nvSpPr>
          <p:cNvPr id="10" name="TextBox 9">
            <a:extLst>
              <a:ext uri="{FF2B5EF4-FFF2-40B4-BE49-F238E27FC236}">
                <a16:creationId xmlns:a16="http://schemas.microsoft.com/office/drawing/2014/main" id="{017235C8-F42A-FE4E-B2A5-78724BDB6ACF}"/>
              </a:ext>
            </a:extLst>
          </p:cNvPr>
          <p:cNvSpPr txBox="1"/>
          <p:nvPr/>
        </p:nvSpPr>
        <p:spPr>
          <a:xfrm>
            <a:off x="558800" y="1701800"/>
            <a:ext cx="3810000" cy="177800"/>
          </a:xfrm>
          <a:prstGeom prst="rect">
            <a:avLst/>
          </a:prstGeom>
          <a:noFill/>
        </p:spPr>
        <p:txBody>
          <a:bodyPr vertOverflow="overflow" vert="horz" wrap="square" rtlCol="0" anchor="ctr" anchorCtr="0">
            <a:noAutofit/>
          </a:bodyPr>
          <a:lstStyle/>
          <a:p>
            <a:pPr algn="l"/>
            <a:r>
              <a:rPr lang="en-US" sz="1100" b="1">
                <a:solidFill>
                  <a:srgbClr val="4A00E2"/>
                </a:solidFill>
                <a:latin typeface="Arial"/>
                <a:cs typeface="Arial"/>
              </a:rPr>
              <a:t>PREDICTION TARGETS</a:t>
            </a:r>
          </a:p>
        </p:txBody>
      </p:sp>
      <p:sp>
        <p:nvSpPr>
          <p:cNvPr id="14" name="TextBox 13">
            <a:extLst>
              <a:ext uri="{FF2B5EF4-FFF2-40B4-BE49-F238E27FC236}">
                <a16:creationId xmlns:a16="http://schemas.microsoft.com/office/drawing/2014/main" id="{EDB951B1-802F-724B-A004-C81ED06AA0B2}"/>
              </a:ext>
            </a:extLst>
          </p:cNvPr>
          <p:cNvSpPr txBox="1"/>
          <p:nvPr/>
        </p:nvSpPr>
        <p:spPr>
          <a:xfrm>
            <a:off x="558800" y="3124200"/>
            <a:ext cx="3810000" cy="177800"/>
          </a:xfrm>
          <a:prstGeom prst="rect">
            <a:avLst/>
          </a:prstGeom>
          <a:noFill/>
        </p:spPr>
        <p:txBody>
          <a:bodyPr vertOverflow="overflow" vert="horz" wrap="square" rtlCol="0" anchor="ctr" anchorCtr="0">
            <a:noAutofit/>
          </a:bodyPr>
          <a:lstStyle/>
          <a:p>
            <a:pPr algn="l"/>
            <a:r>
              <a:rPr lang="en-US" sz="1100" b="1">
                <a:solidFill>
                  <a:srgbClr val="4A00E2"/>
                </a:solidFill>
                <a:latin typeface="Arial"/>
                <a:cs typeface="Arial"/>
              </a:rPr>
              <a:t>PREDICTOR SETS</a:t>
            </a:r>
          </a:p>
        </p:txBody>
      </p:sp>
      <p:sp>
        <p:nvSpPr>
          <p:cNvPr id="15" name="Rectangle 14">
            <a:extLst>
              <a:ext uri="{FF2B5EF4-FFF2-40B4-BE49-F238E27FC236}">
                <a16:creationId xmlns:a16="http://schemas.microsoft.com/office/drawing/2014/main" id="{F631CA94-DC30-3644-A4AD-9C9D924A0119}"/>
              </a:ext>
            </a:extLst>
          </p:cNvPr>
          <p:cNvSpPr/>
          <p:nvPr/>
        </p:nvSpPr>
        <p:spPr>
          <a:xfrm>
            <a:off x="558800" y="3327400"/>
            <a:ext cx="2476500" cy="1066800"/>
          </a:xfrm>
          <a:prstGeom prst="rect">
            <a:avLst/>
          </a:prstGeom>
          <a:solidFill>
            <a:srgbClr val="F4F1FF"/>
          </a:solidFill>
          <a:ln w="12700">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B75F96C2-D78F-3F41-9E38-12509FE9C79E}"/>
              </a:ext>
            </a:extLst>
          </p:cNvPr>
          <p:cNvSpPr txBox="1"/>
          <p:nvPr/>
        </p:nvSpPr>
        <p:spPr>
          <a:xfrm>
            <a:off x="736600" y="3454400"/>
            <a:ext cx="2120900" cy="431800"/>
          </a:xfrm>
          <a:prstGeom prst="rect">
            <a:avLst/>
          </a:prstGeom>
          <a:noFill/>
        </p:spPr>
        <p:txBody>
          <a:bodyPr vertOverflow="overflow" vert="horz" wrap="square" rtlCol="0" anchor="t" anchorCtr="0">
            <a:noAutofit/>
          </a:bodyPr>
          <a:lstStyle/>
          <a:p>
            <a:pPr algn="l"/>
            <a:r>
              <a:rPr lang="en-US" sz="1200" b="1">
                <a:solidFill>
                  <a:srgbClr val="110057"/>
                </a:solidFill>
                <a:latin typeface="Arial"/>
                <a:cs typeface="Arial"/>
              </a:rPr>
              <a:t>Set 1 · Early structured EHR</a:t>
            </a:r>
          </a:p>
        </p:txBody>
      </p:sp>
      <p:sp>
        <p:nvSpPr>
          <p:cNvPr id="17" name="TextBox 16">
            <a:extLst>
              <a:ext uri="{FF2B5EF4-FFF2-40B4-BE49-F238E27FC236}">
                <a16:creationId xmlns:a16="http://schemas.microsoft.com/office/drawing/2014/main" id="{DBA465A0-55EA-8E47-B6EB-6DF8666FD99E}"/>
              </a:ext>
            </a:extLst>
          </p:cNvPr>
          <p:cNvSpPr txBox="1"/>
          <p:nvPr/>
        </p:nvSpPr>
        <p:spPr>
          <a:xfrm>
            <a:off x="736600" y="3810000"/>
            <a:ext cx="2120900" cy="5334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Recognition-stage risk</a:t>
            </a:r>
          </a:p>
        </p:txBody>
      </p:sp>
      <p:sp>
        <p:nvSpPr>
          <p:cNvPr id="19" name="Rectangle 18">
            <a:extLst>
              <a:ext uri="{FF2B5EF4-FFF2-40B4-BE49-F238E27FC236}">
                <a16:creationId xmlns:a16="http://schemas.microsoft.com/office/drawing/2014/main" id="{80573A01-B231-8749-AD5E-7070DF0D681D}"/>
              </a:ext>
            </a:extLst>
          </p:cNvPr>
          <p:cNvSpPr/>
          <p:nvPr/>
        </p:nvSpPr>
        <p:spPr>
          <a:xfrm>
            <a:off x="3225800" y="3327400"/>
            <a:ext cx="2476500" cy="1066800"/>
          </a:xfrm>
          <a:prstGeom prst="rect">
            <a:avLst/>
          </a:prstGeom>
          <a:solidFill>
            <a:srgbClr val="F4F1FF"/>
          </a:solidFill>
          <a:ln w="12700">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A46EC85A-6912-BC4C-9329-A92BFC43C996}"/>
              </a:ext>
            </a:extLst>
          </p:cNvPr>
          <p:cNvSpPr txBox="1"/>
          <p:nvPr/>
        </p:nvSpPr>
        <p:spPr>
          <a:xfrm>
            <a:off x="3403600" y="3454400"/>
            <a:ext cx="2120900" cy="431800"/>
          </a:xfrm>
          <a:prstGeom prst="rect">
            <a:avLst/>
          </a:prstGeom>
          <a:noFill/>
        </p:spPr>
        <p:txBody>
          <a:bodyPr vertOverflow="overflow" vert="horz" wrap="square" rtlCol="0" anchor="t" anchorCtr="0">
            <a:noAutofit/>
          </a:bodyPr>
          <a:lstStyle/>
          <a:p>
            <a:pPr algn="l"/>
            <a:r>
              <a:rPr lang="en-US" sz="1200" b="1">
                <a:solidFill>
                  <a:srgbClr val="110057"/>
                </a:solidFill>
                <a:latin typeface="Arial"/>
                <a:cs typeface="Arial"/>
              </a:rPr>
              <a:t>Set 2 · Discharge-available EHR</a:t>
            </a:r>
          </a:p>
        </p:txBody>
      </p:sp>
      <p:sp>
        <p:nvSpPr>
          <p:cNvPr id="22" name="TextBox 21">
            <a:extLst>
              <a:ext uri="{FF2B5EF4-FFF2-40B4-BE49-F238E27FC236}">
                <a16:creationId xmlns:a16="http://schemas.microsoft.com/office/drawing/2014/main" id="{1FC42074-F13E-034F-8CE1-591AD59266F3}"/>
              </a:ext>
            </a:extLst>
          </p:cNvPr>
          <p:cNvSpPr txBox="1"/>
          <p:nvPr/>
        </p:nvSpPr>
        <p:spPr>
          <a:xfrm>
            <a:off x="3403600" y="3810000"/>
            <a:ext cx="2120900" cy="533400"/>
          </a:xfrm>
          <a:prstGeom prst="rect">
            <a:avLst/>
          </a:prstGeom>
          <a:noFill/>
        </p:spPr>
        <p:txBody>
          <a:bodyPr vertOverflow="overflow" vert="horz" wrap="square" rtlCol="0" anchor="t" anchorCtr="0">
            <a:noAutofit/>
          </a:bodyPr>
          <a:lstStyle/>
          <a:p>
            <a:pPr algn="l"/>
            <a:r>
              <a:rPr lang="en-US" sz="1200">
                <a:solidFill>
                  <a:srgbClr val="4A00E2"/>
                </a:solidFill>
                <a:latin typeface="Arial"/>
                <a:cs typeface="Arial"/>
              </a:rPr>
              <a:t>Primary scalable model</a:t>
            </a:r>
          </a:p>
        </p:txBody>
      </p:sp>
      <p:sp>
        <p:nvSpPr>
          <p:cNvPr id="26" name="Rectangle 25">
            <a:extLst>
              <a:ext uri="{FF2B5EF4-FFF2-40B4-BE49-F238E27FC236}">
                <a16:creationId xmlns:a16="http://schemas.microsoft.com/office/drawing/2014/main" id="{DA29B311-E209-5C4F-9CDB-C7D2D38136E5}"/>
              </a:ext>
            </a:extLst>
          </p:cNvPr>
          <p:cNvSpPr/>
          <p:nvPr/>
        </p:nvSpPr>
        <p:spPr>
          <a:xfrm>
            <a:off x="5892800" y="3327400"/>
            <a:ext cx="2476500" cy="1066800"/>
          </a:xfrm>
          <a:prstGeom prst="rect">
            <a:avLst/>
          </a:prstGeom>
          <a:solidFill>
            <a:srgbClr val="F4F1FF"/>
          </a:solidFill>
          <a:ln w="12700">
            <a:solidFill>
              <a:srgbClr val="EDE7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4CC90A36-D32C-E342-807C-0D1C1F08BEFD}"/>
              </a:ext>
            </a:extLst>
          </p:cNvPr>
          <p:cNvSpPr txBox="1"/>
          <p:nvPr/>
        </p:nvSpPr>
        <p:spPr>
          <a:xfrm>
            <a:off x="6070600" y="3454400"/>
            <a:ext cx="2120900" cy="431800"/>
          </a:xfrm>
          <a:prstGeom prst="rect">
            <a:avLst/>
          </a:prstGeom>
          <a:noFill/>
        </p:spPr>
        <p:txBody>
          <a:bodyPr vertOverflow="overflow" vert="horz" wrap="square" rtlCol="0" anchor="t" anchorCtr="0">
            <a:noAutofit/>
          </a:bodyPr>
          <a:lstStyle/>
          <a:p>
            <a:pPr algn="l"/>
            <a:r>
              <a:rPr lang="en-US" sz="1200" b="1">
                <a:solidFill>
                  <a:srgbClr val="110057"/>
                </a:solidFill>
                <a:latin typeface="Arial"/>
                <a:cs typeface="Arial"/>
              </a:rPr>
              <a:t>Set 3 · Claims + finalized discharge</a:t>
            </a:r>
          </a:p>
        </p:txBody>
      </p:sp>
      <p:sp>
        <p:nvSpPr>
          <p:cNvPr id="28" name="TextBox 27">
            <a:extLst>
              <a:ext uri="{FF2B5EF4-FFF2-40B4-BE49-F238E27FC236}">
                <a16:creationId xmlns:a16="http://schemas.microsoft.com/office/drawing/2014/main" id="{9C1D5FED-550F-DB41-BA9F-C290E84B4914}"/>
              </a:ext>
            </a:extLst>
          </p:cNvPr>
          <p:cNvSpPr txBox="1"/>
          <p:nvPr/>
        </p:nvSpPr>
        <p:spPr>
          <a:xfrm>
            <a:off x="6070600" y="3810000"/>
            <a:ext cx="2120900" cy="5334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Approximate upper bound</a:t>
            </a:r>
          </a:p>
        </p:txBody>
      </p:sp>
    </p:spTree>
    <p:extLst>
      <p:ext uri="{BB962C8B-B14F-4D97-AF65-F5344CB8AC3E}">
        <p14:creationId xmlns:p14="http://schemas.microsoft.com/office/powerpoint/2010/main" val="2671550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F3BEE36-34FF-43C8-A717-9DB17851F72E}"/>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71545A0B-9036-4CE6-972C-109F74ECCC4D}"/>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6C407A22-D193-4D48-AE41-107F72106BA8}"/>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AIM 3 | FEASIBILITY TRIAL</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B71BFB34-DA86-4F42-BB28-BD655AA2AEC2}"/>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2400" b="1">
                <a:solidFill>
                  <a:srgbClr val="110057"/>
                </a:solidFill>
                <a:latin typeface="Arial"/>
                <a:ea typeface="Arial"/>
                <a:cs typeface="Arial"/>
              </a:defRPr>
            </a:pPr>
            <a:r>
              <a:rPr lang="en-US" sz="2400" b="1">
                <a:solidFill>
                  <a:srgbClr val="110057"/>
                </a:solidFill>
                <a:latin typeface="Arial"/>
                <a:ea typeface="Arial"/>
                <a:cs typeface="Arial"/>
              </a:rPr>
              <a:t>Aim 3 tests whether structured assessment is feasible in high-risk HRF transitions</a:t>
            </a:r>
            <a:endParaRPr sz="2400" b="1">
              <a:solidFill>
                <a:srgbClr val="110057"/>
              </a:solidFill>
              <a:latin typeface="Arial"/>
              <a:ea typeface="Arial"/>
              <a:cs typeface="Arial"/>
            </a:endParaRPr>
          </a:p>
        </p:txBody>
      </p:sp>
      <p:sp>
        <p:nvSpPr>
          <p:cNvPr id="7" name="Rectangle 6">
            <a:extLst>
              <a:ext uri="{FF2B5EF4-FFF2-40B4-BE49-F238E27FC236}">
                <a16:creationId xmlns:a16="http://schemas.microsoft.com/office/drawing/2014/main" id="{DEBB826E-F6E1-4520-8F15-A55EE91A18C1}"/>
              </a:ext>
            </a:extLst>
          </p:cNvPr>
          <p:cNvSpPr>
            <a:spLocks noGrp="1"/>
          </p:cNvSpPr>
          <p:nvPr/>
        </p:nvSpPr>
        <p:spPr>
          <a:xfrm>
            <a:off x="857250" y="1473200"/>
            <a:ext cx="2311400" cy="19304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8" name="Rectangle 7">
            <a:extLst>
              <a:ext uri="{FF2B5EF4-FFF2-40B4-BE49-F238E27FC236}">
                <a16:creationId xmlns:a16="http://schemas.microsoft.com/office/drawing/2014/main" id="{AE22E805-C699-47C4-BF98-0ECE14B3E78D}"/>
              </a:ext>
            </a:extLst>
          </p:cNvPr>
          <p:cNvSpPr>
            <a:spLocks noGrp="1"/>
          </p:cNvSpPr>
          <p:nvPr/>
        </p:nvSpPr>
        <p:spPr>
          <a:xfrm>
            <a:off x="971550" y="1574800"/>
            <a:ext cx="2082800" cy="457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310" b="1">
                <a:solidFill>
                  <a:srgbClr val="4A00E2"/>
                </a:solidFill>
                <a:latin typeface="Arial"/>
                <a:ea typeface="Arial"/>
                <a:cs typeface="Arial"/>
              </a:defRPr>
            </a:pPr>
            <a:r>
              <a:rPr lang="en-US" sz="1600" b="1">
                <a:solidFill>
                  <a:srgbClr val="5A00FF"/>
                </a:solidFill>
                <a:latin typeface="Arial"/>
                <a:ea typeface="Arial"/>
                <a:cs typeface="Arial"/>
              </a:rPr>
              <a:t>Prespecified high-risk group</a:t>
            </a:r>
            <a:endParaRPr sz="1600" b="1">
              <a:solidFill>
                <a:srgbClr val="5A00FF"/>
              </a:solidFill>
              <a:latin typeface="Arial"/>
              <a:ea typeface="Arial"/>
              <a:cs typeface="Arial"/>
            </a:endParaRPr>
          </a:p>
        </p:txBody>
      </p:sp>
      <p:sp>
        <p:nvSpPr>
          <p:cNvPr id="9" name="Rectangle 8">
            <a:extLst>
              <a:ext uri="{FF2B5EF4-FFF2-40B4-BE49-F238E27FC236}">
                <a16:creationId xmlns:a16="http://schemas.microsoft.com/office/drawing/2014/main" id="{3EE0BDEF-4E7E-4DC7-A231-53A3AF4A065B}"/>
              </a:ext>
            </a:extLst>
          </p:cNvPr>
          <p:cNvSpPr>
            <a:spLocks noGrp="1"/>
          </p:cNvSpPr>
          <p:nvPr/>
        </p:nvSpPr>
        <p:spPr>
          <a:xfrm>
            <a:off x="971550" y="2082800"/>
            <a:ext cx="2159000" cy="1066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029" b="0">
                <a:solidFill>
                  <a:srgbClr val="110057"/>
                </a:solidFill>
                <a:latin typeface="Arial"/>
                <a:ea typeface="Arial"/>
                <a:cs typeface="Arial"/>
              </a:defRPr>
            </a:pPr>
            <a:r>
              <a:rPr lang="en-US" sz="1600" dirty="0" err="1">
                <a:solidFill>
                  <a:srgbClr val="120047"/>
                </a:solidFill>
                <a:latin typeface="Arial"/>
                <a:ea typeface="Arial"/>
                <a:cs typeface="Arial"/>
              </a:rPr>
              <a:t>Hypercap</a:t>
            </a:r>
            <a:r>
              <a:rPr lang="en-US" sz="1600" dirty="0">
                <a:solidFill>
                  <a:srgbClr val="120047"/>
                </a:solidFill>
                <a:latin typeface="Arial"/>
                <a:ea typeface="Arial"/>
                <a:cs typeface="Arial"/>
              </a:rPr>
              <a:t> RF diagnosis code + no prior PFT/sleep study + enrichment criteria</a:t>
            </a:r>
            <a:endParaRPr sz="1600" dirty="0">
              <a:solidFill>
                <a:srgbClr val="120047"/>
              </a:solidFill>
              <a:latin typeface="Arial"/>
              <a:ea typeface="Arial"/>
              <a:cs typeface="Arial"/>
            </a:endParaRPr>
          </a:p>
        </p:txBody>
      </p:sp>
      <p:sp>
        <p:nvSpPr>
          <p:cNvPr id="10" name="Rectangle 9">
            <a:extLst>
              <a:ext uri="{FF2B5EF4-FFF2-40B4-BE49-F238E27FC236}">
                <a16:creationId xmlns:a16="http://schemas.microsoft.com/office/drawing/2014/main" id="{2787CC3D-58BE-4408-9404-359FBB8A4747}"/>
              </a:ext>
            </a:extLst>
          </p:cNvPr>
          <p:cNvSpPr>
            <a:spLocks noGrp="1"/>
          </p:cNvSpPr>
          <p:nvPr/>
        </p:nvSpPr>
        <p:spPr>
          <a:xfrm>
            <a:off x="3178175" y="2438400"/>
            <a:ext cx="3048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871" b="1">
                <a:solidFill>
                  <a:srgbClr val="4A4170"/>
                </a:solidFill>
                <a:latin typeface="Arial"/>
                <a:ea typeface="Arial"/>
                <a:cs typeface="Arial"/>
              </a:defRPr>
            </a:pPr>
            <a:r>
              <a:rPr lang="en-US" sz="1600" b="1">
                <a:solidFill>
                  <a:srgbClr val="4A4170"/>
                </a:solidFill>
                <a:latin typeface="Arial"/>
                <a:ea typeface="Arial"/>
                <a:cs typeface="Arial"/>
              </a:rPr>
              <a:t>→</a:t>
            </a:r>
            <a:endParaRPr sz="1600" b="1">
              <a:solidFill>
                <a:srgbClr val="4A4170"/>
              </a:solidFill>
              <a:latin typeface="Arial"/>
              <a:ea typeface="Arial"/>
              <a:cs typeface="Arial"/>
            </a:endParaRPr>
          </a:p>
        </p:txBody>
      </p:sp>
      <p:sp>
        <p:nvSpPr>
          <p:cNvPr id="11" name="Rectangle 10">
            <a:extLst>
              <a:ext uri="{FF2B5EF4-FFF2-40B4-BE49-F238E27FC236}">
                <a16:creationId xmlns:a16="http://schemas.microsoft.com/office/drawing/2014/main" id="{C264D400-F3E8-4E7E-B5CF-2D0CB15D78B6}"/>
              </a:ext>
            </a:extLst>
          </p:cNvPr>
          <p:cNvSpPr>
            <a:spLocks noGrp="1"/>
          </p:cNvSpPr>
          <p:nvPr/>
        </p:nvSpPr>
        <p:spPr>
          <a:xfrm>
            <a:off x="3416300" y="1473200"/>
            <a:ext cx="2311400" cy="19304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1D48157D-70B8-4A7C-B4EA-227992FC7BE8}"/>
              </a:ext>
            </a:extLst>
          </p:cNvPr>
          <p:cNvSpPr>
            <a:spLocks noGrp="1"/>
          </p:cNvSpPr>
          <p:nvPr/>
        </p:nvSpPr>
        <p:spPr>
          <a:xfrm>
            <a:off x="3530600" y="1574800"/>
            <a:ext cx="2082800" cy="457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310" b="1">
                <a:solidFill>
                  <a:srgbClr val="4A00E2"/>
                </a:solidFill>
                <a:latin typeface="Arial"/>
                <a:ea typeface="Arial"/>
                <a:cs typeface="Arial"/>
              </a:defRPr>
            </a:pPr>
            <a:r>
              <a:rPr lang="en-US" sz="1600" b="1">
                <a:solidFill>
                  <a:srgbClr val="5A00FF"/>
                </a:solidFill>
                <a:latin typeface="Arial"/>
                <a:ea typeface="Arial"/>
                <a:cs typeface="Arial"/>
              </a:rPr>
              <a:t>Navigator assessment</a:t>
            </a:r>
            <a:endParaRPr sz="1600" b="1">
              <a:solidFill>
                <a:srgbClr val="5A00FF"/>
              </a:solidFill>
              <a:latin typeface="Arial"/>
              <a:ea typeface="Arial"/>
              <a:cs typeface="Arial"/>
            </a:endParaRPr>
          </a:p>
        </p:txBody>
      </p:sp>
      <p:sp>
        <p:nvSpPr>
          <p:cNvPr id="13" name="Rectangle 12">
            <a:extLst>
              <a:ext uri="{FF2B5EF4-FFF2-40B4-BE49-F238E27FC236}">
                <a16:creationId xmlns:a16="http://schemas.microsoft.com/office/drawing/2014/main" id="{A009E8CC-7B46-4143-BD75-51DDCC703A26}"/>
              </a:ext>
            </a:extLst>
          </p:cNvPr>
          <p:cNvSpPr>
            <a:spLocks noGrp="1"/>
          </p:cNvSpPr>
          <p:nvPr/>
        </p:nvSpPr>
        <p:spPr>
          <a:xfrm>
            <a:off x="3530600" y="2082800"/>
            <a:ext cx="2159000" cy="1066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029" b="0">
                <a:solidFill>
                  <a:srgbClr val="110057"/>
                </a:solidFill>
                <a:latin typeface="Arial"/>
                <a:ea typeface="Arial"/>
                <a:cs typeface="Arial"/>
              </a:defRPr>
            </a:pPr>
            <a:r>
              <a:rPr lang="en-US" sz="1600" dirty="0">
                <a:solidFill>
                  <a:srgbClr val="120047"/>
                </a:solidFill>
                <a:latin typeface="Arial"/>
                <a:ea typeface="Arial"/>
                <a:cs typeface="Arial"/>
              </a:rPr>
              <a:t>care gaps, etiology clues, barriers, medications, equipment, follow-up needs</a:t>
            </a:r>
          </a:p>
        </p:txBody>
      </p:sp>
      <p:sp>
        <p:nvSpPr>
          <p:cNvPr id="14" name="Rectangle 13">
            <a:extLst>
              <a:ext uri="{FF2B5EF4-FFF2-40B4-BE49-F238E27FC236}">
                <a16:creationId xmlns:a16="http://schemas.microsoft.com/office/drawing/2014/main" id="{F7552757-4518-4BFB-91AF-28567BA4FEEB}"/>
              </a:ext>
            </a:extLst>
          </p:cNvPr>
          <p:cNvSpPr>
            <a:spLocks noGrp="1"/>
          </p:cNvSpPr>
          <p:nvPr/>
        </p:nvSpPr>
        <p:spPr>
          <a:xfrm>
            <a:off x="5737225" y="2438400"/>
            <a:ext cx="30480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871" b="1">
                <a:solidFill>
                  <a:srgbClr val="4A4170"/>
                </a:solidFill>
                <a:latin typeface="Arial"/>
                <a:ea typeface="Arial"/>
                <a:cs typeface="Arial"/>
              </a:defRPr>
            </a:pPr>
            <a:r>
              <a:rPr lang="en-US" sz="1600" b="1">
                <a:solidFill>
                  <a:srgbClr val="4A4170"/>
                </a:solidFill>
                <a:latin typeface="Arial"/>
                <a:ea typeface="Arial"/>
                <a:cs typeface="Arial"/>
              </a:rPr>
              <a:t>→</a:t>
            </a:r>
            <a:endParaRPr sz="1600" b="1">
              <a:solidFill>
                <a:srgbClr val="4A4170"/>
              </a:solidFill>
              <a:latin typeface="Arial"/>
              <a:ea typeface="Arial"/>
              <a:cs typeface="Arial"/>
            </a:endParaRPr>
          </a:p>
        </p:txBody>
      </p:sp>
      <p:sp>
        <p:nvSpPr>
          <p:cNvPr id="15" name="Rectangle 14">
            <a:extLst>
              <a:ext uri="{FF2B5EF4-FFF2-40B4-BE49-F238E27FC236}">
                <a16:creationId xmlns:a16="http://schemas.microsoft.com/office/drawing/2014/main" id="{99487B28-724F-4810-B540-EEF1DBD9EEAE}"/>
              </a:ext>
            </a:extLst>
          </p:cNvPr>
          <p:cNvSpPr>
            <a:spLocks noGrp="1"/>
          </p:cNvSpPr>
          <p:nvPr/>
        </p:nvSpPr>
        <p:spPr>
          <a:xfrm>
            <a:off x="5975350" y="1473200"/>
            <a:ext cx="2311400" cy="19304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6" name="Rectangle 15">
            <a:extLst>
              <a:ext uri="{FF2B5EF4-FFF2-40B4-BE49-F238E27FC236}">
                <a16:creationId xmlns:a16="http://schemas.microsoft.com/office/drawing/2014/main" id="{CFC34E3C-1B5A-4EDB-8F67-C560D6E89961}"/>
              </a:ext>
            </a:extLst>
          </p:cNvPr>
          <p:cNvSpPr>
            <a:spLocks noGrp="1"/>
          </p:cNvSpPr>
          <p:nvPr/>
        </p:nvSpPr>
        <p:spPr>
          <a:xfrm>
            <a:off x="6089650" y="1574800"/>
            <a:ext cx="2082800" cy="4572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buNone/>
            </a:pPr>
            <a:r>
              <a:rPr lang="en-US" sz="1600" b="1" dirty="0">
                <a:solidFill>
                  <a:srgbClr val="5A00FF"/>
                </a:solidFill>
                <a:latin typeface="Arial"/>
                <a:ea typeface="Arial"/>
                <a:cs typeface="Arial"/>
              </a:rPr>
              <a:t>Feasibility readouts</a:t>
            </a:r>
          </a:p>
        </p:txBody>
      </p:sp>
      <p:sp>
        <p:nvSpPr>
          <p:cNvPr id="17" name="Rectangle 16">
            <a:extLst>
              <a:ext uri="{FF2B5EF4-FFF2-40B4-BE49-F238E27FC236}">
                <a16:creationId xmlns:a16="http://schemas.microsoft.com/office/drawing/2014/main" id="{7092875A-387B-42B6-937E-000A0C4D5351}"/>
              </a:ext>
            </a:extLst>
          </p:cNvPr>
          <p:cNvSpPr>
            <a:spLocks noGrp="1"/>
          </p:cNvSpPr>
          <p:nvPr/>
        </p:nvSpPr>
        <p:spPr>
          <a:xfrm>
            <a:off x="6089650" y="2082800"/>
            <a:ext cx="2159000" cy="1066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l">
              <a:defRPr sz="1029" b="0">
                <a:solidFill>
                  <a:srgbClr val="110057"/>
                </a:solidFill>
                <a:latin typeface="Arial"/>
                <a:ea typeface="Arial"/>
                <a:cs typeface="Arial"/>
              </a:defRPr>
            </a:pPr>
            <a:r>
              <a:rPr lang="en-US" sz="1600">
                <a:solidFill>
                  <a:srgbClr val="120047"/>
                </a:solidFill>
                <a:latin typeface="Arial"/>
                <a:ea typeface="Arial"/>
                <a:cs typeface="Arial"/>
              </a:rPr>
              <a:t>reach, fidelity, acceptability, burden, barriers, 90-day indicated testing</a:t>
            </a:r>
            <a:endParaRPr sz="1600">
              <a:solidFill>
                <a:srgbClr val="120047"/>
              </a:solidFill>
              <a:latin typeface="Arial"/>
              <a:ea typeface="Arial"/>
              <a:cs typeface="Arial"/>
            </a:endParaRPr>
          </a:p>
        </p:txBody>
      </p:sp>
      <p:sp>
        <p:nvSpPr>
          <p:cNvPr id="18" name="Rectangle 17">
            <a:extLst>
              <a:ext uri="{FF2B5EF4-FFF2-40B4-BE49-F238E27FC236}">
                <a16:creationId xmlns:a16="http://schemas.microsoft.com/office/drawing/2014/main" id="{42D709D1-DAED-4FDA-9C6C-4342D22214D0}"/>
              </a:ext>
            </a:extLst>
          </p:cNvPr>
          <p:cNvSpPr>
            <a:spLocks noGrp="1"/>
          </p:cNvSpPr>
          <p:nvPr/>
        </p:nvSpPr>
        <p:spPr>
          <a:xfrm>
            <a:off x="1600200" y="3556000"/>
            <a:ext cx="5943600" cy="304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ctr"/>
            <a:r>
              <a:rPr lang="en-US" sz="1400" b="1" dirty="0">
                <a:solidFill>
                  <a:srgbClr val="5A00FF"/>
                </a:solidFill>
                <a:latin typeface="Arial"/>
                <a:cs typeface="Arial"/>
              </a:rPr>
              <a:t>Embedded randomized feasibility trial: ~40 patients, 1-3 sites</a:t>
            </a:r>
          </a:p>
        </p:txBody>
      </p:sp>
      <p:sp>
        <p:nvSpPr>
          <p:cNvPr id="19" name="Rectangle 18">
            <a:extLst>
              <a:ext uri="{FF2B5EF4-FFF2-40B4-BE49-F238E27FC236}">
                <a16:creationId xmlns:a16="http://schemas.microsoft.com/office/drawing/2014/main" id="{6FFE1807-9C0F-41B0-B59D-8D83B9750689}"/>
              </a:ext>
            </a:extLst>
          </p:cNvPr>
          <p:cNvSpPr>
            <a:spLocks noGrp="1"/>
          </p:cNvSpPr>
          <p:nvPr/>
        </p:nvSpPr>
        <p:spPr>
          <a:xfrm>
            <a:off x="1524000" y="3962400"/>
            <a:ext cx="6096000" cy="5588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oAutofit/>
          </a:bodyPr>
          <a:lstStyle/>
          <a:p>
            <a:pPr algn="ctr"/>
            <a:r>
              <a:rPr lang="en-US" sz="1400" b="1" dirty="0">
                <a:solidFill>
                  <a:srgbClr val="110057"/>
                </a:solidFill>
                <a:latin typeface="Arial"/>
                <a:cs typeface="Arial"/>
              </a:rPr>
              <a:t>Estimates workflow requirements (not clinical outcomes), setting the stage for a characterization study (R03) or effectiveness trial (R01).</a:t>
            </a:r>
          </a:p>
        </p:txBody>
      </p:sp>
    </p:spTree>
    <p:extLst>
      <p:ext uri="{BB962C8B-B14F-4D97-AF65-F5344CB8AC3E}">
        <p14:creationId xmlns:p14="http://schemas.microsoft.com/office/powerpoint/2010/main" val="3477894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6E630E-44E9-054A-88BC-96E419D2A11F}"/>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C6514DA5-9146-DA4C-B671-BF4377D4E837}"/>
              </a:ext>
            </a:extLst>
          </p:cNvPr>
          <p:cNvSpPr/>
          <p:nvPr/>
        </p:nvSpPr>
        <p:spPr>
          <a:xfrm>
            <a:off x="355600" y="736600"/>
            <a:ext cx="63500" cy="3657600"/>
          </a:xfrm>
          <a:prstGeom prst="rect">
            <a:avLst/>
          </a:prstGeom>
          <a:solidFill>
            <a:srgbClr val="4A00E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3D8A75FA-98E4-FB44-93F7-7E208A3B319A}"/>
              </a:ext>
            </a:extLst>
          </p:cNvPr>
          <p:cNvSpPr txBox="1"/>
          <p:nvPr/>
        </p:nvSpPr>
        <p:spPr>
          <a:xfrm>
            <a:off x="635000" y="330200"/>
            <a:ext cx="6604000" cy="177800"/>
          </a:xfrm>
          <a:prstGeom prst="rect">
            <a:avLst/>
          </a:prstGeom>
          <a:noFill/>
        </p:spPr>
        <p:txBody>
          <a:bodyPr vertOverflow="overflow" vert="horz" wrap="square" rtlCol="0" anchor="t">
            <a:noAutofit/>
          </a:bodyPr>
          <a:lstStyle/>
          <a:p>
            <a:pPr algn="l"/>
            <a:r>
              <a:rPr lang="en-US" sz="1000" b="1" dirty="0">
                <a:solidFill>
                  <a:srgbClr val="4A00E2"/>
                </a:solidFill>
                <a:latin typeface="Arial"/>
                <a:ea typeface="Arial"/>
                <a:cs typeface="Arial"/>
              </a:rPr>
              <a:t>TRIAL APPRAISAL | PREDICTION MODELS</a:t>
            </a:r>
          </a:p>
        </p:txBody>
      </p:sp>
      <p:sp>
        <p:nvSpPr>
          <p:cNvPr id="6" name="TextBox 5">
            <a:extLst>
              <a:ext uri="{FF2B5EF4-FFF2-40B4-BE49-F238E27FC236}">
                <a16:creationId xmlns:a16="http://schemas.microsoft.com/office/drawing/2014/main" id="{A01CA51A-9E3F-7547-A0B8-73DDA3EBF772}"/>
              </a:ext>
            </a:extLst>
          </p:cNvPr>
          <p:cNvSpPr txBox="1"/>
          <p:nvPr/>
        </p:nvSpPr>
        <p:spPr>
          <a:xfrm>
            <a:off x="635000" y="702636"/>
            <a:ext cx="8001000" cy="685800"/>
          </a:xfrm>
          <a:prstGeom prst="rect">
            <a:avLst/>
          </a:prstGeom>
          <a:noFill/>
        </p:spPr>
        <p:txBody>
          <a:bodyPr vertOverflow="overflow" vert="horz" wrap="square" rtlCol="0" anchor="t">
            <a:normAutofit fontScale="92500" lnSpcReduction="20000"/>
          </a:bodyPr>
          <a:lstStyle/>
          <a:p>
            <a:pPr algn="l"/>
            <a:r>
              <a:rPr lang="en-US" sz="2400" b="1" dirty="0">
                <a:solidFill>
                  <a:srgbClr val="110057"/>
                </a:solidFill>
                <a:latin typeface="Arial"/>
                <a:ea typeface="Arial"/>
                <a:cs typeface="Arial"/>
              </a:rPr>
              <a:t>Prediction models help interpret trials across design, estimates, and application</a:t>
            </a:r>
          </a:p>
        </p:txBody>
      </p:sp>
      <p:sp>
        <p:nvSpPr>
          <p:cNvPr id="8" name="Rectangle 7">
            <a:extLst>
              <a:ext uri="{FF2B5EF4-FFF2-40B4-BE49-F238E27FC236}">
                <a16:creationId xmlns:a16="http://schemas.microsoft.com/office/drawing/2014/main" id="{8EBDEB86-0EFD-CE40-AB02-2799E2930C08}"/>
              </a:ext>
            </a:extLst>
          </p:cNvPr>
          <p:cNvSpPr/>
          <p:nvPr/>
        </p:nvSpPr>
        <p:spPr>
          <a:xfrm>
            <a:off x="889000" y="1841500"/>
            <a:ext cx="2222500" cy="19050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37DB52FF-5FBF-7D40-9168-43DA67882A9F}"/>
              </a:ext>
            </a:extLst>
          </p:cNvPr>
          <p:cNvSpPr/>
          <p:nvPr/>
        </p:nvSpPr>
        <p:spPr>
          <a:xfrm>
            <a:off x="1092200" y="2070100"/>
            <a:ext cx="890712" cy="304800"/>
          </a:xfrm>
          <a:prstGeom prst="rect">
            <a:avLst/>
          </a:prstGeom>
          <a:solidFill>
            <a:srgbClr val="FF5D5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294AF5C1-D616-314A-8007-8C6E9CE54579}"/>
              </a:ext>
            </a:extLst>
          </p:cNvPr>
          <p:cNvSpPr txBox="1"/>
          <p:nvPr/>
        </p:nvSpPr>
        <p:spPr>
          <a:xfrm>
            <a:off x="1193800" y="2108200"/>
            <a:ext cx="789112" cy="152400"/>
          </a:xfrm>
          <a:prstGeom prst="rect">
            <a:avLst/>
          </a:prstGeom>
          <a:noFill/>
        </p:spPr>
        <p:txBody>
          <a:bodyPr vertOverflow="overflow" vert="horz" wrap="square" rtlCol="0" anchor="t">
            <a:noAutofit/>
          </a:bodyPr>
          <a:lstStyle/>
          <a:p>
            <a:pPr algn="l"/>
            <a:r>
              <a:rPr lang="en-US" sz="900" b="1" dirty="0">
                <a:solidFill>
                  <a:srgbClr val="FFFFFF"/>
                </a:solidFill>
                <a:latin typeface="Arial"/>
                <a:ea typeface="Arial"/>
                <a:cs typeface="Arial"/>
              </a:rPr>
              <a:t>DESIGN</a:t>
            </a:r>
          </a:p>
        </p:txBody>
      </p:sp>
      <p:sp>
        <p:nvSpPr>
          <p:cNvPr id="11" name="TextBox 10">
            <a:extLst>
              <a:ext uri="{FF2B5EF4-FFF2-40B4-BE49-F238E27FC236}">
                <a16:creationId xmlns:a16="http://schemas.microsoft.com/office/drawing/2014/main" id="{DDB75062-53A2-294F-8C36-A54D55C34585}"/>
              </a:ext>
            </a:extLst>
          </p:cNvPr>
          <p:cNvSpPr txBox="1"/>
          <p:nvPr/>
        </p:nvSpPr>
        <p:spPr>
          <a:xfrm>
            <a:off x="1092200" y="2451100"/>
            <a:ext cx="1905000" cy="431800"/>
          </a:xfrm>
          <a:prstGeom prst="rect">
            <a:avLst/>
          </a:prstGeom>
          <a:noFill/>
        </p:spPr>
        <p:txBody>
          <a:bodyPr vertOverflow="overflow" vert="horz" wrap="square" rtlCol="0" anchor="t">
            <a:noAutofit/>
          </a:bodyPr>
          <a:lstStyle/>
          <a:p>
            <a:pPr algn="l"/>
            <a:r>
              <a:rPr lang="en-US" sz="1200" b="1" dirty="0">
                <a:solidFill>
                  <a:srgbClr val="110057"/>
                </a:solidFill>
                <a:latin typeface="Arial"/>
                <a:ea typeface="Arial"/>
                <a:cs typeface="Arial"/>
              </a:rPr>
              <a:t>Enrich the trial population</a:t>
            </a:r>
          </a:p>
        </p:txBody>
      </p:sp>
      <p:sp>
        <p:nvSpPr>
          <p:cNvPr id="12" name="TextBox 11">
            <a:extLst>
              <a:ext uri="{FF2B5EF4-FFF2-40B4-BE49-F238E27FC236}">
                <a16:creationId xmlns:a16="http://schemas.microsoft.com/office/drawing/2014/main" id="{9475A9BE-44E7-FF44-AFE9-636E2C9F01EF}"/>
              </a:ext>
            </a:extLst>
          </p:cNvPr>
          <p:cNvSpPr txBox="1"/>
          <p:nvPr/>
        </p:nvSpPr>
        <p:spPr>
          <a:xfrm>
            <a:off x="1092200" y="2971800"/>
            <a:ext cx="1905000" cy="660400"/>
          </a:xfrm>
          <a:prstGeom prst="rect">
            <a:avLst/>
          </a:prstGeom>
          <a:noFill/>
        </p:spPr>
        <p:txBody>
          <a:bodyPr vertOverflow="overflow" vert="horz" wrap="square" rtlCol="0" anchor="t">
            <a:noAutofit/>
          </a:bodyPr>
          <a:lstStyle/>
          <a:p>
            <a:pPr algn="l"/>
            <a:r>
              <a:rPr lang="en-US" sz="1200" dirty="0">
                <a:solidFill>
                  <a:srgbClr val="4A4170"/>
                </a:solidFill>
                <a:latin typeface="Arial"/>
                <a:ea typeface="Arial"/>
                <a:cs typeface="Arial"/>
              </a:rPr>
              <a:t>Target patients most likely to have events or benefit.</a:t>
            </a:r>
          </a:p>
        </p:txBody>
      </p:sp>
      <p:sp>
        <p:nvSpPr>
          <p:cNvPr id="13" name="Rectangle 12">
            <a:extLst>
              <a:ext uri="{FF2B5EF4-FFF2-40B4-BE49-F238E27FC236}">
                <a16:creationId xmlns:a16="http://schemas.microsoft.com/office/drawing/2014/main" id="{2AF0FA2B-DF31-7A48-BF43-EE88BE27BC3A}"/>
              </a:ext>
            </a:extLst>
          </p:cNvPr>
          <p:cNvSpPr/>
          <p:nvPr/>
        </p:nvSpPr>
        <p:spPr>
          <a:xfrm>
            <a:off x="3454400" y="1841500"/>
            <a:ext cx="2222500" cy="19050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2A7A3B51-E336-1C42-B687-E7A91FBAC6B9}"/>
              </a:ext>
            </a:extLst>
          </p:cNvPr>
          <p:cNvSpPr/>
          <p:nvPr/>
        </p:nvSpPr>
        <p:spPr>
          <a:xfrm>
            <a:off x="3657599" y="2070100"/>
            <a:ext cx="1243173" cy="279400"/>
          </a:xfrm>
          <a:prstGeom prst="rect">
            <a:avLst/>
          </a:prstGeom>
          <a:solidFill>
            <a:srgbClr val="FF5D5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3267B321-6808-EB4E-B737-CE93038CDEBE}"/>
              </a:ext>
            </a:extLst>
          </p:cNvPr>
          <p:cNvSpPr txBox="1"/>
          <p:nvPr/>
        </p:nvSpPr>
        <p:spPr>
          <a:xfrm>
            <a:off x="3759199" y="2108200"/>
            <a:ext cx="894993" cy="190500"/>
          </a:xfrm>
          <a:prstGeom prst="rect">
            <a:avLst/>
          </a:prstGeom>
          <a:noFill/>
        </p:spPr>
        <p:txBody>
          <a:bodyPr vertOverflow="overflow" vert="horz" wrap="square" rtlCol="0" anchor="t">
            <a:noAutofit/>
          </a:bodyPr>
          <a:lstStyle/>
          <a:p>
            <a:pPr algn="l"/>
            <a:r>
              <a:rPr lang="en-US" sz="900" b="1" dirty="0">
                <a:solidFill>
                  <a:srgbClr val="FFFFFF"/>
                </a:solidFill>
                <a:latin typeface="Arial"/>
                <a:ea typeface="Arial"/>
                <a:cs typeface="Arial"/>
              </a:rPr>
              <a:t>ESTIMATE</a:t>
            </a:r>
          </a:p>
        </p:txBody>
      </p:sp>
      <p:sp>
        <p:nvSpPr>
          <p:cNvPr id="16" name="TextBox 15">
            <a:extLst>
              <a:ext uri="{FF2B5EF4-FFF2-40B4-BE49-F238E27FC236}">
                <a16:creationId xmlns:a16="http://schemas.microsoft.com/office/drawing/2014/main" id="{5A263DAD-C5D9-C244-8EFB-708A890933A1}"/>
              </a:ext>
            </a:extLst>
          </p:cNvPr>
          <p:cNvSpPr txBox="1"/>
          <p:nvPr/>
        </p:nvSpPr>
        <p:spPr>
          <a:xfrm>
            <a:off x="3657600" y="2451100"/>
            <a:ext cx="1905000" cy="431800"/>
          </a:xfrm>
          <a:prstGeom prst="rect">
            <a:avLst/>
          </a:prstGeom>
          <a:noFill/>
        </p:spPr>
        <p:txBody>
          <a:bodyPr vertOverflow="overflow" vert="horz" wrap="square" rtlCol="0" anchor="t">
            <a:noAutofit/>
          </a:bodyPr>
          <a:lstStyle/>
          <a:p>
            <a:pPr algn="l"/>
            <a:r>
              <a:rPr lang="en-US" sz="1200" b="1" dirty="0">
                <a:solidFill>
                  <a:srgbClr val="110057"/>
                </a:solidFill>
                <a:latin typeface="Arial"/>
                <a:ea typeface="Arial"/>
                <a:cs typeface="Arial"/>
              </a:rPr>
              <a:t>Improve effect-size estimation</a:t>
            </a:r>
          </a:p>
        </p:txBody>
      </p:sp>
      <p:sp>
        <p:nvSpPr>
          <p:cNvPr id="17" name="TextBox 16">
            <a:extLst>
              <a:ext uri="{FF2B5EF4-FFF2-40B4-BE49-F238E27FC236}">
                <a16:creationId xmlns:a16="http://schemas.microsoft.com/office/drawing/2014/main" id="{CEBE66E2-A11A-5C46-8D93-F5A9705C45E5}"/>
              </a:ext>
            </a:extLst>
          </p:cNvPr>
          <p:cNvSpPr txBox="1"/>
          <p:nvPr/>
        </p:nvSpPr>
        <p:spPr>
          <a:xfrm>
            <a:off x="3657600" y="2971800"/>
            <a:ext cx="1905000" cy="660400"/>
          </a:xfrm>
          <a:prstGeom prst="rect">
            <a:avLst/>
          </a:prstGeom>
          <a:noFill/>
        </p:spPr>
        <p:txBody>
          <a:bodyPr vertOverflow="overflow" vert="horz" wrap="square" rtlCol="0" anchor="t">
            <a:noAutofit/>
          </a:bodyPr>
          <a:lstStyle/>
          <a:p>
            <a:pPr algn="l"/>
            <a:r>
              <a:rPr lang="en-US" sz="1200" dirty="0">
                <a:solidFill>
                  <a:srgbClr val="4A4170"/>
                </a:solidFill>
                <a:latin typeface="Arial"/>
                <a:ea typeface="Arial"/>
                <a:cs typeface="Arial"/>
              </a:rPr>
              <a:t>Reduce noise and increase precision around treatment effects.</a:t>
            </a:r>
          </a:p>
        </p:txBody>
      </p:sp>
      <p:sp>
        <p:nvSpPr>
          <p:cNvPr id="18" name="Rectangle 17">
            <a:extLst>
              <a:ext uri="{FF2B5EF4-FFF2-40B4-BE49-F238E27FC236}">
                <a16:creationId xmlns:a16="http://schemas.microsoft.com/office/drawing/2014/main" id="{BF2F1018-1EB2-AF40-B744-12DAA355C6FD}"/>
              </a:ext>
            </a:extLst>
          </p:cNvPr>
          <p:cNvSpPr/>
          <p:nvPr/>
        </p:nvSpPr>
        <p:spPr>
          <a:xfrm>
            <a:off x="6019800" y="1841500"/>
            <a:ext cx="2222500" cy="1905000"/>
          </a:xfrm>
          <a:prstGeom prst="rect">
            <a:avLst/>
          </a:prstGeom>
          <a:solidFill>
            <a:srgbClr val="FFFFFF"/>
          </a:solidFill>
          <a:ln w="12700">
            <a:solidFill>
              <a:srgbClr val="DAD4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F4F0E4A9-CFE7-2446-B41B-93F517F5F60F}"/>
              </a:ext>
            </a:extLst>
          </p:cNvPr>
          <p:cNvSpPr/>
          <p:nvPr/>
        </p:nvSpPr>
        <p:spPr>
          <a:xfrm>
            <a:off x="6223000" y="2100922"/>
            <a:ext cx="787400" cy="228600"/>
          </a:xfrm>
          <a:prstGeom prst="rect">
            <a:avLst/>
          </a:prstGeom>
          <a:solidFill>
            <a:srgbClr val="FF5D5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CF581787-1225-AC4B-94ED-355455943687}"/>
              </a:ext>
            </a:extLst>
          </p:cNvPr>
          <p:cNvSpPr txBox="1"/>
          <p:nvPr/>
        </p:nvSpPr>
        <p:spPr>
          <a:xfrm>
            <a:off x="6324600" y="2108200"/>
            <a:ext cx="584200" cy="152400"/>
          </a:xfrm>
          <a:prstGeom prst="rect">
            <a:avLst/>
          </a:prstGeom>
          <a:noFill/>
        </p:spPr>
        <p:txBody>
          <a:bodyPr vertOverflow="overflow" vert="horz" wrap="square" rtlCol="0" anchor="t">
            <a:noAutofit/>
          </a:bodyPr>
          <a:lstStyle/>
          <a:p>
            <a:pPr algn="l"/>
            <a:r>
              <a:rPr lang="en-US" sz="900" b="1" dirty="0">
                <a:solidFill>
                  <a:srgbClr val="FFFFFF"/>
                </a:solidFill>
                <a:latin typeface="Arial"/>
                <a:ea typeface="Arial"/>
                <a:cs typeface="Arial"/>
              </a:rPr>
              <a:t>APPLY</a:t>
            </a:r>
          </a:p>
        </p:txBody>
      </p:sp>
      <p:sp>
        <p:nvSpPr>
          <p:cNvPr id="21" name="TextBox 20">
            <a:extLst>
              <a:ext uri="{FF2B5EF4-FFF2-40B4-BE49-F238E27FC236}">
                <a16:creationId xmlns:a16="http://schemas.microsoft.com/office/drawing/2014/main" id="{97BE4B65-0BF6-F543-B07E-040A53FC3656}"/>
              </a:ext>
            </a:extLst>
          </p:cNvPr>
          <p:cNvSpPr txBox="1"/>
          <p:nvPr/>
        </p:nvSpPr>
        <p:spPr>
          <a:xfrm>
            <a:off x="6223000" y="2451100"/>
            <a:ext cx="1905000" cy="431800"/>
          </a:xfrm>
          <a:prstGeom prst="rect">
            <a:avLst/>
          </a:prstGeom>
          <a:noFill/>
        </p:spPr>
        <p:txBody>
          <a:bodyPr vertOverflow="overflow" vert="horz" wrap="square" rtlCol="0" anchor="t">
            <a:noAutofit/>
          </a:bodyPr>
          <a:lstStyle/>
          <a:p>
            <a:pPr algn="l"/>
            <a:r>
              <a:rPr lang="en-US" sz="1200" b="1" dirty="0">
                <a:solidFill>
                  <a:srgbClr val="110057"/>
                </a:solidFill>
                <a:latin typeface="Arial"/>
                <a:ea typeface="Arial"/>
                <a:cs typeface="Arial"/>
              </a:rPr>
              <a:t>Personalize interpretation</a:t>
            </a:r>
          </a:p>
        </p:txBody>
      </p:sp>
      <p:sp>
        <p:nvSpPr>
          <p:cNvPr id="22" name="TextBox 21">
            <a:extLst>
              <a:ext uri="{FF2B5EF4-FFF2-40B4-BE49-F238E27FC236}">
                <a16:creationId xmlns:a16="http://schemas.microsoft.com/office/drawing/2014/main" id="{B7C351B4-9371-5A42-B836-60665B87B44C}"/>
              </a:ext>
            </a:extLst>
          </p:cNvPr>
          <p:cNvSpPr txBox="1"/>
          <p:nvPr/>
        </p:nvSpPr>
        <p:spPr>
          <a:xfrm>
            <a:off x="6223000" y="2971800"/>
            <a:ext cx="1905000" cy="660400"/>
          </a:xfrm>
          <a:prstGeom prst="rect">
            <a:avLst/>
          </a:prstGeom>
          <a:noFill/>
        </p:spPr>
        <p:txBody>
          <a:bodyPr vertOverflow="overflow" vert="horz" wrap="square" rtlCol="0" anchor="t">
            <a:noAutofit/>
          </a:bodyPr>
          <a:lstStyle/>
          <a:p>
            <a:pPr algn="l"/>
            <a:r>
              <a:rPr lang="en-US" sz="1200" dirty="0">
                <a:solidFill>
                  <a:srgbClr val="4A4170"/>
                </a:solidFill>
                <a:latin typeface="Arial"/>
                <a:ea typeface="Arial"/>
                <a:cs typeface="Arial"/>
              </a:rPr>
              <a:t>Translate average trial effects to individual patients.</a:t>
            </a:r>
          </a:p>
        </p:txBody>
      </p:sp>
      <p:sp>
        <p:nvSpPr>
          <p:cNvPr id="23" name="Rectangle 22">
            <a:extLst>
              <a:ext uri="{FF2B5EF4-FFF2-40B4-BE49-F238E27FC236}">
                <a16:creationId xmlns:a16="http://schemas.microsoft.com/office/drawing/2014/main" id="{0B0A6299-88B7-7B42-9E5C-4E622320B517}"/>
              </a:ext>
            </a:extLst>
          </p:cNvPr>
          <p:cNvSpPr/>
          <p:nvPr/>
        </p:nvSpPr>
        <p:spPr>
          <a:xfrm>
            <a:off x="3136900" y="2768600"/>
            <a:ext cx="292100" cy="50800"/>
          </a:xfrm>
          <a:prstGeom prst="rect">
            <a:avLst/>
          </a:prstGeom>
          <a:solidFill>
            <a:srgbClr val="DAD4E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2ACDB1E4-9A92-4043-A9F8-1FF19964FFA4}"/>
              </a:ext>
            </a:extLst>
          </p:cNvPr>
          <p:cNvSpPr/>
          <p:nvPr/>
        </p:nvSpPr>
        <p:spPr>
          <a:xfrm>
            <a:off x="5702300" y="2768600"/>
            <a:ext cx="292100" cy="50800"/>
          </a:xfrm>
          <a:prstGeom prst="rect">
            <a:avLst/>
          </a:prstGeom>
          <a:solidFill>
            <a:srgbClr val="DAD4E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95893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C9F335F0-924A-C342-9D60-F4FBFA7985EF}"/>
              </a:ext>
            </a:extLst>
          </p:cNvPr>
          <p:cNvSpPr/>
          <p:nvPr/>
        </p:nvSpPr>
        <p:spPr>
          <a:xfrm>
            <a:off x="0" y="0"/>
            <a:ext cx="9144000" cy="5143500"/>
          </a:xfrm>
          <a:prstGeom prst="rect">
            <a:avLst/>
          </a:prstGeom>
          <a:solidFill>
            <a:srgbClr val="FFFFFF"/>
          </a:solidFill>
          <a:ln w="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1" name="Rectangle 90">
            <a:extLst>
              <a:ext uri="{FF2B5EF4-FFF2-40B4-BE49-F238E27FC236}">
                <a16:creationId xmlns:a16="http://schemas.microsoft.com/office/drawing/2014/main" id="{611C4C5F-331C-9645-8CB6-F68339E0A8F2}"/>
              </a:ext>
            </a:extLst>
          </p:cNvPr>
          <p:cNvSpPr/>
          <p:nvPr/>
        </p:nvSpPr>
        <p:spPr>
          <a:xfrm>
            <a:off x="368300" y="330200"/>
            <a:ext cx="50800" cy="685800"/>
          </a:xfrm>
          <a:prstGeom prst="rect">
            <a:avLst/>
          </a:prstGeom>
          <a:solidFill>
            <a:srgbClr val="78B6D6"/>
          </a:solidFill>
          <a:ln w="0">
            <a:solidFill>
              <a:srgbClr val="78B6D6"/>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2" name="TextBox 91">
            <a:extLst>
              <a:ext uri="{FF2B5EF4-FFF2-40B4-BE49-F238E27FC236}">
                <a16:creationId xmlns:a16="http://schemas.microsoft.com/office/drawing/2014/main" id="{E7BB281C-E185-BF41-9AEB-A00F01EE05B9}"/>
              </a:ext>
            </a:extLst>
          </p:cNvPr>
          <p:cNvSpPr txBox="1"/>
          <p:nvPr/>
        </p:nvSpPr>
        <p:spPr>
          <a:xfrm>
            <a:off x="609600" y="304800"/>
            <a:ext cx="3810000" cy="203200"/>
          </a:xfrm>
          <a:prstGeom prst="rect">
            <a:avLst/>
          </a:prstGeom>
          <a:noFill/>
        </p:spPr>
        <p:txBody>
          <a:bodyPr vertOverflow="overflow" vert="horz" wrap="square" rtlCol="0" anchor="t">
            <a:noAutofit/>
          </a:bodyPr>
          <a:lstStyle/>
          <a:p>
            <a:pPr algn="l"/>
            <a:r>
              <a:rPr lang="en-US" sz="1100" b="1" dirty="0">
                <a:solidFill>
                  <a:srgbClr val="4A00E2"/>
                </a:solidFill>
                <a:latin typeface="Arial"/>
                <a:cs typeface="Arial"/>
              </a:rPr>
              <a:t>TRIAL DESIGN</a:t>
            </a:r>
          </a:p>
        </p:txBody>
      </p:sp>
      <p:sp>
        <p:nvSpPr>
          <p:cNvPr id="93" name="TextBox 92">
            <a:extLst>
              <a:ext uri="{FF2B5EF4-FFF2-40B4-BE49-F238E27FC236}">
                <a16:creationId xmlns:a16="http://schemas.microsoft.com/office/drawing/2014/main" id="{91789B51-21FD-1D43-8D77-9FB76D28EE0F}"/>
              </a:ext>
            </a:extLst>
          </p:cNvPr>
          <p:cNvSpPr txBox="1"/>
          <p:nvPr/>
        </p:nvSpPr>
        <p:spPr>
          <a:xfrm>
            <a:off x="609600" y="508000"/>
            <a:ext cx="7937500" cy="584200"/>
          </a:xfrm>
          <a:prstGeom prst="rect">
            <a:avLst/>
          </a:prstGeom>
          <a:noFill/>
        </p:spPr>
        <p:txBody>
          <a:bodyPr vertOverflow="overflow" vert="horz" wrap="square" rtlCol="0" anchor="t">
            <a:normAutofit fontScale="85000" lnSpcReduction="20000"/>
          </a:bodyPr>
          <a:lstStyle/>
          <a:p>
            <a:pPr algn="l"/>
            <a:r>
              <a:rPr lang="en-US" sz="2400" b="1" dirty="0">
                <a:solidFill>
                  <a:srgbClr val="110057"/>
                </a:solidFill>
                <a:latin typeface="Arial"/>
                <a:cs typeface="Arial"/>
              </a:rPr>
              <a:t>Binary-endpoint trials usually cannot detect effects
that would still change care</a:t>
            </a:r>
          </a:p>
        </p:txBody>
      </p:sp>
      <p:sp>
        <p:nvSpPr>
          <p:cNvPr id="94" name="TextBox 93">
            <a:extLst>
              <a:ext uri="{FF2B5EF4-FFF2-40B4-BE49-F238E27FC236}">
                <a16:creationId xmlns:a16="http://schemas.microsoft.com/office/drawing/2014/main" id="{1CF3C442-0A13-D34E-A61F-FF6B8CCC59F5}"/>
              </a:ext>
            </a:extLst>
          </p:cNvPr>
          <p:cNvSpPr txBox="1"/>
          <p:nvPr/>
        </p:nvSpPr>
        <p:spPr>
          <a:xfrm>
            <a:off x="622300" y="1168400"/>
            <a:ext cx="7874000" cy="254000"/>
          </a:xfrm>
          <a:prstGeom prst="rect">
            <a:avLst/>
          </a:prstGeom>
          <a:noFill/>
        </p:spPr>
        <p:txBody>
          <a:bodyPr vertOverflow="overflow" vert="horz" wrap="square" rtlCol="0" anchor="t">
            <a:noAutofit/>
          </a:bodyPr>
          <a:lstStyle/>
          <a:p>
            <a:pPr algn="l"/>
            <a:r>
              <a:rPr lang="en-US" sz="1200">
                <a:solidFill>
                  <a:srgbClr val="5F6368"/>
                </a:solidFill>
                <a:latin typeface="Arial"/>
                <a:cs typeface="Arial"/>
              </a:rPr>
              <a:t>When plausible benefits are small, trial design must recover information through enrichment, better endpoints, or both.</a:t>
            </a:r>
          </a:p>
        </p:txBody>
      </p:sp>
      <p:sp>
        <p:nvSpPr>
          <p:cNvPr id="95" name="TextBox 94">
            <a:extLst>
              <a:ext uri="{FF2B5EF4-FFF2-40B4-BE49-F238E27FC236}">
                <a16:creationId xmlns:a16="http://schemas.microsoft.com/office/drawing/2014/main" id="{DCEEA589-1FE0-854F-9D4C-BD4323303EFB}"/>
              </a:ext>
            </a:extLst>
          </p:cNvPr>
          <p:cNvSpPr txBox="1"/>
          <p:nvPr/>
        </p:nvSpPr>
        <p:spPr>
          <a:xfrm>
            <a:off x="685800" y="1574800"/>
            <a:ext cx="2349500" cy="457200"/>
          </a:xfrm>
          <a:prstGeom prst="rect">
            <a:avLst/>
          </a:prstGeom>
          <a:noFill/>
        </p:spPr>
        <p:txBody>
          <a:bodyPr vertOverflow="overflow" vert="horz" wrap="square" rtlCol="0" anchor="t">
            <a:noAutofit/>
          </a:bodyPr>
          <a:lstStyle/>
          <a:p>
            <a:pPr algn="l"/>
            <a:r>
              <a:rPr lang="en-US" sz="1300" b="1" dirty="0">
                <a:solidFill>
                  <a:srgbClr val="13005C"/>
                </a:solidFill>
                <a:latin typeface="Arial"/>
                <a:cs typeface="Arial"/>
              </a:rPr>
              <a:t>1  Mortality signal is narrow</a:t>
            </a:r>
          </a:p>
        </p:txBody>
      </p:sp>
      <p:sp>
        <p:nvSpPr>
          <p:cNvPr id="96" name="TextBox 95">
            <a:extLst>
              <a:ext uri="{FF2B5EF4-FFF2-40B4-BE49-F238E27FC236}">
                <a16:creationId xmlns:a16="http://schemas.microsoft.com/office/drawing/2014/main" id="{14167443-A75A-974A-968A-C14BD0330CF3}"/>
              </a:ext>
            </a:extLst>
          </p:cNvPr>
          <p:cNvSpPr txBox="1"/>
          <p:nvPr/>
        </p:nvSpPr>
        <p:spPr>
          <a:xfrm>
            <a:off x="685800" y="2057400"/>
            <a:ext cx="2349500" cy="203200"/>
          </a:xfrm>
          <a:prstGeom prst="rect">
            <a:avLst/>
          </a:prstGeom>
          <a:noFill/>
        </p:spPr>
        <p:txBody>
          <a:bodyPr vertOverflow="overflow" vert="horz" wrap="square" rtlCol="0" anchor="t">
            <a:noAutofit/>
          </a:bodyPr>
          <a:lstStyle/>
          <a:p>
            <a:pPr algn="l"/>
            <a:r>
              <a:rPr lang="en-US" sz="1100" dirty="0">
                <a:solidFill>
                  <a:srgbClr val="5F6368"/>
                </a:solidFill>
                <a:latin typeface="Arial"/>
                <a:cs typeface="Arial"/>
              </a:rPr>
              <a:t>No mortality contrast</a:t>
            </a:r>
          </a:p>
        </p:txBody>
      </p:sp>
      <p:sp>
        <p:nvSpPr>
          <p:cNvPr id="97" name="Rounded Rectangle 96">
            <a:extLst>
              <a:ext uri="{FF2B5EF4-FFF2-40B4-BE49-F238E27FC236}">
                <a16:creationId xmlns:a16="http://schemas.microsoft.com/office/drawing/2014/main" id="{8A28CC43-229B-2946-96C7-D07C5DCE28FF}"/>
              </a:ext>
            </a:extLst>
          </p:cNvPr>
          <p:cNvSpPr/>
          <p:nvPr/>
        </p:nvSpPr>
        <p:spPr>
          <a:xfrm>
            <a:off x="685800" y="2362200"/>
            <a:ext cx="2260600" cy="279400"/>
          </a:xfrm>
          <a:prstGeom prst="roundRect">
            <a:avLst/>
          </a:prstGeom>
          <a:solidFill>
            <a:srgbClr val="E9F3F8"/>
          </a:solidFill>
          <a:ln w="7620">
            <a:solidFill>
              <a:srgbClr val="C7DE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8" name="TextBox 97">
            <a:extLst>
              <a:ext uri="{FF2B5EF4-FFF2-40B4-BE49-F238E27FC236}">
                <a16:creationId xmlns:a16="http://schemas.microsoft.com/office/drawing/2014/main" id="{86C43746-9ACB-E54A-86C6-740F52C590A7}"/>
              </a:ext>
            </a:extLst>
          </p:cNvPr>
          <p:cNvSpPr txBox="1"/>
          <p:nvPr/>
        </p:nvSpPr>
        <p:spPr>
          <a:xfrm>
            <a:off x="774700" y="2425700"/>
            <a:ext cx="2082800" cy="152400"/>
          </a:xfrm>
          <a:prstGeom prst="rect">
            <a:avLst/>
          </a:prstGeom>
          <a:noFill/>
        </p:spPr>
        <p:txBody>
          <a:bodyPr vertOverflow="overflow" vert="horz" wrap="square" rtlCol="0" anchor="t">
            <a:noAutofit/>
          </a:bodyPr>
          <a:lstStyle/>
          <a:p>
            <a:pPr algn="l"/>
            <a:r>
              <a:rPr lang="en-US" sz="1100" b="1">
                <a:solidFill>
                  <a:srgbClr val="202124"/>
                </a:solidFill>
                <a:latin typeface="Arial"/>
                <a:cs typeface="Arial"/>
              </a:rPr>
              <a:t>Would live either way</a:t>
            </a:r>
          </a:p>
        </p:txBody>
      </p:sp>
      <p:sp>
        <p:nvSpPr>
          <p:cNvPr id="99" name="Rounded Rectangle 98">
            <a:extLst>
              <a:ext uri="{FF2B5EF4-FFF2-40B4-BE49-F238E27FC236}">
                <a16:creationId xmlns:a16="http://schemas.microsoft.com/office/drawing/2014/main" id="{2AD2E300-CBDE-304C-8B25-5DDE72EE27A2}"/>
              </a:ext>
            </a:extLst>
          </p:cNvPr>
          <p:cNvSpPr/>
          <p:nvPr/>
        </p:nvSpPr>
        <p:spPr>
          <a:xfrm>
            <a:off x="685800" y="2717800"/>
            <a:ext cx="2260600" cy="279400"/>
          </a:xfrm>
          <a:prstGeom prst="roundRect">
            <a:avLst/>
          </a:prstGeom>
          <a:solidFill>
            <a:srgbClr val="F1F1F5"/>
          </a:solidFill>
          <a:ln w="7620">
            <a:solidFill>
              <a:srgbClr val="D7D7E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0" name="TextBox 99">
            <a:extLst>
              <a:ext uri="{FF2B5EF4-FFF2-40B4-BE49-F238E27FC236}">
                <a16:creationId xmlns:a16="http://schemas.microsoft.com/office/drawing/2014/main" id="{E61B141B-086E-924B-B3E0-8F1041809B18}"/>
              </a:ext>
            </a:extLst>
          </p:cNvPr>
          <p:cNvSpPr txBox="1"/>
          <p:nvPr/>
        </p:nvSpPr>
        <p:spPr>
          <a:xfrm>
            <a:off x="774700" y="2781300"/>
            <a:ext cx="2082800" cy="152400"/>
          </a:xfrm>
          <a:prstGeom prst="rect">
            <a:avLst/>
          </a:prstGeom>
          <a:noFill/>
        </p:spPr>
        <p:txBody>
          <a:bodyPr vertOverflow="overflow" vert="horz" wrap="square" rtlCol="0" anchor="t">
            <a:noAutofit/>
          </a:bodyPr>
          <a:lstStyle/>
          <a:p>
            <a:pPr algn="l"/>
            <a:r>
              <a:rPr lang="en-US" sz="1100" b="1">
                <a:solidFill>
                  <a:srgbClr val="202124"/>
                </a:solidFill>
                <a:latin typeface="Arial"/>
                <a:cs typeface="Arial"/>
              </a:rPr>
              <a:t>Would die either way</a:t>
            </a:r>
          </a:p>
        </p:txBody>
      </p:sp>
      <p:sp>
        <p:nvSpPr>
          <p:cNvPr id="101" name="Rounded Rectangle 100">
            <a:extLst>
              <a:ext uri="{FF2B5EF4-FFF2-40B4-BE49-F238E27FC236}">
                <a16:creationId xmlns:a16="http://schemas.microsoft.com/office/drawing/2014/main" id="{600AFF79-5797-B448-AD8B-D96804DC4504}"/>
              </a:ext>
            </a:extLst>
          </p:cNvPr>
          <p:cNvSpPr/>
          <p:nvPr/>
        </p:nvSpPr>
        <p:spPr>
          <a:xfrm>
            <a:off x="685800" y="3130192"/>
            <a:ext cx="2260600" cy="381000"/>
          </a:xfrm>
          <a:prstGeom prst="roundRect">
            <a:avLst/>
          </a:prstGeom>
          <a:solidFill>
            <a:srgbClr val="FFF1E8"/>
          </a:solidFill>
          <a:ln w="10160">
            <a:solidFill>
              <a:srgbClr val="E7A17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2" name="TextBox 101">
            <a:extLst>
              <a:ext uri="{FF2B5EF4-FFF2-40B4-BE49-F238E27FC236}">
                <a16:creationId xmlns:a16="http://schemas.microsoft.com/office/drawing/2014/main" id="{59819AEC-9EEE-5A46-8D92-502CC9CDF21E}"/>
              </a:ext>
            </a:extLst>
          </p:cNvPr>
          <p:cNvSpPr txBox="1"/>
          <p:nvPr/>
        </p:nvSpPr>
        <p:spPr>
          <a:xfrm>
            <a:off x="812800" y="3111500"/>
            <a:ext cx="2006600" cy="266700"/>
          </a:xfrm>
          <a:prstGeom prst="rect">
            <a:avLst/>
          </a:prstGeom>
          <a:noFill/>
        </p:spPr>
        <p:txBody>
          <a:bodyPr vertOverflow="overflow" vert="horz" wrap="square" rtlCol="0" anchor="t">
            <a:noAutofit/>
          </a:bodyPr>
          <a:lstStyle/>
          <a:p>
            <a:pPr algn="l"/>
            <a:r>
              <a:rPr lang="en-US" sz="1100" b="1" dirty="0">
                <a:solidFill>
                  <a:srgbClr val="C63D0F"/>
                </a:solidFill>
                <a:latin typeface="Arial"/>
                <a:cs typeface="Arial"/>
              </a:rPr>
              <a:t>Outcome changes because
of assignment</a:t>
            </a:r>
          </a:p>
        </p:txBody>
      </p:sp>
      <p:sp>
        <p:nvSpPr>
          <p:cNvPr id="103" name="TextBox 102">
            <a:extLst>
              <a:ext uri="{FF2B5EF4-FFF2-40B4-BE49-F238E27FC236}">
                <a16:creationId xmlns:a16="http://schemas.microsoft.com/office/drawing/2014/main" id="{8B07F982-099B-D44D-8B87-9AA78C3A5C78}"/>
              </a:ext>
            </a:extLst>
          </p:cNvPr>
          <p:cNvSpPr txBox="1"/>
          <p:nvPr/>
        </p:nvSpPr>
        <p:spPr>
          <a:xfrm>
            <a:off x="736600" y="3810000"/>
            <a:ext cx="2159000" cy="228600"/>
          </a:xfrm>
          <a:prstGeom prst="rect">
            <a:avLst/>
          </a:prstGeom>
          <a:noFill/>
        </p:spPr>
        <p:txBody>
          <a:bodyPr vertOverflow="overflow" vert="horz" wrap="square" rtlCol="0" anchor="t">
            <a:noAutofit/>
          </a:bodyPr>
          <a:lstStyle/>
          <a:p>
            <a:pPr algn="l"/>
            <a:r>
              <a:rPr lang="en-US" sz="1100" i="1" dirty="0">
                <a:solidFill>
                  <a:srgbClr val="5F6368"/>
                </a:solidFill>
                <a:latin typeface="Arial"/>
                <a:cs typeface="Arial"/>
              </a:rPr>
              <a:t>The assignment-sensitive group is the signal.</a:t>
            </a:r>
          </a:p>
        </p:txBody>
      </p:sp>
      <p:sp>
        <p:nvSpPr>
          <p:cNvPr id="104" name="TextBox 103">
            <a:extLst>
              <a:ext uri="{FF2B5EF4-FFF2-40B4-BE49-F238E27FC236}">
                <a16:creationId xmlns:a16="http://schemas.microsoft.com/office/drawing/2014/main" id="{F0C2C93E-62B6-6646-B964-F8D8EB90AD17}"/>
              </a:ext>
            </a:extLst>
          </p:cNvPr>
          <p:cNvSpPr txBox="1"/>
          <p:nvPr/>
        </p:nvSpPr>
        <p:spPr>
          <a:xfrm>
            <a:off x="3429000" y="1574800"/>
            <a:ext cx="2667000" cy="457200"/>
          </a:xfrm>
          <a:prstGeom prst="rect">
            <a:avLst/>
          </a:prstGeom>
          <a:noFill/>
        </p:spPr>
        <p:txBody>
          <a:bodyPr vertOverflow="overflow" vert="horz" wrap="square" rtlCol="0" anchor="t">
            <a:noAutofit/>
          </a:bodyPr>
          <a:lstStyle/>
          <a:p>
            <a:pPr algn="l"/>
            <a:r>
              <a:rPr lang="en-US" sz="1300" b="1" dirty="0">
                <a:solidFill>
                  <a:srgbClr val="13005C"/>
                </a:solidFill>
                <a:latin typeface="Arial"/>
                <a:cs typeface="Arial"/>
              </a:rPr>
              <a:t>2  Small effects need large trials</a:t>
            </a:r>
          </a:p>
        </p:txBody>
      </p:sp>
      <p:sp>
        <p:nvSpPr>
          <p:cNvPr id="105" name="TextBox 104">
            <a:extLst>
              <a:ext uri="{FF2B5EF4-FFF2-40B4-BE49-F238E27FC236}">
                <a16:creationId xmlns:a16="http://schemas.microsoft.com/office/drawing/2014/main" id="{343DD82E-EE96-6A4E-8396-A7A0A9B1F69D}"/>
              </a:ext>
            </a:extLst>
          </p:cNvPr>
          <p:cNvSpPr txBox="1"/>
          <p:nvPr/>
        </p:nvSpPr>
        <p:spPr>
          <a:xfrm>
            <a:off x="3327400" y="2082800"/>
            <a:ext cx="2870200" cy="177800"/>
          </a:xfrm>
          <a:prstGeom prst="rect">
            <a:avLst/>
          </a:prstGeom>
          <a:noFill/>
        </p:spPr>
        <p:txBody>
          <a:bodyPr vertOverflow="overflow" vert="horz" wrap="square" rtlCol="0" anchor="t">
            <a:noAutofit/>
          </a:bodyPr>
          <a:lstStyle/>
          <a:p>
            <a:pPr algn="l"/>
            <a:r>
              <a:rPr lang="en-US" sz="1100" dirty="0">
                <a:solidFill>
                  <a:srgbClr val="5F6368"/>
                </a:solidFill>
                <a:latin typeface="Arial"/>
                <a:cs typeface="Arial"/>
              </a:rPr>
              <a:t>Illustrative: 50% mortality, 80% power.</a:t>
            </a:r>
          </a:p>
        </p:txBody>
      </p:sp>
      <p:sp>
        <p:nvSpPr>
          <p:cNvPr id="106" name="Rectangle 105">
            <a:extLst>
              <a:ext uri="{FF2B5EF4-FFF2-40B4-BE49-F238E27FC236}">
                <a16:creationId xmlns:a16="http://schemas.microsoft.com/office/drawing/2014/main" id="{7C1E00B1-34E8-6D4F-87E9-1154D2657672}"/>
              </a:ext>
            </a:extLst>
          </p:cNvPr>
          <p:cNvSpPr/>
          <p:nvPr/>
        </p:nvSpPr>
        <p:spPr>
          <a:xfrm>
            <a:off x="3429000" y="2311400"/>
            <a:ext cx="2667000" cy="1574800"/>
          </a:xfrm>
          <a:prstGeom prst="rect">
            <a:avLst/>
          </a:prstGeom>
          <a:solidFill>
            <a:srgbClr val="FFFFFF"/>
          </a:solidFill>
          <a:ln w="7620">
            <a:solidFill>
              <a:srgbClr val="D8DCE3"/>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7" name="Rectangle 106">
            <a:extLst>
              <a:ext uri="{FF2B5EF4-FFF2-40B4-BE49-F238E27FC236}">
                <a16:creationId xmlns:a16="http://schemas.microsoft.com/office/drawing/2014/main" id="{4BEF7220-954D-DC40-8926-D90C690914ED}"/>
              </a:ext>
            </a:extLst>
          </p:cNvPr>
          <p:cNvSpPr/>
          <p:nvPr/>
        </p:nvSpPr>
        <p:spPr>
          <a:xfrm>
            <a:off x="3429000" y="2311400"/>
            <a:ext cx="2667000" cy="330200"/>
          </a:xfrm>
          <a:prstGeom prst="rect">
            <a:avLst/>
          </a:prstGeom>
          <a:solidFill>
            <a:srgbClr val="F7F8FB"/>
          </a:solidFill>
          <a:ln w="7620">
            <a:solidFill>
              <a:srgbClr val="D8DCE3"/>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8" name="TextBox 107">
            <a:extLst>
              <a:ext uri="{FF2B5EF4-FFF2-40B4-BE49-F238E27FC236}">
                <a16:creationId xmlns:a16="http://schemas.microsoft.com/office/drawing/2014/main" id="{ECC653D6-1F1F-F641-AED0-2A6BB2D4C587}"/>
              </a:ext>
            </a:extLst>
          </p:cNvPr>
          <p:cNvSpPr txBox="1"/>
          <p:nvPr/>
        </p:nvSpPr>
        <p:spPr>
          <a:xfrm>
            <a:off x="3556000" y="2374900"/>
            <a:ext cx="1524000" cy="139700"/>
          </a:xfrm>
          <a:prstGeom prst="rect">
            <a:avLst/>
          </a:prstGeom>
          <a:noFill/>
        </p:spPr>
        <p:txBody>
          <a:bodyPr vertOverflow="overflow" vert="horz" wrap="square" rtlCol="0" anchor="t">
            <a:noAutofit/>
          </a:bodyPr>
          <a:lstStyle/>
          <a:p>
            <a:pPr algn="l"/>
            <a:r>
              <a:rPr lang="en-US" sz="1100" b="1">
                <a:solidFill>
                  <a:srgbClr val="5F6368"/>
                </a:solidFill>
                <a:latin typeface="Arial"/>
                <a:cs typeface="Arial"/>
              </a:rPr>
              <a:t>Absolute effect</a:t>
            </a:r>
          </a:p>
        </p:txBody>
      </p:sp>
      <p:sp>
        <p:nvSpPr>
          <p:cNvPr id="109" name="TextBox 108">
            <a:extLst>
              <a:ext uri="{FF2B5EF4-FFF2-40B4-BE49-F238E27FC236}">
                <a16:creationId xmlns:a16="http://schemas.microsoft.com/office/drawing/2014/main" id="{3A193893-DFF1-8640-940E-4C1AB9D091E8}"/>
              </a:ext>
            </a:extLst>
          </p:cNvPr>
          <p:cNvSpPr txBox="1"/>
          <p:nvPr/>
        </p:nvSpPr>
        <p:spPr>
          <a:xfrm>
            <a:off x="5080000" y="2374900"/>
            <a:ext cx="889000" cy="139700"/>
          </a:xfrm>
          <a:prstGeom prst="rect">
            <a:avLst/>
          </a:prstGeom>
          <a:noFill/>
        </p:spPr>
        <p:txBody>
          <a:bodyPr vertOverflow="overflow" vert="horz" wrap="square" rtlCol="0" anchor="t">
            <a:noAutofit/>
          </a:bodyPr>
          <a:lstStyle/>
          <a:p>
            <a:pPr algn="l"/>
            <a:r>
              <a:rPr lang="en-US" sz="1100" b="1">
                <a:solidFill>
                  <a:srgbClr val="5F6368"/>
                </a:solidFill>
                <a:latin typeface="Arial"/>
                <a:cs typeface="Arial"/>
              </a:rPr>
              <a:t>Approx. N</a:t>
            </a:r>
          </a:p>
        </p:txBody>
      </p:sp>
      <p:sp>
        <p:nvSpPr>
          <p:cNvPr id="110" name="TextBox 109">
            <a:extLst>
              <a:ext uri="{FF2B5EF4-FFF2-40B4-BE49-F238E27FC236}">
                <a16:creationId xmlns:a16="http://schemas.microsoft.com/office/drawing/2014/main" id="{9C8B6C2B-5092-5F4A-941F-ECDE38D63513}"/>
              </a:ext>
            </a:extLst>
          </p:cNvPr>
          <p:cNvSpPr txBox="1"/>
          <p:nvPr/>
        </p:nvSpPr>
        <p:spPr>
          <a:xfrm>
            <a:off x="3632200" y="2717800"/>
            <a:ext cx="889000" cy="152400"/>
          </a:xfrm>
          <a:prstGeom prst="rect">
            <a:avLst/>
          </a:prstGeom>
          <a:noFill/>
        </p:spPr>
        <p:txBody>
          <a:bodyPr vertOverflow="overflow" vert="horz" wrap="square" rtlCol="0" anchor="t">
            <a:noAutofit/>
          </a:bodyPr>
          <a:lstStyle/>
          <a:p>
            <a:pPr algn="l"/>
            <a:r>
              <a:rPr lang="en-US" sz="1100">
                <a:solidFill>
                  <a:srgbClr val="202124"/>
                </a:solidFill>
                <a:latin typeface="Arial"/>
                <a:cs typeface="Arial"/>
              </a:rPr>
              <a:t>10% ARR</a:t>
            </a:r>
          </a:p>
        </p:txBody>
      </p:sp>
      <p:sp>
        <p:nvSpPr>
          <p:cNvPr id="111" name="TextBox 110">
            <a:extLst>
              <a:ext uri="{FF2B5EF4-FFF2-40B4-BE49-F238E27FC236}">
                <a16:creationId xmlns:a16="http://schemas.microsoft.com/office/drawing/2014/main" id="{C9BEFF8D-F577-3448-ACA1-049F2DE81DF8}"/>
              </a:ext>
            </a:extLst>
          </p:cNvPr>
          <p:cNvSpPr txBox="1"/>
          <p:nvPr/>
        </p:nvSpPr>
        <p:spPr>
          <a:xfrm>
            <a:off x="5118100" y="2717800"/>
            <a:ext cx="787400" cy="152400"/>
          </a:xfrm>
          <a:prstGeom prst="rect">
            <a:avLst/>
          </a:prstGeom>
          <a:noFill/>
        </p:spPr>
        <p:txBody>
          <a:bodyPr vertOverflow="overflow" vert="horz" wrap="square" rtlCol="0" anchor="t">
            <a:noAutofit/>
          </a:bodyPr>
          <a:lstStyle/>
          <a:p>
            <a:pPr algn="l"/>
            <a:r>
              <a:rPr lang="en-US" sz="1100">
                <a:solidFill>
                  <a:srgbClr val="202124"/>
                </a:solidFill>
                <a:latin typeface="Arial"/>
                <a:cs typeface="Arial"/>
              </a:rPr>
              <a:t>~800</a:t>
            </a:r>
          </a:p>
        </p:txBody>
      </p:sp>
      <p:sp>
        <p:nvSpPr>
          <p:cNvPr id="112" name="Rectangle 111">
            <a:extLst>
              <a:ext uri="{FF2B5EF4-FFF2-40B4-BE49-F238E27FC236}">
                <a16:creationId xmlns:a16="http://schemas.microsoft.com/office/drawing/2014/main" id="{24097D58-F0B2-AA4F-AD45-A2FD9653A041}"/>
              </a:ext>
            </a:extLst>
          </p:cNvPr>
          <p:cNvSpPr/>
          <p:nvPr/>
        </p:nvSpPr>
        <p:spPr>
          <a:xfrm>
            <a:off x="3441700" y="2921000"/>
            <a:ext cx="2641600" cy="279400"/>
          </a:xfrm>
          <a:prstGeom prst="rect">
            <a:avLst/>
          </a:prstGeom>
          <a:solidFill>
            <a:srgbClr val="FBFBFD"/>
          </a:solidFill>
          <a:ln w="0">
            <a:solidFill>
              <a:srgbClr val="FBFBF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3" name="TextBox 112">
            <a:extLst>
              <a:ext uri="{FF2B5EF4-FFF2-40B4-BE49-F238E27FC236}">
                <a16:creationId xmlns:a16="http://schemas.microsoft.com/office/drawing/2014/main" id="{F34C97F5-83C5-A14B-90B1-7F9CD3B8197E}"/>
              </a:ext>
            </a:extLst>
          </p:cNvPr>
          <p:cNvSpPr txBox="1"/>
          <p:nvPr/>
        </p:nvSpPr>
        <p:spPr>
          <a:xfrm>
            <a:off x="3632200" y="2984500"/>
            <a:ext cx="889000" cy="152400"/>
          </a:xfrm>
          <a:prstGeom prst="rect">
            <a:avLst/>
          </a:prstGeom>
          <a:noFill/>
        </p:spPr>
        <p:txBody>
          <a:bodyPr vertOverflow="overflow" vert="horz" wrap="square" rtlCol="0" anchor="t">
            <a:noAutofit/>
          </a:bodyPr>
          <a:lstStyle/>
          <a:p>
            <a:pPr algn="l"/>
            <a:r>
              <a:rPr lang="en-US" sz="1100">
                <a:solidFill>
                  <a:srgbClr val="202124"/>
                </a:solidFill>
                <a:latin typeface="Arial"/>
                <a:cs typeface="Arial"/>
              </a:rPr>
              <a:t>5% ARR</a:t>
            </a:r>
          </a:p>
        </p:txBody>
      </p:sp>
      <p:sp>
        <p:nvSpPr>
          <p:cNvPr id="114" name="TextBox 113">
            <a:extLst>
              <a:ext uri="{FF2B5EF4-FFF2-40B4-BE49-F238E27FC236}">
                <a16:creationId xmlns:a16="http://schemas.microsoft.com/office/drawing/2014/main" id="{44DA1DAC-7884-4A48-BDE3-0E3695DE97DD}"/>
              </a:ext>
            </a:extLst>
          </p:cNvPr>
          <p:cNvSpPr txBox="1"/>
          <p:nvPr/>
        </p:nvSpPr>
        <p:spPr>
          <a:xfrm>
            <a:off x="5118100" y="2984500"/>
            <a:ext cx="787400" cy="152400"/>
          </a:xfrm>
          <a:prstGeom prst="rect">
            <a:avLst/>
          </a:prstGeom>
          <a:noFill/>
        </p:spPr>
        <p:txBody>
          <a:bodyPr vertOverflow="overflow" vert="horz" wrap="square" rtlCol="0" anchor="t">
            <a:noAutofit/>
          </a:bodyPr>
          <a:lstStyle/>
          <a:p>
            <a:pPr algn="l"/>
            <a:r>
              <a:rPr lang="en-US" sz="1100">
                <a:solidFill>
                  <a:srgbClr val="202124"/>
                </a:solidFill>
                <a:latin typeface="Arial"/>
                <a:cs typeface="Arial"/>
              </a:rPr>
              <a:t>~3,100</a:t>
            </a:r>
          </a:p>
        </p:txBody>
      </p:sp>
      <p:sp>
        <p:nvSpPr>
          <p:cNvPr id="115" name="TextBox 114">
            <a:extLst>
              <a:ext uri="{FF2B5EF4-FFF2-40B4-BE49-F238E27FC236}">
                <a16:creationId xmlns:a16="http://schemas.microsoft.com/office/drawing/2014/main" id="{B4E9EC54-1F05-A146-88E5-CCC5FB877F35}"/>
              </a:ext>
            </a:extLst>
          </p:cNvPr>
          <p:cNvSpPr txBox="1"/>
          <p:nvPr/>
        </p:nvSpPr>
        <p:spPr>
          <a:xfrm>
            <a:off x="3632200" y="3251200"/>
            <a:ext cx="889000" cy="152400"/>
          </a:xfrm>
          <a:prstGeom prst="rect">
            <a:avLst/>
          </a:prstGeom>
          <a:noFill/>
        </p:spPr>
        <p:txBody>
          <a:bodyPr vertOverflow="overflow" vert="horz" wrap="square" rtlCol="0" anchor="t">
            <a:noAutofit/>
          </a:bodyPr>
          <a:lstStyle/>
          <a:p>
            <a:pPr algn="l"/>
            <a:r>
              <a:rPr lang="en-US" sz="1100" b="1">
                <a:solidFill>
                  <a:srgbClr val="C63D0F"/>
                </a:solidFill>
                <a:latin typeface="Arial"/>
                <a:cs typeface="Arial"/>
              </a:rPr>
              <a:t>2.5% ARR</a:t>
            </a:r>
          </a:p>
        </p:txBody>
      </p:sp>
      <p:sp>
        <p:nvSpPr>
          <p:cNvPr id="116" name="TextBox 115">
            <a:extLst>
              <a:ext uri="{FF2B5EF4-FFF2-40B4-BE49-F238E27FC236}">
                <a16:creationId xmlns:a16="http://schemas.microsoft.com/office/drawing/2014/main" id="{9B0DDC67-5745-594C-B7F6-204D46AE12B5}"/>
              </a:ext>
            </a:extLst>
          </p:cNvPr>
          <p:cNvSpPr txBox="1"/>
          <p:nvPr/>
        </p:nvSpPr>
        <p:spPr>
          <a:xfrm>
            <a:off x="5118100" y="3251200"/>
            <a:ext cx="787400" cy="152400"/>
          </a:xfrm>
          <a:prstGeom prst="rect">
            <a:avLst/>
          </a:prstGeom>
          <a:noFill/>
        </p:spPr>
        <p:txBody>
          <a:bodyPr vertOverflow="overflow" vert="horz" wrap="square" rtlCol="0" anchor="t">
            <a:noAutofit/>
          </a:bodyPr>
          <a:lstStyle/>
          <a:p>
            <a:pPr algn="l"/>
            <a:r>
              <a:rPr lang="en-US" sz="1100" b="1">
                <a:solidFill>
                  <a:srgbClr val="C63D0F"/>
                </a:solidFill>
                <a:latin typeface="Arial"/>
                <a:cs typeface="Arial"/>
              </a:rPr>
              <a:t>~12,500</a:t>
            </a:r>
          </a:p>
        </p:txBody>
      </p:sp>
      <p:sp>
        <p:nvSpPr>
          <p:cNvPr id="117" name="Rectangle 116">
            <a:extLst>
              <a:ext uri="{FF2B5EF4-FFF2-40B4-BE49-F238E27FC236}">
                <a16:creationId xmlns:a16="http://schemas.microsoft.com/office/drawing/2014/main" id="{B1F3F466-56DD-1F4D-B0D7-4F608CC64AAF}"/>
              </a:ext>
            </a:extLst>
          </p:cNvPr>
          <p:cNvSpPr/>
          <p:nvPr/>
        </p:nvSpPr>
        <p:spPr>
          <a:xfrm>
            <a:off x="3441700" y="3505200"/>
            <a:ext cx="2641600" cy="279400"/>
          </a:xfrm>
          <a:prstGeom prst="rect">
            <a:avLst/>
          </a:prstGeom>
          <a:solidFill>
            <a:srgbClr val="FBFBFD"/>
          </a:solidFill>
          <a:ln w="0">
            <a:solidFill>
              <a:srgbClr val="FBFBF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8" name="TextBox 117">
            <a:extLst>
              <a:ext uri="{FF2B5EF4-FFF2-40B4-BE49-F238E27FC236}">
                <a16:creationId xmlns:a16="http://schemas.microsoft.com/office/drawing/2014/main" id="{F1DAC117-EBFC-5A44-AD7E-49D7908B5CEF}"/>
              </a:ext>
            </a:extLst>
          </p:cNvPr>
          <p:cNvSpPr txBox="1"/>
          <p:nvPr/>
        </p:nvSpPr>
        <p:spPr>
          <a:xfrm>
            <a:off x="3632200" y="3568700"/>
            <a:ext cx="889000" cy="152400"/>
          </a:xfrm>
          <a:prstGeom prst="rect">
            <a:avLst/>
          </a:prstGeom>
          <a:noFill/>
        </p:spPr>
        <p:txBody>
          <a:bodyPr vertOverflow="overflow" vert="horz" wrap="square" rtlCol="0" anchor="t">
            <a:noAutofit/>
          </a:bodyPr>
          <a:lstStyle/>
          <a:p>
            <a:pPr algn="l"/>
            <a:r>
              <a:rPr lang="en-US" sz="1100" b="1">
                <a:solidFill>
                  <a:srgbClr val="C63D0F"/>
                </a:solidFill>
                <a:latin typeface="Arial"/>
                <a:cs typeface="Arial"/>
              </a:rPr>
              <a:t>1% ARR</a:t>
            </a:r>
          </a:p>
        </p:txBody>
      </p:sp>
      <p:sp>
        <p:nvSpPr>
          <p:cNvPr id="119" name="TextBox 118">
            <a:extLst>
              <a:ext uri="{FF2B5EF4-FFF2-40B4-BE49-F238E27FC236}">
                <a16:creationId xmlns:a16="http://schemas.microsoft.com/office/drawing/2014/main" id="{A04EED52-C9C2-F949-BA64-F28DE9BB0DD6}"/>
              </a:ext>
            </a:extLst>
          </p:cNvPr>
          <p:cNvSpPr txBox="1"/>
          <p:nvPr/>
        </p:nvSpPr>
        <p:spPr>
          <a:xfrm>
            <a:off x="5118100" y="3568700"/>
            <a:ext cx="787400" cy="152400"/>
          </a:xfrm>
          <a:prstGeom prst="rect">
            <a:avLst/>
          </a:prstGeom>
          <a:noFill/>
        </p:spPr>
        <p:txBody>
          <a:bodyPr vertOverflow="overflow" vert="horz" wrap="square" rtlCol="0" anchor="t">
            <a:noAutofit/>
          </a:bodyPr>
          <a:lstStyle/>
          <a:p>
            <a:pPr algn="l"/>
            <a:r>
              <a:rPr lang="en-US" sz="1100" b="1">
                <a:solidFill>
                  <a:srgbClr val="C63D0F"/>
                </a:solidFill>
                <a:latin typeface="Arial"/>
                <a:cs typeface="Arial"/>
              </a:rPr>
              <a:t>~78,000</a:t>
            </a:r>
          </a:p>
        </p:txBody>
      </p:sp>
      <p:sp>
        <p:nvSpPr>
          <p:cNvPr id="120" name="TextBox 119">
            <a:extLst>
              <a:ext uri="{FF2B5EF4-FFF2-40B4-BE49-F238E27FC236}">
                <a16:creationId xmlns:a16="http://schemas.microsoft.com/office/drawing/2014/main" id="{D1C868E8-23C7-CD41-AA97-9F2116F8C651}"/>
              </a:ext>
            </a:extLst>
          </p:cNvPr>
          <p:cNvSpPr txBox="1"/>
          <p:nvPr/>
        </p:nvSpPr>
        <p:spPr>
          <a:xfrm>
            <a:off x="3441700" y="3962400"/>
            <a:ext cx="2641600" cy="203200"/>
          </a:xfrm>
          <a:prstGeom prst="rect">
            <a:avLst/>
          </a:prstGeom>
          <a:noFill/>
        </p:spPr>
        <p:txBody>
          <a:bodyPr vertOverflow="overflow" vert="horz" wrap="square" rtlCol="0" anchor="t">
            <a:noAutofit/>
          </a:bodyPr>
          <a:lstStyle/>
          <a:p>
            <a:pPr algn="l"/>
            <a:r>
              <a:rPr lang="en-US" sz="1100" b="1" dirty="0">
                <a:solidFill>
                  <a:srgbClr val="13005C"/>
                </a:solidFill>
                <a:latin typeface="Arial"/>
                <a:cs typeface="Arial"/>
              </a:rPr>
              <a:t>Worthwhile effects can be smaller.</a:t>
            </a:r>
          </a:p>
        </p:txBody>
      </p:sp>
      <p:sp>
        <p:nvSpPr>
          <p:cNvPr id="121" name="TextBox 120">
            <a:extLst>
              <a:ext uri="{FF2B5EF4-FFF2-40B4-BE49-F238E27FC236}">
                <a16:creationId xmlns:a16="http://schemas.microsoft.com/office/drawing/2014/main" id="{C1CE7BEA-C71F-1D40-A23F-D65D1D84CFEF}"/>
              </a:ext>
            </a:extLst>
          </p:cNvPr>
          <p:cNvSpPr txBox="1"/>
          <p:nvPr/>
        </p:nvSpPr>
        <p:spPr>
          <a:xfrm>
            <a:off x="6540500" y="1574800"/>
            <a:ext cx="2032000" cy="457200"/>
          </a:xfrm>
          <a:prstGeom prst="rect">
            <a:avLst/>
          </a:prstGeom>
          <a:noFill/>
        </p:spPr>
        <p:txBody>
          <a:bodyPr vertOverflow="overflow" vert="horz" wrap="square" rtlCol="0" anchor="t">
            <a:noAutofit/>
          </a:bodyPr>
          <a:lstStyle/>
          <a:p>
            <a:pPr algn="l"/>
            <a:r>
              <a:rPr lang="en-US" sz="1300" b="1">
                <a:solidFill>
                  <a:srgbClr val="13005C"/>
                </a:solidFill>
                <a:latin typeface="Arial"/>
                <a:cs typeface="Arial"/>
              </a:rPr>
              <a:t>3  Recover information by design</a:t>
            </a:r>
          </a:p>
        </p:txBody>
      </p:sp>
      <p:sp>
        <p:nvSpPr>
          <p:cNvPr id="122" name="Rounded Rectangle 121">
            <a:extLst>
              <a:ext uri="{FF2B5EF4-FFF2-40B4-BE49-F238E27FC236}">
                <a16:creationId xmlns:a16="http://schemas.microsoft.com/office/drawing/2014/main" id="{8557A18B-05D2-2544-AC3F-2F1686F171D5}"/>
              </a:ext>
            </a:extLst>
          </p:cNvPr>
          <p:cNvSpPr/>
          <p:nvPr/>
        </p:nvSpPr>
        <p:spPr>
          <a:xfrm>
            <a:off x="6540500" y="2108200"/>
            <a:ext cx="1981200" cy="508000"/>
          </a:xfrm>
          <a:prstGeom prst="roundRect">
            <a:avLst/>
          </a:prstGeom>
          <a:solidFill>
            <a:srgbClr val="FFFFFF"/>
          </a:solidFill>
          <a:ln w="7620">
            <a:solidFill>
              <a:srgbClr val="D8DCE3"/>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3" name="TextBox 122">
            <a:extLst>
              <a:ext uri="{FF2B5EF4-FFF2-40B4-BE49-F238E27FC236}">
                <a16:creationId xmlns:a16="http://schemas.microsoft.com/office/drawing/2014/main" id="{7A5F5077-4143-7542-A300-FE744A7A1709}"/>
              </a:ext>
            </a:extLst>
          </p:cNvPr>
          <p:cNvSpPr txBox="1"/>
          <p:nvPr/>
        </p:nvSpPr>
        <p:spPr>
          <a:xfrm>
            <a:off x="6642100" y="2159000"/>
            <a:ext cx="1778000" cy="177800"/>
          </a:xfrm>
          <a:prstGeom prst="rect">
            <a:avLst/>
          </a:prstGeom>
          <a:noFill/>
        </p:spPr>
        <p:txBody>
          <a:bodyPr vertOverflow="overflow" vert="horz" wrap="square" rtlCol="0" anchor="t">
            <a:noAutofit/>
          </a:bodyPr>
          <a:lstStyle/>
          <a:p>
            <a:pPr algn="l"/>
            <a:r>
              <a:rPr lang="en-US" sz="1100" b="1">
                <a:solidFill>
                  <a:srgbClr val="13005C"/>
                </a:solidFill>
                <a:latin typeface="Arial"/>
                <a:cs typeface="Arial"/>
              </a:rPr>
              <a:t>Risk enrichment</a:t>
            </a:r>
          </a:p>
        </p:txBody>
      </p:sp>
      <p:sp>
        <p:nvSpPr>
          <p:cNvPr id="124" name="TextBox 123">
            <a:extLst>
              <a:ext uri="{FF2B5EF4-FFF2-40B4-BE49-F238E27FC236}">
                <a16:creationId xmlns:a16="http://schemas.microsoft.com/office/drawing/2014/main" id="{B1AEA8A2-96AB-5B45-BCF5-EB75AF0B247A}"/>
              </a:ext>
            </a:extLst>
          </p:cNvPr>
          <p:cNvSpPr txBox="1"/>
          <p:nvPr/>
        </p:nvSpPr>
        <p:spPr>
          <a:xfrm>
            <a:off x="6642100" y="2362200"/>
            <a:ext cx="1778000" cy="177800"/>
          </a:xfrm>
          <a:prstGeom prst="rect">
            <a:avLst/>
          </a:prstGeom>
          <a:noFill/>
        </p:spPr>
        <p:txBody>
          <a:bodyPr vertOverflow="overflow" vert="horz" wrap="square" rtlCol="0" anchor="t">
            <a:noAutofit/>
          </a:bodyPr>
          <a:lstStyle/>
          <a:p>
            <a:pPr algn="l"/>
            <a:r>
              <a:rPr lang="en-US" sz="1100" dirty="0">
                <a:solidFill>
                  <a:srgbClr val="5F6368"/>
                </a:solidFill>
                <a:latin typeface="Arial"/>
                <a:cs typeface="Arial"/>
              </a:rPr>
              <a:t>Enough baseline events</a:t>
            </a:r>
          </a:p>
        </p:txBody>
      </p:sp>
      <p:sp>
        <p:nvSpPr>
          <p:cNvPr id="125" name="Rounded Rectangle 124">
            <a:extLst>
              <a:ext uri="{FF2B5EF4-FFF2-40B4-BE49-F238E27FC236}">
                <a16:creationId xmlns:a16="http://schemas.microsoft.com/office/drawing/2014/main" id="{90DD508E-3649-4B4D-8079-A56B2BB42264}"/>
              </a:ext>
            </a:extLst>
          </p:cNvPr>
          <p:cNvSpPr/>
          <p:nvPr/>
        </p:nvSpPr>
        <p:spPr>
          <a:xfrm>
            <a:off x="6540500" y="2667000"/>
            <a:ext cx="1981200" cy="508000"/>
          </a:xfrm>
          <a:prstGeom prst="roundRect">
            <a:avLst/>
          </a:prstGeom>
          <a:solidFill>
            <a:srgbClr val="FFFFFF"/>
          </a:solidFill>
          <a:ln w="7620">
            <a:solidFill>
              <a:srgbClr val="D8DCE3"/>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6" name="TextBox 125">
            <a:extLst>
              <a:ext uri="{FF2B5EF4-FFF2-40B4-BE49-F238E27FC236}">
                <a16:creationId xmlns:a16="http://schemas.microsoft.com/office/drawing/2014/main" id="{754854AD-6523-F845-B482-A12EF541D1CC}"/>
              </a:ext>
            </a:extLst>
          </p:cNvPr>
          <p:cNvSpPr txBox="1"/>
          <p:nvPr/>
        </p:nvSpPr>
        <p:spPr>
          <a:xfrm>
            <a:off x="6642100" y="2717800"/>
            <a:ext cx="1778000" cy="177800"/>
          </a:xfrm>
          <a:prstGeom prst="rect">
            <a:avLst/>
          </a:prstGeom>
          <a:noFill/>
        </p:spPr>
        <p:txBody>
          <a:bodyPr vertOverflow="overflow" vert="horz" wrap="square" rtlCol="0" anchor="t">
            <a:noAutofit/>
          </a:bodyPr>
          <a:lstStyle/>
          <a:p>
            <a:pPr algn="l"/>
            <a:r>
              <a:rPr lang="en-US" sz="1100" b="1" dirty="0">
                <a:solidFill>
                  <a:srgbClr val="13005C"/>
                </a:solidFill>
                <a:latin typeface="Arial"/>
                <a:cs typeface="Arial"/>
              </a:rPr>
              <a:t>Cleaner case definition</a:t>
            </a:r>
          </a:p>
        </p:txBody>
      </p:sp>
      <p:sp>
        <p:nvSpPr>
          <p:cNvPr id="127" name="TextBox 126">
            <a:extLst>
              <a:ext uri="{FF2B5EF4-FFF2-40B4-BE49-F238E27FC236}">
                <a16:creationId xmlns:a16="http://schemas.microsoft.com/office/drawing/2014/main" id="{F82A0833-98FC-D649-80A7-1FBA339ACF2B}"/>
              </a:ext>
            </a:extLst>
          </p:cNvPr>
          <p:cNvSpPr txBox="1"/>
          <p:nvPr/>
        </p:nvSpPr>
        <p:spPr>
          <a:xfrm>
            <a:off x="6642100" y="2921000"/>
            <a:ext cx="1778000" cy="177800"/>
          </a:xfrm>
          <a:prstGeom prst="rect">
            <a:avLst/>
          </a:prstGeom>
          <a:noFill/>
        </p:spPr>
        <p:txBody>
          <a:bodyPr vertOverflow="overflow" vert="horz" wrap="square" rtlCol="0" anchor="t">
            <a:noAutofit/>
          </a:bodyPr>
          <a:lstStyle/>
          <a:p>
            <a:pPr algn="l"/>
            <a:r>
              <a:rPr lang="en-US" sz="1100" dirty="0">
                <a:solidFill>
                  <a:srgbClr val="5F6368"/>
                </a:solidFill>
                <a:latin typeface="Arial"/>
                <a:cs typeface="Arial"/>
              </a:rPr>
              <a:t>Less heterogeneity</a:t>
            </a:r>
          </a:p>
        </p:txBody>
      </p:sp>
      <p:sp>
        <p:nvSpPr>
          <p:cNvPr id="128" name="Rounded Rectangle 127">
            <a:extLst>
              <a:ext uri="{FF2B5EF4-FFF2-40B4-BE49-F238E27FC236}">
                <a16:creationId xmlns:a16="http://schemas.microsoft.com/office/drawing/2014/main" id="{DD571B57-B510-F245-B85D-1C3AEC388F4B}"/>
              </a:ext>
            </a:extLst>
          </p:cNvPr>
          <p:cNvSpPr/>
          <p:nvPr/>
        </p:nvSpPr>
        <p:spPr>
          <a:xfrm>
            <a:off x="6540500" y="3225800"/>
            <a:ext cx="1981200" cy="508000"/>
          </a:xfrm>
          <a:prstGeom prst="roundRect">
            <a:avLst/>
          </a:prstGeom>
          <a:solidFill>
            <a:srgbClr val="F4F0FF"/>
          </a:solidFill>
          <a:ln w="7620">
            <a:solidFill>
              <a:srgbClr val="B7A4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9" name="TextBox 128">
            <a:extLst>
              <a:ext uri="{FF2B5EF4-FFF2-40B4-BE49-F238E27FC236}">
                <a16:creationId xmlns:a16="http://schemas.microsoft.com/office/drawing/2014/main" id="{461B1EDE-74D2-D249-9A87-4C0F6425DDFE}"/>
              </a:ext>
            </a:extLst>
          </p:cNvPr>
          <p:cNvSpPr txBox="1"/>
          <p:nvPr/>
        </p:nvSpPr>
        <p:spPr>
          <a:xfrm>
            <a:off x="6642100" y="3276600"/>
            <a:ext cx="1778000" cy="177800"/>
          </a:xfrm>
          <a:prstGeom prst="rect">
            <a:avLst/>
          </a:prstGeom>
          <a:noFill/>
        </p:spPr>
        <p:txBody>
          <a:bodyPr vertOverflow="overflow" vert="horz" wrap="square" rtlCol="0" anchor="t">
            <a:noAutofit/>
          </a:bodyPr>
          <a:lstStyle/>
          <a:p>
            <a:pPr algn="l"/>
            <a:r>
              <a:rPr lang="en-US" sz="1100" b="1">
                <a:solidFill>
                  <a:srgbClr val="4A00E8"/>
                </a:solidFill>
                <a:latin typeface="Arial"/>
                <a:cs typeface="Arial"/>
              </a:rPr>
              <a:t>Informative outcomes</a:t>
            </a:r>
          </a:p>
        </p:txBody>
      </p:sp>
      <p:sp>
        <p:nvSpPr>
          <p:cNvPr id="130" name="TextBox 129">
            <a:extLst>
              <a:ext uri="{FF2B5EF4-FFF2-40B4-BE49-F238E27FC236}">
                <a16:creationId xmlns:a16="http://schemas.microsoft.com/office/drawing/2014/main" id="{5093AA85-1F5E-7A46-A9F5-7002BC40CB03}"/>
              </a:ext>
            </a:extLst>
          </p:cNvPr>
          <p:cNvSpPr txBox="1"/>
          <p:nvPr/>
        </p:nvSpPr>
        <p:spPr>
          <a:xfrm>
            <a:off x="6642100" y="3479800"/>
            <a:ext cx="1778000" cy="177800"/>
          </a:xfrm>
          <a:prstGeom prst="rect">
            <a:avLst/>
          </a:prstGeom>
          <a:noFill/>
        </p:spPr>
        <p:txBody>
          <a:bodyPr vertOverflow="overflow" vert="horz" wrap="square" rtlCol="0" anchor="t">
            <a:noAutofit/>
          </a:bodyPr>
          <a:lstStyle/>
          <a:p>
            <a:pPr algn="l"/>
            <a:r>
              <a:rPr lang="en-US" sz="1100" dirty="0">
                <a:solidFill>
                  <a:srgbClr val="5F6368"/>
                </a:solidFill>
                <a:latin typeface="Arial"/>
                <a:cs typeface="Arial"/>
              </a:rPr>
              <a:t>Trajectory (state-by-day)</a:t>
            </a:r>
          </a:p>
        </p:txBody>
      </p:sp>
      <p:sp>
        <p:nvSpPr>
          <p:cNvPr id="131" name="Rounded Rectangle 130">
            <a:extLst>
              <a:ext uri="{FF2B5EF4-FFF2-40B4-BE49-F238E27FC236}">
                <a16:creationId xmlns:a16="http://schemas.microsoft.com/office/drawing/2014/main" id="{929E3310-F1AD-064C-ACDB-362D06B6D318}"/>
              </a:ext>
            </a:extLst>
          </p:cNvPr>
          <p:cNvSpPr/>
          <p:nvPr/>
        </p:nvSpPr>
        <p:spPr>
          <a:xfrm>
            <a:off x="6540500" y="3784600"/>
            <a:ext cx="1981200" cy="508000"/>
          </a:xfrm>
          <a:prstGeom prst="roundRect">
            <a:avLst/>
          </a:prstGeom>
          <a:solidFill>
            <a:srgbClr val="FFFFFF"/>
          </a:solidFill>
          <a:ln w="7620">
            <a:solidFill>
              <a:srgbClr val="D8DCE3"/>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2" name="TextBox 131">
            <a:extLst>
              <a:ext uri="{FF2B5EF4-FFF2-40B4-BE49-F238E27FC236}">
                <a16:creationId xmlns:a16="http://schemas.microsoft.com/office/drawing/2014/main" id="{1CD4291E-5DE3-C842-B0E5-940E0948BDCD}"/>
              </a:ext>
            </a:extLst>
          </p:cNvPr>
          <p:cNvSpPr txBox="1"/>
          <p:nvPr/>
        </p:nvSpPr>
        <p:spPr>
          <a:xfrm>
            <a:off x="6642100" y="3835400"/>
            <a:ext cx="1778000" cy="177800"/>
          </a:xfrm>
          <a:prstGeom prst="rect">
            <a:avLst/>
          </a:prstGeom>
          <a:noFill/>
        </p:spPr>
        <p:txBody>
          <a:bodyPr vertOverflow="overflow" vert="horz" wrap="square" rtlCol="0" anchor="t">
            <a:noAutofit/>
          </a:bodyPr>
          <a:lstStyle/>
          <a:p>
            <a:pPr algn="l"/>
            <a:r>
              <a:rPr lang="en-US" sz="1100" b="1" dirty="0">
                <a:solidFill>
                  <a:srgbClr val="13005C"/>
                </a:solidFill>
                <a:latin typeface="Arial"/>
                <a:cs typeface="Arial"/>
              </a:rPr>
              <a:t>Adjustment</a:t>
            </a:r>
          </a:p>
        </p:txBody>
      </p:sp>
      <p:sp>
        <p:nvSpPr>
          <p:cNvPr id="133" name="TextBox 132">
            <a:extLst>
              <a:ext uri="{FF2B5EF4-FFF2-40B4-BE49-F238E27FC236}">
                <a16:creationId xmlns:a16="http://schemas.microsoft.com/office/drawing/2014/main" id="{740928CA-CCFA-3F41-B834-1A64D1820158}"/>
              </a:ext>
            </a:extLst>
          </p:cNvPr>
          <p:cNvSpPr txBox="1"/>
          <p:nvPr/>
        </p:nvSpPr>
        <p:spPr>
          <a:xfrm>
            <a:off x="6642100" y="4038600"/>
            <a:ext cx="1778000" cy="177800"/>
          </a:xfrm>
          <a:prstGeom prst="rect">
            <a:avLst/>
          </a:prstGeom>
          <a:noFill/>
        </p:spPr>
        <p:txBody>
          <a:bodyPr vertOverflow="overflow" vert="horz" wrap="square" rtlCol="0" anchor="t">
            <a:noAutofit/>
          </a:bodyPr>
          <a:lstStyle/>
          <a:p>
            <a:pPr algn="l"/>
            <a:r>
              <a:rPr lang="en-US" sz="1100" dirty="0">
                <a:solidFill>
                  <a:srgbClr val="5F6368"/>
                </a:solidFill>
                <a:latin typeface="Arial"/>
                <a:cs typeface="Arial"/>
              </a:rPr>
              <a:t>Remove noise</a:t>
            </a:r>
          </a:p>
        </p:txBody>
      </p:sp>
      <p:sp>
        <p:nvSpPr>
          <p:cNvPr id="134" name="Rounded Rectangle 133">
            <a:extLst>
              <a:ext uri="{FF2B5EF4-FFF2-40B4-BE49-F238E27FC236}">
                <a16:creationId xmlns:a16="http://schemas.microsoft.com/office/drawing/2014/main" id="{2B6FCB24-3EE7-BA46-AC00-042CB59FD934}"/>
              </a:ext>
            </a:extLst>
          </p:cNvPr>
          <p:cNvSpPr/>
          <p:nvPr/>
        </p:nvSpPr>
        <p:spPr>
          <a:xfrm>
            <a:off x="660400" y="4343400"/>
            <a:ext cx="8001000" cy="355600"/>
          </a:xfrm>
          <a:prstGeom prst="roundRect">
            <a:avLst/>
          </a:prstGeom>
          <a:solidFill>
            <a:srgbClr val="F4F0FF"/>
          </a:solidFill>
          <a:ln w="10160">
            <a:solidFill>
              <a:srgbClr val="C7B8F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5" name="TextBox 134">
            <a:extLst>
              <a:ext uri="{FF2B5EF4-FFF2-40B4-BE49-F238E27FC236}">
                <a16:creationId xmlns:a16="http://schemas.microsoft.com/office/drawing/2014/main" id="{CA9D5127-EE22-1F41-AC77-AD552664AB79}"/>
              </a:ext>
            </a:extLst>
          </p:cNvPr>
          <p:cNvSpPr txBox="1"/>
          <p:nvPr/>
        </p:nvSpPr>
        <p:spPr>
          <a:xfrm>
            <a:off x="800100" y="4419600"/>
            <a:ext cx="7721600" cy="228600"/>
          </a:xfrm>
          <a:prstGeom prst="rect">
            <a:avLst/>
          </a:prstGeom>
          <a:noFill/>
        </p:spPr>
        <p:txBody>
          <a:bodyPr vertOverflow="overflow" vert="horz" wrap="square" rtlCol="0" anchor="t">
            <a:noAutofit/>
          </a:bodyPr>
          <a:lstStyle/>
          <a:p>
            <a:pPr algn="l"/>
            <a:r>
              <a:rPr lang="en-US" sz="1200" b="1">
                <a:solidFill>
                  <a:srgbClr val="4A00E8"/>
                </a:solidFill>
                <a:latin typeface="Arial"/>
                <a:cs typeface="Arial"/>
              </a:rPr>
              <a:t>Better prediction concentrates measurement where the outcome is plausible, actionable, and learnable.</a:t>
            </a:r>
          </a:p>
        </p:txBody>
      </p:sp>
    </p:spTree>
    <p:extLst>
      <p:ext uri="{BB962C8B-B14F-4D97-AF65-F5344CB8AC3E}">
        <p14:creationId xmlns:p14="http://schemas.microsoft.com/office/powerpoint/2010/main" val="1338393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white_canvas">
            <a:extLst>
              <a:ext uri="{FF2B5EF4-FFF2-40B4-BE49-F238E27FC236}">
                <a16:creationId xmlns:a16="http://schemas.microsoft.com/office/drawing/2014/main" id="{A728FDA2-4B79-DB4C-9492-A1A99EBEDA66}"/>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6" name="left_cyan_rail">
            <a:extLst>
              <a:ext uri="{FF2B5EF4-FFF2-40B4-BE49-F238E27FC236}">
                <a16:creationId xmlns:a16="http://schemas.microsoft.com/office/drawing/2014/main" id="{D23605B9-4CF7-1642-85D9-D721AD8BD7DA}"/>
              </a:ext>
            </a:extLst>
          </p:cNvPr>
          <p:cNvSpPr/>
          <p:nvPr/>
        </p:nvSpPr>
        <p:spPr>
          <a:xfrm>
            <a:off x="355600" y="736600"/>
            <a:ext cx="50800" cy="3606800"/>
          </a:xfrm>
          <a:prstGeom prst="rect">
            <a:avLst/>
          </a:prstGeom>
          <a:solidFill>
            <a:srgbClr val="4A00E2"/>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7" name="kicker">
            <a:extLst>
              <a:ext uri="{FF2B5EF4-FFF2-40B4-BE49-F238E27FC236}">
                <a16:creationId xmlns:a16="http://schemas.microsoft.com/office/drawing/2014/main" id="{E5B25CAE-3BDA-9648-9BFF-F55E0AD54CA2}"/>
              </a:ext>
            </a:extLst>
          </p:cNvPr>
          <p:cNvSpPr txBox="1"/>
          <p:nvPr/>
        </p:nvSpPr>
        <p:spPr>
          <a:xfrm>
            <a:off x="635000" y="381000"/>
            <a:ext cx="5969000" cy="228600"/>
          </a:xfrm>
          <a:prstGeom prst="rect">
            <a:avLst/>
          </a:prstGeom>
          <a:noFill/>
        </p:spPr>
        <p:txBody>
          <a:bodyPr vertOverflow="overflow" vert="horz" wrap="none" rtlCol="0" anchor="t" anchorCtr="0">
            <a:noAutofit/>
          </a:bodyPr>
          <a:lstStyle/>
          <a:p>
            <a:pPr algn="l"/>
            <a:r>
              <a:rPr lang="en-US" sz="1600" b="1">
                <a:solidFill>
                  <a:srgbClr val="4A00E2"/>
                </a:solidFill>
                <a:latin typeface="Arial"/>
                <a:cs typeface="Arial"/>
              </a:rPr>
              <a:t>ENRICH + ESTIMATE | RESIDUAL VARIATION</a:t>
            </a:r>
          </a:p>
        </p:txBody>
      </p:sp>
      <p:sp>
        <p:nvSpPr>
          <p:cNvPr id="88" name="title">
            <a:extLst>
              <a:ext uri="{FF2B5EF4-FFF2-40B4-BE49-F238E27FC236}">
                <a16:creationId xmlns:a16="http://schemas.microsoft.com/office/drawing/2014/main" id="{458BA5B6-03F2-5440-9E26-0094F7434520}"/>
              </a:ext>
            </a:extLst>
          </p:cNvPr>
          <p:cNvSpPr txBox="1"/>
          <p:nvPr/>
        </p:nvSpPr>
        <p:spPr>
          <a:xfrm>
            <a:off x="635000" y="691792"/>
            <a:ext cx="7937500" cy="609600"/>
          </a:xfrm>
          <a:prstGeom prst="rect">
            <a:avLst/>
          </a:prstGeom>
          <a:noFill/>
        </p:spPr>
        <p:txBody>
          <a:bodyPr vertOverflow="overflow" vert="horz" wrap="square" rtlCol="0" anchor="t" anchorCtr="0">
            <a:noAutofit/>
          </a:bodyPr>
          <a:lstStyle/>
          <a:p>
            <a:pPr algn="l"/>
            <a:r>
              <a:rPr lang="en-US" sz="1600" b="1" dirty="0">
                <a:solidFill>
                  <a:srgbClr val="1B0066"/>
                </a:solidFill>
                <a:latin typeface="Arial"/>
                <a:cs typeface="Arial"/>
              </a:rPr>
              <a:t>Baseline risk helps twice: enrich first, adjust after randomization</a:t>
            </a:r>
          </a:p>
        </p:txBody>
      </p:sp>
      <p:sp>
        <p:nvSpPr>
          <p:cNvPr id="90" name="card_body">
            <a:extLst>
              <a:ext uri="{FF2B5EF4-FFF2-40B4-BE49-F238E27FC236}">
                <a16:creationId xmlns:a16="http://schemas.microsoft.com/office/drawing/2014/main" id="{4AA790C1-085A-B740-974A-8089271552F8}"/>
              </a:ext>
            </a:extLst>
          </p:cNvPr>
          <p:cNvSpPr/>
          <p:nvPr/>
        </p:nvSpPr>
        <p:spPr>
          <a:xfrm>
            <a:off x="736600" y="1701800"/>
            <a:ext cx="3708400" cy="2641600"/>
          </a:xfrm>
          <a:prstGeom prst="rect">
            <a:avLst/>
          </a:prstGeom>
          <a:solidFill>
            <a:srgbClr val="FFFFFF"/>
          </a:solidFill>
          <a:ln w="12700">
            <a:solidFill>
              <a:srgbClr val="D9E2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1" name="card_header">
            <a:extLst>
              <a:ext uri="{FF2B5EF4-FFF2-40B4-BE49-F238E27FC236}">
                <a16:creationId xmlns:a16="http://schemas.microsoft.com/office/drawing/2014/main" id="{466BA273-28EC-8445-A3AA-5C4C1653C4DB}"/>
              </a:ext>
            </a:extLst>
          </p:cNvPr>
          <p:cNvSpPr/>
          <p:nvPr/>
        </p:nvSpPr>
        <p:spPr>
          <a:xfrm>
            <a:off x="736600" y="1701800"/>
            <a:ext cx="3708400" cy="444500"/>
          </a:xfrm>
          <a:prstGeom prst="rect">
            <a:avLst/>
          </a:prstGeom>
          <a:solidFill>
            <a:srgbClr val="4B00D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2" name="card_header_text">
            <a:extLst>
              <a:ext uri="{FF2B5EF4-FFF2-40B4-BE49-F238E27FC236}">
                <a16:creationId xmlns:a16="http://schemas.microsoft.com/office/drawing/2014/main" id="{9E99B0F4-EA52-EF40-9762-0DA647235349}"/>
              </a:ext>
            </a:extLst>
          </p:cNvPr>
          <p:cNvSpPr txBox="1"/>
          <p:nvPr/>
        </p:nvSpPr>
        <p:spPr>
          <a:xfrm>
            <a:off x="1016000" y="1828800"/>
            <a:ext cx="3149600" cy="203200"/>
          </a:xfrm>
          <a:prstGeom prst="rect">
            <a:avLst/>
          </a:prstGeom>
          <a:noFill/>
        </p:spPr>
        <p:txBody>
          <a:bodyPr vertOverflow="overflow" vert="horz" wrap="none" rtlCol="0" anchor="t" anchorCtr="0">
            <a:noAutofit/>
          </a:bodyPr>
          <a:lstStyle/>
          <a:p>
            <a:pPr algn="l"/>
            <a:r>
              <a:rPr lang="en-US" sz="1600" b="1">
                <a:solidFill>
                  <a:srgbClr val="FFFFFF"/>
                </a:solidFill>
                <a:latin typeface="Arial"/>
                <a:cs typeface="Arial"/>
              </a:rPr>
              <a:t>BEFORE RANDOMIZATION</a:t>
            </a:r>
          </a:p>
        </p:txBody>
      </p:sp>
      <p:sp>
        <p:nvSpPr>
          <p:cNvPr id="93" name="card_headline">
            <a:extLst>
              <a:ext uri="{FF2B5EF4-FFF2-40B4-BE49-F238E27FC236}">
                <a16:creationId xmlns:a16="http://schemas.microsoft.com/office/drawing/2014/main" id="{4F8E8657-6973-A742-B396-930F138CEECB}"/>
              </a:ext>
            </a:extLst>
          </p:cNvPr>
          <p:cNvSpPr txBox="1"/>
          <p:nvPr/>
        </p:nvSpPr>
        <p:spPr>
          <a:xfrm>
            <a:off x="1016000" y="2286000"/>
            <a:ext cx="3149600" cy="228600"/>
          </a:xfrm>
          <a:prstGeom prst="rect">
            <a:avLst/>
          </a:prstGeom>
          <a:noFill/>
        </p:spPr>
        <p:txBody>
          <a:bodyPr vertOverflow="overflow" vert="horz" wrap="square" rtlCol="0" anchor="t" anchorCtr="0">
            <a:noAutofit/>
          </a:bodyPr>
          <a:lstStyle/>
          <a:p>
            <a:pPr algn="l"/>
            <a:r>
              <a:rPr lang="en-US" sz="1300" b="1" dirty="0">
                <a:solidFill>
                  <a:srgbClr val="110057"/>
                </a:solidFill>
                <a:latin typeface="Arial"/>
                <a:cs typeface="Arial"/>
              </a:rPr>
              <a:t>Enrichment: choose who enters</a:t>
            </a:r>
          </a:p>
        </p:txBody>
      </p:sp>
      <p:sp>
        <p:nvSpPr>
          <p:cNvPr id="94" name="Oval 93">
            <a:extLst>
              <a:ext uri="{FF2B5EF4-FFF2-40B4-BE49-F238E27FC236}">
                <a16:creationId xmlns:a16="http://schemas.microsoft.com/office/drawing/2014/main" id="{F8333B5A-69FE-874B-A75F-E1AF30C6231E}"/>
              </a:ext>
            </a:extLst>
          </p:cNvPr>
          <p:cNvSpPr/>
          <p:nvPr/>
        </p:nvSpPr>
        <p:spPr>
          <a:xfrm>
            <a:off x="1041400" y="2692400"/>
            <a:ext cx="53340" cy="53340"/>
          </a:xfrm>
          <a:prstGeom prst="ellipse">
            <a:avLst/>
          </a:prstGeom>
          <a:solidFill>
            <a:srgbClr val="2AAA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5" name="bullet_text">
            <a:extLst>
              <a:ext uri="{FF2B5EF4-FFF2-40B4-BE49-F238E27FC236}">
                <a16:creationId xmlns:a16="http://schemas.microsoft.com/office/drawing/2014/main" id="{D71DB7FA-19F2-654C-B069-194A035FFFE9}"/>
              </a:ext>
            </a:extLst>
          </p:cNvPr>
          <p:cNvSpPr txBox="1"/>
          <p:nvPr/>
        </p:nvSpPr>
        <p:spPr>
          <a:xfrm>
            <a:off x="1231900" y="2616200"/>
            <a:ext cx="3111500" cy="2540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Enough baseline risk for outcome capture</a:t>
            </a:r>
          </a:p>
        </p:txBody>
      </p:sp>
      <p:sp>
        <p:nvSpPr>
          <p:cNvPr id="96" name="Oval 95">
            <a:extLst>
              <a:ext uri="{FF2B5EF4-FFF2-40B4-BE49-F238E27FC236}">
                <a16:creationId xmlns:a16="http://schemas.microsoft.com/office/drawing/2014/main" id="{C0516F54-0D82-9E4F-ADF9-9FFC14C83A57}"/>
              </a:ext>
            </a:extLst>
          </p:cNvPr>
          <p:cNvSpPr/>
          <p:nvPr/>
        </p:nvSpPr>
        <p:spPr>
          <a:xfrm>
            <a:off x="1041400" y="3048000"/>
            <a:ext cx="53340" cy="53340"/>
          </a:xfrm>
          <a:prstGeom prst="ellipse">
            <a:avLst/>
          </a:prstGeom>
          <a:solidFill>
            <a:srgbClr val="2AAA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7" name="bullet_text">
            <a:extLst>
              <a:ext uri="{FF2B5EF4-FFF2-40B4-BE49-F238E27FC236}">
                <a16:creationId xmlns:a16="http://schemas.microsoft.com/office/drawing/2014/main" id="{8D98B350-A315-074A-9FF4-5B0843FE2948}"/>
              </a:ext>
            </a:extLst>
          </p:cNvPr>
          <p:cNvSpPr txBox="1"/>
          <p:nvPr/>
        </p:nvSpPr>
        <p:spPr>
          <a:xfrm>
            <a:off x="1231900" y="2971800"/>
            <a:ext cx="3111500" cy="2540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Higher event yield and feasible operations</a:t>
            </a:r>
          </a:p>
        </p:txBody>
      </p:sp>
      <p:sp>
        <p:nvSpPr>
          <p:cNvPr id="98" name="Oval 97">
            <a:extLst>
              <a:ext uri="{FF2B5EF4-FFF2-40B4-BE49-F238E27FC236}">
                <a16:creationId xmlns:a16="http://schemas.microsoft.com/office/drawing/2014/main" id="{AD0AC8B7-F593-9D49-9A79-065C8E907F95}"/>
              </a:ext>
            </a:extLst>
          </p:cNvPr>
          <p:cNvSpPr/>
          <p:nvPr/>
        </p:nvSpPr>
        <p:spPr>
          <a:xfrm>
            <a:off x="1041400" y="3403600"/>
            <a:ext cx="53340" cy="53340"/>
          </a:xfrm>
          <a:prstGeom prst="ellipse">
            <a:avLst/>
          </a:prstGeom>
          <a:solidFill>
            <a:srgbClr val="2AAA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9" name="bullet_text">
            <a:extLst>
              <a:ext uri="{FF2B5EF4-FFF2-40B4-BE49-F238E27FC236}">
                <a16:creationId xmlns:a16="http://schemas.microsoft.com/office/drawing/2014/main" id="{F1E00072-496B-9B4B-8775-CC2C2737458A}"/>
              </a:ext>
            </a:extLst>
          </p:cNvPr>
          <p:cNvSpPr txBox="1"/>
          <p:nvPr/>
        </p:nvSpPr>
        <p:spPr>
          <a:xfrm>
            <a:off x="1231900" y="3327400"/>
            <a:ext cx="3111500" cy="2540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Avoid broad cohorts with uninformative outcomes</a:t>
            </a:r>
          </a:p>
        </p:txBody>
      </p:sp>
      <p:sp>
        <p:nvSpPr>
          <p:cNvPr id="100" name="goal_strip">
            <a:extLst>
              <a:ext uri="{FF2B5EF4-FFF2-40B4-BE49-F238E27FC236}">
                <a16:creationId xmlns:a16="http://schemas.microsoft.com/office/drawing/2014/main" id="{399DDEAB-D06E-5042-A7BE-7ECB1501C3FD}"/>
              </a:ext>
            </a:extLst>
          </p:cNvPr>
          <p:cNvSpPr/>
          <p:nvPr/>
        </p:nvSpPr>
        <p:spPr>
          <a:xfrm>
            <a:off x="927100" y="3810000"/>
            <a:ext cx="3327400" cy="304800"/>
          </a:xfrm>
          <a:prstGeom prst="rect">
            <a:avLst/>
          </a:prstGeom>
          <a:solidFill>
            <a:srgbClr val="EAF8F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1" name="goal_text">
            <a:extLst>
              <a:ext uri="{FF2B5EF4-FFF2-40B4-BE49-F238E27FC236}">
                <a16:creationId xmlns:a16="http://schemas.microsoft.com/office/drawing/2014/main" id="{E586476E-2EBF-314F-94B0-6011023AB753}"/>
              </a:ext>
            </a:extLst>
          </p:cNvPr>
          <p:cNvSpPr txBox="1"/>
          <p:nvPr/>
        </p:nvSpPr>
        <p:spPr>
          <a:xfrm>
            <a:off x="1117600" y="3837826"/>
            <a:ext cx="2946400" cy="416674"/>
          </a:xfrm>
          <a:prstGeom prst="rect">
            <a:avLst/>
          </a:prstGeom>
          <a:noFill/>
        </p:spPr>
        <p:txBody>
          <a:bodyPr vertOverflow="overflow" vert="horz" wrap="none" rtlCol="0" anchor="t" anchorCtr="0">
            <a:noAutofit/>
          </a:bodyPr>
          <a:lstStyle/>
          <a:p>
            <a:pPr algn="l"/>
            <a:r>
              <a:rPr lang="en-US" sz="1200" b="1">
                <a:solidFill>
                  <a:srgbClr val="4A00E2"/>
                </a:solidFill>
                <a:latin typeface="Arial"/>
                <a:cs typeface="Arial"/>
              </a:rPr>
              <a:t>Goal: more signal</a:t>
            </a:r>
          </a:p>
        </p:txBody>
      </p:sp>
      <p:sp>
        <p:nvSpPr>
          <p:cNvPr id="102" name="card_body">
            <a:extLst>
              <a:ext uri="{FF2B5EF4-FFF2-40B4-BE49-F238E27FC236}">
                <a16:creationId xmlns:a16="http://schemas.microsoft.com/office/drawing/2014/main" id="{0C709CB4-450C-6B41-8584-8BC544AA30B9}"/>
              </a:ext>
            </a:extLst>
          </p:cNvPr>
          <p:cNvSpPr/>
          <p:nvPr/>
        </p:nvSpPr>
        <p:spPr>
          <a:xfrm>
            <a:off x="4699000" y="1701800"/>
            <a:ext cx="3708400" cy="2641600"/>
          </a:xfrm>
          <a:prstGeom prst="rect">
            <a:avLst/>
          </a:prstGeom>
          <a:solidFill>
            <a:srgbClr val="FFFFFF"/>
          </a:solidFill>
          <a:ln w="12700">
            <a:solidFill>
              <a:srgbClr val="D9E2E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3" name="card_header">
            <a:extLst>
              <a:ext uri="{FF2B5EF4-FFF2-40B4-BE49-F238E27FC236}">
                <a16:creationId xmlns:a16="http://schemas.microsoft.com/office/drawing/2014/main" id="{0BC8573B-E257-0544-8B59-45C6EA6C5F40}"/>
              </a:ext>
            </a:extLst>
          </p:cNvPr>
          <p:cNvSpPr/>
          <p:nvPr/>
        </p:nvSpPr>
        <p:spPr>
          <a:xfrm>
            <a:off x="4699000" y="1701800"/>
            <a:ext cx="3708400" cy="444500"/>
          </a:xfrm>
          <a:prstGeom prst="rect">
            <a:avLst/>
          </a:prstGeom>
          <a:solidFill>
            <a:srgbClr val="1B006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4" name="card_header_text">
            <a:extLst>
              <a:ext uri="{FF2B5EF4-FFF2-40B4-BE49-F238E27FC236}">
                <a16:creationId xmlns:a16="http://schemas.microsoft.com/office/drawing/2014/main" id="{526A913B-5CFA-8646-B34E-405DDD4C37E8}"/>
              </a:ext>
            </a:extLst>
          </p:cNvPr>
          <p:cNvSpPr txBox="1"/>
          <p:nvPr/>
        </p:nvSpPr>
        <p:spPr>
          <a:xfrm>
            <a:off x="4978400" y="1828800"/>
            <a:ext cx="3149600" cy="203200"/>
          </a:xfrm>
          <a:prstGeom prst="rect">
            <a:avLst/>
          </a:prstGeom>
          <a:noFill/>
        </p:spPr>
        <p:txBody>
          <a:bodyPr vertOverflow="overflow" vert="horz" wrap="none" rtlCol="0" anchor="t" anchorCtr="0">
            <a:noAutofit/>
          </a:bodyPr>
          <a:lstStyle/>
          <a:p>
            <a:pPr algn="l"/>
            <a:r>
              <a:rPr lang="en-US" sz="1600" b="1">
                <a:solidFill>
                  <a:srgbClr val="FFFFFF"/>
                </a:solidFill>
                <a:latin typeface="Arial"/>
                <a:cs typeface="Arial"/>
              </a:rPr>
              <a:t>AFTER RANDOMIZATION</a:t>
            </a:r>
          </a:p>
        </p:txBody>
      </p:sp>
      <p:sp>
        <p:nvSpPr>
          <p:cNvPr id="105" name="card_headline">
            <a:extLst>
              <a:ext uri="{FF2B5EF4-FFF2-40B4-BE49-F238E27FC236}">
                <a16:creationId xmlns:a16="http://schemas.microsoft.com/office/drawing/2014/main" id="{47582715-1450-3248-9A84-E79D69BC3039}"/>
              </a:ext>
            </a:extLst>
          </p:cNvPr>
          <p:cNvSpPr txBox="1"/>
          <p:nvPr/>
        </p:nvSpPr>
        <p:spPr>
          <a:xfrm>
            <a:off x="4978400" y="2286000"/>
            <a:ext cx="3149600" cy="228600"/>
          </a:xfrm>
          <a:prstGeom prst="rect">
            <a:avLst/>
          </a:prstGeom>
          <a:noFill/>
        </p:spPr>
        <p:txBody>
          <a:bodyPr vertOverflow="overflow" vert="horz" wrap="square" rtlCol="0" anchor="t" anchorCtr="0">
            <a:noAutofit/>
          </a:bodyPr>
          <a:lstStyle/>
          <a:p>
            <a:pPr algn="l"/>
            <a:r>
              <a:rPr lang="en-US" sz="1300" b="1" dirty="0">
                <a:solidFill>
                  <a:srgbClr val="110057"/>
                </a:solidFill>
                <a:latin typeface="Arial"/>
                <a:cs typeface="Arial"/>
              </a:rPr>
              <a:t>Adjustment: estimate precisely</a:t>
            </a:r>
          </a:p>
        </p:txBody>
      </p:sp>
      <p:sp>
        <p:nvSpPr>
          <p:cNvPr id="106" name="Oval 105">
            <a:extLst>
              <a:ext uri="{FF2B5EF4-FFF2-40B4-BE49-F238E27FC236}">
                <a16:creationId xmlns:a16="http://schemas.microsoft.com/office/drawing/2014/main" id="{A6C0FE1F-2482-5A44-8E5F-8E0F8B857F77}"/>
              </a:ext>
            </a:extLst>
          </p:cNvPr>
          <p:cNvSpPr/>
          <p:nvPr/>
        </p:nvSpPr>
        <p:spPr>
          <a:xfrm>
            <a:off x="5003800" y="2692400"/>
            <a:ext cx="53340" cy="53340"/>
          </a:xfrm>
          <a:prstGeom prst="ellipse">
            <a:avLst/>
          </a:prstGeom>
          <a:solidFill>
            <a:srgbClr val="2AAA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7" name="bullet_text">
            <a:extLst>
              <a:ext uri="{FF2B5EF4-FFF2-40B4-BE49-F238E27FC236}">
                <a16:creationId xmlns:a16="http://schemas.microsoft.com/office/drawing/2014/main" id="{BBCA90F5-DE58-EF49-97CE-BD39B8F2177C}"/>
              </a:ext>
            </a:extLst>
          </p:cNvPr>
          <p:cNvSpPr txBox="1"/>
          <p:nvPr/>
        </p:nvSpPr>
        <p:spPr>
          <a:xfrm>
            <a:off x="5194300" y="2616200"/>
            <a:ext cx="3111500" cy="2540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Prespecify prognostic baseline covariates</a:t>
            </a:r>
          </a:p>
        </p:txBody>
      </p:sp>
      <p:sp>
        <p:nvSpPr>
          <p:cNvPr id="108" name="Oval 107">
            <a:extLst>
              <a:ext uri="{FF2B5EF4-FFF2-40B4-BE49-F238E27FC236}">
                <a16:creationId xmlns:a16="http://schemas.microsoft.com/office/drawing/2014/main" id="{A684C823-F94E-F04B-8055-013A9497607A}"/>
              </a:ext>
            </a:extLst>
          </p:cNvPr>
          <p:cNvSpPr/>
          <p:nvPr/>
        </p:nvSpPr>
        <p:spPr>
          <a:xfrm>
            <a:off x="5003800" y="3048000"/>
            <a:ext cx="53340" cy="53340"/>
          </a:xfrm>
          <a:prstGeom prst="ellipse">
            <a:avLst/>
          </a:prstGeom>
          <a:solidFill>
            <a:srgbClr val="2AAA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9" name="bullet_text">
            <a:extLst>
              <a:ext uri="{FF2B5EF4-FFF2-40B4-BE49-F238E27FC236}">
                <a16:creationId xmlns:a16="http://schemas.microsoft.com/office/drawing/2014/main" id="{4C9F5BA9-A794-B440-9305-7AC23B4A6033}"/>
              </a:ext>
            </a:extLst>
          </p:cNvPr>
          <p:cNvSpPr txBox="1"/>
          <p:nvPr/>
        </p:nvSpPr>
        <p:spPr>
          <a:xfrm>
            <a:off x="5194300" y="2971800"/>
            <a:ext cx="3111500" cy="2540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Explain predictable outcome variation</a:t>
            </a:r>
          </a:p>
        </p:txBody>
      </p:sp>
      <p:sp>
        <p:nvSpPr>
          <p:cNvPr id="110" name="Oval 109">
            <a:extLst>
              <a:ext uri="{FF2B5EF4-FFF2-40B4-BE49-F238E27FC236}">
                <a16:creationId xmlns:a16="http://schemas.microsoft.com/office/drawing/2014/main" id="{6A24D102-0199-BC48-9270-547C3D06E768}"/>
              </a:ext>
            </a:extLst>
          </p:cNvPr>
          <p:cNvSpPr/>
          <p:nvPr/>
        </p:nvSpPr>
        <p:spPr>
          <a:xfrm>
            <a:off x="5003800" y="3403600"/>
            <a:ext cx="53340" cy="53340"/>
          </a:xfrm>
          <a:prstGeom prst="ellipse">
            <a:avLst/>
          </a:prstGeom>
          <a:solidFill>
            <a:srgbClr val="2AAA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1" name="bullet_text">
            <a:extLst>
              <a:ext uri="{FF2B5EF4-FFF2-40B4-BE49-F238E27FC236}">
                <a16:creationId xmlns:a16="http://schemas.microsoft.com/office/drawing/2014/main" id="{029E3289-C67E-274F-AC95-5CCC2EE28745}"/>
              </a:ext>
            </a:extLst>
          </p:cNvPr>
          <p:cNvSpPr txBox="1"/>
          <p:nvPr/>
        </p:nvSpPr>
        <p:spPr>
          <a:xfrm>
            <a:off x="5194300" y="3327400"/>
            <a:ext cx="3111500" cy="254000"/>
          </a:xfrm>
          <a:prstGeom prst="rect">
            <a:avLst/>
          </a:prstGeom>
          <a:noFill/>
        </p:spPr>
        <p:txBody>
          <a:bodyPr vertOverflow="overflow" vert="horz" wrap="square" rtlCol="0" anchor="t" anchorCtr="0">
            <a:noAutofit/>
          </a:bodyPr>
          <a:lstStyle/>
          <a:p>
            <a:pPr algn="l"/>
            <a:r>
              <a:rPr lang="en-US" sz="1200">
                <a:solidFill>
                  <a:srgbClr val="2A2340"/>
                </a:solidFill>
                <a:latin typeface="Arial"/>
                <a:cs typeface="Arial"/>
              </a:rPr>
              <a:t>Narrow intervals without changing randomization</a:t>
            </a:r>
          </a:p>
        </p:txBody>
      </p:sp>
      <p:sp>
        <p:nvSpPr>
          <p:cNvPr id="112" name="goal_strip">
            <a:extLst>
              <a:ext uri="{FF2B5EF4-FFF2-40B4-BE49-F238E27FC236}">
                <a16:creationId xmlns:a16="http://schemas.microsoft.com/office/drawing/2014/main" id="{826AA452-649E-3346-8FF8-21BD1EA4259D}"/>
              </a:ext>
            </a:extLst>
          </p:cNvPr>
          <p:cNvSpPr/>
          <p:nvPr/>
        </p:nvSpPr>
        <p:spPr>
          <a:xfrm>
            <a:off x="4889500" y="3810000"/>
            <a:ext cx="3327400" cy="324208"/>
          </a:xfrm>
          <a:prstGeom prst="rect">
            <a:avLst/>
          </a:prstGeom>
          <a:solidFill>
            <a:srgbClr val="F1EC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3" name="goal_text">
            <a:extLst>
              <a:ext uri="{FF2B5EF4-FFF2-40B4-BE49-F238E27FC236}">
                <a16:creationId xmlns:a16="http://schemas.microsoft.com/office/drawing/2014/main" id="{B43A5608-C535-6C4A-870B-E61F130AE18D}"/>
              </a:ext>
            </a:extLst>
          </p:cNvPr>
          <p:cNvSpPr txBox="1"/>
          <p:nvPr/>
        </p:nvSpPr>
        <p:spPr>
          <a:xfrm>
            <a:off x="5080000" y="3848100"/>
            <a:ext cx="2946400" cy="152400"/>
          </a:xfrm>
          <a:prstGeom prst="rect">
            <a:avLst/>
          </a:prstGeom>
          <a:noFill/>
        </p:spPr>
        <p:txBody>
          <a:bodyPr vertOverflow="overflow" vert="horz" wrap="none" rtlCol="0" anchor="t" anchorCtr="0">
            <a:noAutofit/>
          </a:bodyPr>
          <a:lstStyle/>
          <a:p>
            <a:pPr algn="l"/>
            <a:r>
              <a:rPr lang="en-US" sz="1200" b="1">
                <a:solidFill>
                  <a:srgbClr val="1B0066"/>
                </a:solidFill>
                <a:latin typeface="Arial"/>
                <a:cs typeface="Arial"/>
              </a:rPr>
              <a:t>Goal: less noise / residual variation</a:t>
            </a:r>
          </a:p>
        </p:txBody>
      </p:sp>
      <p:sp>
        <p:nvSpPr>
          <p:cNvPr id="117" name="source">
            <a:extLst>
              <a:ext uri="{FF2B5EF4-FFF2-40B4-BE49-F238E27FC236}">
                <a16:creationId xmlns:a16="http://schemas.microsoft.com/office/drawing/2014/main" id="{1FEEA38A-AF95-4B43-B776-24856A4A0209}"/>
              </a:ext>
            </a:extLst>
          </p:cNvPr>
          <p:cNvSpPr txBox="1"/>
          <p:nvPr/>
        </p:nvSpPr>
        <p:spPr>
          <a:xfrm>
            <a:off x="825500" y="4826000"/>
            <a:ext cx="7556500" cy="177800"/>
          </a:xfrm>
          <a:prstGeom prst="rect">
            <a:avLst/>
          </a:prstGeom>
          <a:noFill/>
        </p:spPr>
        <p:txBody>
          <a:bodyPr vertOverflow="overflow" vert="horz" wrap="square" rtlCol="0" anchor="t" anchorCtr="0">
            <a:noAutofit/>
          </a:bodyPr>
          <a:lstStyle/>
          <a:p>
            <a:pPr algn="l"/>
            <a:r>
              <a:rPr lang="en-US" sz="1100" dirty="0">
                <a:solidFill>
                  <a:srgbClr val="8A829E"/>
                </a:solidFill>
                <a:latin typeface="Arial"/>
                <a:cs typeface="Arial"/>
              </a:rPr>
              <a:t>Source: Morris et al., Trials 2022 — prognostic covariate adjustment can improve precision.</a:t>
            </a:r>
          </a:p>
        </p:txBody>
      </p:sp>
    </p:spTree>
    <p:extLst>
      <p:ext uri="{BB962C8B-B14F-4D97-AF65-F5344CB8AC3E}">
        <p14:creationId xmlns:p14="http://schemas.microsoft.com/office/powerpoint/2010/main" val="2811486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canvas">
            <a:extLst>
              <a:ext uri="{FF2B5EF4-FFF2-40B4-BE49-F238E27FC236}">
                <a16:creationId xmlns:a16="http://schemas.microsoft.com/office/drawing/2014/main" id="{B570A5DC-C7F4-F449-8EF2-9B9866A1BCCB}"/>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8" name="rail">
            <a:extLst>
              <a:ext uri="{FF2B5EF4-FFF2-40B4-BE49-F238E27FC236}">
                <a16:creationId xmlns:a16="http://schemas.microsoft.com/office/drawing/2014/main" id="{5A67AF3F-098C-F94A-83AC-FD019EF340D6}"/>
              </a:ext>
            </a:extLst>
          </p:cNvPr>
          <p:cNvSpPr/>
          <p:nvPr/>
        </p:nvSpPr>
        <p:spPr>
          <a:xfrm>
            <a:off x="361950" y="742950"/>
            <a:ext cx="57150" cy="3638550"/>
          </a:xfrm>
          <a:prstGeom prst="rect">
            <a:avLst/>
          </a:prstGeom>
          <a:solidFill>
            <a:srgbClr val="5A00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9" name="kicker">
            <a:extLst>
              <a:ext uri="{FF2B5EF4-FFF2-40B4-BE49-F238E27FC236}">
                <a16:creationId xmlns:a16="http://schemas.microsoft.com/office/drawing/2014/main" id="{03D3F570-7EC8-304C-A5DE-058881BC904C}"/>
              </a:ext>
            </a:extLst>
          </p:cNvPr>
          <p:cNvSpPr txBox="1"/>
          <p:nvPr/>
        </p:nvSpPr>
        <p:spPr>
          <a:xfrm>
            <a:off x="609600" y="304800"/>
            <a:ext cx="3810000" cy="177800"/>
          </a:xfrm>
          <a:prstGeom prst="rect">
            <a:avLst/>
          </a:prstGeom>
          <a:noFill/>
        </p:spPr>
        <p:txBody>
          <a:bodyPr vertOverflow="overflow" vert="horz" wrap="square" rtlCol="0" anchor="t">
            <a:noAutofit/>
          </a:bodyPr>
          <a:lstStyle/>
          <a:p>
            <a:pPr algn="l"/>
            <a:r>
              <a:rPr lang="en-US" sz="1100" b="1" dirty="0">
                <a:solidFill>
                  <a:srgbClr val="4A00E2"/>
                </a:solidFill>
                <a:latin typeface="Arial"/>
                <a:cs typeface="Arial"/>
              </a:rPr>
              <a:t>ESTIMATE</a:t>
            </a:r>
          </a:p>
        </p:txBody>
      </p:sp>
      <p:sp>
        <p:nvSpPr>
          <p:cNvPr id="50" name="title">
            <a:extLst>
              <a:ext uri="{FF2B5EF4-FFF2-40B4-BE49-F238E27FC236}">
                <a16:creationId xmlns:a16="http://schemas.microsoft.com/office/drawing/2014/main" id="{98B3C95E-DAFE-0B4F-9B2E-95559629E444}"/>
              </a:ext>
            </a:extLst>
          </p:cNvPr>
          <p:cNvSpPr txBox="1"/>
          <p:nvPr/>
        </p:nvSpPr>
        <p:spPr>
          <a:xfrm>
            <a:off x="609600" y="533400"/>
            <a:ext cx="7874000" cy="381000"/>
          </a:xfrm>
          <a:prstGeom prst="rect">
            <a:avLst/>
          </a:prstGeom>
          <a:noFill/>
        </p:spPr>
        <p:txBody>
          <a:bodyPr vertOverflow="overflow" vert="horz" wrap="square" rtlCol="0" anchor="t">
            <a:noAutofit/>
          </a:bodyPr>
          <a:lstStyle/>
          <a:p>
            <a:pPr algn="l"/>
            <a:r>
              <a:rPr lang="en-US" sz="2400" b="1">
                <a:solidFill>
                  <a:srgbClr val="110057"/>
                </a:solidFill>
                <a:latin typeface="Arial"/>
                <a:cs typeface="Arial"/>
              </a:rPr>
              <a:t>Adjustment removes predictable risk</a:t>
            </a:r>
          </a:p>
        </p:txBody>
      </p:sp>
      <p:sp>
        <p:nvSpPr>
          <p:cNvPr id="51" name="subtitle">
            <a:extLst>
              <a:ext uri="{FF2B5EF4-FFF2-40B4-BE49-F238E27FC236}">
                <a16:creationId xmlns:a16="http://schemas.microsoft.com/office/drawing/2014/main" id="{5443AC86-0C3D-4C4C-BC61-7F03CE291D79}"/>
              </a:ext>
            </a:extLst>
          </p:cNvPr>
          <p:cNvSpPr txBox="1"/>
          <p:nvPr/>
        </p:nvSpPr>
        <p:spPr>
          <a:xfrm>
            <a:off x="609600" y="965200"/>
            <a:ext cx="7874000" cy="254000"/>
          </a:xfrm>
          <a:prstGeom prst="rect">
            <a:avLst/>
          </a:prstGeom>
          <a:noFill/>
        </p:spPr>
        <p:txBody>
          <a:bodyPr vertOverflow="overflow" vert="horz" wrap="square" rtlCol="0" anchor="t">
            <a:noAutofit/>
          </a:bodyPr>
          <a:lstStyle/>
          <a:p>
            <a:pPr algn="l"/>
            <a:r>
              <a:rPr lang="en-US" sz="1300">
                <a:solidFill>
                  <a:srgbClr val="6B6478"/>
                </a:solidFill>
                <a:latin typeface="Arial"/>
                <a:cs typeface="Arial"/>
              </a:rPr>
              <a:t>Randomization preserves the contrast; prognostic covariates explain variation that would otherwise blur the treatment signal.</a:t>
            </a:r>
          </a:p>
        </p:txBody>
      </p:sp>
      <p:sp>
        <p:nvSpPr>
          <p:cNvPr id="52" name="decomp_label">
            <a:extLst>
              <a:ext uri="{FF2B5EF4-FFF2-40B4-BE49-F238E27FC236}">
                <a16:creationId xmlns:a16="http://schemas.microsoft.com/office/drawing/2014/main" id="{2E6AE7E0-0279-9040-9F49-7EF203D26CD2}"/>
              </a:ext>
            </a:extLst>
          </p:cNvPr>
          <p:cNvSpPr txBox="1"/>
          <p:nvPr/>
        </p:nvSpPr>
        <p:spPr>
          <a:xfrm>
            <a:off x="939800" y="1422400"/>
            <a:ext cx="6604000" cy="177800"/>
          </a:xfrm>
          <a:prstGeom prst="rect">
            <a:avLst/>
          </a:prstGeom>
          <a:noFill/>
        </p:spPr>
        <p:txBody>
          <a:bodyPr vertOverflow="overflow" vert="horz" wrap="square" rtlCol="0" anchor="t">
            <a:noAutofit/>
          </a:bodyPr>
          <a:lstStyle/>
          <a:p>
            <a:pPr algn="l"/>
            <a:r>
              <a:rPr lang="en-US" sz="1200" b="1">
                <a:solidFill>
                  <a:srgbClr val="6B6478"/>
                </a:solidFill>
                <a:latin typeface="Arial"/>
                <a:cs typeface="Arial"/>
              </a:rPr>
              <a:t>A decomposition to teach before the regression model</a:t>
            </a:r>
          </a:p>
        </p:txBody>
      </p:sp>
      <p:sp>
        <p:nvSpPr>
          <p:cNvPr id="53" name="eq1">
            <a:extLst>
              <a:ext uri="{FF2B5EF4-FFF2-40B4-BE49-F238E27FC236}">
                <a16:creationId xmlns:a16="http://schemas.microsoft.com/office/drawing/2014/main" id="{180E7AB3-E199-FF46-B1BD-D8AF49A36D51}"/>
              </a:ext>
            </a:extLst>
          </p:cNvPr>
          <p:cNvSpPr/>
          <p:nvPr/>
        </p:nvSpPr>
        <p:spPr>
          <a:xfrm>
            <a:off x="736600" y="1727200"/>
            <a:ext cx="1219200" cy="431800"/>
          </a:xfrm>
          <a:prstGeom prst="rect">
            <a:avLst/>
          </a:prstGeom>
          <a:solidFill>
            <a:srgbClr val="EEF1F5"/>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600" b="1">
                <a:solidFill>
                  <a:srgbClr val="16005A"/>
                </a:solidFill>
                <a:latin typeface="Arial"/>
                <a:cs typeface="Arial"/>
              </a:rPr>
              <a:t>Outcome</a:t>
            </a:r>
          </a:p>
        </p:txBody>
      </p:sp>
      <p:sp>
        <p:nvSpPr>
          <p:cNvPr id="54" name="eqeq">
            <a:extLst>
              <a:ext uri="{FF2B5EF4-FFF2-40B4-BE49-F238E27FC236}">
                <a16:creationId xmlns:a16="http://schemas.microsoft.com/office/drawing/2014/main" id="{852DAFEF-CD86-744A-AA6E-102375EA0A0D}"/>
              </a:ext>
            </a:extLst>
          </p:cNvPr>
          <p:cNvSpPr txBox="1"/>
          <p:nvPr/>
        </p:nvSpPr>
        <p:spPr>
          <a:xfrm>
            <a:off x="2044700" y="1816100"/>
            <a:ext cx="228600" cy="317500"/>
          </a:xfrm>
          <a:prstGeom prst="rect">
            <a:avLst/>
          </a:prstGeom>
          <a:noFill/>
        </p:spPr>
        <p:txBody>
          <a:bodyPr vertOverflow="overflow" vert="horz" wrap="square" rtlCol="0" anchor="t">
            <a:noAutofit/>
          </a:bodyPr>
          <a:lstStyle/>
          <a:p>
            <a:pPr algn="l"/>
            <a:r>
              <a:rPr lang="en-US" sz="1600" b="1">
                <a:solidFill>
                  <a:srgbClr val="6B6478"/>
                </a:solidFill>
                <a:latin typeface="Arial"/>
                <a:cs typeface="Arial"/>
              </a:rPr>
              <a:t>=</a:t>
            </a:r>
          </a:p>
        </p:txBody>
      </p:sp>
      <p:sp>
        <p:nvSpPr>
          <p:cNvPr id="55" name="eq2">
            <a:extLst>
              <a:ext uri="{FF2B5EF4-FFF2-40B4-BE49-F238E27FC236}">
                <a16:creationId xmlns:a16="http://schemas.microsoft.com/office/drawing/2014/main" id="{40B1CC06-3F36-B647-BB69-95DD5044E93F}"/>
              </a:ext>
            </a:extLst>
          </p:cNvPr>
          <p:cNvSpPr/>
          <p:nvPr/>
        </p:nvSpPr>
        <p:spPr>
          <a:xfrm>
            <a:off x="2336800" y="1727200"/>
            <a:ext cx="1651000" cy="533400"/>
          </a:xfrm>
          <a:prstGeom prst="rect">
            <a:avLst/>
          </a:prstGeom>
          <a:solidFill>
            <a:srgbClr val="FFE7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600" b="1">
                <a:solidFill>
                  <a:srgbClr val="FF5A5F"/>
                </a:solidFill>
                <a:latin typeface="Arial"/>
                <a:cs typeface="Arial"/>
              </a:rPr>
              <a:t>treatment
signal</a:t>
            </a:r>
          </a:p>
        </p:txBody>
      </p:sp>
      <p:sp>
        <p:nvSpPr>
          <p:cNvPr id="56" name="eqp1">
            <a:extLst>
              <a:ext uri="{FF2B5EF4-FFF2-40B4-BE49-F238E27FC236}">
                <a16:creationId xmlns:a16="http://schemas.microsoft.com/office/drawing/2014/main" id="{6A0C3838-9B95-5741-BABC-7DC286ECE483}"/>
              </a:ext>
            </a:extLst>
          </p:cNvPr>
          <p:cNvSpPr txBox="1"/>
          <p:nvPr/>
        </p:nvSpPr>
        <p:spPr>
          <a:xfrm>
            <a:off x="4076700" y="1816100"/>
            <a:ext cx="228600" cy="317500"/>
          </a:xfrm>
          <a:prstGeom prst="rect">
            <a:avLst/>
          </a:prstGeom>
          <a:noFill/>
        </p:spPr>
        <p:txBody>
          <a:bodyPr vertOverflow="overflow" vert="horz" wrap="square" rtlCol="0" anchor="t">
            <a:noAutofit/>
          </a:bodyPr>
          <a:lstStyle/>
          <a:p>
            <a:pPr algn="l"/>
            <a:r>
              <a:rPr lang="en-US" sz="1600" b="1">
                <a:solidFill>
                  <a:srgbClr val="6B6478"/>
                </a:solidFill>
                <a:latin typeface="Arial"/>
                <a:cs typeface="Arial"/>
              </a:rPr>
              <a:t>+</a:t>
            </a:r>
          </a:p>
        </p:txBody>
      </p:sp>
      <p:sp>
        <p:nvSpPr>
          <p:cNvPr id="57" name="eq3">
            <a:extLst>
              <a:ext uri="{FF2B5EF4-FFF2-40B4-BE49-F238E27FC236}">
                <a16:creationId xmlns:a16="http://schemas.microsoft.com/office/drawing/2014/main" id="{769C8D44-BFA7-7D46-AA56-C44F4C8D4A28}"/>
              </a:ext>
            </a:extLst>
          </p:cNvPr>
          <p:cNvSpPr/>
          <p:nvPr/>
        </p:nvSpPr>
        <p:spPr>
          <a:xfrm>
            <a:off x="4356100" y="1727200"/>
            <a:ext cx="1879600" cy="533400"/>
          </a:xfrm>
          <a:prstGeom prst="rect">
            <a:avLst/>
          </a:prstGeom>
          <a:solidFill>
            <a:srgbClr val="F1EC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600" b="1">
                <a:solidFill>
                  <a:srgbClr val="5A00FF"/>
                </a:solidFill>
                <a:latin typeface="Arial"/>
                <a:cs typeface="Arial"/>
              </a:rPr>
              <a:t>baseline risk
(predicted)</a:t>
            </a:r>
          </a:p>
        </p:txBody>
      </p:sp>
      <p:sp>
        <p:nvSpPr>
          <p:cNvPr id="58" name="eqp2">
            <a:extLst>
              <a:ext uri="{FF2B5EF4-FFF2-40B4-BE49-F238E27FC236}">
                <a16:creationId xmlns:a16="http://schemas.microsoft.com/office/drawing/2014/main" id="{7FFDA70E-960D-0849-BDF2-901788871E82}"/>
              </a:ext>
            </a:extLst>
          </p:cNvPr>
          <p:cNvSpPr txBox="1"/>
          <p:nvPr/>
        </p:nvSpPr>
        <p:spPr>
          <a:xfrm>
            <a:off x="6311900" y="1816100"/>
            <a:ext cx="228600" cy="317500"/>
          </a:xfrm>
          <a:prstGeom prst="rect">
            <a:avLst/>
          </a:prstGeom>
          <a:noFill/>
        </p:spPr>
        <p:txBody>
          <a:bodyPr vertOverflow="overflow" vert="horz" wrap="square" rtlCol="0" anchor="t">
            <a:noAutofit/>
          </a:bodyPr>
          <a:lstStyle/>
          <a:p>
            <a:pPr algn="l"/>
            <a:r>
              <a:rPr lang="en-US" sz="1600" b="1">
                <a:solidFill>
                  <a:srgbClr val="6B6478"/>
                </a:solidFill>
                <a:latin typeface="Arial"/>
                <a:cs typeface="Arial"/>
              </a:rPr>
              <a:t>+</a:t>
            </a:r>
          </a:p>
        </p:txBody>
      </p:sp>
      <p:sp>
        <p:nvSpPr>
          <p:cNvPr id="59" name="eq4">
            <a:extLst>
              <a:ext uri="{FF2B5EF4-FFF2-40B4-BE49-F238E27FC236}">
                <a16:creationId xmlns:a16="http://schemas.microsoft.com/office/drawing/2014/main" id="{06FC931E-E7C1-A74E-83B3-351711A716D8}"/>
              </a:ext>
            </a:extLst>
          </p:cNvPr>
          <p:cNvSpPr/>
          <p:nvPr/>
        </p:nvSpPr>
        <p:spPr>
          <a:xfrm>
            <a:off x="6591300" y="1727200"/>
            <a:ext cx="1651000" cy="533400"/>
          </a:xfrm>
          <a:prstGeom prst="rect">
            <a:avLst/>
          </a:prstGeom>
          <a:solidFill>
            <a:srgbClr val="EAF7F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600" b="1">
                <a:solidFill>
                  <a:srgbClr val="2F8F9D"/>
                </a:solidFill>
                <a:latin typeface="Arial"/>
                <a:cs typeface="Arial"/>
              </a:rPr>
              <a:t>residual
variation</a:t>
            </a:r>
          </a:p>
        </p:txBody>
      </p:sp>
      <p:sp>
        <p:nvSpPr>
          <p:cNvPr id="60" name="step1_bg">
            <a:extLst>
              <a:ext uri="{FF2B5EF4-FFF2-40B4-BE49-F238E27FC236}">
                <a16:creationId xmlns:a16="http://schemas.microsoft.com/office/drawing/2014/main" id="{5DECA9C8-F17A-AA46-A631-3EFF59A37C6A}"/>
              </a:ext>
            </a:extLst>
          </p:cNvPr>
          <p:cNvSpPr/>
          <p:nvPr/>
        </p:nvSpPr>
        <p:spPr>
          <a:xfrm>
            <a:off x="736600" y="2540000"/>
            <a:ext cx="2413000" cy="1270000"/>
          </a:xfrm>
          <a:prstGeom prst="rect">
            <a:avLst/>
          </a:prstGeom>
          <a:solidFill>
            <a:srgbClr val="FFFFFF"/>
          </a:solidFill>
          <a:ln w="12700">
            <a:solidFill>
              <a:srgbClr val="D7DCE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1" name="step1_num">
            <a:extLst>
              <a:ext uri="{FF2B5EF4-FFF2-40B4-BE49-F238E27FC236}">
                <a16:creationId xmlns:a16="http://schemas.microsoft.com/office/drawing/2014/main" id="{B7C334BE-84DF-9A43-983E-3D2CB09D0159}"/>
              </a:ext>
            </a:extLst>
          </p:cNvPr>
          <p:cNvSpPr/>
          <p:nvPr/>
        </p:nvSpPr>
        <p:spPr>
          <a:xfrm>
            <a:off x="889000" y="2692400"/>
            <a:ext cx="254000" cy="254000"/>
          </a:xfrm>
          <a:prstGeom prst="ellipse">
            <a:avLst/>
          </a:prstGeom>
          <a:solidFill>
            <a:srgbClr val="5A00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1600" b="1">
                <a:solidFill>
                  <a:srgbClr val="FFFFFF"/>
                </a:solidFill>
                <a:latin typeface="Arial"/>
                <a:cs typeface="Arial"/>
              </a:rPr>
              <a:t>1</a:t>
            </a:r>
          </a:p>
        </p:txBody>
      </p:sp>
      <p:sp>
        <p:nvSpPr>
          <p:cNvPr id="62" name="step1_head">
            <a:extLst>
              <a:ext uri="{FF2B5EF4-FFF2-40B4-BE49-F238E27FC236}">
                <a16:creationId xmlns:a16="http://schemas.microsoft.com/office/drawing/2014/main" id="{DD2529CC-E5D0-8941-8E22-9CA557029D18}"/>
              </a:ext>
            </a:extLst>
          </p:cNvPr>
          <p:cNvSpPr txBox="1"/>
          <p:nvPr/>
        </p:nvSpPr>
        <p:spPr>
          <a:xfrm>
            <a:off x="1244600" y="2692400"/>
            <a:ext cx="1905000" cy="228600"/>
          </a:xfrm>
          <a:prstGeom prst="rect">
            <a:avLst/>
          </a:prstGeom>
          <a:noFill/>
        </p:spPr>
        <p:txBody>
          <a:bodyPr vertOverflow="overflow" vert="horz" wrap="square" rtlCol="0" anchor="t">
            <a:noAutofit/>
          </a:bodyPr>
          <a:lstStyle/>
          <a:p>
            <a:pPr algn="l"/>
            <a:r>
              <a:rPr lang="en-US" sz="1300" b="1" dirty="0">
                <a:solidFill>
                  <a:srgbClr val="5A00FF"/>
                </a:solidFill>
                <a:latin typeface="Arial"/>
                <a:cs typeface="Arial"/>
              </a:rPr>
              <a:t>Keeps randomization</a:t>
            </a:r>
          </a:p>
        </p:txBody>
      </p:sp>
      <p:sp>
        <p:nvSpPr>
          <p:cNvPr id="63" name="step1_body">
            <a:extLst>
              <a:ext uri="{FF2B5EF4-FFF2-40B4-BE49-F238E27FC236}">
                <a16:creationId xmlns:a16="http://schemas.microsoft.com/office/drawing/2014/main" id="{8FE4CD43-B6F3-E74C-982A-17130E24FAEF}"/>
              </a:ext>
            </a:extLst>
          </p:cNvPr>
          <p:cNvSpPr txBox="1"/>
          <p:nvPr/>
        </p:nvSpPr>
        <p:spPr>
          <a:xfrm>
            <a:off x="914400" y="3048000"/>
            <a:ext cx="2057400" cy="711200"/>
          </a:xfrm>
          <a:prstGeom prst="rect">
            <a:avLst/>
          </a:prstGeom>
          <a:noFill/>
        </p:spPr>
        <p:txBody>
          <a:bodyPr vertOverflow="overflow" vert="horz" wrap="square" rtlCol="0" anchor="t">
            <a:noAutofit/>
          </a:bodyPr>
          <a:lstStyle/>
          <a:p>
            <a:pPr algn="l"/>
            <a:r>
              <a:rPr lang="en-US" sz="1200" b="0">
                <a:solidFill>
                  <a:srgbClr val="2A2340"/>
                </a:solidFill>
                <a:latin typeface="Arial"/>
                <a:cs typeface="Arial"/>
              </a:rPr>
              <a:t>Treatment assignment remains independent of baseline risk.</a:t>
            </a:r>
          </a:p>
        </p:txBody>
      </p:sp>
      <p:sp>
        <p:nvSpPr>
          <p:cNvPr id="64" name="step2_bg">
            <a:extLst>
              <a:ext uri="{FF2B5EF4-FFF2-40B4-BE49-F238E27FC236}">
                <a16:creationId xmlns:a16="http://schemas.microsoft.com/office/drawing/2014/main" id="{C394A19B-FE2E-AE46-9EB7-40438E749E34}"/>
              </a:ext>
            </a:extLst>
          </p:cNvPr>
          <p:cNvSpPr/>
          <p:nvPr/>
        </p:nvSpPr>
        <p:spPr>
          <a:xfrm>
            <a:off x="3365500" y="2540000"/>
            <a:ext cx="2413000" cy="1270000"/>
          </a:xfrm>
          <a:prstGeom prst="rect">
            <a:avLst/>
          </a:prstGeom>
          <a:solidFill>
            <a:srgbClr val="FFFFFF"/>
          </a:solidFill>
          <a:ln w="12700">
            <a:solidFill>
              <a:srgbClr val="D7DCE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5" name="step2_num">
            <a:extLst>
              <a:ext uri="{FF2B5EF4-FFF2-40B4-BE49-F238E27FC236}">
                <a16:creationId xmlns:a16="http://schemas.microsoft.com/office/drawing/2014/main" id="{3D376137-3F52-2646-8C6E-51D2BFFDD191}"/>
              </a:ext>
            </a:extLst>
          </p:cNvPr>
          <p:cNvSpPr/>
          <p:nvPr/>
        </p:nvSpPr>
        <p:spPr>
          <a:xfrm>
            <a:off x="3517900" y="2692400"/>
            <a:ext cx="254000" cy="254000"/>
          </a:xfrm>
          <a:prstGeom prst="ellipse">
            <a:avLst/>
          </a:prstGeom>
          <a:solidFill>
            <a:srgbClr val="5A00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1600" b="1">
                <a:solidFill>
                  <a:srgbClr val="FFFFFF"/>
                </a:solidFill>
                <a:latin typeface="Arial"/>
                <a:cs typeface="Arial"/>
              </a:rPr>
              <a:t>2</a:t>
            </a:r>
          </a:p>
        </p:txBody>
      </p:sp>
      <p:sp>
        <p:nvSpPr>
          <p:cNvPr id="66" name="step2_head">
            <a:extLst>
              <a:ext uri="{FF2B5EF4-FFF2-40B4-BE49-F238E27FC236}">
                <a16:creationId xmlns:a16="http://schemas.microsoft.com/office/drawing/2014/main" id="{34072165-F258-5947-B37F-16C52A981157}"/>
              </a:ext>
            </a:extLst>
          </p:cNvPr>
          <p:cNvSpPr txBox="1"/>
          <p:nvPr/>
        </p:nvSpPr>
        <p:spPr>
          <a:xfrm>
            <a:off x="3873500" y="2692400"/>
            <a:ext cx="1981200" cy="228600"/>
          </a:xfrm>
          <a:prstGeom prst="rect">
            <a:avLst/>
          </a:prstGeom>
          <a:noFill/>
        </p:spPr>
        <p:txBody>
          <a:bodyPr vertOverflow="overflow" vert="horz" wrap="square" rtlCol="0" anchor="t">
            <a:noAutofit/>
          </a:bodyPr>
          <a:lstStyle/>
          <a:p>
            <a:pPr algn="l"/>
            <a:r>
              <a:rPr lang="en-US" sz="1300" b="1">
                <a:solidFill>
                  <a:srgbClr val="5A00FF"/>
                </a:solidFill>
                <a:latin typeface="Arial"/>
                <a:cs typeface="Arial"/>
              </a:rPr>
              <a:t>Predict outcome</a:t>
            </a:r>
          </a:p>
        </p:txBody>
      </p:sp>
      <p:sp>
        <p:nvSpPr>
          <p:cNvPr id="67" name="step2_body">
            <a:extLst>
              <a:ext uri="{FF2B5EF4-FFF2-40B4-BE49-F238E27FC236}">
                <a16:creationId xmlns:a16="http://schemas.microsoft.com/office/drawing/2014/main" id="{105F7F02-6B2D-A048-A7D9-01E898A5C78E}"/>
              </a:ext>
            </a:extLst>
          </p:cNvPr>
          <p:cNvSpPr txBox="1"/>
          <p:nvPr/>
        </p:nvSpPr>
        <p:spPr>
          <a:xfrm>
            <a:off x="3543300" y="3048000"/>
            <a:ext cx="2057400" cy="711200"/>
          </a:xfrm>
          <a:prstGeom prst="rect">
            <a:avLst/>
          </a:prstGeom>
          <a:noFill/>
        </p:spPr>
        <p:txBody>
          <a:bodyPr vertOverflow="overflow" vert="horz" wrap="square" rtlCol="0" anchor="t">
            <a:noAutofit/>
          </a:bodyPr>
          <a:lstStyle/>
          <a:p>
            <a:pPr algn="l"/>
            <a:r>
              <a:rPr lang="en-US" sz="1200" b="0">
                <a:solidFill>
                  <a:srgbClr val="2A2340"/>
                </a:solidFill>
                <a:latin typeface="Arial"/>
                <a:cs typeface="Arial"/>
              </a:rPr>
              <a:t>Use only information known before treatment to estimate predictable risk.</a:t>
            </a:r>
          </a:p>
        </p:txBody>
      </p:sp>
      <p:sp>
        <p:nvSpPr>
          <p:cNvPr id="68" name="step3_bg">
            <a:extLst>
              <a:ext uri="{FF2B5EF4-FFF2-40B4-BE49-F238E27FC236}">
                <a16:creationId xmlns:a16="http://schemas.microsoft.com/office/drawing/2014/main" id="{8EEA27B6-6583-5145-8C9B-C08B48B3028B}"/>
              </a:ext>
            </a:extLst>
          </p:cNvPr>
          <p:cNvSpPr/>
          <p:nvPr/>
        </p:nvSpPr>
        <p:spPr>
          <a:xfrm>
            <a:off x="5994400" y="2540000"/>
            <a:ext cx="2413000" cy="1270000"/>
          </a:xfrm>
          <a:prstGeom prst="rect">
            <a:avLst/>
          </a:prstGeom>
          <a:solidFill>
            <a:srgbClr val="FFFFFF"/>
          </a:solidFill>
          <a:ln w="12700">
            <a:solidFill>
              <a:srgbClr val="D7DCE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9" name="step3_num">
            <a:extLst>
              <a:ext uri="{FF2B5EF4-FFF2-40B4-BE49-F238E27FC236}">
                <a16:creationId xmlns:a16="http://schemas.microsoft.com/office/drawing/2014/main" id="{0D174EF1-4F83-EB43-ACB4-D58CA9A4CF72}"/>
              </a:ext>
            </a:extLst>
          </p:cNvPr>
          <p:cNvSpPr/>
          <p:nvPr/>
        </p:nvSpPr>
        <p:spPr>
          <a:xfrm>
            <a:off x="6146800" y="2692400"/>
            <a:ext cx="254000" cy="254000"/>
          </a:xfrm>
          <a:prstGeom prst="ellipse">
            <a:avLst/>
          </a:prstGeom>
          <a:solidFill>
            <a:srgbClr val="5A00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1600" b="1">
                <a:solidFill>
                  <a:srgbClr val="FFFFFF"/>
                </a:solidFill>
                <a:latin typeface="Arial"/>
                <a:cs typeface="Arial"/>
              </a:rPr>
              <a:t>3</a:t>
            </a:r>
          </a:p>
        </p:txBody>
      </p:sp>
      <p:sp>
        <p:nvSpPr>
          <p:cNvPr id="70" name="step3_head">
            <a:extLst>
              <a:ext uri="{FF2B5EF4-FFF2-40B4-BE49-F238E27FC236}">
                <a16:creationId xmlns:a16="http://schemas.microsoft.com/office/drawing/2014/main" id="{CBBDA1F5-9640-F544-AC1B-BD3CA5167EFB}"/>
              </a:ext>
            </a:extLst>
          </p:cNvPr>
          <p:cNvSpPr txBox="1"/>
          <p:nvPr/>
        </p:nvSpPr>
        <p:spPr>
          <a:xfrm>
            <a:off x="6502400" y="2692400"/>
            <a:ext cx="1905000" cy="228600"/>
          </a:xfrm>
          <a:prstGeom prst="rect">
            <a:avLst/>
          </a:prstGeom>
          <a:noFill/>
        </p:spPr>
        <p:txBody>
          <a:bodyPr vertOverflow="overflow" vert="horz" wrap="square" rtlCol="0" anchor="t">
            <a:noAutofit/>
          </a:bodyPr>
          <a:lstStyle/>
          <a:p>
            <a:pPr algn="l"/>
            <a:r>
              <a:rPr lang="en-US" sz="1300" b="1">
                <a:solidFill>
                  <a:srgbClr val="5A00FF"/>
                </a:solidFill>
                <a:latin typeface="Arial"/>
                <a:cs typeface="Arial"/>
              </a:rPr>
              <a:t>Compare residuals</a:t>
            </a:r>
          </a:p>
        </p:txBody>
      </p:sp>
      <p:sp>
        <p:nvSpPr>
          <p:cNvPr id="71" name="step3_body">
            <a:extLst>
              <a:ext uri="{FF2B5EF4-FFF2-40B4-BE49-F238E27FC236}">
                <a16:creationId xmlns:a16="http://schemas.microsoft.com/office/drawing/2014/main" id="{75AE2C6D-BB32-E84E-A498-A53E1FBE663A}"/>
              </a:ext>
            </a:extLst>
          </p:cNvPr>
          <p:cNvSpPr txBox="1"/>
          <p:nvPr/>
        </p:nvSpPr>
        <p:spPr>
          <a:xfrm>
            <a:off x="6172200" y="3048000"/>
            <a:ext cx="2057400" cy="711200"/>
          </a:xfrm>
          <a:prstGeom prst="rect">
            <a:avLst/>
          </a:prstGeom>
          <a:noFill/>
        </p:spPr>
        <p:txBody>
          <a:bodyPr vertOverflow="overflow" vert="horz" wrap="square" rtlCol="0" anchor="t">
            <a:noAutofit/>
          </a:bodyPr>
          <a:lstStyle/>
          <a:p>
            <a:pPr algn="l"/>
            <a:r>
              <a:rPr lang="en-US" sz="1200" b="0">
                <a:solidFill>
                  <a:srgbClr val="2A2340"/>
                </a:solidFill>
                <a:latin typeface="Arial"/>
                <a:cs typeface="Arial"/>
              </a:rPr>
              <a:t>Smaller residual variation means a smaller SE for the average effect.</a:t>
            </a:r>
          </a:p>
        </p:txBody>
      </p:sp>
      <p:sp>
        <p:nvSpPr>
          <p:cNvPr id="74" name="source">
            <a:extLst>
              <a:ext uri="{FF2B5EF4-FFF2-40B4-BE49-F238E27FC236}">
                <a16:creationId xmlns:a16="http://schemas.microsoft.com/office/drawing/2014/main" id="{A249EC09-0CE3-1745-A8FF-26E56EFD840D}"/>
              </a:ext>
            </a:extLst>
          </p:cNvPr>
          <p:cNvSpPr txBox="1"/>
          <p:nvPr/>
        </p:nvSpPr>
        <p:spPr>
          <a:xfrm>
            <a:off x="1016000" y="4749800"/>
            <a:ext cx="7112000" cy="152400"/>
          </a:xfrm>
          <a:prstGeom prst="rect">
            <a:avLst/>
          </a:prstGeom>
          <a:noFill/>
        </p:spPr>
        <p:txBody>
          <a:bodyPr vertOverflow="overflow" vert="horz" wrap="square" rtlCol="0" anchor="t">
            <a:noAutofit/>
          </a:bodyPr>
          <a:lstStyle/>
          <a:p>
            <a:pPr algn="l"/>
            <a:r>
              <a:rPr lang="en-US" sz="1100" dirty="0">
                <a:solidFill>
                  <a:srgbClr val="6B6478"/>
                </a:solidFill>
                <a:latin typeface="Arial"/>
                <a:cs typeface="Arial"/>
              </a:rPr>
              <a:t>Source concept: prognostic covariate adjustment in randomized trials; Morris et al., Trials 2022.</a:t>
            </a:r>
          </a:p>
        </p:txBody>
      </p:sp>
    </p:spTree>
    <p:extLst>
      <p:ext uri="{BB962C8B-B14F-4D97-AF65-F5344CB8AC3E}">
        <p14:creationId xmlns:p14="http://schemas.microsoft.com/office/powerpoint/2010/main" val="1788775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anvas">
            <a:extLst>
              <a:ext uri="{FF2B5EF4-FFF2-40B4-BE49-F238E27FC236}">
                <a16:creationId xmlns:a16="http://schemas.microsoft.com/office/drawing/2014/main" id="{CD0B6977-2012-1D46-BD4E-FDD7C80A9D52}"/>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9" name="rail">
            <a:extLst>
              <a:ext uri="{FF2B5EF4-FFF2-40B4-BE49-F238E27FC236}">
                <a16:creationId xmlns:a16="http://schemas.microsoft.com/office/drawing/2014/main" id="{EE1887F4-E79E-BF49-A4F8-72F94327D8A5}"/>
              </a:ext>
            </a:extLst>
          </p:cNvPr>
          <p:cNvSpPr/>
          <p:nvPr/>
        </p:nvSpPr>
        <p:spPr>
          <a:xfrm>
            <a:off x="361950" y="742950"/>
            <a:ext cx="57150" cy="3638550"/>
          </a:xfrm>
          <a:prstGeom prst="rect">
            <a:avLst/>
          </a:prstGeom>
          <a:solidFill>
            <a:srgbClr val="5A00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0" name="kicker">
            <a:extLst>
              <a:ext uri="{FF2B5EF4-FFF2-40B4-BE49-F238E27FC236}">
                <a16:creationId xmlns:a16="http://schemas.microsoft.com/office/drawing/2014/main" id="{5FFD1E8F-7BA2-874A-A5F0-033C253F2B4A}"/>
              </a:ext>
            </a:extLst>
          </p:cNvPr>
          <p:cNvSpPr txBox="1"/>
          <p:nvPr/>
        </p:nvSpPr>
        <p:spPr>
          <a:xfrm>
            <a:off x="609600" y="304800"/>
            <a:ext cx="38100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ESTIMATE | R² TO SAMPLE SIZE</a:t>
            </a:r>
          </a:p>
        </p:txBody>
      </p:sp>
      <p:sp>
        <p:nvSpPr>
          <p:cNvPr id="41" name="title">
            <a:extLst>
              <a:ext uri="{FF2B5EF4-FFF2-40B4-BE49-F238E27FC236}">
                <a16:creationId xmlns:a16="http://schemas.microsoft.com/office/drawing/2014/main" id="{04EA6869-1A5C-8842-9A38-51E4EF074C7E}"/>
              </a:ext>
            </a:extLst>
          </p:cNvPr>
          <p:cNvSpPr txBox="1"/>
          <p:nvPr/>
        </p:nvSpPr>
        <p:spPr>
          <a:xfrm>
            <a:off x="609600" y="595044"/>
            <a:ext cx="7874000" cy="419100"/>
          </a:xfrm>
          <a:prstGeom prst="rect">
            <a:avLst/>
          </a:prstGeom>
          <a:noFill/>
        </p:spPr>
        <p:txBody>
          <a:bodyPr vertOverflow="overflow" vert="horz" wrap="square" rtlCol="0" anchor="t">
            <a:noAutofit/>
          </a:bodyPr>
          <a:lstStyle/>
          <a:p>
            <a:pPr algn="l"/>
            <a:r>
              <a:rPr lang="en-US" sz="1600" b="1" dirty="0">
                <a:solidFill>
                  <a:srgbClr val="16005A"/>
                </a:solidFill>
                <a:latin typeface="Arial"/>
                <a:cs typeface="Arial"/>
              </a:rPr>
              <a:t>Prediction R² is a sample-size dividend</a:t>
            </a:r>
          </a:p>
        </p:txBody>
      </p:sp>
      <p:sp>
        <p:nvSpPr>
          <p:cNvPr id="42" name="subtitle">
            <a:extLst>
              <a:ext uri="{FF2B5EF4-FFF2-40B4-BE49-F238E27FC236}">
                <a16:creationId xmlns:a16="http://schemas.microsoft.com/office/drawing/2014/main" id="{AC2B60EF-30D7-5D4C-9027-196548B92D30}"/>
              </a:ext>
            </a:extLst>
          </p:cNvPr>
          <p:cNvSpPr txBox="1"/>
          <p:nvPr/>
        </p:nvSpPr>
        <p:spPr>
          <a:xfrm>
            <a:off x="609600" y="990600"/>
            <a:ext cx="7874000" cy="381000"/>
          </a:xfrm>
          <a:prstGeom prst="rect">
            <a:avLst/>
          </a:prstGeom>
          <a:noFill/>
        </p:spPr>
        <p:txBody>
          <a:bodyPr vertOverflow="overflow" vert="horz" wrap="square" rtlCol="0" anchor="t">
            <a:noAutofit/>
          </a:bodyPr>
          <a:lstStyle/>
          <a:p>
            <a:pPr algn="l"/>
            <a:r>
              <a:rPr lang="en-US" sz="1600" dirty="0">
                <a:solidFill>
                  <a:srgbClr val="6B6478"/>
                </a:solidFill>
                <a:latin typeface="Arial"/>
                <a:cs typeface="Arial"/>
              </a:rPr>
              <a:t>If covariates explain outcome variation, residual variance shrinks and the same precision needs fewer participants.</a:t>
            </a:r>
          </a:p>
        </p:txBody>
      </p:sp>
      <p:sp>
        <p:nvSpPr>
          <p:cNvPr id="43" name="formula_panel">
            <a:extLst>
              <a:ext uri="{FF2B5EF4-FFF2-40B4-BE49-F238E27FC236}">
                <a16:creationId xmlns:a16="http://schemas.microsoft.com/office/drawing/2014/main" id="{FD47AB15-80A8-4042-8DFB-998AAA2B796D}"/>
              </a:ext>
            </a:extLst>
          </p:cNvPr>
          <p:cNvSpPr/>
          <p:nvPr/>
        </p:nvSpPr>
        <p:spPr>
          <a:xfrm>
            <a:off x="736599" y="1600200"/>
            <a:ext cx="2957193" cy="2552700"/>
          </a:xfrm>
          <a:prstGeom prst="rect">
            <a:avLst/>
          </a:prstGeom>
          <a:solidFill>
            <a:srgbClr val="F1EC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4" name="formula_head">
            <a:extLst>
              <a:ext uri="{FF2B5EF4-FFF2-40B4-BE49-F238E27FC236}">
                <a16:creationId xmlns:a16="http://schemas.microsoft.com/office/drawing/2014/main" id="{DB54216E-6BCD-8444-BB24-7B9F972EE08B}"/>
              </a:ext>
            </a:extLst>
          </p:cNvPr>
          <p:cNvSpPr txBox="1"/>
          <p:nvPr/>
        </p:nvSpPr>
        <p:spPr>
          <a:xfrm>
            <a:off x="965200" y="1828800"/>
            <a:ext cx="2286000" cy="228600"/>
          </a:xfrm>
          <a:prstGeom prst="rect">
            <a:avLst/>
          </a:prstGeom>
          <a:noFill/>
        </p:spPr>
        <p:txBody>
          <a:bodyPr vertOverflow="overflow" vert="horz" wrap="square" rtlCol="0" anchor="t">
            <a:noAutofit/>
          </a:bodyPr>
          <a:lstStyle/>
          <a:p>
            <a:pPr algn="l"/>
            <a:r>
              <a:rPr lang="en-US" sz="1200" b="1">
                <a:solidFill>
                  <a:srgbClr val="5A00FF"/>
                </a:solidFill>
                <a:latin typeface="Arial"/>
                <a:cs typeface="Arial"/>
              </a:rPr>
              <a:t>Rule of thumb</a:t>
            </a:r>
          </a:p>
        </p:txBody>
      </p:sp>
      <p:sp>
        <p:nvSpPr>
          <p:cNvPr id="45" name="formula_main">
            <a:extLst>
              <a:ext uri="{FF2B5EF4-FFF2-40B4-BE49-F238E27FC236}">
                <a16:creationId xmlns:a16="http://schemas.microsoft.com/office/drawing/2014/main" id="{D45E6CEA-F563-7B42-A1BD-A16D1A1118D4}"/>
              </a:ext>
            </a:extLst>
          </p:cNvPr>
          <p:cNvSpPr txBox="1"/>
          <p:nvPr/>
        </p:nvSpPr>
        <p:spPr>
          <a:xfrm>
            <a:off x="965200" y="2159000"/>
            <a:ext cx="2463800" cy="317500"/>
          </a:xfrm>
          <a:prstGeom prst="rect">
            <a:avLst/>
          </a:prstGeom>
          <a:noFill/>
        </p:spPr>
        <p:txBody>
          <a:bodyPr vertOverflow="overflow" vert="horz" wrap="square" rtlCol="0" anchor="t">
            <a:noAutofit/>
          </a:bodyPr>
          <a:lstStyle/>
          <a:p>
            <a:pPr algn="l"/>
            <a:r>
              <a:rPr lang="en-US" sz="1300" b="1">
                <a:solidFill>
                  <a:srgbClr val="16005A"/>
                </a:solidFill>
                <a:latin typeface="Arial"/>
                <a:cs typeface="Arial"/>
              </a:rPr>
              <a:t>n_adj  ≈  n_unadj × (1 − R²)</a:t>
            </a:r>
          </a:p>
        </p:txBody>
      </p:sp>
      <p:sp>
        <p:nvSpPr>
          <p:cNvPr id="46" name="formula_se">
            <a:extLst>
              <a:ext uri="{FF2B5EF4-FFF2-40B4-BE49-F238E27FC236}">
                <a16:creationId xmlns:a16="http://schemas.microsoft.com/office/drawing/2014/main" id="{07C9C61D-428C-4448-AEE1-F6AD305C410B}"/>
              </a:ext>
            </a:extLst>
          </p:cNvPr>
          <p:cNvSpPr txBox="1"/>
          <p:nvPr/>
        </p:nvSpPr>
        <p:spPr>
          <a:xfrm>
            <a:off x="965200" y="2603500"/>
            <a:ext cx="2489200" cy="533400"/>
          </a:xfrm>
          <a:prstGeom prst="rect">
            <a:avLst/>
          </a:prstGeom>
          <a:noFill/>
        </p:spPr>
        <p:txBody>
          <a:bodyPr vertOverflow="overflow" vert="horz" wrap="square" rtlCol="0" anchor="t">
            <a:noAutofit/>
          </a:bodyPr>
          <a:lstStyle/>
          <a:p>
            <a:pPr algn="l"/>
            <a:r>
              <a:rPr lang="en-US" sz="1200">
                <a:solidFill>
                  <a:srgbClr val="16005A"/>
                </a:solidFill>
                <a:latin typeface="Arial"/>
                <a:cs typeface="Arial"/>
              </a:rPr>
              <a:t>SE multiplier  ≈  √(1 − R²)
Same-n information  ≈  1 / (1 − R²)</a:t>
            </a:r>
          </a:p>
        </p:txBody>
      </p:sp>
      <p:sp>
        <p:nvSpPr>
          <p:cNvPr id="47" name="formula_note_bg">
            <a:extLst>
              <a:ext uri="{FF2B5EF4-FFF2-40B4-BE49-F238E27FC236}">
                <a16:creationId xmlns:a16="http://schemas.microsoft.com/office/drawing/2014/main" id="{823375CC-42FF-454F-ACEC-BE323D57C5D7}"/>
              </a:ext>
            </a:extLst>
          </p:cNvPr>
          <p:cNvSpPr/>
          <p:nvPr/>
        </p:nvSpPr>
        <p:spPr>
          <a:xfrm>
            <a:off x="965200" y="3301999"/>
            <a:ext cx="2346325" cy="684373"/>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8" name="formula_note">
            <a:extLst>
              <a:ext uri="{FF2B5EF4-FFF2-40B4-BE49-F238E27FC236}">
                <a16:creationId xmlns:a16="http://schemas.microsoft.com/office/drawing/2014/main" id="{A3DBDD24-8DF0-674D-B420-92751303CA7C}"/>
              </a:ext>
            </a:extLst>
          </p:cNvPr>
          <p:cNvSpPr txBox="1"/>
          <p:nvPr/>
        </p:nvSpPr>
        <p:spPr>
          <a:xfrm>
            <a:off x="1092200" y="3365500"/>
            <a:ext cx="2209800" cy="177800"/>
          </a:xfrm>
          <a:prstGeom prst="rect">
            <a:avLst/>
          </a:prstGeom>
          <a:noFill/>
        </p:spPr>
        <p:txBody>
          <a:bodyPr vertOverflow="overflow" vert="horz" wrap="square" rtlCol="0" anchor="t">
            <a:noAutofit/>
          </a:bodyPr>
          <a:lstStyle/>
          <a:p>
            <a:pPr algn="l"/>
            <a:r>
              <a:rPr lang="en-US" sz="1100" b="1" dirty="0">
                <a:solidFill>
                  <a:srgbClr val="6B6478"/>
                </a:solidFill>
                <a:latin typeface="Arial"/>
                <a:cs typeface="Arial"/>
              </a:rPr>
              <a:t>R² = prognostic variation explained before randomization</a:t>
            </a:r>
          </a:p>
        </p:txBody>
      </p:sp>
      <p:sp>
        <p:nvSpPr>
          <p:cNvPr id="49" name="head_0">
            <a:extLst>
              <a:ext uri="{FF2B5EF4-FFF2-40B4-BE49-F238E27FC236}">
                <a16:creationId xmlns:a16="http://schemas.microsoft.com/office/drawing/2014/main" id="{FBF8CAA3-5C50-7F42-B438-8F711E177345}"/>
              </a:ext>
            </a:extLst>
          </p:cNvPr>
          <p:cNvSpPr/>
          <p:nvPr/>
        </p:nvSpPr>
        <p:spPr>
          <a:xfrm>
            <a:off x="4038600" y="1600200"/>
            <a:ext cx="736600" cy="355600"/>
          </a:xfrm>
          <a:prstGeom prst="rect">
            <a:avLst/>
          </a:prstGeom>
          <a:solidFill>
            <a:srgbClr val="5A00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0" name="head_t_0">
            <a:extLst>
              <a:ext uri="{FF2B5EF4-FFF2-40B4-BE49-F238E27FC236}">
                <a16:creationId xmlns:a16="http://schemas.microsoft.com/office/drawing/2014/main" id="{A33F3FC3-5D07-744C-921E-3C531B17C8DB}"/>
              </a:ext>
            </a:extLst>
          </p:cNvPr>
          <p:cNvSpPr txBox="1"/>
          <p:nvPr/>
        </p:nvSpPr>
        <p:spPr>
          <a:xfrm>
            <a:off x="4076700" y="1651000"/>
            <a:ext cx="660400" cy="266700"/>
          </a:xfrm>
          <a:prstGeom prst="rect">
            <a:avLst/>
          </a:prstGeom>
          <a:noFill/>
        </p:spPr>
        <p:txBody>
          <a:bodyPr vertOverflow="overflow" vert="horz" wrap="square" rtlCol="0" anchor="t">
            <a:noAutofit/>
          </a:bodyPr>
          <a:lstStyle/>
          <a:p>
            <a:pPr algn="l"/>
            <a:r>
              <a:rPr lang="en-US" sz="1600" b="1" dirty="0">
                <a:solidFill>
                  <a:srgbClr val="FFFFFF"/>
                </a:solidFill>
                <a:latin typeface="Arial"/>
                <a:cs typeface="Arial"/>
              </a:rPr>
              <a:t>R</a:t>
            </a:r>
            <a:r>
              <a:rPr lang="en-US" sz="1600" b="1" baseline="30000" dirty="0">
                <a:solidFill>
                  <a:srgbClr val="FFFFFF"/>
                </a:solidFill>
                <a:latin typeface="Arial"/>
                <a:cs typeface="Arial"/>
              </a:rPr>
              <a:t>2</a:t>
            </a:r>
          </a:p>
        </p:txBody>
      </p:sp>
      <p:sp>
        <p:nvSpPr>
          <p:cNvPr id="51" name="head_1">
            <a:extLst>
              <a:ext uri="{FF2B5EF4-FFF2-40B4-BE49-F238E27FC236}">
                <a16:creationId xmlns:a16="http://schemas.microsoft.com/office/drawing/2014/main" id="{AA945EA2-E841-EA40-9B85-646320A18AEC}"/>
              </a:ext>
            </a:extLst>
          </p:cNvPr>
          <p:cNvSpPr/>
          <p:nvPr/>
        </p:nvSpPr>
        <p:spPr>
          <a:xfrm>
            <a:off x="4775200" y="1600200"/>
            <a:ext cx="1320800" cy="355600"/>
          </a:xfrm>
          <a:prstGeom prst="rect">
            <a:avLst/>
          </a:prstGeom>
          <a:solidFill>
            <a:srgbClr val="5A00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2" name="head_t_1">
            <a:extLst>
              <a:ext uri="{FF2B5EF4-FFF2-40B4-BE49-F238E27FC236}">
                <a16:creationId xmlns:a16="http://schemas.microsoft.com/office/drawing/2014/main" id="{00C944F5-2B12-DF4E-94DC-12F173D1C0EA}"/>
              </a:ext>
            </a:extLst>
          </p:cNvPr>
          <p:cNvSpPr txBox="1"/>
          <p:nvPr/>
        </p:nvSpPr>
        <p:spPr>
          <a:xfrm>
            <a:off x="4813300" y="1651000"/>
            <a:ext cx="1244600" cy="266700"/>
          </a:xfrm>
          <a:prstGeom prst="rect">
            <a:avLst/>
          </a:prstGeom>
          <a:noFill/>
        </p:spPr>
        <p:txBody>
          <a:bodyPr vertOverflow="overflow" vert="horz" wrap="square" rtlCol="0" anchor="t">
            <a:noAutofit/>
          </a:bodyPr>
          <a:lstStyle/>
          <a:p>
            <a:pPr algn="l"/>
            <a:r>
              <a:rPr lang="en-US" sz="1600" b="1">
                <a:solidFill>
                  <a:srgbClr val="FFFFFF"/>
                </a:solidFill>
                <a:latin typeface="Arial"/>
                <a:cs typeface="Arial"/>
              </a:rPr>
              <a:t>N needed
if N=1,000</a:t>
            </a:r>
          </a:p>
        </p:txBody>
      </p:sp>
      <p:sp>
        <p:nvSpPr>
          <p:cNvPr id="53" name="head_2">
            <a:extLst>
              <a:ext uri="{FF2B5EF4-FFF2-40B4-BE49-F238E27FC236}">
                <a16:creationId xmlns:a16="http://schemas.microsoft.com/office/drawing/2014/main" id="{39352E2D-D7CA-4740-800D-DFD0D53277C0}"/>
              </a:ext>
            </a:extLst>
          </p:cNvPr>
          <p:cNvSpPr/>
          <p:nvPr/>
        </p:nvSpPr>
        <p:spPr>
          <a:xfrm>
            <a:off x="6096000" y="1600200"/>
            <a:ext cx="990600" cy="355600"/>
          </a:xfrm>
          <a:prstGeom prst="rect">
            <a:avLst/>
          </a:prstGeom>
          <a:solidFill>
            <a:srgbClr val="5A00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4" name="head_t_2">
            <a:extLst>
              <a:ext uri="{FF2B5EF4-FFF2-40B4-BE49-F238E27FC236}">
                <a16:creationId xmlns:a16="http://schemas.microsoft.com/office/drawing/2014/main" id="{BC01DC85-2117-A442-9233-FDE1DAC0158C}"/>
              </a:ext>
            </a:extLst>
          </p:cNvPr>
          <p:cNvSpPr txBox="1"/>
          <p:nvPr/>
        </p:nvSpPr>
        <p:spPr>
          <a:xfrm>
            <a:off x="6134099" y="1651000"/>
            <a:ext cx="1509873" cy="266700"/>
          </a:xfrm>
          <a:prstGeom prst="rect">
            <a:avLst/>
          </a:prstGeom>
          <a:noFill/>
        </p:spPr>
        <p:txBody>
          <a:bodyPr vertOverflow="overflow" vert="horz" wrap="square" rtlCol="0" anchor="t">
            <a:noAutofit/>
          </a:bodyPr>
          <a:lstStyle/>
          <a:p>
            <a:pPr algn="l"/>
            <a:r>
              <a:rPr lang="en-US" sz="1600" b="1" dirty="0">
                <a:solidFill>
                  <a:srgbClr val="FFFFFF"/>
                </a:solidFill>
                <a:latin typeface="Arial"/>
                <a:cs typeface="Arial"/>
              </a:rPr>
              <a:t>N saved</a:t>
            </a:r>
          </a:p>
        </p:txBody>
      </p:sp>
      <p:sp>
        <p:nvSpPr>
          <p:cNvPr id="55" name="head_3">
            <a:extLst>
              <a:ext uri="{FF2B5EF4-FFF2-40B4-BE49-F238E27FC236}">
                <a16:creationId xmlns:a16="http://schemas.microsoft.com/office/drawing/2014/main" id="{38D90FA2-0693-6D41-979A-B0F293171E1C}"/>
              </a:ext>
            </a:extLst>
          </p:cNvPr>
          <p:cNvSpPr/>
          <p:nvPr/>
        </p:nvSpPr>
        <p:spPr>
          <a:xfrm>
            <a:off x="7086600" y="1600200"/>
            <a:ext cx="1168400" cy="355600"/>
          </a:xfrm>
          <a:prstGeom prst="rect">
            <a:avLst/>
          </a:prstGeom>
          <a:solidFill>
            <a:srgbClr val="5A00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6" name="head_t_3">
            <a:extLst>
              <a:ext uri="{FF2B5EF4-FFF2-40B4-BE49-F238E27FC236}">
                <a16:creationId xmlns:a16="http://schemas.microsoft.com/office/drawing/2014/main" id="{0EEFF98C-6D33-3946-82A0-4855F6514CF1}"/>
              </a:ext>
            </a:extLst>
          </p:cNvPr>
          <p:cNvSpPr txBox="1"/>
          <p:nvPr/>
        </p:nvSpPr>
        <p:spPr>
          <a:xfrm>
            <a:off x="7124700" y="1651000"/>
            <a:ext cx="1092200" cy="266700"/>
          </a:xfrm>
          <a:prstGeom prst="rect">
            <a:avLst/>
          </a:prstGeom>
          <a:noFill/>
        </p:spPr>
        <p:txBody>
          <a:bodyPr vertOverflow="overflow" vert="horz" wrap="square" rtlCol="0" anchor="t">
            <a:noAutofit/>
          </a:bodyPr>
          <a:lstStyle/>
          <a:p>
            <a:pPr algn="l"/>
            <a:endParaRPr lang="en-US" sz="1600" b="1" dirty="0">
              <a:solidFill>
                <a:srgbClr val="FFFFFF"/>
              </a:solidFill>
              <a:latin typeface="Arial"/>
              <a:cs typeface="Arial"/>
            </a:endParaRPr>
          </a:p>
        </p:txBody>
      </p:sp>
      <p:sp>
        <p:nvSpPr>
          <p:cNvPr id="57" name="rowbg_0">
            <a:extLst>
              <a:ext uri="{FF2B5EF4-FFF2-40B4-BE49-F238E27FC236}">
                <a16:creationId xmlns:a16="http://schemas.microsoft.com/office/drawing/2014/main" id="{518FABF3-1469-E441-9E9B-AA150DEBEF35}"/>
              </a:ext>
            </a:extLst>
          </p:cNvPr>
          <p:cNvSpPr/>
          <p:nvPr/>
        </p:nvSpPr>
        <p:spPr>
          <a:xfrm>
            <a:off x="4038600" y="1955800"/>
            <a:ext cx="4216400" cy="304800"/>
          </a:xfrm>
          <a:prstGeom prst="rect">
            <a:avLst/>
          </a:prstGeom>
          <a:solidFill>
            <a:srgbClr val="FBFC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8" name="v_0_0">
            <a:extLst>
              <a:ext uri="{FF2B5EF4-FFF2-40B4-BE49-F238E27FC236}">
                <a16:creationId xmlns:a16="http://schemas.microsoft.com/office/drawing/2014/main" id="{6CB67531-5339-514B-BB35-C0CDC72190BA}"/>
              </a:ext>
            </a:extLst>
          </p:cNvPr>
          <p:cNvSpPr/>
          <p:nvPr/>
        </p:nvSpPr>
        <p:spPr>
          <a:xfrm>
            <a:off x="4038600" y="1955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9" name="v_0_1">
            <a:extLst>
              <a:ext uri="{FF2B5EF4-FFF2-40B4-BE49-F238E27FC236}">
                <a16:creationId xmlns:a16="http://schemas.microsoft.com/office/drawing/2014/main" id="{588C66F2-5A4D-D047-82E9-2DE14ACAF280}"/>
              </a:ext>
            </a:extLst>
          </p:cNvPr>
          <p:cNvSpPr/>
          <p:nvPr/>
        </p:nvSpPr>
        <p:spPr>
          <a:xfrm>
            <a:off x="4775200" y="1955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0" name="v_0_2">
            <a:extLst>
              <a:ext uri="{FF2B5EF4-FFF2-40B4-BE49-F238E27FC236}">
                <a16:creationId xmlns:a16="http://schemas.microsoft.com/office/drawing/2014/main" id="{587344F8-C271-8D45-AC04-A7650B6D1A0B}"/>
              </a:ext>
            </a:extLst>
          </p:cNvPr>
          <p:cNvSpPr/>
          <p:nvPr/>
        </p:nvSpPr>
        <p:spPr>
          <a:xfrm>
            <a:off x="6096000" y="1955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1" name="v_0_3">
            <a:extLst>
              <a:ext uri="{FF2B5EF4-FFF2-40B4-BE49-F238E27FC236}">
                <a16:creationId xmlns:a16="http://schemas.microsoft.com/office/drawing/2014/main" id="{AE45D506-FAF9-1A4A-93DC-1983FBE17384}"/>
              </a:ext>
            </a:extLst>
          </p:cNvPr>
          <p:cNvSpPr/>
          <p:nvPr/>
        </p:nvSpPr>
        <p:spPr>
          <a:xfrm>
            <a:off x="7086600" y="1955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2" name="r2_0">
            <a:extLst>
              <a:ext uri="{FF2B5EF4-FFF2-40B4-BE49-F238E27FC236}">
                <a16:creationId xmlns:a16="http://schemas.microsoft.com/office/drawing/2014/main" id="{B6ECB151-55D4-1048-B2A4-369F1C5387A1}"/>
              </a:ext>
            </a:extLst>
          </p:cNvPr>
          <p:cNvSpPr txBox="1"/>
          <p:nvPr/>
        </p:nvSpPr>
        <p:spPr>
          <a:xfrm>
            <a:off x="4076700" y="2019300"/>
            <a:ext cx="6604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0.05</a:t>
            </a:r>
          </a:p>
        </p:txBody>
      </p:sp>
      <p:sp>
        <p:nvSpPr>
          <p:cNvPr id="63" name="barbg_0">
            <a:extLst>
              <a:ext uri="{FF2B5EF4-FFF2-40B4-BE49-F238E27FC236}">
                <a16:creationId xmlns:a16="http://schemas.microsoft.com/office/drawing/2014/main" id="{3FD6DCB7-661A-D84C-A70D-106E90D9040D}"/>
              </a:ext>
            </a:extLst>
          </p:cNvPr>
          <p:cNvSpPr/>
          <p:nvPr/>
        </p:nvSpPr>
        <p:spPr>
          <a:xfrm>
            <a:off x="4876800" y="2044700"/>
            <a:ext cx="1117600" cy="127000"/>
          </a:xfrm>
          <a:prstGeom prst="rect">
            <a:avLst/>
          </a:prstGeom>
          <a:solidFill>
            <a:srgbClr val="EFEAF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4" name="bar_0">
            <a:extLst>
              <a:ext uri="{FF2B5EF4-FFF2-40B4-BE49-F238E27FC236}">
                <a16:creationId xmlns:a16="http://schemas.microsoft.com/office/drawing/2014/main" id="{B4740DD6-6EB0-BD47-A070-032FE7F29ADB}"/>
              </a:ext>
            </a:extLst>
          </p:cNvPr>
          <p:cNvSpPr/>
          <p:nvPr/>
        </p:nvSpPr>
        <p:spPr>
          <a:xfrm>
            <a:off x="4876800" y="2044700"/>
            <a:ext cx="1061720" cy="127000"/>
          </a:xfrm>
          <a:prstGeom prst="rect">
            <a:avLst/>
          </a:prstGeom>
          <a:solidFill>
            <a:srgbClr val="E3D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5" name="n_0">
            <a:extLst>
              <a:ext uri="{FF2B5EF4-FFF2-40B4-BE49-F238E27FC236}">
                <a16:creationId xmlns:a16="http://schemas.microsoft.com/office/drawing/2014/main" id="{01A3AA68-0045-E543-B5B7-787BB0C094DF}"/>
              </a:ext>
            </a:extLst>
          </p:cNvPr>
          <p:cNvSpPr txBox="1"/>
          <p:nvPr/>
        </p:nvSpPr>
        <p:spPr>
          <a:xfrm>
            <a:off x="4826000" y="2019300"/>
            <a:ext cx="12192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950</a:t>
            </a:r>
          </a:p>
        </p:txBody>
      </p:sp>
      <p:sp>
        <p:nvSpPr>
          <p:cNvPr id="66" name="save_0">
            <a:extLst>
              <a:ext uri="{FF2B5EF4-FFF2-40B4-BE49-F238E27FC236}">
                <a16:creationId xmlns:a16="http://schemas.microsoft.com/office/drawing/2014/main" id="{B4152A4D-A581-2A4E-8336-2DDD751CDAF0}"/>
              </a:ext>
            </a:extLst>
          </p:cNvPr>
          <p:cNvSpPr txBox="1"/>
          <p:nvPr/>
        </p:nvSpPr>
        <p:spPr>
          <a:xfrm>
            <a:off x="6146800" y="2019300"/>
            <a:ext cx="889000" cy="177800"/>
          </a:xfrm>
          <a:prstGeom prst="rect">
            <a:avLst/>
          </a:prstGeom>
          <a:noFill/>
        </p:spPr>
        <p:txBody>
          <a:bodyPr vertOverflow="overflow" vert="horz" wrap="square" rtlCol="0" anchor="t">
            <a:noAutofit/>
          </a:bodyPr>
          <a:lstStyle/>
          <a:p>
            <a:pPr algn="l"/>
            <a:r>
              <a:rPr lang="en-US" sz="1600">
                <a:solidFill>
                  <a:srgbClr val="16005A"/>
                </a:solidFill>
                <a:latin typeface="Arial"/>
                <a:cs typeface="Arial"/>
              </a:rPr>
              <a:t>50</a:t>
            </a:r>
          </a:p>
        </p:txBody>
      </p:sp>
      <p:sp>
        <p:nvSpPr>
          <p:cNvPr id="67" name="info_0">
            <a:extLst>
              <a:ext uri="{FF2B5EF4-FFF2-40B4-BE49-F238E27FC236}">
                <a16:creationId xmlns:a16="http://schemas.microsoft.com/office/drawing/2014/main" id="{AB623D39-4915-A845-9C81-3662559D21A7}"/>
              </a:ext>
            </a:extLst>
          </p:cNvPr>
          <p:cNvSpPr txBox="1"/>
          <p:nvPr/>
        </p:nvSpPr>
        <p:spPr>
          <a:xfrm>
            <a:off x="7137400" y="2019300"/>
            <a:ext cx="10668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1.05×</a:t>
            </a:r>
          </a:p>
        </p:txBody>
      </p:sp>
      <p:sp>
        <p:nvSpPr>
          <p:cNvPr id="68" name="rowbg_1">
            <a:extLst>
              <a:ext uri="{FF2B5EF4-FFF2-40B4-BE49-F238E27FC236}">
                <a16:creationId xmlns:a16="http://schemas.microsoft.com/office/drawing/2014/main" id="{75B91997-6B5A-DE4D-BAB8-330E6E380FAE}"/>
              </a:ext>
            </a:extLst>
          </p:cNvPr>
          <p:cNvSpPr/>
          <p:nvPr/>
        </p:nvSpPr>
        <p:spPr>
          <a:xfrm>
            <a:off x="4038600" y="2260600"/>
            <a:ext cx="4216400" cy="304800"/>
          </a:xfrm>
          <a:prstGeom prst="rect">
            <a:avLst/>
          </a:prstGeom>
          <a:solidFill>
            <a:srgbClr val="F3F5FA"/>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9" name="v_1_0">
            <a:extLst>
              <a:ext uri="{FF2B5EF4-FFF2-40B4-BE49-F238E27FC236}">
                <a16:creationId xmlns:a16="http://schemas.microsoft.com/office/drawing/2014/main" id="{7CF91BE0-27D5-F343-A65C-0CA7DDE1BC36}"/>
              </a:ext>
            </a:extLst>
          </p:cNvPr>
          <p:cNvSpPr/>
          <p:nvPr/>
        </p:nvSpPr>
        <p:spPr>
          <a:xfrm>
            <a:off x="4038600" y="22606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0" name="v_1_1">
            <a:extLst>
              <a:ext uri="{FF2B5EF4-FFF2-40B4-BE49-F238E27FC236}">
                <a16:creationId xmlns:a16="http://schemas.microsoft.com/office/drawing/2014/main" id="{1574BEF3-80A8-264F-8A32-6F67980EDE32}"/>
              </a:ext>
            </a:extLst>
          </p:cNvPr>
          <p:cNvSpPr/>
          <p:nvPr/>
        </p:nvSpPr>
        <p:spPr>
          <a:xfrm>
            <a:off x="4775200" y="22606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1" name="v_1_2">
            <a:extLst>
              <a:ext uri="{FF2B5EF4-FFF2-40B4-BE49-F238E27FC236}">
                <a16:creationId xmlns:a16="http://schemas.microsoft.com/office/drawing/2014/main" id="{56EE88FD-B69A-144E-8C40-17626C4282AE}"/>
              </a:ext>
            </a:extLst>
          </p:cNvPr>
          <p:cNvSpPr/>
          <p:nvPr/>
        </p:nvSpPr>
        <p:spPr>
          <a:xfrm>
            <a:off x="6096000" y="22606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2" name="v_1_3">
            <a:extLst>
              <a:ext uri="{FF2B5EF4-FFF2-40B4-BE49-F238E27FC236}">
                <a16:creationId xmlns:a16="http://schemas.microsoft.com/office/drawing/2014/main" id="{1193B852-7E39-C545-BEF9-7F1D4C94479A}"/>
              </a:ext>
            </a:extLst>
          </p:cNvPr>
          <p:cNvSpPr/>
          <p:nvPr/>
        </p:nvSpPr>
        <p:spPr>
          <a:xfrm>
            <a:off x="7086600" y="22606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3" name="r2_1">
            <a:extLst>
              <a:ext uri="{FF2B5EF4-FFF2-40B4-BE49-F238E27FC236}">
                <a16:creationId xmlns:a16="http://schemas.microsoft.com/office/drawing/2014/main" id="{FA66DC2F-4B79-5B49-A89C-9FAB7E00EF47}"/>
              </a:ext>
            </a:extLst>
          </p:cNvPr>
          <p:cNvSpPr txBox="1"/>
          <p:nvPr/>
        </p:nvSpPr>
        <p:spPr>
          <a:xfrm>
            <a:off x="4076700" y="2324100"/>
            <a:ext cx="6604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0.10</a:t>
            </a:r>
          </a:p>
        </p:txBody>
      </p:sp>
      <p:sp>
        <p:nvSpPr>
          <p:cNvPr id="74" name="barbg_1">
            <a:extLst>
              <a:ext uri="{FF2B5EF4-FFF2-40B4-BE49-F238E27FC236}">
                <a16:creationId xmlns:a16="http://schemas.microsoft.com/office/drawing/2014/main" id="{23FAADC5-EA16-0042-B03A-90F6DE605B60}"/>
              </a:ext>
            </a:extLst>
          </p:cNvPr>
          <p:cNvSpPr/>
          <p:nvPr/>
        </p:nvSpPr>
        <p:spPr>
          <a:xfrm>
            <a:off x="4876800" y="2349500"/>
            <a:ext cx="1117600" cy="127000"/>
          </a:xfrm>
          <a:prstGeom prst="rect">
            <a:avLst/>
          </a:prstGeom>
          <a:solidFill>
            <a:srgbClr val="EFEAF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5" name="bar_1">
            <a:extLst>
              <a:ext uri="{FF2B5EF4-FFF2-40B4-BE49-F238E27FC236}">
                <a16:creationId xmlns:a16="http://schemas.microsoft.com/office/drawing/2014/main" id="{776C9E84-E9ED-814E-8359-AE8760897CF7}"/>
              </a:ext>
            </a:extLst>
          </p:cNvPr>
          <p:cNvSpPr/>
          <p:nvPr/>
        </p:nvSpPr>
        <p:spPr>
          <a:xfrm>
            <a:off x="4876800" y="2349500"/>
            <a:ext cx="1005840" cy="127000"/>
          </a:xfrm>
          <a:prstGeom prst="rect">
            <a:avLst/>
          </a:prstGeom>
          <a:solidFill>
            <a:srgbClr val="E3D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6" name="n_1">
            <a:extLst>
              <a:ext uri="{FF2B5EF4-FFF2-40B4-BE49-F238E27FC236}">
                <a16:creationId xmlns:a16="http://schemas.microsoft.com/office/drawing/2014/main" id="{F206EEE4-2AAF-D64C-850C-3BE19E80C54C}"/>
              </a:ext>
            </a:extLst>
          </p:cNvPr>
          <p:cNvSpPr txBox="1"/>
          <p:nvPr/>
        </p:nvSpPr>
        <p:spPr>
          <a:xfrm>
            <a:off x="4826000" y="2324100"/>
            <a:ext cx="12192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900</a:t>
            </a:r>
          </a:p>
        </p:txBody>
      </p:sp>
      <p:sp>
        <p:nvSpPr>
          <p:cNvPr id="77" name="save_1">
            <a:extLst>
              <a:ext uri="{FF2B5EF4-FFF2-40B4-BE49-F238E27FC236}">
                <a16:creationId xmlns:a16="http://schemas.microsoft.com/office/drawing/2014/main" id="{624BE439-7D2C-3E42-95F7-3CF90E6B6BDE}"/>
              </a:ext>
            </a:extLst>
          </p:cNvPr>
          <p:cNvSpPr txBox="1"/>
          <p:nvPr/>
        </p:nvSpPr>
        <p:spPr>
          <a:xfrm>
            <a:off x="6146800" y="2324100"/>
            <a:ext cx="889000" cy="177800"/>
          </a:xfrm>
          <a:prstGeom prst="rect">
            <a:avLst/>
          </a:prstGeom>
          <a:noFill/>
        </p:spPr>
        <p:txBody>
          <a:bodyPr vertOverflow="overflow" vert="horz" wrap="square" rtlCol="0" anchor="t">
            <a:noAutofit/>
          </a:bodyPr>
          <a:lstStyle/>
          <a:p>
            <a:pPr algn="l"/>
            <a:r>
              <a:rPr lang="en-US" sz="1600">
                <a:solidFill>
                  <a:srgbClr val="16005A"/>
                </a:solidFill>
                <a:latin typeface="Arial"/>
                <a:cs typeface="Arial"/>
              </a:rPr>
              <a:t>100</a:t>
            </a:r>
          </a:p>
        </p:txBody>
      </p:sp>
      <p:sp>
        <p:nvSpPr>
          <p:cNvPr id="78" name="info_1">
            <a:extLst>
              <a:ext uri="{FF2B5EF4-FFF2-40B4-BE49-F238E27FC236}">
                <a16:creationId xmlns:a16="http://schemas.microsoft.com/office/drawing/2014/main" id="{FAB16911-5907-2A43-AD3A-A4AE5A54AABD}"/>
              </a:ext>
            </a:extLst>
          </p:cNvPr>
          <p:cNvSpPr txBox="1"/>
          <p:nvPr/>
        </p:nvSpPr>
        <p:spPr>
          <a:xfrm>
            <a:off x="7137400" y="2324100"/>
            <a:ext cx="10668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1.11×</a:t>
            </a:r>
          </a:p>
        </p:txBody>
      </p:sp>
      <p:sp>
        <p:nvSpPr>
          <p:cNvPr id="79" name="rowbg_2">
            <a:extLst>
              <a:ext uri="{FF2B5EF4-FFF2-40B4-BE49-F238E27FC236}">
                <a16:creationId xmlns:a16="http://schemas.microsoft.com/office/drawing/2014/main" id="{593733EB-6BB5-9945-87F9-C1F8D2125C22}"/>
              </a:ext>
            </a:extLst>
          </p:cNvPr>
          <p:cNvSpPr/>
          <p:nvPr/>
        </p:nvSpPr>
        <p:spPr>
          <a:xfrm>
            <a:off x="4038600" y="2565400"/>
            <a:ext cx="4216400" cy="304800"/>
          </a:xfrm>
          <a:prstGeom prst="rect">
            <a:avLst/>
          </a:prstGeom>
          <a:solidFill>
            <a:srgbClr val="FBFC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0" name="v_2_0">
            <a:extLst>
              <a:ext uri="{FF2B5EF4-FFF2-40B4-BE49-F238E27FC236}">
                <a16:creationId xmlns:a16="http://schemas.microsoft.com/office/drawing/2014/main" id="{18E9B43C-68CF-1F4E-9208-84745DDABB66}"/>
              </a:ext>
            </a:extLst>
          </p:cNvPr>
          <p:cNvSpPr/>
          <p:nvPr/>
        </p:nvSpPr>
        <p:spPr>
          <a:xfrm>
            <a:off x="4038600" y="25654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1" name="v_2_1">
            <a:extLst>
              <a:ext uri="{FF2B5EF4-FFF2-40B4-BE49-F238E27FC236}">
                <a16:creationId xmlns:a16="http://schemas.microsoft.com/office/drawing/2014/main" id="{379931DB-C40F-9247-AF66-CB3434A21A4C}"/>
              </a:ext>
            </a:extLst>
          </p:cNvPr>
          <p:cNvSpPr/>
          <p:nvPr/>
        </p:nvSpPr>
        <p:spPr>
          <a:xfrm>
            <a:off x="4775200" y="25654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2" name="v_2_2">
            <a:extLst>
              <a:ext uri="{FF2B5EF4-FFF2-40B4-BE49-F238E27FC236}">
                <a16:creationId xmlns:a16="http://schemas.microsoft.com/office/drawing/2014/main" id="{AF15E25B-09A0-4B46-B1F8-C4898C87BEBC}"/>
              </a:ext>
            </a:extLst>
          </p:cNvPr>
          <p:cNvSpPr/>
          <p:nvPr/>
        </p:nvSpPr>
        <p:spPr>
          <a:xfrm>
            <a:off x="6096000" y="25654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3" name="v_2_3">
            <a:extLst>
              <a:ext uri="{FF2B5EF4-FFF2-40B4-BE49-F238E27FC236}">
                <a16:creationId xmlns:a16="http://schemas.microsoft.com/office/drawing/2014/main" id="{D5724CCE-9F2A-1A4F-9484-BFB8FDB25291}"/>
              </a:ext>
            </a:extLst>
          </p:cNvPr>
          <p:cNvSpPr/>
          <p:nvPr/>
        </p:nvSpPr>
        <p:spPr>
          <a:xfrm>
            <a:off x="7086600" y="25654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4" name="r2_2">
            <a:extLst>
              <a:ext uri="{FF2B5EF4-FFF2-40B4-BE49-F238E27FC236}">
                <a16:creationId xmlns:a16="http://schemas.microsoft.com/office/drawing/2014/main" id="{26221701-75D0-6F4B-BAC7-E1C591BE0996}"/>
              </a:ext>
            </a:extLst>
          </p:cNvPr>
          <p:cNvSpPr txBox="1"/>
          <p:nvPr/>
        </p:nvSpPr>
        <p:spPr>
          <a:xfrm>
            <a:off x="4076700" y="2628900"/>
            <a:ext cx="6604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0.20</a:t>
            </a:r>
          </a:p>
        </p:txBody>
      </p:sp>
      <p:sp>
        <p:nvSpPr>
          <p:cNvPr id="85" name="barbg_2">
            <a:extLst>
              <a:ext uri="{FF2B5EF4-FFF2-40B4-BE49-F238E27FC236}">
                <a16:creationId xmlns:a16="http://schemas.microsoft.com/office/drawing/2014/main" id="{493D36F0-76C4-D84E-809C-2CA0944158D1}"/>
              </a:ext>
            </a:extLst>
          </p:cNvPr>
          <p:cNvSpPr/>
          <p:nvPr/>
        </p:nvSpPr>
        <p:spPr>
          <a:xfrm>
            <a:off x="4876800" y="2654300"/>
            <a:ext cx="1117600" cy="127000"/>
          </a:xfrm>
          <a:prstGeom prst="rect">
            <a:avLst/>
          </a:prstGeom>
          <a:solidFill>
            <a:srgbClr val="EFEAF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6" name="bar_2">
            <a:extLst>
              <a:ext uri="{FF2B5EF4-FFF2-40B4-BE49-F238E27FC236}">
                <a16:creationId xmlns:a16="http://schemas.microsoft.com/office/drawing/2014/main" id="{CDBCF671-B648-CF41-8589-61FC25DB5667}"/>
              </a:ext>
            </a:extLst>
          </p:cNvPr>
          <p:cNvSpPr/>
          <p:nvPr/>
        </p:nvSpPr>
        <p:spPr>
          <a:xfrm>
            <a:off x="4876800" y="2654300"/>
            <a:ext cx="894080" cy="127000"/>
          </a:xfrm>
          <a:prstGeom prst="rect">
            <a:avLst/>
          </a:prstGeom>
          <a:solidFill>
            <a:srgbClr val="E3D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7" name="n_2">
            <a:extLst>
              <a:ext uri="{FF2B5EF4-FFF2-40B4-BE49-F238E27FC236}">
                <a16:creationId xmlns:a16="http://schemas.microsoft.com/office/drawing/2014/main" id="{5F896D08-3682-8348-8F37-DB3A12048347}"/>
              </a:ext>
            </a:extLst>
          </p:cNvPr>
          <p:cNvSpPr txBox="1"/>
          <p:nvPr/>
        </p:nvSpPr>
        <p:spPr>
          <a:xfrm>
            <a:off x="4826000" y="2628900"/>
            <a:ext cx="12192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800</a:t>
            </a:r>
          </a:p>
        </p:txBody>
      </p:sp>
      <p:sp>
        <p:nvSpPr>
          <p:cNvPr id="88" name="save_2">
            <a:extLst>
              <a:ext uri="{FF2B5EF4-FFF2-40B4-BE49-F238E27FC236}">
                <a16:creationId xmlns:a16="http://schemas.microsoft.com/office/drawing/2014/main" id="{4C2E9154-283E-D444-ABF1-9A8333C7620F}"/>
              </a:ext>
            </a:extLst>
          </p:cNvPr>
          <p:cNvSpPr txBox="1"/>
          <p:nvPr/>
        </p:nvSpPr>
        <p:spPr>
          <a:xfrm>
            <a:off x="6146800" y="2628900"/>
            <a:ext cx="889000" cy="177800"/>
          </a:xfrm>
          <a:prstGeom prst="rect">
            <a:avLst/>
          </a:prstGeom>
          <a:noFill/>
        </p:spPr>
        <p:txBody>
          <a:bodyPr vertOverflow="overflow" vert="horz" wrap="square" rtlCol="0" anchor="t">
            <a:noAutofit/>
          </a:bodyPr>
          <a:lstStyle/>
          <a:p>
            <a:pPr algn="l"/>
            <a:r>
              <a:rPr lang="en-US" sz="1600">
                <a:solidFill>
                  <a:srgbClr val="16005A"/>
                </a:solidFill>
                <a:latin typeface="Arial"/>
                <a:cs typeface="Arial"/>
              </a:rPr>
              <a:t>200</a:t>
            </a:r>
          </a:p>
        </p:txBody>
      </p:sp>
      <p:sp>
        <p:nvSpPr>
          <p:cNvPr id="89" name="info_2">
            <a:extLst>
              <a:ext uri="{FF2B5EF4-FFF2-40B4-BE49-F238E27FC236}">
                <a16:creationId xmlns:a16="http://schemas.microsoft.com/office/drawing/2014/main" id="{5621DD43-C45A-764F-BD1E-1EE3A76BA13B}"/>
              </a:ext>
            </a:extLst>
          </p:cNvPr>
          <p:cNvSpPr txBox="1"/>
          <p:nvPr/>
        </p:nvSpPr>
        <p:spPr>
          <a:xfrm>
            <a:off x="7137400" y="2628900"/>
            <a:ext cx="10668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1.25×</a:t>
            </a:r>
          </a:p>
        </p:txBody>
      </p:sp>
      <p:sp>
        <p:nvSpPr>
          <p:cNvPr id="90" name="rowbg_3">
            <a:extLst>
              <a:ext uri="{FF2B5EF4-FFF2-40B4-BE49-F238E27FC236}">
                <a16:creationId xmlns:a16="http://schemas.microsoft.com/office/drawing/2014/main" id="{1B11F943-4138-734A-A238-14980DFA831B}"/>
              </a:ext>
            </a:extLst>
          </p:cNvPr>
          <p:cNvSpPr/>
          <p:nvPr/>
        </p:nvSpPr>
        <p:spPr>
          <a:xfrm>
            <a:off x="4038600" y="2870200"/>
            <a:ext cx="4216400" cy="304800"/>
          </a:xfrm>
          <a:prstGeom prst="rect">
            <a:avLst/>
          </a:prstGeom>
          <a:solidFill>
            <a:srgbClr val="F3F5FA"/>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1" name="v_3_0">
            <a:extLst>
              <a:ext uri="{FF2B5EF4-FFF2-40B4-BE49-F238E27FC236}">
                <a16:creationId xmlns:a16="http://schemas.microsoft.com/office/drawing/2014/main" id="{57382719-CC5E-1745-827F-B71DA324009E}"/>
              </a:ext>
            </a:extLst>
          </p:cNvPr>
          <p:cNvSpPr/>
          <p:nvPr/>
        </p:nvSpPr>
        <p:spPr>
          <a:xfrm>
            <a:off x="4038600" y="28702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2" name="v_3_1">
            <a:extLst>
              <a:ext uri="{FF2B5EF4-FFF2-40B4-BE49-F238E27FC236}">
                <a16:creationId xmlns:a16="http://schemas.microsoft.com/office/drawing/2014/main" id="{BDA50485-6CBD-E544-9C3C-B990D2C1F585}"/>
              </a:ext>
            </a:extLst>
          </p:cNvPr>
          <p:cNvSpPr/>
          <p:nvPr/>
        </p:nvSpPr>
        <p:spPr>
          <a:xfrm>
            <a:off x="4775200" y="28702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3" name="v_3_2">
            <a:extLst>
              <a:ext uri="{FF2B5EF4-FFF2-40B4-BE49-F238E27FC236}">
                <a16:creationId xmlns:a16="http://schemas.microsoft.com/office/drawing/2014/main" id="{CA363928-4738-EA4C-B71E-F42F5731CC3F}"/>
              </a:ext>
            </a:extLst>
          </p:cNvPr>
          <p:cNvSpPr/>
          <p:nvPr/>
        </p:nvSpPr>
        <p:spPr>
          <a:xfrm>
            <a:off x="6096000" y="28702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4" name="v_3_3">
            <a:extLst>
              <a:ext uri="{FF2B5EF4-FFF2-40B4-BE49-F238E27FC236}">
                <a16:creationId xmlns:a16="http://schemas.microsoft.com/office/drawing/2014/main" id="{DBF7E160-3D59-3744-A429-B672E954C45D}"/>
              </a:ext>
            </a:extLst>
          </p:cNvPr>
          <p:cNvSpPr/>
          <p:nvPr/>
        </p:nvSpPr>
        <p:spPr>
          <a:xfrm>
            <a:off x="7086600" y="28702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5" name="r2_3">
            <a:extLst>
              <a:ext uri="{FF2B5EF4-FFF2-40B4-BE49-F238E27FC236}">
                <a16:creationId xmlns:a16="http://schemas.microsoft.com/office/drawing/2014/main" id="{41D86DB6-0BE8-4244-A9E5-0382B96D759F}"/>
              </a:ext>
            </a:extLst>
          </p:cNvPr>
          <p:cNvSpPr txBox="1"/>
          <p:nvPr/>
        </p:nvSpPr>
        <p:spPr>
          <a:xfrm>
            <a:off x="4076700" y="2933700"/>
            <a:ext cx="6604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0.30</a:t>
            </a:r>
          </a:p>
        </p:txBody>
      </p:sp>
      <p:sp>
        <p:nvSpPr>
          <p:cNvPr id="96" name="barbg_3">
            <a:extLst>
              <a:ext uri="{FF2B5EF4-FFF2-40B4-BE49-F238E27FC236}">
                <a16:creationId xmlns:a16="http://schemas.microsoft.com/office/drawing/2014/main" id="{63255C95-3449-794E-82A9-5D84C5FEB0DB}"/>
              </a:ext>
            </a:extLst>
          </p:cNvPr>
          <p:cNvSpPr/>
          <p:nvPr/>
        </p:nvSpPr>
        <p:spPr>
          <a:xfrm>
            <a:off x="4876800" y="2959100"/>
            <a:ext cx="1117600" cy="127000"/>
          </a:xfrm>
          <a:prstGeom prst="rect">
            <a:avLst/>
          </a:prstGeom>
          <a:solidFill>
            <a:srgbClr val="EFEAF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7" name="bar_3">
            <a:extLst>
              <a:ext uri="{FF2B5EF4-FFF2-40B4-BE49-F238E27FC236}">
                <a16:creationId xmlns:a16="http://schemas.microsoft.com/office/drawing/2014/main" id="{0A8BC7B8-CBE5-AA45-86C8-F54C93F37E97}"/>
              </a:ext>
            </a:extLst>
          </p:cNvPr>
          <p:cNvSpPr/>
          <p:nvPr/>
        </p:nvSpPr>
        <p:spPr>
          <a:xfrm>
            <a:off x="4876800" y="2959100"/>
            <a:ext cx="782319" cy="127000"/>
          </a:xfrm>
          <a:prstGeom prst="rect">
            <a:avLst/>
          </a:prstGeom>
          <a:solidFill>
            <a:srgbClr val="E3D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8" name="n_3">
            <a:extLst>
              <a:ext uri="{FF2B5EF4-FFF2-40B4-BE49-F238E27FC236}">
                <a16:creationId xmlns:a16="http://schemas.microsoft.com/office/drawing/2014/main" id="{228AEC74-3D9A-4E4B-AEC4-31B13B58D31D}"/>
              </a:ext>
            </a:extLst>
          </p:cNvPr>
          <p:cNvSpPr txBox="1"/>
          <p:nvPr/>
        </p:nvSpPr>
        <p:spPr>
          <a:xfrm>
            <a:off x="4826000" y="2933700"/>
            <a:ext cx="12192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700</a:t>
            </a:r>
          </a:p>
        </p:txBody>
      </p:sp>
      <p:sp>
        <p:nvSpPr>
          <p:cNvPr id="99" name="save_3">
            <a:extLst>
              <a:ext uri="{FF2B5EF4-FFF2-40B4-BE49-F238E27FC236}">
                <a16:creationId xmlns:a16="http://schemas.microsoft.com/office/drawing/2014/main" id="{C5D3B16D-63C7-4044-9D3E-A32DAA21AA0C}"/>
              </a:ext>
            </a:extLst>
          </p:cNvPr>
          <p:cNvSpPr txBox="1"/>
          <p:nvPr/>
        </p:nvSpPr>
        <p:spPr>
          <a:xfrm>
            <a:off x="6146800" y="2933700"/>
            <a:ext cx="889000" cy="177800"/>
          </a:xfrm>
          <a:prstGeom prst="rect">
            <a:avLst/>
          </a:prstGeom>
          <a:noFill/>
        </p:spPr>
        <p:txBody>
          <a:bodyPr vertOverflow="overflow" vert="horz" wrap="square" rtlCol="0" anchor="t">
            <a:noAutofit/>
          </a:bodyPr>
          <a:lstStyle/>
          <a:p>
            <a:pPr algn="l"/>
            <a:r>
              <a:rPr lang="en-US" sz="1600">
                <a:solidFill>
                  <a:srgbClr val="16005A"/>
                </a:solidFill>
                <a:latin typeface="Arial"/>
                <a:cs typeface="Arial"/>
              </a:rPr>
              <a:t>300</a:t>
            </a:r>
          </a:p>
        </p:txBody>
      </p:sp>
      <p:sp>
        <p:nvSpPr>
          <p:cNvPr id="100" name="info_3">
            <a:extLst>
              <a:ext uri="{FF2B5EF4-FFF2-40B4-BE49-F238E27FC236}">
                <a16:creationId xmlns:a16="http://schemas.microsoft.com/office/drawing/2014/main" id="{A6605E06-110B-2944-86C0-D2B32AD8205B}"/>
              </a:ext>
            </a:extLst>
          </p:cNvPr>
          <p:cNvSpPr txBox="1"/>
          <p:nvPr/>
        </p:nvSpPr>
        <p:spPr>
          <a:xfrm>
            <a:off x="7137400" y="2933700"/>
            <a:ext cx="10668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1.43×</a:t>
            </a:r>
          </a:p>
        </p:txBody>
      </p:sp>
      <p:sp>
        <p:nvSpPr>
          <p:cNvPr id="101" name="rowbg_4">
            <a:extLst>
              <a:ext uri="{FF2B5EF4-FFF2-40B4-BE49-F238E27FC236}">
                <a16:creationId xmlns:a16="http://schemas.microsoft.com/office/drawing/2014/main" id="{11DF2BDE-8956-9E40-A83A-8961D4773FA0}"/>
              </a:ext>
            </a:extLst>
          </p:cNvPr>
          <p:cNvSpPr/>
          <p:nvPr/>
        </p:nvSpPr>
        <p:spPr>
          <a:xfrm>
            <a:off x="4038600" y="3175000"/>
            <a:ext cx="4216400" cy="304800"/>
          </a:xfrm>
          <a:prstGeom prst="rect">
            <a:avLst/>
          </a:prstGeom>
          <a:solidFill>
            <a:srgbClr val="FBFCFF"/>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2" name="v_4_0">
            <a:extLst>
              <a:ext uri="{FF2B5EF4-FFF2-40B4-BE49-F238E27FC236}">
                <a16:creationId xmlns:a16="http://schemas.microsoft.com/office/drawing/2014/main" id="{99E7535D-F30E-3749-9644-0A44C9421008}"/>
              </a:ext>
            </a:extLst>
          </p:cNvPr>
          <p:cNvSpPr/>
          <p:nvPr/>
        </p:nvSpPr>
        <p:spPr>
          <a:xfrm>
            <a:off x="4038600" y="31750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3" name="v_4_1">
            <a:extLst>
              <a:ext uri="{FF2B5EF4-FFF2-40B4-BE49-F238E27FC236}">
                <a16:creationId xmlns:a16="http://schemas.microsoft.com/office/drawing/2014/main" id="{21ACF00D-992F-1547-BD4E-482EAF942D1B}"/>
              </a:ext>
            </a:extLst>
          </p:cNvPr>
          <p:cNvSpPr/>
          <p:nvPr/>
        </p:nvSpPr>
        <p:spPr>
          <a:xfrm>
            <a:off x="4775200" y="31750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4" name="v_4_2">
            <a:extLst>
              <a:ext uri="{FF2B5EF4-FFF2-40B4-BE49-F238E27FC236}">
                <a16:creationId xmlns:a16="http://schemas.microsoft.com/office/drawing/2014/main" id="{97CD63F8-A94E-9D42-82F5-F00F69843AB2}"/>
              </a:ext>
            </a:extLst>
          </p:cNvPr>
          <p:cNvSpPr/>
          <p:nvPr/>
        </p:nvSpPr>
        <p:spPr>
          <a:xfrm>
            <a:off x="6096000" y="31750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5" name="v_4_3">
            <a:extLst>
              <a:ext uri="{FF2B5EF4-FFF2-40B4-BE49-F238E27FC236}">
                <a16:creationId xmlns:a16="http://schemas.microsoft.com/office/drawing/2014/main" id="{959D7D52-61CD-954D-82C0-97C824FB7E3C}"/>
              </a:ext>
            </a:extLst>
          </p:cNvPr>
          <p:cNvSpPr/>
          <p:nvPr/>
        </p:nvSpPr>
        <p:spPr>
          <a:xfrm>
            <a:off x="7086600" y="31750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6" name="r2_4">
            <a:extLst>
              <a:ext uri="{FF2B5EF4-FFF2-40B4-BE49-F238E27FC236}">
                <a16:creationId xmlns:a16="http://schemas.microsoft.com/office/drawing/2014/main" id="{5CB55625-2AB0-E040-8165-9BA7946DF9AE}"/>
              </a:ext>
            </a:extLst>
          </p:cNvPr>
          <p:cNvSpPr txBox="1"/>
          <p:nvPr/>
        </p:nvSpPr>
        <p:spPr>
          <a:xfrm>
            <a:off x="4076700" y="3238500"/>
            <a:ext cx="6604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0.40</a:t>
            </a:r>
          </a:p>
        </p:txBody>
      </p:sp>
      <p:sp>
        <p:nvSpPr>
          <p:cNvPr id="107" name="barbg_4">
            <a:extLst>
              <a:ext uri="{FF2B5EF4-FFF2-40B4-BE49-F238E27FC236}">
                <a16:creationId xmlns:a16="http://schemas.microsoft.com/office/drawing/2014/main" id="{A2570160-363E-7A47-8BAA-CDE919C28A1A}"/>
              </a:ext>
            </a:extLst>
          </p:cNvPr>
          <p:cNvSpPr/>
          <p:nvPr/>
        </p:nvSpPr>
        <p:spPr>
          <a:xfrm>
            <a:off x="4876800" y="3263900"/>
            <a:ext cx="1117600" cy="127000"/>
          </a:xfrm>
          <a:prstGeom prst="rect">
            <a:avLst/>
          </a:prstGeom>
          <a:solidFill>
            <a:srgbClr val="EFEAF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8" name="bar_4">
            <a:extLst>
              <a:ext uri="{FF2B5EF4-FFF2-40B4-BE49-F238E27FC236}">
                <a16:creationId xmlns:a16="http://schemas.microsoft.com/office/drawing/2014/main" id="{7875E60B-844B-C642-91C0-90257F5559C7}"/>
              </a:ext>
            </a:extLst>
          </p:cNvPr>
          <p:cNvSpPr/>
          <p:nvPr/>
        </p:nvSpPr>
        <p:spPr>
          <a:xfrm>
            <a:off x="4876800" y="3263900"/>
            <a:ext cx="670560" cy="127000"/>
          </a:xfrm>
          <a:prstGeom prst="rect">
            <a:avLst/>
          </a:prstGeom>
          <a:solidFill>
            <a:srgbClr val="E3D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9" name="n_4">
            <a:extLst>
              <a:ext uri="{FF2B5EF4-FFF2-40B4-BE49-F238E27FC236}">
                <a16:creationId xmlns:a16="http://schemas.microsoft.com/office/drawing/2014/main" id="{A1479F57-8599-D04F-9691-2BB33330DF2A}"/>
              </a:ext>
            </a:extLst>
          </p:cNvPr>
          <p:cNvSpPr txBox="1"/>
          <p:nvPr/>
        </p:nvSpPr>
        <p:spPr>
          <a:xfrm>
            <a:off x="4826000" y="3238500"/>
            <a:ext cx="12192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600</a:t>
            </a:r>
          </a:p>
        </p:txBody>
      </p:sp>
      <p:sp>
        <p:nvSpPr>
          <p:cNvPr id="110" name="save_4">
            <a:extLst>
              <a:ext uri="{FF2B5EF4-FFF2-40B4-BE49-F238E27FC236}">
                <a16:creationId xmlns:a16="http://schemas.microsoft.com/office/drawing/2014/main" id="{30ED0565-407B-6449-883B-8297F8C8D0C4}"/>
              </a:ext>
            </a:extLst>
          </p:cNvPr>
          <p:cNvSpPr txBox="1"/>
          <p:nvPr/>
        </p:nvSpPr>
        <p:spPr>
          <a:xfrm>
            <a:off x="6146800" y="3238500"/>
            <a:ext cx="889000" cy="177800"/>
          </a:xfrm>
          <a:prstGeom prst="rect">
            <a:avLst/>
          </a:prstGeom>
          <a:noFill/>
        </p:spPr>
        <p:txBody>
          <a:bodyPr vertOverflow="overflow" vert="horz" wrap="square" rtlCol="0" anchor="t">
            <a:noAutofit/>
          </a:bodyPr>
          <a:lstStyle/>
          <a:p>
            <a:pPr algn="l"/>
            <a:r>
              <a:rPr lang="en-US" sz="1600">
                <a:solidFill>
                  <a:srgbClr val="16005A"/>
                </a:solidFill>
                <a:latin typeface="Arial"/>
                <a:cs typeface="Arial"/>
              </a:rPr>
              <a:t>400</a:t>
            </a:r>
          </a:p>
        </p:txBody>
      </p:sp>
      <p:sp>
        <p:nvSpPr>
          <p:cNvPr id="111" name="info_4">
            <a:extLst>
              <a:ext uri="{FF2B5EF4-FFF2-40B4-BE49-F238E27FC236}">
                <a16:creationId xmlns:a16="http://schemas.microsoft.com/office/drawing/2014/main" id="{FD47B26A-CB23-F14A-96D9-65B7E3615BBD}"/>
              </a:ext>
            </a:extLst>
          </p:cNvPr>
          <p:cNvSpPr txBox="1"/>
          <p:nvPr/>
        </p:nvSpPr>
        <p:spPr>
          <a:xfrm>
            <a:off x="7137400" y="3238500"/>
            <a:ext cx="10668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1.67×</a:t>
            </a:r>
          </a:p>
        </p:txBody>
      </p:sp>
      <p:sp>
        <p:nvSpPr>
          <p:cNvPr id="112" name="rowbg_5">
            <a:extLst>
              <a:ext uri="{FF2B5EF4-FFF2-40B4-BE49-F238E27FC236}">
                <a16:creationId xmlns:a16="http://schemas.microsoft.com/office/drawing/2014/main" id="{8A1156C0-330D-B949-AB00-023BC437A400}"/>
              </a:ext>
            </a:extLst>
          </p:cNvPr>
          <p:cNvSpPr/>
          <p:nvPr/>
        </p:nvSpPr>
        <p:spPr>
          <a:xfrm>
            <a:off x="4038600" y="3479800"/>
            <a:ext cx="4216400" cy="304800"/>
          </a:xfrm>
          <a:prstGeom prst="rect">
            <a:avLst/>
          </a:prstGeom>
          <a:solidFill>
            <a:srgbClr val="F3F5FA"/>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3" name="v_5_0">
            <a:extLst>
              <a:ext uri="{FF2B5EF4-FFF2-40B4-BE49-F238E27FC236}">
                <a16:creationId xmlns:a16="http://schemas.microsoft.com/office/drawing/2014/main" id="{43D3F10C-5541-1943-B256-001634D5F6BB}"/>
              </a:ext>
            </a:extLst>
          </p:cNvPr>
          <p:cNvSpPr/>
          <p:nvPr/>
        </p:nvSpPr>
        <p:spPr>
          <a:xfrm>
            <a:off x="4038600" y="3479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4" name="v_5_1">
            <a:extLst>
              <a:ext uri="{FF2B5EF4-FFF2-40B4-BE49-F238E27FC236}">
                <a16:creationId xmlns:a16="http://schemas.microsoft.com/office/drawing/2014/main" id="{79ED2546-E24C-F94C-BFD1-97B021B17A7B}"/>
              </a:ext>
            </a:extLst>
          </p:cNvPr>
          <p:cNvSpPr/>
          <p:nvPr/>
        </p:nvSpPr>
        <p:spPr>
          <a:xfrm>
            <a:off x="4775200" y="3479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5" name="v_5_2">
            <a:extLst>
              <a:ext uri="{FF2B5EF4-FFF2-40B4-BE49-F238E27FC236}">
                <a16:creationId xmlns:a16="http://schemas.microsoft.com/office/drawing/2014/main" id="{D5AAB78D-F796-CA4D-8CD4-F5577954D508}"/>
              </a:ext>
            </a:extLst>
          </p:cNvPr>
          <p:cNvSpPr/>
          <p:nvPr/>
        </p:nvSpPr>
        <p:spPr>
          <a:xfrm>
            <a:off x="6096000" y="3479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6" name="v_5_3">
            <a:extLst>
              <a:ext uri="{FF2B5EF4-FFF2-40B4-BE49-F238E27FC236}">
                <a16:creationId xmlns:a16="http://schemas.microsoft.com/office/drawing/2014/main" id="{7A4CFD4D-32AB-0545-8912-F0478D499E43}"/>
              </a:ext>
            </a:extLst>
          </p:cNvPr>
          <p:cNvSpPr/>
          <p:nvPr/>
        </p:nvSpPr>
        <p:spPr>
          <a:xfrm>
            <a:off x="7086600" y="3479800"/>
            <a:ext cx="9525" cy="3048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7" name="r2_5">
            <a:extLst>
              <a:ext uri="{FF2B5EF4-FFF2-40B4-BE49-F238E27FC236}">
                <a16:creationId xmlns:a16="http://schemas.microsoft.com/office/drawing/2014/main" id="{4C2E15C9-9FB8-9B4D-B99D-49AADC1DA4C7}"/>
              </a:ext>
            </a:extLst>
          </p:cNvPr>
          <p:cNvSpPr txBox="1"/>
          <p:nvPr/>
        </p:nvSpPr>
        <p:spPr>
          <a:xfrm>
            <a:off x="4076700" y="3543300"/>
            <a:ext cx="6604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0.50</a:t>
            </a:r>
          </a:p>
        </p:txBody>
      </p:sp>
      <p:sp>
        <p:nvSpPr>
          <p:cNvPr id="118" name="barbg_5">
            <a:extLst>
              <a:ext uri="{FF2B5EF4-FFF2-40B4-BE49-F238E27FC236}">
                <a16:creationId xmlns:a16="http://schemas.microsoft.com/office/drawing/2014/main" id="{6C3C286B-1552-384B-B945-0D4F60148129}"/>
              </a:ext>
            </a:extLst>
          </p:cNvPr>
          <p:cNvSpPr/>
          <p:nvPr/>
        </p:nvSpPr>
        <p:spPr>
          <a:xfrm>
            <a:off x="4876800" y="3568700"/>
            <a:ext cx="1117600" cy="127000"/>
          </a:xfrm>
          <a:prstGeom prst="rect">
            <a:avLst/>
          </a:prstGeom>
          <a:solidFill>
            <a:srgbClr val="EFEAF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9" name="bar_5">
            <a:extLst>
              <a:ext uri="{FF2B5EF4-FFF2-40B4-BE49-F238E27FC236}">
                <a16:creationId xmlns:a16="http://schemas.microsoft.com/office/drawing/2014/main" id="{7E41943B-9445-2342-B9CD-2D7513470D9C}"/>
              </a:ext>
            </a:extLst>
          </p:cNvPr>
          <p:cNvSpPr/>
          <p:nvPr/>
        </p:nvSpPr>
        <p:spPr>
          <a:xfrm>
            <a:off x="4876800" y="3568700"/>
            <a:ext cx="558800" cy="127000"/>
          </a:xfrm>
          <a:prstGeom prst="rect">
            <a:avLst/>
          </a:prstGeom>
          <a:solidFill>
            <a:srgbClr val="E3DA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0" name="n_5">
            <a:extLst>
              <a:ext uri="{FF2B5EF4-FFF2-40B4-BE49-F238E27FC236}">
                <a16:creationId xmlns:a16="http://schemas.microsoft.com/office/drawing/2014/main" id="{1ADA2FFA-060A-8447-965F-3FC7B00A845D}"/>
              </a:ext>
            </a:extLst>
          </p:cNvPr>
          <p:cNvSpPr txBox="1"/>
          <p:nvPr/>
        </p:nvSpPr>
        <p:spPr>
          <a:xfrm>
            <a:off x="4826000" y="3543300"/>
            <a:ext cx="1219200" cy="177800"/>
          </a:xfrm>
          <a:prstGeom prst="rect">
            <a:avLst/>
          </a:prstGeom>
          <a:noFill/>
        </p:spPr>
        <p:txBody>
          <a:bodyPr vertOverflow="overflow" vert="horz" wrap="square" rtlCol="0" anchor="t">
            <a:noAutofit/>
          </a:bodyPr>
          <a:lstStyle/>
          <a:p>
            <a:pPr algn="l"/>
            <a:r>
              <a:rPr lang="en-US" sz="1600" b="1">
                <a:solidFill>
                  <a:srgbClr val="16005A"/>
                </a:solidFill>
                <a:latin typeface="Arial"/>
                <a:cs typeface="Arial"/>
              </a:rPr>
              <a:t>500</a:t>
            </a:r>
          </a:p>
        </p:txBody>
      </p:sp>
      <p:sp>
        <p:nvSpPr>
          <p:cNvPr id="121" name="save_5">
            <a:extLst>
              <a:ext uri="{FF2B5EF4-FFF2-40B4-BE49-F238E27FC236}">
                <a16:creationId xmlns:a16="http://schemas.microsoft.com/office/drawing/2014/main" id="{1B0EA0F2-FE76-FE47-BF56-0152528BEFFD}"/>
              </a:ext>
            </a:extLst>
          </p:cNvPr>
          <p:cNvSpPr txBox="1"/>
          <p:nvPr/>
        </p:nvSpPr>
        <p:spPr>
          <a:xfrm>
            <a:off x="6146800" y="3543300"/>
            <a:ext cx="889000" cy="177800"/>
          </a:xfrm>
          <a:prstGeom prst="rect">
            <a:avLst/>
          </a:prstGeom>
          <a:noFill/>
        </p:spPr>
        <p:txBody>
          <a:bodyPr vertOverflow="overflow" vert="horz" wrap="square" rtlCol="0" anchor="t">
            <a:noAutofit/>
          </a:bodyPr>
          <a:lstStyle/>
          <a:p>
            <a:pPr algn="l"/>
            <a:r>
              <a:rPr lang="en-US" sz="1600">
                <a:solidFill>
                  <a:srgbClr val="16005A"/>
                </a:solidFill>
                <a:latin typeface="Arial"/>
                <a:cs typeface="Arial"/>
              </a:rPr>
              <a:t>500</a:t>
            </a:r>
          </a:p>
        </p:txBody>
      </p:sp>
      <p:sp>
        <p:nvSpPr>
          <p:cNvPr id="122" name="info_5">
            <a:extLst>
              <a:ext uri="{FF2B5EF4-FFF2-40B4-BE49-F238E27FC236}">
                <a16:creationId xmlns:a16="http://schemas.microsoft.com/office/drawing/2014/main" id="{190721A3-E3D7-3341-AC4D-EF56ADD055B7}"/>
              </a:ext>
            </a:extLst>
          </p:cNvPr>
          <p:cNvSpPr txBox="1"/>
          <p:nvPr/>
        </p:nvSpPr>
        <p:spPr>
          <a:xfrm>
            <a:off x="7137400" y="3543300"/>
            <a:ext cx="1066800" cy="177800"/>
          </a:xfrm>
          <a:prstGeom prst="rect">
            <a:avLst/>
          </a:prstGeom>
          <a:noFill/>
        </p:spPr>
        <p:txBody>
          <a:bodyPr vertOverflow="overflow" vert="horz" wrap="square" rtlCol="0" anchor="t">
            <a:noAutofit/>
          </a:bodyPr>
          <a:lstStyle/>
          <a:p>
            <a:pPr algn="l"/>
            <a:r>
              <a:rPr lang="en-US" sz="1600" b="1">
                <a:solidFill>
                  <a:srgbClr val="5A00FF"/>
                </a:solidFill>
                <a:latin typeface="Arial"/>
                <a:cs typeface="Arial"/>
              </a:rPr>
              <a:t>2.00×</a:t>
            </a:r>
          </a:p>
        </p:txBody>
      </p:sp>
      <p:sp>
        <p:nvSpPr>
          <p:cNvPr id="123" name="caption">
            <a:extLst>
              <a:ext uri="{FF2B5EF4-FFF2-40B4-BE49-F238E27FC236}">
                <a16:creationId xmlns:a16="http://schemas.microsoft.com/office/drawing/2014/main" id="{F939EEE8-0190-C94A-B48B-D781FB8B3E55}"/>
              </a:ext>
            </a:extLst>
          </p:cNvPr>
          <p:cNvSpPr txBox="1"/>
          <p:nvPr/>
        </p:nvSpPr>
        <p:spPr>
          <a:xfrm>
            <a:off x="4038600" y="3835400"/>
            <a:ext cx="4254500" cy="355600"/>
          </a:xfrm>
          <a:prstGeom prst="rect">
            <a:avLst/>
          </a:prstGeom>
          <a:noFill/>
        </p:spPr>
        <p:txBody>
          <a:bodyPr vertOverflow="overflow" vert="horz" wrap="square" rtlCol="0" anchor="t">
            <a:noAutofit/>
          </a:bodyPr>
          <a:lstStyle/>
          <a:p>
            <a:pPr algn="l"/>
            <a:r>
              <a:rPr lang="en-US" sz="1100" dirty="0">
                <a:solidFill>
                  <a:srgbClr val="6B6478"/>
                </a:solidFill>
                <a:latin typeface="Arial"/>
                <a:cs typeface="Arial"/>
              </a:rPr>
              <a:t>Approximate gains from prognostic covariate adjustment</a:t>
            </a:r>
          </a:p>
        </p:txBody>
      </p:sp>
      <p:sp>
        <p:nvSpPr>
          <p:cNvPr id="124" name="takeaway_bg">
            <a:extLst>
              <a:ext uri="{FF2B5EF4-FFF2-40B4-BE49-F238E27FC236}">
                <a16:creationId xmlns:a16="http://schemas.microsoft.com/office/drawing/2014/main" id="{9A2C7CA6-AF94-C04C-8EA4-C426F3449767}"/>
              </a:ext>
            </a:extLst>
          </p:cNvPr>
          <p:cNvSpPr/>
          <p:nvPr/>
        </p:nvSpPr>
        <p:spPr>
          <a:xfrm>
            <a:off x="939800" y="4241800"/>
            <a:ext cx="7315200" cy="596900"/>
          </a:xfrm>
          <a:prstGeom prst="rect">
            <a:avLst/>
          </a:prstGeom>
          <a:solidFill>
            <a:srgbClr val="EAF7F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5" name="takeaway">
            <a:extLst>
              <a:ext uri="{FF2B5EF4-FFF2-40B4-BE49-F238E27FC236}">
                <a16:creationId xmlns:a16="http://schemas.microsoft.com/office/drawing/2014/main" id="{4C622732-93D5-0348-80D9-95B3947D3544}"/>
              </a:ext>
            </a:extLst>
          </p:cNvPr>
          <p:cNvSpPr txBox="1"/>
          <p:nvPr/>
        </p:nvSpPr>
        <p:spPr>
          <a:xfrm>
            <a:off x="1168400" y="4356100"/>
            <a:ext cx="6908800" cy="203200"/>
          </a:xfrm>
          <a:prstGeom prst="rect">
            <a:avLst/>
          </a:prstGeom>
          <a:noFill/>
        </p:spPr>
        <p:txBody>
          <a:bodyPr vertOverflow="overflow" vert="horz" wrap="square" rtlCol="0" anchor="t">
            <a:noAutofit/>
          </a:bodyPr>
          <a:lstStyle/>
          <a:p>
            <a:pPr algn="l"/>
            <a:r>
              <a:rPr lang="en-US" sz="1300" b="1" dirty="0">
                <a:solidFill>
                  <a:srgbClr val="16005A"/>
                </a:solidFill>
                <a:latin typeface="Arial"/>
                <a:cs typeface="Arial"/>
              </a:rPr>
              <a:t>Example: R² = 0.20 means ~20% fewer participants for the same precision — or the same trial behaves like ~1.25× as much information.</a:t>
            </a:r>
          </a:p>
        </p:txBody>
      </p:sp>
      <p:sp>
        <p:nvSpPr>
          <p:cNvPr id="126" name="source">
            <a:extLst>
              <a:ext uri="{FF2B5EF4-FFF2-40B4-BE49-F238E27FC236}">
                <a16:creationId xmlns:a16="http://schemas.microsoft.com/office/drawing/2014/main" id="{E8235C25-8F3D-954B-8A58-C9E869E3C006}"/>
              </a:ext>
            </a:extLst>
          </p:cNvPr>
          <p:cNvSpPr txBox="1"/>
          <p:nvPr/>
        </p:nvSpPr>
        <p:spPr>
          <a:xfrm>
            <a:off x="838200" y="4876800"/>
            <a:ext cx="7620000" cy="152400"/>
          </a:xfrm>
          <a:prstGeom prst="rect">
            <a:avLst/>
          </a:prstGeom>
          <a:noFill/>
        </p:spPr>
        <p:txBody>
          <a:bodyPr vertOverflow="overflow" vert="horz" wrap="square" rtlCol="0" anchor="t">
            <a:noAutofit/>
          </a:bodyPr>
          <a:lstStyle/>
          <a:p>
            <a:pPr algn="l"/>
            <a:r>
              <a:rPr lang="en-US" sz="1100" dirty="0">
                <a:solidFill>
                  <a:srgbClr val="6B6478"/>
                </a:solidFill>
                <a:latin typeface="Arial"/>
                <a:cs typeface="Arial"/>
              </a:rPr>
              <a:t>Most literal for continuous outcomes; use as planning intuition otherwise. Source: Morris et al., Trials 2022.</a:t>
            </a:r>
          </a:p>
        </p:txBody>
      </p:sp>
    </p:spTree>
    <p:extLst>
      <p:ext uri="{BB962C8B-B14F-4D97-AF65-F5344CB8AC3E}">
        <p14:creationId xmlns:p14="http://schemas.microsoft.com/office/powerpoint/2010/main" val="2814199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canvas"/>
          <p:cNvSpPr/>
          <p:nvPr/>
        </p:nvSpPr>
        <p:spPr>
          <a:xfrm>
            <a:off x="0" y="0"/>
            <a:ext cx="9144000" cy="5143500"/>
          </a:xfrm>
          <a:prstGeom prst="rect">
            <a:avLst/>
          </a:prstGeom>
          <a:solidFill>
            <a:srgbClr val="FFFFFF"/>
          </a:solidFill>
          <a:ln>
            <a:noFill/>
          </a:ln>
        </p:spPr>
        <p:txBody>
          <a:bodyPr/>
          <a:lstStyle/>
          <a:p>
            <a:endParaRPr/>
          </a:p>
        </p:txBody>
      </p:sp>
      <p:sp>
        <p:nvSpPr>
          <p:cNvPr id="901" name="left_rail"/>
          <p:cNvSpPr/>
          <p:nvPr/>
        </p:nvSpPr>
        <p:spPr>
          <a:xfrm>
            <a:off x="368300" y="736600"/>
            <a:ext cx="63500" cy="3644900"/>
          </a:xfrm>
          <a:prstGeom prst="rect">
            <a:avLst/>
          </a:prstGeom>
          <a:solidFill>
            <a:srgbClr val="4A00E2"/>
          </a:solidFill>
          <a:ln>
            <a:noFill/>
          </a:ln>
        </p:spPr>
        <p:txBody>
          <a:bodyPr/>
          <a:lstStyle/>
          <a:p>
            <a:endParaRPr/>
          </a:p>
        </p:txBody>
      </p:sp>
      <p:sp>
        <p:nvSpPr>
          <p:cNvPr id="2" name="Title 1">
            <a:extLst>
              <a:ext uri="{FF2B5EF4-FFF2-40B4-BE49-F238E27FC236}">
                <a16:creationId xmlns:a16="http://schemas.microsoft.com/office/drawing/2014/main" id="{561F1241-F8B7-57A5-5587-9428F4D336D8}"/>
              </a:ext>
            </a:extLst>
          </p:cNvPr>
          <p:cNvSpPr>
            <a:spLocks noGrp="1"/>
          </p:cNvSpPr>
          <p:nvPr>
            <p:ph type="title"/>
          </p:nvPr>
        </p:nvSpPr>
        <p:spPr>
          <a:xfrm>
            <a:off x="609600" y="558800"/>
            <a:ext cx="8064500" cy="609600"/>
          </a:xfrm>
        </p:spPr>
        <p:txBody>
          <a:bodyPr/>
          <a:lstStyle/>
          <a:p>
            <a:pPr algn="l"/>
            <a:r>
              <a:rPr lang="en-US" sz="2400" b="1" dirty="0">
                <a:solidFill>
                  <a:srgbClr val="110057"/>
                </a:solidFill>
                <a:latin typeface="Arial"/>
                <a:cs typeface="Arial"/>
              </a:rPr>
              <a:t>ASCEND-MA risk adjustment sharpens the trial</a:t>
            </a:r>
          </a:p>
        </p:txBody>
      </p:sp>
      <p:pic>
        <p:nvPicPr>
          <p:cNvPr id="3" name="Picture 2" descr="ASCEND-MA overlaid R2 power curves">
            <a:extLst>
              <a:ext uri="{FF2B5EF4-FFF2-40B4-BE49-F238E27FC236}">
                <a16:creationId xmlns:a16="http://schemas.microsoft.com/office/drawing/2014/main" id="{C7803F7E-06A5-1194-0C75-A14BF4630944}"/>
              </a:ext>
            </a:extLst>
          </p:cNvPr>
          <p:cNvPicPr>
            <a:picLocks noChangeAspect="1"/>
          </p:cNvPicPr>
          <p:nvPr/>
        </p:nvPicPr>
        <p:blipFill>
          <a:blip r:embed="rId3"/>
          <a:stretch>
            <a:fillRect/>
          </a:stretch>
        </p:blipFill>
        <p:spPr>
          <a:xfrm>
            <a:off x="1301966" y="1092200"/>
            <a:ext cx="5776928" cy="3674891"/>
          </a:xfrm>
          <a:prstGeom prst="rect">
            <a:avLst/>
          </a:prstGeom>
        </p:spPr>
      </p:pic>
      <p:sp>
        <p:nvSpPr>
          <p:cNvPr id="902" name="kicker"/>
          <p:cNvSpPr txBox="1"/>
          <p:nvPr/>
        </p:nvSpPr>
        <p:spPr>
          <a:xfrm>
            <a:off x="609600" y="355600"/>
            <a:ext cx="3810000" cy="177800"/>
          </a:xfrm>
          <a:prstGeom prst="rect">
            <a:avLst/>
          </a:prstGeom>
          <a:noFill/>
        </p:spPr>
        <p:txBody>
          <a:bodyPr wrap="square" lIns="0" tIns="0" rIns="0" bIns="0">
            <a:noAutofit/>
          </a:bodyPr>
          <a:lstStyle/>
          <a:p>
            <a:pPr algn="l"/>
            <a:r>
              <a:rPr lang="en-US" sz="1100" b="1" dirty="0">
                <a:solidFill>
                  <a:srgbClr val="4A00E2"/>
                </a:solidFill>
                <a:latin typeface="Arial"/>
                <a:cs typeface="Arial"/>
              </a:rPr>
              <a:t>ENRICH | TRIAL POWER</a:t>
            </a:r>
          </a:p>
        </p:txBody>
      </p:sp>
    </p:spTree>
    <p:extLst>
      <p:ext uri="{BB962C8B-B14F-4D97-AF65-F5344CB8AC3E}">
        <p14:creationId xmlns:p14="http://schemas.microsoft.com/office/powerpoint/2010/main" val="602729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nvas">
            <a:extLst>
              <a:ext uri="{FF2B5EF4-FFF2-40B4-BE49-F238E27FC236}">
                <a16:creationId xmlns:a16="http://schemas.microsoft.com/office/drawing/2014/main" id="{AA757F46-80EC-BE4A-A7B1-5061356ED9A6}"/>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 name="left_rail">
            <a:extLst>
              <a:ext uri="{FF2B5EF4-FFF2-40B4-BE49-F238E27FC236}">
                <a16:creationId xmlns:a16="http://schemas.microsoft.com/office/drawing/2014/main" id="{776CE155-8CBF-344A-BA13-E9876CF52E25}"/>
              </a:ext>
            </a:extLst>
          </p:cNvPr>
          <p:cNvSpPr/>
          <p:nvPr/>
        </p:nvSpPr>
        <p:spPr>
          <a:xfrm>
            <a:off x="368300" y="736600"/>
            <a:ext cx="57150" cy="3644900"/>
          </a:xfrm>
          <a:prstGeom prst="rect">
            <a:avLst/>
          </a:prstGeom>
          <a:solidFill>
            <a:srgbClr val="4F00E9"/>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 name="kicker">
            <a:extLst>
              <a:ext uri="{FF2B5EF4-FFF2-40B4-BE49-F238E27FC236}">
                <a16:creationId xmlns:a16="http://schemas.microsoft.com/office/drawing/2014/main" id="{E00FC7D7-DFE8-F348-A9A2-F83D4A353591}"/>
              </a:ext>
            </a:extLst>
          </p:cNvPr>
          <p:cNvSpPr txBox="1"/>
          <p:nvPr/>
        </p:nvSpPr>
        <p:spPr>
          <a:xfrm>
            <a:off x="609600" y="330200"/>
            <a:ext cx="3810000" cy="165100"/>
          </a:xfrm>
          <a:prstGeom prst="rect">
            <a:avLst/>
          </a:prstGeom>
          <a:noFill/>
        </p:spPr>
        <p:txBody>
          <a:bodyPr vertOverflow="overflow" vert="horz" wrap="square" rtlCol="0" anchor="t">
            <a:noAutofit/>
          </a:bodyPr>
          <a:lstStyle/>
          <a:p>
            <a:pPr algn="l"/>
            <a:r>
              <a:rPr lang="en-US" sz="1100" b="1" dirty="0">
                <a:solidFill>
                  <a:srgbClr val="4A00E2"/>
                </a:solidFill>
                <a:latin typeface="Arial"/>
                <a:cs typeface="Arial"/>
              </a:rPr>
              <a:t>ACT | APPLYING TRIAL RESULTS TO INDIVIDUALS</a:t>
            </a:r>
          </a:p>
        </p:txBody>
      </p:sp>
      <p:sp>
        <p:nvSpPr>
          <p:cNvPr id="13" name="title">
            <a:extLst>
              <a:ext uri="{FF2B5EF4-FFF2-40B4-BE49-F238E27FC236}">
                <a16:creationId xmlns:a16="http://schemas.microsoft.com/office/drawing/2014/main" id="{84EE5F82-F75E-9E48-B3BB-5FB3396A0766}"/>
              </a:ext>
            </a:extLst>
          </p:cNvPr>
          <p:cNvSpPr txBox="1"/>
          <p:nvPr/>
        </p:nvSpPr>
        <p:spPr>
          <a:xfrm>
            <a:off x="609600" y="584200"/>
            <a:ext cx="8064500" cy="685800"/>
          </a:xfrm>
          <a:prstGeom prst="rect">
            <a:avLst/>
          </a:prstGeom>
          <a:noFill/>
        </p:spPr>
        <p:txBody>
          <a:bodyPr vertOverflow="overflow" vert="horz" wrap="square" rtlCol="0" anchor="t">
            <a:noAutofit/>
          </a:bodyPr>
          <a:lstStyle/>
          <a:p>
            <a:pPr algn="l"/>
            <a:r>
              <a:rPr lang="en-US" sz="2400" b="1" dirty="0">
                <a:solidFill>
                  <a:srgbClr val="110057"/>
                </a:solidFill>
                <a:latin typeface="Arial"/>
                <a:cs typeface="Arial"/>
              </a:rPr>
              <a:t>A single NNT or ARR hides the distribution of benefit</a:t>
            </a:r>
          </a:p>
        </p:txBody>
      </p:sp>
      <p:sp>
        <p:nvSpPr>
          <p:cNvPr id="14" name="source">
            <a:extLst>
              <a:ext uri="{FF2B5EF4-FFF2-40B4-BE49-F238E27FC236}">
                <a16:creationId xmlns:a16="http://schemas.microsoft.com/office/drawing/2014/main" id="{5B492BCE-E9B7-954B-B9DE-EE1720863295}"/>
              </a:ext>
            </a:extLst>
          </p:cNvPr>
          <p:cNvSpPr txBox="1"/>
          <p:nvPr/>
        </p:nvSpPr>
        <p:spPr>
          <a:xfrm>
            <a:off x="609600" y="4800600"/>
            <a:ext cx="7874000" cy="177800"/>
          </a:xfrm>
          <a:prstGeom prst="rect">
            <a:avLst/>
          </a:prstGeom>
          <a:noFill/>
        </p:spPr>
        <p:txBody>
          <a:bodyPr vertOverflow="overflow" vert="horz" wrap="square" rtlCol="0" anchor="t">
            <a:noAutofit/>
          </a:bodyPr>
          <a:lstStyle/>
          <a:p>
            <a:pPr algn="l"/>
            <a:r>
              <a:rPr lang="en-US" sz="1100" dirty="0">
                <a:solidFill>
                  <a:srgbClr val="8A829E"/>
                </a:solidFill>
                <a:latin typeface="Arial"/>
                <a:cs typeface="Arial"/>
              </a:rPr>
              <a:t>Source concept: Harrell 2021, distribution of risk differences (GUSTO-I); Kent 2023, PATH Statement.</a:t>
            </a:r>
          </a:p>
        </p:txBody>
      </p:sp>
      <p:sp>
        <p:nvSpPr>
          <p:cNvPr id="15" name="trial_summary_bg">
            <a:extLst>
              <a:ext uri="{FF2B5EF4-FFF2-40B4-BE49-F238E27FC236}">
                <a16:creationId xmlns:a16="http://schemas.microsoft.com/office/drawing/2014/main" id="{E9C9731F-8C01-BB4C-8712-3C8F2DF7D9A4}"/>
              </a:ext>
            </a:extLst>
          </p:cNvPr>
          <p:cNvSpPr/>
          <p:nvPr/>
        </p:nvSpPr>
        <p:spPr>
          <a:xfrm>
            <a:off x="889000" y="1574800"/>
            <a:ext cx="2235200" cy="2260600"/>
          </a:xfrm>
          <a:prstGeom prst="rect">
            <a:avLst/>
          </a:prstGeom>
          <a:solidFill>
            <a:srgbClr val="F5F2FB"/>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6" name="summary_label">
            <a:extLst>
              <a:ext uri="{FF2B5EF4-FFF2-40B4-BE49-F238E27FC236}">
                <a16:creationId xmlns:a16="http://schemas.microsoft.com/office/drawing/2014/main" id="{04E9AD2E-7428-684A-9D5F-0A5393AB056C}"/>
              </a:ext>
            </a:extLst>
          </p:cNvPr>
          <p:cNvSpPr txBox="1"/>
          <p:nvPr/>
        </p:nvSpPr>
        <p:spPr>
          <a:xfrm>
            <a:off x="1066800" y="1752600"/>
            <a:ext cx="2057400" cy="177800"/>
          </a:xfrm>
          <a:prstGeom prst="rect">
            <a:avLst/>
          </a:prstGeom>
          <a:noFill/>
        </p:spPr>
        <p:txBody>
          <a:bodyPr vertOverflow="overflow" vert="horz" wrap="square" rtlCol="0" anchor="t">
            <a:noAutofit/>
          </a:bodyPr>
          <a:lstStyle/>
          <a:p>
            <a:pPr algn="l"/>
            <a:r>
              <a:rPr lang="en-US" sz="1100" b="1" dirty="0">
                <a:solidFill>
                  <a:srgbClr val="4F00E9"/>
                </a:solidFill>
                <a:latin typeface="Arial"/>
                <a:cs typeface="Arial"/>
              </a:rPr>
              <a:t>TRIAL-LEVEL SUMMARY</a:t>
            </a:r>
          </a:p>
        </p:txBody>
      </p:sp>
      <p:sp>
        <p:nvSpPr>
          <p:cNvPr id="17" name="arr_text">
            <a:extLst>
              <a:ext uri="{FF2B5EF4-FFF2-40B4-BE49-F238E27FC236}">
                <a16:creationId xmlns:a16="http://schemas.microsoft.com/office/drawing/2014/main" id="{5647D294-153A-F444-B94A-D653CCA9C08B}"/>
              </a:ext>
            </a:extLst>
          </p:cNvPr>
          <p:cNvSpPr txBox="1"/>
          <p:nvPr/>
        </p:nvSpPr>
        <p:spPr>
          <a:xfrm>
            <a:off x="1117600" y="2133600"/>
            <a:ext cx="1778000" cy="304800"/>
          </a:xfrm>
          <a:prstGeom prst="rect">
            <a:avLst/>
          </a:prstGeom>
          <a:noFill/>
        </p:spPr>
        <p:txBody>
          <a:bodyPr vertOverflow="overflow" vert="horz" wrap="square" rtlCol="0" anchor="t">
            <a:noAutofit/>
          </a:bodyPr>
          <a:lstStyle/>
          <a:p>
            <a:pPr algn="l"/>
            <a:r>
              <a:rPr lang="en-US" sz="1600" b="1" dirty="0">
                <a:solidFill>
                  <a:srgbClr val="16004B"/>
                </a:solidFill>
                <a:latin typeface="Arial"/>
                <a:cs typeface="Arial"/>
              </a:rPr>
              <a:t>ARR = 2%</a:t>
            </a:r>
          </a:p>
        </p:txBody>
      </p:sp>
      <p:sp>
        <p:nvSpPr>
          <p:cNvPr id="18" name="nnt_text">
            <a:extLst>
              <a:ext uri="{FF2B5EF4-FFF2-40B4-BE49-F238E27FC236}">
                <a16:creationId xmlns:a16="http://schemas.microsoft.com/office/drawing/2014/main" id="{3F34FDE2-1036-0F40-BBB1-CB5A036625FB}"/>
              </a:ext>
            </a:extLst>
          </p:cNvPr>
          <p:cNvSpPr txBox="1"/>
          <p:nvPr/>
        </p:nvSpPr>
        <p:spPr>
          <a:xfrm>
            <a:off x="1117600" y="2565400"/>
            <a:ext cx="1778000" cy="330200"/>
          </a:xfrm>
          <a:prstGeom prst="rect">
            <a:avLst/>
          </a:prstGeom>
          <a:noFill/>
        </p:spPr>
        <p:txBody>
          <a:bodyPr vertOverflow="overflow" vert="horz" wrap="square" rtlCol="0" anchor="t">
            <a:noAutofit/>
          </a:bodyPr>
          <a:lstStyle/>
          <a:p>
            <a:pPr algn="l"/>
            <a:r>
              <a:rPr lang="en-US" sz="1600" b="1">
                <a:solidFill>
                  <a:srgbClr val="4F00E9"/>
                </a:solidFill>
                <a:latin typeface="Arial"/>
                <a:cs typeface="Arial"/>
              </a:rPr>
              <a:t>NNT = 50</a:t>
            </a:r>
          </a:p>
        </p:txBody>
      </p:sp>
      <p:sp>
        <p:nvSpPr>
          <p:cNvPr id="19" name="cer_text">
            <a:extLst>
              <a:ext uri="{FF2B5EF4-FFF2-40B4-BE49-F238E27FC236}">
                <a16:creationId xmlns:a16="http://schemas.microsoft.com/office/drawing/2014/main" id="{04A8EC6E-D6FB-7A4A-9AD5-40E412F3A6A4}"/>
              </a:ext>
            </a:extLst>
          </p:cNvPr>
          <p:cNvSpPr txBox="1"/>
          <p:nvPr/>
        </p:nvSpPr>
        <p:spPr>
          <a:xfrm>
            <a:off x="1092200" y="3048000"/>
            <a:ext cx="1841500" cy="177800"/>
          </a:xfrm>
          <a:prstGeom prst="rect">
            <a:avLst/>
          </a:prstGeom>
          <a:noFill/>
        </p:spPr>
        <p:txBody>
          <a:bodyPr vertOverflow="overflow" vert="horz" wrap="square" rtlCol="0" anchor="t">
            <a:noAutofit/>
          </a:bodyPr>
          <a:lstStyle/>
          <a:p>
            <a:pPr algn="l"/>
            <a:r>
              <a:rPr lang="en-US" sz="1600">
                <a:solidFill>
                  <a:srgbClr val="5B5277"/>
                </a:solidFill>
                <a:latin typeface="Arial"/>
                <a:cs typeface="Arial"/>
              </a:rPr>
              <a:t>Control 10% → treatment 8%</a:t>
            </a:r>
          </a:p>
        </p:txBody>
      </p:sp>
      <p:sp>
        <p:nvSpPr>
          <p:cNvPr id="20" name="division_label">
            <a:extLst>
              <a:ext uri="{FF2B5EF4-FFF2-40B4-BE49-F238E27FC236}">
                <a16:creationId xmlns:a16="http://schemas.microsoft.com/office/drawing/2014/main" id="{6D3D1A0B-AD77-DC4C-8C50-2328B653E1B8}"/>
              </a:ext>
            </a:extLst>
          </p:cNvPr>
          <p:cNvSpPr txBox="1"/>
          <p:nvPr/>
        </p:nvSpPr>
        <p:spPr>
          <a:xfrm>
            <a:off x="3632200" y="1320800"/>
            <a:ext cx="4572000" cy="203200"/>
          </a:xfrm>
          <a:prstGeom prst="rect">
            <a:avLst/>
          </a:prstGeom>
          <a:noFill/>
        </p:spPr>
        <p:txBody>
          <a:bodyPr vertOverflow="overflow" vert="horz" wrap="square" rtlCol="0" anchor="t">
            <a:noAutofit/>
          </a:bodyPr>
          <a:lstStyle/>
          <a:p>
            <a:pPr algn="l"/>
            <a:endParaRPr lang="en-US" sz="1300" b="1" dirty="0">
              <a:solidFill>
                <a:srgbClr val="16004B"/>
              </a:solidFill>
              <a:latin typeface="Arial"/>
              <a:cs typeface="Arial"/>
            </a:endParaRPr>
          </a:p>
        </p:txBody>
      </p:sp>
      <p:sp>
        <p:nvSpPr>
          <p:cNvPr id="21" name="row_0">
            <a:extLst>
              <a:ext uri="{FF2B5EF4-FFF2-40B4-BE49-F238E27FC236}">
                <a16:creationId xmlns:a16="http://schemas.microsoft.com/office/drawing/2014/main" id="{6E44E4F1-91E1-A34C-9363-F7A2B962E392}"/>
              </a:ext>
            </a:extLst>
          </p:cNvPr>
          <p:cNvSpPr/>
          <p:nvPr/>
        </p:nvSpPr>
        <p:spPr>
          <a:xfrm>
            <a:off x="3632200" y="1574800"/>
            <a:ext cx="4318000" cy="6858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2" name="risk_marker_0">
            <a:extLst>
              <a:ext uri="{FF2B5EF4-FFF2-40B4-BE49-F238E27FC236}">
                <a16:creationId xmlns:a16="http://schemas.microsoft.com/office/drawing/2014/main" id="{C179264F-DC69-FA4D-9F90-9E0417CA6D00}"/>
              </a:ext>
            </a:extLst>
          </p:cNvPr>
          <p:cNvSpPr/>
          <p:nvPr/>
        </p:nvSpPr>
        <p:spPr>
          <a:xfrm>
            <a:off x="3759200" y="1803400"/>
            <a:ext cx="114300" cy="228600"/>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3" name="row_label_0">
            <a:extLst>
              <a:ext uri="{FF2B5EF4-FFF2-40B4-BE49-F238E27FC236}">
                <a16:creationId xmlns:a16="http://schemas.microsoft.com/office/drawing/2014/main" id="{1177786C-B6FA-B842-BB48-8EA1909EFC2A}"/>
              </a:ext>
            </a:extLst>
          </p:cNvPr>
          <p:cNvSpPr txBox="1"/>
          <p:nvPr/>
        </p:nvSpPr>
        <p:spPr>
          <a:xfrm>
            <a:off x="4064000" y="1651000"/>
            <a:ext cx="1905000" cy="177800"/>
          </a:xfrm>
          <a:prstGeom prst="rect">
            <a:avLst/>
          </a:prstGeom>
          <a:noFill/>
        </p:spPr>
        <p:txBody>
          <a:bodyPr vertOverflow="overflow" vert="horz" wrap="square" rtlCol="0" anchor="t">
            <a:noAutofit/>
          </a:bodyPr>
          <a:lstStyle/>
          <a:p>
            <a:pPr algn="l"/>
            <a:r>
              <a:rPr lang="en-US" sz="1200" b="1">
                <a:solidFill>
                  <a:srgbClr val="16004B"/>
                </a:solidFill>
                <a:latin typeface="Arial"/>
                <a:cs typeface="Arial"/>
              </a:rPr>
              <a:t>Lower-risk patients</a:t>
            </a:r>
          </a:p>
        </p:txBody>
      </p:sp>
      <p:sp>
        <p:nvSpPr>
          <p:cNvPr id="24" name="row_text_0">
            <a:extLst>
              <a:ext uri="{FF2B5EF4-FFF2-40B4-BE49-F238E27FC236}">
                <a16:creationId xmlns:a16="http://schemas.microsoft.com/office/drawing/2014/main" id="{CD6B282A-B0CC-4549-8B2B-1F6CC7D4C031}"/>
              </a:ext>
            </a:extLst>
          </p:cNvPr>
          <p:cNvSpPr txBox="1"/>
          <p:nvPr/>
        </p:nvSpPr>
        <p:spPr>
          <a:xfrm>
            <a:off x="4064000" y="1879600"/>
            <a:ext cx="3683000" cy="279400"/>
          </a:xfrm>
          <a:prstGeom prst="rect">
            <a:avLst/>
          </a:prstGeom>
          <a:noFill/>
        </p:spPr>
        <p:txBody>
          <a:bodyPr vertOverflow="overflow" vert="horz" wrap="square" rtlCol="0" anchor="t">
            <a:noAutofit/>
          </a:bodyPr>
          <a:lstStyle/>
          <a:p>
            <a:pPr algn="l"/>
            <a:r>
              <a:rPr lang="en-US" sz="1100" dirty="0">
                <a:solidFill>
                  <a:srgbClr val="5B5277"/>
                </a:solidFill>
                <a:latin typeface="Arial"/>
                <a:cs typeface="Arial"/>
              </a:rPr>
              <a:t>Low baseline risk → smaller expected absolute benefit</a:t>
            </a:r>
          </a:p>
        </p:txBody>
      </p:sp>
      <p:sp>
        <p:nvSpPr>
          <p:cNvPr id="25" name="row_1">
            <a:extLst>
              <a:ext uri="{FF2B5EF4-FFF2-40B4-BE49-F238E27FC236}">
                <a16:creationId xmlns:a16="http://schemas.microsoft.com/office/drawing/2014/main" id="{F63579C1-08DA-4744-970D-BDB29A17FCC4}"/>
              </a:ext>
            </a:extLst>
          </p:cNvPr>
          <p:cNvSpPr/>
          <p:nvPr/>
        </p:nvSpPr>
        <p:spPr>
          <a:xfrm>
            <a:off x="3632200" y="2362200"/>
            <a:ext cx="4318000" cy="6858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6" name="risk_marker_1">
            <a:extLst>
              <a:ext uri="{FF2B5EF4-FFF2-40B4-BE49-F238E27FC236}">
                <a16:creationId xmlns:a16="http://schemas.microsoft.com/office/drawing/2014/main" id="{9F0695C9-2D0F-C342-BC4C-E32236B13A5E}"/>
              </a:ext>
            </a:extLst>
          </p:cNvPr>
          <p:cNvSpPr/>
          <p:nvPr/>
        </p:nvSpPr>
        <p:spPr>
          <a:xfrm>
            <a:off x="3759200" y="2590800"/>
            <a:ext cx="241300" cy="228600"/>
          </a:xfrm>
          <a:prstGeom prst="rect">
            <a:avLst/>
          </a:prstGeom>
          <a:solidFill>
            <a:srgbClr val="F28E2B"/>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7" name="row_label_1">
            <a:extLst>
              <a:ext uri="{FF2B5EF4-FFF2-40B4-BE49-F238E27FC236}">
                <a16:creationId xmlns:a16="http://schemas.microsoft.com/office/drawing/2014/main" id="{75E50DAD-68D7-9840-8FA2-019B07BEB12C}"/>
              </a:ext>
            </a:extLst>
          </p:cNvPr>
          <p:cNvSpPr txBox="1"/>
          <p:nvPr/>
        </p:nvSpPr>
        <p:spPr>
          <a:xfrm>
            <a:off x="4064000" y="2438400"/>
            <a:ext cx="2747766" cy="279400"/>
          </a:xfrm>
          <a:prstGeom prst="rect">
            <a:avLst/>
          </a:prstGeom>
          <a:noFill/>
        </p:spPr>
        <p:txBody>
          <a:bodyPr vertOverflow="overflow" vert="horz" wrap="square" rtlCol="0" anchor="t">
            <a:noAutofit/>
          </a:bodyPr>
          <a:lstStyle/>
          <a:p>
            <a:pPr algn="l"/>
            <a:r>
              <a:rPr lang="en-US" sz="1200" b="1" dirty="0">
                <a:solidFill>
                  <a:srgbClr val="16004B"/>
                </a:solidFill>
                <a:latin typeface="Arial"/>
                <a:cs typeface="Arial"/>
              </a:rPr>
              <a:t>Trial average baseline risk</a:t>
            </a:r>
          </a:p>
        </p:txBody>
      </p:sp>
      <p:sp>
        <p:nvSpPr>
          <p:cNvPr id="28" name="row_text_1">
            <a:extLst>
              <a:ext uri="{FF2B5EF4-FFF2-40B4-BE49-F238E27FC236}">
                <a16:creationId xmlns:a16="http://schemas.microsoft.com/office/drawing/2014/main" id="{C7A31D38-12B5-D448-8AB7-078299E478A0}"/>
              </a:ext>
            </a:extLst>
          </p:cNvPr>
          <p:cNvSpPr txBox="1"/>
          <p:nvPr/>
        </p:nvSpPr>
        <p:spPr>
          <a:xfrm>
            <a:off x="4064000" y="2667000"/>
            <a:ext cx="3683000" cy="279400"/>
          </a:xfrm>
          <a:prstGeom prst="rect">
            <a:avLst/>
          </a:prstGeom>
          <a:noFill/>
        </p:spPr>
        <p:txBody>
          <a:bodyPr vertOverflow="overflow" vert="horz" wrap="square" rtlCol="0" anchor="t">
            <a:noAutofit/>
          </a:bodyPr>
          <a:lstStyle/>
          <a:p>
            <a:pPr algn="l"/>
            <a:r>
              <a:rPr lang="en-US" sz="1100" dirty="0">
                <a:solidFill>
                  <a:srgbClr val="5B5277"/>
                </a:solidFill>
                <a:latin typeface="Arial"/>
                <a:cs typeface="Arial"/>
              </a:rPr>
              <a:t>ARR/NNT applies to this patient</a:t>
            </a:r>
          </a:p>
        </p:txBody>
      </p:sp>
      <p:sp>
        <p:nvSpPr>
          <p:cNvPr id="29" name="row_2">
            <a:extLst>
              <a:ext uri="{FF2B5EF4-FFF2-40B4-BE49-F238E27FC236}">
                <a16:creationId xmlns:a16="http://schemas.microsoft.com/office/drawing/2014/main" id="{691DC579-2184-C845-B67D-5BDAC7E04F46}"/>
              </a:ext>
            </a:extLst>
          </p:cNvPr>
          <p:cNvSpPr/>
          <p:nvPr/>
        </p:nvSpPr>
        <p:spPr>
          <a:xfrm>
            <a:off x="3632200" y="3149600"/>
            <a:ext cx="4318000" cy="6858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0" name="risk_marker_2">
            <a:extLst>
              <a:ext uri="{FF2B5EF4-FFF2-40B4-BE49-F238E27FC236}">
                <a16:creationId xmlns:a16="http://schemas.microsoft.com/office/drawing/2014/main" id="{3452AC50-650D-7C48-A9C0-EB6CBC04286D}"/>
              </a:ext>
            </a:extLst>
          </p:cNvPr>
          <p:cNvSpPr/>
          <p:nvPr/>
        </p:nvSpPr>
        <p:spPr>
          <a:xfrm>
            <a:off x="3759200" y="3378200"/>
            <a:ext cx="368300" cy="228600"/>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1" name="row_label_2">
            <a:extLst>
              <a:ext uri="{FF2B5EF4-FFF2-40B4-BE49-F238E27FC236}">
                <a16:creationId xmlns:a16="http://schemas.microsoft.com/office/drawing/2014/main" id="{A5AFEF54-004D-A34B-87A6-E027323871E6}"/>
              </a:ext>
            </a:extLst>
          </p:cNvPr>
          <p:cNvSpPr txBox="1"/>
          <p:nvPr/>
        </p:nvSpPr>
        <p:spPr>
          <a:xfrm>
            <a:off x="4064000" y="3225800"/>
            <a:ext cx="1905000" cy="177800"/>
          </a:xfrm>
          <a:prstGeom prst="rect">
            <a:avLst/>
          </a:prstGeom>
          <a:noFill/>
        </p:spPr>
        <p:txBody>
          <a:bodyPr vertOverflow="overflow" vert="horz" wrap="square" rtlCol="0" anchor="t">
            <a:noAutofit/>
          </a:bodyPr>
          <a:lstStyle/>
          <a:p>
            <a:pPr algn="l"/>
            <a:r>
              <a:rPr lang="en-US" sz="1200" b="1">
                <a:solidFill>
                  <a:srgbClr val="16004B"/>
                </a:solidFill>
                <a:latin typeface="Arial"/>
                <a:cs typeface="Arial"/>
              </a:rPr>
              <a:t>Higher-risk patients</a:t>
            </a:r>
          </a:p>
        </p:txBody>
      </p:sp>
      <p:sp>
        <p:nvSpPr>
          <p:cNvPr id="32" name="row_text_2">
            <a:extLst>
              <a:ext uri="{FF2B5EF4-FFF2-40B4-BE49-F238E27FC236}">
                <a16:creationId xmlns:a16="http://schemas.microsoft.com/office/drawing/2014/main" id="{971FE198-3E54-E748-AB0B-3BE3E0D1CA57}"/>
              </a:ext>
            </a:extLst>
          </p:cNvPr>
          <p:cNvSpPr txBox="1"/>
          <p:nvPr/>
        </p:nvSpPr>
        <p:spPr>
          <a:xfrm>
            <a:off x="4064000" y="3454400"/>
            <a:ext cx="3683000" cy="279400"/>
          </a:xfrm>
          <a:prstGeom prst="rect">
            <a:avLst/>
          </a:prstGeom>
          <a:noFill/>
        </p:spPr>
        <p:txBody>
          <a:bodyPr vertOverflow="overflow" vert="horz" wrap="square" rtlCol="0" anchor="t">
            <a:noAutofit/>
          </a:bodyPr>
          <a:lstStyle/>
          <a:p>
            <a:pPr algn="l"/>
            <a:r>
              <a:rPr lang="en-US" sz="1100" dirty="0">
                <a:solidFill>
                  <a:srgbClr val="5B5277"/>
                </a:solidFill>
                <a:latin typeface="Arial"/>
                <a:cs typeface="Arial"/>
              </a:rPr>
              <a:t>High baseline risk → larger expected absolute benefit</a:t>
            </a:r>
          </a:p>
        </p:txBody>
      </p:sp>
      <p:sp>
        <p:nvSpPr>
          <p:cNvPr id="33" name="bottom_takeaway">
            <a:extLst>
              <a:ext uri="{FF2B5EF4-FFF2-40B4-BE49-F238E27FC236}">
                <a16:creationId xmlns:a16="http://schemas.microsoft.com/office/drawing/2014/main" id="{35E9BAC6-2546-1446-9C85-F911F5A6C63F}"/>
              </a:ext>
            </a:extLst>
          </p:cNvPr>
          <p:cNvSpPr/>
          <p:nvPr/>
        </p:nvSpPr>
        <p:spPr>
          <a:xfrm>
            <a:off x="889000" y="4089400"/>
            <a:ext cx="7061200" cy="431800"/>
          </a:xfrm>
          <a:prstGeom prst="rect">
            <a:avLst/>
          </a:prstGeom>
          <a:solidFill>
            <a:srgbClr val="FFF2F1"/>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4" name="takeaway_text">
            <a:extLst>
              <a:ext uri="{FF2B5EF4-FFF2-40B4-BE49-F238E27FC236}">
                <a16:creationId xmlns:a16="http://schemas.microsoft.com/office/drawing/2014/main" id="{CB804F5B-7F59-8646-BE5F-BE61DC1EE91B}"/>
              </a:ext>
            </a:extLst>
          </p:cNvPr>
          <p:cNvSpPr txBox="1"/>
          <p:nvPr/>
        </p:nvSpPr>
        <p:spPr>
          <a:xfrm>
            <a:off x="1155700" y="4191000"/>
            <a:ext cx="6527800" cy="228600"/>
          </a:xfrm>
          <a:prstGeom prst="rect">
            <a:avLst/>
          </a:prstGeom>
          <a:noFill/>
        </p:spPr>
        <p:txBody>
          <a:bodyPr vertOverflow="overflow" vert="horz" wrap="square" rtlCol="0" anchor="t">
            <a:noAutofit/>
          </a:bodyPr>
          <a:lstStyle/>
          <a:p>
            <a:pPr algn="l"/>
            <a:r>
              <a:rPr lang="en-US" sz="1600" b="1" dirty="0">
                <a:solidFill>
                  <a:srgbClr val="FF5A5F"/>
                </a:solidFill>
                <a:latin typeface="Arial"/>
                <a:cs typeface="Arial"/>
              </a:rPr>
              <a:t>For individuals, expected benefit on absolute scale matters</a:t>
            </a:r>
          </a:p>
        </p:txBody>
      </p:sp>
    </p:spTree>
    <p:extLst>
      <p:ext uri="{BB962C8B-B14F-4D97-AF65-F5344CB8AC3E}">
        <p14:creationId xmlns:p14="http://schemas.microsoft.com/office/powerpoint/2010/main" val="22106109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anvas">
            <a:extLst>
              <a:ext uri="{FF2B5EF4-FFF2-40B4-BE49-F238E27FC236}">
                <a16:creationId xmlns:a16="http://schemas.microsoft.com/office/drawing/2014/main" id="{B24E811B-CB37-0E45-88E6-886020B9B8DB}"/>
              </a:ext>
            </a:extLst>
          </p:cNvPr>
          <p:cNvSpPr/>
          <p:nvPr/>
        </p:nvSpPr>
        <p:spPr>
          <a:xfrm>
            <a:off x="0" y="0"/>
            <a:ext cx="9144000" cy="5143500"/>
          </a:xfrm>
          <a:prstGeom prst="rect">
            <a:avLst/>
          </a:prstGeom>
          <a:solidFill>
            <a:srgbClr val="FFFFFF"/>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2" name="left_rail">
            <a:extLst>
              <a:ext uri="{FF2B5EF4-FFF2-40B4-BE49-F238E27FC236}">
                <a16:creationId xmlns:a16="http://schemas.microsoft.com/office/drawing/2014/main" id="{EA01670F-72D8-1047-838F-E9028BED9367}"/>
              </a:ext>
            </a:extLst>
          </p:cNvPr>
          <p:cNvSpPr/>
          <p:nvPr/>
        </p:nvSpPr>
        <p:spPr>
          <a:xfrm>
            <a:off x="368300" y="736600"/>
            <a:ext cx="57150" cy="3644900"/>
          </a:xfrm>
          <a:prstGeom prst="rect">
            <a:avLst/>
          </a:prstGeom>
          <a:solidFill>
            <a:srgbClr val="4F00E9"/>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3" name="kicker">
            <a:extLst>
              <a:ext uri="{FF2B5EF4-FFF2-40B4-BE49-F238E27FC236}">
                <a16:creationId xmlns:a16="http://schemas.microsoft.com/office/drawing/2014/main" id="{053AED22-741E-0648-AC79-C89867DFF662}"/>
              </a:ext>
            </a:extLst>
          </p:cNvPr>
          <p:cNvSpPr txBox="1"/>
          <p:nvPr/>
        </p:nvSpPr>
        <p:spPr>
          <a:xfrm>
            <a:off x="609600" y="355600"/>
            <a:ext cx="2794000" cy="165100"/>
          </a:xfrm>
          <a:prstGeom prst="rect">
            <a:avLst/>
          </a:prstGeom>
          <a:noFill/>
        </p:spPr>
        <p:txBody>
          <a:bodyPr vertOverflow="overflow" vert="horz" wrap="square" rtlCol="0" anchor="t">
            <a:noAutofit/>
          </a:bodyPr>
          <a:lstStyle/>
          <a:p>
            <a:pPr algn="l"/>
            <a:r>
              <a:rPr lang="en-US" sz="1100" b="1">
                <a:solidFill>
                  <a:srgbClr val="4A00E2"/>
                </a:solidFill>
                <a:latin typeface="Arial"/>
                <a:cs typeface="Arial"/>
              </a:rPr>
              <a:t>ACT | RISK-BASED TREATMENT</a:t>
            </a:r>
          </a:p>
        </p:txBody>
      </p:sp>
      <p:sp>
        <p:nvSpPr>
          <p:cNvPr id="44" name="title">
            <a:extLst>
              <a:ext uri="{FF2B5EF4-FFF2-40B4-BE49-F238E27FC236}">
                <a16:creationId xmlns:a16="http://schemas.microsoft.com/office/drawing/2014/main" id="{2C67AF98-7A4A-9B40-9891-40E6B33805AF}"/>
              </a:ext>
            </a:extLst>
          </p:cNvPr>
          <p:cNvSpPr txBox="1"/>
          <p:nvPr/>
        </p:nvSpPr>
        <p:spPr>
          <a:xfrm>
            <a:off x="609600" y="609600"/>
            <a:ext cx="8064500" cy="685800"/>
          </a:xfrm>
          <a:prstGeom prst="rect">
            <a:avLst/>
          </a:prstGeom>
          <a:noFill/>
        </p:spPr>
        <p:txBody>
          <a:bodyPr vertOverflow="overflow" vert="horz" wrap="square" rtlCol="0" anchor="t">
            <a:noAutofit/>
          </a:bodyPr>
          <a:lstStyle/>
          <a:p>
            <a:pPr algn="l"/>
            <a:r>
              <a:rPr lang="en-US" sz="2400" b="1" dirty="0">
                <a:solidFill>
                  <a:srgbClr val="110057"/>
                </a:solidFill>
                <a:latin typeface="Arial"/>
                <a:cs typeface="Arial"/>
              </a:rPr>
              <a:t>Relative effects are more stable across risk range</a:t>
            </a:r>
          </a:p>
        </p:txBody>
      </p:sp>
      <p:sp>
        <p:nvSpPr>
          <p:cNvPr id="47" name="hdr_0">
            <a:extLst>
              <a:ext uri="{FF2B5EF4-FFF2-40B4-BE49-F238E27FC236}">
                <a16:creationId xmlns:a16="http://schemas.microsoft.com/office/drawing/2014/main" id="{C9F2D5EA-2D88-2949-A5B4-66903089E07A}"/>
              </a:ext>
            </a:extLst>
          </p:cNvPr>
          <p:cNvSpPr/>
          <p:nvPr/>
        </p:nvSpPr>
        <p:spPr>
          <a:xfrm>
            <a:off x="914400" y="2260600"/>
            <a:ext cx="1625600" cy="355600"/>
          </a:xfrm>
          <a:prstGeom prst="rect">
            <a:avLst/>
          </a:prstGeom>
          <a:solidFill>
            <a:srgbClr val="4F00E9"/>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8" name="hdr_text_0">
            <a:extLst>
              <a:ext uri="{FF2B5EF4-FFF2-40B4-BE49-F238E27FC236}">
                <a16:creationId xmlns:a16="http://schemas.microsoft.com/office/drawing/2014/main" id="{3D1A1E59-4CBA-7441-AEEC-939720248E41}"/>
              </a:ext>
            </a:extLst>
          </p:cNvPr>
          <p:cNvSpPr txBox="1"/>
          <p:nvPr/>
        </p:nvSpPr>
        <p:spPr>
          <a:xfrm>
            <a:off x="1003300" y="2362200"/>
            <a:ext cx="1447800" cy="152400"/>
          </a:xfrm>
          <a:prstGeom prst="rect">
            <a:avLst/>
          </a:prstGeom>
          <a:noFill/>
        </p:spPr>
        <p:txBody>
          <a:bodyPr vertOverflow="overflow" vert="horz" wrap="square" rtlCol="0" anchor="t">
            <a:noAutofit/>
          </a:bodyPr>
          <a:lstStyle/>
          <a:p>
            <a:pPr algn="l"/>
            <a:r>
              <a:rPr lang="en-US" sz="1300" b="1">
                <a:solidFill>
                  <a:srgbClr val="FFFFFF"/>
                </a:solidFill>
                <a:latin typeface="Arial"/>
                <a:cs typeface="Arial"/>
              </a:rPr>
              <a:t>Baseline risk</a:t>
            </a:r>
          </a:p>
        </p:txBody>
      </p:sp>
      <p:sp>
        <p:nvSpPr>
          <p:cNvPr id="49" name="hdr_1">
            <a:extLst>
              <a:ext uri="{FF2B5EF4-FFF2-40B4-BE49-F238E27FC236}">
                <a16:creationId xmlns:a16="http://schemas.microsoft.com/office/drawing/2014/main" id="{49BD74B3-DF5D-4449-964A-7793B1BFA11C}"/>
              </a:ext>
            </a:extLst>
          </p:cNvPr>
          <p:cNvSpPr/>
          <p:nvPr/>
        </p:nvSpPr>
        <p:spPr>
          <a:xfrm>
            <a:off x="2540000" y="2260600"/>
            <a:ext cx="1295400" cy="355600"/>
          </a:xfrm>
          <a:prstGeom prst="rect">
            <a:avLst/>
          </a:prstGeom>
          <a:solidFill>
            <a:srgbClr val="4F00E9"/>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0" name="hdr_text_1">
            <a:extLst>
              <a:ext uri="{FF2B5EF4-FFF2-40B4-BE49-F238E27FC236}">
                <a16:creationId xmlns:a16="http://schemas.microsoft.com/office/drawing/2014/main" id="{6657581B-21AB-8E46-98A9-A5467DD36FF7}"/>
              </a:ext>
            </a:extLst>
          </p:cNvPr>
          <p:cNvSpPr txBox="1"/>
          <p:nvPr/>
        </p:nvSpPr>
        <p:spPr>
          <a:xfrm>
            <a:off x="2628900" y="2362200"/>
            <a:ext cx="1117600" cy="152400"/>
          </a:xfrm>
          <a:prstGeom prst="rect">
            <a:avLst/>
          </a:prstGeom>
          <a:noFill/>
        </p:spPr>
        <p:txBody>
          <a:bodyPr vertOverflow="overflow" vert="horz" wrap="square" rtlCol="0" anchor="t">
            <a:noAutofit/>
          </a:bodyPr>
          <a:lstStyle/>
          <a:p>
            <a:pPr algn="l"/>
            <a:r>
              <a:rPr lang="en-US" sz="1300" b="1">
                <a:solidFill>
                  <a:srgbClr val="FFFFFF"/>
                </a:solidFill>
                <a:latin typeface="Arial"/>
                <a:cs typeface="Arial"/>
              </a:rPr>
              <a:t>RR</a:t>
            </a:r>
          </a:p>
        </p:txBody>
      </p:sp>
      <p:sp>
        <p:nvSpPr>
          <p:cNvPr id="51" name="hdr_2">
            <a:extLst>
              <a:ext uri="{FF2B5EF4-FFF2-40B4-BE49-F238E27FC236}">
                <a16:creationId xmlns:a16="http://schemas.microsoft.com/office/drawing/2014/main" id="{AB8212FB-3605-5D49-98B9-B6813EC5EA63}"/>
              </a:ext>
            </a:extLst>
          </p:cNvPr>
          <p:cNvSpPr/>
          <p:nvPr/>
        </p:nvSpPr>
        <p:spPr>
          <a:xfrm>
            <a:off x="3835400" y="2260600"/>
            <a:ext cx="1524000" cy="355600"/>
          </a:xfrm>
          <a:prstGeom prst="rect">
            <a:avLst/>
          </a:prstGeom>
          <a:solidFill>
            <a:srgbClr val="4F00E9"/>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2" name="hdr_text_2">
            <a:extLst>
              <a:ext uri="{FF2B5EF4-FFF2-40B4-BE49-F238E27FC236}">
                <a16:creationId xmlns:a16="http://schemas.microsoft.com/office/drawing/2014/main" id="{9B8B989D-665E-9C4E-9E1D-B10D22BF9AC1}"/>
              </a:ext>
            </a:extLst>
          </p:cNvPr>
          <p:cNvSpPr txBox="1"/>
          <p:nvPr/>
        </p:nvSpPr>
        <p:spPr>
          <a:xfrm>
            <a:off x="3924300" y="2362200"/>
            <a:ext cx="1346200" cy="152400"/>
          </a:xfrm>
          <a:prstGeom prst="rect">
            <a:avLst/>
          </a:prstGeom>
          <a:noFill/>
        </p:spPr>
        <p:txBody>
          <a:bodyPr vertOverflow="overflow" vert="horz" wrap="square" rtlCol="0" anchor="t">
            <a:noAutofit/>
          </a:bodyPr>
          <a:lstStyle/>
          <a:p>
            <a:pPr algn="l"/>
            <a:r>
              <a:rPr lang="en-US" sz="1300" b="1">
                <a:solidFill>
                  <a:srgbClr val="FFFFFF"/>
                </a:solidFill>
                <a:latin typeface="Arial"/>
                <a:cs typeface="Arial"/>
              </a:rPr>
              <a:t>Treatment risk</a:t>
            </a:r>
          </a:p>
        </p:txBody>
      </p:sp>
      <p:sp>
        <p:nvSpPr>
          <p:cNvPr id="53" name="hdr_3">
            <a:extLst>
              <a:ext uri="{FF2B5EF4-FFF2-40B4-BE49-F238E27FC236}">
                <a16:creationId xmlns:a16="http://schemas.microsoft.com/office/drawing/2014/main" id="{979DAC5C-10E3-B34D-8093-E59C2DBCD7A9}"/>
              </a:ext>
            </a:extLst>
          </p:cNvPr>
          <p:cNvSpPr/>
          <p:nvPr/>
        </p:nvSpPr>
        <p:spPr>
          <a:xfrm>
            <a:off x="5359400" y="2260600"/>
            <a:ext cx="1270000" cy="355600"/>
          </a:xfrm>
          <a:prstGeom prst="rect">
            <a:avLst/>
          </a:prstGeom>
          <a:solidFill>
            <a:srgbClr val="4F00E9"/>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4" name="hdr_text_3">
            <a:extLst>
              <a:ext uri="{FF2B5EF4-FFF2-40B4-BE49-F238E27FC236}">
                <a16:creationId xmlns:a16="http://schemas.microsoft.com/office/drawing/2014/main" id="{A041EAF7-F36A-C747-96D3-C2AF1BDC65A5}"/>
              </a:ext>
            </a:extLst>
          </p:cNvPr>
          <p:cNvSpPr txBox="1"/>
          <p:nvPr/>
        </p:nvSpPr>
        <p:spPr>
          <a:xfrm>
            <a:off x="5448300" y="2362200"/>
            <a:ext cx="1092200" cy="152400"/>
          </a:xfrm>
          <a:prstGeom prst="rect">
            <a:avLst/>
          </a:prstGeom>
          <a:noFill/>
        </p:spPr>
        <p:txBody>
          <a:bodyPr vertOverflow="overflow" vert="horz" wrap="square" rtlCol="0" anchor="t">
            <a:noAutofit/>
          </a:bodyPr>
          <a:lstStyle/>
          <a:p>
            <a:pPr algn="l"/>
            <a:r>
              <a:rPr lang="en-US" sz="1300" b="1" dirty="0">
                <a:solidFill>
                  <a:srgbClr val="FFFFFF"/>
                </a:solidFill>
                <a:latin typeface="Arial"/>
                <a:cs typeface="Arial"/>
              </a:rPr>
              <a:t>ARR</a:t>
            </a:r>
          </a:p>
        </p:txBody>
      </p:sp>
      <p:sp>
        <p:nvSpPr>
          <p:cNvPr id="55" name="hdr_4">
            <a:extLst>
              <a:ext uri="{FF2B5EF4-FFF2-40B4-BE49-F238E27FC236}">
                <a16:creationId xmlns:a16="http://schemas.microsoft.com/office/drawing/2014/main" id="{3636F58D-76BE-E14B-885B-E276E1F6F584}"/>
              </a:ext>
            </a:extLst>
          </p:cNvPr>
          <p:cNvSpPr/>
          <p:nvPr/>
        </p:nvSpPr>
        <p:spPr>
          <a:xfrm>
            <a:off x="6629400" y="2260600"/>
            <a:ext cx="1168400" cy="355600"/>
          </a:xfrm>
          <a:prstGeom prst="rect">
            <a:avLst/>
          </a:prstGeom>
          <a:solidFill>
            <a:srgbClr val="4F00E9"/>
          </a:solidFill>
          <a:ln w="12700">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6" name="hdr_text_4">
            <a:extLst>
              <a:ext uri="{FF2B5EF4-FFF2-40B4-BE49-F238E27FC236}">
                <a16:creationId xmlns:a16="http://schemas.microsoft.com/office/drawing/2014/main" id="{367CC4AD-477F-1A41-899A-8FDF3CBC8185}"/>
              </a:ext>
            </a:extLst>
          </p:cNvPr>
          <p:cNvSpPr txBox="1"/>
          <p:nvPr/>
        </p:nvSpPr>
        <p:spPr>
          <a:xfrm>
            <a:off x="6718300" y="2362200"/>
            <a:ext cx="990600" cy="152400"/>
          </a:xfrm>
          <a:prstGeom prst="rect">
            <a:avLst/>
          </a:prstGeom>
          <a:noFill/>
        </p:spPr>
        <p:txBody>
          <a:bodyPr vertOverflow="overflow" vert="horz" wrap="square" rtlCol="0" anchor="t">
            <a:noAutofit/>
          </a:bodyPr>
          <a:lstStyle/>
          <a:p>
            <a:pPr algn="l"/>
            <a:r>
              <a:rPr lang="en-US" sz="1300" b="1">
                <a:solidFill>
                  <a:srgbClr val="FFFFFF"/>
                </a:solidFill>
                <a:latin typeface="Arial"/>
                <a:cs typeface="Arial"/>
              </a:rPr>
              <a:t>NNT</a:t>
            </a:r>
          </a:p>
        </p:txBody>
      </p:sp>
      <p:sp>
        <p:nvSpPr>
          <p:cNvPr id="57" name="cell_0_0">
            <a:extLst>
              <a:ext uri="{FF2B5EF4-FFF2-40B4-BE49-F238E27FC236}">
                <a16:creationId xmlns:a16="http://schemas.microsoft.com/office/drawing/2014/main" id="{900111AB-0869-1449-8DCC-0EDB6A7B557C}"/>
              </a:ext>
            </a:extLst>
          </p:cNvPr>
          <p:cNvSpPr/>
          <p:nvPr/>
        </p:nvSpPr>
        <p:spPr>
          <a:xfrm>
            <a:off x="914400" y="2616200"/>
            <a:ext cx="16256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8" name="cell_text_0_0">
            <a:extLst>
              <a:ext uri="{FF2B5EF4-FFF2-40B4-BE49-F238E27FC236}">
                <a16:creationId xmlns:a16="http://schemas.microsoft.com/office/drawing/2014/main" id="{77D33ACE-2DFC-344E-B515-F058B0E927A3}"/>
              </a:ext>
            </a:extLst>
          </p:cNvPr>
          <p:cNvSpPr txBox="1"/>
          <p:nvPr/>
        </p:nvSpPr>
        <p:spPr>
          <a:xfrm>
            <a:off x="1003300" y="2730500"/>
            <a:ext cx="1447800" cy="165100"/>
          </a:xfrm>
          <a:prstGeom prst="rect">
            <a:avLst/>
          </a:prstGeom>
          <a:noFill/>
        </p:spPr>
        <p:txBody>
          <a:bodyPr vertOverflow="overflow" vert="horz" wrap="square" rtlCol="0" anchor="t">
            <a:noAutofit/>
          </a:bodyPr>
          <a:lstStyle/>
          <a:p>
            <a:pPr algn="l"/>
            <a:r>
              <a:rPr lang="en-US" sz="1300" b="1">
                <a:solidFill>
                  <a:srgbClr val="16004B"/>
                </a:solidFill>
                <a:latin typeface="Arial"/>
                <a:cs typeface="Arial"/>
              </a:rPr>
              <a:t>4%</a:t>
            </a:r>
          </a:p>
        </p:txBody>
      </p:sp>
      <p:sp>
        <p:nvSpPr>
          <p:cNvPr id="59" name="cell_0_1">
            <a:extLst>
              <a:ext uri="{FF2B5EF4-FFF2-40B4-BE49-F238E27FC236}">
                <a16:creationId xmlns:a16="http://schemas.microsoft.com/office/drawing/2014/main" id="{592B95B4-6069-544E-A125-ED02DCE91088}"/>
              </a:ext>
            </a:extLst>
          </p:cNvPr>
          <p:cNvSpPr/>
          <p:nvPr/>
        </p:nvSpPr>
        <p:spPr>
          <a:xfrm>
            <a:off x="2540000" y="2616200"/>
            <a:ext cx="12954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0" name="cell_text_0_1">
            <a:extLst>
              <a:ext uri="{FF2B5EF4-FFF2-40B4-BE49-F238E27FC236}">
                <a16:creationId xmlns:a16="http://schemas.microsoft.com/office/drawing/2014/main" id="{2D58580C-4192-2348-B98D-D00ACCD5D6E7}"/>
              </a:ext>
            </a:extLst>
          </p:cNvPr>
          <p:cNvSpPr txBox="1"/>
          <p:nvPr/>
        </p:nvSpPr>
        <p:spPr>
          <a:xfrm>
            <a:off x="2628900" y="2730500"/>
            <a:ext cx="1117600" cy="165100"/>
          </a:xfrm>
          <a:prstGeom prst="rect">
            <a:avLst/>
          </a:prstGeom>
          <a:noFill/>
        </p:spPr>
        <p:txBody>
          <a:bodyPr vertOverflow="overflow" vert="horz" wrap="square" rtlCol="0" anchor="t">
            <a:noAutofit/>
          </a:bodyPr>
          <a:lstStyle/>
          <a:p>
            <a:pPr algn="l"/>
            <a:r>
              <a:rPr lang="en-US" sz="1300">
                <a:solidFill>
                  <a:srgbClr val="16004B"/>
                </a:solidFill>
                <a:latin typeface="Arial"/>
                <a:cs typeface="Arial"/>
              </a:rPr>
              <a:t>0.50</a:t>
            </a:r>
          </a:p>
        </p:txBody>
      </p:sp>
      <p:sp>
        <p:nvSpPr>
          <p:cNvPr id="61" name="cell_0_2">
            <a:extLst>
              <a:ext uri="{FF2B5EF4-FFF2-40B4-BE49-F238E27FC236}">
                <a16:creationId xmlns:a16="http://schemas.microsoft.com/office/drawing/2014/main" id="{B87C6D9F-08F6-6C49-B72D-12C9A4AAC83A}"/>
              </a:ext>
            </a:extLst>
          </p:cNvPr>
          <p:cNvSpPr/>
          <p:nvPr/>
        </p:nvSpPr>
        <p:spPr>
          <a:xfrm>
            <a:off x="3835400" y="2616200"/>
            <a:ext cx="15240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2" name="cell_text_0_2">
            <a:extLst>
              <a:ext uri="{FF2B5EF4-FFF2-40B4-BE49-F238E27FC236}">
                <a16:creationId xmlns:a16="http://schemas.microsoft.com/office/drawing/2014/main" id="{24CFF808-C6AE-D646-8138-9D83124C3364}"/>
              </a:ext>
            </a:extLst>
          </p:cNvPr>
          <p:cNvSpPr txBox="1"/>
          <p:nvPr/>
        </p:nvSpPr>
        <p:spPr>
          <a:xfrm>
            <a:off x="3924300" y="2730500"/>
            <a:ext cx="1346200" cy="165100"/>
          </a:xfrm>
          <a:prstGeom prst="rect">
            <a:avLst/>
          </a:prstGeom>
          <a:noFill/>
        </p:spPr>
        <p:txBody>
          <a:bodyPr vertOverflow="overflow" vert="horz" wrap="square" rtlCol="0" anchor="t">
            <a:noAutofit/>
          </a:bodyPr>
          <a:lstStyle/>
          <a:p>
            <a:pPr algn="l"/>
            <a:r>
              <a:rPr lang="en-US" sz="1300">
                <a:solidFill>
                  <a:srgbClr val="16004B"/>
                </a:solidFill>
                <a:latin typeface="Arial"/>
                <a:cs typeface="Arial"/>
              </a:rPr>
              <a:t>2%</a:t>
            </a:r>
          </a:p>
        </p:txBody>
      </p:sp>
      <p:sp>
        <p:nvSpPr>
          <p:cNvPr id="63" name="cell_0_3">
            <a:extLst>
              <a:ext uri="{FF2B5EF4-FFF2-40B4-BE49-F238E27FC236}">
                <a16:creationId xmlns:a16="http://schemas.microsoft.com/office/drawing/2014/main" id="{19D0093A-5203-804A-B542-1829E9EA7959}"/>
              </a:ext>
            </a:extLst>
          </p:cNvPr>
          <p:cNvSpPr/>
          <p:nvPr/>
        </p:nvSpPr>
        <p:spPr>
          <a:xfrm>
            <a:off x="5359400" y="2616200"/>
            <a:ext cx="12700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4" name="cell_text_0_3">
            <a:extLst>
              <a:ext uri="{FF2B5EF4-FFF2-40B4-BE49-F238E27FC236}">
                <a16:creationId xmlns:a16="http://schemas.microsoft.com/office/drawing/2014/main" id="{654165C1-2378-A64C-A8FA-101FB78A614A}"/>
              </a:ext>
            </a:extLst>
          </p:cNvPr>
          <p:cNvSpPr txBox="1"/>
          <p:nvPr/>
        </p:nvSpPr>
        <p:spPr>
          <a:xfrm>
            <a:off x="5448300" y="2730500"/>
            <a:ext cx="1092200" cy="165100"/>
          </a:xfrm>
          <a:prstGeom prst="rect">
            <a:avLst/>
          </a:prstGeom>
          <a:noFill/>
        </p:spPr>
        <p:txBody>
          <a:bodyPr vertOverflow="overflow" vert="horz" wrap="square" rtlCol="0" anchor="t">
            <a:noAutofit/>
          </a:bodyPr>
          <a:lstStyle/>
          <a:p>
            <a:pPr algn="l"/>
            <a:r>
              <a:rPr lang="en-US" sz="1300" b="1">
                <a:solidFill>
                  <a:srgbClr val="16004B"/>
                </a:solidFill>
                <a:latin typeface="Arial"/>
                <a:cs typeface="Arial"/>
              </a:rPr>
              <a:t>2%</a:t>
            </a:r>
          </a:p>
        </p:txBody>
      </p:sp>
      <p:sp>
        <p:nvSpPr>
          <p:cNvPr id="65" name="cell_0_4">
            <a:extLst>
              <a:ext uri="{FF2B5EF4-FFF2-40B4-BE49-F238E27FC236}">
                <a16:creationId xmlns:a16="http://schemas.microsoft.com/office/drawing/2014/main" id="{8AE0F589-3817-0541-8397-F9440C0AB389}"/>
              </a:ext>
            </a:extLst>
          </p:cNvPr>
          <p:cNvSpPr/>
          <p:nvPr/>
        </p:nvSpPr>
        <p:spPr>
          <a:xfrm>
            <a:off x="6629400" y="2616200"/>
            <a:ext cx="11684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6" name="cell_text_0_4">
            <a:extLst>
              <a:ext uri="{FF2B5EF4-FFF2-40B4-BE49-F238E27FC236}">
                <a16:creationId xmlns:a16="http://schemas.microsoft.com/office/drawing/2014/main" id="{C8AA806C-838F-274E-8D45-34DAA2597BB5}"/>
              </a:ext>
            </a:extLst>
          </p:cNvPr>
          <p:cNvSpPr txBox="1"/>
          <p:nvPr/>
        </p:nvSpPr>
        <p:spPr>
          <a:xfrm>
            <a:off x="6718300" y="2730500"/>
            <a:ext cx="990600" cy="165100"/>
          </a:xfrm>
          <a:prstGeom prst="rect">
            <a:avLst/>
          </a:prstGeom>
          <a:noFill/>
        </p:spPr>
        <p:txBody>
          <a:bodyPr vertOverflow="overflow" vert="horz" wrap="square" rtlCol="0" anchor="t">
            <a:noAutofit/>
          </a:bodyPr>
          <a:lstStyle/>
          <a:p>
            <a:pPr algn="l"/>
            <a:r>
              <a:rPr lang="en-US" sz="1300" b="1">
                <a:solidFill>
                  <a:srgbClr val="4F00E9"/>
                </a:solidFill>
                <a:latin typeface="Arial"/>
                <a:cs typeface="Arial"/>
              </a:rPr>
              <a:t>50</a:t>
            </a:r>
          </a:p>
        </p:txBody>
      </p:sp>
      <p:sp>
        <p:nvSpPr>
          <p:cNvPr id="67" name="cell_1_0">
            <a:extLst>
              <a:ext uri="{FF2B5EF4-FFF2-40B4-BE49-F238E27FC236}">
                <a16:creationId xmlns:a16="http://schemas.microsoft.com/office/drawing/2014/main" id="{A54E73B9-1892-2A4B-9B29-07E78A6535BF}"/>
              </a:ext>
            </a:extLst>
          </p:cNvPr>
          <p:cNvSpPr/>
          <p:nvPr/>
        </p:nvSpPr>
        <p:spPr>
          <a:xfrm>
            <a:off x="914400" y="3022600"/>
            <a:ext cx="1625600" cy="4064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68" name="cell_text_1_0">
            <a:extLst>
              <a:ext uri="{FF2B5EF4-FFF2-40B4-BE49-F238E27FC236}">
                <a16:creationId xmlns:a16="http://schemas.microsoft.com/office/drawing/2014/main" id="{E4264F12-234F-394A-9DF5-09D91D680209}"/>
              </a:ext>
            </a:extLst>
          </p:cNvPr>
          <p:cNvSpPr txBox="1"/>
          <p:nvPr/>
        </p:nvSpPr>
        <p:spPr>
          <a:xfrm>
            <a:off x="1003300" y="3136900"/>
            <a:ext cx="1447800" cy="165100"/>
          </a:xfrm>
          <a:prstGeom prst="rect">
            <a:avLst/>
          </a:prstGeom>
          <a:noFill/>
        </p:spPr>
        <p:txBody>
          <a:bodyPr vertOverflow="overflow" vert="horz" wrap="square" rtlCol="0" anchor="t">
            <a:noAutofit/>
          </a:bodyPr>
          <a:lstStyle/>
          <a:p>
            <a:pPr algn="l"/>
            <a:r>
              <a:rPr lang="en-US" sz="1300" b="1">
                <a:solidFill>
                  <a:srgbClr val="16004B"/>
                </a:solidFill>
                <a:latin typeface="Arial"/>
                <a:cs typeface="Arial"/>
              </a:rPr>
              <a:t>10%</a:t>
            </a:r>
          </a:p>
        </p:txBody>
      </p:sp>
      <p:sp>
        <p:nvSpPr>
          <p:cNvPr id="69" name="cell_1_1">
            <a:extLst>
              <a:ext uri="{FF2B5EF4-FFF2-40B4-BE49-F238E27FC236}">
                <a16:creationId xmlns:a16="http://schemas.microsoft.com/office/drawing/2014/main" id="{846F4CA7-83DB-E44F-A657-E5C6A4001F62}"/>
              </a:ext>
            </a:extLst>
          </p:cNvPr>
          <p:cNvSpPr/>
          <p:nvPr/>
        </p:nvSpPr>
        <p:spPr>
          <a:xfrm>
            <a:off x="2540000" y="3022600"/>
            <a:ext cx="1295400" cy="4064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0" name="cell_text_1_1">
            <a:extLst>
              <a:ext uri="{FF2B5EF4-FFF2-40B4-BE49-F238E27FC236}">
                <a16:creationId xmlns:a16="http://schemas.microsoft.com/office/drawing/2014/main" id="{7F9E692F-3A97-BD48-A491-DCBEF9451B22}"/>
              </a:ext>
            </a:extLst>
          </p:cNvPr>
          <p:cNvSpPr txBox="1"/>
          <p:nvPr/>
        </p:nvSpPr>
        <p:spPr>
          <a:xfrm>
            <a:off x="2628900" y="3136900"/>
            <a:ext cx="1117600" cy="165100"/>
          </a:xfrm>
          <a:prstGeom prst="rect">
            <a:avLst/>
          </a:prstGeom>
          <a:noFill/>
        </p:spPr>
        <p:txBody>
          <a:bodyPr vertOverflow="overflow" vert="horz" wrap="square" rtlCol="0" anchor="t">
            <a:noAutofit/>
          </a:bodyPr>
          <a:lstStyle/>
          <a:p>
            <a:pPr algn="l"/>
            <a:r>
              <a:rPr lang="en-US" sz="1300">
                <a:solidFill>
                  <a:srgbClr val="16004B"/>
                </a:solidFill>
                <a:latin typeface="Arial"/>
                <a:cs typeface="Arial"/>
              </a:rPr>
              <a:t>0.50</a:t>
            </a:r>
          </a:p>
        </p:txBody>
      </p:sp>
      <p:sp>
        <p:nvSpPr>
          <p:cNvPr id="71" name="cell_1_2">
            <a:extLst>
              <a:ext uri="{FF2B5EF4-FFF2-40B4-BE49-F238E27FC236}">
                <a16:creationId xmlns:a16="http://schemas.microsoft.com/office/drawing/2014/main" id="{23458B73-922D-D04F-938D-66B00BCD445F}"/>
              </a:ext>
            </a:extLst>
          </p:cNvPr>
          <p:cNvSpPr/>
          <p:nvPr/>
        </p:nvSpPr>
        <p:spPr>
          <a:xfrm>
            <a:off x="3835400" y="3022600"/>
            <a:ext cx="1524000" cy="4064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2" name="cell_text_1_2">
            <a:extLst>
              <a:ext uri="{FF2B5EF4-FFF2-40B4-BE49-F238E27FC236}">
                <a16:creationId xmlns:a16="http://schemas.microsoft.com/office/drawing/2014/main" id="{25C6DD8A-B427-4849-83E6-AC9141169773}"/>
              </a:ext>
            </a:extLst>
          </p:cNvPr>
          <p:cNvSpPr txBox="1"/>
          <p:nvPr/>
        </p:nvSpPr>
        <p:spPr>
          <a:xfrm>
            <a:off x="3924300" y="3136900"/>
            <a:ext cx="1346200" cy="165100"/>
          </a:xfrm>
          <a:prstGeom prst="rect">
            <a:avLst/>
          </a:prstGeom>
          <a:noFill/>
        </p:spPr>
        <p:txBody>
          <a:bodyPr vertOverflow="overflow" vert="horz" wrap="square" rtlCol="0" anchor="t">
            <a:noAutofit/>
          </a:bodyPr>
          <a:lstStyle/>
          <a:p>
            <a:pPr algn="l"/>
            <a:r>
              <a:rPr lang="en-US" sz="1300">
                <a:solidFill>
                  <a:srgbClr val="16004B"/>
                </a:solidFill>
                <a:latin typeface="Arial"/>
                <a:cs typeface="Arial"/>
              </a:rPr>
              <a:t>5%</a:t>
            </a:r>
          </a:p>
        </p:txBody>
      </p:sp>
      <p:sp>
        <p:nvSpPr>
          <p:cNvPr id="73" name="cell_1_3">
            <a:extLst>
              <a:ext uri="{FF2B5EF4-FFF2-40B4-BE49-F238E27FC236}">
                <a16:creationId xmlns:a16="http://schemas.microsoft.com/office/drawing/2014/main" id="{116E9A94-EEAF-554B-96A1-228743AC346B}"/>
              </a:ext>
            </a:extLst>
          </p:cNvPr>
          <p:cNvSpPr/>
          <p:nvPr/>
        </p:nvSpPr>
        <p:spPr>
          <a:xfrm>
            <a:off x="5359400" y="3022600"/>
            <a:ext cx="1270000" cy="4064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4" name="cell_text_1_3">
            <a:extLst>
              <a:ext uri="{FF2B5EF4-FFF2-40B4-BE49-F238E27FC236}">
                <a16:creationId xmlns:a16="http://schemas.microsoft.com/office/drawing/2014/main" id="{51C805AD-2AFA-0D40-86CF-E1B600B4FEFD}"/>
              </a:ext>
            </a:extLst>
          </p:cNvPr>
          <p:cNvSpPr txBox="1"/>
          <p:nvPr/>
        </p:nvSpPr>
        <p:spPr>
          <a:xfrm>
            <a:off x="5448300" y="3136900"/>
            <a:ext cx="1092200" cy="165100"/>
          </a:xfrm>
          <a:prstGeom prst="rect">
            <a:avLst/>
          </a:prstGeom>
          <a:noFill/>
        </p:spPr>
        <p:txBody>
          <a:bodyPr vertOverflow="overflow" vert="horz" wrap="square" rtlCol="0" anchor="t">
            <a:noAutofit/>
          </a:bodyPr>
          <a:lstStyle/>
          <a:p>
            <a:pPr algn="l"/>
            <a:r>
              <a:rPr lang="en-US" sz="1300" b="1">
                <a:solidFill>
                  <a:srgbClr val="16004B"/>
                </a:solidFill>
                <a:latin typeface="Arial"/>
                <a:cs typeface="Arial"/>
              </a:rPr>
              <a:t>5%</a:t>
            </a:r>
          </a:p>
        </p:txBody>
      </p:sp>
      <p:sp>
        <p:nvSpPr>
          <p:cNvPr id="75" name="cell_1_4">
            <a:extLst>
              <a:ext uri="{FF2B5EF4-FFF2-40B4-BE49-F238E27FC236}">
                <a16:creationId xmlns:a16="http://schemas.microsoft.com/office/drawing/2014/main" id="{572ABDDA-BF42-5842-8625-32007B7AF872}"/>
              </a:ext>
            </a:extLst>
          </p:cNvPr>
          <p:cNvSpPr/>
          <p:nvPr/>
        </p:nvSpPr>
        <p:spPr>
          <a:xfrm>
            <a:off x="6629400" y="3022600"/>
            <a:ext cx="1168400" cy="406400"/>
          </a:xfrm>
          <a:prstGeom prst="rect">
            <a:avLst/>
          </a:prstGeom>
          <a:solidFill>
            <a:srgbClr val="F8F7FC"/>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6" name="cell_text_1_4">
            <a:extLst>
              <a:ext uri="{FF2B5EF4-FFF2-40B4-BE49-F238E27FC236}">
                <a16:creationId xmlns:a16="http://schemas.microsoft.com/office/drawing/2014/main" id="{469DCDA3-666B-C642-A1B6-2F38F6469506}"/>
              </a:ext>
            </a:extLst>
          </p:cNvPr>
          <p:cNvSpPr txBox="1"/>
          <p:nvPr/>
        </p:nvSpPr>
        <p:spPr>
          <a:xfrm>
            <a:off x="6718300" y="3136900"/>
            <a:ext cx="990600" cy="165100"/>
          </a:xfrm>
          <a:prstGeom prst="rect">
            <a:avLst/>
          </a:prstGeom>
          <a:noFill/>
        </p:spPr>
        <p:txBody>
          <a:bodyPr vertOverflow="overflow" vert="horz" wrap="square" rtlCol="0" anchor="t">
            <a:noAutofit/>
          </a:bodyPr>
          <a:lstStyle/>
          <a:p>
            <a:pPr algn="l"/>
            <a:r>
              <a:rPr lang="en-US" sz="1300" b="1">
                <a:solidFill>
                  <a:srgbClr val="4F00E9"/>
                </a:solidFill>
                <a:latin typeface="Arial"/>
                <a:cs typeface="Arial"/>
              </a:rPr>
              <a:t>20</a:t>
            </a:r>
          </a:p>
        </p:txBody>
      </p:sp>
      <p:sp>
        <p:nvSpPr>
          <p:cNvPr id="77" name="cell_2_0">
            <a:extLst>
              <a:ext uri="{FF2B5EF4-FFF2-40B4-BE49-F238E27FC236}">
                <a16:creationId xmlns:a16="http://schemas.microsoft.com/office/drawing/2014/main" id="{24D609A4-BB65-FC47-A515-D0B399D91365}"/>
              </a:ext>
            </a:extLst>
          </p:cNvPr>
          <p:cNvSpPr/>
          <p:nvPr/>
        </p:nvSpPr>
        <p:spPr>
          <a:xfrm>
            <a:off x="914400" y="3429000"/>
            <a:ext cx="16256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78" name="cell_text_2_0">
            <a:extLst>
              <a:ext uri="{FF2B5EF4-FFF2-40B4-BE49-F238E27FC236}">
                <a16:creationId xmlns:a16="http://schemas.microsoft.com/office/drawing/2014/main" id="{457239B2-4AAF-934A-957D-98709E7B8545}"/>
              </a:ext>
            </a:extLst>
          </p:cNvPr>
          <p:cNvSpPr txBox="1"/>
          <p:nvPr/>
        </p:nvSpPr>
        <p:spPr>
          <a:xfrm>
            <a:off x="1003300" y="3543300"/>
            <a:ext cx="1447800" cy="165100"/>
          </a:xfrm>
          <a:prstGeom prst="rect">
            <a:avLst/>
          </a:prstGeom>
          <a:noFill/>
        </p:spPr>
        <p:txBody>
          <a:bodyPr vertOverflow="overflow" vert="horz" wrap="square" rtlCol="0" anchor="t">
            <a:noAutofit/>
          </a:bodyPr>
          <a:lstStyle/>
          <a:p>
            <a:pPr algn="l"/>
            <a:r>
              <a:rPr lang="en-US" sz="1300" b="1">
                <a:solidFill>
                  <a:srgbClr val="16004B"/>
                </a:solidFill>
                <a:latin typeface="Arial"/>
                <a:cs typeface="Arial"/>
              </a:rPr>
              <a:t>20%</a:t>
            </a:r>
          </a:p>
        </p:txBody>
      </p:sp>
      <p:sp>
        <p:nvSpPr>
          <p:cNvPr id="79" name="cell_2_1">
            <a:extLst>
              <a:ext uri="{FF2B5EF4-FFF2-40B4-BE49-F238E27FC236}">
                <a16:creationId xmlns:a16="http://schemas.microsoft.com/office/drawing/2014/main" id="{E5CBDCA8-81A7-3044-B330-CA45ACA40F84}"/>
              </a:ext>
            </a:extLst>
          </p:cNvPr>
          <p:cNvSpPr/>
          <p:nvPr/>
        </p:nvSpPr>
        <p:spPr>
          <a:xfrm>
            <a:off x="2540000" y="3429000"/>
            <a:ext cx="12954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0" name="cell_text_2_1">
            <a:extLst>
              <a:ext uri="{FF2B5EF4-FFF2-40B4-BE49-F238E27FC236}">
                <a16:creationId xmlns:a16="http://schemas.microsoft.com/office/drawing/2014/main" id="{AA0FD790-836E-9041-86A3-122F00998489}"/>
              </a:ext>
            </a:extLst>
          </p:cNvPr>
          <p:cNvSpPr txBox="1"/>
          <p:nvPr/>
        </p:nvSpPr>
        <p:spPr>
          <a:xfrm>
            <a:off x="2628900" y="3543300"/>
            <a:ext cx="1117600" cy="165100"/>
          </a:xfrm>
          <a:prstGeom prst="rect">
            <a:avLst/>
          </a:prstGeom>
          <a:noFill/>
        </p:spPr>
        <p:txBody>
          <a:bodyPr vertOverflow="overflow" vert="horz" wrap="square" rtlCol="0" anchor="t">
            <a:noAutofit/>
          </a:bodyPr>
          <a:lstStyle/>
          <a:p>
            <a:pPr algn="l"/>
            <a:r>
              <a:rPr lang="en-US" sz="1300">
                <a:solidFill>
                  <a:srgbClr val="16004B"/>
                </a:solidFill>
                <a:latin typeface="Arial"/>
                <a:cs typeface="Arial"/>
              </a:rPr>
              <a:t>0.50</a:t>
            </a:r>
          </a:p>
        </p:txBody>
      </p:sp>
      <p:sp>
        <p:nvSpPr>
          <p:cNvPr id="81" name="cell_2_2">
            <a:extLst>
              <a:ext uri="{FF2B5EF4-FFF2-40B4-BE49-F238E27FC236}">
                <a16:creationId xmlns:a16="http://schemas.microsoft.com/office/drawing/2014/main" id="{F6868748-A14C-3E45-8A1E-3061F4981DBE}"/>
              </a:ext>
            </a:extLst>
          </p:cNvPr>
          <p:cNvSpPr/>
          <p:nvPr/>
        </p:nvSpPr>
        <p:spPr>
          <a:xfrm>
            <a:off x="3835400" y="3429000"/>
            <a:ext cx="15240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2" name="cell_text_2_2">
            <a:extLst>
              <a:ext uri="{FF2B5EF4-FFF2-40B4-BE49-F238E27FC236}">
                <a16:creationId xmlns:a16="http://schemas.microsoft.com/office/drawing/2014/main" id="{3ED3BD57-7BA4-B741-9AFC-54827766E287}"/>
              </a:ext>
            </a:extLst>
          </p:cNvPr>
          <p:cNvSpPr txBox="1"/>
          <p:nvPr/>
        </p:nvSpPr>
        <p:spPr>
          <a:xfrm>
            <a:off x="3924300" y="3543300"/>
            <a:ext cx="1346200" cy="165100"/>
          </a:xfrm>
          <a:prstGeom prst="rect">
            <a:avLst/>
          </a:prstGeom>
          <a:noFill/>
        </p:spPr>
        <p:txBody>
          <a:bodyPr vertOverflow="overflow" vert="horz" wrap="square" rtlCol="0" anchor="t">
            <a:noAutofit/>
          </a:bodyPr>
          <a:lstStyle/>
          <a:p>
            <a:pPr algn="l"/>
            <a:r>
              <a:rPr lang="en-US" sz="1300">
                <a:solidFill>
                  <a:srgbClr val="16004B"/>
                </a:solidFill>
                <a:latin typeface="Arial"/>
                <a:cs typeface="Arial"/>
              </a:rPr>
              <a:t>10%</a:t>
            </a:r>
          </a:p>
        </p:txBody>
      </p:sp>
      <p:sp>
        <p:nvSpPr>
          <p:cNvPr id="83" name="cell_2_3">
            <a:extLst>
              <a:ext uri="{FF2B5EF4-FFF2-40B4-BE49-F238E27FC236}">
                <a16:creationId xmlns:a16="http://schemas.microsoft.com/office/drawing/2014/main" id="{F8F45ABA-FB36-F64A-B3C7-AB9E6EB05584}"/>
              </a:ext>
            </a:extLst>
          </p:cNvPr>
          <p:cNvSpPr/>
          <p:nvPr/>
        </p:nvSpPr>
        <p:spPr>
          <a:xfrm>
            <a:off x="5359400" y="3429000"/>
            <a:ext cx="12700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4" name="cell_text_2_3">
            <a:extLst>
              <a:ext uri="{FF2B5EF4-FFF2-40B4-BE49-F238E27FC236}">
                <a16:creationId xmlns:a16="http://schemas.microsoft.com/office/drawing/2014/main" id="{FE4FD08D-8E07-FE4D-B6E7-12FE4A9ABD0F}"/>
              </a:ext>
            </a:extLst>
          </p:cNvPr>
          <p:cNvSpPr txBox="1"/>
          <p:nvPr/>
        </p:nvSpPr>
        <p:spPr>
          <a:xfrm>
            <a:off x="5448300" y="3543300"/>
            <a:ext cx="1092200" cy="165100"/>
          </a:xfrm>
          <a:prstGeom prst="rect">
            <a:avLst/>
          </a:prstGeom>
          <a:noFill/>
        </p:spPr>
        <p:txBody>
          <a:bodyPr vertOverflow="overflow" vert="horz" wrap="square" rtlCol="0" anchor="t">
            <a:noAutofit/>
          </a:bodyPr>
          <a:lstStyle/>
          <a:p>
            <a:pPr algn="l"/>
            <a:r>
              <a:rPr lang="en-US" sz="1300" b="1">
                <a:solidFill>
                  <a:srgbClr val="16004B"/>
                </a:solidFill>
                <a:latin typeface="Arial"/>
                <a:cs typeface="Arial"/>
              </a:rPr>
              <a:t>10%</a:t>
            </a:r>
          </a:p>
        </p:txBody>
      </p:sp>
      <p:sp>
        <p:nvSpPr>
          <p:cNvPr id="85" name="cell_2_4">
            <a:extLst>
              <a:ext uri="{FF2B5EF4-FFF2-40B4-BE49-F238E27FC236}">
                <a16:creationId xmlns:a16="http://schemas.microsoft.com/office/drawing/2014/main" id="{1D967DEE-71D3-864C-88B9-98ED6D9AC66F}"/>
              </a:ext>
            </a:extLst>
          </p:cNvPr>
          <p:cNvSpPr/>
          <p:nvPr/>
        </p:nvSpPr>
        <p:spPr>
          <a:xfrm>
            <a:off x="6629400" y="3429000"/>
            <a:ext cx="1168400" cy="4064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6" name="cell_text_2_4">
            <a:extLst>
              <a:ext uri="{FF2B5EF4-FFF2-40B4-BE49-F238E27FC236}">
                <a16:creationId xmlns:a16="http://schemas.microsoft.com/office/drawing/2014/main" id="{037CD8B3-458C-9946-8E1C-8EDD637CE23F}"/>
              </a:ext>
            </a:extLst>
          </p:cNvPr>
          <p:cNvSpPr txBox="1"/>
          <p:nvPr/>
        </p:nvSpPr>
        <p:spPr>
          <a:xfrm>
            <a:off x="6718300" y="3543300"/>
            <a:ext cx="990600" cy="165100"/>
          </a:xfrm>
          <a:prstGeom prst="rect">
            <a:avLst/>
          </a:prstGeom>
          <a:noFill/>
        </p:spPr>
        <p:txBody>
          <a:bodyPr vertOverflow="overflow" vert="horz" wrap="square" rtlCol="0" anchor="t">
            <a:noAutofit/>
          </a:bodyPr>
          <a:lstStyle/>
          <a:p>
            <a:pPr algn="l"/>
            <a:r>
              <a:rPr lang="en-US" sz="1300" b="1">
                <a:solidFill>
                  <a:srgbClr val="4F00E9"/>
                </a:solidFill>
                <a:latin typeface="Arial"/>
                <a:cs typeface="Arial"/>
              </a:rPr>
              <a:t>10</a:t>
            </a:r>
          </a:p>
        </p:txBody>
      </p:sp>
      <p:sp>
        <p:nvSpPr>
          <p:cNvPr id="87" name="risk_curve_bg">
            <a:extLst>
              <a:ext uri="{FF2B5EF4-FFF2-40B4-BE49-F238E27FC236}">
                <a16:creationId xmlns:a16="http://schemas.microsoft.com/office/drawing/2014/main" id="{DEFB98DA-EB0D-5E4E-A3B0-075FFE74A996}"/>
              </a:ext>
            </a:extLst>
          </p:cNvPr>
          <p:cNvSpPr/>
          <p:nvPr/>
        </p:nvSpPr>
        <p:spPr>
          <a:xfrm>
            <a:off x="914400" y="1346200"/>
            <a:ext cx="7213600" cy="838200"/>
          </a:xfrm>
          <a:prstGeom prst="rect">
            <a:avLst/>
          </a:prstGeom>
          <a:solidFill>
            <a:srgbClr val="FFFFFF"/>
          </a:solidFill>
          <a:ln w="12700">
            <a:solidFill>
              <a:srgbClr val="D9D4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88" name="curve_title">
            <a:extLst>
              <a:ext uri="{FF2B5EF4-FFF2-40B4-BE49-F238E27FC236}">
                <a16:creationId xmlns:a16="http://schemas.microsoft.com/office/drawing/2014/main" id="{F10B5135-E2B7-1140-ADF5-4E49586DA90E}"/>
              </a:ext>
            </a:extLst>
          </p:cNvPr>
          <p:cNvSpPr txBox="1"/>
          <p:nvPr/>
        </p:nvSpPr>
        <p:spPr>
          <a:xfrm>
            <a:off x="1143000" y="1524000"/>
            <a:ext cx="2222500" cy="355600"/>
          </a:xfrm>
          <a:prstGeom prst="rect">
            <a:avLst/>
          </a:prstGeom>
          <a:noFill/>
        </p:spPr>
        <p:txBody>
          <a:bodyPr vertOverflow="overflow" vert="horz" wrap="square" rtlCol="0" anchor="t">
            <a:noAutofit/>
          </a:bodyPr>
          <a:lstStyle/>
          <a:p>
            <a:pPr algn="l"/>
            <a:r>
              <a:rPr lang="en-US" sz="1200" b="1" dirty="0">
                <a:solidFill>
                  <a:srgbClr val="16004B"/>
                </a:solidFill>
                <a:latin typeface="Arial"/>
                <a:cs typeface="Arial"/>
              </a:rPr>
              <a:t>Risk is widely distributed</a:t>
            </a:r>
          </a:p>
        </p:txBody>
      </p:sp>
      <p:sp>
        <p:nvSpPr>
          <p:cNvPr id="89" name="riskbar_0">
            <a:extLst>
              <a:ext uri="{FF2B5EF4-FFF2-40B4-BE49-F238E27FC236}">
                <a16:creationId xmlns:a16="http://schemas.microsoft.com/office/drawing/2014/main" id="{77C362E8-2395-D046-99DB-B7128F69DBB4}"/>
              </a:ext>
            </a:extLst>
          </p:cNvPr>
          <p:cNvSpPr/>
          <p:nvPr/>
        </p:nvSpPr>
        <p:spPr>
          <a:xfrm>
            <a:off x="3429000" y="1854200"/>
            <a:ext cx="48260" cy="38100"/>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0" name="riskbar_1">
            <a:extLst>
              <a:ext uri="{FF2B5EF4-FFF2-40B4-BE49-F238E27FC236}">
                <a16:creationId xmlns:a16="http://schemas.microsoft.com/office/drawing/2014/main" id="{D55C0C1C-7CCC-0243-904F-CF487F9C9F4A}"/>
              </a:ext>
            </a:extLst>
          </p:cNvPr>
          <p:cNvSpPr/>
          <p:nvPr/>
        </p:nvSpPr>
        <p:spPr>
          <a:xfrm>
            <a:off x="3495040" y="1854197"/>
            <a:ext cx="48260" cy="38101"/>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1" name="riskbar_2">
            <a:extLst>
              <a:ext uri="{FF2B5EF4-FFF2-40B4-BE49-F238E27FC236}">
                <a16:creationId xmlns:a16="http://schemas.microsoft.com/office/drawing/2014/main" id="{D298A840-F725-1746-B03A-AB057169963C}"/>
              </a:ext>
            </a:extLst>
          </p:cNvPr>
          <p:cNvSpPr/>
          <p:nvPr/>
        </p:nvSpPr>
        <p:spPr>
          <a:xfrm>
            <a:off x="3561079" y="1854187"/>
            <a:ext cx="48260" cy="38112"/>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2" name="riskbar_3">
            <a:extLst>
              <a:ext uri="{FF2B5EF4-FFF2-40B4-BE49-F238E27FC236}">
                <a16:creationId xmlns:a16="http://schemas.microsoft.com/office/drawing/2014/main" id="{AA003617-CD09-9542-A2D3-7CE3B607E58D}"/>
              </a:ext>
            </a:extLst>
          </p:cNvPr>
          <p:cNvSpPr/>
          <p:nvPr/>
        </p:nvSpPr>
        <p:spPr>
          <a:xfrm>
            <a:off x="3627120" y="1854152"/>
            <a:ext cx="48260" cy="38146"/>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3" name="riskbar_4">
            <a:extLst>
              <a:ext uri="{FF2B5EF4-FFF2-40B4-BE49-F238E27FC236}">
                <a16:creationId xmlns:a16="http://schemas.microsoft.com/office/drawing/2014/main" id="{6CF627E2-4F14-5448-86CF-5CD4DCEA8F6F}"/>
              </a:ext>
            </a:extLst>
          </p:cNvPr>
          <p:cNvSpPr/>
          <p:nvPr/>
        </p:nvSpPr>
        <p:spPr>
          <a:xfrm>
            <a:off x="3693160" y="1854081"/>
            <a:ext cx="48260" cy="38217"/>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4" name="riskbar_5">
            <a:extLst>
              <a:ext uri="{FF2B5EF4-FFF2-40B4-BE49-F238E27FC236}">
                <a16:creationId xmlns:a16="http://schemas.microsoft.com/office/drawing/2014/main" id="{56C08BEC-D6DE-8047-B5F3-B089BF6EE9D6}"/>
              </a:ext>
            </a:extLst>
          </p:cNvPr>
          <p:cNvSpPr/>
          <p:nvPr/>
        </p:nvSpPr>
        <p:spPr>
          <a:xfrm>
            <a:off x="3759200" y="1853958"/>
            <a:ext cx="48260" cy="38340"/>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5" name="riskbar_6">
            <a:extLst>
              <a:ext uri="{FF2B5EF4-FFF2-40B4-BE49-F238E27FC236}">
                <a16:creationId xmlns:a16="http://schemas.microsoft.com/office/drawing/2014/main" id="{D4937496-6AF8-D24B-86DE-00AE73BBB6C1}"/>
              </a:ext>
            </a:extLst>
          </p:cNvPr>
          <p:cNvSpPr/>
          <p:nvPr/>
        </p:nvSpPr>
        <p:spPr>
          <a:xfrm>
            <a:off x="3825240" y="1853768"/>
            <a:ext cx="48260" cy="38531"/>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6" name="riskbar_7">
            <a:extLst>
              <a:ext uri="{FF2B5EF4-FFF2-40B4-BE49-F238E27FC236}">
                <a16:creationId xmlns:a16="http://schemas.microsoft.com/office/drawing/2014/main" id="{DD37F8D8-793F-954E-88C0-77E1DA7D64FA}"/>
              </a:ext>
            </a:extLst>
          </p:cNvPr>
          <p:cNvSpPr/>
          <p:nvPr/>
        </p:nvSpPr>
        <p:spPr>
          <a:xfrm>
            <a:off x="3891279" y="1853492"/>
            <a:ext cx="48260" cy="38806"/>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7" name="riskbar_8">
            <a:extLst>
              <a:ext uri="{FF2B5EF4-FFF2-40B4-BE49-F238E27FC236}">
                <a16:creationId xmlns:a16="http://schemas.microsoft.com/office/drawing/2014/main" id="{B70B72E1-D1CA-044A-AC83-63BD4749DD5F}"/>
              </a:ext>
            </a:extLst>
          </p:cNvPr>
          <p:cNvSpPr/>
          <p:nvPr/>
        </p:nvSpPr>
        <p:spPr>
          <a:xfrm>
            <a:off x="3957320" y="1853117"/>
            <a:ext cx="48260" cy="39182"/>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8" name="riskbar_9">
            <a:extLst>
              <a:ext uri="{FF2B5EF4-FFF2-40B4-BE49-F238E27FC236}">
                <a16:creationId xmlns:a16="http://schemas.microsoft.com/office/drawing/2014/main" id="{9AD776BF-FDFB-ED40-A080-43FBB8CC2DAD}"/>
              </a:ext>
            </a:extLst>
          </p:cNvPr>
          <p:cNvSpPr/>
          <p:nvPr/>
        </p:nvSpPr>
        <p:spPr>
          <a:xfrm>
            <a:off x="4023360" y="1852621"/>
            <a:ext cx="48260" cy="39678"/>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99" name="riskbar_10">
            <a:extLst>
              <a:ext uri="{FF2B5EF4-FFF2-40B4-BE49-F238E27FC236}">
                <a16:creationId xmlns:a16="http://schemas.microsoft.com/office/drawing/2014/main" id="{BC63AE8C-B229-A446-9510-6413F712D480}"/>
              </a:ext>
            </a:extLst>
          </p:cNvPr>
          <p:cNvSpPr/>
          <p:nvPr/>
        </p:nvSpPr>
        <p:spPr>
          <a:xfrm>
            <a:off x="4089400" y="1851988"/>
            <a:ext cx="48260" cy="40311"/>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0" name="riskbar_11">
            <a:extLst>
              <a:ext uri="{FF2B5EF4-FFF2-40B4-BE49-F238E27FC236}">
                <a16:creationId xmlns:a16="http://schemas.microsoft.com/office/drawing/2014/main" id="{36C8ABCE-099E-384F-9026-484217D10553}"/>
              </a:ext>
            </a:extLst>
          </p:cNvPr>
          <p:cNvSpPr/>
          <p:nvPr/>
        </p:nvSpPr>
        <p:spPr>
          <a:xfrm>
            <a:off x="4155440" y="1851199"/>
            <a:ext cx="48260" cy="41100"/>
          </a:xfrm>
          <a:prstGeom prst="rect">
            <a:avLst/>
          </a:prstGeom>
          <a:solidFill>
            <a:srgbClr val="CFC9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1" name="riskbar_12">
            <a:extLst>
              <a:ext uri="{FF2B5EF4-FFF2-40B4-BE49-F238E27FC236}">
                <a16:creationId xmlns:a16="http://schemas.microsoft.com/office/drawing/2014/main" id="{36820C84-C51F-9E49-B147-6AD7373E5501}"/>
              </a:ext>
            </a:extLst>
          </p:cNvPr>
          <p:cNvSpPr/>
          <p:nvPr/>
        </p:nvSpPr>
        <p:spPr>
          <a:xfrm>
            <a:off x="4221480" y="1850235"/>
            <a:ext cx="48260" cy="42063"/>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2" name="riskbar_13">
            <a:extLst>
              <a:ext uri="{FF2B5EF4-FFF2-40B4-BE49-F238E27FC236}">
                <a16:creationId xmlns:a16="http://schemas.microsoft.com/office/drawing/2014/main" id="{F3313105-36DD-4147-AB06-5898EB35AB49}"/>
              </a:ext>
            </a:extLst>
          </p:cNvPr>
          <p:cNvSpPr/>
          <p:nvPr/>
        </p:nvSpPr>
        <p:spPr>
          <a:xfrm>
            <a:off x="4287520" y="1849078"/>
            <a:ext cx="48260" cy="43220"/>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3" name="riskbar_14">
            <a:extLst>
              <a:ext uri="{FF2B5EF4-FFF2-40B4-BE49-F238E27FC236}">
                <a16:creationId xmlns:a16="http://schemas.microsoft.com/office/drawing/2014/main" id="{44DCA5C5-EA13-9744-93EB-5A41F36D79C5}"/>
              </a:ext>
            </a:extLst>
          </p:cNvPr>
          <p:cNvSpPr/>
          <p:nvPr/>
        </p:nvSpPr>
        <p:spPr>
          <a:xfrm>
            <a:off x="4353560" y="1847708"/>
            <a:ext cx="48260" cy="44591"/>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4" name="riskbar_15">
            <a:extLst>
              <a:ext uri="{FF2B5EF4-FFF2-40B4-BE49-F238E27FC236}">
                <a16:creationId xmlns:a16="http://schemas.microsoft.com/office/drawing/2014/main" id="{EA5A7AD8-42A7-9E45-9553-906A4007A538}"/>
              </a:ext>
            </a:extLst>
          </p:cNvPr>
          <p:cNvSpPr/>
          <p:nvPr/>
        </p:nvSpPr>
        <p:spPr>
          <a:xfrm>
            <a:off x="4419600" y="1846103"/>
            <a:ext cx="48260" cy="46195"/>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5" name="riskbar_16">
            <a:extLst>
              <a:ext uri="{FF2B5EF4-FFF2-40B4-BE49-F238E27FC236}">
                <a16:creationId xmlns:a16="http://schemas.microsoft.com/office/drawing/2014/main" id="{EFC878A3-0460-E54E-A17C-076D0F2AA921}"/>
              </a:ext>
            </a:extLst>
          </p:cNvPr>
          <p:cNvSpPr/>
          <p:nvPr/>
        </p:nvSpPr>
        <p:spPr>
          <a:xfrm>
            <a:off x="4485640" y="1844246"/>
            <a:ext cx="48260" cy="48052"/>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6" name="riskbar_17">
            <a:extLst>
              <a:ext uri="{FF2B5EF4-FFF2-40B4-BE49-F238E27FC236}">
                <a16:creationId xmlns:a16="http://schemas.microsoft.com/office/drawing/2014/main" id="{53834E0A-D30E-9045-A76A-E30326F1CFC3}"/>
              </a:ext>
            </a:extLst>
          </p:cNvPr>
          <p:cNvSpPr/>
          <p:nvPr/>
        </p:nvSpPr>
        <p:spPr>
          <a:xfrm>
            <a:off x="4551680" y="1842116"/>
            <a:ext cx="48260" cy="50182"/>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7" name="riskbar_18">
            <a:extLst>
              <a:ext uri="{FF2B5EF4-FFF2-40B4-BE49-F238E27FC236}">
                <a16:creationId xmlns:a16="http://schemas.microsoft.com/office/drawing/2014/main" id="{49844694-4042-8845-8FB8-FE54E693EA1A}"/>
              </a:ext>
            </a:extLst>
          </p:cNvPr>
          <p:cNvSpPr/>
          <p:nvPr/>
        </p:nvSpPr>
        <p:spPr>
          <a:xfrm>
            <a:off x="4617720" y="1839692"/>
            <a:ext cx="48260" cy="52607"/>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8" name="riskbar_19">
            <a:extLst>
              <a:ext uri="{FF2B5EF4-FFF2-40B4-BE49-F238E27FC236}">
                <a16:creationId xmlns:a16="http://schemas.microsoft.com/office/drawing/2014/main" id="{5EC44C57-DBD4-E240-A02E-E1662087D78D}"/>
              </a:ext>
            </a:extLst>
          </p:cNvPr>
          <p:cNvSpPr/>
          <p:nvPr/>
        </p:nvSpPr>
        <p:spPr>
          <a:xfrm>
            <a:off x="4683760" y="1836950"/>
            <a:ext cx="48260" cy="55348"/>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09" name="riskbar_20">
            <a:extLst>
              <a:ext uri="{FF2B5EF4-FFF2-40B4-BE49-F238E27FC236}">
                <a16:creationId xmlns:a16="http://schemas.microsoft.com/office/drawing/2014/main" id="{B8EB4C2D-5D9B-4445-98BE-9A720A245B30}"/>
              </a:ext>
            </a:extLst>
          </p:cNvPr>
          <p:cNvSpPr/>
          <p:nvPr/>
        </p:nvSpPr>
        <p:spPr>
          <a:xfrm>
            <a:off x="4749800" y="1833875"/>
            <a:ext cx="48260" cy="58424"/>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0" name="riskbar_21">
            <a:extLst>
              <a:ext uri="{FF2B5EF4-FFF2-40B4-BE49-F238E27FC236}">
                <a16:creationId xmlns:a16="http://schemas.microsoft.com/office/drawing/2014/main" id="{79949045-A153-9E4A-982D-B63B159E46F8}"/>
              </a:ext>
            </a:extLst>
          </p:cNvPr>
          <p:cNvSpPr/>
          <p:nvPr/>
        </p:nvSpPr>
        <p:spPr>
          <a:xfrm>
            <a:off x="4815840" y="1830440"/>
            <a:ext cx="48260" cy="61859"/>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1" name="riskbar_22">
            <a:extLst>
              <a:ext uri="{FF2B5EF4-FFF2-40B4-BE49-F238E27FC236}">
                <a16:creationId xmlns:a16="http://schemas.microsoft.com/office/drawing/2014/main" id="{46A805F5-7E65-224D-B779-07343B2F8E5A}"/>
              </a:ext>
            </a:extLst>
          </p:cNvPr>
          <p:cNvSpPr/>
          <p:nvPr/>
        </p:nvSpPr>
        <p:spPr>
          <a:xfrm>
            <a:off x="4881880" y="1826626"/>
            <a:ext cx="48260" cy="65672"/>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2" name="riskbar_23">
            <a:extLst>
              <a:ext uri="{FF2B5EF4-FFF2-40B4-BE49-F238E27FC236}">
                <a16:creationId xmlns:a16="http://schemas.microsoft.com/office/drawing/2014/main" id="{943FAB42-584D-4043-892B-DC93FD382CA7}"/>
              </a:ext>
            </a:extLst>
          </p:cNvPr>
          <p:cNvSpPr/>
          <p:nvPr/>
        </p:nvSpPr>
        <p:spPr>
          <a:xfrm>
            <a:off x="4947920" y="1822412"/>
            <a:ext cx="48260" cy="69887"/>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3" name="riskbar_24">
            <a:extLst>
              <a:ext uri="{FF2B5EF4-FFF2-40B4-BE49-F238E27FC236}">
                <a16:creationId xmlns:a16="http://schemas.microsoft.com/office/drawing/2014/main" id="{2999931E-F3A9-9843-B967-1D81EAA49BE4}"/>
              </a:ext>
            </a:extLst>
          </p:cNvPr>
          <p:cNvSpPr/>
          <p:nvPr/>
        </p:nvSpPr>
        <p:spPr>
          <a:xfrm>
            <a:off x="5013960" y="1817773"/>
            <a:ext cx="48260" cy="74525"/>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4" name="riskbar_25">
            <a:extLst>
              <a:ext uri="{FF2B5EF4-FFF2-40B4-BE49-F238E27FC236}">
                <a16:creationId xmlns:a16="http://schemas.microsoft.com/office/drawing/2014/main" id="{897D90EE-59FB-764F-B848-EB3A4371E802}"/>
              </a:ext>
            </a:extLst>
          </p:cNvPr>
          <p:cNvSpPr/>
          <p:nvPr/>
        </p:nvSpPr>
        <p:spPr>
          <a:xfrm>
            <a:off x="5080000" y="1812691"/>
            <a:ext cx="48260" cy="79608"/>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5" name="riskbar_26">
            <a:extLst>
              <a:ext uri="{FF2B5EF4-FFF2-40B4-BE49-F238E27FC236}">
                <a16:creationId xmlns:a16="http://schemas.microsoft.com/office/drawing/2014/main" id="{08E6AA72-4403-E544-831D-6CE9311C2853}"/>
              </a:ext>
            </a:extLst>
          </p:cNvPr>
          <p:cNvSpPr/>
          <p:nvPr/>
        </p:nvSpPr>
        <p:spPr>
          <a:xfrm>
            <a:off x="5146040" y="1807139"/>
            <a:ext cx="48260" cy="85159"/>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6" name="riskbar_27">
            <a:extLst>
              <a:ext uri="{FF2B5EF4-FFF2-40B4-BE49-F238E27FC236}">
                <a16:creationId xmlns:a16="http://schemas.microsoft.com/office/drawing/2014/main" id="{1285DE50-265E-374C-BA51-E1CC7F1775C9}"/>
              </a:ext>
            </a:extLst>
          </p:cNvPr>
          <p:cNvSpPr/>
          <p:nvPr/>
        </p:nvSpPr>
        <p:spPr>
          <a:xfrm>
            <a:off x="5212080" y="1801099"/>
            <a:ext cx="48260" cy="91199"/>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7" name="riskbar_28">
            <a:extLst>
              <a:ext uri="{FF2B5EF4-FFF2-40B4-BE49-F238E27FC236}">
                <a16:creationId xmlns:a16="http://schemas.microsoft.com/office/drawing/2014/main" id="{804CBC29-AD2B-BB49-83E0-E2D29836DE8A}"/>
              </a:ext>
            </a:extLst>
          </p:cNvPr>
          <p:cNvSpPr/>
          <p:nvPr/>
        </p:nvSpPr>
        <p:spPr>
          <a:xfrm>
            <a:off x="5278120" y="1794545"/>
            <a:ext cx="48260" cy="97753"/>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8" name="riskbar_29">
            <a:extLst>
              <a:ext uri="{FF2B5EF4-FFF2-40B4-BE49-F238E27FC236}">
                <a16:creationId xmlns:a16="http://schemas.microsoft.com/office/drawing/2014/main" id="{B1AEED77-EAD5-6042-AED6-4271DE39D5C7}"/>
              </a:ext>
            </a:extLst>
          </p:cNvPr>
          <p:cNvSpPr/>
          <p:nvPr/>
        </p:nvSpPr>
        <p:spPr>
          <a:xfrm>
            <a:off x="5344160" y="1787456"/>
            <a:ext cx="48260" cy="104842"/>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19" name="riskbar_30">
            <a:extLst>
              <a:ext uri="{FF2B5EF4-FFF2-40B4-BE49-F238E27FC236}">
                <a16:creationId xmlns:a16="http://schemas.microsoft.com/office/drawing/2014/main" id="{A959186D-7BC0-B548-A6CD-009C85E8A482}"/>
              </a:ext>
            </a:extLst>
          </p:cNvPr>
          <p:cNvSpPr/>
          <p:nvPr/>
        </p:nvSpPr>
        <p:spPr>
          <a:xfrm>
            <a:off x="5410200" y="1779809"/>
            <a:ext cx="48260" cy="112490"/>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0" name="riskbar_31">
            <a:extLst>
              <a:ext uri="{FF2B5EF4-FFF2-40B4-BE49-F238E27FC236}">
                <a16:creationId xmlns:a16="http://schemas.microsoft.com/office/drawing/2014/main" id="{54AF6E09-C221-6849-944C-EB51A62A33FA}"/>
              </a:ext>
            </a:extLst>
          </p:cNvPr>
          <p:cNvSpPr/>
          <p:nvPr/>
        </p:nvSpPr>
        <p:spPr>
          <a:xfrm>
            <a:off x="5476240" y="1771579"/>
            <a:ext cx="48260" cy="120720"/>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1" name="riskbar_32">
            <a:extLst>
              <a:ext uri="{FF2B5EF4-FFF2-40B4-BE49-F238E27FC236}">
                <a16:creationId xmlns:a16="http://schemas.microsoft.com/office/drawing/2014/main" id="{F1976FD2-FA9B-0F45-B9C1-F3EE616187F0}"/>
              </a:ext>
            </a:extLst>
          </p:cNvPr>
          <p:cNvSpPr/>
          <p:nvPr/>
        </p:nvSpPr>
        <p:spPr>
          <a:xfrm>
            <a:off x="5542280" y="1762743"/>
            <a:ext cx="48260" cy="129555"/>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2" name="riskbar_33">
            <a:extLst>
              <a:ext uri="{FF2B5EF4-FFF2-40B4-BE49-F238E27FC236}">
                <a16:creationId xmlns:a16="http://schemas.microsoft.com/office/drawing/2014/main" id="{EFDCA0EC-CB9C-F84D-93D4-7E83235DBA09}"/>
              </a:ext>
            </a:extLst>
          </p:cNvPr>
          <p:cNvSpPr/>
          <p:nvPr/>
        </p:nvSpPr>
        <p:spPr>
          <a:xfrm>
            <a:off x="5608320" y="1753280"/>
            <a:ext cx="48260" cy="139019"/>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3" name="riskbar_34">
            <a:extLst>
              <a:ext uri="{FF2B5EF4-FFF2-40B4-BE49-F238E27FC236}">
                <a16:creationId xmlns:a16="http://schemas.microsoft.com/office/drawing/2014/main" id="{0A43FD73-AB12-0F4D-B764-CA999FDA17EB}"/>
              </a:ext>
            </a:extLst>
          </p:cNvPr>
          <p:cNvSpPr/>
          <p:nvPr/>
        </p:nvSpPr>
        <p:spPr>
          <a:xfrm>
            <a:off x="5674360" y="1743164"/>
            <a:ext cx="48260" cy="149135"/>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4" name="riskbar_35">
            <a:extLst>
              <a:ext uri="{FF2B5EF4-FFF2-40B4-BE49-F238E27FC236}">
                <a16:creationId xmlns:a16="http://schemas.microsoft.com/office/drawing/2014/main" id="{5895889F-A6AC-9A42-9087-1224FFB71D9C}"/>
              </a:ext>
            </a:extLst>
          </p:cNvPr>
          <p:cNvSpPr/>
          <p:nvPr/>
        </p:nvSpPr>
        <p:spPr>
          <a:xfrm>
            <a:off x="5740400" y="1732371"/>
            <a:ext cx="48260" cy="159927"/>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5" name="riskbar_36">
            <a:extLst>
              <a:ext uri="{FF2B5EF4-FFF2-40B4-BE49-F238E27FC236}">
                <a16:creationId xmlns:a16="http://schemas.microsoft.com/office/drawing/2014/main" id="{EB5B4EB4-6055-D74A-A317-BD3CCDD61DFE}"/>
              </a:ext>
            </a:extLst>
          </p:cNvPr>
          <p:cNvSpPr/>
          <p:nvPr/>
        </p:nvSpPr>
        <p:spPr>
          <a:xfrm>
            <a:off x="5806440" y="1720879"/>
            <a:ext cx="48260" cy="171420"/>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6" name="riskbar_37">
            <a:extLst>
              <a:ext uri="{FF2B5EF4-FFF2-40B4-BE49-F238E27FC236}">
                <a16:creationId xmlns:a16="http://schemas.microsoft.com/office/drawing/2014/main" id="{CA628ABF-39D2-7A46-9357-7A2C0A2D26E8}"/>
              </a:ext>
            </a:extLst>
          </p:cNvPr>
          <p:cNvSpPr/>
          <p:nvPr/>
        </p:nvSpPr>
        <p:spPr>
          <a:xfrm>
            <a:off x="5872480" y="1708662"/>
            <a:ext cx="48260" cy="183637"/>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7" name="riskbar_38">
            <a:extLst>
              <a:ext uri="{FF2B5EF4-FFF2-40B4-BE49-F238E27FC236}">
                <a16:creationId xmlns:a16="http://schemas.microsoft.com/office/drawing/2014/main" id="{56FECD12-0986-6446-9C3D-70A944F7EFBD}"/>
              </a:ext>
            </a:extLst>
          </p:cNvPr>
          <p:cNvSpPr/>
          <p:nvPr/>
        </p:nvSpPr>
        <p:spPr>
          <a:xfrm>
            <a:off x="5938520" y="1695697"/>
            <a:ext cx="48260" cy="196602"/>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8" name="riskbar_39">
            <a:extLst>
              <a:ext uri="{FF2B5EF4-FFF2-40B4-BE49-F238E27FC236}">
                <a16:creationId xmlns:a16="http://schemas.microsoft.com/office/drawing/2014/main" id="{B10C1E2F-A609-744B-86A0-D18F2C62D672}"/>
              </a:ext>
            </a:extLst>
          </p:cNvPr>
          <p:cNvSpPr/>
          <p:nvPr/>
        </p:nvSpPr>
        <p:spPr>
          <a:xfrm>
            <a:off x="6004560" y="1681958"/>
            <a:ext cx="48260" cy="210340"/>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29" name="riskbar_40">
            <a:extLst>
              <a:ext uri="{FF2B5EF4-FFF2-40B4-BE49-F238E27FC236}">
                <a16:creationId xmlns:a16="http://schemas.microsoft.com/office/drawing/2014/main" id="{C32B5651-63F0-5A4D-8BF4-DF5B6EEE8E5B}"/>
              </a:ext>
            </a:extLst>
          </p:cNvPr>
          <p:cNvSpPr/>
          <p:nvPr/>
        </p:nvSpPr>
        <p:spPr>
          <a:xfrm>
            <a:off x="6070600" y="1667422"/>
            <a:ext cx="48260" cy="224876"/>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0" name="riskbar_41">
            <a:extLst>
              <a:ext uri="{FF2B5EF4-FFF2-40B4-BE49-F238E27FC236}">
                <a16:creationId xmlns:a16="http://schemas.microsoft.com/office/drawing/2014/main" id="{40F035B6-404A-6245-8528-1AE5B2B7E794}"/>
              </a:ext>
            </a:extLst>
          </p:cNvPr>
          <p:cNvSpPr/>
          <p:nvPr/>
        </p:nvSpPr>
        <p:spPr>
          <a:xfrm>
            <a:off x="6136640" y="1652065"/>
            <a:ext cx="48260" cy="240233"/>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1" name="riskbar_42">
            <a:extLst>
              <a:ext uri="{FF2B5EF4-FFF2-40B4-BE49-F238E27FC236}">
                <a16:creationId xmlns:a16="http://schemas.microsoft.com/office/drawing/2014/main" id="{8F2482C6-189F-4849-9AF5-4F9036922013}"/>
              </a:ext>
            </a:extLst>
          </p:cNvPr>
          <p:cNvSpPr/>
          <p:nvPr/>
        </p:nvSpPr>
        <p:spPr>
          <a:xfrm>
            <a:off x="6202680" y="1635863"/>
            <a:ext cx="48260" cy="256436"/>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2" name="riskbar_43">
            <a:extLst>
              <a:ext uri="{FF2B5EF4-FFF2-40B4-BE49-F238E27FC236}">
                <a16:creationId xmlns:a16="http://schemas.microsoft.com/office/drawing/2014/main" id="{1FD56824-37C1-DD4B-9CFD-3E5CBFD48D57}"/>
              </a:ext>
            </a:extLst>
          </p:cNvPr>
          <p:cNvSpPr/>
          <p:nvPr/>
        </p:nvSpPr>
        <p:spPr>
          <a:xfrm>
            <a:off x="6268720" y="1618787"/>
            <a:ext cx="48260" cy="273511"/>
          </a:xfrm>
          <a:prstGeom prst="rect">
            <a:avLst/>
          </a:prstGeom>
          <a:solidFill>
            <a:srgbClr val="B7B0CC"/>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3" name="riskbar_44">
            <a:extLst>
              <a:ext uri="{FF2B5EF4-FFF2-40B4-BE49-F238E27FC236}">
                <a16:creationId xmlns:a16="http://schemas.microsoft.com/office/drawing/2014/main" id="{AAB95716-959E-9F45-98F1-DC702DC1948F}"/>
              </a:ext>
            </a:extLst>
          </p:cNvPr>
          <p:cNvSpPr/>
          <p:nvPr/>
        </p:nvSpPr>
        <p:spPr>
          <a:xfrm>
            <a:off x="6334760" y="1600816"/>
            <a:ext cx="48260" cy="291483"/>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4" name="riskbar_45">
            <a:extLst>
              <a:ext uri="{FF2B5EF4-FFF2-40B4-BE49-F238E27FC236}">
                <a16:creationId xmlns:a16="http://schemas.microsoft.com/office/drawing/2014/main" id="{9FAC763B-E58E-8C43-99DA-109E5AC97334}"/>
              </a:ext>
            </a:extLst>
          </p:cNvPr>
          <p:cNvSpPr/>
          <p:nvPr/>
        </p:nvSpPr>
        <p:spPr>
          <a:xfrm>
            <a:off x="6400800" y="1581924"/>
            <a:ext cx="48260" cy="310375"/>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5" name="riskbar_46">
            <a:extLst>
              <a:ext uri="{FF2B5EF4-FFF2-40B4-BE49-F238E27FC236}">
                <a16:creationId xmlns:a16="http://schemas.microsoft.com/office/drawing/2014/main" id="{31C281A0-261F-6A43-B637-7421051006AE}"/>
              </a:ext>
            </a:extLst>
          </p:cNvPr>
          <p:cNvSpPr/>
          <p:nvPr/>
        </p:nvSpPr>
        <p:spPr>
          <a:xfrm>
            <a:off x="6466840" y="1562083"/>
            <a:ext cx="48260" cy="330215"/>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6" name="riskbar_47">
            <a:extLst>
              <a:ext uri="{FF2B5EF4-FFF2-40B4-BE49-F238E27FC236}">
                <a16:creationId xmlns:a16="http://schemas.microsoft.com/office/drawing/2014/main" id="{0B7783F9-3ED4-7840-B536-343208E0CD9C}"/>
              </a:ext>
            </a:extLst>
          </p:cNvPr>
          <p:cNvSpPr/>
          <p:nvPr/>
        </p:nvSpPr>
        <p:spPr>
          <a:xfrm>
            <a:off x="6532880" y="1541272"/>
            <a:ext cx="48260" cy="351026"/>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7" name="riskbar_48">
            <a:extLst>
              <a:ext uri="{FF2B5EF4-FFF2-40B4-BE49-F238E27FC236}">
                <a16:creationId xmlns:a16="http://schemas.microsoft.com/office/drawing/2014/main" id="{FE598021-8733-B44B-894C-F522D8B3B20B}"/>
              </a:ext>
            </a:extLst>
          </p:cNvPr>
          <p:cNvSpPr/>
          <p:nvPr/>
        </p:nvSpPr>
        <p:spPr>
          <a:xfrm>
            <a:off x="6598920" y="1519465"/>
            <a:ext cx="48260" cy="372834"/>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8" name="riskbar_49">
            <a:extLst>
              <a:ext uri="{FF2B5EF4-FFF2-40B4-BE49-F238E27FC236}">
                <a16:creationId xmlns:a16="http://schemas.microsoft.com/office/drawing/2014/main" id="{161611BE-EC67-1948-A449-E6695E221BD0}"/>
              </a:ext>
            </a:extLst>
          </p:cNvPr>
          <p:cNvSpPr/>
          <p:nvPr/>
        </p:nvSpPr>
        <p:spPr>
          <a:xfrm>
            <a:off x="6664959" y="1496632"/>
            <a:ext cx="48260" cy="395666"/>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39" name="riskbar_50">
            <a:extLst>
              <a:ext uri="{FF2B5EF4-FFF2-40B4-BE49-F238E27FC236}">
                <a16:creationId xmlns:a16="http://schemas.microsoft.com/office/drawing/2014/main" id="{5242EB8A-32CF-CA49-B7C3-0C759C95A8F4}"/>
              </a:ext>
            </a:extLst>
          </p:cNvPr>
          <p:cNvSpPr/>
          <p:nvPr/>
        </p:nvSpPr>
        <p:spPr>
          <a:xfrm>
            <a:off x="6731000" y="1472752"/>
            <a:ext cx="48260" cy="419546"/>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40" name="riskbar_51">
            <a:extLst>
              <a:ext uri="{FF2B5EF4-FFF2-40B4-BE49-F238E27FC236}">
                <a16:creationId xmlns:a16="http://schemas.microsoft.com/office/drawing/2014/main" id="{1B0F5BED-9608-104C-891E-D385A4A98F02}"/>
              </a:ext>
            </a:extLst>
          </p:cNvPr>
          <p:cNvSpPr/>
          <p:nvPr/>
        </p:nvSpPr>
        <p:spPr>
          <a:xfrm>
            <a:off x="6797040" y="1447800"/>
            <a:ext cx="48260" cy="444500"/>
          </a:xfrm>
          <a:prstGeom prst="rect">
            <a:avLst/>
          </a:prstGeom>
          <a:solidFill>
            <a:srgbClr val="11B7B6"/>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41" name="low_label">
            <a:extLst>
              <a:ext uri="{FF2B5EF4-FFF2-40B4-BE49-F238E27FC236}">
                <a16:creationId xmlns:a16="http://schemas.microsoft.com/office/drawing/2014/main" id="{0F08407B-64A6-284B-B1A9-67B4C252622D}"/>
              </a:ext>
            </a:extLst>
          </p:cNvPr>
          <p:cNvSpPr txBox="1"/>
          <p:nvPr/>
        </p:nvSpPr>
        <p:spPr>
          <a:xfrm>
            <a:off x="3327400" y="1905000"/>
            <a:ext cx="762000" cy="114300"/>
          </a:xfrm>
          <a:prstGeom prst="rect">
            <a:avLst/>
          </a:prstGeom>
          <a:noFill/>
        </p:spPr>
        <p:txBody>
          <a:bodyPr vertOverflow="overflow" vert="horz" wrap="none" rtlCol="0" anchor="t">
            <a:noAutofit/>
          </a:bodyPr>
          <a:lstStyle/>
          <a:p>
            <a:pPr algn="l"/>
            <a:r>
              <a:rPr lang="en-US" sz="1600">
                <a:solidFill>
                  <a:srgbClr val="5B5277"/>
                </a:solidFill>
                <a:latin typeface="Arial"/>
                <a:cs typeface="Arial"/>
              </a:rPr>
              <a:t>low risk</a:t>
            </a:r>
          </a:p>
        </p:txBody>
      </p:sp>
      <p:sp>
        <p:nvSpPr>
          <p:cNvPr id="142" name="high_label">
            <a:extLst>
              <a:ext uri="{FF2B5EF4-FFF2-40B4-BE49-F238E27FC236}">
                <a16:creationId xmlns:a16="http://schemas.microsoft.com/office/drawing/2014/main" id="{B47CCBA8-DDA4-DE4E-9058-7B406E2E81CB}"/>
              </a:ext>
            </a:extLst>
          </p:cNvPr>
          <p:cNvSpPr txBox="1"/>
          <p:nvPr/>
        </p:nvSpPr>
        <p:spPr>
          <a:xfrm>
            <a:off x="6324600" y="1905000"/>
            <a:ext cx="889000" cy="114300"/>
          </a:xfrm>
          <a:prstGeom prst="rect">
            <a:avLst/>
          </a:prstGeom>
          <a:noFill/>
        </p:spPr>
        <p:txBody>
          <a:bodyPr vertOverflow="overflow" vert="horz" wrap="none" rtlCol="0" anchor="t">
            <a:noAutofit/>
          </a:bodyPr>
          <a:lstStyle/>
          <a:p>
            <a:pPr algn="l"/>
            <a:r>
              <a:rPr lang="en-US" sz="1600" b="1">
                <a:solidFill>
                  <a:srgbClr val="11B7B6"/>
                </a:solidFill>
                <a:latin typeface="Arial"/>
                <a:cs typeface="Arial"/>
              </a:rPr>
              <a:t>high risk</a:t>
            </a:r>
          </a:p>
        </p:txBody>
      </p:sp>
      <p:sp>
        <p:nvSpPr>
          <p:cNvPr id="143" name="curve_note">
            <a:extLst>
              <a:ext uri="{FF2B5EF4-FFF2-40B4-BE49-F238E27FC236}">
                <a16:creationId xmlns:a16="http://schemas.microsoft.com/office/drawing/2014/main" id="{6BA08EB6-288E-8D4C-8DBA-093565A2EB5A}"/>
              </a:ext>
            </a:extLst>
          </p:cNvPr>
          <p:cNvSpPr txBox="1"/>
          <p:nvPr/>
        </p:nvSpPr>
        <p:spPr>
          <a:xfrm>
            <a:off x="1143000" y="1778000"/>
            <a:ext cx="2222500" cy="228600"/>
          </a:xfrm>
          <a:prstGeom prst="rect">
            <a:avLst/>
          </a:prstGeom>
          <a:noFill/>
        </p:spPr>
        <p:txBody>
          <a:bodyPr vertOverflow="overflow" vert="horz" wrap="square" rtlCol="0" anchor="t">
            <a:noAutofit/>
          </a:bodyPr>
          <a:lstStyle/>
          <a:p>
            <a:pPr algn="l"/>
            <a:r>
              <a:rPr lang="en-US" sz="1100" b="0" dirty="0">
                <a:solidFill>
                  <a:srgbClr val="5B5277"/>
                </a:solidFill>
                <a:latin typeface="Arial"/>
                <a:cs typeface="Arial"/>
              </a:rPr>
              <a:t>Few patients sit at the trial average; most differ.</a:t>
            </a:r>
          </a:p>
        </p:txBody>
      </p:sp>
      <p:sp>
        <p:nvSpPr>
          <p:cNvPr id="144" name="takeaway_band">
            <a:extLst>
              <a:ext uri="{FF2B5EF4-FFF2-40B4-BE49-F238E27FC236}">
                <a16:creationId xmlns:a16="http://schemas.microsoft.com/office/drawing/2014/main" id="{F5E7FF22-C08A-A24E-BBCC-4061DF2C3B0D}"/>
              </a:ext>
            </a:extLst>
          </p:cNvPr>
          <p:cNvSpPr/>
          <p:nvPr/>
        </p:nvSpPr>
        <p:spPr>
          <a:xfrm>
            <a:off x="914400" y="3937000"/>
            <a:ext cx="7213600" cy="736600"/>
          </a:xfrm>
          <a:prstGeom prst="rect">
            <a:avLst/>
          </a:prstGeom>
          <a:solidFill>
            <a:srgbClr val="FFF2F1"/>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45" name="takeaway">
            <a:extLst>
              <a:ext uri="{FF2B5EF4-FFF2-40B4-BE49-F238E27FC236}">
                <a16:creationId xmlns:a16="http://schemas.microsoft.com/office/drawing/2014/main" id="{FA763FD0-9118-CD46-B222-362E6FD3CCF6}"/>
              </a:ext>
            </a:extLst>
          </p:cNvPr>
          <p:cNvSpPr txBox="1"/>
          <p:nvPr/>
        </p:nvSpPr>
        <p:spPr>
          <a:xfrm>
            <a:off x="1092200" y="4000500"/>
            <a:ext cx="6858000" cy="609600"/>
          </a:xfrm>
          <a:prstGeom prst="rect">
            <a:avLst/>
          </a:prstGeom>
          <a:noFill/>
        </p:spPr>
        <p:txBody>
          <a:bodyPr vertOverflow="overflow" vert="horz" wrap="square" rtlCol="0" anchor="ctr" anchorCtr="0">
            <a:noAutofit/>
          </a:bodyPr>
          <a:lstStyle/>
          <a:p>
            <a:pPr algn="l">
              <a:lnSpc>
                <a:spcPts val="1350"/>
              </a:lnSpc>
            </a:pPr>
            <a:r>
              <a:rPr lang="en-US" sz="1100" b="1" dirty="0">
                <a:solidFill>
                  <a:srgbClr val="C2410C"/>
                </a:solidFill>
                <a:latin typeface="Arial"/>
                <a:cs typeface="Arial"/>
              </a:rPr>
              <a:t>A priori: </a:t>
            </a:r>
            <a:r>
              <a:rPr lang="en-US" sz="1100" b="0" dirty="0">
                <a:solidFill>
                  <a:srgbClr val="7A2E0A"/>
                </a:solidFill>
                <a:latin typeface="Arial"/>
                <a:cs typeface="Arial"/>
              </a:rPr>
              <a:t>if treatment blocks a component cause whose frequency scales with risk, efficacy should scale too.</a:t>
            </a:r>
          </a:p>
          <a:p>
            <a:pPr algn="l">
              <a:lnSpc>
                <a:spcPts val="1350"/>
              </a:lnSpc>
              <a:spcBef>
                <a:spcPts val="400"/>
              </a:spcBef>
            </a:pPr>
            <a:r>
              <a:rPr lang="en-US" sz="1100" b="1" dirty="0">
                <a:solidFill>
                  <a:srgbClr val="C2410C"/>
                </a:solidFill>
                <a:latin typeface="Arial"/>
                <a:cs typeface="Arial"/>
              </a:rPr>
              <a:t>Empiric: </a:t>
            </a:r>
            <a:r>
              <a:rPr lang="en-US" sz="1100" b="0" dirty="0">
                <a:solidFill>
                  <a:srgbClr val="7A2E0A"/>
                </a:solidFill>
                <a:latin typeface="Arial"/>
                <a:cs typeface="Arial"/>
              </a:rPr>
              <a:t>when tested, relative effects do stay roughly constant across baseline risk.</a:t>
            </a:r>
          </a:p>
        </p:txBody>
      </p:sp>
      <p:sp>
        <p:nvSpPr>
          <p:cNvPr id="2" name="source">
            <a:extLst>
              <a:ext uri="{FF2B5EF4-FFF2-40B4-BE49-F238E27FC236}">
                <a16:creationId xmlns:a16="http://schemas.microsoft.com/office/drawing/2014/main" id="{8474427C-87A5-324E-8F0B-75B02B4A5085}"/>
              </a:ext>
            </a:extLst>
          </p:cNvPr>
          <p:cNvSpPr txBox="1"/>
          <p:nvPr/>
        </p:nvSpPr>
        <p:spPr>
          <a:xfrm>
            <a:off x="609600" y="4978400"/>
            <a:ext cx="7924800" cy="152400"/>
          </a:xfrm>
          <a:prstGeom prst="rect">
            <a:avLst/>
          </a:prstGeom>
          <a:noFill/>
        </p:spPr>
        <p:txBody>
          <a:bodyPr vertOverflow="overflow" vert="horz" wrap="none" rtlCol="0" anchor="t">
            <a:noAutofit/>
          </a:bodyPr>
          <a:lstStyle/>
          <a:p>
            <a:pPr algn="l"/>
            <a:r>
              <a:rPr lang="en-US" sz="800">
                <a:solidFill>
                  <a:srgbClr val="8A829E"/>
                </a:solidFill>
                <a:latin typeface="Arial"/>
                <a:cs typeface="Arial"/>
              </a:rPr>
              <a:t>Worked example (RR 0.50). Sources: Statistics By Jim 2024; L’Abbé effect-model, Epidemiol Perspect Innov 2009; Doi et al., J Clin Epidemiol 2021.</a:t>
            </a:r>
          </a:p>
        </p:txBody>
      </p:sp>
    </p:spTree>
    <p:extLst>
      <p:ext uri="{BB962C8B-B14F-4D97-AF65-F5344CB8AC3E}">
        <p14:creationId xmlns:p14="http://schemas.microsoft.com/office/powerpoint/2010/main" val="23191015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0" y="0"/>
            <a:ext cx="9144000" cy="5143500"/>
          </a:xfrm>
          <a:prstGeom prst="rect">
            <a:avLst/>
          </a:prstGeom>
          <a:solidFill>
            <a:srgbClr val="FFFFFF"/>
          </a:solidFill>
          <a:ln>
            <a:noFill/>
          </a:ln>
        </p:spPr>
        <p:txBody>
          <a:bodyPr/>
          <a:lstStyle/>
          <a:p>
            <a:endParaRPr/>
          </a:p>
        </p:txBody>
      </p:sp>
      <p:sp>
        <p:nvSpPr>
          <p:cNvPr id="102" name="r102"/>
          <p:cNvSpPr/>
          <p:nvPr/>
        </p:nvSpPr>
        <p:spPr>
          <a:xfrm>
            <a:off x="368300" y="749300"/>
            <a:ext cx="63500" cy="3644900"/>
          </a:xfrm>
          <a:prstGeom prst="rect">
            <a:avLst/>
          </a:prstGeom>
          <a:solidFill>
            <a:srgbClr val="4A00E2"/>
          </a:solidFill>
          <a:ln>
            <a:noFill/>
          </a:ln>
        </p:spPr>
        <p:txBody>
          <a:bodyPr/>
          <a:lstStyle/>
          <a:p>
            <a:endParaRPr/>
          </a:p>
        </p:txBody>
      </p:sp>
      <p:sp>
        <p:nvSpPr>
          <p:cNvPr id="103" name="t103"/>
          <p:cNvSpPr txBox="1"/>
          <p:nvPr/>
        </p:nvSpPr>
        <p:spPr>
          <a:xfrm>
            <a:off x="635000" y="304800"/>
            <a:ext cx="7747000" cy="203200"/>
          </a:xfrm>
          <a:prstGeom prst="rect">
            <a:avLst/>
          </a:prstGeom>
          <a:noFill/>
        </p:spPr>
        <p:txBody>
          <a:bodyPr wrap="square" lIns="0" tIns="0" rIns="0" bIns="0" anchor="t">
            <a:normAutofit/>
          </a:bodyPr>
          <a:lstStyle/>
          <a:p>
            <a:pPr algn="l"/>
            <a:r>
              <a:rPr lang="en-US" sz="1100" b="1" dirty="0">
                <a:solidFill>
                  <a:srgbClr val="4A00E2"/>
                </a:solidFill>
                <a:latin typeface="Arial"/>
                <a:cs typeface="Arial"/>
              </a:rPr>
              <a:t>ACT | RISK MODELING VS EFFECT MODELING</a:t>
            </a:r>
          </a:p>
        </p:txBody>
      </p:sp>
      <p:sp>
        <p:nvSpPr>
          <p:cNvPr id="104" name="t104"/>
          <p:cNvSpPr txBox="1"/>
          <p:nvPr/>
        </p:nvSpPr>
        <p:spPr>
          <a:xfrm>
            <a:off x="635000" y="533400"/>
            <a:ext cx="7874000" cy="508000"/>
          </a:xfrm>
          <a:prstGeom prst="rect">
            <a:avLst/>
          </a:prstGeom>
          <a:noFill/>
        </p:spPr>
        <p:txBody>
          <a:bodyPr wrap="square" lIns="0" tIns="0" rIns="0" bIns="0" anchor="t">
            <a:normAutofit/>
          </a:bodyPr>
          <a:lstStyle/>
          <a:p>
            <a:pPr algn="l"/>
            <a:r>
              <a:rPr lang="en-US" sz="2400" b="1" dirty="0">
                <a:solidFill>
                  <a:srgbClr val="110057"/>
                </a:solidFill>
                <a:latin typeface="Arial"/>
                <a:cs typeface="Arial"/>
              </a:rPr>
              <a:t>Two versions of “personalized medicine”</a:t>
            </a:r>
          </a:p>
        </p:txBody>
      </p:sp>
      <p:sp>
        <p:nvSpPr>
          <p:cNvPr id="105" name="r105"/>
          <p:cNvSpPr/>
          <p:nvPr/>
        </p:nvSpPr>
        <p:spPr>
          <a:xfrm>
            <a:off x="812800" y="1498600"/>
            <a:ext cx="3556000" cy="1905000"/>
          </a:xfrm>
          <a:prstGeom prst="rect">
            <a:avLst/>
          </a:prstGeom>
          <a:solidFill>
            <a:srgbClr val="F4F1FF"/>
          </a:solidFill>
          <a:ln w="12700">
            <a:solidFill>
              <a:srgbClr val="EDE7FF"/>
            </a:solidFill>
          </a:ln>
        </p:spPr>
        <p:txBody>
          <a:bodyPr/>
          <a:lstStyle/>
          <a:p>
            <a:endParaRPr/>
          </a:p>
        </p:txBody>
      </p:sp>
      <p:sp>
        <p:nvSpPr>
          <p:cNvPr id="106" name="t106"/>
          <p:cNvSpPr txBox="1"/>
          <p:nvPr/>
        </p:nvSpPr>
        <p:spPr>
          <a:xfrm>
            <a:off x="1117600" y="1778000"/>
            <a:ext cx="2946400" cy="304800"/>
          </a:xfrm>
          <a:prstGeom prst="rect">
            <a:avLst/>
          </a:prstGeom>
          <a:noFill/>
        </p:spPr>
        <p:txBody>
          <a:bodyPr wrap="square" lIns="0" tIns="0" rIns="0" bIns="0" anchor="t">
            <a:normAutofit/>
          </a:bodyPr>
          <a:lstStyle/>
          <a:p>
            <a:pPr algn="l"/>
            <a:r>
              <a:rPr lang="en-US" sz="2000" b="1" dirty="0">
                <a:solidFill>
                  <a:srgbClr val="110057"/>
                </a:solidFill>
                <a:latin typeface="Arial"/>
                <a:cs typeface="Arial"/>
              </a:rPr>
              <a:t>Risk modeling</a:t>
            </a:r>
          </a:p>
        </p:txBody>
      </p:sp>
      <p:sp>
        <p:nvSpPr>
          <p:cNvPr id="107" name="t107"/>
          <p:cNvSpPr txBox="1"/>
          <p:nvPr/>
        </p:nvSpPr>
        <p:spPr>
          <a:xfrm>
            <a:off x="1117600" y="2260600"/>
            <a:ext cx="2946400" cy="889000"/>
          </a:xfrm>
          <a:prstGeom prst="rect">
            <a:avLst/>
          </a:prstGeom>
          <a:noFill/>
        </p:spPr>
        <p:txBody>
          <a:bodyPr wrap="square" lIns="0" tIns="0" rIns="0" bIns="0" anchor="t">
            <a:normAutofit/>
          </a:bodyPr>
          <a:lstStyle/>
          <a:p>
            <a:pPr algn="l"/>
            <a:r>
              <a:rPr lang="en-US" sz="1600" dirty="0">
                <a:solidFill>
                  <a:srgbClr val="4A4170"/>
                </a:solidFill>
                <a:latin typeface="Arial"/>
                <a:cs typeface="Arial"/>
              </a:rPr>
              <a:t>Who is likely to have the bad outcome?</a:t>
            </a:r>
          </a:p>
        </p:txBody>
      </p:sp>
      <p:sp>
        <p:nvSpPr>
          <p:cNvPr id="108" name="r108"/>
          <p:cNvSpPr/>
          <p:nvPr/>
        </p:nvSpPr>
        <p:spPr>
          <a:xfrm>
            <a:off x="4775200" y="1498600"/>
            <a:ext cx="3556000" cy="1905000"/>
          </a:xfrm>
          <a:prstGeom prst="rect">
            <a:avLst/>
          </a:prstGeom>
          <a:solidFill>
            <a:srgbClr val="F4F1FF"/>
          </a:solidFill>
          <a:ln w="12700">
            <a:solidFill>
              <a:srgbClr val="EDE7FF"/>
            </a:solidFill>
          </a:ln>
        </p:spPr>
        <p:txBody>
          <a:bodyPr/>
          <a:lstStyle/>
          <a:p>
            <a:endParaRPr/>
          </a:p>
        </p:txBody>
      </p:sp>
      <p:sp>
        <p:nvSpPr>
          <p:cNvPr id="109" name="t109"/>
          <p:cNvSpPr txBox="1"/>
          <p:nvPr/>
        </p:nvSpPr>
        <p:spPr>
          <a:xfrm>
            <a:off x="5080000" y="1778000"/>
            <a:ext cx="2946400" cy="304800"/>
          </a:xfrm>
          <a:prstGeom prst="rect">
            <a:avLst/>
          </a:prstGeom>
          <a:noFill/>
        </p:spPr>
        <p:txBody>
          <a:bodyPr wrap="square" lIns="0" tIns="0" rIns="0" bIns="0" anchor="t">
            <a:normAutofit/>
          </a:bodyPr>
          <a:lstStyle/>
          <a:p>
            <a:pPr algn="l"/>
            <a:r>
              <a:rPr lang="en-US" sz="2000" b="1" dirty="0">
                <a:solidFill>
                  <a:srgbClr val="110057"/>
                </a:solidFill>
                <a:latin typeface="Arial"/>
                <a:cs typeface="Arial"/>
              </a:rPr>
              <a:t>Effect modeling</a:t>
            </a:r>
          </a:p>
        </p:txBody>
      </p:sp>
      <p:sp>
        <p:nvSpPr>
          <p:cNvPr id="110" name="t110"/>
          <p:cNvSpPr txBox="1"/>
          <p:nvPr/>
        </p:nvSpPr>
        <p:spPr>
          <a:xfrm>
            <a:off x="5080000" y="2260600"/>
            <a:ext cx="2946400" cy="889000"/>
          </a:xfrm>
          <a:prstGeom prst="rect">
            <a:avLst/>
          </a:prstGeom>
          <a:noFill/>
        </p:spPr>
        <p:txBody>
          <a:bodyPr wrap="square" lIns="0" tIns="0" rIns="0" bIns="0" anchor="t">
            <a:normAutofit/>
          </a:bodyPr>
          <a:lstStyle/>
          <a:p>
            <a:pPr algn="l"/>
            <a:r>
              <a:rPr lang="en-US" sz="1600" dirty="0">
                <a:solidFill>
                  <a:srgbClr val="4A4170"/>
                </a:solidFill>
                <a:latin typeface="Arial"/>
                <a:cs typeface="Arial"/>
              </a:rPr>
              <a:t>Who responds differently to treatment?</a:t>
            </a:r>
          </a:p>
        </p:txBody>
      </p:sp>
      <p:sp>
        <p:nvSpPr>
          <p:cNvPr id="111" name="r111"/>
          <p:cNvSpPr/>
          <p:nvPr/>
        </p:nvSpPr>
        <p:spPr>
          <a:xfrm>
            <a:off x="812800" y="3657600"/>
            <a:ext cx="7518400" cy="711200"/>
          </a:xfrm>
          <a:prstGeom prst="rect">
            <a:avLst/>
          </a:prstGeom>
          <a:solidFill>
            <a:srgbClr val="F6F2FF"/>
          </a:solidFill>
          <a:ln>
            <a:noFill/>
          </a:ln>
        </p:spPr>
        <p:txBody>
          <a:bodyPr/>
          <a:lstStyle/>
          <a:p>
            <a:endParaRPr/>
          </a:p>
        </p:txBody>
      </p:sp>
      <p:sp>
        <p:nvSpPr>
          <p:cNvPr id="112" name="t112"/>
          <p:cNvSpPr txBox="1"/>
          <p:nvPr/>
        </p:nvSpPr>
        <p:spPr>
          <a:xfrm>
            <a:off x="1066800" y="3784600"/>
            <a:ext cx="7112000" cy="508000"/>
          </a:xfrm>
          <a:prstGeom prst="rect">
            <a:avLst/>
          </a:prstGeom>
          <a:noFill/>
        </p:spPr>
        <p:txBody>
          <a:bodyPr wrap="square" lIns="0" tIns="0" rIns="0" bIns="0" anchor="ctr">
            <a:normAutofit/>
          </a:bodyPr>
          <a:lstStyle/>
          <a:p>
            <a:pPr algn="l"/>
            <a:r>
              <a:rPr lang="en-US" sz="1600" b="1" dirty="0">
                <a:solidFill>
                  <a:srgbClr val="110057"/>
                </a:solidFill>
                <a:latin typeface="Arial"/>
                <a:cs typeface="Arial"/>
              </a:rPr>
              <a:t>Risk modeling customizes by pre-randomization prognosis. </a:t>
            </a:r>
          </a:p>
          <a:p>
            <a:pPr algn="l"/>
            <a:r>
              <a:rPr lang="en-US" sz="1600" b="1" dirty="0">
                <a:solidFill>
                  <a:srgbClr val="4A00E2"/>
                </a:solidFill>
                <a:latin typeface="Arial"/>
                <a:cs typeface="Arial"/>
              </a:rPr>
              <a:t>Effect modeling customizes by differential response.</a:t>
            </a:r>
          </a:p>
        </p:txBody>
      </p:sp>
      <p:sp>
        <p:nvSpPr>
          <p:cNvPr id="113" name="t113"/>
          <p:cNvSpPr txBox="1"/>
          <p:nvPr/>
        </p:nvSpPr>
        <p:spPr>
          <a:xfrm>
            <a:off x="635000" y="4876800"/>
            <a:ext cx="6096000" cy="152400"/>
          </a:xfrm>
          <a:prstGeom prst="rect">
            <a:avLst/>
          </a:prstGeom>
          <a:noFill/>
        </p:spPr>
        <p:txBody>
          <a:bodyPr wrap="square" lIns="0" tIns="0" rIns="0" bIns="0" anchor="t">
            <a:normAutofit/>
          </a:bodyPr>
          <a:lstStyle/>
          <a:p>
            <a:pPr algn="l"/>
            <a:r>
              <a:rPr lang="en-US" sz="800" dirty="0">
                <a:solidFill>
                  <a:srgbClr val="6F6689"/>
                </a:solidFill>
                <a:latin typeface="Arial"/>
                <a:cs typeface="Arial"/>
              </a:rPr>
              <a:t>Kent 2023; PATH Statement</a:t>
            </a:r>
          </a:p>
        </p:txBody>
      </p:sp>
    </p:spTree>
    <p:extLst>
      <p:ext uri="{BB962C8B-B14F-4D97-AF65-F5344CB8AC3E}">
        <p14:creationId xmlns:p14="http://schemas.microsoft.com/office/powerpoint/2010/main" val="22434153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r201"/>
          <p:cNvSpPr/>
          <p:nvPr/>
        </p:nvSpPr>
        <p:spPr>
          <a:xfrm>
            <a:off x="0" y="0"/>
            <a:ext cx="9144000" cy="5143500"/>
          </a:xfrm>
          <a:prstGeom prst="rect">
            <a:avLst/>
          </a:prstGeom>
          <a:solidFill>
            <a:srgbClr val="FFFFFF"/>
          </a:solidFill>
          <a:ln>
            <a:noFill/>
          </a:ln>
        </p:spPr>
        <p:txBody>
          <a:bodyPr/>
          <a:lstStyle/>
          <a:p>
            <a:endParaRPr lang="en-US"/>
          </a:p>
        </p:txBody>
      </p:sp>
      <p:sp>
        <p:nvSpPr>
          <p:cNvPr id="201" name="r202"/>
          <p:cNvSpPr/>
          <p:nvPr/>
        </p:nvSpPr>
        <p:spPr>
          <a:xfrm>
            <a:off x="368300" y="749300"/>
            <a:ext cx="63500" cy="3644900"/>
          </a:xfrm>
          <a:prstGeom prst="rect">
            <a:avLst/>
          </a:prstGeom>
          <a:solidFill>
            <a:srgbClr val="4A00E2"/>
          </a:solidFill>
          <a:ln>
            <a:noFill/>
          </a:ln>
        </p:spPr>
        <p:txBody>
          <a:bodyPr/>
          <a:lstStyle/>
          <a:p>
            <a:endParaRPr lang="en-US"/>
          </a:p>
        </p:txBody>
      </p:sp>
      <p:sp>
        <p:nvSpPr>
          <p:cNvPr id="202" name="t203"/>
          <p:cNvSpPr txBox="1"/>
          <p:nvPr/>
        </p:nvSpPr>
        <p:spPr>
          <a:xfrm>
            <a:off x="635000" y="304800"/>
            <a:ext cx="7874000" cy="203200"/>
          </a:xfrm>
          <a:prstGeom prst="rect">
            <a:avLst/>
          </a:prstGeom>
          <a:noFill/>
        </p:spPr>
        <p:txBody>
          <a:bodyPr/>
          <a:lstStyle/>
          <a:p>
            <a:pPr algn="l"/>
            <a:r>
              <a:rPr lang="en-US" sz="1100" b="1" dirty="0">
                <a:solidFill>
                  <a:srgbClr val="4A00E2"/>
                </a:solidFill>
                <a:latin typeface="Arial"/>
                <a:cs typeface="Arial"/>
              </a:rPr>
              <a:t>ACT | RISK MODELING VS EFFECT MODELING</a:t>
            </a:r>
          </a:p>
        </p:txBody>
      </p:sp>
      <p:sp>
        <p:nvSpPr>
          <p:cNvPr id="203" name="t204"/>
          <p:cNvSpPr txBox="1"/>
          <p:nvPr/>
        </p:nvSpPr>
        <p:spPr>
          <a:xfrm>
            <a:off x="635000" y="533400"/>
            <a:ext cx="7874000" cy="508000"/>
          </a:xfrm>
          <a:prstGeom prst="rect">
            <a:avLst/>
          </a:prstGeom>
          <a:noFill/>
        </p:spPr>
        <p:txBody>
          <a:bodyPr/>
          <a:lstStyle/>
          <a:p>
            <a:pPr algn="l"/>
            <a:r>
              <a:rPr lang="en-US" sz="2400" b="1" dirty="0">
                <a:solidFill>
                  <a:srgbClr val="110057"/>
                </a:solidFill>
                <a:latin typeface="Arial"/>
                <a:cs typeface="Arial"/>
              </a:rPr>
              <a:t>Risk modeling starts with prognosis</a:t>
            </a:r>
          </a:p>
        </p:txBody>
      </p:sp>
      <p:sp>
        <p:nvSpPr>
          <p:cNvPr id="204" name="t205"/>
          <p:cNvSpPr txBox="1"/>
          <p:nvPr/>
        </p:nvSpPr>
        <p:spPr>
          <a:xfrm>
            <a:off x="812800" y="1371600"/>
            <a:ext cx="1651000" cy="203200"/>
          </a:xfrm>
          <a:prstGeom prst="rect">
            <a:avLst/>
          </a:prstGeom>
          <a:noFill/>
        </p:spPr>
        <p:txBody>
          <a:bodyPr/>
          <a:lstStyle/>
          <a:p>
            <a:pPr algn="l"/>
            <a:r>
              <a:rPr lang="en-US" sz="1400" b="1" dirty="0">
                <a:solidFill>
                  <a:srgbClr val="110057"/>
                </a:solidFill>
                <a:latin typeface="Arial"/>
                <a:cs typeface="Arial"/>
              </a:rPr>
              <a:t>Lower risk</a:t>
            </a:r>
          </a:p>
        </p:txBody>
      </p:sp>
      <p:sp>
        <p:nvSpPr>
          <p:cNvPr id="205" name="t206"/>
          <p:cNvSpPr txBox="1"/>
          <p:nvPr/>
        </p:nvSpPr>
        <p:spPr>
          <a:xfrm>
            <a:off x="812800" y="1600200"/>
            <a:ext cx="2159000" cy="177800"/>
          </a:xfrm>
          <a:prstGeom prst="rect">
            <a:avLst/>
          </a:prstGeom>
          <a:noFill/>
        </p:spPr>
        <p:txBody>
          <a:bodyPr wrap="none">
            <a:noAutofit/>
          </a:bodyPr>
          <a:lstStyle/>
          <a:p>
            <a:pPr algn="l">
              <a:buNone/>
            </a:pPr>
            <a:r>
              <a:rPr lang="en-US" sz="1100" b="1" dirty="0">
                <a:solidFill>
                  <a:srgbClr val="110057"/>
                </a:solidFill>
                <a:latin typeface="Arial"/>
                <a:cs typeface="Arial"/>
              </a:rPr>
              <a:t>4/100 → </a:t>
            </a:r>
            <a:r>
              <a:rPr lang="en-US" sz="1100" b="1" dirty="0">
                <a:solidFill>
                  <a:srgbClr val="11B7B6"/>
                </a:solidFill>
                <a:latin typeface="Arial"/>
                <a:cs typeface="Arial"/>
              </a:rPr>
              <a:t>2 prevented</a:t>
            </a:r>
          </a:p>
        </p:txBody>
      </p:sp>
      <p:sp>
        <p:nvSpPr>
          <p:cNvPr id="206" name="d"/>
          <p:cNvSpPr/>
          <p:nvPr/>
        </p:nvSpPr>
        <p:spPr>
          <a:xfrm>
            <a:off x="812800" y="1879600"/>
            <a:ext cx="127000" cy="127000"/>
          </a:xfrm>
          <a:prstGeom prst="ellipse">
            <a:avLst/>
          </a:prstGeom>
          <a:solidFill>
            <a:srgbClr val="11B7B6"/>
          </a:solidFill>
          <a:ln>
            <a:noFill/>
          </a:ln>
        </p:spPr>
        <p:txBody>
          <a:bodyPr/>
          <a:lstStyle/>
          <a:p>
            <a:endParaRPr lang="en-US"/>
          </a:p>
        </p:txBody>
      </p:sp>
      <p:sp>
        <p:nvSpPr>
          <p:cNvPr id="207" name="d"/>
          <p:cNvSpPr/>
          <p:nvPr/>
        </p:nvSpPr>
        <p:spPr>
          <a:xfrm>
            <a:off x="982980" y="1879600"/>
            <a:ext cx="127000" cy="127000"/>
          </a:xfrm>
          <a:prstGeom prst="ellipse">
            <a:avLst/>
          </a:prstGeom>
          <a:solidFill>
            <a:srgbClr val="11B7B6"/>
          </a:solidFill>
          <a:ln>
            <a:noFill/>
          </a:ln>
        </p:spPr>
        <p:txBody>
          <a:bodyPr/>
          <a:lstStyle/>
          <a:p>
            <a:endParaRPr lang="en-US"/>
          </a:p>
        </p:txBody>
      </p:sp>
      <p:sp>
        <p:nvSpPr>
          <p:cNvPr id="208" name="d"/>
          <p:cNvSpPr/>
          <p:nvPr/>
        </p:nvSpPr>
        <p:spPr>
          <a:xfrm>
            <a:off x="1153160" y="1879600"/>
            <a:ext cx="127000" cy="127000"/>
          </a:xfrm>
          <a:prstGeom prst="ellipse">
            <a:avLst/>
          </a:prstGeom>
          <a:solidFill>
            <a:srgbClr val="4A00E2"/>
          </a:solidFill>
          <a:ln>
            <a:noFill/>
          </a:ln>
        </p:spPr>
        <p:txBody>
          <a:bodyPr/>
          <a:lstStyle/>
          <a:p>
            <a:endParaRPr lang="en-US"/>
          </a:p>
        </p:txBody>
      </p:sp>
      <p:sp>
        <p:nvSpPr>
          <p:cNvPr id="209" name="d"/>
          <p:cNvSpPr/>
          <p:nvPr/>
        </p:nvSpPr>
        <p:spPr>
          <a:xfrm>
            <a:off x="1323340" y="1879600"/>
            <a:ext cx="127000" cy="127000"/>
          </a:xfrm>
          <a:prstGeom prst="ellipse">
            <a:avLst/>
          </a:prstGeom>
          <a:solidFill>
            <a:srgbClr val="4A00E2"/>
          </a:solidFill>
          <a:ln>
            <a:noFill/>
          </a:ln>
        </p:spPr>
        <p:txBody>
          <a:bodyPr/>
          <a:lstStyle/>
          <a:p>
            <a:endParaRPr lang="en-US"/>
          </a:p>
        </p:txBody>
      </p:sp>
      <p:sp>
        <p:nvSpPr>
          <p:cNvPr id="210" name="d"/>
          <p:cNvSpPr/>
          <p:nvPr/>
        </p:nvSpPr>
        <p:spPr>
          <a:xfrm>
            <a:off x="1493520" y="1879600"/>
            <a:ext cx="127000" cy="127000"/>
          </a:xfrm>
          <a:prstGeom prst="ellipse">
            <a:avLst/>
          </a:prstGeom>
          <a:solidFill>
            <a:srgbClr val="DAD4EC"/>
          </a:solidFill>
          <a:ln>
            <a:noFill/>
          </a:ln>
        </p:spPr>
        <p:txBody>
          <a:bodyPr/>
          <a:lstStyle/>
          <a:p>
            <a:endParaRPr lang="en-US"/>
          </a:p>
        </p:txBody>
      </p:sp>
      <p:sp>
        <p:nvSpPr>
          <p:cNvPr id="211" name="d"/>
          <p:cNvSpPr/>
          <p:nvPr/>
        </p:nvSpPr>
        <p:spPr>
          <a:xfrm>
            <a:off x="1663700" y="1879600"/>
            <a:ext cx="127000" cy="127000"/>
          </a:xfrm>
          <a:prstGeom prst="ellipse">
            <a:avLst/>
          </a:prstGeom>
          <a:solidFill>
            <a:srgbClr val="DAD4EC"/>
          </a:solidFill>
          <a:ln>
            <a:noFill/>
          </a:ln>
        </p:spPr>
        <p:txBody>
          <a:bodyPr/>
          <a:lstStyle/>
          <a:p>
            <a:endParaRPr lang="en-US"/>
          </a:p>
        </p:txBody>
      </p:sp>
      <p:sp>
        <p:nvSpPr>
          <p:cNvPr id="212" name="d"/>
          <p:cNvSpPr/>
          <p:nvPr/>
        </p:nvSpPr>
        <p:spPr>
          <a:xfrm>
            <a:off x="1833880" y="1879600"/>
            <a:ext cx="127000" cy="127000"/>
          </a:xfrm>
          <a:prstGeom prst="ellipse">
            <a:avLst/>
          </a:prstGeom>
          <a:solidFill>
            <a:srgbClr val="DAD4EC"/>
          </a:solidFill>
          <a:ln>
            <a:noFill/>
          </a:ln>
        </p:spPr>
        <p:txBody>
          <a:bodyPr/>
          <a:lstStyle/>
          <a:p>
            <a:endParaRPr lang="en-US"/>
          </a:p>
        </p:txBody>
      </p:sp>
      <p:sp>
        <p:nvSpPr>
          <p:cNvPr id="213" name="d"/>
          <p:cNvSpPr/>
          <p:nvPr/>
        </p:nvSpPr>
        <p:spPr>
          <a:xfrm>
            <a:off x="2004060" y="1879600"/>
            <a:ext cx="127000" cy="127000"/>
          </a:xfrm>
          <a:prstGeom prst="ellipse">
            <a:avLst/>
          </a:prstGeom>
          <a:solidFill>
            <a:srgbClr val="DAD4EC"/>
          </a:solidFill>
          <a:ln>
            <a:noFill/>
          </a:ln>
        </p:spPr>
        <p:txBody>
          <a:bodyPr/>
          <a:lstStyle/>
          <a:p>
            <a:endParaRPr lang="en-US"/>
          </a:p>
        </p:txBody>
      </p:sp>
      <p:sp>
        <p:nvSpPr>
          <p:cNvPr id="214" name="d"/>
          <p:cNvSpPr/>
          <p:nvPr/>
        </p:nvSpPr>
        <p:spPr>
          <a:xfrm>
            <a:off x="2174240" y="1879600"/>
            <a:ext cx="127000" cy="127000"/>
          </a:xfrm>
          <a:prstGeom prst="ellipse">
            <a:avLst/>
          </a:prstGeom>
          <a:solidFill>
            <a:srgbClr val="DAD4EC"/>
          </a:solidFill>
          <a:ln>
            <a:noFill/>
          </a:ln>
        </p:spPr>
        <p:txBody>
          <a:bodyPr/>
          <a:lstStyle/>
          <a:p>
            <a:endParaRPr lang="en-US"/>
          </a:p>
        </p:txBody>
      </p:sp>
      <p:sp>
        <p:nvSpPr>
          <p:cNvPr id="215" name="d"/>
          <p:cNvSpPr/>
          <p:nvPr/>
        </p:nvSpPr>
        <p:spPr>
          <a:xfrm>
            <a:off x="2344420" y="1879600"/>
            <a:ext cx="127000" cy="127000"/>
          </a:xfrm>
          <a:prstGeom prst="ellipse">
            <a:avLst/>
          </a:prstGeom>
          <a:solidFill>
            <a:srgbClr val="DAD4EC"/>
          </a:solidFill>
          <a:ln>
            <a:noFill/>
          </a:ln>
        </p:spPr>
        <p:txBody>
          <a:bodyPr/>
          <a:lstStyle/>
          <a:p>
            <a:endParaRPr lang="en-US"/>
          </a:p>
        </p:txBody>
      </p:sp>
      <p:sp>
        <p:nvSpPr>
          <p:cNvPr id="216" name="d"/>
          <p:cNvSpPr/>
          <p:nvPr/>
        </p:nvSpPr>
        <p:spPr>
          <a:xfrm>
            <a:off x="812800" y="2049780"/>
            <a:ext cx="127000" cy="127000"/>
          </a:xfrm>
          <a:prstGeom prst="ellipse">
            <a:avLst/>
          </a:prstGeom>
          <a:solidFill>
            <a:srgbClr val="DAD4EC"/>
          </a:solidFill>
          <a:ln>
            <a:noFill/>
          </a:ln>
        </p:spPr>
        <p:txBody>
          <a:bodyPr/>
          <a:lstStyle/>
          <a:p>
            <a:endParaRPr lang="en-US"/>
          </a:p>
        </p:txBody>
      </p:sp>
      <p:sp>
        <p:nvSpPr>
          <p:cNvPr id="217" name="d"/>
          <p:cNvSpPr/>
          <p:nvPr/>
        </p:nvSpPr>
        <p:spPr>
          <a:xfrm>
            <a:off x="982980" y="2049780"/>
            <a:ext cx="127000" cy="127000"/>
          </a:xfrm>
          <a:prstGeom prst="ellipse">
            <a:avLst/>
          </a:prstGeom>
          <a:solidFill>
            <a:srgbClr val="DAD4EC"/>
          </a:solidFill>
          <a:ln>
            <a:noFill/>
          </a:ln>
        </p:spPr>
        <p:txBody>
          <a:bodyPr/>
          <a:lstStyle/>
          <a:p>
            <a:endParaRPr lang="en-US"/>
          </a:p>
        </p:txBody>
      </p:sp>
      <p:sp>
        <p:nvSpPr>
          <p:cNvPr id="218" name="d"/>
          <p:cNvSpPr/>
          <p:nvPr/>
        </p:nvSpPr>
        <p:spPr>
          <a:xfrm>
            <a:off x="1153160" y="2049780"/>
            <a:ext cx="127000" cy="127000"/>
          </a:xfrm>
          <a:prstGeom prst="ellipse">
            <a:avLst/>
          </a:prstGeom>
          <a:solidFill>
            <a:srgbClr val="DAD4EC"/>
          </a:solidFill>
          <a:ln>
            <a:noFill/>
          </a:ln>
        </p:spPr>
        <p:txBody>
          <a:bodyPr/>
          <a:lstStyle/>
          <a:p>
            <a:endParaRPr lang="en-US"/>
          </a:p>
        </p:txBody>
      </p:sp>
      <p:sp>
        <p:nvSpPr>
          <p:cNvPr id="219" name="d"/>
          <p:cNvSpPr/>
          <p:nvPr/>
        </p:nvSpPr>
        <p:spPr>
          <a:xfrm>
            <a:off x="1323340" y="2049780"/>
            <a:ext cx="127000" cy="127000"/>
          </a:xfrm>
          <a:prstGeom prst="ellipse">
            <a:avLst/>
          </a:prstGeom>
          <a:solidFill>
            <a:srgbClr val="DAD4EC"/>
          </a:solidFill>
          <a:ln>
            <a:noFill/>
          </a:ln>
        </p:spPr>
        <p:txBody>
          <a:bodyPr/>
          <a:lstStyle/>
          <a:p>
            <a:endParaRPr lang="en-US"/>
          </a:p>
        </p:txBody>
      </p:sp>
      <p:sp>
        <p:nvSpPr>
          <p:cNvPr id="220" name="d"/>
          <p:cNvSpPr/>
          <p:nvPr/>
        </p:nvSpPr>
        <p:spPr>
          <a:xfrm>
            <a:off x="1493520" y="2049780"/>
            <a:ext cx="127000" cy="127000"/>
          </a:xfrm>
          <a:prstGeom prst="ellipse">
            <a:avLst/>
          </a:prstGeom>
          <a:solidFill>
            <a:srgbClr val="DAD4EC"/>
          </a:solidFill>
          <a:ln>
            <a:noFill/>
          </a:ln>
        </p:spPr>
        <p:txBody>
          <a:bodyPr/>
          <a:lstStyle/>
          <a:p>
            <a:endParaRPr lang="en-US"/>
          </a:p>
        </p:txBody>
      </p:sp>
      <p:sp>
        <p:nvSpPr>
          <p:cNvPr id="221" name="d"/>
          <p:cNvSpPr/>
          <p:nvPr/>
        </p:nvSpPr>
        <p:spPr>
          <a:xfrm>
            <a:off x="1663700" y="2049780"/>
            <a:ext cx="127000" cy="127000"/>
          </a:xfrm>
          <a:prstGeom prst="ellipse">
            <a:avLst/>
          </a:prstGeom>
          <a:solidFill>
            <a:srgbClr val="DAD4EC"/>
          </a:solidFill>
          <a:ln>
            <a:noFill/>
          </a:ln>
        </p:spPr>
        <p:txBody>
          <a:bodyPr/>
          <a:lstStyle/>
          <a:p>
            <a:endParaRPr lang="en-US"/>
          </a:p>
        </p:txBody>
      </p:sp>
      <p:sp>
        <p:nvSpPr>
          <p:cNvPr id="222" name="d"/>
          <p:cNvSpPr/>
          <p:nvPr/>
        </p:nvSpPr>
        <p:spPr>
          <a:xfrm>
            <a:off x="1833880" y="2049780"/>
            <a:ext cx="127000" cy="127000"/>
          </a:xfrm>
          <a:prstGeom prst="ellipse">
            <a:avLst/>
          </a:prstGeom>
          <a:solidFill>
            <a:srgbClr val="DAD4EC"/>
          </a:solidFill>
          <a:ln>
            <a:noFill/>
          </a:ln>
        </p:spPr>
        <p:txBody>
          <a:bodyPr/>
          <a:lstStyle/>
          <a:p>
            <a:endParaRPr lang="en-US"/>
          </a:p>
        </p:txBody>
      </p:sp>
      <p:sp>
        <p:nvSpPr>
          <p:cNvPr id="223" name="d"/>
          <p:cNvSpPr/>
          <p:nvPr/>
        </p:nvSpPr>
        <p:spPr>
          <a:xfrm>
            <a:off x="2004060" y="2049780"/>
            <a:ext cx="127000" cy="127000"/>
          </a:xfrm>
          <a:prstGeom prst="ellipse">
            <a:avLst/>
          </a:prstGeom>
          <a:solidFill>
            <a:srgbClr val="DAD4EC"/>
          </a:solidFill>
          <a:ln>
            <a:noFill/>
          </a:ln>
        </p:spPr>
        <p:txBody>
          <a:bodyPr/>
          <a:lstStyle/>
          <a:p>
            <a:endParaRPr lang="en-US"/>
          </a:p>
        </p:txBody>
      </p:sp>
      <p:sp>
        <p:nvSpPr>
          <p:cNvPr id="224" name="d"/>
          <p:cNvSpPr/>
          <p:nvPr/>
        </p:nvSpPr>
        <p:spPr>
          <a:xfrm>
            <a:off x="2174240" y="2049780"/>
            <a:ext cx="127000" cy="127000"/>
          </a:xfrm>
          <a:prstGeom prst="ellipse">
            <a:avLst/>
          </a:prstGeom>
          <a:solidFill>
            <a:srgbClr val="DAD4EC"/>
          </a:solidFill>
          <a:ln>
            <a:noFill/>
          </a:ln>
        </p:spPr>
        <p:txBody>
          <a:bodyPr/>
          <a:lstStyle/>
          <a:p>
            <a:endParaRPr lang="en-US"/>
          </a:p>
        </p:txBody>
      </p:sp>
      <p:sp>
        <p:nvSpPr>
          <p:cNvPr id="225" name="d"/>
          <p:cNvSpPr/>
          <p:nvPr/>
        </p:nvSpPr>
        <p:spPr>
          <a:xfrm>
            <a:off x="2344420" y="2049780"/>
            <a:ext cx="127000" cy="127000"/>
          </a:xfrm>
          <a:prstGeom prst="ellipse">
            <a:avLst/>
          </a:prstGeom>
          <a:solidFill>
            <a:srgbClr val="DAD4EC"/>
          </a:solidFill>
          <a:ln>
            <a:noFill/>
          </a:ln>
        </p:spPr>
        <p:txBody>
          <a:bodyPr/>
          <a:lstStyle/>
          <a:p>
            <a:endParaRPr lang="en-US"/>
          </a:p>
        </p:txBody>
      </p:sp>
      <p:sp>
        <p:nvSpPr>
          <p:cNvPr id="226" name="d"/>
          <p:cNvSpPr/>
          <p:nvPr/>
        </p:nvSpPr>
        <p:spPr>
          <a:xfrm>
            <a:off x="812800" y="2219960"/>
            <a:ext cx="127000" cy="127000"/>
          </a:xfrm>
          <a:prstGeom prst="ellipse">
            <a:avLst/>
          </a:prstGeom>
          <a:solidFill>
            <a:srgbClr val="DAD4EC"/>
          </a:solidFill>
          <a:ln>
            <a:noFill/>
          </a:ln>
        </p:spPr>
        <p:txBody>
          <a:bodyPr/>
          <a:lstStyle/>
          <a:p>
            <a:endParaRPr lang="en-US"/>
          </a:p>
        </p:txBody>
      </p:sp>
      <p:sp>
        <p:nvSpPr>
          <p:cNvPr id="227" name="d"/>
          <p:cNvSpPr/>
          <p:nvPr/>
        </p:nvSpPr>
        <p:spPr>
          <a:xfrm>
            <a:off x="982980" y="2219960"/>
            <a:ext cx="127000" cy="127000"/>
          </a:xfrm>
          <a:prstGeom prst="ellipse">
            <a:avLst/>
          </a:prstGeom>
          <a:solidFill>
            <a:srgbClr val="DAD4EC"/>
          </a:solidFill>
          <a:ln>
            <a:noFill/>
          </a:ln>
        </p:spPr>
        <p:txBody>
          <a:bodyPr/>
          <a:lstStyle/>
          <a:p>
            <a:endParaRPr lang="en-US"/>
          </a:p>
        </p:txBody>
      </p:sp>
      <p:sp>
        <p:nvSpPr>
          <p:cNvPr id="228" name="d"/>
          <p:cNvSpPr/>
          <p:nvPr/>
        </p:nvSpPr>
        <p:spPr>
          <a:xfrm>
            <a:off x="1153160" y="2219960"/>
            <a:ext cx="127000" cy="127000"/>
          </a:xfrm>
          <a:prstGeom prst="ellipse">
            <a:avLst/>
          </a:prstGeom>
          <a:solidFill>
            <a:srgbClr val="DAD4EC"/>
          </a:solidFill>
          <a:ln>
            <a:noFill/>
          </a:ln>
        </p:spPr>
        <p:txBody>
          <a:bodyPr/>
          <a:lstStyle/>
          <a:p>
            <a:endParaRPr lang="en-US"/>
          </a:p>
        </p:txBody>
      </p:sp>
      <p:sp>
        <p:nvSpPr>
          <p:cNvPr id="229" name="d"/>
          <p:cNvSpPr/>
          <p:nvPr/>
        </p:nvSpPr>
        <p:spPr>
          <a:xfrm>
            <a:off x="1323340" y="2219960"/>
            <a:ext cx="127000" cy="127000"/>
          </a:xfrm>
          <a:prstGeom prst="ellipse">
            <a:avLst/>
          </a:prstGeom>
          <a:solidFill>
            <a:srgbClr val="DAD4EC"/>
          </a:solidFill>
          <a:ln>
            <a:noFill/>
          </a:ln>
        </p:spPr>
        <p:txBody>
          <a:bodyPr/>
          <a:lstStyle/>
          <a:p>
            <a:endParaRPr lang="en-US"/>
          </a:p>
        </p:txBody>
      </p:sp>
      <p:sp>
        <p:nvSpPr>
          <p:cNvPr id="230" name="d"/>
          <p:cNvSpPr/>
          <p:nvPr/>
        </p:nvSpPr>
        <p:spPr>
          <a:xfrm>
            <a:off x="1493520" y="2219960"/>
            <a:ext cx="127000" cy="127000"/>
          </a:xfrm>
          <a:prstGeom prst="ellipse">
            <a:avLst/>
          </a:prstGeom>
          <a:solidFill>
            <a:srgbClr val="DAD4EC"/>
          </a:solidFill>
          <a:ln>
            <a:noFill/>
          </a:ln>
        </p:spPr>
        <p:txBody>
          <a:bodyPr/>
          <a:lstStyle/>
          <a:p>
            <a:endParaRPr lang="en-US"/>
          </a:p>
        </p:txBody>
      </p:sp>
      <p:sp>
        <p:nvSpPr>
          <p:cNvPr id="231" name="d"/>
          <p:cNvSpPr/>
          <p:nvPr/>
        </p:nvSpPr>
        <p:spPr>
          <a:xfrm>
            <a:off x="1663700" y="2219960"/>
            <a:ext cx="127000" cy="127000"/>
          </a:xfrm>
          <a:prstGeom prst="ellipse">
            <a:avLst/>
          </a:prstGeom>
          <a:solidFill>
            <a:srgbClr val="DAD4EC"/>
          </a:solidFill>
          <a:ln>
            <a:noFill/>
          </a:ln>
        </p:spPr>
        <p:txBody>
          <a:bodyPr/>
          <a:lstStyle/>
          <a:p>
            <a:endParaRPr lang="en-US"/>
          </a:p>
        </p:txBody>
      </p:sp>
      <p:sp>
        <p:nvSpPr>
          <p:cNvPr id="232" name="d"/>
          <p:cNvSpPr/>
          <p:nvPr/>
        </p:nvSpPr>
        <p:spPr>
          <a:xfrm>
            <a:off x="1833880" y="2219960"/>
            <a:ext cx="127000" cy="127000"/>
          </a:xfrm>
          <a:prstGeom prst="ellipse">
            <a:avLst/>
          </a:prstGeom>
          <a:solidFill>
            <a:srgbClr val="DAD4EC"/>
          </a:solidFill>
          <a:ln>
            <a:noFill/>
          </a:ln>
        </p:spPr>
        <p:txBody>
          <a:bodyPr/>
          <a:lstStyle/>
          <a:p>
            <a:endParaRPr lang="en-US"/>
          </a:p>
        </p:txBody>
      </p:sp>
      <p:sp>
        <p:nvSpPr>
          <p:cNvPr id="233" name="d"/>
          <p:cNvSpPr/>
          <p:nvPr/>
        </p:nvSpPr>
        <p:spPr>
          <a:xfrm>
            <a:off x="2004060" y="2219960"/>
            <a:ext cx="127000" cy="127000"/>
          </a:xfrm>
          <a:prstGeom prst="ellipse">
            <a:avLst/>
          </a:prstGeom>
          <a:solidFill>
            <a:srgbClr val="DAD4EC"/>
          </a:solidFill>
          <a:ln>
            <a:noFill/>
          </a:ln>
        </p:spPr>
        <p:txBody>
          <a:bodyPr/>
          <a:lstStyle/>
          <a:p>
            <a:endParaRPr lang="en-US"/>
          </a:p>
        </p:txBody>
      </p:sp>
      <p:sp>
        <p:nvSpPr>
          <p:cNvPr id="234" name="d"/>
          <p:cNvSpPr/>
          <p:nvPr/>
        </p:nvSpPr>
        <p:spPr>
          <a:xfrm>
            <a:off x="2174240" y="2219960"/>
            <a:ext cx="127000" cy="127000"/>
          </a:xfrm>
          <a:prstGeom prst="ellipse">
            <a:avLst/>
          </a:prstGeom>
          <a:solidFill>
            <a:srgbClr val="DAD4EC"/>
          </a:solidFill>
          <a:ln>
            <a:noFill/>
          </a:ln>
        </p:spPr>
        <p:txBody>
          <a:bodyPr/>
          <a:lstStyle/>
          <a:p>
            <a:endParaRPr lang="en-US"/>
          </a:p>
        </p:txBody>
      </p:sp>
      <p:sp>
        <p:nvSpPr>
          <p:cNvPr id="235" name="d"/>
          <p:cNvSpPr/>
          <p:nvPr/>
        </p:nvSpPr>
        <p:spPr>
          <a:xfrm>
            <a:off x="2344420" y="2219960"/>
            <a:ext cx="127000" cy="127000"/>
          </a:xfrm>
          <a:prstGeom prst="ellipse">
            <a:avLst/>
          </a:prstGeom>
          <a:solidFill>
            <a:srgbClr val="DAD4EC"/>
          </a:solidFill>
          <a:ln>
            <a:noFill/>
          </a:ln>
        </p:spPr>
        <p:txBody>
          <a:bodyPr/>
          <a:lstStyle/>
          <a:p>
            <a:endParaRPr lang="en-US"/>
          </a:p>
        </p:txBody>
      </p:sp>
      <p:sp>
        <p:nvSpPr>
          <p:cNvPr id="236" name="d"/>
          <p:cNvSpPr/>
          <p:nvPr/>
        </p:nvSpPr>
        <p:spPr>
          <a:xfrm>
            <a:off x="812800" y="2390140"/>
            <a:ext cx="127000" cy="127000"/>
          </a:xfrm>
          <a:prstGeom prst="ellipse">
            <a:avLst/>
          </a:prstGeom>
          <a:solidFill>
            <a:srgbClr val="DAD4EC"/>
          </a:solidFill>
          <a:ln>
            <a:noFill/>
          </a:ln>
        </p:spPr>
        <p:txBody>
          <a:bodyPr/>
          <a:lstStyle/>
          <a:p>
            <a:endParaRPr lang="en-US"/>
          </a:p>
        </p:txBody>
      </p:sp>
      <p:sp>
        <p:nvSpPr>
          <p:cNvPr id="237" name="d"/>
          <p:cNvSpPr/>
          <p:nvPr/>
        </p:nvSpPr>
        <p:spPr>
          <a:xfrm>
            <a:off x="982980" y="2390140"/>
            <a:ext cx="127000" cy="127000"/>
          </a:xfrm>
          <a:prstGeom prst="ellipse">
            <a:avLst/>
          </a:prstGeom>
          <a:solidFill>
            <a:srgbClr val="DAD4EC"/>
          </a:solidFill>
          <a:ln>
            <a:noFill/>
          </a:ln>
        </p:spPr>
        <p:txBody>
          <a:bodyPr/>
          <a:lstStyle/>
          <a:p>
            <a:endParaRPr lang="en-US"/>
          </a:p>
        </p:txBody>
      </p:sp>
      <p:sp>
        <p:nvSpPr>
          <p:cNvPr id="238" name="d"/>
          <p:cNvSpPr/>
          <p:nvPr/>
        </p:nvSpPr>
        <p:spPr>
          <a:xfrm>
            <a:off x="1153160" y="2390140"/>
            <a:ext cx="127000" cy="127000"/>
          </a:xfrm>
          <a:prstGeom prst="ellipse">
            <a:avLst/>
          </a:prstGeom>
          <a:solidFill>
            <a:srgbClr val="DAD4EC"/>
          </a:solidFill>
          <a:ln>
            <a:noFill/>
          </a:ln>
        </p:spPr>
        <p:txBody>
          <a:bodyPr/>
          <a:lstStyle/>
          <a:p>
            <a:endParaRPr lang="en-US"/>
          </a:p>
        </p:txBody>
      </p:sp>
      <p:sp>
        <p:nvSpPr>
          <p:cNvPr id="239" name="d"/>
          <p:cNvSpPr/>
          <p:nvPr/>
        </p:nvSpPr>
        <p:spPr>
          <a:xfrm>
            <a:off x="1323340" y="2390140"/>
            <a:ext cx="127000" cy="127000"/>
          </a:xfrm>
          <a:prstGeom prst="ellipse">
            <a:avLst/>
          </a:prstGeom>
          <a:solidFill>
            <a:srgbClr val="DAD4EC"/>
          </a:solidFill>
          <a:ln>
            <a:noFill/>
          </a:ln>
        </p:spPr>
        <p:txBody>
          <a:bodyPr/>
          <a:lstStyle/>
          <a:p>
            <a:endParaRPr lang="en-US"/>
          </a:p>
        </p:txBody>
      </p:sp>
      <p:sp>
        <p:nvSpPr>
          <p:cNvPr id="240" name="d"/>
          <p:cNvSpPr/>
          <p:nvPr/>
        </p:nvSpPr>
        <p:spPr>
          <a:xfrm>
            <a:off x="1493520" y="2390140"/>
            <a:ext cx="127000" cy="127000"/>
          </a:xfrm>
          <a:prstGeom prst="ellipse">
            <a:avLst/>
          </a:prstGeom>
          <a:solidFill>
            <a:srgbClr val="DAD4EC"/>
          </a:solidFill>
          <a:ln>
            <a:noFill/>
          </a:ln>
        </p:spPr>
        <p:txBody>
          <a:bodyPr/>
          <a:lstStyle/>
          <a:p>
            <a:endParaRPr lang="en-US"/>
          </a:p>
        </p:txBody>
      </p:sp>
      <p:sp>
        <p:nvSpPr>
          <p:cNvPr id="241" name="d"/>
          <p:cNvSpPr/>
          <p:nvPr/>
        </p:nvSpPr>
        <p:spPr>
          <a:xfrm>
            <a:off x="1663700" y="2390140"/>
            <a:ext cx="127000" cy="127000"/>
          </a:xfrm>
          <a:prstGeom prst="ellipse">
            <a:avLst/>
          </a:prstGeom>
          <a:solidFill>
            <a:srgbClr val="DAD4EC"/>
          </a:solidFill>
          <a:ln>
            <a:noFill/>
          </a:ln>
        </p:spPr>
        <p:txBody>
          <a:bodyPr/>
          <a:lstStyle/>
          <a:p>
            <a:endParaRPr lang="en-US"/>
          </a:p>
        </p:txBody>
      </p:sp>
      <p:sp>
        <p:nvSpPr>
          <p:cNvPr id="242" name="d"/>
          <p:cNvSpPr/>
          <p:nvPr/>
        </p:nvSpPr>
        <p:spPr>
          <a:xfrm>
            <a:off x="1833880" y="2390140"/>
            <a:ext cx="127000" cy="127000"/>
          </a:xfrm>
          <a:prstGeom prst="ellipse">
            <a:avLst/>
          </a:prstGeom>
          <a:solidFill>
            <a:srgbClr val="DAD4EC"/>
          </a:solidFill>
          <a:ln>
            <a:noFill/>
          </a:ln>
        </p:spPr>
        <p:txBody>
          <a:bodyPr/>
          <a:lstStyle/>
          <a:p>
            <a:endParaRPr lang="en-US"/>
          </a:p>
        </p:txBody>
      </p:sp>
      <p:sp>
        <p:nvSpPr>
          <p:cNvPr id="243" name="d"/>
          <p:cNvSpPr/>
          <p:nvPr/>
        </p:nvSpPr>
        <p:spPr>
          <a:xfrm>
            <a:off x="2004060" y="2390140"/>
            <a:ext cx="127000" cy="127000"/>
          </a:xfrm>
          <a:prstGeom prst="ellipse">
            <a:avLst/>
          </a:prstGeom>
          <a:solidFill>
            <a:srgbClr val="DAD4EC"/>
          </a:solidFill>
          <a:ln>
            <a:noFill/>
          </a:ln>
        </p:spPr>
        <p:txBody>
          <a:bodyPr/>
          <a:lstStyle/>
          <a:p>
            <a:endParaRPr lang="en-US"/>
          </a:p>
        </p:txBody>
      </p:sp>
      <p:sp>
        <p:nvSpPr>
          <p:cNvPr id="244" name="d"/>
          <p:cNvSpPr/>
          <p:nvPr/>
        </p:nvSpPr>
        <p:spPr>
          <a:xfrm>
            <a:off x="2174240" y="2390140"/>
            <a:ext cx="127000" cy="127000"/>
          </a:xfrm>
          <a:prstGeom prst="ellipse">
            <a:avLst/>
          </a:prstGeom>
          <a:solidFill>
            <a:srgbClr val="DAD4EC"/>
          </a:solidFill>
          <a:ln>
            <a:noFill/>
          </a:ln>
        </p:spPr>
        <p:txBody>
          <a:bodyPr/>
          <a:lstStyle/>
          <a:p>
            <a:endParaRPr lang="en-US"/>
          </a:p>
        </p:txBody>
      </p:sp>
      <p:sp>
        <p:nvSpPr>
          <p:cNvPr id="245" name="d"/>
          <p:cNvSpPr/>
          <p:nvPr/>
        </p:nvSpPr>
        <p:spPr>
          <a:xfrm>
            <a:off x="2344420" y="2390140"/>
            <a:ext cx="127000" cy="127000"/>
          </a:xfrm>
          <a:prstGeom prst="ellipse">
            <a:avLst/>
          </a:prstGeom>
          <a:solidFill>
            <a:srgbClr val="DAD4EC"/>
          </a:solidFill>
          <a:ln>
            <a:noFill/>
          </a:ln>
        </p:spPr>
        <p:txBody>
          <a:bodyPr/>
          <a:lstStyle/>
          <a:p>
            <a:endParaRPr lang="en-US"/>
          </a:p>
        </p:txBody>
      </p:sp>
      <p:sp>
        <p:nvSpPr>
          <p:cNvPr id="246" name="d"/>
          <p:cNvSpPr/>
          <p:nvPr/>
        </p:nvSpPr>
        <p:spPr>
          <a:xfrm>
            <a:off x="812800" y="2560320"/>
            <a:ext cx="127000" cy="127000"/>
          </a:xfrm>
          <a:prstGeom prst="ellipse">
            <a:avLst/>
          </a:prstGeom>
          <a:solidFill>
            <a:srgbClr val="DAD4EC"/>
          </a:solidFill>
          <a:ln>
            <a:noFill/>
          </a:ln>
        </p:spPr>
        <p:txBody>
          <a:bodyPr/>
          <a:lstStyle/>
          <a:p>
            <a:endParaRPr lang="en-US"/>
          </a:p>
        </p:txBody>
      </p:sp>
      <p:sp>
        <p:nvSpPr>
          <p:cNvPr id="247" name="d"/>
          <p:cNvSpPr/>
          <p:nvPr/>
        </p:nvSpPr>
        <p:spPr>
          <a:xfrm>
            <a:off x="982980" y="2560320"/>
            <a:ext cx="127000" cy="127000"/>
          </a:xfrm>
          <a:prstGeom prst="ellipse">
            <a:avLst/>
          </a:prstGeom>
          <a:solidFill>
            <a:srgbClr val="DAD4EC"/>
          </a:solidFill>
          <a:ln>
            <a:noFill/>
          </a:ln>
        </p:spPr>
        <p:txBody>
          <a:bodyPr/>
          <a:lstStyle/>
          <a:p>
            <a:endParaRPr lang="en-US"/>
          </a:p>
        </p:txBody>
      </p:sp>
      <p:sp>
        <p:nvSpPr>
          <p:cNvPr id="248" name="d"/>
          <p:cNvSpPr/>
          <p:nvPr/>
        </p:nvSpPr>
        <p:spPr>
          <a:xfrm>
            <a:off x="1153160" y="2560320"/>
            <a:ext cx="127000" cy="127000"/>
          </a:xfrm>
          <a:prstGeom prst="ellipse">
            <a:avLst/>
          </a:prstGeom>
          <a:solidFill>
            <a:srgbClr val="DAD4EC"/>
          </a:solidFill>
          <a:ln>
            <a:noFill/>
          </a:ln>
        </p:spPr>
        <p:txBody>
          <a:bodyPr/>
          <a:lstStyle/>
          <a:p>
            <a:endParaRPr lang="en-US"/>
          </a:p>
        </p:txBody>
      </p:sp>
      <p:sp>
        <p:nvSpPr>
          <p:cNvPr id="249" name="d"/>
          <p:cNvSpPr/>
          <p:nvPr/>
        </p:nvSpPr>
        <p:spPr>
          <a:xfrm>
            <a:off x="1323340" y="2560320"/>
            <a:ext cx="127000" cy="127000"/>
          </a:xfrm>
          <a:prstGeom prst="ellipse">
            <a:avLst/>
          </a:prstGeom>
          <a:solidFill>
            <a:srgbClr val="DAD4EC"/>
          </a:solidFill>
          <a:ln>
            <a:noFill/>
          </a:ln>
        </p:spPr>
        <p:txBody>
          <a:bodyPr/>
          <a:lstStyle/>
          <a:p>
            <a:endParaRPr lang="en-US"/>
          </a:p>
        </p:txBody>
      </p:sp>
      <p:sp>
        <p:nvSpPr>
          <p:cNvPr id="250" name="d"/>
          <p:cNvSpPr/>
          <p:nvPr/>
        </p:nvSpPr>
        <p:spPr>
          <a:xfrm>
            <a:off x="1493520" y="2560320"/>
            <a:ext cx="127000" cy="127000"/>
          </a:xfrm>
          <a:prstGeom prst="ellipse">
            <a:avLst/>
          </a:prstGeom>
          <a:solidFill>
            <a:srgbClr val="DAD4EC"/>
          </a:solidFill>
          <a:ln>
            <a:noFill/>
          </a:ln>
        </p:spPr>
        <p:txBody>
          <a:bodyPr/>
          <a:lstStyle/>
          <a:p>
            <a:endParaRPr lang="en-US"/>
          </a:p>
        </p:txBody>
      </p:sp>
      <p:sp>
        <p:nvSpPr>
          <p:cNvPr id="251" name="d"/>
          <p:cNvSpPr/>
          <p:nvPr/>
        </p:nvSpPr>
        <p:spPr>
          <a:xfrm>
            <a:off x="1663700" y="2560320"/>
            <a:ext cx="127000" cy="127000"/>
          </a:xfrm>
          <a:prstGeom prst="ellipse">
            <a:avLst/>
          </a:prstGeom>
          <a:solidFill>
            <a:srgbClr val="DAD4EC"/>
          </a:solidFill>
          <a:ln>
            <a:noFill/>
          </a:ln>
        </p:spPr>
        <p:txBody>
          <a:bodyPr/>
          <a:lstStyle/>
          <a:p>
            <a:endParaRPr lang="en-US"/>
          </a:p>
        </p:txBody>
      </p:sp>
      <p:sp>
        <p:nvSpPr>
          <p:cNvPr id="252" name="d"/>
          <p:cNvSpPr/>
          <p:nvPr/>
        </p:nvSpPr>
        <p:spPr>
          <a:xfrm>
            <a:off x="1833880" y="2560320"/>
            <a:ext cx="127000" cy="127000"/>
          </a:xfrm>
          <a:prstGeom prst="ellipse">
            <a:avLst/>
          </a:prstGeom>
          <a:solidFill>
            <a:srgbClr val="DAD4EC"/>
          </a:solidFill>
          <a:ln>
            <a:noFill/>
          </a:ln>
        </p:spPr>
        <p:txBody>
          <a:bodyPr/>
          <a:lstStyle/>
          <a:p>
            <a:endParaRPr lang="en-US"/>
          </a:p>
        </p:txBody>
      </p:sp>
      <p:sp>
        <p:nvSpPr>
          <p:cNvPr id="253" name="d"/>
          <p:cNvSpPr/>
          <p:nvPr/>
        </p:nvSpPr>
        <p:spPr>
          <a:xfrm>
            <a:off x="2004060" y="2560320"/>
            <a:ext cx="127000" cy="127000"/>
          </a:xfrm>
          <a:prstGeom prst="ellipse">
            <a:avLst/>
          </a:prstGeom>
          <a:solidFill>
            <a:srgbClr val="DAD4EC"/>
          </a:solidFill>
          <a:ln>
            <a:noFill/>
          </a:ln>
        </p:spPr>
        <p:txBody>
          <a:bodyPr/>
          <a:lstStyle/>
          <a:p>
            <a:endParaRPr lang="en-US"/>
          </a:p>
        </p:txBody>
      </p:sp>
      <p:sp>
        <p:nvSpPr>
          <p:cNvPr id="254" name="d"/>
          <p:cNvSpPr/>
          <p:nvPr/>
        </p:nvSpPr>
        <p:spPr>
          <a:xfrm>
            <a:off x="2174240" y="2560320"/>
            <a:ext cx="127000" cy="127000"/>
          </a:xfrm>
          <a:prstGeom prst="ellipse">
            <a:avLst/>
          </a:prstGeom>
          <a:solidFill>
            <a:srgbClr val="DAD4EC"/>
          </a:solidFill>
          <a:ln>
            <a:noFill/>
          </a:ln>
        </p:spPr>
        <p:txBody>
          <a:bodyPr/>
          <a:lstStyle/>
          <a:p>
            <a:endParaRPr lang="en-US"/>
          </a:p>
        </p:txBody>
      </p:sp>
      <p:sp>
        <p:nvSpPr>
          <p:cNvPr id="255" name="d"/>
          <p:cNvSpPr/>
          <p:nvPr/>
        </p:nvSpPr>
        <p:spPr>
          <a:xfrm>
            <a:off x="2344420" y="2560320"/>
            <a:ext cx="127000" cy="127000"/>
          </a:xfrm>
          <a:prstGeom prst="ellipse">
            <a:avLst/>
          </a:prstGeom>
          <a:solidFill>
            <a:srgbClr val="DAD4EC"/>
          </a:solidFill>
          <a:ln>
            <a:noFill/>
          </a:ln>
        </p:spPr>
        <p:txBody>
          <a:bodyPr/>
          <a:lstStyle/>
          <a:p>
            <a:endParaRPr lang="en-US"/>
          </a:p>
        </p:txBody>
      </p:sp>
      <p:sp>
        <p:nvSpPr>
          <p:cNvPr id="256" name="d"/>
          <p:cNvSpPr/>
          <p:nvPr/>
        </p:nvSpPr>
        <p:spPr>
          <a:xfrm>
            <a:off x="812800" y="2730500"/>
            <a:ext cx="127000" cy="127000"/>
          </a:xfrm>
          <a:prstGeom prst="ellipse">
            <a:avLst/>
          </a:prstGeom>
          <a:solidFill>
            <a:srgbClr val="DAD4EC"/>
          </a:solidFill>
          <a:ln>
            <a:noFill/>
          </a:ln>
        </p:spPr>
        <p:txBody>
          <a:bodyPr/>
          <a:lstStyle/>
          <a:p>
            <a:endParaRPr lang="en-US"/>
          </a:p>
        </p:txBody>
      </p:sp>
      <p:sp>
        <p:nvSpPr>
          <p:cNvPr id="257" name="d"/>
          <p:cNvSpPr/>
          <p:nvPr/>
        </p:nvSpPr>
        <p:spPr>
          <a:xfrm>
            <a:off x="982980" y="2730500"/>
            <a:ext cx="127000" cy="127000"/>
          </a:xfrm>
          <a:prstGeom prst="ellipse">
            <a:avLst/>
          </a:prstGeom>
          <a:solidFill>
            <a:srgbClr val="DAD4EC"/>
          </a:solidFill>
          <a:ln>
            <a:noFill/>
          </a:ln>
        </p:spPr>
        <p:txBody>
          <a:bodyPr/>
          <a:lstStyle/>
          <a:p>
            <a:endParaRPr lang="en-US"/>
          </a:p>
        </p:txBody>
      </p:sp>
      <p:sp>
        <p:nvSpPr>
          <p:cNvPr id="258" name="d"/>
          <p:cNvSpPr/>
          <p:nvPr/>
        </p:nvSpPr>
        <p:spPr>
          <a:xfrm>
            <a:off x="1153160" y="2730500"/>
            <a:ext cx="127000" cy="127000"/>
          </a:xfrm>
          <a:prstGeom prst="ellipse">
            <a:avLst/>
          </a:prstGeom>
          <a:solidFill>
            <a:srgbClr val="DAD4EC"/>
          </a:solidFill>
          <a:ln>
            <a:noFill/>
          </a:ln>
        </p:spPr>
        <p:txBody>
          <a:bodyPr/>
          <a:lstStyle/>
          <a:p>
            <a:endParaRPr lang="en-US"/>
          </a:p>
        </p:txBody>
      </p:sp>
      <p:sp>
        <p:nvSpPr>
          <p:cNvPr id="259" name="d"/>
          <p:cNvSpPr/>
          <p:nvPr/>
        </p:nvSpPr>
        <p:spPr>
          <a:xfrm>
            <a:off x="1323340" y="2730500"/>
            <a:ext cx="127000" cy="127000"/>
          </a:xfrm>
          <a:prstGeom prst="ellipse">
            <a:avLst/>
          </a:prstGeom>
          <a:solidFill>
            <a:srgbClr val="DAD4EC"/>
          </a:solidFill>
          <a:ln>
            <a:noFill/>
          </a:ln>
        </p:spPr>
        <p:txBody>
          <a:bodyPr/>
          <a:lstStyle/>
          <a:p>
            <a:endParaRPr lang="en-US"/>
          </a:p>
        </p:txBody>
      </p:sp>
      <p:sp>
        <p:nvSpPr>
          <p:cNvPr id="260" name="d"/>
          <p:cNvSpPr/>
          <p:nvPr/>
        </p:nvSpPr>
        <p:spPr>
          <a:xfrm>
            <a:off x="1493520" y="2730500"/>
            <a:ext cx="127000" cy="127000"/>
          </a:xfrm>
          <a:prstGeom prst="ellipse">
            <a:avLst/>
          </a:prstGeom>
          <a:solidFill>
            <a:srgbClr val="DAD4EC"/>
          </a:solidFill>
          <a:ln>
            <a:noFill/>
          </a:ln>
        </p:spPr>
        <p:txBody>
          <a:bodyPr/>
          <a:lstStyle/>
          <a:p>
            <a:endParaRPr lang="en-US"/>
          </a:p>
        </p:txBody>
      </p:sp>
      <p:sp>
        <p:nvSpPr>
          <p:cNvPr id="261" name="d"/>
          <p:cNvSpPr/>
          <p:nvPr/>
        </p:nvSpPr>
        <p:spPr>
          <a:xfrm>
            <a:off x="1663700" y="2730500"/>
            <a:ext cx="127000" cy="127000"/>
          </a:xfrm>
          <a:prstGeom prst="ellipse">
            <a:avLst/>
          </a:prstGeom>
          <a:solidFill>
            <a:srgbClr val="DAD4EC"/>
          </a:solidFill>
          <a:ln>
            <a:noFill/>
          </a:ln>
        </p:spPr>
        <p:txBody>
          <a:bodyPr/>
          <a:lstStyle/>
          <a:p>
            <a:endParaRPr lang="en-US"/>
          </a:p>
        </p:txBody>
      </p:sp>
      <p:sp>
        <p:nvSpPr>
          <p:cNvPr id="262" name="d"/>
          <p:cNvSpPr/>
          <p:nvPr/>
        </p:nvSpPr>
        <p:spPr>
          <a:xfrm>
            <a:off x="1833880" y="2730500"/>
            <a:ext cx="127000" cy="127000"/>
          </a:xfrm>
          <a:prstGeom prst="ellipse">
            <a:avLst/>
          </a:prstGeom>
          <a:solidFill>
            <a:srgbClr val="DAD4EC"/>
          </a:solidFill>
          <a:ln>
            <a:noFill/>
          </a:ln>
        </p:spPr>
        <p:txBody>
          <a:bodyPr/>
          <a:lstStyle/>
          <a:p>
            <a:endParaRPr lang="en-US"/>
          </a:p>
        </p:txBody>
      </p:sp>
      <p:sp>
        <p:nvSpPr>
          <p:cNvPr id="263" name="d"/>
          <p:cNvSpPr/>
          <p:nvPr/>
        </p:nvSpPr>
        <p:spPr>
          <a:xfrm>
            <a:off x="2004060" y="2730500"/>
            <a:ext cx="127000" cy="127000"/>
          </a:xfrm>
          <a:prstGeom prst="ellipse">
            <a:avLst/>
          </a:prstGeom>
          <a:solidFill>
            <a:srgbClr val="DAD4EC"/>
          </a:solidFill>
          <a:ln>
            <a:noFill/>
          </a:ln>
        </p:spPr>
        <p:txBody>
          <a:bodyPr/>
          <a:lstStyle/>
          <a:p>
            <a:endParaRPr lang="en-US"/>
          </a:p>
        </p:txBody>
      </p:sp>
      <p:sp>
        <p:nvSpPr>
          <p:cNvPr id="264" name="d"/>
          <p:cNvSpPr/>
          <p:nvPr/>
        </p:nvSpPr>
        <p:spPr>
          <a:xfrm>
            <a:off x="2174240" y="2730500"/>
            <a:ext cx="127000" cy="127000"/>
          </a:xfrm>
          <a:prstGeom prst="ellipse">
            <a:avLst/>
          </a:prstGeom>
          <a:solidFill>
            <a:srgbClr val="DAD4EC"/>
          </a:solidFill>
          <a:ln>
            <a:noFill/>
          </a:ln>
        </p:spPr>
        <p:txBody>
          <a:bodyPr/>
          <a:lstStyle/>
          <a:p>
            <a:endParaRPr lang="en-US"/>
          </a:p>
        </p:txBody>
      </p:sp>
      <p:sp>
        <p:nvSpPr>
          <p:cNvPr id="265" name="d"/>
          <p:cNvSpPr/>
          <p:nvPr/>
        </p:nvSpPr>
        <p:spPr>
          <a:xfrm>
            <a:off x="2344420" y="2730500"/>
            <a:ext cx="127000" cy="127000"/>
          </a:xfrm>
          <a:prstGeom prst="ellipse">
            <a:avLst/>
          </a:prstGeom>
          <a:solidFill>
            <a:srgbClr val="DAD4EC"/>
          </a:solidFill>
          <a:ln>
            <a:noFill/>
          </a:ln>
        </p:spPr>
        <p:txBody>
          <a:bodyPr/>
          <a:lstStyle/>
          <a:p>
            <a:endParaRPr lang="en-US"/>
          </a:p>
        </p:txBody>
      </p:sp>
      <p:sp>
        <p:nvSpPr>
          <p:cNvPr id="266" name="d"/>
          <p:cNvSpPr/>
          <p:nvPr/>
        </p:nvSpPr>
        <p:spPr>
          <a:xfrm>
            <a:off x="812800" y="2900680"/>
            <a:ext cx="127000" cy="127000"/>
          </a:xfrm>
          <a:prstGeom prst="ellipse">
            <a:avLst/>
          </a:prstGeom>
          <a:solidFill>
            <a:srgbClr val="DAD4EC"/>
          </a:solidFill>
          <a:ln>
            <a:noFill/>
          </a:ln>
        </p:spPr>
        <p:txBody>
          <a:bodyPr/>
          <a:lstStyle/>
          <a:p>
            <a:endParaRPr lang="en-US"/>
          </a:p>
        </p:txBody>
      </p:sp>
      <p:sp>
        <p:nvSpPr>
          <p:cNvPr id="267" name="d"/>
          <p:cNvSpPr/>
          <p:nvPr/>
        </p:nvSpPr>
        <p:spPr>
          <a:xfrm>
            <a:off x="982980" y="2900680"/>
            <a:ext cx="127000" cy="127000"/>
          </a:xfrm>
          <a:prstGeom prst="ellipse">
            <a:avLst/>
          </a:prstGeom>
          <a:solidFill>
            <a:srgbClr val="DAD4EC"/>
          </a:solidFill>
          <a:ln>
            <a:noFill/>
          </a:ln>
        </p:spPr>
        <p:txBody>
          <a:bodyPr/>
          <a:lstStyle/>
          <a:p>
            <a:endParaRPr lang="en-US"/>
          </a:p>
        </p:txBody>
      </p:sp>
      <p:sp>
        <p:nvSpPr>
          <p:cNvPr id="268" name="d"/>
          <p:cNvSpPr/>
          <p:nvPr/>
        </p:nvSpPr>
        <p:spPr>
          <a:xfrm>
            <a:off x="1153160" y="2900680"/>
            <a:ext cx="127000" cy="127000"/>
          </a:xfrm>
          <a:prstGeom prst="ellipse">
            <a:avLst/>
          </a:prstGeom>
          <a:solidFill>
            <a:srgbClr val="DAD4EC"/>
          </a:solidFill>
          <a:ln>
            <a:noFill/>
          </a:ln>
        </p:spPr>
        <p:txBody>
          <a:bodyPr/>
          <a:lstStyle/>
          <a:p>
            <a:endParaRPr lang="en-US"/>
          </a:p>
        </p:txBody>
      </p:sp>
      <p:sp>
        <p:nvSpPr>
          <p:cNvPr id="269" name="d"/>
          <p:cNvSpPr/>
          <p:nvPr/>
        </p:nvSpPr>
        <p:spPr>
          <a:xfrm>
            <a:off x="1323340" y="2900680"/>
            <a:ext cx="127000" cy="127000"/>
          </a:xfrm>
          <a:prstGeom prst="ellipse">
            <a:avLst/>
          </a:prstGeom>
          <a:solidFill>
            <a:srgbClr val="DAD4EC"/>
          </a:solidFill>
          <a:ln>
            <a:noFill/>
          </a:ln>
        </p:spPr>
        <p:txBody>
          <a:bodyPr/>
          <a:lstStyle/>
          <a:p>
            <a:endParaRPr lang="en-US"/>
          </a:p>
        </p:txBody>
      </p:sp>
      <p:sp>
        <p:nvSpPr>
          <p:cNvPr id="270" name="d"/>
          <p:cNvSpPr/>
          <p:nvPr/>
        </p:nvSpPr>
        <p:spPr>
          <a:xfrm>
            <a:off x="1493520" y="2900680"/>
            <a:ext cx="127000" cy="127000"/>
          </a:xfrm>
          <a:prstGeom prst="ellipse">
            <a:avLst/>
          </a:prstGeom>
          <a:solidFill>
            <a:srgbClr val="DAD4EC"/>
          </a:solidFill>
          <a:ln>
            <a:noFill/>
          </a:ln>
        </p:spPr>
        <p:txBody>
          <a:bodyPr/>
          <a:lstStyle/>
          <a:p>
            <a:endParaRPr lang="en-US"/>
          </a:p>
        </p:txBody>
      </p:sp>
      <p:sp>
        <p:nvSpPr>
          <p:cNvPr id="271" name="d"/>
          <p:cNvSpPr/>
          <p:nvPr/>
        </p:nvSpPr>
        <p:spPr>
          <a:xfrm>
            <a:off x="1663700" y="2900680"/>
            <a:ext cx="127000" cy="127000"/>
          </a:xfrm>
          <a:prstGeom prst="ellipse">
            <a:avLst/>
          </a:prstGeom>
          <a:solidFill>
            <a:srgbClr val="DAD4EC"/>
          </a:solidFill>
          <a:ln>
            <a:noFill/>
          </a:ln>
        </p:spPr>
        <p:txBody>
          <a:bodyPr/>
          <a:lstStyle/>
          <a:p>
            <a:endParaRPr lang="en-US"/>
          </a:p>
        </p:txBody>
      </p:sp>
      <p:sp>
        <p:nvSpPr>
          <p:cNvPr id="272" name="d"/>
          <p:cNvSpPr/>
          <p:nvPr/>
        </p:nvSpPr>
        <p:spPr>
          <a:xfrm>
            <a:off x="1833880" y="2900680"/>
            <a:ext cx="127000" cy="127000"/>
          </a:xfrm>
          <a:prstGeom prst="ellipse">
            <a:avLst/>
          </a:prstGeom>
          <a:solidFill>
            <a:srgbClr val="DAD4EC"/>
          </a:solidFill>
          <a:ln>
            <a:noFill/>
          </a:ln>
        </p:spPr>
        <p:txBody>
          <a:bodyPr/>
          <a:lstStyle/>
          <a:p>
            <a:endParaRPr lang="en-US"/>
          </a:p>
        </p:txBody>
      </p:sp>
      <p:sp>
        <p:nvSpPr>
          <p:cNvPr id="273" name="d"/>
          <p:cNvSpPr/>
          <p:nvPr/>
        </p:nvSpPr>
        <p:spPr>
          <a:xfrm>
            <a:off x="2004060" y="2900680"/>
            <a:ext cx="127000" cy="127000"/>
          </a:xfrm>
          <a:prstGeom prst="ellipse">
            <a:avLst/>
          </a:prstGeom>
          <a:solidFill>
            <a:srgbClr val="DAD4EC"/>
          </a:solidFill>
          <a:ln>
            <a:noFill/>
          </a:ln>
        </p:spPr>
        <p:txBody>
          <a:bodyPr/>
          <a:lstStyle/>
          <a:p>
            <a:endParaRPr lang="en-US"/>
          </a:p>
        </p:txBody>
      </p:sp>
      <p:sp>
        <p:nvSpPr>
          <p:cNvPr id="274" name="d"/>
          <p:cNvSpPr/>
          <p:nvPr/>
        </p:nvSpPr>
        <p:spPr>
          <a:xfrm>
            <a:off x="2174240" y="2900680"/>
            <a:ext cx="127000" cy="127000"/>
          </a:xfrm>
          <a:prstGeom prst="ellipse">
            <a:avLst/>
          </a:prstGeom>
          <a:solidFill>
            <a:srgbClr val="DAD4EC"/>
          </a:solidFill>
          <a:ln>
            <a:noFill/>
          </a:ln>
        </p:spPr>
        <p:txBody>
          <a:bodyPr/>
          <a:lstStyle/>
          <a:p>
            <a:endParaRPr lang="en-US"/>
          </a:p>
        </p:txBody>
      </p:sp>
      <p:sp>
        <p:nvSpPr>
          <p:cNvPr id="275" name="d"/>
          <p:cNvSpPr/>
          <p:nvPr/>
        </p:nvSpPr>
        <p:spPr>
          <a:xfrm>
            <a:off x="2344420" y="2900680"/>
            <a:ext cx="127000" cy="127000"/>
          </a:xfrm>
          <a:prstGeom prst="ellipse">
            <a:avLst/>
          </a:prstGeom>
          <a:solidFill>
            <a:srgbClr val="DAD4EC"/>
          </a:solidFill>
          <a:ln>
            <a:noFill/>
          </a:ln>
        </p:spPr>
        <p:txBody>
          <a:bodyPr/>
          <a:lstStyle/>
          <a:p>
            <a:endParaRPr lang="en-US"/>
          </a:p>
        </p:txBody>
      </p:sp>
      <p:sp>
        <p:nvSpPr>
          <p:cNvPr id="276" name="d"/>
          <p:cNvSpPr/>
          <p:nvPr/>
        </p:nvSpPr>
        <p:spPr>
          <a:xfrm>
            <a:off x="812800" y="3070860"/>
            <a:ext cx="127000" cy="127000"/>
          </a:xfrm>
          <a:prstGeom prst="ellipse">
            <a:avLst/>
          </a:prstGeom>
          <a:solidFill>
            <a:srgbClr val="DAD4EC"/>
          </a:solidFill>
          <a:ln>
            <a:noFill/>
          </a:ln>
        </p:spPr>
        <p:txBody>
          <a:bodyPr/>
          <a:lstStyle/>
          <a:p>
            <a:endParaRPr lang="en-US"/>
          </a:p>
        </p:txBody>
      </p:sp>
      <p:sp>
        <p:nvSpPr>
          <p:cNvPr id="277" name="d"/>
          <p:cNvSpPr/>
          <p:nvPr/>
        </p:nvSpPr>
        <p:spPr>
          <a:xfrm>
            <a:off x="982980" y="3070860"/>
            <a:ext cx="127000" cy="127000"/>
          </a:xfrm>
          <a:prstGeom prst="ellipse">
            <a:avLst/>
          </a:prstGeom>
          <a:solidFill>
            <a:srgbClr val="DAD4EC"/>
          </a:solidFill>
          <a:ln>
            <a:noFill/>
          </a:ln>
        </p:spPr>
        <p:txBody>
          <a:bodyPr/>
          <a:lstStyle/>
          <a:p>
            <a:endParaRPr lang="en-US"/>
          </a:p>
        </p:txBody>
      </p:sp>
      <p:sp>
        <p:nvSpPr>
          <p:cNvPr id="278" name="d"/>
          <p:cNvSpPr/>
          <p:nvPr/>
        </p:nvSpPr>
        <p:spPr>
          <a:xfrm>
            <a:off x="1153160" y="3070860"/>
            <a:ext cx="127000" cy="127000"/>
          </a:xfrm>
          <a:prstGeom prst="ellipse">
            <a:avLst/>
          </a:prstGeom>
          <a:solidFill>
            <a:srgbClr val="DAD4EC"/>
          </a:solidFill>
          <a:ln>
            <a:noFill/>
          </a:ln>
        </p:spPr>
        <p:txBody>
          <a:bodyPr/>
          <a:lstStyle/>
          <a:p>
            <a:endParaRPr lang="en-US"/>
          </a:p>
        </p:txBody>
      </p:sp>
      <p:sp>
        <p:nvSpPr>
          <p:cNvPr id="279" name="d"/>
          <p:cNvSpPr/>
          <p:nvPr/>
        </p:nvSpPr>
        <p:spPr>
          <a:xfrm>
            <a:off x="1323340" y="3070860"/>
            <a:ext cx="127000" cy="127000"/>
          </a:xfrm>
          <a:prstGeom prst="ellipse">
            <a:avLst/>
          </a:prstGeom>
          <a:solidFill>
            <a:srgbClr val="DAD4EC"/>
          </a:solidFill>
          <a:ln>
            <a:noFill/>
          </a:ln>
        </p:spPr>
        <p:txBody>
          <a:bodyPr/>
          <a:lstStyle/>
          <a:p>
            <a:endParaRPr lang="en-US"/>
          </a:p>
        </p:txBody>
      </p:sp>
      <p:sp>
        <p:nvSpPr>
          <p:cNvPr id="280" name="d"/>
          <p:cNvSpPr/>
          <p:nvPr/>
        </p:nvSpPr>
        <p:spPr>
          <a:xfrm>
            <a:off x="1493520" y="3070860"/>
            <a:ext cx="127000" cy="127000"/>
          </a:xfrm>
          <a:prstGeom prst="ellipse">
            <a:avLst/>
          </a:prstGeom>
          <a:solidFill>
            <a:srgbClr val="DAD4EC"/>
          </a:solidFill>
          <a:ln>
            <a:noFill/>
          </a:ln>
        </p:spPr>
        <p:txBody>
          <a:bodyPr/>
          <a:lstStyle/>
          <a:p>
            <a:endParaRPr lang="en-US"/>
          </a:p>
        </p:txBody>
      </p:sp>
      <p:sp>
        <p:nvSpPr>
          <p:cNvPr id="281" name="d"/>
          <p:cNvSpPr/>
          <p:nvPr/>
        </p:nvSpPr>
        <p:spPr>
          <a:xfrm>
            <a:off x="1663700" y="3070860"/>
            <a:ext cx="127000" cy="127000"/>
          </a:xfrm>
          <a:prstGeom prst="ellipse">
            <a:avLst/>
          </a:prstGeom>
          <a:solidFill>
            <a:srgbClr val="DAD4EC"/>
          </a:solidFill>
          <a:ln>
            <a:noFill/>
          </a:ln>
        </p:spPr>
        <p:txBody>
          <a:bodyPr/>
          <a:lstStyle/>
          <a:p>
            <a:endParaRPr lang="en-US"/>
          </a:p>
        </p:txBody>
      </p:sp>
      <p:sp>
        <p:nvSpPr>
          <p:cNvPr id="282" name="d"/>
          <p:cNvSpPr/>
          <p:nvPr/>
        </p:nvSpPr>
        <p:spPr>
          <a:xfrm>
            <a:off x="1833880" y="3070860"/>
            <a:ext cx="127000" cy="127000"/>
          </a:xfrm>
          <a:prstGeom prst="ellipse">
            <a:avLst/>
          </a:prstGeom>
          <a:solidFill>
            <a:srgbClr val="DAD4EC"/>
          </a:solidFill>
          <a:ln>
            <a:noFill/>
          </a:ln>
        </p:spPr>
        <p:txBody>
          <a:bodyPr/>
          <a:lstStyle/>
          <a:p>
            <a:endParaRPr lang="en-US"/>
          </a:p>
        </p:txBody>
      </p:sp>
      <p:sp>
        <p:nvSpPr>
          <p:cNvPr id="283" name="d"/>
          <p:cNvSpPr/>
          <p:nvPr/>
        </p:nvSpPr>
        <p:spPr>
          <a:xfrm>
            <a:off x="2004060" y="3070860"/>
            <a:ext cx="127000" cy="127000"/>
          </a:xfrm>
          <a:prstGeom prst="ellipse">
            <a:avLst/>
          </a:prstGeom>
          <a:solidFill>
            <a:srgbClr val="DAD4EC"/>
          </a:solidFill>
          <a:ln>
            <a:noFill/>
          </a:ln>
        </p:spPr>
        <p:txBody>
          <a:bodyPr/>
          <a:lstStyle/>
          <a:p>
            <a:endParaRPr lang="en-US"/>
          </a:p>
        </p:txBody>
      </p:sp>
      <p:sp>
        <p:nvSpPr>
          <p:cNvPr id="284" name="d"/>
          <p:cNvSpPr/>
          <p:nvPr/>
        </p:nvSpPr>
        <p:spPr>
          <a:xfrm>
            <a:off x="2174240" y="3070860"/>
            <a:ext cx="127000" cy="127000"/>
          </a:xfrm>
          <a:prstGeom prst="ellipse">
            <a:avLst/>
          </a:prstGeom>
          <a:solidFill>
            <a:srgbClr val="DAD4EC"/>
          </a:solidFill>
          <a:ln>
            <a:noFill/>
          </a:ln>
        </p:spPr>
        <p:txBody>
          <a:bodyPr/>
          <a:lstStyle/>
          <a:p>
            <a:endParaRPr lang="en-US"/>
          </a:p>
        </p:txBody>
      </p:sp>
      <p:sp>
        <p:nvSpPr>
          <p:cNvPr id="285" name="d"/>
          <p:cNvSpPr/>
          <p:nvPr/>
        </p:nvSpPr>
        <p:spPr>
          <a:xfrm>
            <a:off x="2344420" y="3070860"/>
            <a:ext cx="127000" cy="127000"/>
          </a:xfrm>
          <a:prstGeom prst="ellipse">
            <a:avLst/>
          </a:prstGeom>
          <a:solidFill>
            <a:srgbClr val="DAD4EC"/>
          </a:solidFill>
          <a:ln>
            <a:noFill/>
          </a:ln>
        </p:spPr>
        <p:txBody>
          <a:bodyPr/>
          <a:lstStyle/>
          <a:p>
            <a:endParaRPr lang="en-US"/>
          </a:p>
        </p:txBody>
      </p:sp>
      <p:sp>
        <p:nvSpPr>
          <p:cNvPr id="286" name="d"/>
          <p:cNvSpPr/>
          <p:nvPr/>
        </p:nvSpPr>
        <p:spPr>
          <a:xfrm>
            <a:off x="812800" y="3241040"/>
            <a:ext cx="127000" cy="127000"/>
          </a:xfrm>
          <a:prstGeom prst="ellipse">
            <a:avLst/>
          </a:prstGeom>
          <a:solidFill>
            <a:srgbClr val="DAD4EC"/>
          </a:solidFill>
          <a:ln>
            <a:noFill/>
          </a:ln>
        </p:spPr>
        <p:txBody>
          <a:bodyPr/>
          <a:lstStyle/>
          <a:p>
            <a:endParaRPr lang="en-US"/>
          </a:p>
        </p:txBody>
      </p:sp>
      <p:sp>
        <p:nvSpPr>
          <p:cNvPr id="287" name="d"/>
          <p:cNvSpPr/>
          <p:nvPr/>
        </p:nvSpPr>
        <p:spPr>
          <a:xfrm>
            <a:off x="982980" y="3241040"/>
            <a:ext cx="127000" cy="127000"/>
          </a:xfrm>
          <a:prstGeom prst="ellipse">
            <a:avLst/>
          </a:prstGeom>
          <a:solidFill>
            <a:srgbClr val="DAD4EC"/>
          </a:solidFill>
          <a:ln>
            <a:noFill/>
          </a:ln>
        </p:spPr>
        <p:txBody>
          <a:bodyPr/>
          <a:lstStyle/>
          <a:p>
            <a:endParaRPr lang="en-US"/>
          </a:p>
        </p:txBody>
      </p:sp>
      <p:sp>
        <p:nvSpPr>
          <p:cNvPr id="288" name="d"/>
          <p:cNvSpPr/>
          <p:nvPr/>
        </p:nvSpPr>
        <p:spPr>
          <a:xfrm>
            <a:off x="1153160" y="3241040"/>
            <a:ext cx="127000" cy="127000"/>
          </a:xfrm>
          <a:prstGeom prst="ellipse">
            <a:avLst/>
          </a:prstGeom>
          <a:solidFill>
            <a:srgbClr val="DAD4EC"/>
          </a:solidFill>
          <a:ln>
            <a:noFill/>
          </a:ln>
        </p:spPr>
        <p:txBody>
          <a:bodyPr/>
          <a:lstStyle/>
          <a:p>
            <a:endParaRPr lang="en-US"/>
          </a:p>
        </p:txBody>
      </p:sp>
      <p:sp>
        <p:nvSpPr>
          <p:cNvPr id="289" name="d"/>
          <p:cNvSpPr/>
          <p:nvPr/>
        </p:nvSpPr>
        <p:spPr>
          <a:xfrm>
            <a:off x="1323340" y="3241040"/>
            <a:ext cx="127000" cy="127000"/>
          </a:xfrm>
          <a:prstGeom prst="ellipse">
            <a:avLst/>
          </a:prstGeom>
          <a:solidFill>
            <a:srgbClr val="DAD4EC"/>
          </a:solidFill>
          <a:ln>
            <a:noFill/>
          </a:ln>
        </p:spPr>
        <p:txBody>
          <a:bodyPr/>
          <a:lstStyle/>
          <a:p>
            <a:endParaRPr lang="en-US"/>
          </a:p>
        </p:txBody>
      </p:sp>
      <p:sp>
        <p:nvSpPr>
          <p:cNvPr id="290" name="d"/>
          <p:cNvSpPr/>
          <p:nvPr/>
        </p:nvSpPr>
        <p:spPr>
          <a:xfrm>
            <a:off x="1493520" y="3241040"/>
            <a:ext cx="127000" cy="127000"/>
          </a:xfrm>
          <a:prstGeom prst="ellipse">
            <a:avLst/>
          </a:prstGeom>
          <a:solidFill>
            <a:srgbClr val="DAD4EC"/>
          </a:solidFill>
          <a:ln>
            <a:noFill/>
          </a:ln>
        </p:spPr>
        <p:txBody>
          <a:bodyPr/>
          <a:lstStyle/>
          <a:p>
            <a:endParaRPr lang="en-US"/>
          </a:p>
        </p:txBody>
      </p:sp>
      <p:sp>
        <p:nvSpPr>
          <p:cNvPr id="291" name="d"/>
          <p:cNvSpPr/>
          <p:nvPr/>
        </p:nvSpPr>
        <p:spPr>
          <a:xfrm>
            <a:off x="1663700" y="3241040"/>
            <a:ext cx="127000" cy="127000"/>
          </a:xfrm>
          <a:prstGeom prst="ellipse">
            <a:avLst/>
          </a:prstGeom>
          <a:solidFill>
            <a:srgbClr val="DAD4EC"/>
          </a:solidFill>
          <a:ln>
            <a:noFill/>
          </a:ln>
        </p:spPr>
        <p:txBody>
          <a:bodyPr/>
          <a:lstStyle/>
          <a:p>
            <a:endParaRPr lang="en-US"/>
          </a:p>
        </p:txBody>
      </p:sp>
      <p:sp>
        <p:nvSpPr>
          <p:cNvPr id="292" name="d"/>
          <p:cNvSpPr/>
          <p:nvPr/>
        </p:nvSpPr>
        <p:spPr>
          <a:xfrm>
            <a:off x="1833880" y="3241040"/>
            <a:ext cx="127000" cy="127000"/>
          </a:xfrm>
          <a:prstGeom prst="ellipse">
            <a:avLst/>
          </a:prstGeom>
          <a:solidFill>
            <a:srgbClr val="DAD4EC"/>
          </a:solidFill>
          <a:ln>
            <a:noFill/>
          </a:ln>
        </p:spPr>
        <p:txBody>
          <a:bodyPr/>
          <a:lstStyle/>
          <a:p>
            <a:endParaRPr lang="en-US"/>
          </a:p>
        </p:txBody>
      </p:sp>
      <p:sp>
        <p:nvSpPr>
          <p:cNvPr id="293" name="d"/>
          <p:cNvSpPr/>
          <p:nvPr/>
        </p:nvSpPr>
        <p:spPr>
          <a:xfrm>
            <a:off x="2004060" y="3241040"/>
            <a:ext cx="127000" cy="127000"/>
          </a:xfrm>
          <a:prstGeom prst="ellipse">
            <a:avLst/>
          </a:prstGeom>
          <a:solidFill>
            <a:srgbClr val="DAD4EC"/>
          </a:solidFill>
          <a:ln>
            <a:noFill/>
          </a:ln>
        </p:spPr>
        <p:txBody>
          <a:bodyPr/>
          <a:lstStyle/>
          <a:p>
            <a:endParaRPr lang="en-US"/>
          </a:p>
        </p:txBody>
      </p:sp>
      <p:sp>
        <p:nvSpPr>
          <p:cNvPr id="294" name="d"/>
          <p:cNvSpPr/>
          <p:nvPr/>
        </p:nvSpPr>
        <p:spPr>
          <a:xfrm>
            <a:off x="2174240" y="3241040"/>
            <a:ext cx="127000" cy="127000"/>
          </a:xfrm>
          <a:prstGeom prst="ellipse">
            <a:avLst/>
          </a:prstGeom>
          <a:solidFill>
            <a:srgbClr val="DAD4EC"/>
          </a:solidFill>
          <a:ln>
            <a:noFill/>
          </a:ln>
        </p:spPr>
        <p:txBody>
          <a:bodyPr/>
          <a:lstStyle/>
          <a:p>
            <a:endParaRPr lang="en-US"/>
          </a:p>
        </p:txBody>
      </p:sp>
      <p:sp>
        <p:nvSpPr>
          <p:cNvPr id="295" name="d"/>
          <p:cNvSpPr/>
          <p:nvPr/>
        </p:nvSpPr>
        <p:spPr>
          <a:xfrm>
            <a:off x="2344420" y="3241040"/>
            <a:ext cx="127000" cy="127000"/>
          </a:xfrm>
          <a:prstGeom prst="ellipse">
            <a:avLst/>
          </a:prstGeom>
          <a:solidFill>
            <a:srgbClr val="DAD4EC"/>
          </a:solidFill>
          <a:ln>
            <a:noFill/>
          </a:ln>
        </p:spPr>
        <p:txBody>
          <a:bodyPr/>
          <a:lstStyle/>
          <a:p>
            <a:endParaRPr lang="en-US"/>
          </a:p>
        </p:txBody>
      </p:sp>
      <p:sp>
        <p:nvSpPr>
          <p:cNvPr id="296" name="d"/>
          <p:cNvSpPr/>
          <p:nvPr/>
        </p:nvSpPr>
        <p:spPr>
          <a:xfrm>
            <a:off x="812800" y="3411220"/>
            <a:ext cx="127000" cy="127000"/>
          </a:xfrm>
          <a:prstGeom prst="ellipse">
            <a:avLst/>
          </a:prstGeom>
          <a:solidFill>
            <a:srgbClr val="DAD4EC"/>
          </a:solidFill>
          <a:ln>
            <a:noFill/>
          </a:ln>
        </p:spPr>
        <p:txBody>
          <a:bodyPr/>
          <a:lstStyle/>
          <a:p>
            <a:endParaRPr lang="en-US"/>
          </a:p>
        </p:txBody>
      </p:sp>
      <p:sp>
        <p:nvSpPr>
          <p:cNvPr id="297" name="d"/>
          <p:cNvSpPr/>
          <p:nvPr/>
        </p:nvSpPr>
        <p:spPr>
          <a:xfrm>
            <a:off x="982980" y="3411220"/>
            <a:ext cx="127000" cy="127000"/>
          </a:xfrm>
          <a:prstGeom prst="ellipse">
            <a:avLst/>
          </a:prstGeom>
          <a:solidFill>
            <a:srgbClr val="DAD4EC"/>
          </a:solidFill>
          <a:ln>
            <a:noFill/>
          </a:ln>
        </p:spPr>
        <p:txBody>
          <a:bodyPr/>
          <a:lstStyle/>
          <a:p>
            <a:endParaRPr lang="en-US"/>
          </a:p>
        </p:txBody>
      </p:sp>
      <p:sp>
        <p:nvSpPr>
          <p:cNvPr id="298" name="d"/>
          <p:cNvSpPr/>
          <p:nvPr/>
        </p:nvSpPr>
        <p:spPr>
          <a:xfrm>
            <a:off x="1153160" y="3411220"/>
            <a:ext cx="127000" cy="127000"/>
          </a:xfrm>
          <a:prstGeom prst="ellipse">
            <a:avLst/>
          </a:prstGeom>
          <a:solidFill>
            <a:srgbClr val="DAD4EC"/>
          </a:solidFill>
          <a:ln>
            <a:noFill/>
          </a:ln>
        </p:spPr>
        <p:txBody>
          <a:bodyPr/>
          <a:lstStyle/>
          <a:p>
            <a:endParaRPr lang="en-US"/>
          </a:p>
        </p:txBody>
      </p:sp>
      <p:sp>
        <p:nvSpPr>
          <p:cNvPr id="299" name="d"/>
          <p:cNvSpPr/>
          <p:nvPr/>
        </p:nvSpPr>
        <p:spPr>
          <a:xfrm>
            <a:off x="1323340" y="3411220"/>
            <a:ext cx="127000" cy="127000"/>
          </a:xfrm>
          <a:prstGeom prst="ellipse">
            <a:avLst/>
          </a:prstGeom>
          <a:solidFill>
            <a:srgbClr val="DAD4EC"/>
          </a:solidFill>
          <a:ln>
            <a:noFill/>
          </a:ln>
        </p:spPr>
        <p:txBody>
          <a:bodyPr/>
          <a:lstStyle/>
          <a:p>
            <a:endParaRPr lang="en-US"/>
          </a:p>
        </p:txBody>
      </p:sp>
      <p:sp>
        <p:nvSpPr>
          <p:cNvPr id="300" name="d"/>
          <p:cNvSpPr/>
          <p:nvPr/>
        </p:nvSpPr>
        <p:spPr>
          <a:xfrm>
            <a:off x="1493520" y="3411220"/>
            <a:ext cx="127000" cy="127000"/>
          </a:xfrm>
          <a:prstGeom prst="ellipse">
            <a:avLst/>
          </a:prstGeom>
          <a:solidFill>
            <a:srgbClr val="DAD4EC"/>
          </a:solidFill>
          <a:ln>
            <a:noFill/>
          </a:ln>
        </p:spPr>
        <p:txBody>
          <a:bodyPr/>
          <a:lstStyle/>
          <a:p>
            <a:endParaRPr lang="en-US"/>
          </a:p>
        </p:txBody>
      </p:sp>
      <p:sp>
        <p:nvSpPr>
          <p:cNvPr id="301" name="d"/>
          <p:cNvSpPr/>
          <p:nvPr/>
        </p:nvSpPr>
        <p:spPr>
          <a:xfrm>
            <a:off x="1663700" y="3411220"/>
            <a:ext cx="127000" cy="127000"/>
          </a:xfrm>
          <a:prstGeom prst="ellipse">
            <a:avLst/>
          </a:prstGeom>
          <a:solidFill>
            <a:srgbClr val="DAD4EC"/>
          </a:solidFill>
          <a:ln>
            <a:noFill/>
          </a:ln>
        </p:spPr>
        <p:txBody>
          <a:bodyPr/>
          <a:lstStyle/>
          <a:p>
            <a:endParaRPr lang="en-US"/>
          </a:p>
        </p:txBody>
      </p:sp>
      <p:sp>
        <p:nvSpPr>
          <p:cNvPr id="302" name="d"/>
          <p:cNvSpPr/>
          <p:nvPr/>
        </p:nvSpPr>
        <p:spPr>
          <a:xfrm>
            <a:off x="1833880" y="3411220"/>
            <a:ext cx="127000" cy="127000"/>
          </a:xfrm>
          <a:prstGeom prst="ellipse">
            <a:avLst/>
          </a:prstGeom>
          <a:solidFill>
            <a:srgbClr val="DAD4EC"/>
          </a:solidFill>
          <a:ln>
            <a:noFill/>
          </a:ln>
        </p:spPr>
        <p:txBody>
          <a:bodyPr/>
          <a:lstStyle/>
          <a:p>
            <a:endParaRPr lang="en-US"/>
          </a:p>
        </p:txBody>
      </p:sp>
      <p:sp>
        <p:nvSpPr>
          <p:cNvPr id="303" name="d"/>
          <p:cNvSpPr/>
          <p:nvPr/>
        </p:nvSpPr>
        <p:spPr>
          <a:xfrm>
            <a:off x="2004060" y="3411220"/>
            <a:ext cx="127000" cy="127000"/>
          </a:xfrm>
          <a:prstGeom prst="ellipse">
            <a:avLst/>
          </a:prstGeom>
          <a:solidFill>
            <a:srgbClr val="DAD4EC"/>
          </a:solidFill>
          <a:ln>
            <a:noFill/>
          </a:ln>
        </p:spPr>
        <p:txBody>
          <a:bodyPr/>
          <a:lstStyle/>
          <a:p>
            <a:endParaRPr lang="en-US"/>
          </a:p>
        </p:txBody>
      </p:sp>
      <p:sp>
        <p:nvSpPr>
          <p:cNvPr id="304" name="d"/>
          <p:cNvSpPr/>
          <p:nvPr/>
        </p:nvSpPr>
        <p:spPr>
          <a:xfrm>
            <a:off x="2174240" y="3411220"/>
            <a:ext cx="127000" cy="127000"/>
          </a:xfrm>
          <a:prstGeom prst="ellipse">
            <a:avLst/>
          </a:prstGeom>
          <a:solidFill>
            <a:srgbClr val="DAD4EC"/>
          </a:solidFill>
          <a:ln>
            <a:noFill/>
          </a:ln>
        </p:spPr>
        <p:txBody>
          <a:bodyPr/>
          <a:lstStyle/>
          <a:p>
            <a:endParaRPr lang="en-US"/>
          </a:p>
        </p:txBody>
      </p:sp>
      <p:sp>
        <p:nvSpPr>
          <p:cNvPr id="305" name="d"/>
          <p:cNvSpPr/>
          <p:nvPr/>
        </p:nvSpPr>
        <p:spPr>
          <a:xfrm>
            <a:off x="2344420" y="3411220"/>
            <a:ext cx="127000" cy="127000"/>
          </a:xfrm>
          <a:prstGeom prst="ellipse">
            <a:avLst/>
          </a:prstGeom>
          <a:solidFill>
            <a:srgbClr val="DAD4EC"/>
          </a:solidFill>
          <a:ln>
            <a:noFill/>
          </a:ln>
        </p:spPr>
        <p:txBody>
          <a:bodyPr/>
          <a:lstStyle/>
          <a:p>
            <a:endParaRPr lang="en-US"/>
          </a:p>
        </p:txBody>
      </p:sp>
      <p:sp>
        <p:nvSpPr>
          <p:cNvPr id="306" name="t307"/>
          <p:cNvSpPr txBox="1"/>
          <p:nvPr/>
        </p:nvSpPr>
        <p:spPr>
          <a:xfrm>
            <a:off x="3746500" y="1371600"/>
            <a:ext cx="1651000" cy="203200"/>
          </a:xfrm>
          <a:prstGeom prst="rect">
            <a:avLst/>
          </a:prstGeom>
          <a:noFill/>
        </p:spPr>
        <p:txBody>
          <a:bodyPr/>
          <a:lstStyle/>
          <a:p>
            <a:pPr algn="l"/>
            <a:r>
              <a:rPr lang="en-US" sz="1400" b="1" dirty="0">
                <a:solidFill>
                  <a:srgbClr val="110057"/>
                </a:solidFill>
                <a:latin typeface="Arial"/>
                <a:cs typeface="Arial"/>
              </a:rPr>
              <a:t>Middle risk</a:t>
            </a:r>
          </a:p>
        </p:txBody>
      </p:sp>
      <p:sp>
        <p:nvSpPr>
          <p:cNvPr id="307" name="t308"/>
          <p:cNvSpPr txBox="1"/>
          <p:nvPr/>
        </p:nvSpPr>
        <p:spPr>
          <a:xfrm>
            <a:off x="3746500" y="1600200"/>
            <a:ext cx="2159000" cy="177800"/>
          </a:xfrm>
          <a:prstGeom prst="rect">
            <a:avLst/>
          </a:prstGeom>
          <a:noFill/>
        </p:spPr>
        <p:txBody>
          <a:bodyPr wrap="none">
            <a:noAutofit/>
          </a:bodyPr>
          <a:lstStyle/>
          <a:p>
            <a:pPr algn="l">
              <a:buNone/>
            </a:pPr>
            <a:r>
              <a:rPr lang="en-US" sz="1100" b="1" dirty="0">
                <a:solidFill>
                  <a:srgbClr val="110057"/>
                </a:solidFill>
                <a:latin typeface="Arial"/>
                <a:cs typeface="Arial"/>
              </a:rPr>
              <a:t>10/100 → </a:t>
            </a:r>
            <a:r>
              <a:rPr lang="en-US" sz="1100" b="1" dirty="0">
                <a:solidFill>
                  <a:srgbClr val="11B7B6"/>
                </a:solidFill>
                <a:latin typeface="Arial"/>
                <a:cs typeface="Arial"/>
              </a:rPr>
              <a:t>5 prevented</a:t>
            </a:r>
          </a:p>
        </p:txBody>
      </p:sp>
      <p:sp>
        <p:nvSpPr>
          <p:cNvPr id="308" name="d"/>
          <p:cNvSpPr/>
          <p:nvPr/>
        </p:nvSpPr>
        <p:spPr>
          <a:xfrm>
            <a:off x="3746500" y="1879600"/>
            <a:ext cx="127000" cy="127000"/>
          </a:xfrm>
          <a:prstGeom prst="ellipse">
            <a:avLst/>
          </a:prstGeom>
          <a:solidFill>
            <a:srgbClr val="11B7B6"/>
          </a:solidFill>
          <a:ln>
            <a:noFill/>
          </a:ln>
        </p:spPr>
        <p:txBody>
          <a:bodyPr/>
          <a:lstStyle/>
          <a:p>
            <a:endParaRPr lang="en-US"/>
          </a:p>
        </p:txBody>
      </p:sp>
      <p:sp>
        <p:nvSpPr>
          <p:cNvPr id="309" name="d"/>
          <p:cNvSpPr/>
          <p:nvPr/>
        </p:nvSpPr>
        <p:spPr>
          <a:xfrm>
            <a:off x="3916680" y="1879600"/>
            <a:ext cx="127000" cy="127000"/>
          </a:xfrm>
          <a:prstGeom prst="ellipse">
            <a:avLst/>
          </a:prstGeom>
          <a:solidFill>
            <a:srgbClr val="11B7B6"/>
          </a:solidFill>
          <a:ln>
            <a:noFill/>
          </a:ln>
        </p:spPr>
        <p:txBody>
          <a:bodyPr/>
          <a:lstStyle/>
          <a:p>
            <a:endParaRPr lang="en-US"/>
          </a:p>
        </p:txBody>
      </p:sp>
      <p:sp>
        <p:nvSpPr>
          <p:cNvPr id="310" name="d"/>
          <p:cNvSpPr/>
          <p:nvPr/>
        </p:nvSpPr>
        <p:spPr>
          <a:xfrm>
            <a:off x="4086860" y="1879600"/>
            <a:ext cx="127000" cy="127000"/>
          </a:xfrm>
          <a:prstGeom prst="ellipse">
            <a:avLst/>
          </a:prstGeom>
          <a:solidFill>
            <a:srgbClr val="11B7B6"/>
          </a:solidFill>
          <a:ln>
            <a:noFill/>
          </a:ln>
        </p:spPr>
        <p:txBody>
          <a:bodyPr/>
          <a:lstStyle/>
          <a:p>
            <a:endParaRPr lang="en-US"/>
          </a:p>
        </p:txBody>
      </p:sp>
      <p:sp>
        <p:nvSpPr>
          <p:cNvPr id="311" name="d"/>
          <p:cNvSpPr/>
          <p:nvPr/>
        </p:nvSpPr>
        <p:spPr>
          <a:xfrm>
            <a:off x="4257040" y="1879600"/>
            <a:ext cx="127000" cy="127000"/>
          </a:xfrm>
          <a:prstGeom prst="ellipse">
            <a:avLst/>
          </a:prstGeom>
          <a:solidFill>
            <a:srgbClr val="11B7B6"/>
          </a:solidFill>
          <a:ln>
            <a:noFill/>
          </a:ln>
        </p:spPr>
        <p:txBody>
          <a:bodyPr/>
          <a:lstStyle/>
          <a:p>
            <a:endParaRPr lang="en-US"/>
          </a:p>
        </p:txBody>
      </p:sp>
      <p:sp>
        <p:nvSpPr>
          <p:cNvPr id="312" name="d"/>
          <p:cNvSpPr/>
          <p:nvPr/>
        </p:nvSpPr>
        <p:spPr>
          <a:xfrm>
            <a:off x="4427220" y="1879600"/>
            <a:ext cx="127000" cy="127000"/>
          </a:xfrm>
          <a:prstGeom prst="ellipse">
            <a:avLst/>
          </a:prstGeom>
          <a:solidFill>
            <a:srgbClr val="11B7B6"/>
          </a:solidFill>
          <a:ln>
            <a:noFill/>
          </a:ln>
        </p:spPr>
        <p:txBody>
          <a:bodyPr/>
          <a:lstStyle/>
          <a:p>
            <a:endParaRPr lang="en-US"/>
          </a:p>
        </p:txBody>
      </p:sp>
      <p:sp>
        <p:nvSpPr>
          <p:cNvPr id="313" name="d"/>
          <p:cNvSpPr/>
          <p:nvPr/>
        </p:nvSpPr>
        <p:spPr>
          <a:xfrm>
            <a:off x="4597400" y="1879600"/>
            <a:ext cx="127000" cy="127000"/>
          </a:xfrm>
          <a:prstGeom prst="ellipse">
            <a:avLst/>
          </a:prstGeom>
          <a:solidFill>
            <a:srgbClr val="4A00E2"/>
          </a:solidFill>
          <a:ln>
            <a:noFill/>
          </a:ln>
        </p:spPr>
        <p:txBody>
          <a:bodyPr/>
          <a:lstStyle/>
          <a:p>
            <a:endParaRPr lang="en-US"/>
          </a:p>
        </p:txBody>
      </p:sp>
      <p:sp>
        <p:nvSpPr>
          <p:cNvPr id="314" name="d"/>
          <p:cNvSpPr/>
          <p:nvPr/>
        </p:nvSpPr>
        <p:spPr>
          <a:xfrm>
            <a:off x="4767580" y="1879600"/>
            <a:ext cx="127000" cy="127000"/>
          </a:xfrm>
          <a:prstGeom prst="ellipse">
            <a:avLst/>
          </a:prstGeom>
          <a:solidFill>
            <a:srgbClr val="4A00E2"/>
          </a:solidFill>
          <a:ln>
            <a:noFill/>
          </a:ln>
        </p:spPr>
        <p:txBody>
          <a:bodyPr/>
          <a:lstStyle/>
          <a:p>
            <a:endParaRPr lang="en-US"/>
          </a:p>
        </p:txBody>
      </p:sp>
      <p:sp>
        <p:nvSpPr>
          <p:cNvPr id="315" name="d"/>
          <p:cNvSpPr/>
          <p:nvPr/>
        </p:nvSpPr>
        <p:spPr>
          <a:xfrm>
            <a:off x="4937760" y="1879600"/>
            <a:ext cx="127000" cy="127000"/>
          </a:xfrm>
          <a:prstGeom prst="ellipse">
            <a:avLst/>
          </a:prstGeom>
          <a:solidFill>
            <a:srgbClr val="4A00E2"/>
          </a:solidFill>
          <a:ln>
            <a:noFill/>
          </a:ln>
        </p:spPr>
        <p:txBody>
          <a:bodyPr/>
          <a:lstStyle/>
          <a:p>
            <a:endParaRPr lang="en-US"/>
          </a:p>
        </p:txBody>
      </p:sp>
      <p:sp>
        <p:nvSpPr>
          <p:cNvPr id="316" name="d"/>
          <p:cNvSpPr/>
          <p:nvPr/>
        </p:nvSpPr>
        <p:spPr>
          <a:xfrm>
            <a:off x="5107940" y="1879600"/>
            <a:ext cx="127000" cy="127000"/>
          </a:xfrm>
          <a:prstGeom prst="ellipse">
            <a:avLst/>
          </a:prstGeom>
          <a:solidFill>
            <a:srgbClr val="4A00E2"/>
          </a:solidFill>
          <a:ln>
            <a:noFill/>
          </a:ln>
        </p:spPr>
        <p:txBody>
          <a:bodyPr/>
          <a:lstStyle/>
          <a:p>
            <a:endParaRPr lang="en-US"/>
          </a:p>
        </p:txBody>
      </p:sp>
      <p:sp>
        <p:nvSpPr>
          <p:cNvPr id="317" name="d"/>
          <p:cNvSpPr/>
          <p:nvPr/>
        </p:nvSpPr>
        <p:spPr>
          <a:xfrm>
            <a:off x="5278120" y="1879600"/>
            <a:ext cx="127000" cy="127000"/>
          </a:xfrm>
          <a:prstGeom prst="ellipse">
            <a:avLst/>
          </a:prstGeom>
          <a:solidFill>
            <a:srgbClr val="4A00E2"/>
          </a:solidFill>
          <a:ln>
            <a:noFill/>
          </a:ln>
        </p:spPr>
        <p:txBody>
          <a:bodyPr/>
          <a:lstStyle/>
          <a:p>
            <a:endParaRPr lang="en-US"/>
          </a:p>
        </p:txBody>
      </p:sp>
      <p:sp>
        <p:nvSpPr>
          <p:cNvPr id="318" name="d"/>
          <p:cNvSpPr/>
          <p:nvPr/>
        </p:nvSpPr>
        <p:spPr>
          <a:xfrm>
            <a:off x="3746500" y="2049780"/>
            <a:ext cx="127000" cy="127000"/>
          </a:xfrm>
          <a:prstGeom prst="ellipse">
            <a:avLst/>
          </a:prstGeom>
          <a:solidFill>
            <a:srgbClr val="DAD4EC"/>
          </a:solidFill>
          <a:ln>
            <a:noFill/>
          </a:ln>
        </p:spPr>
        <p:txBody>
          <a:bodyPr/>
          <a:lstStyle/>
          <a:p>
            <a:endParaRPr lang="en-US"/>
          </a:p>
        </p:txBody>
      </p:sp>
      <p:sp>
        <p:nvSpPr>
          <p:cNvPr id="319" name="d"/>
          <p:cNvSpPr/>
          <p:nvPr/>
        </p:nvSpPr>
        <p:spPr>
          <a:xfrm>
            <a:off x="3916680" y="2049780"/>
            <a:ext cx="127000" cy="127000"/>
          </a:xfrm>
          <a:prstGeom prst="ellipse">
            <a:avLst/>
          </a:prstGeom>
          <a:solidFill>
            <a:srgbClr val="DAD4EC"/>
          </a:solidFill>
          <a:ln>
            <a:noFill/>
          </a:ln>
        </p:spPr>
        <p:txBody>
          <a:bodyPr/>
          <a:lstStyle/>
          <a:p>
            <a:endParaRPr lang="en-US"/>
          </a:p>
        </p:txBody>
      </p:sp>
      <p:sp>
        <p:nvSpPr>
          <p:cNvPr id="320" name="d"/>
          <p:cNvSpPr/>
          <p:nvPr/>
        </p:nvSpPr>
        <p:spPr>
          <a:xfrm>
            <a:off x="4086860" y="2049780"/>
            <a:ext cx="127000" cy="127000"/>
          </a:xfrm>
          <a:prstGeom prst="ellipse">
            <a:avLst/>
          </a:prstGeom>
          <a:solidFill>
            <a:srgbClr val="DAD4EC"/>
          </a:solidFill>
          <a:ln>
            <a:noFill/>
          </a:ln>
        </p:spPr>
        <p:txBody>
          <a:bodyPr/>
          <a:lstStyle/>
          <a:p>
            <a:endParaRPr lang="en-US"/>
          </a:p>
        </p:txBody>
      </p:sp>
      <p:sp>
        <p:nvSpPr>
          <p:cNvPr id="321" name="d"/>
          <p:cNvSpPr/>
          <p:nvPr/>
        </p:nvSpPr>
        <p:spPr>
          <a:xfrm>
            <a:off x="4257040" y="2049780"/>
            <a:ext cx="127000" cy="127000"/>
          </a:xfrm>
          <a:prstGeom prst="ellipse">
            <a:avLst/>
          </a:prstGeom>
          <a:solidFill>
            <a:srgbClr val="DAD4EC"/>
          </a:solidFill>
          <a:ln>
            <a:noFill/>
          </a:ln>
        </p:spPr>
        <p:txBody>
          <a:bodyPr/>
          <a:lstStyle/>
          <a:p>
            <a:endParaRPr lang="en-US"/>
          </a:p>
        </p:txBody>
      </p:sp>
      <p:sp>
        <p:nvSpPr>
          <p:cNvPr id="322" name="d"/>
          <p:cNvSpPr/>
          <p:nvPr/>
        </p:nvSpPr>
        <p:spPr>
          <a:xfrm>
            <a:off x="4427220" y="2049780"/>
            <a:ext cx="127000" cy="127000"/>
          </a:xfrm>
          <a:prstGeom prst="ellipse">
            <a:avLst/>
          </a:prstGeom>
          <a:solidFill>
            <a:srgbClr val="DAD4EC"/>
          </a:solidFill>
          <a:ln>
            <a:noFill/>
          </a:ln>
        </p:spPr>
        <p:txBody>
          <a:bodyPr/>
          <a:lstStyle/>
          <a:p>
            <a:endParaRPr lang="en-US"/>
          </a:p>
        </p:txBody>
      </p:sp>
      <p:sp>
        <p:nvSpPr>
          <p:cNvPr id="323" name="d"/>
          <p:cNvSpPr/>
          <p:nvPr/>
        </p:nvSpPr>
        <p:spPr>
          <a:xfrm>
            <a:off x="4597400" y="2049780"/>
            <a:ext cx="127000" cy="127000"/>
          </a:xfrm>
          <a:prstGeom prst="ellipse">
            <a:avLst/>
          </a:prstGeom>
          <a:solidFill>
            <a:srgbClr val="DAD4EC"/>
          </a:solidFill>
          <a:ln>
            <a:noFill/>
          </a:ln>
        </p:spPr>
        <p:txBody>
          <a:bodyPr/>
          <a:lstStyle/>
          <a:p>
            <a:endParaRPr lang="en-US"/>
          </a:p>
        </p:txBody>
      </p:sp>
      <p:sp>
        <p:nvSpPr>
          <p:cNvPr id="324" name="d"/>
          <p:cNvSpPr/>
          <p:nvPr/>
        </p:nvSpPr>
        <p:spPr>
          <a:xfrm>
            <a:off x="4767580" y="2049780"/>
            <a:ext cx="127000" cy="127000"/>
          </a:xfrm>
          <a:prstGeom prst="ellipse">
            <a:avLst/>
          </a:prstGeom>
          <a:solidFill>
            <a:srgbClr val="DAD4EC"/>
          </a:solidFill>
          <a:ln>
            <a:noFill/>
          </a:ln>
        </p:spPr>
        <p:txBody>
          <a:bodyPr/>
          <a:lstStyle/>
          <a:p>
            <a:endParaRPr lang="en-US"/>
          </a:p>
        </p:txBody>
      </p:sp>
      <p:sp>
        <p:nvSpPr>
          <p:cNvPr id="325" name="d"/>
          <p:cNvSpPr/>
          <p:nvPr/>
        </p:nvSpPr>
        <p:spPr>
          <a:xfrm>
            <a:off x="4937760" y="2049780"/>
            <a:ext cx="127000" cy="127000"/>
          </a:xfrm>
          <a:prstGeom prst="ellipse">
            <a:avLst/>
          </a:prstGeom>
          <a:solidFill>
            <a:srgbClr val="DAD4EC"/>
          </a:solidFill>
          <a:ln>
            <a:noFill/>
          </a:ln>
        </p:spPr>
        <p:txBody>
          <a:bodyPr/>
          <a:lstStyle/>
          <a:p>
            <a:endParaRPr lang="en-US"/>
          </a:p>
        </p:txBody>
      </p:sp>
      <p:sp>
        <p:nvSpPr>
          <p:cNvPr id="326" name="d"/>
          <p:cNvSpPr/>
          <p:nvPr/>
        </p:nvSpPr>
        <p:spPr>
          <a:xfrm>
            <a:off x="5107940" y="2049780"/>
            <a:ext cx="127000" cy="127000"/>
          </a:xfrm>
          <a:prstGeom prst="ellipse">
            <a:avLst/>
          </a:prstGeom>
          <a:solidFill>
            <a:srgbClr val="DAD4EC"/>
          </a:solidFill>
          <a:ln>
            <a:noFill/>
          </a:ln>
        </p:spPr>
        <p:txBody>
          <a:bodyPr/>
          <a:lstStyle/>
          <a:p>
            <a:endParaRPr lang="en-US"/>
          </a:p>
        </p:txBody>
      </p:sp>
      <p:sp>
        <p:nvSpPr>
          <p:cNvPr id="327" name="d"/>
          <p:cNvSpPr/>
          <p:nvPr/>
        </p:nvSpPr>
        <p:spPr>
          <a:xfrm>
            <a:off x="5278120" y="2049780"/>
            <a:ext cx="127000" cy="127000"/>
          </a:xfrm>
          <a:prstGeom prst="ellipse">
            <a:avLst/>
          </a:prstGeom>
          <a:solidFill>
            <a:srgbClr val="DAD4EC"/>
          </a:solidFill>
          <a:ln>
            <a:noFill/>
          </a:ln>
        </p:spPr>
        <p:txBody>
          <a:bodyPr/>
          <a:lstStyle/>
          <a:p>
            <a:endParaRPr lang="en-US"/>
          </a:p>
        </p:txBody>
      </p:sp>
      <p:sp>
        <p:nvSpPr>
          <p:cNvPr id="328" name="d"/>
          <p:cNvSpPr/>
          <p:nvPr/>
        </p:nvSpPr>
        <p:spPr>
          <a:xfrm>
            <a:off x="3746500" y="2219960"/>
            <a:ext cx="127000" cy="127000"/>
          </a:xfrm>
          <a:prstGeom prst="ellipse">
            <a:avLst/>
          </a:prstGeom>
          <a:solidFill>
            <a:srgbClr val="DAD4EC"/>
          </a:solidFill>
          <a:ln>
            <a:noFill/>
          </a:ln>
        </p:spPr>
        <p:txBody>
          <a:bodyPr/>
          <a:lstStyle/>
          <a:p>
            <a:endParaRPr lang="en-US"/>
          </a:p>
        </p:txBody>
      </p:sp>
      <p:sp>
        <p:nvSpPr>
          <p:cNvPr id="329" name="d"/>
          <p:cNvSpPr/>
          <p:nvPr/>
        </p:nvSpPr>
        <p:spPr>
          <a:xfrm>
            <a:off x="3916680" y="2219960"/>
            <a:ext cx="127000" cy="127000"/>
          </a:xfrm>
          <a:prstGeom prst="ellipse">
            <a:avLst/>
          </a:prstGeom>
          <a:solidFill>
            <a:srgbClr val="DAD4EC"/>
          </a:solidFill>
          <a:ln>
            <a:noFill/>
          </a:ln>
        </p:spPr>
        <p:txBody>
          <a:bodyPr/>
          <a:lstStyle/>
          <a:p>
            <a:endParaRPr lang="en-US"/>
          </a:p>
        </p:txBody>
      </p:sp>
      <p:sp>
        <p:nvSpPr>
          <p:cNvPr id="330" name="d"/>
          <p:cNvSpPr/>
          <p:nvPr/>
        </p:nvSpPr>
        <p:spPr>
          <a:xfrm>
            <a:off x="4086860" y="2219960"/>
            <a:ext cx="127000" cy="127000"/>
          </a:xfrm>
          <a:prstGeom prst="ellipse">
            <a:avLst/>
          </a:prstGeom>
          <a:solidFill>
            <a:srgbClr val="DAD4EC"/>
          </a:solidFill>
          <a:ln>
            <a:noFill/>
          </a:ln>
        </p:spPr>
        <p:txBody>
          <a:bodyPr/>
          <a:lstStyle/>
          <a:p>
            <a:endParaRPr lang="en-US"/>
          </a:p>
        </p:txBody>
      </p:sp>
      <p:sp>
        <p:nvSpPr>
          <p:cNvPr id="331" name="d"/>
          <p:cNvSpPr/>
          <p:nvPr/>
        </p:nvSpPr>
        <p:spPr>
          <a:xfrm>
            <a:off x="4257040" y="2219960"/>
            <a:ext cx="127000" cy="127000"/>
          </a:xfrm>
          <a:prstGeom prst="ellipse">
            <a:avLst/>
          </a:prstGeom>
          <a:solidFill>
            <a:srgbClr val="DAD4EC"/>
          </a:solidFill>
          <a:ln>
            <a:noFill/>
          </a:ln>
        </p:spPr>
        <p:txBody>
          <a:bodyPr/>
          <a:lstStyle/>
          <a:p>
            <a:endParaRPr lang="en-US"/>
          </a:p>
        </p:txBody>
      </p:sp>
      <p:sp>
        <p:nvSpPr>
          <p:cNvPr id="332" name="d"/>
          <p:cNvSpPr/>
          <p:nvPr/>
        </p:nvSpPr>
        <p:spPr>
          <a:xfrm>
            <a:off x="4427220" y="2219960"/>
            <a:ext cx="127000" cy="127000"/>
          </a:xfrm>
          <a:prstGeom prst="ellipse">
            <a:avLst/>
          </a:prstGeom>
          <a:solidFill>
            <a:srgbClr val="DAD4EC"/>
          </a:solidFill>
          <a:ln>
            <a:noFill/>
          </a:ln>
        </p:spPr>
        <p:txBody>
          <a:bodyPr/>
          <a:lstStyle/>
          <a:p>
            <a:endParaRPr lang="en-US"/>
          </a:p>
        </p:txBody>
      </p:sp>
      <p:sp>
        <p:nvSpPr>
          <p:cNvPr id="333" name="d"/>
          <p:cNvSpPr/>
          <p:nvPr/>
        </p:nvSpPr>
        <p:spPr>
          <a:xfrm>
            <a:off x="4597400" y="2219960"/>
            <a:ext cx="127000" cy="127000"/>
          </a:xfrm>
          <a:prstGeom prst="ellipse">
            <a:avLst/>
          </a:prstGeom>
          <a:solidFill>
            <a:srgbClr val="DAD4EC"/>
          </a:solidFill>
          <a:ln>
            <a:noFill/>
          </a:ln>
        </p:spPr>
        <p:txBody>
          <a:bodyPr/>
          <a:lstStyle/>
          <a:p>
            <a:endParaRPr lang="en-US"/>
          </a:p>
        </p:txBody>
      </p:sp>
      <p:sp>
        <p:nvSpPr>
          <p:cNvPr id="334" name="d"/>
          <p:cNvSpPr/>
          <p:nvPr/>
        </p:nvSpPr>
        <p:spPr>
          <a:xfrm>
            <a:off x="4767580" y="2219960"/>
            <a:ext cx="127000" cy="127000"/>
          </a:xfrm>
          <a:prstGeom prst="ellipse">
            <a:avLst/>
          </a:prstGeom>
          <a:solidFill>
            <a:srgbClr val="DAD4EC"/>
          </a:solidFill>
          <a:ln>
            <a:noFill/>
          </a:ln>
        </p:spPr>
        <p:txBody>
          <a:bodyPr/>
          <a:lstStyle/>
          <a:p>
            <a:endParaRPr lang="en-US"/>
          </a:p>
        </p:txBody>
      </p:sp>
      <p:sp>
        <p:nvSpPr>
          <p:cNvPr id="335" name="d"/>
          <p:cNvSpPr/>
          <p:nvPr/>
        </p:nvSpPr>
        <p:spPr>
          <a:xfrm>
            <a:off x="4937760" y="2219960"/>
            <a:ext cx="127000" cy="127000"/>
          </a:xfrm>
          <a:prstGeom prst="ellipse">
            <a:avLst/>
          </a:prstGeom>
          <a:solidFill>
            <a:srgbClr val="DAD4EC"/>
          </a:solidFill>
          <a:ln>
            <a:noFill/>
          </a:ln>
        </p:spPr>
        <p:txBody>
          <a:bodyPr/>
          <a:lstStyle/>
          <a:p>
            <a:endParaRPr lang="en-US"/>
          </a:p>
        </p:txBody>
      </p:sp>
      <p:sp>
        <p:nvSpPr>
          <p:cNvPr id="336" name="d"/>
          <p:cNvSpPr/>
          <p:nvPr/>
        </p:nvSpPr>
        <p:spPr>
          <a:xfrm>
            <a:off x="5107940" y="2219960"/>
            <a:ext cx="127000" cy="127000"/>
          </a:xfrm>
          <a:prstGeom prst="ellipse">
            <a:avLst/>
          </a:prstGeom>
          <a:solidFill>
            <a:srgbClr val="DAD4EC"/>
          </a:solidFill>
          <a:ln>
            <a:noFill/>
          </a:ln>
        </p:spPr>
        <p:txBody>
          <a:bodyPr/>
          <a:lstStyle/>
          <a:p>
            <a:endParaRPr lang="en-US"/>
          </a:p>
        </p:txBody>
      </p:sp>
      <p:sp>
        <p:nvSpPr>
          <p:cNvPr id="337" name="d"/>
          <p:cNvSpPr/>
          <p:nvPr/>
        </p:nvSpPr>
        <p:spPr>
          <a:xfrm>
            <a:off x="5278120" y="2219960"/>
            <a:ext cx="127000" cy="127000"/>
          </a:xfrm>
          <a:prstGeom prst="ellipse">
            <a:avLst/>
          </a:prstGeom>
          <a:solidFill>
            <a:srgbClr val="DAD4EC"/>
          </a:solidFill>
          <a:ln>
            <a:noFill/>
          </a:ln>
        </p:spPr>
        <p:txBody>
          <a:bodyPr/>
          <a:lstStyle/>
          <a:p>
            <a:endParaRPr lang="en-US"/>
          </a:p>
        </p:txBody>
      </p:sp>
      <p:sp>
        <p:nvSpPr>
          <p:cNvPr id="338" name="d"/>
          <p:cNvSpPr/>
          <p:nvPr/>
        </p:nvSpPr>
        <p:spPr>
          <a:xfrm>
            <a:off x="3746500" y="2390140"/>
            <a:ext cx="127000" cy="127000"/>
          </a:xfrm>
          <a:prstGeom prst="ellipse">
            <a:avLst/>
          </a:prstGeom>
          <a:solidFill>
            <a:srgbClr val="DAD4EC"/>
          </a:solidFill>
          <a:ln>
            <a:noFill/>
          </a:ln>
        </p:spPr>
        <p:txBody>
          <a:bodyPr/>
          <a:lstStyle/>
          <a:p>
            <a:endParaRPr lang="en-US"/>
          </a:p>
        </p:txBody>
      </p:sp>
      <p:sp>
        <p:nvSpPr>
          <p:cNvPr id="339" name="d"/>
          <p:cNvSpPr/>
          <p:nvPr/>
        </p:nvSpPr>
        <p:spPr>
          <a:xfrm>
            <a:off x="3916680" y="2390140"/>
            <a:ext cx="127000" cy="127000"/>
          </a:xfrm>
          <a:prstGeom prst="ellipse">
            <a:avLst/>
          </a:prstGeom>
          <a:solidFill>
            <a:srgbClr val="DAD4EC"/>
          </a:solidFill>
          <a:ln>
            <a:noFill/>
          </a:ln>
        </p:spPr>
        <p:txBody>
          <a:bodyPr/>
          <a:lstStyle/>
          <a:p>
            <a:endParaRPr lang="en-US"/>
          </a:p>
        </p:txBody>
      </p:sp>
      <p:sp>
        <p:nvSpPr>
          <p:cNvPr id="340" name="d"/>
          <p:cNvSpPr/>
          <p:nvPr/>
        </p:nvSpPr>
        <p:spPr>
          <a:xfrm>
            <a:off x="4086860" y="2390140"/>
            <a:ext cx="127000" cy="127000"/>
          </a:xfrm>
          <a:prstGeom prst="ellipse">
            <a:avLst/>
          </a:prstGeom>
          <a:solidFill>
            <a:srgbClr val="DAD4EC"/>
          </a:solidFill>
          <a:ln>
            <a:noFill/>
          </a:ln>
        </p:spPr>
        <p:txBody>
          <a:bodyPr/>
          <a:lstStyle/>
          <a:p>
            <a:endParaRPr lang="en-US"/>
          </a:p>
        </p:txBody>
      </p:sp>
      <p:sp>
        <p:nvSpPr>
          <p:cNvPr id="341" name="d"/>
          <p:cNvSpPr/>
          <p:nvPr/>
        </p:nvSpPr>
        <p:spPr>
          <a:xfrm>
            <a:off x="4257040" y="2390140"/>
            <a:ext cx="127000" cy="127000"/>
          </a:xfrm>
          <a:prstGeom prst="ellipse">
            <a:avLst/>
          </a:prstGeom>
          <a:solidFill>
            <a:srgbClr val="DAD4EC"/>
          </a:solidFill>
          <a:ln>
            <a:noFill/>
          </a:ln>
        </p:spPr>
        <p:txBody>
          <a:bodyPr/>
          <a:lstStyle/>
          <a:p>
            <a:endParaRPr lang="en-US"/>
          </a:p>
        </p:txBody>
      </p:sp>
      <p:sp>
        <p:nvSpPr>
          <p:cNvPr id="342" name="d"/>
          <p:cNvSpPr/>
          <p:nvPr/>
        </p:nvSpPr>
        <p:spPr>
          <a:xfrm>
            <a:off x="4427220" y="2390140"/>
            <a:ext cx="127000" cy="127000"/>
          </a:xfrm>
          <a:prstGeom prst="ellipse">
            <a:avLst/>
          </a:prstGeom>
          <a:solidFill>
            <a:srgbClr val="DAD4EC"/>
          </a:solidFill>
          <a:ln>
            <a:noFill/>
          </a:ln>
        </p:spPr>
        <p:txBody>
          <a:bodyPr/>
          <a:lstStyle/>
          <a:p>
            <a:endParaRPr lang="en-US"/>
          </a:p>
        </p:txBody>
      </p:sp>
      <p:sp>
        <p:nvSpPr>
          <p:cNvPr id="343" name="d"/>
          <p:cNvSpPr/>
          <p:nvPr/>
        </p:nvSpPr>
        <p:spPr>
          <a:xfrm>
            <a:off x="4597400" y="2390140"/>
            <a:ext cx="127000" cy="127000"/>
          </a:xfrm>
          <a:prstGeom prst="ellipse">
            <a:avLst/>
          </a:prstGeom>
          <a:solidFill>
            <a:srgbClr val="DAD4EC"/>
          </a:solidFill>
          <a:ln>
            <a:noFill/>
          </a:ln>
        </p:spPr>
        <p:txBody>
          <a:bodyPr/>
          <a:lstStyle/>
          <a:p>
            <a:endParaRPr lang="en-US"/>
          </a:p>
        </p:txBody>
      </p:sp>
      <p:sp>
        <p:nvSpPr>
          <p:cNvPr id="344" name="d"/>
          <p:cNvSpPr/>
          <p:nvPr/>
        </p:nvSpPr>
        <p:spPr>
          <a:xfrm>
            <a:off x="4767580" y="2390140"/>
            <a:ext cx="127000" cy="127000"/>
          </a:xfrm>
          <a:prstGeom prst="ellipse">
            <a:avLst/>
          </a:prstGeom>
          <a:solidFill>
            <a:srgbClr val="DAD4EC"/>
          </a:solidFill>
          <a:ln>
            <a:noFill/>
          </a:ln>
        </p:spPr>
        <p:txBody>
          <a:bodyPr/>
          <a:lstStyle/>
          <a:p>
            <a:endParaRPr lang="en-US"/>
          </a:p>
        </p:txBody>
      </p:sp>
      <p:sp>
        <p:nvSpPr>
          <p:cNvPr id="345" name="d"/>
          <p:cNvSpPr/>
          <p:nvPr/>
        </p:nvSpPr>
        <p:spPr>
          <a:xfrm>
            <a:off x="4937760" y="2390140"/>
            <a:ext cx="127000" cy="127000"/>
          </a:xfrm>
          <a:prstGeom prst="ellipse">
            <a:avLst/>
          </a:prstGeom>
          <a:solidFill>
            <a:srgbClr val="DAD4EC"/>
          </a:solidFill>
          <a:ln>
            <a:noFill/>
          </a:ln>
        </p:spPr>
        <p:txBody>
          <a:bodyPr/>
          <a:lstStyle/>
          <a:p>
            <a:endParaRPr lang="en-US"/>
          </a:p>
        </p:txBody>
      </p:sp>
      <p:sp>
        <p:nvSpPr>
          <p:cNvPr id="346" name="d"/>
          <p:cNvSpPr/>
          <p:nvPr/>
        </p:nvSpPr>
        <p:spPr>
          <a:xfrm>
            <a:off x="5107940" y="2390140"/>
            <a:ext cx="127000" cy="127000"/>
          </a:xfrm>
          <a:prstGeom prst="ellipse">
            <a:avLst/>
          </a:prstGeom>
          <a:solidFill>
            <a:srgbClr val="DAD4EC"/>
          </a:solidFill>
          <a:ln>
            <a:noFill/>
          </a:ln>
        </p:spPr>
        <p:txBody>
          <a:bodyPr/>
          <a:lstStyle/>
          <a:p>
            <a:endParaRPr lang="en-US"/>
          </a:p>
        </p:txBody>
      </p:sp>
      <p:sp>
        <p:nvSpPr>
          <p:cNvPr id="347" name="d"/>
          <p:cNvSpPr/>
          <p:nvPr/>
        </p:nvSpPr>
        <p:spPr>
          <a:xfrm>
            <a:off x="5278120" y="2390140"/>
            <a:ext cx="127000" cy="127000"/>
          </a:xfrm>
          <a:prstGeom prst="ellipse">
            <a:avLst/>
          </a:prstGeom>
          <a:solidFill>
            <a:srgbClr val="DAD4EC"/>
          </a:solidFill>
          <a:ln>
            <a:noFill/>
          </a:ln>
        </p:spPr>
        <p:txBody>
          <a:bodyPr/>
          <a:lstStyle/>
          <a:p>
            <a:endParaRPr lang="en-US"/>
          </a:p>
        </p:txBody>
      </p:sp>
      <p:sp>
        <p:nvSpPr>
          <p:cNvPr id="348" name="d"/>
          <p:cNvSpPr/>
          <p:nvPr/>
        </p:nvSpPr>
        <p:spPr>
          <a:xfrm>
            <a:off x="3746500" y="2560320"/>
            <a:ext cx="127000" cy="127000"/>
          </a:xfrm>
          <a:prstGeom prst="ellipse">
            <a:avLst/>
          </a:prstGeom>
          <a:solidFill>
            <a:srgbClr val="DAD4EC"/>
          </a:solidFill>
          <a:ln>
            <a:noFill/>
          </a:ln>
        </p:spPr>
        <p:txBody>
          <a:bodyPr/>
          <a:lstStyle/>
          <a:p>
            <a:endParaRPr lang="en-US"/>
          </a:p>
        </p:txBody>
      </p:sp>
      <p:sp>
        <p:nvSpPr>
          <p:cNvPr id="349" name="d"/>
          <p:cNvSpPr/>
          <p:nvPr/>
        </p:nvSpPr>
        <p:spPr>
          <a:xfrm>
            <a:off x="3916680" y="2560320"/>
            <a:ext cx="127000" cy="127000"/>
          </a:xfrm>
          <a:prstGeom prst="ellipse">
            <a:avLst/>
          </a:prstGeom>
          <a:solidFill>
            <a:srgbClr val="DAD4EC"/>
          </a:solidFill>
          <a:ln>
            <a:noFill/>
          </a:ln>
        </p:spPr>
        <p:txBody>
          <a:bodyPr/>
          <a:lstStyle/>
          <a:p>
            <a:endParaRPr lang="en-US"/>
          </a:p>
        </p:txBody>
      </p:sp>
      <p:sp>
        <p:nvSpPr>
          <p:cNvPr id="350" name="d"/>
          <p:cNvSpPr/>
          <p:nvPr/>
        </p:nvSpPr>
        <p:spPr>
          <a:xfrm>
            <a:off x="4086860" y="2560320"/>
            <a:ext cx="127000" cy="127000"/>
          </a:xfrm>
          <a:prstGeom prst="ellipse">
            <a:avLst/>
          </a:prstGeom>
          <a:solidFill>
            <a:srgbClr val="DAD4EC"/>
          </a:solidFill>
          <a:ln>
            <a:noFill/>
          </a:ln>
        </p:spPr>
        <p:txBody>
          <a:bodyPr/>
          <a:lstStyle/>
          <a:p>
            <a:endParaRPr lang="en-US"/>
          </a:p>
        </p:txBody>
      </p:sp>
      <p:sp>
        <p:nvSpPr>
          <p:cNvPr id="351" name="d"/>
          <p:cNvSpPr/>
          <p:nvPr/>
        </p:nvSpPr>
        <p:spPr>
          <a:xfrm>
            <a:off x="4257040" y="2560320"/>
            <a:ext cx="127000" cy="127000"/>
          </a:xfrm>
          <a:prstGeom prst="ellipse">
            <a:avLst/>
          </a:prstGeom>
          <a:solidFill>
            <a:srgbClr val="DAD4EC"/>
          </a:solidFill>
          <a:ln>
            <a:noFill/>
          </a:ln>
        </p:spPr>
        <p:txBody>
          <a:bodyPr/>
          <a:lstStyle/>
          <a:p>
            <a:endParaRPr lang="en-US"/>
          </a:p>
        </p:txBody>
      </p:sp>
      <p:sp>
        <p:nvSpPr>
          <p:cNvPr id="352" name="d"/>
          <p:cNvSpPr/>
          <p:nvPr/>
        </p:nvSpPr>
        <p:spPr>
          <a:xfrm>
            <a:off x="4427220" y="2560320"/>
            <a:ext cx="127000" cy="127000"/>
          </a:xfrm>
          <a:prstGeom prst="ellipse">
            <a:avLst/>
          </a:prstGeom>
          <a:solidFill>
            <a:srgbClr val="DAD4EC"/>
          </a:solidFill>
          <a:ln>
            <a:noFill/>
          </a:ln>
        </p:spPr>
        <p:txBody>
          <a:bodyPr/>
          <a:lstStyle/>
          <a:p>
            <a:endParaRPr lang="en-US"/>
          </a:p>
        </p:txBody>
      </p:sp>
      <p:sp>
        <p:nvSpPr>
          <p:cNvPr id="353" name="d"/>
          <p:cNvSpPr/>
          <p:nvPr/>
        </p:nvSpPr>
        <p:spPr>
          <a:xfrm>
            <a:off x="4597400" y="2560320"/>
            <a:ext cx="127000" cy="127000"/>
          </a:xfrm>
          <a:prstGeom prst="ellipse">
            <a:avLst/>
          </a:prstGeom>
          <a:solidFill>
            <a:srgbClr val="DAD4EC"/>
          </a:solidFill>
          <a:ln>
            <a:noFill/>
          </a:ln>
        </p:spPr>
        <p:txBody>
          <a:bodyPr/>
          <a:lstStyle/>
          <a:p>
            <a:endParaRPr lang="en-US"/>
          </a:p>
        </p:txBody>
      </p:sp>
      <p:sp>
        <p:nvSpPr>
          <p:cNvPr id="354" name="d"/>
          <p:cNvSpPr/>
          <p:nvPr/>
        </p:nvSpPr>
        <p:spPr>
          <a:xfrm>
            <a:off x="4767580" y="2560320"/>
            <a:ext cx="127000" cy="127000"/>
          </a:xfrm>
          <a:prstGeom prst="ellipse">
            <a:avLst/>
          </a:prstGeom>
          <a:solidFill>
            <a:srgbClr val="DAD4EC"/>
          </a:solidFill>
          <a:ln>
            <a:noFill/>
          </a:ln>
        </p:spPr>
        <p:txBody>
          <a:bodyPr/>
          <a:lstStyle/>
          <a:p>
            <a:endParaRPr lang="en-US"/>
          </a:p>
        </p:txBody>
      </p:sp>
      <p:sp>
        <p:nvSpPr>
          <p:cNvPr id="355" name="d"/>
          <p:cNvSpPr/>
          <p:nvPr/>
        </p:nvSpPr>
        <p:spPr>
          <a:xfrm>
            <a:off x="4937760" y="2560320"/>
            <a:ext cx="127000" cy="127000"/>
          </a:xfrm>
          <a:prstGeom prst="ellipse">
            <a:avLst/>
          </a:prstGeom>
          <a:solidFill>
            <a:srgbClr val="DAD4EC"/>
          </a:solidFill>
          <a:ln>
            <a:noFill/>
          </a:ln>
        </p:spPr>
        <p:txBody>
          <a:bodyPr/>
          <a:lstStyle/>
          <a:p>
            <a:endParaRPr lang="en-US"/>
          </a:p>
        </p:txBody>
      </p:sp>
      <p:sp>
        <p:nvSpPr>
          <p:cNvPr id="356" name="d"/>
          <p:cNvSpPr/>
          <p:nvPr/>
        </p:nvSpPr>
        <p:spPr>
          <a:xfrm>
            <a:off x="5107940" y="2560320"/>
            <a:ext cx="127000" cy="127000"/>
          </a:xfrm>
          <a:prstGeom prst="ellipse">
            <a:avLst/>
          </a:prstGeom>
          <a:solidFill>
            <a:srgbClr val="DAD4EC"/>
          </a:solidFill>
          <a:ln>
            <a:noFill/>
          </a:ln>
        </p:spPr>
        <p:txBody>
          <a:bodyPr/>
          <a:lstStyle/>
          <a:p>
            <a:endParaRPr lang="en-US"/>
          </a:p>
        </p:txBody>
      </p:sp>
      <p:sp>
        <p:nvSpPr>
          <p:cNvPr id="357" name="d"/>
          <p:cNvSpPr/>
          <p:nvPr/>
        </p:nvSpPr>
        <p:spPr>
          <a:xfrm>
            <a:off x="5278120" y="2560320"/>
            <a:ext cx="127000" cy="127000"/>
          </a:xfrm>
          <a:prstGeom prst="ellipse">
            <a:avLst/>
          </a:prstGeom>
          <a:solidFill>
            <a:srgbClr val="DAD4EC"/>
          </a:solidFill>
          <a:ln>
            <a:noFill/>
          </a:ln>
        </p:spPr>
        <p:txBody>
          <a:bodyPr/>
          <a:lstStyle/>
          <a:p>
            <a:endParaRPr lang="en-US"/>
          </a:p>
        </p:txBody>
      </p:sp>
      <p:sp>
        <p:nvSpPr>
          <p:cNvPr id="358" name="d"/>
          <p:cNvSpPr/>
          <p:nvPr/>
        </p:nvSpPr>
        <p:spPr>
          <a:xfrm>
            <a:off x="3746500" y="2730500"/>
            <a:ext cx="127000" cy="127000"/>
          </a:xfrm>
          <a:prstGeom prst="ellipse">
            <a:avLst/>
          </a:prstGeom>
          <a:solidFill>
            <a:srgbClr val="DAD4EC"/>
          </a:solidFill>
          <a:ln>
            <a:noFill/>
          </a:ln>
        </p:spPr>
        <p:txBody>
          <a:bodyPr/>
          <a:lstStyle/>
          <a:p>
            <a:endParaRPr lang="en-US"/>
          </a:p>
        </p:txBody>
      </p:sp>
      <p:sp>
        <p:nvSpPr>
          <p:cNvPr id="359" name="d"/>
          <p:cNvSpPr/>
          <p:nvPr/>
        </p:nvSpPr>
        <p:spPr>
          <a:xfrm>
            <a:off x="3916680" y="2730500"/>
            <a:ext cx="127000" cy="127000"/>
          </a:xfrm>
          <a:prstGeom prst="ellipse">
            <a:avLst/>
          </a:prstGeom>
          <a:solidFill>
            <a:srgbClr val="DAD4EC"/>
          </a:solidFill>
          <a:ln>
            <a:noFill/>
          </a:ln>
        </p:spPr>
        <p:txBody>
          <a:bodyPr/>
          <a:lstStyle/>
          <a:p>
            <a:endParaRPr lang="en-US"/>
          </a:p>
        </p:txBody>
      </p:sp>
      <p:sp>
        <p:nvSpPr>
          <p:cNvPr id="360" name="d"/>
          <p:cNvSpPr/>
          <p:nvPr/>
        </p:nvSpPr>
        <p:spPr>
          <a:xfrm>
            <a:off x="4086860" y="2730500"/>
            <a:ext cx="127000" cy="127000"/>
          </a:xfrm>
          <a:prstGeom prst="ellipse">
            <a:avLst/>
          </a:prstGeom>
          <a:solidFill>
            <a:srgbClr val="DAD4EC"/>
          </a:solidFill>
          <a:ln>
            <a:noFill/>
          </a:ln>
        </p:spPr>
        <p:txBody>
          <a:bodyPr/>
          <a:lstStyle/>
          <a:p>
            <a:endParaRPr lang="en-US"/>
          </a:p>
        </p:txBody>
      </p:sp>
      <p:sp>
        <p:nvSpPr>
          <p:cNvPr id="361" name="d"/>
          <p:cNvSpPr/>
          <p:nvPr/>
        </p:nvSpPr>
        <p:spPr>
          <a:xfrm>
            <a:off x="4257040" y="2730500"/>
            <a:ext cx="127000" cy="127000"/>
          </a:xfrm>
          <a:prstGeom prst="ellipse">
            <a:avLst/>
          </a:prstGeom>
          <a:solidFill>
            <a:srgbClr val="DAD4EC"/>
          </a:solidFill>
          <a:ln>
            <a:noFill/>
          </a:ln>
        </p:spPr>
        <p:txBody>
          <a:bodyPr/>
          <a:lstStyle/>
          <a:p>
            <a:endParaRPr lang="en-US"/>
          </a:p>
        </p:txBody>
      </p:sp>
      <p:sp>
        <p:nvSpPr>
          <p:cNvPr id="362" name="d"/>
          <p:cNvSpPr/>
          <p:nvPr/>
        </p:nvSpPr>
        <p:spPr>
          <a:xfrm>
            <a:off x="4427220" y="2730500"/>
            <a:ext cx="127000" cy="127000"/>
          </a:xfrm>
          <a:prstGeom prst="ellipse">
            <a:avLst/>
          </a:prstGeom>
          <a:solidFill>
            <a:srgbClr val="DAD4EC"/>
          </a:solidFill>
          <a:ln>
            <a:noFill/>
          </a:ln>
        </p:spPr>
        <p:txBody>
          <a:bodyPr/>
          <a:lstStyle/>
          <a:p>
            <a:endParaRPr lang="en-US"/>
          </a:p>
        </p:txBody>
      </p:sp>
      <p:sp>
        <p:nvSpPr>
          <p:cNvPr id="363" name="d"/>
          <p:cNvSpPr/>
          <p:nvPr/>
        </p:nvSpPr>
        <p:spPr>
          <a:xfrm>
            <a:off x="4597400" y="2730500"/>
            <a:ext cx="127000" cy="127000"/>
          </a:xfrm>
          <a:prstGeom prst="ellipse">
            <a:avLst/>
          </a:prstGeom>
          <a:solidFill>
            <a:srgbClr val="DAD4EC"/>
          </a:solidFill>
          <a:ln>
            <a:noFill/>
          </a:ln>
        </p:spPr>
        <p:txBody>
          <a:bodyPr/>
          <a:lstStyle/>
          <a:p>
            <a:endParaRPr lang="en-US"/>
          </a:p>
        </p:txBody>
      </p:sp>
      <p:sp>
        <p:nvSpPr>
          <p:cNvPr id="364" name="d"/>
          <p:cNvSpPr/>
          <p:nvPr/>
        </p:nvSpPr>
        <p:spPr>
          <a:xfrm>
            <a:off x="4767580" y="2730500"/>
            <a:ext cx="127000" cy="127000"/>
          </a:xfrm>
          <a:prstGeom prst="ellipse">
            <a:avLst/>
          </a:prstGeom>
          <a:solidFill>
            <a:srgbClr val="DAD4EC"/>
          </a:solidFill>
          <a:ln>
            <a:noFill/>
          </a:ln>
        </p:spPr>
        <p:txBody>
          <a:bodyPr/>
          <a:lstStyle/>
          <a:p>
            <a:endParaRPr lang="en-US"/>
          </a:p>
        </p:txBody>
      </p:sp>
      <p:sp>
        <p:nvSpPr>
          <p:cNvPr id="365" name="d"/>
          <p:cNvSpPr/>
          <p:nvPr/>
        </p:nvSpPr>
        <p:spPr>
          <a:xfrm>
            <a:off x="4937760" y="2730500"/>
            <a:ext cx="127000" cy="127000"/>
          </a:xfrm>
          <a:prstGeom prst="ellipse">
            <a:avLst/>
          </a:prstGeom>
          <a:solidFill>
            <a:srgbClr val="DAD4EC"/>
          </a:solidFill>
          <a:ln>
            <a:noFill/>
          </a:ln>
        </p:spPr>
        <p:txBody>
          <a:bodyPr/>
          <a:lstStyle/>
          <a:p>
            <a:endParaRPr lang="en-US"/>
          </a:p>
        </p:txBody>
      </p:sp>
      <p:sp>
        <p:nvSpPr>
          <p:cNvPr id="366" name="d"/>
          <p:cNvSpPr/>
          <p:nvPr/>
        </p:nvSpPr>
        <p:spPr>
          <a:xfrm>
            <a:off x="5107940" y="2730500"/>
            <a:ext cx="127000" cy="127000"/>
          </a:xfrm>
          <a:prstGeom prst="ellipse">
            <a:avLst/>
          </a:prstGeom>
          <a:solidFill>
            <a:srgbClr val="DAD4EC"/>
          </a:solidFill>
          <a:ln>
            <a:noFill/>
          </a:ln>
        </p:spPr>
        <p:txBody>
          <a:bodyPr/>
          <a:lstStyle/>
          <a:p>
            <a:endParaRPr lang="en-US"/>
          </a:p>
        </p:txBody>
      </p:sp>
      <p:sp>
        <p:nvSpPr>
          <p:cNvPr id="367" name="d"/>
          <p:cNvSpPr/>
          <p:nvPr/>
        </p:nvSpPr>
        <p:spPr>
          <a:xfrm>
            <a:off x="5278120" y="2730500"/>
            <a:ext cx="127000" cy="127000"/>
          </a:xfrm>
          <a:prstGeom prst="ellipse">
            <a:avLst/>
          </a:prstGeom>
          <a:solidFill>
            <a:srgbClr val="DAD4EC"/>
          </a:solidFill>
          <a:ln>
            <a:noFill/>
          </a:ln>
        </p:spPr>
        <p:txBody>
          <a:bodyPr/>
          <a:lstStyle/>
          <a:p>
            <a:endParaRPr lang="en-US"/>
          </a:p>
        </p:txBody>
      </p:sp>
      <p:sp>
        <p:nvSpPr>
          <p:cNvPr id="368" name="d"/>
          <p:cNvSpPr/>
          <p:nvPr/>
        </p:nvSpPr>
        <p:spPr>
          <a:xfrm>
            <a:off x="3746500" y="2900680"/>
            <a:ext cx="127000" cy="127000"/>
          </a:xfrm>
          <a:prstGeom prst="ellipse">
            <a:avLst/>
          </a:prstGeom>
          <a:solidFill>
            <a:srgbClr val="DAD4EC"/>
          </a:solidFill>
          <a:ln>
            <a:noFill/>
          </a:ln>
        </p:spPr>
        <p:txBody>
          <a:bodyPr/>
          <a:lstStyle/>
          <a:p>
            <a:endParaRPr lang="en-US"/>
          </a:p>
        </p:txBody>
      </p:sp>
      <p:sp>
        <p:nvSpPr>
          <p:cNvPr id="369" name="d"/>
          <p:cNvSpPr/>
          <p:nvPr/>
        </p:nvSpPr>
        <p:spPr>
          <a:xfrm>
            <a:off x="3916680" y="2900680"/>
            <a:ext cx="127000" cy="127000"/>
          </a:xfrm>
          <a:prstGeom prst="ellipse">
            <a:avLst/>
          </a:prstGeom>
          <a:solidFill>
            <a:srgbClr val="DAD4EC"/>
          </a:solidFill>
          <a:ln>
            <a:noFill/>
          </a:ln>
        </p:spPr>
        <p:txBody>
          <a:bodyPr/>
          <a:lstStyle/>
          <a:p>
            <a:endParaRPr lang="en-US"/>
          </a:p>
        </p:txBody>
      </p:sp>
      <p:sp>
        <p:nvSpPr>
          <p:cNvPr id="370" name="d"/>
          <p:cNvSpPr/>
          <p:nvPr/>
        </p:nvSpPr>
        <p:spPr>
          <a:xfrm>
            <a:off x="4086860" y="2900680"/>
            <a:ext cx="127000" cy="127000"/>
          </a:xfrm>
          <a:prstGeom prst="ellipse">
            <a:avLst/>
          </a:prstGeom>
          <a:solidFill>
            <a:srgbClr val="DAD4EC"/>
          </a:solidFill>
          <a:ln>
            <a:noFill/>
          </a:ln>
        </p:spPr>
        <p:txBody>
          <a:bodyPr/>
          <a:lstStyle/>
          <a:p>
            <a:endParaRPr lang="en-US"/>
          </a:p>
        </p:txBody>
      </p:sp>
      <p:sp>
        <p:nvSpPr>
          <p:cNvPr id="371" name="d"/>
          <p:cNvSpPr/>
          <p:nvPr/>
        </p:nvSpPr>
        <p:spPr>
          <a:xfrm>
            <a:off x="4257040" y="2900680"/>
            <a:ext cx="127000" cy="127000"/>
          </a:xfrm>
          <a:prstGeom prst="ellipse">
            <a:avLst/>
          </a:prstGeom>
          <a:solidFill>
            <a:srgbClr val="DAD4EC"/>
          </a:solidFill>
          <a:ln>
            <a:noFill/>
          </a:ln>
        </p:spPr>
        <p:txBody>
          <a:bodyPr/>
          <a:lstStyle/>
          <a:p>
            <a:endParaRPr lang="en-US"/>
          </a:p>
        </p:txBody>
      </p:sp>
      <p:sp>
        <p:nvSpPr>
          <p:cNvPr id="372" name="d"/>
          <p:cNvSpPr/>
          <p:nvPr/>
        </p:nvSpPr>
        <p:spPr>
          <a:xfrm>
            <a:off x="4427220" y="2900680"/>
            <a:ext cx="127000" cy="127000"/>
          </a:xfrm>
          <a:prstGeom prst="ellipse">
            <a:avLst/>
          </a:prstGeom>
          <a:solidFill>
            <a:srgbClr val="DAD4EC"/>
          </a:solidFill>
          <a:ln>
            <a:noFill/>
          </a:ln>
        </p:spPr>
        <p:txBody>
          <a:bodyPr/>
          <a:lstStyle/>
          <a:p>
            <a:endParaRPr lang="en-US"/>
          </a:p>
        </p:txBody>
      </p:sp>
      <p:sp>
        <p:nvSpPr>
          <p:cNvPr id="373" name="d"/>
          <p:cNvSpPr/>
          <p:nvPr/>
        </p:nvSpPr>
        <p:spPr>
          <a:xfrm>
            <a:off x="4597400" y="2900680"/>
            <a:ext cx="127000" cy="127000"/>
          </a:xfrm>
          <a:prstGeom prst="ellipse">
            <a:avLst/>
          </a:prstGeom>
          <a:solidFill>
            <a:srgbClr val="DAD4EC"/>
          </a:solidFill>
          <a:ln>
            <a:noFill/>
          </a:ln>
        </p:spPr>
        <p:txBody>
          <a:bodyPr/>
          <a:lstStyle/>
          <a:p>
            <a:endParaRPr lang="en-US"/>
          </a:p>
        </p:txBody>
      </p:sp>
      <p:sp>
        <p:nvSpPr>
          <p:cNvPr id="374" name="d"/>
          <p:cNvSpPr/>
          <p:nvPr/>
        </p:nvSpPr>
        <p:spPr>
          <a:xfrm>
            <a:off x="4767580" y="2900680"/>
            <a:ext cx="127000" cy="127000"/>
          </a:xfrm>
          <a:prstGeom prst="ellipse">
            <a:avLst/>
          </a:prstGeom>
          <a:solidFill>
            <a:srgbClr val="DAD4EC"/>
          </a:solidFill>
          <a:ln>
            <a:noFill/>
          </a:ln>
        </p:spPr>
        <p:txBody>
          <a:bodyPr/>
          <a:lstStyle/>
          <a:p>
            <a:endParaRPr lang="en-US"/>
          </a:p>
        </p:txBody>
      </p:sp>
      <p:sp>
        <p:nvSpPr>
          <p:cNvPr id="375" name="d"/>
          <p:cNvSpPr/>
          <p:nvPr/>
        </p:nvSpPr>
        <p:spPr>
          <a:xfrm>
            <a:off x="4937760" y="2900680"/>
            <a:ext cx="127000" cy="127000"/>
          </a:xfrm>
          <a:prstGeom prst="ellipse">
            <a:avLst/>
          </a:prstGeom>
          <a:solidFill>
            <a:srgbClr val="DAD4EC"/>
          </a:solidFill>
          <a:ln>
            <a:noFill/>
          </a:ln>
        </p:spPr>
        <p:txBody>
          <a:bodyPr/>
          <a:lstStyle/>
          <a:p>
            <a:endParaRPr lang="en-US"/>
          </a:p>
        </p:txBody>
      </p:sp>
      <p:sp>
        <p:nvSpPr>
          <p:cNvPr id="376" name="d"/>
          <p:cNvSpPr/>
          <p:nvPr/>
        </p:nvSpPr>
        <p:spPr>
          <a:xfrm>
            <a:off x="5107940" y="2900680"/>
            <a:ext cx="127000" cy="127000"/>
          </a:xfrm>
          <a:prstGeom prst="ellipse">
            <a:avLst/>
          </a:prstGeom>
          <a:solidFill>
            <a:srgbClr val="DAD4EC"/>
          </a:solidFill>
          <a:ln>
            <a:noFill/>
          </a:ln>
        </p:spPr>
        <p:txBody>
          <a:bodyPr/>
          <a:lstStyle/>
          <a:p>
            <a:endParaRPr lang="en-US"/>
          </a:p>
        </p:txBody>
      </p:sp>
      <p:sp>
        <p:nvSpPr>
          <p:cNvPr id="377" name="d"/>
          <p:cNvSpPr/>
          <p:nvPr/>
        </p:nvSpPr>
        <p:spPr>
          <a:xfrm>
            <a:off x="5278120" y="2900680"/>
            <a:ext cx="127000" cy="127000"/>
          </a:xfrm>
          <a:prstGeom prst="ellipse">
            <a:avLst/>
          </a:prstGeom>
          <a:solidFill>
            <a:srgbClr val="DAD4EC"/>
          </a:solidFill>
          <a:ln>
            <a:noFill/>
          </a:ln>
        </p:spPr>
        <p:txBody>
          <a:bodyPr/>
          <a:lstStyle/>
          <a:p>
            <a:endParaRPr lang="en-US"/>
          </a:p>
        </p:txBody>
      </p:sp>
      <p:sp>
        <p:nvSpPr>
          <p:cNvPr id="378" name="d"/>
          <p:cNvSpPr/>
          <p:nvPr/>
        </p:nvSpPr>
        <p:spPr>
          <a:xfrm>
            <a:off x="3746500" y="3070860"/>
            <a:ext cx="127000" cy="127000"/>
          </a:xfrm>
          <a:prstGeom prst="ellipse">
            <a:avLst/>
          </a:prstGeom>
          <a:solidFill>
            <a:srgbClr val="DAD4EC"/>
          </a:solidFill>
          <a:ln>
            <a:noFill/>
          </a:ln>
        </p:spPr>
        <p:txBody>
          <a:bodyPr/>
          <a:lstStyle/>
          <a:p>
            <a:endParaRPr lang="en-US"/>
          </a:p>
        </p:txBody>
      </p:sp>
      <p:sp>
        <p:nvSpPr>
          <p:cNvPr id="379" name="d"/>
          <p:cNvSpPr/>
          <p:nvPr/>
        </p:nvSpPr>
        <p:spPr>
          <a:xfrm>
            <a:off x="3916680" y="3070860"/>
            <a:ext cx="127000" cy="127000"/>
          </a:xfrm>
          <a:prstGeom prst="ellipse">
            <a:avLst/>
          </a:prstGeom>
          <a:solidFill>
            <a:srgbClr val="DAD4EC"/>
          </a:solidFill>
          <a:ln>
            <a:noFill/>
          </a:ln>
        </p:spPr>
        <p:txBody>
          <a:bodyPr/>
          <a:lstStyle/>
          <a:p>
            <a:endParaRPr lang="en-US"/>
          </a:p>
        </p:txBody>
      </p:sp>
      <p:sp>
        <p:nvSpPr>
          <p:cNvPr id="380" name="d"/>
          <p:cNvSpPr/>
          <p:nvPr/>
        </p:nvSpPr>
        <p:spPr>
          <a:xfrm>
            <a:off x="4086860" y="3070860"/>
            <a:ext cx="127000" cy="127000"/>
          </a:xfrm>
          <a:prstGeom prst="ellipse">
            <a:avLst/>
          </a:prstGeom>
          <a:solidFill>
            <a:srgbClr val="DAD4EC"/>
          </a:solidFill>
          <a:ln>
            <a:noFill/>
          </a:ln>
        </p:spPr>
        <p:txBody>
          <a:bodyPr/>
          <a:lstStyle/>
          <a:p>
            <a:endParaRPr lang="en-US"/>
          </a:p>
        </p:txBody>
      </p:sp>
      <p:sp>
        <p:nvSpPr>
          <p:cNvPr id="381" name="d"/>
          <p:cNvSpPr/>
          <p:nvPr/>
        </p:nvSpPr>
        <p:spPr>
          <a:xfrm>
            <a:off x="4257040" y="3070860"/>
            <a:ext cx="127000" cy="127000"/>
          </a:xfrm>
          <a:prstGeom prst="ellipse">
            <a:avLst/>
          </a:prstGeom>
          <a:solidFill>
            <a:srgbClr val="DAD4EC"/>
          </a:solidFill>
          <a:ln>
            <a:noFill/>
          </a:ln>
        </p:spPr>
        <p:txBody>
          <a:bodyPr/>
          <a:lstStyle/>
          <a:p>
            <a:endParaRPr lang="en-US"/>
          </a:p>
        </p:txBody>
      </p:sp>
      <p:sp>
        <p:nvSpPr>
          <p:cNvPr id="382" name="d"/>
          <p:cNvSpPr/>
          <p:nvPr/>
        </p:nvSpPr>
        <p:spPr>
          <a:xfrm>
            <a:off x="4427220" y="3070860"/>
            <a:ext cx="127000" cy="127000"/>
          </a:xfrm>
          <a:prstGeom prst="ellipse">
            <a:avLst/>
          </a:prstGeom>
          <a:solidFill>
            <a:srgbClr val="DAD4EC"/>
          </a:solidFill>
          <a:ln>
            <a:noFill/>
          </a:ln>
        </p:spPr>
        <p:txBody>
          <a:bodyPr/>
          <a:lstStyle/>
          <a:p>
            <a:endParaRPr lang="en-US"/>
          </a:p>
        </p:txBody>
      </p:sp>
      <p:sp>
        <p:nvSpPr>
          <p:cNvPr id="383" name="d"/>
          <p:cNvSpPr/>
          <p:nvPr/>
        </p:nvSpPr>
        <p:spPr>
          <a:xfrm>
            <a:off x="4597400" y="3070860"/>
            <a:ext cx="127000" cy="127000"/>
          </a:xfrm>
          <a:prstGeom prst="ellipse">
            <a:avLst/>
          </a:prstGeom>
          <a:solidFill>
            <a:srgbClr val="DAD4EC"/>
          </a:solidFill>
          <a:ln>
            <a:noFill/>
          </a:ln>
        </p:spPr>
        <p:txBody>
          <a:bodyPr/>
          <a:lstStyle/>
          <a:p>
            <a:endParaRPr lang="en-US"/>
          </a:p>
        </p:txBody>
      </p:sp>
      <p:sp>
        <p:nvSpPr>
          <p:cNvPr id="384" name="d"/>
          <p:cNvSpPr/>
          <p:nvPr/>
        </p:nvSpPr>
        <p:spPr>
          <a:xfrm>
            <a:off x="4767580" y="3070860"/>
            <a:ext cx="127000" cy="127000"/>
          </a:xfrm>
          <a:prstGeom prst="ellipse">
            <a:avLst/>
          </a:prstGeom>
          <a:solidFill>
            <a:srgbClr val="DAD4EC"/>
          </a:solidFill>
          <a:ln>
            <a:noFill/>
          </a:ln>
        </p:spPr>
        <p:txBody>
          <a:bodyPr/>
          <a:lstStyle/>
          <a:p>
            <a:endParaRPr lang="en-US"/>
          </a:p>
        </p:txBody>
      </p:sp>
      <p:sp>
        <p:nvSpPr>
          <p:cNvPr id="385" name="d"/>
          <p:cNvSpPr/>
          <p:nvPr/>
        </p:nvSpPr>
        <p:spPr>
          <a:xfrm>
            <a:off x="4937760" y="3070860"/>
            <a:ext cx="127000" cy="127000"/>
          </a:xfrm>
          <a:prstGeom prst="ellipse">
            <a:avLst/>
          </a:prstGeom>
          <a:solidFill>
            <a:srgbClr val="DAD4EC"/>
          </a:solidFill>
          <a:ln>
            <a:noFill/>
          </a:ln>
        </p:spPr>
        <p:txBody>
          <a:bodyPr/>
          <a:lstStyle/>
          <a:p>
            <a:endParaRPr lang="en-US"/>
          </a:p>
        </p:txBody>
      </p:sp>
      <p:sp>
        <p:nvSpPr>
          <p:cNvPr id="386" name="d"/>
          <p:cNvSpPr/>
          <p:nvPr/>
        </p:nvSpPr>
        <p:spPr>
          <a:xfrm>
            <a:off x="5107940" y="3070860"/>
            <a:ext cx="127000" cy="127000"/>
          </a:xfrm>
          <a:prstGeom prst="ellipse">
            <a:avLst/>
          </a:prstGeom>
          <a:solidFill>
            <a:srgbClr val="DAD4EC"/>
          </a:solidFill>
          <a:ln>
            <a:noFill/>
          </a:ln>
        </p:spPr>
        <p:txBody>
          <a:bodyPr/>
          <a:lstStyle/>
          <a:p>
            <a:endParaRPr lang="en-US"/>
          </a:p>
        </p:txBody>
      </p:sp>
      <p:sp>
        <p:nvSpPr>
          <p:cNvPr id="387" name="d"/>
          <p:cNvSpPr/>
          <p:nvPr/>
        </p:nvSpPr>
        <p:spPr>
          <a:xfrm>
            <a:off x="5278120" y="3070860"/>
            <a:ext cx="127000" cy="127000"/>
          </a:xfrm>
          <a:prstGeom prst="ellipse">
            <a:avLst/>
          </a:prstGeom>
          <a:solidFill>
            <a:srgbClr val="DAD4EC"/>
          </a:solidFill>
          <a:ln>
            <a:noFill/>
          </a:ln>
        </p:spPr>
        <p:txBody>
          <a:bodyPr/>
          <a:lstStyle/>
          <a:p>
            <a:endParaRPr lang="en-US"/>
          </a:p>
        </p:txBody>
      </p:sp>
      <p:sp>
        <p:nvSpPr>
          <p:cNvPr id="388" name="d"/>
          <p:cNvSpPr/>
          <p:nvPr/>
        </p:nvSpPr>
        <p:spPr>
          <a:xfrm>
            <a:off x="3746500" y="3241040"/>
            <a:ext cx="127000" cy="127000"/>
          </a:xfrm>
          <a:prstGeom prst="ellipse">
            <a:avLst/>
          </a:prstGeom>
          <a:solidFill>
            <a:srgbClr val="DAD4EC"/>
          </a:solidFill>
          <a:ln>
            <a:noFill/>
          </a:ln>
        </p:spPr>
        <p:txBody>
          <a:bodyPr/>
          <a:lstStyle/>
          <a:p>
            <a:endParaRPr lang="en-US"/>
          </a:p>
        </p:txBody>
      </p:sp>
      <p:sp>
        <p:nvSpPr>
          <p:cNvPr id="389" name="d"/>
          <p:cNvSpPr/>
          <p:nvPr/>
        </p:nvSpPr>
        <p:spPr>
          <a:xfrm>
            <a:off x="3916680" y="3241040"/>
            <a:ext cx="127000" cy="127000"/>
          </a:xfrm>
          <a:prstGeom prst="ellipse">
            <a:avLst/>
          </a:prstGeom>
          <a:solidFill>
            <a:srgbClr val="DAD4EC"/>
          </a:solidFill>
          <a:ln>
            <a:noFill/>
          </a:ln>
        </p:spPr>
        <p:txBody>
          <a:bodyPr/>
          <a:lstStyle/>
          <a:p>
            <a:endParaRPr lang="en-US"/>
          </a:p>
        </p:txBody>
      </p:sp>
      <p:sp>
        <p:nvSpPr>
          <p:cNvPr id="390" name="d"/>
          <p:cNvSpPr/>
          <p:nvPr/>
        </p:nvSpPr>
        <p:spPr>
          <a:xfrm>
            <a:off x="4086860" y="3241040"/>
            <a:ext cx="127000" cy="127000"/>
          </a:xfrm>
          <a:prstGeom prst="ellipse">
            <a:avLst/>
          </a:prstGeom>
          <a:solidFill>
            <a:srgbClr val="DAD4EC"/>
          </a:solidFill>
          <a:ln>
            <a:noFill/>
          </a:ln>
        </p:spPr>
        <p:txBody>
          <a:bodyPr/>
          <a:lstStyle/>
          <a:p>
            <a:endParaRPr lang="en-US"/>
          </a:p>
        </p:txBody>
      </p:sp>
      <p:sp>
        <p:nvSpPr>
          <p:cNvPr id="391" name="d"/>
          <p:cNvSpPr/>
          <p:nvPr/>
        </p:nvSpPr>
        <p:spPr>
          <a:xfrm>
            <a:off x="4257040" y="3241040"/>
            <a:ext cx="127000" cy="127000"/>
          </a:xfrm>
          <a:prstGeom prst="ellipse">
            <a:avLst/>
          </a:prstGeom>
          <a:solidFill>
            <a:srgbClr val="DAD4EC"/>
          </a:solidFill>
          <a:ln>
            <a:noFill/>
          </a:ln>
        </p:spPr>
        <p:txBody>
          <a:bodyPr/>
          <a:lstStyle/>
          <a:p>
            <a:endParaRPr lang="en-US"/>
          </a:p>
        </p:txBody>
      </p:sp>
      <p:sp>
        <p:nvSpPr>
          <p:cNvPr id="392" name="d"/>
          <p:cNvSpPr/>
          <p:nvPr/>
        </p:nvSpPr>
        <p:spPr>
          <a:xfrm>
            <a:off x="4427220" y="3241040"/>
            <a:ext cx="127000" cy="127000"/>
          </a:xfrm>
          <a:prstGeom prst="ellipse">
            <a:avLst/>
          </a:prstGeom>
          <a:solidFill>
            <a:srgbClr val="DAD4EC"/>
          </a:solidFill>
          <a:ln>
            <a:noFill/>
          </a:ln>
        </p:spPr>
        <p:txBody>
          <a:bodyPr/>
          <a:lstStyle/>
          <a:p>
            <a:endParaRPr lang="en-US"/>
          </a:p>
        </p:txBody>
      </p:sp>
      <p:sp>
        <p:nvSpPr>
          <p:cNvPr id="393" name="d"/>
          <p:cNvSpPr/>
          <p:nvPr/>
        </p:nvSpPr>
        <p:spPr>
          <a:xfrm>
            <a:off x="4597400" y="3241040"/>
            <a:ext cx="127000" cy="127000"/>
          </a:xfrm>
          <a:prstGeom prst="ellipse">
            <a:avLst/>
          </a:prstGeom>
          <a:solidFill>
            <a:srgbClr val="DAD4EC"/>
          </a:solidFill>
          <a:ln>
            <a:noFill/>
          </a:ln>
        </p:spPr>
        <p:txBody>
          <a:bodyPr/>
          <a:lstStyle/>
          <a:p>
            <a:endParaRPr lang="en-US"/>
          </a:p>
        </p:txBody>
      </p:sp>
      <p:sp>
        <p:nvSpPr>
          <p:cNvPr id="394" name="d"/>
          <p:cNvSpPr/>
          <p:nvPr/>
        </p:nvSpPr>
        <p:spPr>
          <a:xfrm>
            <a:off x="4767580" y="3241040"/>
            <a:ext cx="127000" cy="127000"/>
          </a:xfrm>
          <a:prstGeom prst="ellipse">
            <a:avLst/>
          </a:prstGeom>
          <a:solidFill>
            <a:srgbClr val="DAD4EC"/>
          </a:solidFill>
          <a:ln>
            <a:noFill/>
          </a:ln>
        </p:spPr>
        <p:txBody>
          <a:bodyPr/>
          <a:lstStyle/>
          <a:p>
            <a:endParaRPr lang="en-US"/>
          </a:p>
        </p:txBody>
      </p:sp>
      <p:sp>
        <p:nvSpPr>
          <p:cNvPr id="395" name="d"/>
          <p:cNvSpPr/>
          <p:nvPr/>
        </p:nvSpPr>
        <p:spPr>
          <a:xfrm>
            <a:off x="4937760" y="3241040"/>
            <a:ext cx="127000" cy="127000"/>
          </a:xfrm>
          <a:prstGeom prst="ellipse">
            <a:avLst/>
          </a:prstGeom>
          <a:solidFill>
            <a:srgbClr val="DAD4EC"/>
          </a:solidFill>
          <a:ln>
            <a:noFill/>
          </a:ln>
        </p:spPr>
        <p:txBody>
          <a:bodyPr/>
          <a:lstStyle/>
          <a:p>
            <a:endParaRPr lang="en-US"/>
          </a:p>
        </p:txBody>
      </p:sp>
      <p:sp>
        <p:nvSpPr>
          <p:cNvPr id="396" name="d"/>
          <p:cNvSpPr/>
          <p:nvPr/>
        </p:nvSpPr>
        <p:spPr>
          <a:xfrm>
            <a:off x="5107940" y="3241040"/>
            <a:ext cx="127000" cy="127000"/>
          </a:xfrm>
          <a:prstGeom prst="ellipse">
            <a:avLst/>
          </a:prstGeom>
          <a:solidFill>
            <a:srgbClr val="DAD4EC"/>
          </a:solidFill>
          <a:ln>
            <a:noFill/>
          </a:ln>
        </p:spPr>
        <p:txBody>
          <a:bodyPr/>
          <a:lstStyle/>
          <a:p>
            <a:endParaRPr lang="en-US"/>
          </a:p>
        </p:txBody>
      </p:sp>
      <p:sp>
        <p:nvSpPr>
          <p:cNvPr id="397" name="d"/>
          <p:cNvSpPr/>
          <p:nvPr/>
        </p:nvSpPr>
        <p:spPr>
          <a:xfrm>
            <a:off x="5278120" y="3241040"/>
            <a:ext cx="127000" cy="127000"/>
          </a:xfrm>
          <a:prstGeom prst="ellipse">
            <a:avLst/>
          </a:prstGeom>
          <a:solidFill>
            <a:srgbClr val="DAD4EC"/>
          </a:solidFill>
          <a:ln>
            <a:noFill/>
          </a:ln>
        </p:spPr>
        <p:txBody>
          <a:bodyPr/>
          <a:lstStyle/>
          <a:p>
            <a:endParaRPr lang="en-US"/>
          </a:p>
        </p:txBody>
      </p:sp>
      <p:sp>
        <p:nvSpPr>
          <p:cNvPr id="398" name="d"/>
          <p:cNvSpPr/>
          <p:nvPr/>
        </p:nvSpPr>
        <p:spPr>
          <a:xfrm>
            <a:off x="3746500" y="3411220"/>
            <a:ext cx="127000" cy="127000"/>
          </a:xfrm>
          <a:prstGeom prst="ellipse">
            <a:avLst/>
          </a:prstGeom>
          <a:solidFill>
            <a:srgbClr val="DAD4EC"/>
          </a:solidFill>
          <a:ln>
            <a:noFill/>
          </a:ln>
        </p:spPr>
        <p:txBody>
          <a:bodyPr/>
          <a:lstStyle/>
          <a:p>
            <a:endParaRPr lang="en-US"/>
          </a:p>
        </p:txBody>
      </p:sp>
      <p:sp>
        <p:nvSpPr>
          <p:cNvPr id="399" name="d"/>
          <p:cNvSpPr/>
          <p:nvPr/>
        </p:nvSpPr>
        <p:spPr>
          <a:xfrm>
            <a:off x="3916680" y="3411220"/>
            <a:ext cx="127000" cy="127000"/>
          </a:xfrm>
          <a:prstGeom prst="ellipse">
            <a:avLst/>
          </a:prstGeom>
          <a:solidFill>
            <a:srgbClr val="DAD4EC"/>
          </a:solidFill>
          <a:ln>
            <a:noFill/>
          </a:ln>
        </p:spPr>
        <p:txBody>
          <a:bodyPr/>
          <a:lstStyle/>
          <a:p>
            <a:endParaRPr lang="en-US"/>
          </a:p>
        </p:txBody>
      </p:sp>
      <p:sp>
        <p:nvSpPr>
          <p:cNvPr id="400" name="d"/>
          <p:cNvSpPr/>
          <p:nvPr/>
        </p:nvSpPr>
        <p:spPr>
          <a:xfrm>
            <a:off x="4086860" y="3411220"/>
            <a:ext cx="127000" cy="127000"/>
          </a:xfrm>
          <a:prstGeom prst="ellipse">
            <a:avLst/>
          </a:prstGeom>
          <a:solidFill>
            <a:srgbClr val="DAD4EC"/>
          </a:solidFill>
          <a:ln>
            <a:noFill/>
          </a:ln>
        </p:spPr>
        <p:txBody>
          <a:bodyPr/>
          <a:lstStyle/>
          <a:p>
            <a:endParaRPr lang="en-US"/>
          </a:p>
        </p:txBody>
      </p:sp>
      <p:sp>
        <p:nvSpPr>
          <p:cNvPr id="401" name="d"/>
          <p:cNvSpPr/>
          <p:nvPr/>
        </p:nvSpPr>
        <p:spPr>
          <a:xfrm>
            <a:off x="4257040" y="3411220"/>
            <a:ext cx="127000" cy="127000"/>
          </a:xfrm>
          <a:prstGeom prst="ellipse">
            <a:avLst/>
          </a:prstGeom>
          <a:solidFill>
            <a:srgbClr val="DAD4EC"/>
          </a:solidFill>
          <a:ln>
            <a:noFill/>
          </a:ln>
        </p:spPr>
        <p:txBody>
          <a:bodyPr/>
          <a:lstStyle/>
          <a:p>
            <a:endParaRPr lang="en-US"/>
          </a:p>
        </p:txBody>
      </p:sp>
      <p:sp>
        <p:nvSpPr>
          <p:cNvPr id="402" name="d"/>
          <p:cNvSpPr/>
          <p:nvPr/>
        </p:nvSpPr>
        <p:spPr>
          <a:xfrm>
            <a:off x="4427220" y="3411220"/>
            <a:ext cx="127000" cy="127000"/>
          </a:xfrm>
          <a:prstGeom prst="ellipse">
            <a:avLst/>
          </a:prstGeom>
          <a:solidFill>
            <a:srgbClr val="DAD4EC"/>
          </a:solidFill>
          <a:ln>
            <a:noFill/>
          </a:ln>
        </p:spPr>
        <p:txBody>
          <a:bodyPr/>
          <a:lstStyle/>
          <a:p>
            <a:endParaRPr lang="en-US"/>
          </a:p>
        </p:txBody>
      </p:sp>
      <p:sp>
        <p:nvSpPr>
          <p:cNvPr id="403" name="d"/>
          <p:cNvSpPr/>
          <p:nvPr/>
        </p:nvSpPr>
        <p:spPr>
          <a:xfrm>
            <a:off x="4597400" y="3411220"/>
            <a:ext cx="127000" cy="127000"/>
          </a:xfrm>
          <a:prstGeom prst="ellipse">
            <a:avLst/>
          </a:prstGeom>
          <a:solidFill>
            <a:srgbClr val="DAD4EC"/>
          </a:solidFill>
          <a:ln>
            <a:noFill/>
          </a:ln>
        </p:spPr>
        <p:txBody>
          <a:bodyPr/>
          <a:lstStyle/>
          <a:p>
            <a:endParaRPr lang="en-US"/>
          </a:p>
        </p:txBody>
      </p:sp>
      <p:sp>
        <p:nvSpPr>
          <p:cNvPr id="404" name="d"/>
          <p:cNvSpPr/>
          <p:nvPr/>
        </p:nvSpPr>
        <p:spPr>
          <a:xfrm>
            <a:off x="4767580" y="3411220"/>
            <a:ext cx="127000" cy="127000"/>
          </a:xfrm>
          <a:prstGeom prst="ellipse">
            <a:avLst/>
          </a:prstGeom>
          <a:solidFill>
            <a:srgbClr val="DAD4EC"/>
          </a:solidFill>
          <a:ln>
            <a:noFill/>
          </a:ln>
        </p:spPr>
        <p:txBody>
          <a:bodyPr/>
          <a:lstStyle/>
          <a:p>
            <a:endParaRPr lang="en-US"/>
          </a:p>
        </p:txBody>
      </p:sp>
      <p:sp>
        <p:nvSpPr>
          <p:cNvPr id="405" name="d"/>
          <p:cNvSpPr/>
          <p:nvPr/>
        </p:nvSpPr>
        <p:spPr>
          <a:xfrm>
            <a:off x="4937760" y="3411220"/>
            <a:ext cx="127000" cy="127000"/>
          </a:xfrm>
          <a:prstGeom prst="ellipse">
            <a:avLst/>
          </a:prstGeom>
          <a:solidFill>
            <a:srgbClr val="DAD4EC"/>
          </a:solidFill>
          <a:ln>
            <a:noFill/>
          </a:ln>
        </p:spPr>
        <p:txBody>
          <a:bodyPr/>
          <a:lstStyle/>
          <a:p>
            <a:endParaRPr lang="en-US"/>
          </a:p>
        </p:txBody>
      </p:sp>
      <p:sp>
        <p:nvSpPr>
          <p:cNvPr id="406" name="d"/>
          <p:cNvSpPr/>
          <p:nvPr/>
        </p:nvSpPr>
        <p:spPr>
          <a:xfrm>
            <a:off x="5107940" y="3411220"/>
            <a:ext cx="127000" cy="127000"/>
          </a:xfrm>
          <a:prstGeom prst="ellipse">
            <a:avLst/>
          </a:prstGeom>
          <a:solidFill>
            <a:srgbClr val="DAD4EC"/>
          </a:solidFill>
          <a:ln>
            <a:noFill/>
          </a:ln>
        </p:spPr>
        <p:txBody>
          <a:bodyPr/>
          <a:lstStyle/>
          <a:p>
            <a:endParaRPr lang="en-US"/>
          </a:p>
        </p:txBody>
      </p:sp>
      <p:sp>
        <p:nvSpPr>
          <p:cNvPr id="407" name="d"/>
          <p:cNvSpPr/>
          <p:nvPr/>
        </p:nvSpPr>
        <p:spPr>
          <a:xfrm>
            <a:off x="5278120" y="3411220"/>
            <a:ext cx="127000" cy="127000"/>
          </a:xfrm>
          <a:prstGeom prst="ellipse">
            <a:avLst/>
          </a:prstGeom>
          <a:solidFill>
            <a:srgbClr val="DAD4EC"/>
          </a:solidFill>
          <a:ln>
            <a:noFill/>
          </a:ln>
        </p:spPr>
        <p:txBody>
          <a:bodyPr/>
          <a:lstStyle/>
          <a:p>
            <a:endParaRPr lang="en-US"/>
          </a:p>
        </p:txBody>
      </p:sp>
      <p:sp>
        <p:nvSpPr>
          <p:cNvPr id="408" name="t409"/>
          <p:cNvSpPr txBox="1"/>
          <p:nvPr/>
        </p:nvSpPr>
        <p:spPr>
          <a:xfrm>
            <a:off x="6680200" y="1371600"/>
            <a:ext cx="1651000" cy="203200"/>
          </a:xfrm>
          <a:prstGeom prst="rect">
            <a:avLst/>
          </a:prstGeom>
          <a:noFill/>
        </p:spPr>
        <p:txBody>
          <a:bodyPr/>
          <a:lstStyle/>
          <a:p>
            <a:pPr algn="l"/>
            <a:r>
              <a:rPr lang="en-US" sz="1400" b="1" dirty="0">
                <a:solidFill>
                  <a:srgbClr val="110057"/>
                </a:solidFill>
                <a:latin typeface="Arial"/>
                <a:cs typeface="Arial"/>
              </a:rPr>
              <a:t>Higher risk</a:t>
            </a:r>
          </a:p>
        </p:txBody>
      </p:sp>
      <p:sp>
        <p:nvSpPr>
          <p:cNvPr id="409" name="t410"/>
          <p:cNvSpPr txBox="1"/>
          <p:nvPr/>
        </p:nvSpPr>
        <p:spPr>
          <a:xfrm>
            <a:off x="6680200" y="1600200"/>
            <a:ext cx="2159000" cy="177800"/>
          </a:xfrm>
          <a:prstGeom prst="rect">
            <a:avLst/>
          </a:prstGeom>
          <a:noFill/>
        </p:spPr>
        <p:txBody>
          <a:bodyPr wrap="none">
            <a:noAutofit/>
          </a:bodyPr>
          <a:lstStyle/>
          <a:p>
            <a:pPr algn="l">
              <a:buNone/>
            </a:pPr>
            <a:r>
              <a:rPr lang="en-US" sz="1100" b="1" dirty="0">
                <a:solidFill>
                  <a:srgbClr val="110057"/>
                </a:solidFill>
                <a:latin typeface="Arial"/>
                <a:cs typeface="Arial"/>
              </a:rPr>
              <a:t>20/100 → </a:t>
            </a:r>
            <a:r>
              <a:rPr lang="en-US" sz="1100" b="1" dirty="0">
                <a:solidFill>
                  <a:srgbClr val="11B7B6"/>
                </a:solidFill>
                <a:latin typeface="Arial"/>
                <a:cs typeface="Arial"/>
              </a:rPr>
              <a:t>10 prevented</a:t>
            </a:r>
          </a:p>
        </p:txBody>
      </p:sp>
      <p:sp>
        <p:nvSpPr>
          <p:cNvPr id="410" name="d"/>
          <p:cNvSpPr/>
          <p:nvPr/>
        </p:nvSpPr>
        <p:spPr>
          <a:xfrm>
            <a:off x="6680200" y="1879600"/>
            <a:ext cx="127000" cy="127000"/>
          </a:xfrm>
          <a:prstGeom prst="ellipse">
            <a:avLst/>
          </a:prstGeom>
          <a:solidFill>
            <a:srgbClr val="11B7B6"/>
          </a:solidFill>
          <a:ln>
            <a:noFill/>
          </a:ln>
        </p:spPr>
        <p:txBody>
          <a:bodyPr/>
          <a:lstStyle/>
          <a:p>
            <a:endParaRPr lang="en-US"/>
          </a:p>
        </p:txBody>
      </p:sp>
      <p:sp>
        <p:nvSpPr>
          <p:cNvPr id="411" name="d"/>
          <p:cNvSpPr/>
          <p:nvPr/>
        </p:nvSpPr>
        <p:spPr>
          <a:xfrm>
            <a:off x="6850380" y="1879600"/>
            <a:ext cx="127000" cy="127000"/>
          </a:xfrm>
          <a:prstGeom prst="ellipse">
            <a:avLst/>
          </a:prstGeom>
          <a:solidFill>
            <a:srgbClr val="11B7B6"/>
          </a:solidFill>
          <a:ln>
            <a:noFill/>
          </a:ln>
        </p:spPr>
        <p:txBody>
          <a:bodyPr/>
          <a:lstStyle/>
          <a:p>
            <a:endParaRPr lang="en-US"/>
          </a:p>
        </p:txBody>
      </p:sp>
      <p:sp>
        <p:nvSpPr>
          <p:cNvPr id="412" name="d"/>
          <p:cNvSpPr/>
          <p:nvPr/>
        </p:nvSpPr>
        <p:spPr>
          <a:xfrm>
            <a:off x="7020560" y="1879600"/>
            <a:ext cx="127000" cy="127000"/>
          </a:xfrm>
          <a:prstGeom prst="ellipse">
            <a:avLst/>
          </a:prstGeom>
          <a:solidFill>
            <a:srgbClr val="11B7B6"/>
          </a:solidFill>
          <a:ln>
            <a:noFill/>
          </a:ln>
        </p:spPr>
        <p:txBody>
          <a:bodyPr/>
          <a:lstStyle/>
          <a:p>
            <a:endParaRPr lang="en-US"/>
          </a:p>
        </p:txBody>
      </p:sp>
      <p:sp>
        <p:nvSpPr>
          <p:cNvPr id="413" name="d"/>
          <p:cNvSpPr/>
          <p:nvPr/>
        </p:nvSpPr>
        <p:spPr>
          <a:xfrm>
            <a:off x="7190740" y="1879600"/>
            <a:ext cx="127000" cy="127000"/>
          </a:xfrm>
          <a:prstGeom prst="ellipse">
            <a:avLst/>
          </a:prstGeom>
          <a:solidFill>
            <a:srgbClr val="11B7B6"/>
          </a:solidFill>
          <a:ln>
            <a:noFill/>
          </a:ln>
        </p:spPr>
        <p:txBody>
          <a:bodyPr/>
          <a:lstStyle/>
          <a:p>
            <a:endParaRPr lang="en-US"/>
          </a:p>
        </p:txBody>
      </p:sp>
      <p:sp>
        <p:nvSpPr>
          <p:cNvPr id="414" name="d"/>
          <p:cNvSpPr/>
          <p:nvPr/>
        </p:nvSpPr>
        <p:spPr>
          <a:xfrm>
            <a:off x="7360920" y="1879600"/>
            <a:ext cx="127000" cy="127000"/>
          </a:xfrm>
          <a:prstGeom prst="ellipse">
            <a:avLst/>
          </a:prstGeom>
          <a:solidFill>
            <a:srgbClr val="11B7B6"/>
          </a:solidFill>
          <a:ln>
            <a:noFill/>
          </a:ln>
        </p:spPr>
        <p:txBody>
          <a:bodyPr/>
          <a:lstStyle/>
          <a:p>
            <a:endParaRPr lang="en-US"/>
          </a:p>
        </p:txBody>
      </p:sp>
      <p:sp>
        <p:nvSpPr>
          <p:cNvPr id="415" name="d"/>
          <p:cNvSpPr/>
          <p:nvPr/>
        </p:nvSpPr>
        <p:spPr>
          <a:xfrm>
            <a:off x="7531100" y="1879600"/>
            <a:ext cx="127000" cy="127000"/>
          </a:xfrm>
          <a:prstGeom prst="ellipse">
            <a:avLst/>
          </a:prstGeom>
          <a:solidFill>
            <a:srgbClr val="11B7B6"/>
          </a:solidFill>
          <a:ln>
            <a:noFill/>
          </a:ln>
        </p:spPr>
        <p:txBody>
          <a:bodyPr/>
          <a:lstStyle/>
          <a:p>
            <a:endParaRPr lang="en-US"/>
          </a:p>
        </p:txBody>
      </p:sp>
      <p:sp>
        <p:nvSpPr>
          <p:cNvPr id="416" name="d"/>
          <p:cNvSpPr/>
          <p:nvPr/>
        </p:nvSpPr>
        <p:spPr>
          <a:xfrm>
            <a:off x="7701280" y="1879600"/>
            <a:ext cx="127000" cy="127000"/>
          </a:xfrm>
          <a:prstGeom prst="ellipse">
            <a:avLst/>
          </a:prstGeom>
          <a:solidFill>
            <a:srgbClr val="11B7B6"/>
          </a:solidFill>
          <a:ln>
            <a:noFill/>
          </a:ln>
        </p:spPr>
        <p:txBody>
          <a:bodyPr/>
          <a:lstStyle/>
          <a:p>
            <a:endParaRPr lang="en-US"/>
          </a:p>
        </p:txBody>
      </p:sp>
      <p:sp>
        <p:nvSpPr>
          <p:cNvPr id="417" name="d"/>
          <p:cNvSpPr/>
          <p:nvPr/>
        </p:nvSpPr>
        <p:spPr>
          <a:xfrm>
            <a:off x="7871460" y="1879600"/>
            <a:ext cx="127000" cy="127000"/>
          </a:xfrm>
          <a:prstGeom prst="ellipse">
            <a:avLst/>
          </a:prstGeom>
          <a:solidFill>
            <a:srgbClr val="11B7B6"/>
          </a:solidFill>
          <a:ln>
            <a:noFill/>
          </a:ln>
        </p:spPr>
        <p:txBody>
          <a:bodyPr/>
          <a:lstStyle/>
          <a:p>
            <a:endParaRPr lang="en-US"/>
          </a:p>
        </p:txBody>
      </p:sp>
      <p:sp>
        <p:nvSpPr>
          <p:cNvPr id="418" name="d"/>
          <p:cNvSpPr/>
          <p:nvPr/>
        </p:nvSpPr>
        <p:spPr>
          <a:xfrm>
            <a:off x="8041640" y="1879600"/>
            <a:ext cx="127000" cy="127000"/>
          </a:xfrm>
          <a:prstGeom prst="ellipse">
            <a:avLst/>
          </a:prstGeom>
          <a:solidFill>
            <a:srgbClr val="11B7B6"/>
          </a:solidFill>
          <a:ln>
            <a:noFill/>
          </a:ln>
        </p:spPr>
        <p:txBody>
          <a:bodyPr/>
          <a:lstStyle/>
          <a:p>
            <a:endParaRPr lang="en-US"/>
          </a:p>
        </p:txBody>
      </p:sp>
      <p:sp>
        <p:nvSpPr>
          <p:cNvPr id="419" name="d"/>
          <p:cNvSpPr/>
          <p:nvPr/>
        </p:nvSpPr>
        <p:spPr>
          <a:xfrm>
            <a:off x="8211820" y="1879600"/>
            <a:ext cx="127000" cy="127000"/>
          </a:xfrm>
          <a:prstGeom prst="ellipse">
            <a:avLst/>
          </a:prstGeom>
          <a:solidFill>
            <a:srgbClr val="11B7B6"/>
          </a:solidFill>
          <a:ln>
            <a:noFill/>
          </a:ln>
        </p:spPr>
        <p:txBody>
          <a:bodyPr/>
          <a:lstStyle/>
          <a:p>
            <a:endParaRPr lang="en-US"/>
          </a:p>
        </p:txBody>
      </p:sp>
      <p:sp>
        <p:nvSpPr>
          <p:cNvPr id="420" name="d"/>
          <p:cNvSpPr/>
          <p:nvPr/>
        </p:nvSpPr>
        <p:spPr>
          <a:xfrm>
            <a:off x="6680200" y="2049780"/>
            <a:ext cx="127000" cy="127000"/>
          </a:xfrm>
          <a:prstGeom prst="ellipse">
            <a:avLst/>
          </a:prstGeom>
          <a:solidFill>
            <a:srgbClr val="4A00E2"/>
          </a:solidFill>
          <a:ln>
            <a:noFill/>
          </a:ln>
        </p:spPr>
        <p:txBody>
          <a:bodyPr/>
          <a:lstStyle/>
          <a:p>
            <a:endParaRPr lang="en-US"/>
          </a:p>
        </p:txBody>
      </p:sp>
      <p:sp>
        <p:nvSpPr>
          <p:cNvPr id="421" name="d"/>
          <p:cNvSpPr/>
          <p:nvPr/>
        </p:nvSpPr>
        <p:spPr>
          <a:xfrm>
            <a:off x="6850380" y="2049780"/>
            <a:ext cx="127000" cy="127000"/>
          </a:xfrm>
          <a:prstGeom prst="ellipse">
            <a:avLst/>
          </a:prstGeom>
          <a:solidFill>
            <a:srgbClr val="4A00E2"/>
          </a:solidFill>
          <a:ln>
            <a:noFill/>
          </a:ln>
        </p:spPr>
        <p:txBody>
          <a:bodyPr/>
          <a:lstStyle/>
          <a:p>
            <a:endParaRPr lang="en-US"/>
          </a:p>
        </p:txBody>
      </p:sp>
      <p:sp>
        <p:nvSpPr>
          <p:cNvPr id="422" name="d"/>
          <p:cNvSpPr/>
          <p:nvPr/>
        </p:nvSpPr>
        <p:spPr>
          <a:xfrm>
            <a:off x="7020560" y="2049780"/>
            <a:ext cx="127000" cy="127000"/>
          </a:xfrm>
          <a:prstGeom prst="ellipse">
            <a:avLst/>
          </a:prstGeom>
          <a:solidFill>
            <a:srgbClr val="4A00E2"/>
          </a:solidFill>
          <a:ln>
            <a:noFill/>
          </a:ln>
        </p:spPr>
        <p:txBody>
          <a:bodyPr/>
          <a:lstStyle/>
          <a:p>
            <a:endParaRPr lang="en-US"/>
          </a:p>
        </p:txBody>
      </p:sp>
      <p:sp>
        <p:nvSpPr>
          <p:cNvPr id="423" name="d"/>
          <p:cNvSpPr/>
          <p:nvPr/>
        </p:nvSpPr>
        <p:spPr>
          <a:xfrm>
            <a:off x="7190740" y="2049780"/>
            <a:ext cx="127000" cy="127000"/>
          </a:xfrm>
          <a:prstGeom prst="ellipse">
            <a:avLst/>
          </a:prstGeom>
          <a:solidFill>
            <a:srgbClr val="4A00E2"/>
          </a:solidFill>
          <a:ln>
            <a:noFill/>
          </a:ln>
        </p:spPr>
        <p:txBody>
          <a:bodyPr/>
          <a:lstStyle/>
          <a:p>
            <a:endParaRPr lang="en-US"/>
          </a:p>
        </p:txBody>
      </p:sp>
      <p:sp>
        <p:nvSpPr>
          <p:cNvPr id="424" name="d"/>
          <p:cNvSpPr/>
          <p:nvPr/>
        </p:nvSpPr>
        <p:spPr>
          <a:xfrm>
            <a:off x="7360920" y="2049780"/>
            <a:ext cx="127000" cy="127000"/>
          </a:xfrm>
          <a:prstGeom prst="ellipse">
            <a:avLst/>
          </a:prstGeom>
          <a:solidFill>
            <a:srgbClr val="4A00E2"/>
          </a:solidFill>
          <a:ln>
            <a:noFill/>
          </a:ln>
        </p:spPr>
        <p:txBody>
          <a:bodyPr/>
          <a:lstStyle/>
          <a:p>
            <a:endParaRPr lang="en-US"/>
          </a:p>
        </p:txBody>
      </p:sp>
      <p:sp>
        <p:nvSpPr>
          <p:cNvPr id="425" name="d"/>
          <p:cNvSpPr/>
          <p:nvPr/>
        </p:nvSpPr>
        <p:spPr>
          <a:xfrm>
            <a:off x="7531100" y="2049780"/>
            <a:ext cx="127000" cy="127000"/>
          </a:xfrm>
          <a:prstGeom prst="ellipse">
            <a:avLst/>
          </a:prstGeom>
          <a:solidFill>
            <a:srgbClr val="4A00E2"/>
          </a:solidFill>
          <a:ln>
            <a:noFill/>
          </a:ln>
        </p:spPr>
        <p:txBody>
          <a:bodyPr/>
          <a:lstStyle/>
          <a:p>
            <a:endParaRPr lang="en-US"/>
          </a:p>
        </p:txBody>
      </p:sp>
      <p:sp>
        <p:nvSpPr>
          <p:cNvPr id="426" name="d"/>
          <p:cNvSpPr/>
          <p:nvPr/>
        </p:nvSpPr>
        <p:spPr>
          <a:xfrm>
            <a:off x="7701280" y="2049780"/>
            <a:ext cx="127000" cy="127000"/>
          </a:xfrm>
          <a:prstGeom prst="ellipse">
            <a:avLst/>
          </a:prstGeom>
          <a:solidFill>
            <a:srgbClr val="4A00E2"/>
          </a:solidFill>
          <a:ln>
            <a:noFill/>
          </a:ln>
        </p:spPr>
        <p:txBody>
          <a:bodyPr/>
          <a:lstStyle/>
          <a:p>
            <a:endParaRPr lang="en-US"/>
          </a:p>
        </p:txBody>
      </p:sp>
      <p:sp>
        <p:nvSpPr>
          <p:cNvPr id="427" name="d"/>
          <p:cNvSpPr/>
          <p:nvPr/>
        </p:nvSpPr>
        <p:spPr>
          <a:xfrm>
            <a:off x="7871460" y="2049780"/>
            <a:ext cx="127000" cy="127000"/>
          </a:xfrm>
          <a:prstGeom prst="ellipse">
            <a:avLst/>
          </a:prstGeom>
          <a:solidFill>
            <a:srgbClr val="4A00E2"/>
          </a:solidFill>
          <a:ln>
            <a:noFill/>
          </a:ln>
        </p:spPr>
        <p:txBody>
          <a:bodyPr/>
          <a:lstStyle/>
          <a:p>
            <a:endParaRPr lang="en-US"/>
          </a:p>
        </p:txBody>
      </p:sp>
      <p:sp>
        <p:nvSpPr>
          <p:cNvPr id="428" name="d"/>
          <p:cNvSpPr/>
          <p:nvPr/>
        </p:nvSpPr>
        <p:spPr>
          <a:xfrm>
            <a:off x="8041640" y="2049780"/>
            <a:ext cx="127000" cy="127000"/>
          </a:xfrm>
          <a:prstGeom prst="ellipse">
            <a:avLst/>
          </a:prstGeom>
          <a:solidFill>
            <a:srgbClr val="4A00E2"/>
          </a:solidFill>
          <a:ln>
            <a:noFill/>
          </a:ln>
        </p:spPr>
        <p:txBody>
          <a:bodyPr/>
          <a:lstStyle/>
          <a:p>
            <a:endParaRPr lang="en-US"/>
          </a:p>
        </p:txBody>
      </p:sp>
      <p:sp>
        <p:nvSpPr>
          <p:cNvPr id="429" name="d"/>
          <p:cNvSpPr/>
          <p:nvPr/>
        </p:nvSpPr>
        <p:spPr>
          <a:xfrm>
            <a:off x="8211820" y="2049780"/>
            <a:ext cx="127000" cy="127000"/>
          </a:xfrm>
          <a:prstGeom prst="ellipse">
            <a:avLst/>
          </a:prstGeom>
          <a:solidFill>
            <a:srgbClr val="4A00E2"/>
          </a:solidFill>
          <a:ln>
            <a:noFill/>
          </a:ln>
        </p:spPr>
        <p:txBody>
          <a:bodyPr/>
          <a:lstStyle/>
          <a:p>
            <a:endParaRPr lang="en-US"/>
          </a:p>
        </p:txBody>
      </p:sp>
      <p:sp>
        <p:nvSpPr>
          <p:cNvPr id="430" name="d"/>
          <p:cNvSpPr/>
          <p:nvPr/>
        </p:nvSpPr>
        <p:spPr>
          <a:xfrm>
            <a:off x="6680200" y="2219960"/>
            <a:ext cx="127000" cy="127000"/>
          </a:xfrm>
          <a:prstGeom prst="ellipse">
            <a:avLst/>
          </a:prstGeom>
          <a:solidFill>
            <a:srgbClr val="DAD4EC"/>
          </a:solidFill>
          <a:ln>
            <a:noFill/>
          </a:ln>
        </p:spPr>
        <p:txBody>
          <a:bodyPr/>
          <a:lstStyle/>
          <a:p>
            <a:endParaRPr lang="en-US"/>
          </a:p>
        </p:txBody>
      </p:sp>
      <p:sp>
        <p:nvSpPr>
          <p:cNvPr id="431" name="d"/>
          <p:cNvSpPr/>
          <p:nvPr/>
        </p:nvSpPr>
        <p:spPr>
          <a:xfrm>
            <a:off x="6850380" y="2219960"/>
            <a:ext cx="127000" cy="127000"/>
          </a:xfrm>
          <a:prstGeom prst="ellipse">
            <a:avLst/>
          </a:prstGeom>
          <a:solidFill>
            <a:srgbClr val="DAD4EC"/>
          </a:solidFill>
          <a:ln>
            <a:noFill/>
          </a:ln>
        </p:spPr>
        <p:txBody>
          <a:bodyPr/>
          <a:lstStyle/>
          <a:p>
            <a:endParaRPr lang="en-US"/>
          </a:p>
        </p:txBody>
      </p:sp>
      <p:sp>
        <p:nvSpPr>
          <p:cNvPr id="432" name="d"/>
          <p:cNvSpPr/>
          <p:nvPr/>
        </p:nvSpPr>
        <p:spPr>
          <a:xfrm>
            <a:off x="7020560" y="2219960"/>
            <a:ext cx="127000" cy="127000"/>
          </a:xfrm>
          <a:prstGeom prst="ellipse">
            <a:avLst/>
          </a:prstGeom>
          <a:solidFill>
            <a:srgbClr val="DAD4EC"/>
          </a:solidFill>
          <a:ln>
            <a:noFill/>
          </a:ln>
        </p:spPr>
        <p:txBody>
          <a:bodyPr/>
          <a:lstStyle/>
          <a:p>
            <a:endParaRPr lang="en-US"/>
          </a:p>
        </p:txBody>
      </p:sp>
      <p:sp>
        <p:nvSpPr>
          <p:cNvPr id="433" name="d"/>
          <p:cNvSpPr/>
          <p:nvPr/>
        </p:nvSpPr>
        <p:spPr>
          <a:xfrm>
            <a:off x="7190740" y="2219960"/>
            <a:ext cx="127000" cy="127000"/>
          </a:xfrm>
          <a:prstGeom prst="ellipse">
            <a:avLst/>
          </a:prstGeom>
          <a:solidFill>
            <a:srgbClr val="DAD4EC"/>
          </a:solidFill>
          <a:ln>
            <a:noFill/>
          </a:ln>
        </p:spPr>
        <p:txBody>
          <a:bodyPr/>
          <a:lstStyle/>
          <a:p>
            <a:endParaRPr lang="en-US"/>
          </a:p>
        </p:txBody>
      </p:sp>
      <p:sp>
        <p:nvSpPr>
          <p:cNvPr id="434" name="d"/>
          <p:cNvSpPr/>
          <p:nvPr/>
        </p:nvSpPr>
        <p:spPr>
          <a:xfrm>
            <a:off x="7360920" y="2219960"/>
            <a:ext cx="127000" cy="127000"/>
          </a:xfrm>
          <a:prstGeom prst="ellipse">
            <a:avLst/>
          </a:prstGeom>
          <a:solidFill>
            <a:srgbClr val="DAD4EC"/>
          </a:solidFill>
          <a:ln>
            <a:noFill/>
          </a:ln>
        </p:spPr>
        <p:txBody>
          <a:bodyPr/>
          <a:lstStyle/>
          <a:p>
            <a:endParaRPr lang="en-US"/>
          </a:p>
        </p:txBody>
      </p:sp>
      <p:sp>
        <p:nvSpPr>
          <p:cNvPr id="435" name="d"/>
          <p:cNvSpPr/>
          <p:nvPr/>
        </p:nvSpPr>
        <p:spPr>
          <a:xfrm>
            <a:off x="7531100" y="2219960"/>
            <a:ext cx="127000" cy="127000"/>
          </a:xfrm>
          <a:prstGeom prst="ellipse">
            <a:avLst/>
          </a:prstGeom>
          <a:solidFill>
            <a:srgbClr val="DAD4EC"/>
          </a:solidFill>
          <a:ln>
            <a:noFill/>
          </a:ln>
        </p:spPr>
        <p:txBody>
          <a:bodyPr/>
          <a:lstStyle/>
          <a:p>
            <a:endParaRPr lang="en-US"/>
          </a:p>
        </p:txBody>
      </p:sp>
      <p:sp>
        <p:nvSpPr>
          <p:cNvPr id="436" name="d"/>
          <p:cNvSpPr/>
          <p:nvPr/>
        </p:nvSpPr>
        <p:spPr>
          <a:xfrm>
            <a:off x="7701280" y="2219960"/>
            <a:ext cx="127000" cy="127000"/>
          </a:xfrm>
          <a:prstGeom prst="ellipse">
            <a:avLst/>
          </a:prstGeom>
          <a:solidFill>
            <a:srgbClr val="DAD4EC"/>
          </a:solidFill>
          <a:ln>
            <a:noFill/>
          </a:ln>
        </p:spPr>
        <p:txBody>
          <a:bodyPr/>
          <a:lstStyle/>
          <a:p>
            <a:endParaRPr lang="en-US"/>
          </a:p>
        </p:txBody>
      </p:sp>
      <p:sp>
        <p:nvSpPr>
          <p:cNvPr id="437" name="d"/>
          <p:cNvSpPr/>
          <p:nvPr/>
        </p:nvSpPr>
        <p:spPr>
          <a:xfrm>
            <a:off x="7871460" y="2219960"/>
            <a:ext cx="127000" cy="127000"/>
          </a:xfrm>
          <a:prstGeom prst="ellipse">
            <a:avLst/>
          </a:prstGeom>
          <a:solidFill>
            <a:srgbClr val="DAD4EC"/>
          </a:solidFill>
          <a:ln>
            <a:noFill/>
          </a:ln>
        </p:spPr>
        <p:txBody>
          <a:bodyPr/>
          <a:lstStyle/>
          <a:p>
            <a:endParaRPr lang="en-US"/>
          </a:p>
        </p:txBody>
      </p:sp>
      <p:sp>
        <p:nvSpPr>
          <p:cNvPr id="438" name="d"/>
          <p:cNvSpPr/>
          <p:nvPr/>
        </p:nvSpPr>
        <p:spPr>
          <a:xfrm>
            <a:off x="8041640" y="2219960"/>
            <a:ext cx="127000" cy="127000"/>
          </a:xfrm>
          <a:prstGeom prst="ellipse">
            <a:avLst/>
          </a:prstGeom>
          <a:solidFill>
            <a:srgbClr val="DAD4EC"/>
          </a:solidFill>
          <a:ln>
            <a:noFill/>
          </a:ln>
        </p:spPr>
        <p:txBody>
          <a:bodyPr/>
          <a:lstStyle/>
          <a:p>
            <a:endParaRPr lang="en-US"/>
          </a:p>
        </p:txBody>
      </p:sp>
      <p:sp>
        <p:nvSpPr>
          <p:cNvPr id="439" name="d"/>
          <p:cNvSpPr/>
          <p:nvPr/>
        </p:nvSpPr>
        <p:spPr>
          <a:xfrm>
            <a:off x="8211820" y="2219960"/>
            <a:ext cx="127000" cy="127000"/>
          </a:xfrm>
          <a:prstGeom prst="ellipse">
            <a:avLst/>
          </a:prstGeom>
          <a:solidFill>
            <a:srgbClr val="DAD4EC"/>
          </a:solidFill>
          <a:ln>
            <a:noFill/>
          </a:ln>
        </p:spPr>
        <p:txBody>
          <a:bodyPr/>
          <a:lstStyle/>
          <a:p>
            <a:endParaRPr lang="en-US"/>
          </a:p>
        </p:txBody>
      </p:sp>
      <p:sp>
        <p:nvSpPr>
          <p:cNvPr id="440" name="d"/>
          <p:cNvSpPr/>
          <p:nvPr/>
        </p:nvSpPr>
        <p:spPr>
          <a:xfrm>
            <a:off x="6680200" y="2390140"/>
            <a:ext cx="127000" cy="127000"/>
          </a:xfrm>
          <a:prstGeom prst="ellipse">
            <a:avLst/>
          </a:prstGeom>
          <a:solidFill>
            <a:srgbClr val="DAD4EC"/>
          </a:solidFill>
          <a:ln>
            <a:noFill/>
          </a:ln>
        </p:spPr>
        <p:txBody>
          <a:bodyPr/>
          <a:lstStyle/>
          <a:p>
            <a:endParaRPr lang="en-US"/>
          </a:p>
        </p:txBody>
      </p:sp>
      <p:sp>
        <p:nvSpPr>
          <p:cNvPr id="441" name="d"/>
          <p:cNvSpPr/>
          <p:nvPr/>
        </p:nvSpPr>
        <p:spPr>
          <a:xfrm>
            <a:off x="6850380" y="2390140"/>
            <a:ext cx="127000" cy="127000"/>
          </a:xfrm>
          <a:prstGeom prst="ellipse">
            <a:avLst/>
          </a:prstGeom>
          <a:solidFill>
            <a:srgbClr val="DAD4EC"/>
          </a:solidFill>
          <a:ln>
            <a:noFill/>
          </a:ln>
        </p:spPr>
        <p:txBody>
          <a:bodyPr/>
          <a:lstStyle/>
          <a:p>
            <a:endParaRPr lang="en-US"/>
          </a:p>
        </p:txBody>
      </p:sp>
      <p:sp>
        <p:nvSpPr>
          <p:cNvPr id="442" name="d"/>
          <p:cNvSpPr/>
          <p:nvPr/>
        </p:nvSpPr>
        <p:spPr>
          <a:xfrm>
            <a:off x="7020560" y="2390140"/>
            <a:ext cx="127000" cy="127000"/>
          </a:xfrm>
          <a:prstGeom prst="ellipse">
            <a:avLst/>
          </a:prstGeom>
          <a:solidFill>
            <a:srgbClr val="DAD4EC"/>
          </a:solidFill>
          <a:ln>
            <a:noFill/>
          </a:ln>
        </p:spPr>
        <p:txBody>
          <a:bodyPr/>
          <a:lstStyle/>
          <a:p>
            <a:endParaRPr lang="en-US"/>
          </a:p>
        </p:txBody>
      </p:sp>
      <p:sp>
        <p:nvSpPr>
          <p:cNvPr id="443" name="d"/>
          <p:cNvSpPr/>
          <p:nvPr/>
        </p:nvSpPr>
        <p:spPr>
          <a:xfrm>
            <a:off x="7190740" y="2390140"/>
            <a:ext cx="127000" cy="127000"/>
          </a:xfrm>
          <a:prstGeom prst="ellipse">
            <a:avLst/>
          </a:prstGeom>
          <a:solidFill>
            <a:srgbClr val="DAD4EC"/>
          </a:solidFill>
          <a:ln>
            <a:noFill/>
          </a:ln>
        </p:spPr>
        <p:txBody>
          <a:bodyPr/>
          <a:lstStyle/>
          <a:p>
            <a:endParaRPr lang="en-US"/>
          </a:p>
        </p:txBody>
      </p:sp>
      <p:sp>
        <p:nvSpPr>
          <p:cNvPr id="444" name="d"/>
          <p:cNvSpPr/>
          <p:nvPr/>
        </p:nvSpPr>
        <p:spPr>
          <a:xfrm>
            <a:off x="7360920" y="2390140"/>
            <a:ext cx="127000" cy="127000"/>
          </a:xfrm>
          <a:prstGeom prst="ellipse">
            <a:avLst/>
          </a:prstGeom>
          <a:solidFill>
            <a:srgbClr val="DAD4EC"/>
          </a:solidFill>
          <a:ln>
            <a:noFill/>
          </a:ln>
        </p:spPr>
        <p:txBody>
          <a:bodyPr/>
          <a:lstStyle/>
          <a:p>
            <a:endParaRPr lang="en-US"/>
          </a:p>
        </p:txBody>
      </p:sp>
      <p:sp>
        <p:nvSpPr>
          <p:cNvPr id="445" name="d"/>
          <p:cNvSpPr/>
          <p:nvPr/>
        </p:nvSpPr>
        <p:spPr>
          <a:xfrm>
            <a:off x="7531100" y="2390140"/>
            <a:ext cx="127000" cy="127000"/>
          </a:xfrm>
          <a:prstGeom prst="ellipse">
            <a:avLst/>
          </a:prstGeom>
          <a:solidFill>
            <a:srgbClr val="DAD4EC"/>
          </a:solidFill>
          <a:ln>
            <a:noFill/>
          </a:ln>
        </p:spPr>
        <p:txBody>
          <a:bodyPr/>
          <a:lstStyle/>
          <a:p>
            <a:endParaRPr lang="en-US"/>
          </a:p>
        </p:txBody>
      </p:sp>
      <p:sp>
        <p:nvSpPr>
          <p:cNvPr id="446" name="d"/>
          <p:cNvSpPr/>
          <p:nvPr/>
        </p:nvSpPr>
        <p:spPr>
          <a:xfrm>
            <a:off x="7701280" y="2390140"/>
            <a:ext cx="127000" cy="127000"/>
          </a:xfrm>
          <a:prstGeom prst="ellipse">
            <a:avLst/>
          </a:prstGeom>
          <a:solidFill>
            <a:srgbClr val="DAD4EC"/>
          </a:solidFill>
          <a:ln>
            <a:noFill/>
          </a:ln>
        </p:spPr>
        <p:txBody>
          <a:bodyPr/>
          <a:lstStyle/>
          <a:p>
            <a:endParaRPr lang="en-US"/>
          </a:p>
        </p:txBody>
      </p:sp>
      <p:sp>
        <p:nvSpPr>
          <p:cNvPr id="447" name="d"/>
          <p:cNvSpPr/>
          <p:nvPr/>
        </p:nvSpPr>
        <p:spPr>
          <a:xfrm>
            <a:off x="7871460" y="2390140"/>
            <a:ext cx="127000" cy="127000"/>
          </a:xfrm>
          <a:prstGeom prst="ellipse">
            <a:avLst/>
          </a:prstGeom>
          <a:solidFill>
            <a:srgbClr val="DAD4EC"/>
          </a:solidFill>
          <a:ln>
            <a:noFill/>
          </a:ln>
        </p:spPr>
        <p:txBody>
          <a:bodyPr/>
          <a:lstStyle/>
          <a:p>
            <a:endParaRPr lang="en-US"/>
          </a:p>
        </p:txBody>
      </p:sp>
      <p:sp>
        <p:nvSpPr>
          <p:cNvPr id="448" name="d"/>
          <p:cNvSpPr/>
          <p:nvPr/>
        </p:nvSpPr>
        <p:spPr>
          <a:xfrm>
            <a:off x="8041640" y="2390140"/>
            <a:ext cx="127000" cy="127000"/>
          </a:xfrm>
          <a:prstGeom prst="ellipse">
            <a:avLst/>
          </a:prstGeom>
          <a:solidFill>
            <a:srgbClr val="DAD4EC"/>
          </a:solidFill>
          <a:ln>
            <a:noFill/>
          </a:ln>
        </p:spPr>
        <p:txBody>
          <a:bodyPr/>
          <a:lstStyle/>
          <a:p>
            <a:endParaRPr lang="en-US"/>
          </a:p>
        </p:txBody>
      </p:sp>
      <p:sp>
        <p:nvSpPr>
          <p:cNvPr id="449" name="d"/>
          <p:cNvSpPr/>
          <p:nvPr/>
        </p:nvSpPr>
        <p:spPr>
          <a:xfrm>
            <a:off x="8211820" y="2390140"/>
            <a:ext cx="127000" cy="127000"/>
          </a:xfrm>
          <a:prstGeom prst="ellipse">
            <a:avLst/>
          </a:prstGeom>
          <a:solidFill>
            <a:srgbClr val="DAD4EC"/>
          </a:solidFill>
          <a:ln>
            <a:noFill/>
          </a:ln>
        </p:spPr>
        <p:txBody>
          <a:bodyPr/>
          <a:lstStyle/>
          <a:p>
            <a:endParaRPr lang="en-US"/>
          </a:p>
        </p:txBody>
      </p:sp>
      <p:sp>
        <p:nvSpPr>
          <p:cNvPr id="450" name="d"/>
          <p:cNvSpPr/>
          <p:nvPr/>
        </p:nvSpPr>
        <p:spPr>
          <a:xfrm>
            <a:off x="6680200" y="2560320"/>
            <a:ext cx="127000" cy="127000"/>
          </a:xfrm>
          <a:prstGeom prst="ellipse">
            <a:avLst/>
          </a:prstGeom>
          <a:solidFill>
            <a:srgbClr val="DAD4EC"/>
          </a:solidFill>
          <a:ln>
            <a:noFill/>
          </a:ln>
        </p:spPr>
        <p:txBody>
          <a:bodyPr/>
          <a:lstStyle/>
          <a:p>
            <a:endParaRPr lang="en-US"/>
          </a:p>
        </p:txBody>
      </p:sp>
      <p:sp>
        <p:nvSpPr>
          <p:cNvPr id="451" name="d"/>
          <p:cNvSpPr/>
          <p:nvPr/>
        </p:nvSpPr>
        <p:spPr>
          <a:xfrm>
            <a:off x="6850380" y="2560320"/>
            <a:ext cx="127000" cy="127000"/>
          </a:xfrm>
          <a:prstGeom prst="ellipse">
            <a:avLst/>
          </a:prstGeom>
          <a:solidFill>
            <a:srgbClr val="DAD4EC"/>
          </a:solidFill>
          <a:ln>
            <a:noFill/>
          </a:ln>
        </p:spPr>
        <p:txBody>
          <a:bodyPr/>
          <a:lstStyle/>
          <a:p>
            <a:endParaRPr lang="en-US"/>
          </a:p>
        </p:txBody>
      </p:sp>
      <p:sp>
        <p:nvSpPr>
          <p:cNvPr id="452" name="d"/>
          <p:cNvSpPr/>
          <p:nvPr/>
        </p:nvSpPr>
        <p:spPr>
          <a:xfrm>
            <a:off x="7020560" y="2560320"/>
            <a:ext cx="127000" cy="127000"/>
          </a:xfrm>
          <a:prstGeom prst="ellipse">
            <a:avLst/>
          </a:prstGeom>
          <a:solidFill>
            <a:srgbClr val="DAD4EC"/>
          </a:solidFill>
          <a:ln>
            <a:noFill/>
          </a:ln>
        </p:spPr>
        <p:txBody>
          <a:bodyPr/>
          <a:lstStyle/>
          <a:p>
            <a:endParaRPr lang="en-US"/>
          </a:p>
        </p:txBody>
      </p:sp>
      <p:sp>
        <p:nvSpPr>
          <p:cNvPr id="453" name="d"/>
          <p:cNvSpPr/>
          <p:nvPr/>
        </p:nvSpPr>
        <p:spPr>
          <a:xfrm>
            <a:off x="7190740" y="2560320"/>
            <a:ext cx="127000" cy="127000"/>
          </a:xfrm>
          <a:prstGeom prst="ellipse">
            <a:avLst/>
          </a:prstGeom>
          <a:solidFill>
            <a:srgbClr val="DAD4EC"/>
          </a:solidFill>
          <a:ln>
            <a:noFill/>
          </a:ln>
        </p:spPr>
        <p:txBody>
          <a:bodyPr/>
          <a:lstStyle/>
          <a:p>
            <a:endParaRPr lang="en-US"/>
          </a:p>
        </p:txBody>
      </p:sp>
      <p:sp>
        <p:nvSpPr>
          <p:cNvPr id="454" name="d"/>
          <p:cNvSpPr/>
          <p:nvPr/>
        </p:nvSpPr>
        <p:spPr>
          <a:xfrm>
            <a:off x="7360920" y="2560320"/>
            <a:ext cx="127000" cy="127000"/>
          </a:xfrm>
          <a:prstGeom prst="ellipse">
            <a:avLst/>
          </a:prstGeom>
          <a:solidFill>
            <a:srgbClr val="DAD4EC"/>
          </a:solidFill>
          <a:ln>
            <a:noFill/>
          </a:ln>
        </p:spPr>
        <p:txBody>
          <a:bodyPr/>
          <a:lstStyle/>
          <a:p>
            <a:endParaRPr lang="en-US"/>
          </a:p>
        </p:txBody>
      </p:sp>
      <p:sp>
        <p:nvSpPr>
          <p:cNvPr id="455" name="d"/>
          <p:cNvSpPr/>
          <p:nvPr/>
        </p:nvSpPr>
        <p:spPr>
          <a:xfrm>
            <a:off x="7531100" y="2560320"/>
            <a:ext cx="127000" cy="127000"/>
          </a:xfrm>
          <a:prstGeom prst="ellipse">
            <a:avLst/>
          </a:prstGeom>
          <a:solidFill>
            <a:srgbClr val="DAD4EC"/>
          </a:solidFill>
          <a:ln>
            <a:noFill/>
          </a:ln>
        </p:spPr>
        <p:txBody>
          <a:bodyPr/>
          <a:lstStyle/>
          <a:p>
            <a:endParaRPr lang="en-US"/>
          </a:p>
        </p:txBody>
      </p:sp>
      <p:sp>
        <p:nvSpPr>
          <p:cNvPr id="456" name="d"/>
          <p:cNvSpPr/>
          <p:nvPr/>
        </p:nvSpPr>
        <p:spPr>
          <a:xfrm>
            <a:off x="7701280" y="2560320"/>
            <a:ext cx="127000" cy="127000"/>
          </a:xfrm>
          <a:prstGeom prst="ellipse">
            <a:avLst/>
          </a:prstGeom>
          <a:solidFill>
            <a:srgbClr val="DAD4EC"/>
          </a:solidFill>
          <a:ln>
            <a:noFill/>
          </a:ln>
        </p:spPr>
        <p:txBody>
          <a:bodyPr/>
          <a:lstStyle/>
          <a:p>
            <a:endParaRPr lang="en-US"/>
          </a:p>
        </p:txBody>
      </p:sp>
      <p:sp>
        <p:nvSpPr>
          <p:cNvPr id="457" name="d"/>
          <p:cNvSpPr/>
          <p:nvPr/>
        </p:nvSpPr>
        <p:spPr>
          <a:xfrm>
            <a:off x="7871460" y="2560320"/>
            <a:ext cx="127000" cy="127000"/>
          </a:xfrm>
          <a:prstGeom prst="ellipse">
            <a:avLst/>
          </a:prstGeom>
          <a:solidFill>
            <a:srgbClr val="DAD4EC"/>
          </a:solidFill>
          <a:ln>
            <a:noFill/>
          </a:ln>
        </p:spPr>
        <p:txBody>
          <a:bodyPr/>
          <a:lstStyle/>
          <a:p>
            <a:endParaRPr lang="en-US"/>
          </a:p>
        </p:txBody>
      </p:sp>
      <p:sp>
        <p:nvSpPr>
          <p:cNvPr id="458" name="d"/>
          <p:cNvSpPr/>
          <p:nvPr/>
        </p:nvSpPr>
        <p:spPr>
          <a:xfrm>
            <a:off x="8041640" y="2560320"/>
            <a:ext cx="127000" cy="127000"/>
          </a:xfrm>
          <a:prstGeom prst="ellipse">
            <a:avLst/>
          </a:prstGeom>
          <a:solidFill>
            <a:srgbClr val="DAD4EC"/>
          </a:solidFill>
          <a:ln>
            <a:noFill/>
          </a:ln>
        </p:spPr>
        <p:txBody>
          <a:bodyPr/>
          <a:lstStyle/>
          <a:p>
            <a:endParaRPr lang="en-US"/>
          </a:p>
        </p:txBody>
      </p:sp>
      <p:sp>
        <p:nvSpPr>
          <p:cNvPr id="459" name="d"/>
          <p:cNvSpPr/>
          <p:nvPr/>
        </p:nvSpPr>
        <p:spPr>
          <a:xfrm>
            <a:off x="8211820" y="2560320"/>
            <a:ext cx="127000" cy="127000"/>
          </a:xfrm>
          <a:prstGeom prst="ellipse">
            <a:avLst/>
          </a:prstGeom>
          <a:solidFill>
            <a:srgbClr val="DAD4EC"/>
          </a:solidFill>
          <a:ln>
            <a:noFill/>
          </a:ln>
        </p:spPr>
        <p:txBody>
          <a:bodyPr/>
          <a:lstStyle/>
          <a:p>
            <a:endParaRPr lang="en-US"/>
          </a:p>
        </p:txBody>
      </p:sp>
      <p:sp>
        <p:nvSpPr>
          <p:cNvPr id="460" name="d"/>
          <p:cNvSpPr/>
          <p:nvPr/>
        </p:nvSpPr>
        <p:spPr>
          <a:xfrm>
            <a:off x="6680200" y="2730500"/>
            <a:ext cx="127000" cy="127000"/>
          </a:xfrm>
          <a:prstGeom prst="ellipse">
            <a:avLst/>
          </a:prstGeom>
          <a:solidFill>
            <a:srgbClr val="DAD4EC"/>
          </a:solidFill>
          <a:ln>
            <a:noFill/>
          </a:ln>
        </p:spPr>
        <p:txBody>
          <a:bodyPr/>
          <a:lstStyle/>
          <a:p>
            <a:endParaRPr lang="en-US"/>
          </a:p>
        </p:txBody>
      </p:sp>
      <p:sp>
        <p:nvSpPr>
          <p:cNvPr id="461" name="d"/>
          <p:cNvSpPr/>
          <p:nvPr/>
        </p:nvSpPr>
        <p:spPr>
          <a:xfrm>
            <a:off x="6850380" y="2730500"/>
            <a:ext cx="127000" cy="127000"/>
          </a:xfrm>
          <a:prstGeom prst="ellipse">
            <a:avLst/>
          </a:prstGeom>
          <a:solidFill>
            <a:srgbClr val="DAD4EC"/>
          </a:solidFill>
          <a:ln>
            <a:noFill/>
          </a:ln>
        </p:spPr>
        <p:txBody>
          <a:bodyPr/>
          <a:lstStyle/>
          <a:p>
            <a:endParaRPr lang="en-US"/>
          </a:p>
        </p:txBody>
      </p:sp>
      <p:sp>
        <p:nvSpPr>
          <p:cNvPr id="462" name="d"/>
          <p:cNvSpPr/>
          <p:nvPr/>
        </p:nvSpPr>
        <p:spPr>
          <a:xfrm>
            <a:off x="7020560" y="2730500"/>
            <a:ext cx="127000" cy="127000"/>
          </a:xfrm>
          <a:prstGeom prst="ellipse">
            <a:avLst/>
          </a:prstGeom>
          <a:solidFill>
            <a:srgbClr val="DAD4EC"/>
          </a:solidFill>
          <a:ln>
            <a:noFill/>
          </a:ln>
        </p:spPr>
        <p:txBody>
          <a:bodyPr/>
          <a:lstStyle/>
          <a:p>
            <a:endParaRPr lang="en-US"/>
          </a:p>
        </p:txBody>
      </p:sp>
      <p:sp>
        <p:nvSpPr>
          <p:cNvPr id="463" name="d"/>
          <p:cNvSpPr/>
          <p:nvPr/>
        </p:nvSpPr>
        <p:spPr>
          <a:xfrm>
            <a:off x="7190740" y="2730500"/>
            <a:ext cx="127000" cy="127000"/>
          </a:xfrm>
          <a:prstGeom prst="ellipse">
            <a:avLst/>
          </a:prstGeom>
          <a:solidFill>
            <a:srgbClr val="DAD4EC"/>
          </a:solidFill>
          <a:ln>
            <a:noFill/>
          </a:ln>
        </p:spPr>
        <p:txBody>
          <a:bodyPr/>
          <a:lstStyle/>
          <a:p>
            <a:endParaRPr lang="en-US"/>
          </a:p>
        </p:txBody>
      </p:sp>
      <p:sp>
        <p:nvSpPr>
          <p:cNvPr id="464" name="d"/>
          <p:cNvSpPr/>
          <p:nvPr/>
        </p:nvSpPr>
        <p:spPr>
          <a:xfrm>
            <a:off x="7360920" y="2730500"/>
            <a:ext cx="127000" cy="127000"/>
          </a:xfrm>
          <a:prstGeom prst="ellipse">
            <a:avLst/>
          </a:prstGeom>
          <a:solidFill>
            <a:srgbClr val="DAD4EC"/>
          </a:solidFill>
          <a:ln>
            <a:noFill/>
          </a:ln>
        </p:spPr>
        <p:txBody>
          <a:bodyPr/>
          <a:lstStyle/>
          <a:p>
            <a:endParaRPr lang="en-US"/>
          </a:p>
        </p:txBody>
      </p:sp>
      <p:sp>
        <p:nvSpPr>
          <p:cNvPr id="465" name="d"/>
          <p:cNvSpPr/>
          <p:nvPr/>
        </p:nvSpPr>
        <p:spPr>
          <a:xfrm>
            <a:off x="7531100" y="2730500"/>
            <a:ext cx="127000" cy="127000"/>
          </a:xfrm>
          <a:prstGeom prst="ellipse">
            <a:avLst/>
          </a:prstGeom>
          <a:solidFill>
            <a:srgbClr val="DAD4EC"/>
          </a:solidFill>
          <a:ln>
            <a:noFill/>
          </a:ln>
        </p:spPr>
        <p:txBody>
          <a:bodyPr/>
          <a:lstStyle/>
          <a:p>
            <a:endParaRPr lang="en-US"/>
          </a:p>
        </p:txBody>
      </p:sp>
      <p:sp>
        <p:nvSpPr>
          <p:cNvPr id="466" name="d"/>
          <p:cNvSpPr/>
          <p:nvPr/>
        </p:nvSpPr>
        <p:spPr>
          <a:xfrm>
            <a:off x="7701280" y="2730500"/>
            <a:ext cx="127000" cy="127000"/>
          </a:xfrm>
          <a:prstGeom prst="ellipse">
            <a:avLst/>
          </a:prstGeom>
          <a:solidFill>
            <a:srgbClr val="DAD4EC"/>
          </a:solidFill>
          <a:ln>
            <a:noFill/>
          </a:ln>
        </p:spPr>
        <p:txBody>
          <a:bodyPr/>
          <a:lstStyle/>
          <a:p>
            <a:endParaRPr lang="en-US"/>
          </a:p>
        </p:txBody>
      </p:sp>
      <p:sp>
        <p:nvSpPr>
          <p:cNvPr id="467" name="d"/>
          <p:cNvSpPr/>
          <p:nvPr/>
        </p:nvSpPr>
        <p:spPr>
          <a:xfrm>
            <a:off x="7871460" y="2730500"/>
            <a:ext cx="127000" cy="127000"/>
          </a:xfrm>
          <a:prstGeom prst="ellipse">
            <a:avLst/>
          </a:prstGeom>
          <a:solidFill>
            <a:srgbClr val="DAD4EC"/>
          </a:solidFill>
          <a:ln>
            <a:noFill/>
          </a:ln>
        </p:spPr>
        <p:txBody>
          <a:bodyPr/>
          <a:lstStyle/>
          <a:p>
            <a:endParaRPr lang="en-US"/>
          </a:p>
        </p:txBody>
      </p:sp>
      <p:sp>
        <p:nvSpPr>
          <p:cNvPr id="468" name="d"/>
          <p:cNvSpPr/>
          <p:nvPr/>
        </p:nvSpPr>
        <p:spPr>
          <a:xfrm>
            <a:off x="8041640" y="2730500"/>
            <a:ext cx="127000" cy="127000"/>
          </a:xfrm>
          <a:prstGeom prst="ellipse">
            <a:avLst/>
          </a:prstGeom>
          <a:solidFill>
            <a:srgbClr val="DAD4EC"/>
          </a:solidFill>
          <a:ln>
            <a:noFill/>
          </a:ln>
        </p:spPr>
        <p:txBody>
          <a:bodyPr/>
          <a:lstStyle/>
          <a:p>
            <a:endParaRPr lang="en-US"/>
          </a:p>
        </p:txBody>
      </p:sp>
      <p:sp>
        <p:nvSpPr>
          <p:cNvPr id="469" name="d"/>
          <p:cNvSpPr/>
          <p:nvPr/>
        </p:nvSpPr>
        <p:spPr>
          <a:xfrm>
            <a:off x="8211820" y="2730500"/>
            <a:ext cx="127000" cy="127000"/>
          </a:xfrm>
          <a:prstGeom prst="ellipse">
            <a:avLst/>
          </a:prstGeom>
          <a:solidFill>
            <a:srgbClr val="DAD4EC"/>
          </a:solidFill>
          <a:ln>
            <a:noFill/>
          </a:ln>
        </p:spPr>
        <p:txBody>
          <a:bodyPr/>
          <a:lstStyle/>
          <a:p>
            <a:endParaRPr lang="en-US"/>
          </a:p>
        </p:txBody>
      </p:sp>
      <p:sp>
        <p:nvSpPr>
          <p:cNvPr id="470" name="d"/>
          <p:cNvSpPr/>
          <p:nvPr/>
        </p:nvSpPr>
        <p:spPr>
          <a:xfrm>
            <a:off x="6680200" y="2900680"/>
            <a:ext cx="127000" cy="127000"/>
          </a:xfrm>
          <a:prstGeom prst="ellipse">
            <a:avLst/>
          </a:prstGeom>
          <a:solidFill>
            <a:srgbClr val="DAD4EC"/>
          </a:solidFill>
          <a:ln>
            <a:noFill/>
          </a:ln>
        </p:spPr>
        <p:txBody>
          <a:bodyPr/>
          <a:lstStyle/>
          <a:p>
            <a:endParaRPr lang="en-US"/>
          </a:p>
        </p:txBody>
      </p:sp>
      <p:sp>
        <p:nvSpPr>
          <p:cNvPr id="471" name="d"/>
          <p:cNvSpPr/>
          <p:nvPr/>
        </p:nvSpPr>
        <p:spPr>
          <a:xfrm>
            <a:off x="6850380" y="2900680"/>
            <a:ext cx="127000" cy="127000"/>
          </a:xfrm>
          <a:prstGeom prst="ellipse">
            <a:avLst/>
          </a:prstGeom>
          <a:solidFill>
            <a:srgbClr val="DAD4EC"/>
          </a:solidFill>
          <a:ln>
            <a:noFill/>
          </a:ln>
        </p:spPr>
        <p:txBody>
          <a:bodyPr/>
          <a:lstStyle/>
          <a:p>
            <a:endParaRPr lang="en-US"/>
          </a:p>
        </p:txBody>
      </p:sp>
      <p:sp>
        <p:nvSpPr>
          <p:cNvPr id="472" name="d"/>
          <p:cNvSpPr/>
          <p:nvPr/>
        </p:nvSpPr>
        <p:spPr>
          <a:xfrm>
            <a:off x="7020560" y="2900680"/>
            <a:ext cx="127000" cy="127000"/>
          </a:xfrm>
          <a:prstGeom prst="ellipse">
            <a:avLst/>
          </a:prstGeom>
          <a:solidFill>
            <a:srgbClr val="DAD4EC"/>
          </a:solidFill>
          <a:ln>
            <a:noFill/>
          </a:ln>
        </p:spPr>
        <p:txBody>
          <a:bodyPr/>
          <a:lstStyle/>
          <a:p>
            <a:endParaRPr lang="en-US"/>
          </a:p>
        </p:txBody>
      </p:sp>
      <p:sp>
        <p:nvSpPr>
          <p:cNvPr id="473" name="d"/>
          <p:cNvSpPr/>
          <p:nvPr/>
        </p:nvSpPr>
        <p:spPr>
          <a:xfrm>
            <a:off x="7190740" y="2900680"/>
            <a:ext cx="127000" cy="127000"/>
          </a:xfrm>
          <a:prstGeom prst="ellipse">
            <a:avLst/>
          </a:prstGeom>
          <a:solidFill>
            <a:srgbClr val="DAD4EC"/>
          </a:solidFill>
          <a:ln>
            <a:noFill/>
          </a:ln>
        </p:spPr>
        <p:txBody>
          <a:bodyPr/>
          <a:lstStyle/>
          <a:p>
            <a:endParaRPr lang="en-US"/>
          </a:p>
        </p:txBody>
      </p:sp>
      <p:sp>
        <p:nvSpPr>
          <p:cNvPr id="474" name="d"/>
          <p:cNvSpPr/>
          <p:nvPr/>
        </p:nvSpPr>
        <p:spPr>
          <a:xfrm>
            <a:off x="7360920" y="2900680"/>
            <a:ext cx="127000" cy="127000"/>
          </a:xfrm>
          <a:prstGeom prst="ellipse">
            <a:avLst/>
          </a:prstGeom>
          <a:solidFill>
            <a:srgbClr val="DAD4EC"/>
          </a:solidFill>
          <a:ln>
            <a:noFill/>
          </a:ln>
        </p:spPr>
        <p:txBody>
          <a:bodyPr/>
          <a:lstStyle/>
          <a:p>
            <a:endParaRPr lang="en-US"/>
          </a:p>
        </p:txBody>
      </p:sp>
      <p:sp>
        <p:nvSpPr>
          <p:cNvPr id="475" name="d"/>
          <p:cNvSpPr/>
          <p:nvPr/>
        </p:nvSpPr>
        <p:spPr>
          <a:xfrm>
            <a:off x="7531100" y="2900680"/>
            <a:ext cx="127000" cy="127000"/>
          </a:xfrm>
          <a:prstGeom prst="ellipse">
            <a:avLst/>
          </a:prstGeom>
          <a:solidFill>
            <a:srgbClr val="DAD4EC"/>
          </a:solidFill>
          <a:ln>
            <a:noFill/>
          </a:ln>
        </p:spPr>
        <p:txBody>
          <a:bodyPr/>
          <a:lstStyle/>
          <a:p>
            <a:endParaRPr lang="en-US"/>
          </a:p>
        </p:txBody>
      </p:sp>
      <p:sp>
        <p:nvSpPr>
          <p:cNvPr id="476" name="d"/>
          <p:cNvSpPr/>
          <p:nvPr/>
        </p:nvSpPr>
        <p:spPr>
          <a:xfrm>
            <a:off x="7701280" y="2900680"/>
            <a:ext cx="127000" cy="127000"/>
          </a:xfrm>
          <a:prstGeom prst="ellipse">
            <a:avLst/>
          </a:prstGeom>
          <a:solidFill>
            <a:srgbClr val="DAD4EC"/>
          </a:solidFill>
          <a:ln>
            <a:noFill/>
          </a:ln>
        </p:spPr>
        <p:txBody>
          <a:bodyPr/>
          <a:lstStyle/>
          <a:p>
            <a:endParaRPr lang="en-US"/>
          </a:p>
        </p:txBody>
      </p:sp>
      <p:sp>
        <p:nvSpPr>
          <p:cNvPr id="477" name="d"/>
          <p:cNvSpPr/>
          <p:nvPr/>
        </p:nvSpPr>
        <p:spPr>
          <a:xfrm>
            <a:off x="7871460" y="2900680"/>
            <a:ext cx="127000" cy="127000"/>
          </a:xfrm>
          <a:prstGeom prst="ellipse">
            <a:avLst/>
          </a:prstGeom>
          <a:solidFill>
            <a:srgbClr val="DAD4EC"/>
          </a:solidFill>
          <a:ln>
            <a:noFill/>
          </a:ln>
        </p:spPr>
        <p:txBody>
          <a:bodyPr/>
          <a:lstStyle/>
          <a:p>
            <a:endParaRPr lang="en-US"/>
          </a:p>
        </p:txBody>
      </p:sp>
      <p:sp>
        <p:nvSpPr>
          <p:cNvPr id="478" name="d"/>
          <p:cNvSpPr/>
          <p:nvPr/>
        </p:nvSpPr>
        <p:spPr>
          <a:xfrm>
            <a:off x="8041640" y="2900680"/>
            <a:ext cx="127000" cy="127000"/>
          </a:xfrm>
          <a:prstGeom prst="ellipse">
            <a:avLst/>
          </a:prstGeom>
          <a:solidFill>
            <a:srgbClr val="DAD4EC"/>
          </a:solidFill>
          <a:ln>
            <a:noFill/>
          </a:ln>
        </p:spPr>
        <p:txBody>
          <a:bodyPr/>
          <a:lstStyle/>
          <a:p>
            <a:endParaRPr lang="en-US"/>
          </a:p>
        </p:txBody>
      </p:sp>
      <p:sp>
        <p:nvSpPr>
          <p:cNvPr id="479" name="d"/>
          <p:cNvSpPr/>
          <p:nvPr/>
        </p:nvSpPr>
        <p:spPr>
          <a:xfrm>
            <a:off x="8211820" y="2900680"/>
            <a:ext cx="127000" cy="127000"/>
          </a:xfrm>
          <a:prstGeom prst="ellipse">
            <a:avLst/>
          </a:prstGeom>
          <a:solidFill>
            <a:srgbClr val="DAD4EC"/>
          </a:solidFill>
          <a:ln>
            <a:noFill/>
          </a:ln>
        </p:spPr>
        <p:txBody>
          <a:bodyPr/>
          <a:lstStyle/>
          <a:p>
            <a:endParaRPr lang="en-US"/>
          </a:p>
        </p:txBody>
      </p:sp>
      <p:sp>
        <p:nvSpPr>
          <p:cNvPr id="480" name="d"/>
          <p:cNvSpPr/>
          <p:nvPr/>
        </p:nvSpPr>
        <p:spPr>
          <a:xfrm>
            <a:off x="6680200" y="3070860"/>
            <a:ext cx="127000" cy="127000"/>
          </a:xfrm>
          <a:prstGeom prst="ellipse">
            <a:avLst/>
          </a:prstGeom>
          <a:solidFill>
            <a:srgbClr val="DAD4EC"/>
          </a:solidFill>
          <a:ln>
            <a:noFill/>
          </a:ln>
        </p:spPr>
        <p:txBody>
          <a:bodyPr/>
          <a:lstStyle/>
          <a:p>
            <a:endParaRPr lang="en-US"/>
          </a:p>
        </p:txBody>
      </p:sp>
      <p:sp>
        <p:nvSpPr>
          <p:cNvPr id="481" name="d"/>
          <p:cNvSpPr/>
          <p:nvPr/>
        </p:nvSpPr>
        <p:spPr>
          <a:xfrm>
            <a:off x="6850380" y="3070860"/>
            <a:ext cx="127000" cy="127000"/>
          </a:xfrm>
          <a:prstGeom prst="ellipse">
            <a:avLst/>
          </a:prstGeom>
          <a:solidFill>
            <a:srgbClr val="DAD4EC"/>
          </a:solidFill>
          <a:ln>
            <a:noFill/>
          </a:ln>
        </p:spPr>
        <p:txBody>
          <a:bodyPr/>
          <a:lstStyle/>
          <a:p>
            <a:endParaRPr lang="en-US"/>
          </a:p>
        </p:txBody>
      </p:sp>
      <p:sp>
        <p:nvSpPr>
          <p:cNvPr id="482" name="d"/>
          <p:cNvSpPr/>
          <p:nvPr/>
        </p:nvSpPr>
        <p:spPr>
          <a:xfrm>
            <a:off x="7020560" y="3070860"/>
            <a:ext cx="127000" cy="127000"/>
          </a:xfrm>
          <a:prstGeom prst="ellipse">
            <a:avLst/>
          </a:prstGeom>
          <a:solidFill>
            <a:srgbClr val="DAD4EC"/>
          </a:solidFill>
          <a:ln>
            <a:noFill/>
          </a:ln>
        </p:spPr>
        <p:txBody>
          <a:bodyPr/>
          <a:lstStyle/>
          <a:p>
            <a:endParaRPr lang="en-US"/>
          </a:p>
        </p:txBody>
      </p:sp>
      <p:sp>
        <p:nvSpPr>
          <p:cNvPr id="483" name="d"/>
          <p:cNvSpPr/>
          <p:nvPr/>
        </p:nvSpPr>
        <p:spPr>
          <a:xfrm>
            <a:off x="7190740" y="3070860"/>
            <a:ext cx="127000" cy="127000"/>
          </a:xfrm>
          <a:prstGeom prst="ellipse">
            <a:avLst/>
          </a:prstGeom>
          <a:solidFill>
            <a:srgbClr val="DAD4EC"/>
          </a:solidFill>
          <a:ln>
            <a:noFill/>
          </a:ln>
        </p:spPr>
        <p:txBody>
          <a:bodyPr/>
          <a:lstStyle/>
          <a:p>
            <a:endParaRPr lang="en-US"/>
          </a:p>
        </p:txBody>
      </p:sp>
      <p:sp>
        <p:nvSpPr>
          <p:cNvPr id="484" name="d"/>
          <p:cNvSpPr/>
          <p:nvPr/>
        </p:nvSpPr>
        <p:spPr>
          <a:xfrm>
            <a:off x="7360920" y="3070860"/>
            <a:ext cx="127000" cy="127000"/>
          </a:xfrm>
          <a:prstGeom prst="ellipse">
            <a:avLst/>
          </a:prstGeom>
          <a:solidFill>
            <a:srgbClr val="DAD4EC"/>
          </a:solidFill>
          <a:ln>
            <a:noFill/>
          </a:ln>
        </p:spPr>
        <p:txBody>
          <a:bodyPr/>
          <a:lstStyle/>
          <a:p>
            <a:endParaRPr lang="en-US"/>
          </a:p>
        </p:txBody>
      </p:sp>
      <p:sp>
        <p:nvSpPr>
          <p:cNvPr id="485" name="d"/>
          <p:cNvSpPr/>
          <p:nvPr/>
        </p:nvSpPr>
        <p:spPr>
          <a:xfrm>
            <a:off x="7531100" y="3070860"/>
            <a:ext cx="127000" cy="127000"/>
          </a:xfrm>
          <a:prstGeom prst="ellipse">
            <a:avLst/>
          </a:prstGeom>
          <a:solidFill>
            <a:srgbClr val="DAD4EC"/>
          </a:solidFill>
          <a:ln>
            <a:noFill/>
          </a:ln>
        </p:spPr>
        <p:txBody>
          <a:bodyPr/>
          <a:lstStyle/>
          <a:p>
            <a:endParaRPr lang="en-US"/>
          </a:p>
        </p:txBody>
      </p:sp>
      <p:sp>
        <p:nvSpPr>
          <p:cNvPr id="486" name="d"/>
          <p:cNvSpPr/>
          <p:nvPr/>
        </p:nvSpPr>
        <p:spPr>
          <a:xfrm>
            <a:off x="7701280" y="3070860"/>
            <a:ext cx="127000" cy="127000"/>
          </a:xfrm>
          <a:prstGeom prst="ellipse">
            <a:avLst/>
          </a:prstGeom>
          <a:solidFill>
            <a:srgbClr val="DAD4EC"/>
          </a:solidFill>
          <a:ln>
            <a:noFill/>
          </a:ln>
        </p:spPr>
        <p:txBody>
          <a:bodyPr/>
          <a:lstStyle/>
          <a:p>
            <a:endParaRPr lang="en-US"/>
          </a:p>
        </p:txBody>
      </p:sp>
      <p:sp>
        <p:nvSpPr>
          <p:cNvPr id="487" name="d"/>
          <p:cNvSpPr/>
          <p:nvPr/>
        </p:nvSpPr>
        <p:spPr>
          <a:xfrm>
            <a:off x="7871460" y="3070860"/>
            <a:ext cx="127000" cy="127000"/>
          </a:xfrm>
          <a:prstGeom prst="ellipse">
            <a:avLst/>
          </a:prstGeom>
          <a:solidFill>
            <a:srgbClr val="DAD4EC"/>
          </a:solidFill>
          <a:ln>
            <a:noFill/>
          </a:ln>
        </p:spPr>
        <p:txBody>
          <a:bodyPr/>
          <a:lstStyle/>
          <a:p>
            <a:endParaRPr lang="en-US"/>
          </a:p>
        </p:txBody>
      </p:sp>
      <p:sp>
        <p:nvSpPr>
          <p:cNvPr id="488" name="d"/>
          <p:cNvSpPr/>
          <p:nvPr/>
        </p:nvSpPr>
        <p:spPr>
          <a:xfrm>
            <a:off x="8041640" y="3070860"/>
            <a:ext cx="127000" cy="127000"/>
          </a:xfrm>
          <a:prstGeom prst="ellipse">
            <a:avLst/>
          </a:prstGeom>
          <a:solidFill>
            <a:srgbClr val="DAD4EC"/>
          </a:solidFill>
          <a:ln>
            <a:noFill/>
          </a:ln>
        </p:spPr>
        <p:txBody>
          <a:bodyPr/>
          <a:lstStyle/>
          <a:p>
            <a:endParaRPr lang="en-US"/>
          </a:p>
        </p:txBody>
      </p:sp>
      <p:sp>
        <p:nvSpPr>
          <p:cNvPr id="489" name="d"/>
          <p:cNvSpPr/>
          <p:nvPr/>
        </p:nvSpPr>
        <p:spPr>
          <a:xfrm>
            <a:off x="8211820" y="3070860"/>
            <a:ext cx="127000" cy="127000"/>
          </a:xfrm>
          <a:prstGeom prst="ellipse">
            <a:avLst/>
          </a:prstGeom>
          <a:solidFill>
            <a:srgbClr val="DAD4EC"/>
          </a:solidFill>
          <a:ln>
            <a:noFill/>
          </a:ln>
        </p:spPr>
        <p:txBody>
          <a:bodyPr/>
          <a:lstStyle/>
          <a:p>
            <a:endParaRPr lang="en-US"/>
          </a:p>
        </p:txBody>
      </p:sp>
      <p:sp>
        <p:nvSpPr>
          <p:cNvPr id="490" name="d"/>
          <p:cNvSpPr/>
          <p:nvPr/>
        </p:nvSpPr>
        <p:spPr>
          <a:xfrm>
            <a:off x="6680200" y="3241040"/>
            <a:ext cx="127000" cy="127000"/>
          </a:xfrm>
          <a:prstGeom prst="ellipse">
            <a:avLst/>
          </a:prstGeom>
          <a:solidFill>
            <a:srgbClr val="DAD4EC"/>
          </a:solidFill>
          <a:ln>
            <a:noFill/>
          </a:ln>
        </p:spPr>
        <p:txBody>
          <a:bodyPr/>
          <a:lstStyle/>
          <a:p>
            <a:endParaRPr lang="en-US"/>
          </a:p>
        </p:txBody>
      </p:sp>
      <p:sp>
        <p:nvSpPr>
          <p:cNvPr id="491" name="d"/>
          <p:cNvSpPr/>
          <p:nvPr/>
        </p:nvSpPr>
        <p:spPr>
          <a:xfrm>
            <a:off x="6850380" y="3241040"/>
            <a:ext cx="127000" cy="127000"/>
          </a:xfrm>
          <a:prstGeom prst="ellipse">
            <a:avLst/>
          </a:prstGeom>
          <a:solidFill>
            <a:srgbClr val="DAD4EC"/>
          </a:solidFill>
          <a:ln>
            <a:noFill/>
          </a:ln>
        </p:spPr>
        <p:txBody>
          <a:bodyPr/>
          <a:lstStyle/>
          <a:p>
            <a:endParaRPr lang="en-US"/>
          </a:p>
        </p:txBody>
      </p:sp>
      <p:sp>
        <p:nvSpPr>
          <p:cNvPr id="492" name="d"/>
          <p:cNvSpPr/>
          <p:nvPr/>
        </p:nvSpPr>
        <p:spPr>
          <a:xfrm>
            <a:off x="7020560" y="3241040"/>
            <a:ext cx="127000" cy="127000"/>
          </a:xfrm>
          <a:prstGeom prst="ellipse">
            <a:avLst/>
          </a:prstGeom>
          <a:solidFill>
            <a:srgbClr val="DAD4EC"/>
          </a:solidFill>
          <a:ln>
            <a:noFill/>
          </a:ln>
        </p:spPr>
        <p:txBody>
          <a:bodyPr/>
          <a:lstStyle/>
          <a:p>
            <a:endParaRPr lang="en-US"/>
          </a:p>
        </p:txBody>
      </p:sp>
      <p:sp>
        <p:nvSpPr>
          <p:cNvPr id="493" name="d"/>
          <p:cNvSpPr/>
          <p:nvPr/>
        </p:nvSpPr>
        <p:spPr>
          <a:xfrm>
            <a:off x="7190740" y="3241040"/>
            <a:ext cx="127000" cy="127000"/>
          </a:xfrm>
          <a:prstGeom prst="ellipse">
            <a:avLst/>
          </a:prstGeom>
          <a:solidFill>
            <a:srgbClr val="DAD4EC"/>
          </a:solidFill>
          <a:ln>
            <a:noFill/>
          </a:ln>
        </p:spPr>
        <p:txBody>
          <a:bodyPr/>
          <a:lstStyle/>
          <a:p>
            <a:endParaRPr lang="en-US"/>
          </a:p>
        </p:txBody>
      </p:sp>
      <p:sp>
        <p:nvSpPr>
          <p:cNvPr id="494" name="d"/>
          <p:cNvSpPr/>
          <p:nvPr/>
        </p:nvSpPr>
        <p:spPr>
          <a:xfrm>
            <a:off x="7360920" y="3241040"/>
            <a:ext cx="127000" cy="127000"/>
          </a:xfrm>
          <a:prstGeom prst="ellipse">
            <a:avLst/>
          </a:prstGeom>
          <a:solidFill>
            <a:srgbClr val="DAD4EC"/>
          </a:solidFill>
          <a:ln>
            <a:noFill/>
          </a:ln>
        </p:spPr>
        <p:txBody>
          <a:bodyPr/>
          <a:lstStyle/>
          <a:p>
            <a:endParaRPr lang="en-US"/>
          </a:p>
        </p:txBody>
      </p:sp>
      <p:sp>
        <p:nvSpPr>
          <p:cNvPr id="495" name="d"/>
          <p:cNvSpPr/>
          <p:nvPr/>
        </p:nvSpPr>
        <p:spPr>
          <a:xfrm>
            <a:off x="7531100" y="3241040"/>
            <a:ext cx="127000" cy="127000"/>
          </a:xfrm>
          <a:prstGeom prst="ellipse">
            <a:avLst/>
          </a:prstGeom>
          <a:solidFill>
            <a:srgbClr val="DAD4EC"/>
          </a:solidFill>
          <a:ln>
            <a:noFill/>
          </a:ln>
        </p:spPr>
        <p:txBody>
          <a:bodyPr/>
          <a:lstStyle/>
          <a:p>
            <a:endParaRPr lang="en-US"/>
          </a:p>
        </p:txBody>
      </p:sp>
      <p:sp>
        <p:nvSpPr>
          <p:cNvPr id="496" name="d"/>
          <p:cNvSpPr/>
          <p:nvPr/>
        </p:nvSpPr>
        <p:spPr>
          <a:xfrm>
            <a:off x="7701280" y="3241040"/>
            <a:ext cx="127000" cy="127000"/>
          </a:xfrm>
          <a:prstGeom prst="ellipse">
            <a:avLst/>
          </a:prstGeom>
          <a:solidFill>
            <a:srgbClr val="DAD4EC"/>
          </a:solidFill>
          <a:ln>
            <a:noFill/>
          </a:ln>
        </p:spPr>
        <p:txBody>
          <a:bodyPr/>
          <a:lstStyle/>
          <a:p>
            <a:endParaRPr lang="en-US"/>
          </a:p>
        </p:txBody>
      </p:sp>
      <p:sp>
        <p:nvSpPr>
          <p:cNvPr id="497" name="d"/>
          <p:cNvSpPr/>
          <p:nvPr/>
        </p:nvSpPr>
        <p:spPr>
          <a:xfrm>
            <a:off x="7871460" y="3241040"/>
            <a:ext cx="127000" cy="127000"/>
          </a:xfrm>
          <a:prstGeom prst="ellipse">
            <a:avLst/>
          </a:prstGeom>
          <a:solidFill>
            <a:srgbClr val="DAD4EC"/>
          </a:solidFill>
          <a:ln>
            <a:noFill/>
          </a:ln>
        </p:spPr>
        <p:txBody>
          <a:bodyPr/>
          <a:lstStyle/>
          <a:p>
            <a:endParaRPr lang="en-US"/>
          </a:p>
        </p:txBody>
      </p:sp>
      <p:sp>
        <p:nvSpPr>
          <p:cNvPr id="498" name="d"/>
          <p:cNvSpPr/>
          <p:nvPr/>
        </p:nvSpPr>
        <p:spPr>
          <a:xfrm>
            <a:off x="8041640" y="3241040"/>
            <a:ext cx="127000" cy="127000"/>
          </a:xfrm>
          <a:prstGeom prst="ellipse">
            <a:avLst/>
          </a:prstGeom>
          <a:solidFill>
            <a:srgbClr val="DAD4EC"/>
          </a:solidFill>
          <a:ln>
            <a:noFill/>
          </a:ln>
        </p:spPr>
        <p:txBody>
          <a:bodyPr/>
          <a:lstStyle/>
          <a:p>
            <a:endParaRPr lang="en-US"/>
          </a:p>
        </p:txBody>
      </p:sp>
      <p:sp>
        <p:nvSpPr>
          <p:cNvPr id="499" name="d"/>
          <p:cNvSpPr/>
          <p:nvPr/>
        </p:nvSpPr>
        <p:spPr>
          <a:xfrm>
            <a:off x="8211820" y="3241040"/>
            <a:ext cx="127000" cy="127000"/>
          </a:xfrm>
          <a:prstGeom prst="ellipse">
            <a:avLst/>
          </a:prstGeom>
          <a:solidFill>
            <a:srgbClr val="DAD4EC"/>
          </a:solidFill>
          <a:ln>
            <a:noFill/>
          </a:ln>
        </p:spPr>
        <p:txBody>
          <a:bodyPr/>
          <a:lstStyle/>
          <a:p>
            <a:endParaRPr lang="en-US"/>
          </a:p>
        </p:txBody>
      </p:sp>
      <p:sp>
        <p:nvSpPr>
          <p:cNvPr id="500" name="d"/>
          <p:cNvSpPr/>
          <p:nvPr/>
        </p:nvSpPr>
        <p:spPr>
          <a:xfrm>
            <a:off x="6680200" y="3411220"/>
            <a:ext cx="127000" cy="127000"/>
          </a:xfrm>
          <a:prstGeom prst="ellipse">
            <a:avLst/>
          </a:prstGeom>
          <a:solidFill>
            <a:srgbClr val="DAD4EC"/>
          </a:solidFill>
          <a:ln>
            <a:noFill/>
          </a:ln>
        </p:spPr>
        <p:txBody>
          <a:bodyPr/>
          <a:lstStyle/>
          <a:p>
            <a:endParaRPr lang="en-US"/>
          </a:p>
        </p:txBody>
      </p:sp>
      <p:sp>
        <p:nvSpPr>
          <p:cNvPr id="501" name="d"/>
          <p:cNvSpPr/>
          <p:nvPr/>
        </p:nvSpPr>
        <p:spPr>
          <a:xfrm>
            <a:off x="6850380" y="3411220"/>
            <a:ext cx="127000" cy="127000"/>
          </a:xfrm>
          <a:prstGeom prst="ellipse">
            <a:avLst/>
          </a:prstGeom>
          <a:solidFill>
            <a:srgbClr val="DAD4EC"/>
          </a:solidFill>
          <a:ln>
            <a:noFill/>
          </a:ln>
        </p:spPr>
        <p:txBody>
          <a:bodyPr/>
          <a:lstStyle/>
          <a:p>
            <a:endParaRPr lang="en-US"/>
          </a:p>
        </p:txBody>
      </p:sp>
      <p:sp>
        <p:nvSpPr>
          <p:cNvPr id="502" name="d"/>
          <p:cNvSpPr/>
          <p:nvPr/>
        </p:nvSpPr>
        <p:spPr>
          <a:xfrm>
            <a:off x="7020560" y="3411220"/>
            <a:ext cx="127000" cy="127000"/>
          </a:xfrm>
          <a:prstGeom prst="ellipse">
            <a:avLst/>
          </a:prstGeom>
          <a:solidFill>
            <a:srgbClr val="DAD4EC"/>
          </a:solidFill>
          <a:ln>
            <a:noFill/>
          </a:ln>
        </p:spPr>
        <p:txBody>
          <a:bodyPr/>
          <a:lstStyle/>
          <a:p>
            <a:endParaRPr lang="en-US"/>
          </a:p>
        </p:txBody>
      </p:sp>
      <p:sp>
        <p:nvSpPr>
          <p:cNvPr id="503" name="d"/>
          <p:cNvSpPr/>
          <p:nvPr/>
        </p:nvSpPr>
        <p:spPr>
          <a:xfrm>
            <a:off x="7190740" y="3411220"/>
            <a:ext cx="127000" cy="127000"/>
          </a:xfrm>
          <a:prstGeom prst="ellipse">
            <a:avLst/>
          </a:prstGeom>
          <a:solidFill>
            <a:srgbClr val="DAD4EC"/>
          </a:solidFill>
          <a:ln>
            <a:noFill/>
          </a:ln>
        </p:spPr>
        <p:txBody>
          <a:bodyPr/>
          <a:lstStyle/>
          <a:p>
            <a:endParaRPr lang="en-US"/>
          </a:p>
        </p:txBody>
      </p:sp>
      <p:sp>
        <p:nvSpPr>
          <p:cNvPr id="504" name="d"/>
          <p:cNvSpPr/>
          <p:nvPr/>
        </p:nvSpPr>
        <p:spPr>
          <a:xfrm>
            <a:off x="7360920" y="3411220"/>
            <a:ext cx="127000" cy="127000"/>
          </a:xfrm>
          <a:prstGeom prst="ellipse">
            <a:avLst/>
          </a:prstGeom>
          <a:solidFill>
            <a:srgbClr val="DAD4EC"/>
          </a:solidFill>
          <a:ln>
            <a:noFill/>
          </a:ln>
        </p:spPr>
        <p:txBody>
          <a:bodyPr/>
          <a:lstStyle/>
          <a:p>
            <a:endParaRPr lang="en-US"/>
          </a:p>
        </p:txBody>
      </p:sp>
      <p:sp>
        <p:nvSpPr>
          <p:cNvPr id="505" name="d"/>
          <p:cNvSpPr/>
          <p:nvPr/>
        </p:nvSpPr>
        <p:spPr>
          <a:xfrm>
            <a:off x="7531100" y="3411220"/>
            <a:ext cx="127000" cy="127000"/>
          </a:xfrm>
          <a:prstGeom prst="ellipse">
            <a:avLst/>
          </a:prstGeom>
          <a:solidFill>
            <a:srgbClr val="DAD4EC"/>
          </a:solidFill>
          <a:ln>
            <a:noFill/>
          </a:ln>
        </p:spPr>
        <p:txBody>
          <a:bodyPr/>
          <a:lstStyle/>
          <a:p>
            <a:endParaRPr lang="en-US"/>
          </a:p>
        </p:txBody>
      </p:sp>
      <p:sp>
        <p:nvSpPr>
          <p:cNvPr id="506" name="d"/>
          <p:cNvSpPr/>
          <p:nvPr/>
        </p:nvSpPr>
        <p:spPr>
          <a:xfrm>
            <a:off x="7701280" y="3411220"/>
            <a:ext cx="127000" cy="127000"/>
          </a:xfrm>
          <a:prstGeom prst="ellipse">
            <a:avLst/>
          </a:prstGeom>
          <a:solidFill>
            <a:srgbClr val="DAD4EC"/>
          </a:solidFill>
          <a:ln>
            <a:noFill/>
          </a:ln>
        </p:spPr>
        <p:txBody>
          <a:bodyPr/>
          <a:lstStyle/>
          <a:p>
            <a:endParaRPr lang="en-US"/>
          </a:p>
        </p:txBody>
      </p:sp>
      <p:sp>
        <p:nvSpPr>
          <p:cNvPr id="507" name="d"/>
          <p:cNvSpPr/>
          <p:nvPr/>
        </p:nvSpPr>
        <p:spPr>
          <a:xfrm>
            <a:off x="7871460" y="3411220"/>
            <a:ext cx="127000" cy="127000"/>
          </a:xfrm>
          <a:prstGeom prst="ellipse">
            <a:avLst/>
          </a:prstGeom>
          <a:solidFill>
            <a:srgbClr val="DAD4EC"/>
          </a:solidFill>
          <a:ln>
            <a:noFill/>
          </a:ln>
        </p:spPr>
        <p:txBody>
          <a:bodyPr/>
          <a:lstStyle/>
          <a:p>
            <a:endParaRPr lang="en-US"/>
          </a:p>
        </p:txBody>
      </p:sp>
      <p:sp>
        <p:nvSpPr>
          <p:cNvPr id="508" name="d"/>
          <p:cNvSpPr/>
          <p:nvPr/>
        </p:nvSpPr>
        <p:spPr>
          <a:xfrm>
            <a:off x="8041640" y="3411220"/>
            <a:ext cx="127000" cy="127000"/>
          </a:xfrm>
          <a:prstGeom prst="ellipse">
            <a:avLst/>
          </a:prstGeom>
          <a:solidFill>
            <a:srgbClr val="DAD4EC"/>
          </a:solidFill>
          <a:ln>
            <a:noFill/>
          </a:ln>
        </p:spPr>
        <p:txBody>
          <a:bodyPr/>
          <a:lstStyle/>
          <a:p>
            <a:endParaRPr lang="en-US"/>
          </a:p>
        </p:txBody>
      </p:sp>
      <p:sp>
        <p:nvSpPr>
          <p:cNvPr id="509" name="d"/>
          <p:cNvSpPr/>
          <p:nvPr/>
        </p:nvSpPr>
        <p:spPr>
          <a:xfrm>
            <a:off x="8211820" y="3411220"/>
            <a:ext cx="127000" cy="127000"/>
          </a:xfrm>
          <a:prstGeom prst="ellipse">
            <a:avLst/>
          </a:prstGeom>
          <a:solidFill>
            <a:srgbClr val="DAD4EC"/>
          </a:solidFill>
          <a:ln>
            <a:noFill/>
          </a:ln>
        </p:spPr>
        <p:txBody>
          <a:bodyPr/>
          <a:lstStyle/>
          <a:p>
            <a:endParaRPr lang="en-US"/>
          </a:p>
        </p:txBody>
      </p:sp>
      <p:sp>
        <p:nvSpPr>
          <p:cNvPr id="510" name="r511"/>
          <p:cNvSpPr/>
          <p:nvPr/>
        </p:nvSpPr>
        <p:spPr>
          <a:xfrm>
            <a:off x="812800" y="3810000"/>
            <a:ext cx="7518400" cy="660400"/>
          </a:xfrm>
          <a:prstGeom prst="rect">
            <a:avLst/>
          </a:prstGeom>
          <a:solidFill>
            <a:srgbClr val="F6F2FF"/>
          </a:solidFill>
          <a:ln>
            <a:noFill/>
          </a:ln>
        </p:spPr>
        <p:txBody>
          <a:bodyPr/>
          <a:lstStyle/>
          <a:p>
            <a:pPr algn="ctr">
              <a:buNone/>
            </a:pPr>
            <a:r>
              <a:rPr lang="en-US" sz="1600" b="1" dirty="0">
                <a:solidFill>
                  <a:srgbClr val="110057"/>
                </a:solidFill>
                <a:latin typeface="Arial"/>
                <a:cs typeface="Arial"/>
              </a:rPr>
              <a:t>Same treatment, RR 0.5 — events halved in every group.</a:t>
            </a:r>
          </a:p>
          <a:p>
            <a:pPr algn="ctr">
              <a:buNone/>
            </a:pPr>
            <a:r>
              <a:rPr lang="en-US" sz="1200" dirty="0">
                <a:solidFill>
                  <a:srgbClr val="4A4170"/>
                </a:solidFill>
                <a:latin typeface="Arial"/>
                <a:cs typeface="Arial"/>
              </a:rPr>
              <a:t>Absolute benefit (2 → 5 → 10 prevented) grows with baseline risk.</a:t>
            </a:r>
          </a:p>
        </p:txBody>
      </p:sp>
      <p:sp>
        <p:nvSpPr>
          <p:cNvPr id="511" name="t512"/>
          <p:cNvSpPr txBox="1"/>
          <p:nvPr/>
        </p:nvSpPr>
        <p:spPr>
          <a:xfrm>
            <a:off x="635000" y="4876800"/>
            <a:ext cx="6350000" cy="152400"/>
          </a:xfrm>
          <a:prstGeom prst="rect">
            <a:avLst/>
          </a:prstGeom>
          <a:noFill/>
        </p:spPr>
        <p:txBody>
          <a:bodyPr/>
          <a:lstStyle/>
          <a:p>
            <a:pPr algn="l">
              <a:buNone/>
            </a:pPr>
            <a:r>
              <a:rPr lang="en-US" sz="800" dirty="0">
                <a:solidFill>
                  <a:srgbClr val="6F6689"/>
                </a:solidFill>
                <a:latin typeface="Arial"/>
                <a:cs typeface="Arial"/>
              </a:rPr>
              <a:t>Kent 2023; risk-based treatment framing</a:t>
            </a:r>
          </a:p>
        </p:txBody>
      </p:sp>
    </p:spTree>
    <p:extLst>
      <p:ext uri="{BB962C8B-B14F-4D97-AF65-F5344CB8AC3E}">
        <p14:creationId xmlns:p14="http://schemas.microsoft.com/office/powerpoint/2010/main" val="1571641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200"/>
          <p:cNvSpPr/>
          <p:nvPr/>
        </p:nvSpPr>
        <p:spPr>
          <a:xfrm>
            <a:off x="0" y="0"/>
            <a:ext cx="9144000" cy="5143500"/>
          </a:xfrm>
          <a:prstGeom prst="rect">
            <a:avLst/>
          </a:prstGeom>
          <a:solidFill>
            <a:srgbClr val="FFFFFF"/>
          </a:solidFill>
          <a:ln>
            <a:noFill/>
          </a:ln>
        </p:spPr>
        <p:txBody>
          <a:bodyPr wrap="square" lIns="0" tIns="0" rIns="0" bIns="0"/>
          <a:lstStyle/>
          <a:p>
            <a:endParaRPr/>
          </a:p>
        </p:txBody>
      </p:sp>
      <p:sp>
        <p:nvSpPr>
          <p:cNvPr id="201" name="s201"/>
          <p:cNvSpPr/>
          <p:nvPr/>
        </p:nvSpPr>
        <p:spPr>
          <a:xfrm>
            <a:off x="368300" y="749300"/>
            <a:ext cx="63500" cy="3644900"/>
          </a:xfrm>
          <a:prstGeom prst="rect">
            <a:avLst/>
          </a:prstGeom>
          <a:solidFill>
            <a:srgbClr val="4A00E2"/>
          </a:solidFill>
          <a:ln>
            <a:noFill/>
          </a:ln>
        </p:spPr>
        <p:txBody>
          <a:bodyPr wrap="square" lIns="0" tIns="0" rIns="0" bIns="0"/>
          <a:lstStyle/>
          <a:p>
            <a:endParaRPr/>
          </a:p>
        </p:txBody>
      </p:sp>
      <p:sp>
        <p:nvSpPr>
          <p:cNvPr id="202" name="s202"/>
          <p:cNvSpPr/>
          <p:nvPr/>
        </p:nvSpPr>
        <p:spPr>
          <a:xfrm>
            <a:off x="635000" y="304800"/>
            <a:ext cx="6350000" cy="203200"/>
          </a:xfrm>
          <a:prstGeom prst="rect">
            <a:avLst/>
          </a:prstGeom>
          <a:noFill/>
          <a:ln>
            <a:noFill/>
          </a:ln>
        </p:spPr>
        <p:txBody>
          <a:bodyPr wrap="square" lIns="0" tIns="0" rIns="0" bIns="0" anchor="t"/>
          <a:lstStyle/>
          <a:p>
            <a:pPr algn="l"/>
            <a:r>
              <a:rPr lang="en-US" sz="1100" b="1" dirty="0">
                <a:solidFill>
                  <a:srgbClr val="4A00E2"/>
                </a:solidFill>
                <a:latin typeface="Arial"/>
                <a:cs typeface="Arial"/>
              </a:rPr>
              <a:t>ACT | RISK MODELING VS EFFECT MODELING</a:t>
            </a:r>
          </a:p>
        </p:txBody>
      </p:sp>
      <p:sp>
        <p:nvSpPr>
          <p:cNvPr id="203" name="s203"/>
          <p:cNvSpPr/>
          <p:nvPr/>
        </p:nvSpPr>
        <p:spPr>
          <a:xfrm>
            <a:off x="635000" y="533400"/>
            <a:ext cx="7874000" cy="508000"/>
          </a:xfrm>
          <a:prstGeom prst="rect">
            <a:avLst/>
          </a:prstGeom>
          <a:noFill/>
          <a:ln>
            <a:noFill/>
          </a:ln>
        </p:spPr>
        <p:txBody>
          <a:bodyPr wrap="square" lIns="0" tIns="0" rIns="0" bIns="0" anchor="t"/>
          <a:lstStyle/>
          <a:p>
            <a:pPr algn="l"/>
            <a:r>
              <a:rPr lang="en-US" sz="2400" b="1" dirty="0">
                <a:solidFill>
                  <a:srgbClr val="110057"/>
                </a:solidFill>
                <a:latin typeface="Arial"/>
                <a:cs typeface="Arial"/>
              </a:rPr>
              <a:t>The trial average is not the bedside decision</a:t>
            </a:r>
          </a:p>
        </p:txBody>
      </p:sp>
      <p:sp>
        <p:nvSpPr>
          <p:cNvPr id="204" name="s204"/>
          <p:cNvSpPr/>
          <p:nvPr/>
        </p:nvSpPr>
        <p:spPr>
          <a:xfrm>
            <a:off x="812800" y="1701800"/>
            <a:ext cx="2501900" cy="584200"/>
          </a:xfrm>
          <a:prstGeom prst="rect">
            <a:avLst/>
          </a:prstGeom>
          <a:solidFill>
            <a:srgbClr val="EDE7FF"/>
          </a:solidFill>
          <a:ln>
            <a:noFill/>
          </a:ln>
        </p:spPr>
        <p:txBody>
          <a:bodyPr wrap="square" lIns="0" tIns="0" rIns="0" bIns="0" anchor="ctr"/>
          <a:lstStyle/>
          <a:p>
            <a:endParaRPr/>
          </a:p>
        </p:txBody>
      </p:sp>
      <p:sp>
        <p:nvSpPr>
          <p:cNvPr id="205" name="s205"/>
          <p:cNvSpPr/>
          <p:nvPr/>
        </p:nvSpPr>
        <p:spPr>
          <a:xfrm>
            <a:off x="3314700" y="1701800"/>
            <a:ext cx="2514600" cy="584200"/>
          </a:xfrm>
          <a:prstGeom prst="rect">
            <a:avLst/>
          </a:prstGeom>
          <a:solidFill>
            <a:srgbClr val="D8CCFF"/>
          </a:solidFill>
          <a:ln>
            <a:noFill/>
          </a:ln>
        </p:spPr>
        <p:txBody>
          <a:bodyPr wrap="square" lIns="0" tIns="0" rIns="0" bIns="0" anchor="ctr"/>
          <a:lstStyle/>
          <a:p>
            <a:endParaRPr/>
          </a:p>
        </p:txBody>
      </p:sp>
      <p:sp>
        <p:nvSpPr>
          <p:cNvPr id="206" name="s206"/>
          <p:cNvSpPr/>
          <p:nvPr/>
        </p:nvSpPr>
        <p:spPr>
          <a:xfrm>
            <a:off x="5829300" y="1701800"/>
            <a:ext cx="2501900" cy="584200"/>
          </a:xfrm>
          <a:prstGeom prst="rect">
            <a:avLst/>
          </a:prstGeom>
          <a:solidFill>
            <a:srgbClr val="4A00E2"/>
          </a:solidFill>
          <a:ln>
            <a:noFill/>
          </a:ln>
        </p:spPr>
        <p:txBody>
          <a:bodyPr wrap="square" lIns="0" tIns="0" rIns="0" bIns="0" anchor="ctr"/>
          <a:lstStyle/>
          <a:p>
            <a:endParaRPr/>
          </a:p>
        </p:txBody>
      </p:sp>
      <p:sp>
        <p:nvSpPr>
          <p:cNvPr id="207" name="s207"/>
          <p:cNvSpPr/>
          <p:nvPr/>
        </p:nvSpPr>
        <p:spPr>
          <a:xfrm>
            <a:off x="812800" y="1320800"/>
            <a:ext cx="2501900" cy="203200"/>
          </a:xfrm>
          <a:prstGeom prst="rect">
            <a:avLst/>
          </a:prstGeom>
          <a:noFill/>
          <a:ln>
            <a:noFill/>
          </a:ln>
        </p:spPr>
        <p:txBody>
          <a:bodyPr wrap="square" lIns="0" tIns="0" rIns="0" bIns="0" anchor="ctr"/>
          <a:lstStyle/>
          <a:p>
            <a:pPr algn="ctr"/>
            <a:r>
              <a:rPr lang="en-US" sz="1100" b="1" dirty="0">
                <a:solidFill>
                  <a:srgbClr val="110057"/>
                </a:solidFill>
                <a:latin typeface="Arial"/>
                <a:cs typeface="Arial"/>
              </a:rPr>
              <a:t>Lower-risk patients</a:t>
            </a:r>
          </a:p>
        </p:txBody>
      </p:sp>
      <p:sp>
        <p:nvSpPr>
          <p:cNvPr id="209" name="s209"/>
          <p:cNvSpPr/>
          <p:nvPr/>
        </p:nvSpPr>
        <p:spPr>
          <a:xfrm>
            <a:off x="5829300" y="1320800"/>
            <a:ext cx="2501900" cy="203200"/>
          </a:xfrm>
          <a:prstGeom prst="rect">
            <a:avLst/>
          </a:prstGeom>
          <a:noFill/>
          <a:ln>
            <a:noFill/>
          </a:ln>
        </p:spPr>
        <p:txBody>
          <a:bodyPr wrap="square" lIns="0" tIns="0" rIns="0" bIns="0" anchor="ctr"/>
          <a:lstStyle/>
          <a:p>
            <a:pPr algn="ctr"/>
            <a:r>
              <a:rPr lang="en-US" sz="1100" b="1" dirty="0">
                <a:solidFill>
                  <a:srgbClr val="110057"/>
                </a:solidFill>
                <a:latin typeface="Arial"/>
                <a:cs typeface="Arial"/>
              </a:rPr>
              <a:t>Higher-risk patients</a:t>
            </a:r>
          </a:p>
        </p:txBody>
      </p:sp>
      <p:sp>
        <p:nvSpPr>
          <p:cNvPr id="210" name="s210"/>
          <p:cNvSpPr/>
          <p:nvPr/>
        </p:nvSpPr>
        <p:spPr>
          <a:xfrm>
            <a:off x="812800" y="2336800"/>
            <a:ext cx="2501900" cy="355600"/>
          </a:xfrm>
          <a:prstGeom prst="rect">
            <a:avLst/>
          </a:prstGeom>
          <a:noFill/>
          <a:ln>
            <a:noFill/>
          </a:ln>
        </p:spPr>
        <p:txBody>
          <a:bodyPr wrap="square" lIns="0" tIns="0" rIns="0" bIns="0" anchor="t"/>
          <a:lstStyle/>
          <a:p>
            <a:pPr algn="ctr"/>
            <a:r>
              <a:rPr lang="en-US" sz="1000" dirty="0">
                <a:solidFill>
                  <a:srgbClr val="4A4170"/>
                </a:solidFill>
                <a:latin typeface="Arial"/>
                <a:cs typeface="Arial"/>
              </a:rPr>
              <a:t>Few events to prevent</a:t>
            </a:r>
          </a:p>
        </p:txBody>
      </p:sp>
      <p:sp>
        <p:nvSpPr>
          <p:cNvPr id="211" name="s211"/>
          <p:cNvSpPr/>
          <p:nvPr/>
        </p:nvSpPr>
        <p:spPr>
          <a:xfrm>
            <a:off x="3314700" y="2336800"/>
            <a:ext cx="2514600" cy="355600"/>
          </a:xfrm>
          <a:prstGeom prst="rect">
            <a:avLst/>
          </a:prstGeom>
          <a:noFill/>
          <a:ln>
            <a:noFill/>
          </a:ln>
        </p:spPr>
        <p:txBody>
          <a:bodyPr wrap="square" lIns="0" tIns="0" rIns="0" bIns="0" anchor="t"/>
          <a:lstStyle/>
          <a:p>
            <a:pPr algn="ctr"/>
            <a:r>
              <a:rPr lang="en-US" sz="1000" dirty="0">
                <a:solidFill>
                  <a:srgbClr val="4A4170"/>
                </a:solidFill>
                <a:latin typeface="Arial"/>
                <a:cs typeface="Arial"/>
              </a:rPr>
              <a:t>Summary estimate</a:t>
            </a:r>
          </a:p>
        </p:txBody>
      </p:sp>
      <p:sp>
        <p:nvSpPr>
          <p:cNvPr id="212" name="s212"/>
          <p:cNvSpPr/>
          <p:nvPr/>
        </p:nvSpPr>
        <p:spPr>
          <a:xfrm>
            <a:off x="5829300" y="2336800"/>
            <a:ext cx="2501900" cy="355600"/>
          </a:xfrm>
          <a:prstGeom prst="rect">
            <a:avLst/>
          </a:prstGeom>
          <a:noFill/>
          <a:ln>
            <a:noFill/>
          </a:ln>
        </p:spPr>
        <p:txBody>
          <a:bodyPr wrap="square" lIns="0" tIns="0" rIns="0" bIns="0" anchor="t"/>
          <a:lstStyle/>
          <a:p>
            <a:pPr algn="ctr"/>
            <a:r>
              <a:rPr lang="en-US" sz="1000" dirty="0">
                <a:solidFill>
                  <a:srgbClr val="4A4170"/>
                </a:solidFill>
                <a:latin typeface="Arial"/>
                <a:cs typeface="Arial"/>
              </a:rPr>
              <a:t>More events to prevent</a:t>
            </a:r>
          </a:p>
        </p:txBody>
      </p:sp>
      <p:sp>
        <p:nvSpPr>
          <p:cNvPr id="213" name="s213"/>
          <p:cNvSpPr/>
          <p:nvPr/>
        </p:nvSpPr>
        <p:spPr>
          <a:xfrm>
            <a:off x="3937000" y="1219200"/>
            <a:ext cx="1270000" cy="660400"/>
          </a:xfrm>
          <a:prstGeom prst="roundRect">
            <a:avLst/>
          </a:prstGeom>
          <a:solidFill>
            <a:srgbClr val="110057"/>
          </a:solidFill>
          <a:ln>
            <a:noFill/>
          </a:ln>
        </p:spPr>
        <p:txBody>
          <a:bodyPr wrap="square" lIns="0" tIns="0" rIns="0" bIns="0" anchor="ctr"/>
          <a:lstStyle/>
          <a:p>
            <a:pPr algn="ctr"/>
            <a:r>
              <a:rPr lang="en-US" sz="1000" dirty="0">
                <a:solidFill>
                  <a:srgbClr val="FFFFFF"/>
                </a:solidFill>
                <a:latin typeface="Arial"/>
                <a:cs typeface="Arial"/>
              </a:rPr>
              <a:t>Trial average</a:t>
            </a:r>
          </a:p>
          <a:p>
            <a:pPr algn="ctr"/>
            <a:r>
              <a:rPr lang="en-US" sz="1400" b="1" dirty="0">
                <a:solidFill>
                  <a:srgbClr val="FFFFFF"/>
                </a:solidFill>
                <a:latin typeface="Arial"/>
                <a:cs typeface="Arial"/>
              </a:rPr>
              <a:t>NNT = 50</a:t>
            </a:r>
          </a:p>
        </p:txBody>
      </p:sp>
      <p:sp>
        <p:nvSpPr>
          <p:cNvPr id="216" name="s216"/>
          <p:cNvSpPr/>
          <p:nvPr/>
        </p:nvSpPr>
        <p:spPr>
          <a:xfrm>
            <a:off x="635000" y="4876800"/>
            <a:ext cx="6350000" cy="152400"/>
          </a:xfrm>
          <a:prstGeom prst="rect">
            <a:avLst/>
          </a:prstGeom>
          <a:noFill/>
          <a:ln>
            <a:noFill/>
          </a:ln>
        </p:spPr>
        <p:txBody>
          <a:bodyPr wrap="square" lIns="0" tIns="0" rIns="0" bIns="0" anchor="t"/>
          <a:lstStyle/>
          <a:p>
            <a:pPr algn="l"/>
            <a:r>
              <a:rPr lang="en-US" sz="800" dirty="0">
                <a:solidFill>
                  <a:srgbClr val="6F6689"/>
                </a:solidFill>
                <a:latin typeface="Arial"/>
                <a:cs typeface="Arial"/>
              </a:rPr>
              <a:t>Kent 2023; PATH Statement</a:t>
            </a:r>
          </a:p>
        </p:txBody>
      </p:sp>
      <p:pic>
        <p:nvPicPr>
          <p:cNvPr id="2" name="Picture 1">
            <a:extLst>
              <a:ext uri="{FF2B5EF4-FFF2-40B4-BE49-F238E27FC236}">
                <a16:creationId xmlns:a16="http://schemas.microsoft.com/office/drawing/2014/main" id="{DF8FED5E-FBB3-31CC-9FD8-B0D504AEDA6B}"/>
              </a:ext>
            </a:extLst>
          </p:cNvPr>
          <p:cNvPicPr>
            <a:picLocks noChangeAspect="1"/>
          </p:cNvPicPr>
          <p:nvPr/>
        </p:nvPicPr>
        <p:blipFill>
          <a:blip r:embed="rId3"/>
          <a:stretch>
            <a:fillRect/>
          </a:stretch>
        </p:blipFill>
        <p:spPr>
          <a:xfrm>
            <a:off x="5372100" y="2610757"/>
            <a:ext cx="2959100" cy="2113643"/>
          </a:xfrm>
          <a:prstGeom prst="rect">
            <a:avLst/>
          </a:prstGeom>
        </p:spPr>
      </p:pic>
      <p:pic>
        <p:nvPicPr>
          <p:cNvPr id="3" name="Picture 2">
            <a:extLst>
              <a:ext uri="{FF2B5EF4-FFF2-40B4-BE49-F238E27FC236}">
                <a16:creationId xmlns:a16="http://schemas.microsoft.com/office/drawing/2014/main" id="{6235FF8D-191B-FA8F-1CDD-13494A4C40F3}"/>
              </a:ext>
            </a:extLst>
          </p:cNvPr>
          <p:cNvPicPr>
            <a:picLocks noChangeAspect="1"/>
          </p:cNvPicPr>
          <p:nvPr/>
        </p:nvPicPr>
        <p:blipFill>
          <a:blip r:embed="rId4"/>
          <a:stretch>
            <a:fillRect/>
          </a:stretch>
        </p:blipFill>
        <p:spPr>
          <a:xfrm>
            <a:off x="1231900" y="2843659"/>
            <a:ext cx="3340100" cy="1964765"/>
          </a:xfrm>
          <a:prstGeom prst="rect">
            <a:avLst/>
          </a:prstGeom>
        </p:spPr>
      </p:pic>
    </p:spTree>
    <p:extLst>
      <p:ext uri="{BB962C8B-B14F-4D97-AF65-F5344CB8AC3E}">
        <p14:creationId xmlns:p14="http://schemas.microsoft.com/office/powerpoint/2010/main" val="3304096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bg"/>
          <p:cNvSpPr/>
          <p:nvPr/>
        </p:nvSpPr>
        <p:spPr>
          <a:xfrm>
            <a:off x="0" y="0"/>
            <a:ext cx="9144000" cy="5143500"/>
          </a:xfrm>
          <a:prstGeom prst="rect">
            <a:avLst/>
          </a:prstGeom>
          <a:solidFill>
            <a:srgbClr val="FFFFFF"/>
          </a:solidFill>
          <a:ln>
            <a:noFill/>
          </a:ln>
        </p:spPr>
        <p:txBody>
          <a:bodyPr/>
          <a:lstStyle/>
          <a:p>
            <a:endParaRPr/>
          </a:p>
        </p:txBody>
      </p:sp>
      <p:sp>
        <p:nvSpPr>
          <p:cNvPr id="201" name="accent"/>
          <p:cNvSpPr/>
          <p:nvPr/>
        </p:nvSpPr>
        <p:spPr>
          <a:xfrm>
            <a:off x="368300" y="749300"/>
            <a:ext cx="63500" cy="3644900"/>
          </a:xfrm>
          <a:prstGeom prst="rect">
            <a:avLst/>
          </a:prstGeom>
          <a:solidFill>
            <a:srgbClr val="4A00E2"/>
          </a:solidFill>
          <a:ln>
            <a:noFill/>
          </a:ln>
        </p:spPr>
        <p:txBody>
          <a:bodyPr/>
          <a:lstStyle/>
          <a:p>
            <a:endParaRPr/>
          </a:p>
        </p:txBody>
      </p:sp>
      <p:sp>
        <p:nvSpPr>
          <p:cNvPr id="202" name="eyebrow"/>
          <p:cNvSpPr txBox="1"/>
          <p:nvPr/>
        </p:nvSpPr>
        <p:spPr>
          <a:xfrm>
            <a:off x="635000" y="304800"/>
            <a:ext cx="7112000" cy="203200"/>
          </a:xfrm>
          <a:prstGeom prst="rect">
            <a:avLst/>
          </a:prstGeom>
          <a:noFill/>
        </p:spPr>
        <p:txBody>
          <a:bodyPr wrap="square" lIns="0" tIns="0" rIns="0" bIns="0" anchor="t">
            <a:noAutofit/>
          </a:bodyPr>
          <a:lstStyle/>
          <a:p>
            <a:pPr algn="l">
              <a:buNone/>
            </a:pPr>
            <a:r>
              <a:rPr lang="en-US" sz="1100" b="1" dirty="0">
                <a:solidFill>
                  <a:srgbClr val="4A00E2"/>
                </a:solidFill>
                <a:latin typeface="Arial"/>
                <a:cs typeface="Arial"/>
              </a:rPr>
              <a:t>ACT | RISK MODELING VS EFFECT MODELING</a:t>
            </a:r>
          </a:p>
        </p:txBody>
      </p:sp>
      <p:sp>
        <p:nvSpPr>
          <p:cNvPr id="203" name="title"/>
          <p:cNvSpPr txBox="1"/>
          <p:nvPr/>
        </p:nvSpPr>
        <p:spPr>
          <a:xfrm>
            <a:off x="635000" y="533400"/>
            <a:ext cx="8128000" cy="508000"/>
          </a:xfrm>
          <a:prstGeom prst="rect">
            <a:avLst/>
          </a:prstGeom>
          <a:noFill/>
        </p:spPr>
        <p:txBody>
          <a:bodyPr wrap="square" lIns="0" tIns="0" rIns="0" bIns="0" anchor="t">
            <a:noAutofit/>
          </a:bodyPr>
          <a:lstStyle/>
          <a:p>
            <a:pPr algn="l">
              <a:buNone/>
            </a:pPr>
            <a:r>
              <a:rPr lang="en-US" sz="2400" b="1" dirty="0">
                <a:solidFill>
                  <a:srgbClr val="110057"/>
                </a:solidFill>
                <a:latin typeface="Arial"/>
                <a:cs typeface="Arial"/>
              </a:rPr>
              <a:t>Risk modeling in practice: stress-ulcer prophylaxis</a:t>
            </a:r>
          </a:p>
        </p:txBody>
      </p:sp>
      <p:sp>
        <p:nvSpPr>
          <p:cNvPr id="204" name="sub"/>
          <p:cNvSpPr txBox="1"/>
          <p:nvPr/>
        </p:nvSpPr>
        <p:spPr>
          <a:xfrm>
            <a:off x="635000" y="1092200"/>
            <a:ext cx="7874000" cy="203200"/>
          </a:xfrm>
          <a:prstGeom prst="rect">
            <a:avLst/>
          </a:prstGeom>
          <a:noFill/>
        </p:spPr>
        <p:txBody>
          <a:bodyPr wrap="square" lIns="0" tIns="0" rIns="0" bIns="0" anchor="t">
            <a:noAutofit/>
          </a:bodyPr>
          <a:lstStyle/>
          <a:p>
            <a:pPr algn="l">
              <a:buNone/>
            </a:pPr>
            <a:r>
              <a:rPr lang="en-US" sz="1300" dirty="0">
                <a:solidFill>
                  <a:srgbClr val="5F6B7A"/>
                </a:solidFill>
                <a:latin typeface="Arial"/>
                <a:cs typeface="Arial"/>
              </a:rPr>
              <a:t>2024 SCCM/ASHP guideline: treat by bleeding risk, not by being in the ICU.</a:t>
            </a:r>
          </a:p>
        </p:txBody>
      </p:sp>
      <p:sp>
        <p:nvSpPr>
          <p:cNvPr id="210" name="cardHi"/>
          <p:cNvSpPr/>
          <p:nvPr/>
        </p:nvSpPr>
        <p:spPr>
          <a:xfrm>
            <a:off x="812800" y="1498600"/>
            <a:ext cx="3657600" cy="1905000"/>
          </a:xfrm>
          <a:prstGeom prst="roundRect">
            <a:avLst>
              <a:gd name="adj" fmla="val 8000"/>
            </a:avLst>
          </a:prstGeom>
          <a:solidFill>
            <a:srgbClr val="EDE7FF"/>
          </a:solidFill>
          <a:ln w="19050">
            <a:solidFill>
              <a:srgbClr val="4A00E2"/>
            </a:solidFill>
          </a:ln>
        </p:spPr>
        <p:txBody>
          <a:bodyPr/>
          <a:lstStyle/>
          <a:p>
            <a:endParaRPr/>
          </a:p>
        </p:txBody>
      </p:sp>
      <p:sp>
        <p:nvSpPr>
          <p:cNvPr id="211" name="hiHead"/>
          <p:cNvSpPr txBox="1"/>
          <p:nvPr/>
        </p:nvSpPr>
        <p:spPr>
          <a:xfrm>
            <a:off x="1066800" y="1651000"/>
            <a:ext cx="3149600" cy="228600"/>
          </a:xfrm>
          <a:prstGeom prst="rect">
            <a:avLst/>
          </a:prstGeom>
          <a:noFill/>
        </p:spPr>
        <p:txBody>
          <a:bodyPr wrap="square" lIns="0" tIns="0" rIns="0" bIns="0" anchor="t">
            <a:noAutofit/>
          </a:bodyPr>
          <a:lstStyle/>
          <a:p>
            <a:pPr algn="l">
              <a:buNone/>
            </a:pPr>
            <a:r>
              <a:rPr lang="en-US" sz="1500" b="1" dirty="0">
                <a:solidFill>
                  <a:srgbClr val="4A00E2"/>
                </a:solidFill>
                <a:latin typeface="Arial"/>
                <a:cs typeface="Arial"/>
              </a:rPr>
              <a:t>Has a risk factor → give SUP</a:t>
            </a:r>
          </a:p>
        </p:txBody>
      </p:sp>
      <p:sp>
        <p:nvSpPr>
          <p:cNvPr id="212" name="hiBody"/>
          <p:cNvSpPr txBox="1"/>
          <p:nvPr/>
        </p:nvSpPr>
        <p:spPr>
          <a:xfrm>
            <a:off x="1066800" y="1981200"/>
            <a:ext cx="3175000" cy="1320800"/>
          </a:xfrm>
          <a:prstGeom prst="rect">
            <a:avLst/>
          </a:prstGeom>
          <a:noFill/>
        </p:spPr>
        <p:txBody>
          <a:bodyPr wrap="square" lIns="0" tIns="0" rIns="0" bIns="0" anchor="t">
            <a:noAutofit/>
          </a:bodyPr>
          <a:lstStyle/>
          <a:p>
            <a:pPr marL="171450" indent="-171450" algn="l">
              <a:buFont typeface="Arial"/>
              <a:buChar char="•"/>
            </a:pPr>
            <a:r>
              <a:rPr lang="en-US" sz="1300" dirty="0">
                <a:solidFill>
                  <a:srgbClr val="2A2340"/>
                </a:solidFill>
                <a:latin typeface="Arial"/>
                <a:cs typeface="Arial"/>
              </a:rPr>
              <a:t>Coagulopathy</a:t>
            </a:r>
          </a:p>
          <a:p>
            <a:pPr marL="171450" indent="-171450" algn="l">
              <a:buFont typeface="Arial"/>
              <a:buChar char="•"/>
            </a:pPr>
            <a:r>
              <a:rPr lang="en-US" sz="1300" dirty="0">
                <a:solidFill>
                  <a:srgbClr val="2A2340"/>
                </a:solidFill>
                <a:latin typeface="Arial"/>
                <a:cs typeface="Arial"/>
              </a:rPr>
              <a:t>Shock</a:t>
            </a:r>
          </a:p>
          <a:p>
            <a:pPr marL="171450" indent="-171450" algn="l">
              <a:buFont typeface="Arial"/>
              <a:buChar char="•"/>
            </a:pPr>
            <a:r>
              <a:rPr lang="en-US" sz="1300" dirty="0">
                <a:solidFill>
                  <a:srgbClr val="2A2340"/>
                </a:solidFill>
                <a:latin typeface="Arial"/>
                <a:cs typeface="Arial"/>
              </a:rPr>
              <a:t>Chronic liver disease</a:t>
            </a:r>
          </a:p>
          <a:p>
            <a:pPr marL="171450" indent="-171450" algn="l">
              <a:buFont typeface="Arial"/>
              <a:buChar char="•"/>
            </a:pPr>
            <a:r>
              <a:rPr lang="en-US" sz="1200" dirty="0">
                <a:solidFill>
                  <a:srgbClr val="4A4170"/>
                </a:solidFill>
                <a:latin typeface="Arial"/>
                <a:cs typeface="Arial"/>
              </a:rPr>
              <a:t>Then: low-dose PPI or H2RA</a:t>
            </a:r>
          </a:p>
        </p:txBody>
      </p:sp>
      <p:sp>
        <p:nvSpPr>
          <p:cNvPr id="220" name="cardLo"/>
          <p:cNvSpPr/>
          <p:nvPr/>
        </p:nvSpPr>
        <p:spPr>
          <a:xfrm>
            <a:off x="4673600" y="1498600"/>
            <a:ext cx="3657600" cy="1905000"/>
          </a:xfrm>
          <a:prstGeom prst="roundRect">
            <a:avLst>
              <a:gd name="adj" fmla="val 8000"/>
            </a:avLst>
          </a:prstGeom>
          <a:solidFill>
            <a:srgbClr val="F4F4F8"/>
          </a:solidFill>
          <a:ln w="19050">
            <a:solidFill>
              <a:srgbClr val="A8A0C8"/>
            </a:solidFill>
          </a:ln>
        </p:spPr>
        <p:txBody>
          <a:bodyPr/>
          <a:lstStyle/>
          <a:p>
            <a:endParaRPr/>
          </a:p>
        </p:txBody>
      </p:sp>
      <p:sp>
        <p:nvSpPr>
          <p:cNvPr id="221" name="loHead"/>
          <p:cNvSpPr txBox="1"/>
          <p:nvPr/>
        </p:nvSpPr>
        <p:spPr>
          <a:xfrm>
            <a:off x="4927600" y="1651000"/>
            <a:ext cx="3149600" cy="228600"/>
          </a:xfrm>
          <a:prstGeom prst="rect">
            <a:avLst/>
          </a:prstGeom>
          <a:noFill/>
        </p:spPr>
        <p:txBody>
          <a:bodyPr wrap="square" lIns="0" tIns="0" rIns="0" bIns="0" anchor="t">
            <a:noAutofit/>
          </a:bodyPr>
          <a:lstStyle/>
          <a:p>
            <a:pPr algn="l">
              <a:buNone/>
            </a:pPr>
            <a:r>
              <a:rPr lang="en-US" sz="1500" b="1" dirty="0">
                <a:solidFill>
                  <a:srgbClr val="110057"/>
                </a:solidFill>
                <a:latin typeface="Arial"/>
                <a:cs typeface="Arial"/>
              </a:rPr>
              <a:t>No risk factor → withhold</a:t>
            </a:r>
          </a:p>
        </p:txBody>
      </p:sp>
      <p:sp>
        <p:nvSpPr>
          <p:cNvPr id="222" name="loBody"/>
          <p:cNvSpPr txBox="1"/>
          <p:nvPr/>
        </p:nvSpPr>
        <p:spPr>
          <a:xfrm>
            <a:off x="4927600" y="1981200"/>
            <a:ext cx="3175000" cy="1320800"/>
          </a:xfrm>
          <a:prstGeom prst="rect">
            <a:avLst/>
          </a:prstGeom>
          <a:noFill/>
        </p:spPr>
        <p:txBody>
          <a:bodyPr wrap="square" lIns="0" tIns="0" rIns="0" bIns="0" anchor="t">
            <a:noAutofit/>
          </a:bodyPr>
          <a:lstStyle/>
          <a:p>
            <a:pPr marL="171450" indent="-171450" algn="l">
              <a:buFont typeface="Arial"/>
              <a:buChar char="•"/>
            </a:pPr>
            <a:r>
              <a:rPr lang="en-US" sz="1300" dirty="0">
                <a:solidFill>
                  <a:srgbClr val="2A2340"/>
                </a:solidFill>
                <a:latin typeface="Arial"/>
                <a:cs typeface="Arial"/>
              </a:rPr>
              <a:t>Ventilation alone is </a:t>
            </a:r>
            <a:r>
              <a:rPr lang="en-US" sz="1300" b="1" dirty="0">
                <a:solidFill>
                  <a:srgbClr val="2A2340"/>
                </a:solidFill>
                <a:latin typeface="Arial"/>
                <a:cs typeface="Arial"/>
              </a:rPr>
              <a:t>not </a:t>
            </a:r>
            <a:r>
              <a:rPr lang="en-US" sz="1300" dirty="0">
                <a:solidFill>
                  <a:srgbClr val="2A2340"/>
                </a:solidFill>
                <a:latin typeface="Arial"/>
                <a:cs typeface="Arial"/>
              </a:rPr>
              <a:t>sufficient risk</a:t>
            </a:r>
          </a:p>
          <a:p>
            <a:pPr marL="171450" indent="-171450" algn="l">
              <a:buFont typeface="Arial"/>
              <a:buChar char="•"/>
            </a:pPr>
            <a:r>
              <a:rPr lang="en-US" sz="1300" dirty="0">
                <a:solidFill>
                  <a:srgbClr val="2A2340"/>
                </a:solidFill>
                <a:latin typeface="Arial"/>
                <a:cs typeface="Arial"/>
              </a:rPr>
              <a:t>Enteral nutrition probably lowers risk</a:t>
            </a:r>
          </a:p>
          <a:p>
            <a:pPr marL="171450" indent="-171450" algn="l">
              <a:buFont typeface="Arial"/>
              <a:buChar char="•"/>
            </a:pPr>
            <a:r>
              <a:rPr lang="en-US" sz="1200" dirty="0">
                <a:solidFill>
                  <a:srgbClr val="4A4170"/>
                </a:solidFill>
                <a:latin typeface="Arial"/>
                <a:cs typeface="Arial"/>
              </a:rPr>
              <a:t>Then: stop SUP once risk factors resolve</a:t>
            </a:r>
          </a:p>
        </p:txBody>
      </p:sp>
      <p:sp>
        <p:nvSpPr>
          <p:cNvPr id="230" name="band"/>
          <p:cNvSpPr/>
          <p:nvPr/>
        </p:nvSpPr>
        <p:spPr>
          <a:xfrm>
            <a:off x="812800" y="3632200"/>
            <a:ext cx="7518400" cy="711200"/>
          </a:xfrm>
          <a:prstGeom prst="rect">
            <a:avLst/>
          </a:prstGeom>
          <a:solidFill>
            <a:srgbClr val="110057"/>
          </a:solidFill>
          <a:ln>
            <a:noFill/>
          </a:ln>
        </p:spPr>
        <p:txBody>
          <a:bodyPr/>
          <a:lstStyle/>
          <a:p>
            <a:endParaRPr/>
          </a:p>
        </p:txBody>
      </p:sp>
      <p:sp>
        <p:nvSpPr>
          <p:cNvPr id="231" name="bandtxt"/>
          <p:cNvSpPr txBox="1"/>
          <p:nvPr/>
        </p:nvSpPr>
        <p:spPr>
          <a:xfrm>
            <a:off x="1066800" y="3733800"/>
            <a:ext cx="7010400" cy="508000"/>
          </a:xfrm>
          <a:prstGeom prst="rect">
            <a:avLst/>
          </a:prstGeom>
          <a:noFill/>
        </p:spPr>
        <p:txBody>
          <a:bodyPr wrap="square" lIns="0" tIns="0" rIns="0" bIns="0" anchor="ctr">
            <a:noAutofit/>
          </a:bodyPr>
          <a:lstStyle/>
          <a:p>
            <a:pPr algn="l">
              <a:buNone/>
            </a:pPr>
            <a:r>
              <a:rPr lang="en-US" sz="1500" b="1" dirty="0">
                <a:solidFill>
                  <a:srgbClr val="FFFFFF"/>
                </a:solidFill>
                <a:latin typeface="Arial"/>
                <a:cs typeface="Arial"/>
              </a:rPr>
              <a:t>Same relative effect, applied by baseline risk: treat the high-risk, spare the low-risk (even patients the original trials enrolled).</a:t>
            </a:r>
          </a:p>
        </p:txBody>
      </p:sp>
      <p:sp>
        <p:nvSpPr>
          <p:cNvPr id="232" name="footer"/>
          <p:cNvSpPr txBox="1"/>
          <p:nvPr/>
        </p:nvSpPr>
        <p:spPr>
          <a:xfrm>
            <a:off x="635000" y="4902200"/>
            <a:ext cx="7112000" cy="152400"/>
          </a:xfrm>
          <a:prstGeom prst="rect">
            <a:avLst/>
          </a:prstGeom>
          <a:noFill/>
        </p:spPr>
        <p:txBody>
          <a:bodyPr wrap="square" lIns="0" tIns="0" rIns="0" bIns="0" anchor="t">
            <a:noAutofit/>
          </a:bodyPr>
          <a:lstStyle/>
          <a:p>
            <a:pPr algn="l">
              <a:buNone/>
            </a:pPr>
            <a:r>
              <a:rPr lang="en-US" sz="900" dirty="0">
                <a:solidFill>
                  <a:srgbClr val="8A829E"/>
                </a:solidFill>
                <a:latin typeface="Arial"/>
                <a:cs typeface="Arial"/>
              </a:rPr>
              <a:t>MacLaren et al., Crit Care Med 2024;52(8):e421–e430 (SCCM/ASHP).</a:t>
            </a:r>
          </a:p>
        </p:txBody>
      </p:sp>
    </p:spTree>
    <p:extLst>
      <p:ext uri="{BB962C8B-B14F-4D97-AF65-F5344CB8AC3E}">
        <p14:creationId xmlns:p14="http://schemas.microsoft.com/office/powerpoint/2010/main" val="3557143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bg"/>
          <p:cNvSpPr/>
          <p:nvPr/>
        </p:nvSpPr>
        <p:spPr>
          <a:xfrm>
            <a:off x="0" y="0"/>
            <a:ext cx="9144000" cy="5143500"/>
          </a:xfrm>
          <a:prstGeom prst="rect">
            <a:avLst/>
          </a:prstGeom>
          <a:solidFill>
            <a:srgbClr val="FFFFFF"/>
          </a:solidFill>
          <a:ln>
            <a:noFill/>
          </a:ln>
        </p:spPr>
        <p:txBody>
          <a:bodyPr lIns="0" tIns="0" rIns="0" bIns="0" anchor="t"/>
          <a:lstStyle/>
          <a:p>
            <a:endParaRPr/>
          </a:p>
        </p:txBody>
      </p:sp>
      <p:sp>
        <p:nvSpPr>
          <p:cNvPr id="201" name="accent"/>
          <p:cNvSpPr/>
          <p:nvPr/>
        </p:nvSpPr>
        <p:spPr>
          <a:xfrm>
            <a:off x="368300" y="749300"/>
            <a:ext cx="63500" cy="3644900"/>
          </a:xfrm>
          <a:prstGeom prst="rect">
            <a:avLst/>
          </a:prstGeom>
          <a:solidFill>
            <a:srgbClr val="4A00E2"/>
          </a:solidFill>
          <a:ln>
            <a:noFill/>
          </a:ln>
        </p:spPr>
        <p:txBody>
          <a:bodyPr lIns="0" tIns="0" rIns="0" bIns="0" anchor="t"/>
          <a:lstStyle/>
          <a:p>
            <a:endParaRPr/>
          </a:p>
        </p:txBody>
      </p:sp>
      <p:sp>
        <p:nvSpPr>
          <p:cNvPr id="202" name="eyebrow"/>
          <p:cNvSpPr/>
          <p:nvPr/>
        </p:nvSpPr>
        <p:spPr>
          <a:xfrm>
            <a:off x="635000" y="304800"/>
            <a:ext cx="6350000" cy="203200"/>
          </a:xfrm>
          <a:prstGeom prst="rect">
            <a:avLst/>
          </a:prstGeom>
          <a:noFill/>
          <a:ln>
            <a:noFill/>
          </a:ln>
        </p:spPr>
        <p:txBody>
          <a:bodyPr lIns="0" tIns="0" rIns="0" bIns="0" anchor="t"/>
          <a:lstStyle/>
          <a:p>
            <a:pPr algn="l"/>
            <a:r>
              <a:rPr lang="en-US" sz="1100" b="1" dirty="0">
                <a:solidFill>
                  <a:srgbClr val="4A00E2"/>
                </a:solidFill>
                <a:latin typeface="Arial"/>
                <a:cs typeface="Arial"/>
              </a:rPr>
              <a:t>ACT | RISK MODELING VS EFFECT MODELING</a:t>
            </a:r>
          </a:p>
        </p:txBody>
      </p:sp>
      <p:sp>
        <p:nvSpPr>
          <p:cNvPr id="203" name="title"/>
          <p:cNvSpPr/>
          <p:nvPr/>
        </p:nvSpPr>
        <p:spPr>
          <a:xfrm>
            <a:off x="635000" y="533400"/>
            <a:ext cx="7874000" cy="508000"/>
          </a:xfrm>
          <a:prstGeom prst="rect">
            <a:avLst/>
          </a:prstGeom>
          <a:noFill/>
          <a:ln>
            <a:noFill/>
          </a:ln>
        </p:spPr>
        <p:txBody>
          <a:bodyPr lIns="0" tIns="0" rIns="0" bIns="0" anchor="t"/>
          <a:lstStyle/>
          <a:p>
            <a:pPr algn="l"/>
            <a:r>
              <a:rPr lang="en-US" sz="2400" b="1" dirty="0">
                <a:solidFill>
                  <a:srgbClr val="110057"/>
                </a:solidFill>
                <a:latin typeface="Arial"/>
                <a:cs typeface="Arial"/>
              </a:rPr>
              <a:t>Effect modeling asks a </a:t>
            </a:r>
            <a:r>
              <a:rPr lang="en-US" sz="2400" b="1" u="sng" dirty="0">
                <a:solidFill>
                  <a:srgbClr val="110057"/>
                </a:solidFill>
                <a:latin typeface="Arial"/>
                <a:cs typeface="Arial"/>
              </a:rPr>
              <a:t>much </a:t>
            </a:r>
            <a:r>
              <a:rPr lang="en-US" sz="2400" b="1" dirty="0">
                <a:solidFill>
                  <a:srgbClr val="110057"/>
                </a:solidFill>
                <a:latin typeface="Arial"/>
                <a:cs typeface="Arial"/>
              </a:rPr>
              <a:t>harder question</a:t>
            </a:r>
          </a:p>
        </p:txBody>
      </p:sp>
      <p:sp>
        <p:nvSpPr>
          <p:cNvPr id="204" name="cardA"/>
          <p:cNvSpPr/>
          <p:nvPr/>
        </p:nvSpPr>
        <p:spPr>
          <a:xfrm>
            <a:off x="812800" y="1524000"/>
            <a:ext cx="3556000" cy="1498600"/>
          </a:xfrm>
          <a:prstGeom prst="roundRect">
            <a:avLst/>
          </a:prstGeom>
          <a:solidFill>
            <a:srgbClr val="F4F1FF"/>
          </a:solidFill>
          <a:ln w="12700">
            <a:solidFill>
              <a:srgbClr val="EDE7FF"/>
            </a:solidFill>
          </a:ln>
        </p:spPr>
        <p:txBody>
          <a:bodyPr lIns="0" tIns="0" rIns="0" bIns="0" anchor="t"/>
          <a:lstStyle/>
          <a:p>
            <a:endParaRPr/>
          </a:p>
        </p:txBody>
      </p:sp>
      <p:sp>
        <p:nvSpPr>
          <p:cNvPr id="205" name="cardB"/>
          <p:cNvSpPr/>
          <p:nvPr/>
        </p:nvSpPr>
        <p:spPr>
          <a:xfrm>
            <a:off x="4775200" y="1524000"/>
            <a:ext cx="3556000" cy="1498600"/>
          </a:xfrm>
          <a:prstGeom prst="roundRect">
            <a:avLst/>
          </a:prstGeom>
          <a:solidFill>
            <a:srgbClr val="F4F1FF"/>
          </a:solidFill>
          <a:ln w="12700">
            <a:solidFill>
              <a:srgbClr val="EDE7FF"/>
            </a:solidFill>
          </a:ln>
        </p:spPr>
        <p:txBody>
          <a:bodyPr lIns="0" tIns="0" rIns="0" bIns="0" anchor="t"/>
          <a:lstStyle/>
          <a:p>
            <a:endParaRPr/>
          </a:p>
        </p:txBody>
      </p:sp>
      <p:sp>
        <p:nvSpPr>
          <p:cNvPr id="206" name="cardAhead"/>
          <p:cNvSpPr/>
          <p:nvPr/>
        </p:nvSpPr>
        <p:spPr>
          <a:xfrm>
            <a:off x="1066800" y="1727200"/>
            <a:ext cx="3048000" cy="304800"/>
          </a:xfrm>
          <a:prstGeom prst="rect">
            <a:avLst/>
          </a:prstGeom>
          <a:noFill/>
          <a:ln>
            <a:noFill/>
          </a:ln>
        </p:spPr>
        <p:txBody>
          <a:bodyPr lIns="0" tIns="0" rIns="0" bIns="0" anchor="t"/>
          <a:lstStyle/>
          <a:p>
            <a:pPr algn="l"/>
            <a:r>
              <a:rPr lang="en-US" sz="1400" b="1" dirty="0">
                <a:solidFill>
                  <a:srgbClr val="110057"/>
                </a:solidFill>
                <a:latin typeface="Arial"/>
                <a:cs typeface="Arial"/>
              </a:rPr>
              <a:t>Patient group A</a:t>
            </a:r>
          </a:p>
        </p:txBody>
      </p:sp>
      <p:sp>
        <p:nvSpPr>
          <p:cNvPr id="207" name="cardAbody"/>
          <p:cNvSpPr/>
          <p:nvPr/>
        </p:nvSpPr>
        <p:spPr>
          <a:xfrm>
            <a:off x="1066800" y="2108200"/>
            <a:ext cx="3048000" cy="508000"/>
          </a:xfrm>
          <a:prstGeom prst="rect">
            <a:avLst/>
          </a:prstGeom>
          <a:noFill/>
          <a:ln>
            <a:noFill/>
          </a:ln>
        </p:spPr>
        <p:txBody>
          <a:bodyPr lIns="0" tIns="0" rIns="0" bIns="0" anchor="t"/>
          <a:lstStyle/>
          <a:p>
            <a:pPr algn="l"/>
            <a:r>
              <a:rPr lang="en-US" sz="1600" dirty="0">
                <a:solidFill>
                  <a:srgbClr val="4A4170"/>
                </a:solidFill>
                <a:latin typeface="Arial"/>
                <a:cs typeface="Arial"/>
              </a:rPr>
              <a:t>Treatment helps a lot</a:t>
            </a:r>
          </a:p>
        </p:txBody>
      </p:sp>
      <p:sp>
        <p:nvSpPr>
          <p:cNvPr id="208" name="cardBhead"/>
          <p:cNvSpPr/>
          <p:nvPr/>
        </p:nvSpPr>
        <p:spPr>
          <a:xfrm>
            <a:off x="5029200" y="1727200"/>
            <a:ext cx="3048000" cy="304800"/>
          </a:xfrm>
          <a:prstGeom prst="rect">
            <a:avLst/>
          </a:prstGeom>
          <a:noFill/>
          <a:ln>
            <a:noFill/>
          </a:ln>
        </p:spPr>
        <p:txBody>
          <a:bodyPr lIns="0" tIns="0" rIns="0" bIns="0" anchor="t"/>
          <a:lstStyle/>
          <a:p>
            <a:pPr algn="l"/>
            <a:r>
              <a:rPr lang="en-US" sz="1400" b="1" dirty="0">
                <a:solidFill>
                  <a:srgbClr val="110057"/>
                </a:solidFill>
                <a:latin typeface="Arial"/>
                <a:cs typeface="Arial"/>
              </a:rPr>
              <a:t>Patient group B</a:t>
            </a:r>
          </a:p>
        </p:txBody>
      </p:sp>
      <p:sp>
        <p:nvSpPr>
          <p:cNvPr id="209" name="cardBbody"/>
          <p:cNvSpPr/>
          <p:nvPr/>
        </p:nvSpPr>
        <p:spPr>
          <a:xfrm>
            <a:off x="5029200" y="2108200"/>
            <a:ext cx="3048000" cy="508000"/>
          </a:xfrm>
          <a:prstGeom prst="rect">
            <a:avLst/>
          </a:prstGeom>
          <a:noFill/>
          <a:ln>
            <a:noFill/>
          </a:ln>
        </p:spPr>
        <p:txBody>
          <a:bodyPr lIns="0" tIns="0" rIns="0" bIns="0" anchor="t"/>
          <a:lstStyle/>
          <a:p>
            <a:pPr algn="l"/>
            <a:r>
              <a:rPr lang="en-US" sz="1600" dirty="0">
                <a:solidFill>
                  <a:srgbClr val="4A4170"/>
                </a:solidFill>
                <a:latin typeface="Arial"/>
                <a:cs typeface="Arial"/>
              </a:rPr>
              <a:t>Treatment helps little — or harms</a:t>
            </a:r>
          </a:p>
        </p:txBody>
      </p:sp>
      <p:sp>
        <p:nvSpPr>
          <p:cNvPr id="210" name="dotA"/>
          <p:cNvSpPr/>
          <p:nvPr/>
        </p:nvSpPr>
        <p:spPr>
          <a:xfrm>
            <a:off x="1397000" y="2794000"/>
            <a:ext cx="177800" cy="177800"/>
          </a:xfrm>
          <a:prstGeom prst="ellipse">
            <a:avLst/>
          </a:prstGeom>
          <a:solidFill>
            <a:srgbClr val="4A00E2"/>
          </a:solidFill>
          <a:ln>
            <a:noFill/>
          </a:ln>
        </p:spPr>
        <p:txBody>
          <a:bodyPr lIns="0" tIns="0" rIns="0" bIns="0" anchor="t"/>
          <a:lstStyle/>
          <a:p>
            <a:endParaRPr/>
          </a:p>
        </p:txBody>
      </p:sp>
      <p:sp>
        <p:nvSpPr>
          <p:cNvPr id="211" name="dotA"/>
          <p:cNvSpPr/>
          <p:nvPr/>
        </p:nvSpPr>
        <p:spPr>
          <a:xfrm>
            <a:off x="1676400" y="2794000"/>
            <a:ext cx="177800" cy="177800"/>
          </a:xfrm>
          <a:prstGeom prst="ellipse">
            <a:avLst/>
          </a:prstGeom>
          <a:solidFill>
            <a:srgbClr val="4A00E2"/>
          </a:solidFill>
          <a:ln>
            <a:noFill/>
          </a:ln>
        </p:spPr>
        <p:txBody>
          <a:bodyPr lIns="0" tIns="0" rIns="0" bIns="0" anchor="t"/>
          <a:lstStyle/>
          <a:p>
            <a:endParaRPr/>
          </a:p>
        </p:txBody>
      </p:sp>
      <p:sp>
        <p:nvSpPr>
          <p:cNvPr id="212" name="dotA"/>
          <p:cNvSpPr/>
          <p:nvPr/>
        </p:nvSpPr>
        <p:spPr>
          <a:xfrm>
            <a:off x="1955800" y="2794000"/>
            <a:ext cx="177800" cy="177800"/>
          </a:xfrm>
          <a:prstGeom prst="ellipse">
            <a:avLst/>
          </a:prstGeom>
          <a:solidFill>
            <a:srgbClr val="4A00E2"/>
          </a:solidFill>
          <a:ln>
            <a:noFill/>
          </a:ln>
        </p:spPr>
        <p:txBody>
          <a:bodyPr lIns="0" tIns="0" rIns="0" bIns="0" anchor="t"/>
          <a:lstStyle/>
          <a:p>
            <a:endParaRPr/>
          </a:p>
        </p:txBody>
      </p:sp>
      <p:sp>
        <p:nvSpPr>
          <p:cNvPr id="213" name="dotA"/>
          <p:cNvSpPr/>
          <p:nvPr/>
        </p:nvSpPr>
        <p:spPr>
          <a:xfrm>
            <a:off x="2235200" y="2794000"/>
            <a:ext cx="177800" cy="177800"/>
          </a:xfrm>
          <a:prstGeom prst="ellipse">
            <a:avLst/>
          </a:prstGeom>
          <a:solidFill>
            <a:srgbClr val="4A00E2"/>
          </a:solidFill>
          <a:ln>
            <a:noFill/>
          </a:ln>
        </p:spPr>
        <p:txBody>
          <a:bodyPr lIns="0" tIns="0" rIns="0" bIns="0" anchor="t"/>
          <a:lstStyle/>
          <a:p>
            <a:endParaRPr/>
          </a:p>
        </p:txBody>
      </p:sp>
      <p:sp>
        <p:nvSpPr>
          <p:cNvPr id="214" name="dotB"/>
          <p:cNvSpPr/>
          <p:nvPr/>
        </p:nvSpPr>
        <p:spPr>
          <a:xfrm>
            <a:off x="5359400" y="2794000"/>
            <a:ext cx="177800" cy="177800"/>
          </a:xfrm>
          <a:prstGeom prst="ellipse">
            <a:avLst/>
          </a:prstGeom>
          <a:solidFill>
            <a:srgbClr val="4A00E2"/>
          </a:solidFill>
          <a:ln>
            <a:noFill/>
          </a:ln>
        </p:spPr>
        <p:txBody>
          <a:bodyPr lIns="0" tIns="0" rIns="0" bIns="0" anchor="t"/>
          <a:lstStyle/>
          <a:p>
            <a:endParaRPr/>
          </a:p>
        </p:txBody>
      </p:sp>
      <p:sp>
        <p:nvSpPr>
          <p:cNvPr id="215" name="dotB"/>
          <p:cNvSpPr/>
          <p:nvPr/>
        </p:nvSpPr>
        <p:spPr>
          <a:xfrm>
            <a:off x="5638800" y="2794000"/>
            <a:ext cx="177800" cy="177800"/>
          </a:xfrm>
          <a:prstGeom prst="ellipse">
            <a:avLst/>
          </a:prstGeom>
          <a:solidFill>
            <a:srgbClr val="4A00E2"/>
          </a:solidFill>
          <a:ln>
            <a:noFill/>
          </a:ln>
        </p:spPr>
        <p:txBody>
          <a:bodyPr lIns="0" tIns="0" rIns="0" bIns="0" anchor="t"/>
          <a:lstStyle/>
          <a:p>
            <a:endParaRPr/>
          </a:p>
        </p:txBody>
      </p:sp>
      <p:sp>
        <p:nvSpPr>
          <p:cNvPr id="216" name="dotB"/>
          <p:cNvSpPr/>
          <p:nvPr/>
        </p:nvSpPr>
        <p:spPr>
          <a:xfrm>
            <a:off x="5918200" y="2794000"/>
            <a:ext cx="177800" cy="177800"/>
          </a:xfrm>
          <a:prstGeom prst="ellipse">
            <a:avLst/>
          </a:prstGeom>
          <a:solidFill>
            <a:srgbClr val="4A00E2"/>
          </a:solidFill>
          <a:ln>
            <a:noFill/>
          </a:ln>
        </p:spPr>
        <p:txBody>
          <a:bodyPr lIns="0" tIns="0" rIns="0" bIns="0" anchor="t"/>
          <a:lstStyle/>
          <a:p>
            <a:endParaRPr/>
          </a:p>
        </p:txBody>
      </p:sp>
      <p:sp>
        <p:nvSpPr>
          <p:cNvPr id="217" name="dotB"/>
          <p:cNvSpPr/>
          <p:nvPr/>
        </p:nvSpPr>
        <p:spPr>
          <a:xfrm>
            <a:off x="6197600" y="2794000"/>
            <a:ext cx="177800" cy="177800"/>
          </a:xfrm>
          <a:prstGeom prst="ellipse">
            <a:avLst/>
          </a:prstGeom>
          <a:solidFill>
            <a:srgbClr val="4A00E2"/>
          </a:solidFill>
          <a:ln>
            <a:noFill/>
          </a:ln>
        </p:spPr>
        <p:txBody>
          <a:bodyPr lIns="0" tIns="0" rIns="0" bIns="0" anchor="t"/>
          <a:lstStyle/>
          <a:p>
            <a:endParaRPr/>
          </a:p>
        </p:txBody>
      </p:sp>
      <p:sp>
        <p:nvSpPr>
          <p:cNvPr id="218" name="arrowA"/>
          <p:cNvSpPr/>
          <p:nvPr/>
        </p:nvSpPr>
        <p:spPr>
          <a:xfrm>
            <a:off x="1524000" y="3073400"/>
            <a:ext cx="2032000" cy="177800"/>
          </a:xfrm>
          <a:prstGeom prst="rightArrow">
            <a:avLst/>
          </a:prstGeom>
          <a:solidFill>
            <a:srgbClr val="70C18A"/>
          </a:solidFill>
          <a:ln>
            <a:noFill/>
          </a:ln>
        </p:spPr>
        <p:txBody>
          <a:bodyPr lIns="0" tIns="0" rIns="0" bIns="0" anchor="t"/>
          <a:lstStyle/>
          <a:p>
            <a:endParaRPr/>
          </a:p>
        </p:txBody>
      </p:sp>
      <p:sp>
        <p:nvSpPr>
          <p:cNvPr id="219" name="arrowB"/>
          <p:cNvSpPr/>
          <p:nvPr/>
        </p:nvSpPr>
        <p:spPr>
          <a:xfrm>
            <a:off x="5486400" y="3073400"/>
            <a:ext cx="1016000" cy="177800"/>
          </a:xfrm>
          <a:prstGeom prst="rightArrow">
            <a:avLst/>
          </a:prstGeom>
          <a:solidFill>
            <a:srgbClr val="FF8A8F"/>
          </a:solidFill>
          <a:ln>
            <a:noFill/>
          </a:ln>
        </p:spPr>
        <p:txBody>
          <a:bodyPr lIns="0" tIns="0" rIns="0" bIns="0" anchor="t"/>
          <a:lstStyle/>
          <a:p>
            <a:endParaRPr/>
          </a:p>
        </p:txBody>
      </p:sp>
      <p:sp>
        <p:nvSpPr>
          <p:cNvPr id="220" name="bigline"/>
          <p:cNvSpPr/>
          <p:nvPr/>
        </p:nvSpPr>
        <p:spPr>
          <a:xfrm>
            <a:off x="635000" y="1117600"/>
            <a:ext cx="7874000" cy="279400"/>
          </a:xfrm>
          <a:prstGeom prst="rect">
            <a:avLst/>
          </a:prstGeom>
          <a:noFill/>
          <a:ln>
            <a:noFill/>
          </a:ln>
        </p:spPr>
        <p:txBody>
          <a:bodyPr lIns="0" tIns="0" rIns="0" bIns="0" anchor="t"/>
          <a:lstStyle/>
          <a:p>
            <a:pPr algn="l">
              <a:buNone/>
            </a:pPr>
            <a:r>
              <a:rPr lang="en-US" sz="1500" b="1" dirty="0">
                <a:solidFill>
                  <a:srgbClr val="4A00E2"/>
                </a:solidFill>
                <a:latin typeface="Arial"/>
                <a:cs typeface="Arial"/>
              </a:rPr>
              <a:t>Does the treatment work differently for different kinds of patients?</a:t>
            </a:r>
          </a:p>
        </p:txBody>
      </p:sp>
      <p:sp>
        <p:nvSpPr>
          <p:cNvPr id="222" name="footer"/>
          <p:cNvSpPr/>
          <p:nvPr/>
        </p:nvSpPr>
        <p:spPr>
          <a:xfrm>
            <a:off x="635000" y="4876800"/>
            <a:ext cx="6350000" cy="152400"/>
          </a:xfrm>
          <a:prstGeom prst="rect">
            <a:avLst/>
          </a:prstGeom>
          <a:noFill/>
          <a:ln>
            <a:noFill/>
          </a:ln>
        </p:spPr>
        <p:txBody>
          <a:bodyPr lIns="0" tIns="0" rIns="0" bIns="0" anchor="t"/>
          <a:lstStyle/>
          <a:p>
            <a:pPr algn="l"/>
            <a:r>
              <a:rPr lang="en-US" sz="800" dirty="0">
                <a:solidFill>
                  <a:srgbClr val="6F6689"/>
                </a:solidFill>
                <a:latin typeface="Arial"/>
                <a:cs typeface="Arial"/>
              </a:rPr>
              <a:t>Kent 2023; Annual Review Biomed Data Science 2025</a:t>
            </a:r>
          </a:p>
        </p:txBody>
      </p:sp>
      <p:sp>
        <p:nvSpPr>
          <p:cNvPr id="230" name="co1bg"/>
          <p:cNvSpPr/>
          <p:nvPr/>
        </p:nvSpPr>
        <p:spPr>
          <a:xfrm>
            <a:off x="812800" y="3175000"/>
            <a:ext cx="3657600" cy="1270000"/>
          </a:xfrm>
          <a:prstGeom prst="roundRect">
            <a:avLst>
              <a:gd name="adj" fmla="val 7000"/>
            </a:avLst>
          </a:prstGeom>
          <a:solidFill>
            <a:srgbClr val="F2F0FB"/>
          </a:solidFill>
          <a:ln>
            <a:noFill/>
          </a:ln>
        </p:spPr>
        <p:txBody>
          <a:bodyPr/>
          <a:lstStyle/>
          <a:p>
            <a:endParaRPr/>
          </a:p>
        </p:txBody>
      </p:sp>
      <p:sp>
        <p:nvSpPr>
          <p:cNvPr id="232" name="co2bg"/>
          <p:cNvSpPr/>
          <p:nvPr/>
        </p:nvSpPr>
        <p:spPr>
          <a:xfrm>
            <a:off x="4673600" y="3175000"/>
            <a:ext cx="3657600" cy="1270000"/>
          </a:xfrm>
          <a:prstGeom prst="roundRect">
            <a:avLst>
              <a:gd name="adj" fmla="val 7000"/>
            </a:avLst>
          </a:prstGeom>
          <a:solidFill>
            <a:srgbClr val="FDEEEC"/>
          </a:solidFill>
          <a:ln>
            <a:noFill/>
          </a:ln>
        </p:spPr>
        <p:txBody>
          <a:bodyPr/>
          <a:lstStyle/>
          <a:p>
            <a:endParaRPr/>
          </a:p>
        </p:txBody>
      </p:sp>
      <p:sp>
        <p:nvSpPr>
          <p:cNvPr id="233" name="co2"/>
          <p:cNvSpPr txBox="1"/>
          <p:nvPr/>
        </p:nvSpPr>
        <p:spPr>
          <a:xfrm>
            <a:off x="4902200" y="3327400"/>
            <a:ext cx="3200400" cy="1041400"/>
          </a:xfrm>
          <a:prstGeom prst="rect">
            <a:avLst/>
          </a:prstGeom>
          <a:noFill/>
        </p:spPr>
        <p:txBody>
          <a:bodyPr wrap="square" lIns="0" tIns="0" rIns="0" bIns="0" anchor="t">
            <a:noAutofit/>
          </a:bodyPr>
          <a:lstStyle/>
          <a:p>
            <a:pPr algn="l">
              <a:buNone/>
            </a:pPr>
            <a:r>
              <a:rPr lang="en-US" sz="1400" b="1" dirty="0">
                <a:solidFill>
                  <a:srgbClr val="C2410C"/>
                </a:solidFill>
                <a:latin typeface="Arial"/>
                <a:cs typeface="Arial"/>
              </a:rPr>
              <a:t>Needs a strong prior</a:t>
            </a:r>
          </a:p>
          <a:p>
            <a:pPr algn="l">
              <a:lnSpc>
                <a:spcPts val="1450"/>
              </a:lnSpc>
              <a:spcBef>
                <a:spcPts val="200"/>
              </a:spcBef>
              <a:buNone/>
            </a:pPr>
            <a:r>
              <a:rPr lang="en-US" sz="1300" dirty="0">
                <a:solidFill>
                  <a:srgbClr val="4A4170"/>
                </a:solidFill>
                <a:latin typeface="Arial"/>
                <a:cs typeface="Arial"/>
              </a:rPr>
              <a:t>Search enough subgroups and differences appear by chance. Pursue effect modeling only with a real biological reason to expect it.</a:t>
            </a:r>
          </a:p>
        </p:txBody>
      </p:sp>
      <p:sp>
        <p:nvSpPr>
          <p:cNvPr id="221" name="smallline"/>
          <p:cNvSpPr/>
          <p:nvPr/>
        </p:nvSpPr>
        <p:spPr>
          <a:xfrm>
            <a:off x="1041400" y="3327400"/>
            <a:ext cx="3200400" cy="1041400"/>
          </a:xfrm>
          <a:prstGeom prst="rect">
            <a:avLst/>
          </a:prstGeom>
          <a:noFill/>
          <a:ln>
            <a:noFill/>
          </a:ln>
        </p:spPr>
        <p:txBody>
          <a:bodyPr lIns="0" tIns="0" rIns="0" bIns="0" anchor="t"/>
          <a:lstStyle/>
          <a:p>
            <a:pPr algn="l">
              <a:buNone/>
            </a:pPr>
            <a:r>
              <a:rPr lang="en-US" sz="1400" b="1" dirty="0">
                <a:solidFill>
                  <a:srgbClr val="4A00E2"/>
                </a:solidFill>
                <a:latin typeface="Arial"/>
                <a:cs typeface="Arial"/>
              </a:rPr>
              <a:t>Sample size explodes</a:t>
            </a:r>
          </a:p>
          <a:p>
            <a:pPr algn="l">
              <a:lnSpc>
                <a:spcPts val="1450"/>
              </a:lnSpc>
              <a:spcBef>
                <a:spcPts val="200"/>
              </a:spcBef>
              <a:buNone/>
            </a:pPr>
            <a:r>
              <a:rPr lang="en-US" sz="1300" dirty="0">
                <a:solidFill>
                  <a:srgbClr val="4A4170"/>
                </a:solidFill>
                <a:latin typeface="Arial"/>
                <a:cs typeface="Arial"/>
              </a:rPr>
              <a:t>Like a subgroup analysis, you must estimate the effect AND how it differs — two sources of variance. Often 4×+ the sample.</a:t>
            </a:r>
          </a:p>
        </p:txBody>
      </p:sp>
    </p:spTree>
    <p:extLst>
      <p:ext uri="{BB962C8B-B14F-4D97-AF65-F5344CB8AC3E}">
        <p14:creationId xmlns:p14="http://schemas.microsoft.com/office/powerpoint/2010/main" val="64604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bg"/>
          <p:cNvSpPr/>
          <p:nvPr/>
        </p:nvSpPr>
        <p:spPr>
          <a:xfrm>
            <a:off x="0" y="0"/>
            <a:ext cx="9144000" cy="5143500"/>
          </a:xfrm>
          <a:prstGeom prst="rect">
            <a:avLst/>
          </a:prstGeom>
          <a:solidFill>
            <a:srgbClr val="FFFFFF"/>
          </a:solidFill>
          <a:ln>
            <a:noFill/>
          </a:ln>
        </p:spPr>
        <p:txBody>
          <a:bodyPr/>
          <a:lstStyle/>
          <a:p>
            <a:endParaRPr/>
          </a:p>
        </p:txBody>
      </p:sp>
      <p:sp>
        <p:nvSpPr>
          <p:cNvPr id="601" name="accent"/>
          <p:cNvSpPr/>
          <p:nvPr/>
        </p:nvSpPr>
        <p:spPr>
          <a:xfrm>
            <a:off x="368300" y="749300"/>
            <a:ext cx="63500" cy="3644900"/>
          </a:xfrm>
          <a:prstGeom prst="rect">
            <a:avLst/>
          </a:prstGeom>
          <a:solidFill>
            <a:srgbClr val="4A00E2"/>
          </a:solidFill>
          <a:ln>
            <a:noFill/>
          </a:ln>
        </p:spPr>
        <p:txBody>
          <a:bodyPr/>
          <a:lstStyle/>
          <a:p>
            <a:endParaRPr/>
          </a:p>
        </p:txBody>
      </p:sp>
      <p:sp>
        <p:nvSpPr>
          <p:cNvPr id="602" name="eyebrow"/>
          <p:cNvSpPr txBox="1"/>
          <p:nvPr/>
        </p:nvSpPr>
        <p:spPr>
          <a:xfrm>
            <a:off x="635000" y="304800"/>
            <a:ext cx="6350000" cy="203200"/>
          </a:xfrm>
          <a:prstGeom prst="rect">
            <a:avLst/>
          </a:prstGeom>
          <a:noFill/>
        </p:spPr>
        <p:txBody>
          <a:bodyPr wrap="square" lIns="0" tIns="0" rIns="0" bIns="0" anchor="t">
            <a:noAutofit/>
          </a:bodyPr>
          <a:lstStyle/>
          <a:p>
            <a:pPr algn="l"/>
            <a:r>
              <a:rPr lang="en-US" sz="1100" b="1" dirty="0">
                <a:solidFill>
                  <a:srgbClr val="4A00E2"/>
                </a:solidFill>
                <a:latin typeface="Arial"/>
                <a:cs typeface="Arial"/>
              </a:rPr>
              <a:t>ACT | RISK MODELING VS EFFECT MODELING</a:t>
            </a:r>
          </a:p>
        </p:txBody>
      </p:sp>
      <p:sp>
        <p:nvSpPr>
          <p:cNvPr id="603" name="title"/>
          <p:cNvSpPr txBox="1"/>
          <p:nvPr/>
        </p:nvSpPr>
        <p:spPr>
          <a:xfrm>
            <a:off x="635000" y="533400"/>
            <a:ext cx="8128000" cy="508000"/>
          </a:xfrm>
          <a:prstGeom prst="rect">
            <a:avLst/>
          </a:prstGeom>
          <a:noFill/>
        </p:spPr>
        <p:txBody>
          <a:bodyPr wrap="square" lIns="0" tIns="0" rIns="0" bIns="0" anchor="t">
            <a:noAutofit/>
          </a:bodyPr>
          <a:lstStyle/>
          <a:p>
            <a:pPr algn="l"/>
            <a:r>
              <a:rPr lang="en-US" sz="2400" b="1" dirty="0">
                <a:solidFill>
                  <a:srgbClr val="110057"/>
                </a:solidFill>
                <a:latin typeface="Arial"/>
                <a:cs typeface="Arial"/>
              </a:rPr>
              <a:t>Risk first. Effect models when evidence supports them.</a:t>
            </a:r>
          </a:p>
        </p:txBody>
      </p:sp>
      <p:sp>
        <p:nvSpPr>
          <p:cNvPr id="620" name="rung"/>
          <p:cNvSpPr/>
          <p:nvPr/>
        </p:nvSpPr>
        <p:spPr>
          <a:xfrm>
            <a:off x="3251200" y="1244600"/>
            <a:ext cx="5080000" cy="736600"/>
          </a:xfrm>
          <a:prstGeom prst="roundRect">
            <a:avLst>
              <a:gd name="adj" fmla="val 8000"/>
            </a:avLst>
          </a:prstGeom>
          <a:solidFill>
            <a:srgbClr val="F2F0FB"/>
          </a:solidFill>
          <a:ln>
            <a:noFill/>
          </a:ln>
        </p:spPr>
        <p:txBody>
          <a:bodyPr wrap="square" lIns="182880" tIns="45720" rIns="91440" bIns="45720" anchor="ctr"/>
          <a:lstStyle/>
          <a:p>
            <a:pPr algn="l"/>
            <a:r>
              <a:rPr lang="en-US" sz="1500" b="1" dirty="0">
                <a:solidFill>
                  <a:srgbClr val="110057"/>
                </a:solidFill>
                <a:latin typeface="Arial"/>
                <a:cs typeface="Arial"/>
              </a:rPr>
              <a:t>Effect modeling</a:t>
            </a:r>
          </a:p>
          <a:p>
            <a:pPr algn="l"/>
            <a:r>
              <a:rPr lang="en-US" sz="1200" dirty="0">
                <a:solidFill>
                  <a:srgbClr val="4A4170"/>
                </a:solidFill>
                <a:latin typeface="Arial"/>
                <a:cs typeface="Arial"/>
              </a:rPr>
              <a:t>Does treatment response truly differ?</a:t>
            </a:r>
          </a:p>
        </p:txBody>
      </p:sp>
      <p:sp>
        <p:nvSpPr>
          <p:cNvPr id="621" name="rung"/>
          <p:cNvSpPr/>
          <p:nvPr/>
        </p:nvSpPr>
        <p:spPr>
          <a:xfrm>
            <a:off x="2006600" y="2133600"/>
            <a:ext cx="5080000" cy="736600"/>
          </a:xfrm>
          <a:prstGeom prst="roundRect">
            <a:avLst>
              <a:gd name="adj" fmla="val 8000"/>
            </a:avLst>
          </a:prstGeom>
          <a:solidFill>
            <a:srgbClr val="EDE7FF"/>
          </a:solidFill>
          <a:ln w="25400">
            <a:solidFill>
              <a:srgbClr val="4A00E2"/>
            </a:solidFill>
          </a:ln>
        </p:spPr>
        <p:txBody>
          <a:bodyPr wrap="square" lIns="182880" tIns="45720" rIns="91440" bIns="45720" anchor="ctr"/>
          <a:lstStyle/>
          <a:p>
            <a:pPr algn="l"/>
            <a:r>
              <a:rPr lang="en-US" sz="1500" b="1" dirty="0">
                <a:solidFill>
                  <a:srgbClr val="4A00E2"/>
                </a:solidFill>
                <a:latin typeface="Arial"/>
                <a:cs typeface="Arial"/>
              </a:rPr>
              <a:t>Risk modeling</a:t>
            </a:r>
          </a:p>
          <a:p>
            <a:pPr algn="l"/>
            <a:r>
              <a:rPr lang="en-US" sz="1200" dirty="0">
                <a:solidFill>
                  <a:srgbClr val="4A4170"/>
                </a:solidFill>
                <a:latin typeface="Arial"/>
                <a:cs typeface="Arial"/>
              </a:rPr>
              <a:t>What is expected benefit for patients like this?</a:t>
            </a:r>
          </a:p>
        </p:txBody>
      </p:sp>
      <p:sp>
        <p:nvSpPr>
          <p:cNvPr id="622" name="rung"/>
          <p:cNvSpPr/>
          <p:nvPr/>
        </p:nvSpPr>
        <p:spPr>
          <a:xfrm>
            <a:off x="762000" y="3022600"/>
            <a:ext cx="5080000" cy="736600"/>
          </a:xfrm>
          <a:prstGeom prst="roundRect">
            <a:avLst>
              <a:gd name="adj" fmla="val 8000"/>
            </a:avLst>
          </a:prstGeom>
          <a:solidFill>
            <a:srgbClr val="F4F4F8"/>
          </a:solidFill>
          <a:ln>
            <a:noFill/>
          </a:ln>
        </p:spPr>
        <p:txBody>
          <a:bodyPr wrap="square" lIns="182880" tIns="45720" rIns="91440" bIns="45720" anchor="ctr"/>
          <a:lstStyle/>
          <a:p>
            <a:pPr algn="l"/>
            <a:r>
              <a:rPr lang="en-US" sz="1500" b="1" dirty="0">
                <a:solidFill>
                  <a:srgbClr val="110057"/>
                </a:solidFill>
                <a:latin typeface="Arial"/>
                <a:cs typeface="Arial"/>
              </a:rPr>
              <a:t>Average trial result</a:t>
            </a:r>
          </a:p>
          <a:p>
            <a:pPr algn="l"/>
            <a:r>
              <a:rPr lang="en-US" sz="1200" dirty="0">
                <a:solidFill>
                  <a:srgbClr val="4A4170"/>
                </a:solidFill>
                <a:latin typeface="Arial"/>
                <a:cs typeface="Arial"/>
              </a:rPr>
              <a:t>What happened in the enrolled group?</a:t>
            </a:r>
          </a:p>
        </p:txBody>
      </p:sp>
      <p:sp>
        <p:nvSpPr>
          <p:cNvPr id="623" name="claimband"/>
          <p:cNvSpPr/>
          <p:nvPr/>
        </p:nvSpPr>
        <p:spPr>
          <a:xfrm>
            <a:off x="812800" y="3962400"/>
            <a:ext cx="7518400" cy="711200"/>
          </a:xfrm>
          <a:prstGeom prst="rect">
            <a:avLst/>
          </a:prstGeom>
          <a:solidFill>
            <a:srgbClr val="110057"/>
          </a:solidFill>
          <a:ln>
            <a:noFill/>
          </a:ln>
        </p:spPr>
        <p:txBody>
          <a:bodyPr wrap="square" lIns="182880" tIns="45720" rIns="91440" bIns="45720" anchor="ctr"/>
          <a:lstStyle/>
          <a:p>
            <a:pPr algn="l"/>
            <a:r>
              <a:rPr lang="en-US" sz="1500" b="1" dirty="0">
                <a:solidFill>
                  <a:srgbClr val="FFFFFF"/>
                </a:solidFill>
                <a:latin typeface="Arial"/>
                <a:cs typeface="Arial"/>
              </a:rPr>
              <a:t>Risk modeling is the first useful layer of personalization. </a:t>
            </a:r>
          </a:p>
          <a:p>
            <a:pPr algn="l"/>
            <a:r>
              <a:rPr lang="en-US" sz="1500" b="1" dirty="0">
                <a:solidFill>
                  <a:srgbClr val="C7B8FF"/>
                </a:solidFill>
                <a:latin typeface="Arial"/>
                <a:cs typeface="Arial"/>
              </a:rPr>
              <a:t>Effect modeling carries a higher evidence burden.</a:t>
            </a:r>
          </a:p>
        </p:txBody>
      </p:sp>
      <p:sp>
        <p:nvSpPr>
          <p:cNvPr id="624" name="footer"/>
          <p:cNvSpPr txBox="1"/>
          <p:nvPr/>
        </p:nvSpPr>
        <p:spPr>
          <a:xfrm>
            <a:off x="635000" y="4902200"/>
            <a:ext cx="6350000" cy="152400"/>
          </a:xfrm>
          <a:prstGeom prst="rect">
            <a:avLst/>
          </a:prstGeom>
          <a:noFill/>
        </p:spPr>
        <p:txBody>
          <a:bodyPr wrap="square" lIns="0" tIns="0" rIns="0" bIns="0" anchor="t">
            <a:noAutofit/>
          </a:bodyPr>
          <a:lstStyle/>
          <a:p>
            <a:pPr algn="l"/>
            <a:r>
              <a:rPr lang="en-US" sz="900" dirty="0">
                <a:solidFill>
                  <a:srgbClr val="8A82A8"/>
                </a:solidFill>
                <a:latin typeface="Arial"/>
                <a:cs typeface="Arial"/>
              </a:rPr>
              <a:t>Kent 2023; Senn 2015; PATH Statement</a:t>
            </a:r>
          </a:p>
        </p:txBody>
      </p:sp>
    </p:spTree>
    <p:extLst>
      <p:ext uri="{BB962C8B-B14F-4D97-AF65-F5344CB8AC3E}">
        <p14:creationId xmlns:p14="http://schemas.microsoft.com/office/powerpoint/2010/main" val="296864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51EC000-1E49-466B-BEA1-9F4BD4C16777}"/>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5E203415-8631-4D45-B864-E15895074ECB}"/>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731CF30B-EE7D-4EB8-B173-C5662BF75D5F}"/>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dirty="0">
                <a:solidFill>
                  <a:srgbClr val="4A00E2"/>
                </a:solidFill>
                <a:latin typeface="Arial"/>
                <a:ea typeface="Arial"/>
                <a:cs typeface="Arial"/>
              </a:rPr>
              <a:t>CLOSING SUMMARY</a:t>
            </a:r>
            <a:endParaRPr sz="1100" b="1" dirty="0">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BF6476A7-C17C-4204-8E6C-155A264709ED}"/>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a:bodyPr>
          <a:lstStyle/>
          <a:p>
            <a:pPr algn="l">
              <a:defRPr sz="2400" b="1">
                <a:solidFill>
                  <a:srgbClr val="110057"/>
                </a:solidFill>
                <a:latin typeface="Arial"/>
                <a:ea typeface="Arial"/>
                <a:cs typeface="Arial"/>
              </a:defRPr>
            </a:pPr>
            <a:r>
              <a:rPr lang="en-US" sz="2400" b="1">
                <a:solidFill>
                  <a:srgbClr val="110057"/>
                </a:solidFill>
                <a:latin typeface="Arial"/>
                <a:ea typeface="Arial"/>
                <a:cs typeface="Arial"/>
              </a:rPr>
              <a:t>Risk-first prediction is the practical path</a:t>
            </a:r>
            <a:endParaRPr sz="2400" b="1">
              <a:solidFill>
                <a:srgbClr val="110057"/>
              </a:solidFill>
              <a:latin typeface="Arial"/>
              <a:ea typeface="Arial"/>
              <a:cs typeface="Arial"/>
            </a:endParaRPr>
          </a:p>
        </p:txBody>
      </p:sp>
      <p:sp>
        <p:nvSpPr>
          <p:cNvPr id="6" name="Rectangle 5">
            <a:extLst>
              <a:ext uri="{FF2B5EF4-FFF2-40B4-BE49-F238E27FC236}">
                <a16:creationId xmlns:a16="http://schemas.microsoft.com/office/drawing/2014/main" id="{4C630CED-BB5B-406F-9A8E-DFEF9B6D5475}"/>
              </a:ext>
            </a:extLst>
          </p:cNvPr>
          <p:cNvSpPr>
            <a:spLocks noGrp="1"/>
          </p:cNvSpPr>
          <p:nvPr/>
        </p:nvSpPr>
        <p:spPr>
          <a:xfrm>
            <a:off x="876300" y="1143000"/>
            <a:ext cx="3238500" cy="125095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7" name="Rectangle 6">
            <a:extLst>
              <a:ext uri="{FF2B5EF4-FFF2-40B4-BE49-F238E27FC236}">
                <a16:creationId xmlns:a16="http://schemas.microsoft.com/office/drawing/2014/main" id="{97FCF467-448C-4622-A5BA-68637F85A2DC}"/>
              </a:ext>
            </a:extLst>
          </p:cNvPr>
          <p:cNvSpPr>
            <a:spLocks noGrp="1"/>
          </p:cNvSpPr>
          <p:nvPr/>
        </p:nvSpPr>
        <p:spPr>
          <a:xfrm>
            <a:off x="876300" y="1143000"/>
            <a:ext cx="66675" cy="1047750"/>
          </a:xfrm>
          <a:prstGeom prst="rect">
            <a:avLst/>
          </a:prstGeom>
          <a:solidFill>
            <a:srgbClr val="FF5D55"/>
          </a:solidFill>
          <a:ln w="0">
            <a:solidFill>
              <a:srgbClr val="000000">
                <a:alpha val="0"/>
              </a:srgbClr>
            </a:solidFill>
            <a:prstDash val="solid"/>
          </a:ln>
        </p:spPr>
        <p:txBody>
          <a:bodyPr/>
          <a:lstStyle/>
          <a:p>
            <a:endParaRPr lang="en-US" sz="1600">
              <a:latin typeface="Arial"/>
              <a:cs typeface="Arial"/>
            </a:endParaRPr>
          </a:p>
        </p:txBody>
      </p:sp>
      <p:sp>
        <p:nvSpPr>
          <p:cNvPr id="8" name="Rectangle 7">
            <a:extLst>
              <a:ext uri="{FF2B5EF4-FFF2-40B4-BE49-F238E27FC236}">
                <a16:creationId xmlns:a16="http://schemas.microsoft.com/office/drawing/2014/main" id="{D4E53280-B219-4EA1-A4E0-E271BEC7B27B}"/>
              </a:ext>
            </a:extLst>
          </p:cNvPr>
          <p:cNvSpPr>
            <a:spLocks noGrp="1"/>
          </p:cNvSpPr>
          <p:nvPr/>
        </p:nvSpPr>
        <p:spPr>
          <a:xfrm>
            <a:off x="1123950" y="131445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FF5D55"/>
                </a:solidFill>
                <a:latin typeface="Arial"/>
                <a:ea typeface="Arial"/>
                <a:cs typeface="Arial"/>
              </a:rPr>
              <a:t>ACT</a:t>
            </a:r>
          </a:p>
        </p:txBody>
      </p:sp>
      <p:sp>
        <p:nvSpPr>
          <p:cNvPr id="9" name="Rectangle 8">
            <a:extLst>
              <a:ext uri="{FF2B5EF4-FFF2-40B4-BE49-F238E27FC236}">
                <a16:creationId xmlns:a16="http://schemas.microsoft.com/office/drawing/2014/main" id="{42443DB2-84E2-4553-A65C-6821B4E4BDA1}"/>
              </a:ext>
            </a:extLst>
          </p:cNvPr>
          <p:cNvSpPr>
            <a:spLocks noGrp="1"/>
          </p:cNvSpPr>
          <p:nvPr/>
        </p:nvSpPr>
        <p:spPr>
          <a:xfrm>
            <a:off x="1123950" y="1514475"/>
            <a:ext cx="272415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600" dirty="0">
                <a:solidFill>
                  <a:srgbClr val="4A4170"/>
                </a:solidFill>
                <a:latin typeface="Arial"/>
                <a:ea typeface="Arial"/>
                <a:cs typeface="Arial"/>
              </a:rPr>
              <a:t>Clinical decision support: act when expected benefit exceeds burden</a:t>
            </a:r>
          </a:p>
        </p:txBody>
      </p:sp>
      <p:sp>
        <p:nvSpPr>
          <p:cNvPr id="10" name="Rectangle 9">
            <a:extLst>
              <a:ext uri="{FF2B5EF4-FFF2-40B4-BE49-F238E27FC236}">
                <a16:creationId xmlns:a16="http://schemas.microsoft.com/office/drawing/2014/main" id="{686407F5-B3D2-4944-A537-8C17452AAEC5}"/>
              </a:ext>
            </a:extLst>
          </p:cNvPr>
          <p:cNvSpPr>
            <a:spLocks noGrp="1"/>
          </p:cNvSpPr>
          <p:nvPr/>
        </p:nvSpPr>
        <p:spPr>
          <a:xfrm>
            <a:off x="1123950" y="1809750"/>
            <a:ext cx="2743200" cy="2667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buNone/>
            </a:pPr>
            <a:endParaRPr lang="en-US" sz="1600" dirty="0"/>
          </a:p>
        </p:txBody>
      </p:sp>
      <p:sp>
        <p:nvSpPr>
          <p:cNvPr id="11" name="Rectangle 10">
            <a:extLst>
              <a:ext uri="{FF2B5EF4-FFF2-40B4-BE49-F238E27FC236}">
                <a16:creationId xmlns:a16="http://schemas.microsoft.com/office/drawing/2014/main" id="{F53E9D03-BFB1-492D-84FB-927D89B6C51A}"/>
              </a:ext>
            </a:extLst>
          </p:cNvPr>
          <p:cNvSpPr>
            <a:spLocks noGrp="1"/>
          </p:cNvSpPr>
          <p:nvPr/>
        </p:nvSpPr>
        <p:spPr>
          <a:xfrm>
            <a:off x="4762500" y="1143000"/>
            <a:ext cx="3238500" cy="12573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0B10EE7F-4262-4E08-B6C6-DBCF735F4BFD}"/>
              </a:ext>
            </a:extLst>
          </p:cNvPr>
          <p:cNvSpPr>
            <a:spLocks noGrp="1"/>
          </p:cNvSpPr>
          <p:nvPr/>
        </p:nvSpPr>
        <p:spPr>
          <a:xfrm>
            <a:off x="4762500" y="1143000"/>
            <a:ext cx="66675" cy="10477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13" name="Rectangle 12">
            <a:extLst>
              <a:ext uri="{FF2B5EF4-FFF2-40B4-BE49-F238E27FC236}">
                <a16:creationId xmlns:a16="http://schemas.microsoft.com/office/drawing/2014/main" id="{F0132147-DBEA-419C-BE4B-3669B7383B28}"/>
              </a:ext>
            </a:extLst>
          </p:cNvPr>
          <p:cNvSpPr>
            <a:spLocks noGrp="1"/>
          </p:cNvSpPr>
          <p:nvPr/>
        </p:nvSpPr>
        <p:spPr>
          <a:xfrm>
            <a:off x="5010150" y="131445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4A00E2"/>
                </a:solidFill>
                <a:latin typeface="Arial"/>
                <a:ea typeface="Arial"/>
                <a:cs typeface="Arial"/>
              </a:rPr>
              <a:t>ENRICH</a:t>
            </a:r>
          </a:p>
        </p:txBody>
      </p:sp>
      <p:sp>
        <p:nvSpPr>
          <p:cNvPr id="14" name="Rectangle 13">
            <a:extLst>
              <a:ext uri="{FF2B5EF4-FFF2-40B4-BE49-F238E27FC236}">
                <a16:creationId xmlns:a16="http://schemas.microsoft.com/office/drawing/2014/main" id="{1398F2D9-9E5C-4BE2-A01A-2000C30A81EC}"/>
              </a:ext>
            </a:extLst>
          </p:cNvPr>
          <p:cNvSpPr>
            <a:spLocks noGrp="1"/>
          </p:cNvSpPr>
          <p:nvPr/>
        </p:nvSpPr>
        <p:spPr>
          <a:xfrm>
            <a:off x="5010150" y="1514475"/>
            <a:ext cx="272415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600" dirty="0">
                <a:solidFill>
                  <a:srgbClr val="4A4170"/>
                </a:solidFill>
                <a:latin typeface="Arial"/>
                <a:ea typeface="Arial"/>
                <a:cs typeface="Arial"/>
              </a:rPr>
              <a:t>Run trials in the patients who may benefit most</a:t>
            </a:r>
          </a:p>
        </p:txBody>
      </p:sp>
      <p:sp>
        <p:nvSpPr>
          <p:cNvPr id="15" name="Rectangle 14">
            <a:extLst>
              <a:ext uri="{FF2B5EF4-FFF2-40B4-BE49-F238E27FC236}">
                <a16:creationId xmlns:a16="http://schemas.microsoft.com/office/drawing/2014/main" id="{B0EADE88-ADC1-41F1-B7F3-7A1AF1A1BAB4}"/>
              </a:ext>
            </a:extLst>
          </p:cNvPr>
          <p:cNvSpPr>
            <a:spLocks noGrp="1"/>
          </p:cNvSpPr>
          <p:nvPr/>
        </p:nvSpPr>
        <p:spPr>
          <a:xfrm>
            <a:off x="5010150" y="1809750"/>
            <a:ext cx="2743200" cy="2667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buNone/>
            </a:pPr>
            <a:endParaRPr lang="en-US" sz="1600" dirty="0"/>
          </a:p>
        </p:txBody>
      </p:sp>
      <p:sp>
        <p:nvSpPr>
          <p:cNvPr id="16" name="Rectangle 15">
            <a:extLst>
              <a:ext uri="{FF2B5EF4-FFF2-40B4-BE49-F238E27FC236}">
                <a16:creationId xmlns:a16="http://schemas.microsoft.com/office/drawing/2014/main" id="{DB94A0B2-BFD6-4D3D-B23E-0610BD954848}"/>
              </a:ext>
            </a:extLst>
          </p:cNvPr>
          <p:cNvSpPr>
            <a:spLocks noGrp="1"/>
          </p:cNvSpPr>
          <p:nvPr/>
        </p:nvSpPr>
        <p:spPr>
          <a:xfrm>
            <a:off x="876300" y="2476500"/>
            <a:ext cx="3238500" cy="13081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7" name="Rectangle 16">
            <a:extLst>
              <a:ext uri="{FF2B5EF4-FFF2-40B4-BE49-F238E27FC236}">
                <a16:creationId xmlns:a16="http://schemas.microsoft.com/office/drawing/2014/main" id="{E48CD342-A451-432D-9635-F26988BCF725}"/>
              </a:ext>
            </a:extLst>
          </p:cNvPr>
          <p:cNvSpPr>
            <a:spLocks noGrp="1"/>
          </p:cNvSpPr>
          <p:nvPr/>
        </p:nvSpPr>
        <p:spPr>
          <a:xfrm>
            <a:off x="876300" y="2476500"/>
            <a:ext cx="66675" cy="1047750"/>
          </a:xfrm>
          <a:prstGeom prst="rect">
            <a:avLst/>
          </a:prstGeom>
          <a:solidFill>
            <a:srgbClr val="7CAFD0"/>
          </a:solidFill>
          <a:ln w="0">
            <a:solidFill>
              <a:srgbClr val="000000">
                <a:alpha val="0"/>
              </a:srgbClr>
            </a:solidFill>
            <a:prstDash val="solid"/>
          </a:ln>
        </p:spPr>
        <p:txBody>
          <a:bodyPr/>
          <a:lstStyle/>
          <a:p>
            <a:endParaRPr lang="en-US" sz="1600">
              <a:latin typeface="Arial"/>
              <a:cs typeface="Arial"/>
            </a:endParaRPr>
          </a:p>
        </p:txBody>
      </p:sp>
      <p:sp>
        <p:nvSpPr>
          <p:cNvPr id="18" name="Rectangle 17">
            <a:extLst>
              <a:ext uri="{FF2B5EF4-FFF2-40B4-BE49-F238E27FC236}">
                <a16:creationId xmlns:a16="http://schemas.microsoft.com/office/drawing/2014/main" id="{8A73141E-53CD-4BF8-88C3-FEC58FBDAC70}"/>
              </a:ext>
            </a:extLst>
          </p:cNvPr>
          <p:cNvSpPr>
            <a:spLocks noGrp="1"/>
          </p:cNvSpPr>
          <p:nvPr/>
        </p:nvSpPr>
        <p:spPr>
          <a:xfrm>
            <a:off x="1123950" y="264795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FF0044"/>
                </a:solidFill>
                <a:latin typeface="Arial"/>
                <a:ea typeface="Arial"/>
                <a:cs typeface="Arial"/>
              </a:rPr>
              <a:t>ESTIMATE</a:t>
            </a:r>
          </a:p>
        </p:txBody>
      </p:sp>
      <p:sp>
        <p:nvSpPr>
          <p:cNvPr id="19" name="Rectangle 18">
            <a:extLst>
              <a:ext uri="{FF2B5EF4-FFF2-40B4-BE49-F238E27FC236}">
                <a16:creationId xmlns:a16="http://schemas.microsoft.com/office/drawing/2014/main" id="{8421D68E-A6FE-4617-B859-8209C6F649B2}"/>
              </a:ext>
            </a:extLst>
          </p:cNvPr>
          <p:cNvSpPr>
            <a:spLocks noGrp="1"/>
          </p:cNvSpPr>
          <p:nvPr/>
        </p:nvSpPr>
        <p:spPr>
          <a:xfrm>
            <a:off x="1123950" y="2847975"/>
            <a:ext cx="272415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600" dirty="0">
                <a:solidFill>
                  <a:srgbClr val="4A4170"/>
                </a:solidFill>
                <a:latin typeface="Arial"/>
                <a:ea typeface="Arial"/>
                <a:cs typeface="Arial"/>
              </a:rPr>
              <a:t>Reduce noise: remove predictable variation, preserve randomization</a:t>
            </a:r>
          </a:p>
        </p:txBody>
      </p:sp>
      <p:sp>
        <p:nvSpPr>
          <p:cNvPr id="20" name="Rectangle 19">
            <a:extLst>
              <a:ext uri="{FF2B5EF4-FFF2-40B4-BE49-F238E27FC236}">
                <a16:creationId xmlns:a16="http://schemas.microsoft.com/office/drawing/2014/main" id="{D785CC66-3868-44D7-A1C9-1CB46BC23C1E}"/>
              </a:ext>
            </a:extLst>
          </p:cNvPr>
          <p:cNvSpPr>
            <a:spLocks noGrp="1"/>
          </p:cNvSpPr>
          <p:nvPr/>
        </p:nvSpPr>
        <p:spPr>
          <a:xfrm>
            <a:off x="1123950" y="3143250"/>
            <a:ext cx="2743200" cy="2667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buNone/>
            </a:pPr>
            <a:endParaRPr lang="en-US" sz="1600" dirty="0"/>
          </a:p>
        </p:txBody>
      </p:sp>
      <p:sp>
        <p:nvSpPr>
          <p:cNvPr id="21" name="Rectangle 20">
            <a:extLst>
              <a:ext uri="{FF2B5EF4-FFF2-40B4-BE49-F238E27FC236}">
                <a16:creationId xmlns:a16="http://schemas.microsoft.com/office/drawing/2014/main" id="{C8FF7F9B-4F37-40FC-99E2-AD985B512977}"/>
              </a:ext>
            </a:extLst>
          </p:cNvPr>
          <p:cNvSpPr>
            <a:spLocks noGrp="1"/>
          </p:cNvSpPr>
          <p:nvPr/>
        </p:nvSpPr>
        <p:spPr>
          <a:xfrm>
            <a:off x="4762500" y="2476500"/>
            <a:ext cx="3238500" cy="13081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22" name="Rectangle 21">
            <a:extLst>
              <a:ext uri="{FF2B5EF4-FFF2-40B4-BE49-F238E27FC236}">
                <a16:creationId xmlns:a16="http://schemas.microsoft.com/office/drawing/2014/main" id="{7581AF4D-8313-4847-8270-BA053B8FA59A}"/>
              </a:ext>
            </a:extLst>
          </p:cNvPr>
          <p:cNvSpPr>
            <a:spLocks noGrp="1"/>
          </p:cNvSpPr>
          <p:nvPr/>
        </p:nvSpPr>
        <p:spPr>
          <a:xfrm>
            <a:off x="4762500" y="2476500"/>
            <a:ext cx="66675" cy="1047750"/>
          </a:xfrm>
          <a:prstGeom prst="rect">
            <a:avLst/>
          </a:prstGeom>
          <a:solidFill>
            <a:srgbClr val="FF0044"/>
          </a:solidFill>
          <a:ln w="0">
            <a:solidFill>
              <a:srgbClr val="000000">
                <a:alpha val="0"/>
              </a:srgbClr>
            </a:solidFill>
            <a:prstDash val="solid"/>
          </a:ln>
        </p:spPr>
        <p:txBody>
          <a:bodyPr/>
          <a:lstStyle/>
          <a:p>
            <a:endParaRPr lang="en-US" sz="1600">
              <a:latin typeface="Arial"/>
              <a:cs typeface="Arial"/>
            </a:endParaRPr>
          </a:p>
        </p:txBody>
      </p:sp>
      <p:sp>
        <p:nvSpPr>
          <p:cNvPr id="23" name="Rectangle 22">
            <a:extLst>
              <a:ext uri="{FF2B5EF4-FFF2-40B4-BE49-F238E27FC236}">
                <a16:creationId xmlns:a16="http://schemas.microsoft.com/office/drawing/2014/main" id="{19766876-4712-4A43-BB8C-7E079206C0BA}"/>
              </a:ext>
            </a:extLst>
          </p:cNvPr>
          <p:cNvSpPr>
            <a:spLocks noGrp="1"/>
          </p:cNvSpPr>
          <p:nvPr/>
        </p:nvSpPr>
        <p:spPr>
          <a:xfrm>
            <a:off x="5010150" y="2647950"/>
            <a:ext cx="1651000" cy="1905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400" b="1" dirty="0">
                <a:solidFill>
                  <a:srgbClr val="FF0044"/>
                </a:solidFill>
                <a:latin typeface="Arial"/>
                <a:ea typeface="Arial"/>
                <a:cs typeface="Arial"/>
              </a:rPr>
              <a:t>PERSONALIZE</a:t>
            </a:r>
          </a:p>
        </p:txBody>
      </p:sp>
      <p:sp>
        <p:nvSpPr>
          <p:cNvPr id="24" name="Rectangle 23">
            <a:extLst>
              <a:ext uri="{FF2B5EF4-FFF2-40B4-BE49-F238E27FC236}">
                <a16:creationId xmlns:a16="http://schemas.microsoft.com/office/drawing/2014/main" id="{1056F0AF-BDD4-41C4-92EC-FE22405FEBF8}"/>
              </a:ext>
            </a:extLst>
          </p:cNvPr>
          <p:cNvSpPr>
            <a:spLocks noGrp="1"/>
          </p:cNvSpPr>
          <p:nvPr/>
        </p:nvSpPr>
        <p:spPr>
          <a:xfrm>
            <a:off x="5010150" y="2847975"/>
            <a:ext cx="2724150" cy="2286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pPr>
            <a:r>
              <a:rPr lang="en-US" sz="1600" dirty="0">
                <a:solidFill>
                  <a:srgbClr val="4A4170"/>
                </a:solidFill>
                <a:latin typeface="Arial"/>
                <a:ea typeface="Arial"/>
                <a:cs typeface="Arial"/>
              </a:rPr>
              <a:t>Risk-targeting: tailor by each patient’s baseline risk</a:t>
            </a:r>
          </a:p>
        </p:txBody>
      </p:sp>
      <p:sp>
        <p:nvSpPr>
          <p:cNvPr id="25" name="Rectangle 24">
            <a:extLst>
              <a:ext uri="{FF2B5EF4-FFF2-40B4-BE49-F238E27FC236}">
                <a16:creationId xmlns:a16="http://schemas.microsoft.com/office/drawing/2014/main" id="{F791A241-8D3A-48C0-84B9-032CBB99F621}"/>
              </a:ext>
            </a:extLst>
          </p:cNvPr>
          <p:cNvSpPr>
            <a:spLocks noGrp="1"/>
          </p:cNvSpPr>
          <p:nvPr/>
        </p:nvSpPr>
        <p:spPr>
          <a:xfrm>
            <a:off x="5010150" y="3143250"/>
            <a:ext cx="2743200" cy="2667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buNone/>
            </a:pPr>
            <a:endParaRPr lang="en-US" sz="1600" dirty="0"/>
          </a:p>
        </p:txBody>
      </p:sp>
      <p:sp>
        <p:nvSpPr>
          <p:cNvPr id="27" name="Rectangle 26">
            <a:extLst>
              <a:ext uri="{FF2B5EF4-FFF2-40B4-BE49-F238E27FC236}">
                <a16:creationId xmlns:a16="http://schemas.microsoft.com/office/drawing/2014/main" id="{E5AC87F2-42FA-4552-8906-C956FB3D6D54}"/>
              </a:ext>
            </a:extLst>
          </p:cNvPr>
          <p:cNvSpPr>
            <a:spLocks noGrp="1"/>
          </p:cNvSpPr>
          <p:nvPr/>
        </p:nvSpPr>
        <p:spPr>
          <a:xfrm>
            <a:off x="2381250" y="4470400"/>
            <a:ext cx="4381500" cy="381000"/>
          </a:xfrm>
          <a:prstGeom prst="rect">
            <a:avLst/>
          </a:prstGeom>
          <a:solidFill>
            <a:srgbClr val="000000">
              <a:alpha val="0"/>
            </a:srgbClr>
          </a:solidFill>
          <a:ln w="0">
            <a:solidFill>
              <a:srgbClr val="000000">
                <a:alpha val="0"/>
              </a:srgbClr>
            </a:solidFill>
            <a:prstDash val="solid"/>
          </a:ln>
        </p:spPr>
        <p:txBody>
          <a:bodyPr wrap="square" lIns="57150" tIns="38100" rIns="57150" bIns="38100" anchor="t" anchorCtr="0"/>
          <a:lstStyle/>
          <a:p>
            <a:pPr algn="ctr">
              <a:defRPr sz="1000" b="0">
                <a:solidFill>
                  <a:srgbClr val="4A4170"/>
                </a:solidFill>
                <a:latin typeface="Arial"/>
                <a:ea typeface="Arial"/>
                <a:cs typeface="Arial"/>
              </a:defRPr>
            </a:pPr>
            <a:r>
              <a:rPr sz="1600" b="0" dirty="0">
                <a:solidFill>
                  <a:srgbClr val="4A4170"/>
                </a:solidFill>
                <a:latin typeface="Arial"/>
                <a:ea typeface="Arial"/>
                <a:cs typeface="Arial"/>
              </a:rPr>
              <a:t>Brian W. Locke, MD, MSCI  |  </a:t>
            </a:r>
            <a:r>
              <a:rPr sz="1600" b="0" dirty="0" err="1">
                <a:solidFill>
                  <a:srgbClr val="4A4170"/>
                </a:solidFill>
                <a:latin typeface="Arial"/>
                <a:ea typeface="Arial"/>
                <a:cs typeface="Arial"/>
              </a:rPr>
              <a:t>brian.locke@imail.org</a:t>
            </a:r>
            <a:endParaRPr sz="1600" b="0" dirty="0">
              <a:solidFill>
                <a:srgbClr val="4A4170"/>
              </a:solidFill>
              <a:latin typeface="Arial"/>
              <a:ea typeface="Arial"/>
              <a:cs typeface="Arial"/>
            </a:endParaRPr>
          </a:p>
        </p:txBody>
      </p:sp>
    </p:spTree>
    <p:extLst>
      <p:ext uri="{BB962C8B-B14F-4D97-AF65-F5344CB8AC3E}">
        <p14:creationId xmlns:p14="http://schemas.microsoft.com/office/powerpoint/2010/main" val="26963159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39F4A6-759C-4F46-8BA4-B88055A12894}"/>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8B2C6142-7E87-4912-91DD-66871AFBB912}"/>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55026B50-328D-4374-8753-8B6823A29185}"/>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REFERENCES</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84816043-1363-42B4-8415-62A9E934D5D5}"/>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a:bodyPr>
          <a:lstStyle/>
          <a:p>
            <a:pPr algn="l">
              <a:defRPr sz="2400" b="1">
                <a:solidFill>
                  <a:srgbClr val="110057"/>
                </a:solidFill>
                <a:latin typeface="Arial"/>
                <a:ea typeface="Arial"/>
                <a:cs typeface="Arial"/>
              </a:defRPr>
            </a:pPr>
            <a:r>
              <a:rPr lang="en-US" sz="2400" b="1" dirty="0">
                <a:solidFill>
                  <a:srgbClr val="110057"/>
                </a:solidFill>
                <a:latin typeface="Arial"/>
                <a:ea typeface="Arial"/>
                <a:cs typeface="Arial"/>
              </a:rPr>
              <a:t>Key citations</a:t>
            </a:r>
            <a:endParaRPr sz="2400" b="1" dirty="0">
              <a:solidFill>
                <a:srgbClr val="110057"/>
              </a:solidFill>
              <a:latin typeface="Arial"/>
              <a:ea typeface="Arial"/>
              <a:cs typeface="Arial"/>
            </a:endParaRPr>
          </a:p>
        </p:txBody>
      </p:sp>
      <p:sp>
        <p:nvSpPr>
          <p:cNvPr id="7" name="Rectangle 6">
            <a:extLst>
              <a:ext uri="{FF2B5EF4-FFF2-40B4-BE49-F238E27FC236}">
                <a16:creationId xmlns:a16="http://schemas.microsoft.com/office/drawing/2014/main" id="{A65F1C08-D8C2-4C99-B20A-40C3D7591FDB}"/>
              </a:ext>
            </a:extLst>
          </p:cNvPr>
          <p:cNvSpPr>
            <a:spLocks noGrp="1"/>
          </p:cNvSpPr>
          <p:nvPr/>
        </p:nvSpPr>
        <p:spPr>
          <a:xfrm>
            <a:off x="952500" y="1219200"/>
            <a:ext cx="3238500" cy="3581400"/>
          </a:xfrm>
          <a:prstGeom prst="rect">
            <a:avLst/>
          </a:prstGeom>
          <a:solidFill>
            <a:srgbClr val="EEF7F6"/>
          </a:solidFill>
          <a:ln w="9525">
            <a:solidFill>
              <a:srgbClr val="D8DEE7"/>
            </a:solidFill>
            <a:prstDash val="solid"/>
          </a:ln>
        </p:spPr>
        <p:txBody>
          <a:bodyPr/>
          <a:lstStyle/>
          <a:p>
            <a:endParaRPr lang="en-US" sz="1600">
              <a:latin typeface="Arial"/>
              <a:cs typeface="Arial"/>
            </a:endParaRPr>
          </a:p>
        </p:txBody>
      </p:sp>
      <p:sp>
        <p:nvSpPr>
          <p:cNvPr id="9" name="Rectangle 8">
            <a:extLst>
              <a:ext uri="{FF2B5EF4-FFF2-40B4-BE49-F238E27FC236}">
                <a16:creationId xmlns:a16="http://schemas.microsoft.com/office/drawing/2014/main" id="{BC321744-FF46-409E-BDBC-6354026AA576}"/>
              </a:ext>
            </a:extLst>
          </p:cNvPr>
          <p:cNvSpPr>
            <a:spLocks noGrp="1"/>
          </p:cNvSpPr>
          <p:nvPr/>
        </p:nvSpPr>
        <p:spPr>
          <a:xfrm>
            <a:off x="1066800" y="1320800"/>
            <a:ext cx="3009900" cy="3378200"/>
          </a:xfrm>
          <a:prstGeom prst="rect">
            <a:avLst/>
          </a:prstGeom>
          <a:solidFill>
            <a:srgbClr val="000000">
              <a:alpha val="0"/>
            </a:srgbClr>
          </a:solidFill>
          <a:ln w="0">
            <a:solidFill>
              <a:srgbClr val="000000">
                <a:alpha val="0"/>
              </a:srgbClr>
            </a:solidFill>
            <a:prstDash val="solid"/>
          </a:ln>
        </p:spPr>
        <p:txBody>
          <a:bodyPr lIns="57150" tIns="38100" rIns="57150" bIns="38100" anchor="t" anchorCtr="0">
            <a:noAutofit/>
          </a:bodyPr>
          <a:lstStyle/>
          <a:p>
            <a:pPr algn="l"/>
            <a:r>
              <a:rPr lang="en-US" sz="950" b="0" dirty="0">
                <a:solidFill>
                  <a:srgbClr val="110057"/>
                </a:solidFill>
                <a:latin typeface="Arial"/>
                <a:ea typeface="Arial"/>
                <a:cs typeface="Arial"/>
              </a:rPr>
              <a:t>1. Kent DM, Paulus JK, van Klaveren D, et al. The PATH Statement. Ann Intern Med. 2020;172:35-45.</a:t>
            </a:r>
          </a:p>
          <a:p>
            <a:pPr algn="l"/>
            <a:endParaRPr lang="en-US" sz="400"/>
          </a:p>
          <a:p>
            <a:pPr algn="l"/>
            <a:r>
              <a:rPr lang="en-US" sz="950" b="0" dirty="0">
                <a:solidFill>
                  <a:srgbClr val="110057"/>
                </a:solidFill>
                <a:latin typeface="Arial"/>
                <a:ea typeface="Arial"/>
                <a:cs typeface="Arial"/>
              </a:rPr>
              <a:t>2. Kent DM, van Klaveren D, Paulus JK, et al. PATH Statement: explanation and elaboration. Ann Intern Med. 2020;172:W1-W25.</a:t>
            </a:r>
          </a:p>
          <a:p>
            <a:pPr algn="l"/>
            <a:endParaRPr lang="en-US" sz="400"/>
          </a:p>
          <a:p>
            <a:pPr algn="l"/>
            <a:r>
              <a:rPr lang="en-US" sz="950" b="0" dirty="0">
                <a:solidFill>
                  <a:srgbClr val="110057"/>
                </a:solidFill>
                <a:latin typeface="Arial"/>
                <a:ea typeface="Arial"/>
                <a:cs typeface="Arial"/>
              </a:rPr>
              <a:t>3. Kent DM, Steyerberg E, van Klaveren D. Personalized evidence-based medicine. BMJ. 2018;363:k4245.</a:t>
            </a:r>
          </a:p>
          <a:p>
            <a:pPr algn="l"/>
            <a:endParaRPr lang="en-US" sz="400"/>
          </a:p>
          <a:p>
            <a:pPr algn="l"/>
            <a:r>
              <a:rPr lang="en-US" sz="950" b="0" dirty="0">
                <a:solidFill>
                  <a:srgbClr val="110057"/>
                </a:solidFill>
                <a:latin typeface="Arial"/>
                <a:ea typeface="Arial"/>
                <a:cs typeface="Arial"/>
              </a:rPr>
              <a:t>4. Kent DM, Hayward RA. Need for risk stratification. JAMA. 2007;298:1209-1212.</a:t>
            </a:r>
          </a:p>
          <a:p>
            <a:pPr algn="l"/>
            <a:endParaRPr lang="en-US" sz="400"/>
          </a:p>
          <a:p>
            <a:pPr algn="l"/>
            <a:r>
              <a:rPr lang="en-US" sz="950" b="0" dirty="0">
                <a:solidFill>
                  <a:srgbClr val="110057"/>
                </a:solidFill>
                <a:latin typeface="Arial"/>
                <a:ea typeface="Arial"/>
                <a:cs typeface="Arial"/>
              </a:rPr>
              <a:t>5. Kent DM, Nelson J, Dahabreh IJ, et al. Risk and treatment effect heterogeneity: 32 trials. Int J Epidemiol. 2016;45:2075-2088.</a:t>
            </a:r>
          </a:p>
          <a:p>
            <a:pPr algn="l"/>
            <a:endParaRPr lang="en-US" sz="400"/>
          </a:p>
          <a:p>
            <a:pPr algn="l"/>
            <a:r>
              <a:rPr lang="en-US" sz="950" b="0" dirty="0">
                <a:solidFill>
                  <a:srgbClr val="110057"/>
                </a:solidFill>
                <a:latin typeface="Arial"/>
                <a:ea typeface="Arial"/>
                <a:cs typeface="Arial"/>
              </a:rPr>
              <a:t>6. van Klaveren D, Balan TA, Steyerberg EW, et al. Interaction models overestimated HTE. J Clin Epidemiol. 2019;114:72-83.</a:t>
            </a:r>
          </a:p>
        </p:txBody>
      </p:sp>
      <p:sp>
        <p:nvSpPr>
          <p:cNvPr id="10" name="Rectangle 9">
            <a:extLst>
              <a:ext uri="{FF2B5EF4-FFF2-40B4-BE49-F238E27FC236}">
                <a16:creationId xmlns:a16="http://schemas.microsoft.com/office/drawing/2014/main" id="{0A1BCB4C-25C6-42BC-B92D-BA6E339BE777}"/>
              </a:ext>
            </a:extLst>
          </p:cNvPr>
          <p:cNvSpPr>
            <a:spLocks noGrp="1"/>
          </p:cNvSpPr>
          <p:nvPr/>
        </p:nvSpPr>
        <p:spPr>
          <a:xfrm>
            <a:off x="4476750" y="1219200"/>
            <a:ext cx="3238500" cy="358140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A8571EDC-F2D7-44E0-8F56-D3EE7643003B}"/>
              </a:ext>
            </a:extLst>
          </p:cNvPr>
          <p:cNvSpPr>
            <a:spLocks noGrp="1"/>
          </p:cNvSpPr>
          <p:nvPr/>
        </p:nvSpPr>
        <p:spPr>
          <a:xfrm>
            <a:off x="4591050" y="1320800"/>
            <a:ext cx="3009900" cy="3378200"/>
          </a:xfrm>
          <a:prstGeom prst="rect">
            <a:avLst/>
          </a:prstGeom>
          <a:solidFill>
            <a:srgbClr val="000000">
              <a:alpha val="0"/>
            </a:srgbClr>
          </a:solidFill>
          <a:ln w="0">
            <a:solidFill>
              <a:srgbClr val="000000">
                <a:alpha val="0"/>
              </a:srgbClr>
            </a:solidFill>
            <a:prstDash val="solid"/>
          </a:ln>
        </p:spPr>
        <p:txBody>
          <a:bodyPr lIns="57150" tIns="38100" rIns="57150" bIns="38100" anchor="t" anchorCtr="0">
            <a:noAutofit/>
          </a:bodyPr>
          <a:lstStyle/>
          <a:p>
            <a:pPr algn="l"/>
            <a:r>
              <a:rPr lang="en-US" sz="950" b="0" dirty="0">
                <a:solidFill>
                  <a:srgbClr val="110057"/>
                </a:solidFill>
                <a:latin typeface="Arial"/>
                <a:ea typeface="Arial"/>
                <a:cs typeface="Arial"/>
              </a:rPr>
              <a:t>7. Sussman JB, Kent DM, Nelson JP, et al. DPP risk-based treatment reanalysis. BMJ. 2015;350:h454.</a:t>
            </a:r>
          </a:p>
          <a:p>
            <a:pPr algn="l"/>
            <a:endParaRPr lang="en-US" sz="400"/>
          </a:p>
          <a:p>
            <a:pPr algn="l"/>
            <a:r>
              <a:rPr lang="en-US" sz="950" b="0" dirty="0">
                <a:solidFill>
                  <a:srgbClr val="110057"/>
                </a:solidFill>
                <a:latin typeface="Arial"/>
                <a:ea typeface="Arial"/>
                <a:cs typeface="Arial"/>
              </a:rPr>
              <a:t>8. Fox KA, Poole-Wilson P, Clayton TC, et al. RITA-3 5-year outcomes. Lancet. 2005;366:914-920.</a:t>
            </a:r>
          </a:p>
          <a:p>
            <a:pPr algn="l"/>
            <a:endParaRPr lang="en-US" sz="400"/>
          </a:p>
          <a:p>
            <a:pPr algn="l"/>
            <a:r>
              <a:rPr lang="en-US" sz="950" b="0" dirty="0">
                <a:solidFill>
                  <a:srgbClr val="110057"/>
                </a:solidFill>
                <a:latin typeface="Arial"/>
                <a:ea typeface="Arial"/>
                <a:cs typeface="Arial"/>
              </a:rPr>
              <a:t>9. Stegenga J. Care and Cure: An Introduction to the Philosophy of Medicine. Univ of Chicago Press; 2018.</a:t>
            </a:r>
          </a:p>
          <a:p>
            <a:pPr algn="l"/>
            <a:endParaRPr lang="en-US" sz="400"/>
          </a:p>
          <a:p>
            <a:pPr algn="l"/>
            <a:r>
              <a:rPr lang="en-US" sz="950" b="0" dirty="0">
                <a:solidFill>
                  <a:srgbClr val="110057"/>
                </a:solidFill>
                <a:latin typeface="Arial"/>
                <a:ea typeface="Arial"/>
                <a:cs typeface="Arial"/>
              </a:rPr>
              <a:t>10. Doust J, Vandvik PO, Qaseem A, et al. Guidance for modifying disease definitions. JAMA Intern Med. 2017;177:1020-1025.</a:t>
            </a:r>
          </a:p>
          <a:p>
            <a:pPr algn="l"/>
            <a:endParaRPr lang="en-US" sz="400"/>
          </a:p>
          <a:p>
            <a:pPr algn="l"/>
            <a:r>
              <a:rPr lang="en-US" sz="950" b="0" dirty="0">
                <a:solidFill>
                  <a:srgbClr val="110057"/>
                </a:solidFill>
                <a:latin typeface="Arial"/>
                <a:ea typeface="Arial"/>
                <a:cs typeface="Arial"/>
              </a:rPr>
              <a:t>11. Ranieri VM, et al. Acute respiratory distress syndrome definitions. Am J Respir Crit Care Med. 2022;205:1247-1259.</a:t>
            </a:r>
          </a:p>
          <a:p>
            <a:pPr algn="l"/>
            <a:endParaRPr lang="en-US" sz="400"/>
          </a:p>
          <a:p>
            <a:pPr algn="l"/>
            <a:r>
              <a:rPr lang="en-US" sz="950" b="0" dirty="0">
                <a:solidFill>
                  <a:srgbClr val="110057"/>
                </a:solidFill>
                <a:latin typeface="Arial"/>
                <a:ea typeface="Arial"/>
                <a:cs typeface="Arial"/>
              </a:rPr>
              <a:t>12. Carrell DS, et al. Phenotyping from clinical text. J Am Med Inform Assoc. 2025.</a:t>
            </a:r>
          </a:p>
          <a:p>
            <a:pPr algn="l"/>
            <a:endParaRPr lang="en-US" sz="400"/>
          </a:p>
          <a:p>
            <a:pPr algn="l"/>
            <a:r>
              <a:rPr lang="en-US" sz="950" b="0" dirty="0">
                <a:solidFill>
                  <a:srgbClr val="110057"/>
                </a:solidFill>
                <a:latin typeface="Arial"/>
                <a:ea typeface="Arial"/>
                <a:cs typeface="Arial"/>
              </a:rPr>
              <a:t>13. Finkelstein A, Zhou A, Taubman S, Doyle J. Health care hotspotting — a randomized, controlled trial. N Engl J Med. 2020;382:152-162.</a:t>
            </a:r>
          </a:p>
        </p:txBody>
      </p:sp>
    </p:spTree>
    <p:extLst>
      <p:ext uri="{BB962C8B-B14F-4D97-AF65-F5344CB8AC3E}">
        <p14:creationId xmlns:p14="http://schemas.microsoft.com/office/powerpoint/2010/main" val="38335946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51EC000-1E49-466B-BEA1-9F4BD4C16777}"/>
              </a:ext>
            </a:extLst>
          </p:cNvPr>
          <p:cNvSpPr>
            <a:spLocks noGrp="1"/>
          </p:cNvSpPr>
          <p:nvPr/>
        </p:nvSpPr>
        <p:spPr>
          <a:xfrm>
            <a:off x="0" y="0"/>
            <a:ext cx="9144000" cy="5143500"/>
          </a:xfrm>
          <a:prstGeom prst="rect">
            <a:avLst/>
          </a:prstGeom>
          <a:solidFill>
            <a:srgbClr val="FFFFFF"/>
          </a:solidFill>
          <a:ln w="0">
            <a:no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5E203415-8631-4D45-B864-E15895074ECB}"/>
              </a:ext>
            </a:extLst>
          </p:cNvPr>
          <p:cNvSpPr>
            <a:spLocks noGrp="1"/>
          </p:cNvSpPr>
          <p:nvPr/>
        </p:nvSpPr>
        <p:spPr>
          <a:xfrm>
            <a:off x="361950" y="742950"/>
            <a:ext cx="57150" cy="3638550"/>
          </a:xfrm>
          <a:prstGeom prst="rect">
            <a:avLst/>
          </a:prstGeom>
          <a:solidFill>
            <a:srgbClr val="4A00E2"/>
          </a:solidFill>
          <a:ln w="0">
            <a:noFill/>
            <a:prstDash val="solid"/>
          </a:ln>
        </p:spPr>
        <p:txBody>
          <a:bodyPr/>
          <a:lstStyle/>
          <a:p>
            <a:endParaRPr lang="en-US" sz="1600">
              <a:latin typeface="Arial"/>
              <a:cs typeface="Arial"/>
            </a:endParaRPr>
          </a:p>
        </p:txBody>
      </p:sp>
      <p:sp>
        <p:nvSpPr>
          <p:cNvPr id="4" name="Rectangle 3">
            <a:extLst>
              <a:ext uri="{FF2B5EF4-FFF2-40B4-BE49-F238E27FC236}">
                <a16:creationId xmlns:a16="http://schemas.microsoft.com/office/drawing/2014/main" id="{BF6476A7-C17C-4204-8E6C-155A264709ED}"/>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a:bodyPr>
          <a:lstStyle/>
          <a:p>
            <a:pPr algn="l">
              <a:defRPr sz="2400" b="1">
                <a:solidFill>
                  <a:srgbClr val="110057"/>
                </a:solidFill>
                <a:latin typeface="Arial"/>
                <a:ea typeface="Arial"/>
                <a:cs typeface="Arial"/>
              </a:defRPr>
            </a:pPr>
            <a:r>
              <a:rPr lang="en-US" sz="2400" b="1" dirty="0">
                <a:solidFill>
                  <a:srgbClr val="110057"/>
                </a:solidFill>
                <a:latin typeface="Arial"/>
                <a:ea typeface="Arial"/>
                <a:cs typeface="Arial"/>
              </a:rPr>
              <a:t>Thank you</a:t>
            </a:r>
            <a:endParaRPr sz="2400" b="1" dirty="0">
              <a:solidFill>
                <a:srgbClr val="110057"/>
              </a:solidFill>
              <a:latin typeface="Arial"/>
              <a:ea typeface="Arial"/>
              <a:cs typeface="Arial"/>
            </a:endParaRPr>
          </a:p>
        </p:txBody>
      </p:sp>
      <p:sp>
        <p:nvSpPr>
          <p:cNvPr id="27" name="Rectangle 26">
            <a:extLst>
              <a:ext uri="{FF2B5EF4-FFF2-40B4-BE49-F238E27FC236}">
                <a16:creationId xmlns:a16="http://schemas.microsoft.com/office/drawing/2014/main" id="{E5AC87F2-42FA-4552-8906-C956FB3D6D54}"/>
              </a:ext>
            </a:extLst>
          </p:cNvPr>
          <p:cNvSpPr>
            <a:spLocks noGrp="1"/>
          </p:cNvSpPr>
          <p:nvPr/>
        </p:nvSpPr>
        <p:spPr>
          <a:xfrm>
            <a:off x="1143000" y="4681594"/>
            <a:ext cx="6858000" cy="1778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ctr">
              <a:defRPr sz="1000" b="0">
                <a:solidFill>
                  <a:srgbClr val="4A4170"/>
                </a:solidFill>
                <a:latin typeface="Arial"/>
                <a:ea typeface="Arial"/>
                <a:cs typeface="Arial"/>
              </a:defRPr>
            </a:pPr>
            <a:r>
              <a:rPr lang="en-US" sz="1600" dirty="0">
                <a:solidFill>
                  <a:srgbClr val="4A4170"/>
                </a:solidFill>
                <a:latin typeface="Arial"/>
                <a:ea typeface="Arial"/>
                <a:cs typeface="Arial"/>
              </a:rPr>
              <a:t>Brian W. Locke, MD, MSc  |  </a:t>
            </a:r>
            <a:r>
              <a:rPr lang="en-US" sz="1600" dirty="0" err="1">
                <a:solidFill>
                  <a:srgbClr val="4A4170"/>
                </a:solidFill>
                <a:latin typeface="Arial"/>
                <a:ea typeface="Arial"/>
                <a:cs typeface="Arial"/>
              </a:rPr>
              <a:t>brian.locke@imail.org</a:t>
            </a:r>
            <a:endParaRPr sz="1600" dirty="0">
              <a:solidFill>
                <a:srgbClr val="4A4170"/>
              </a:solidFill>
              <a:latin typeface="Arial"/>
              <a:ea typeface="Arial"/>
              <a:cs typeface="Arial"/>
            </a:endParaRPr>
          </a:p>
        </p:txBody>
      </p:sp>
      <p:sp>
        <p:nvSpPr>
          <p:cNvPr id="30" name="BP_thanks_question">
            <a:extLst>
              <a:ext uri="{FF2B5EF4-FFF2-40B4-BE49-F238E27FC236}">
                <a16:creationId xmlns:a16="http://schemas.microsoft.com/office/drawing/2014/main" id="{150EC786-9A2D-4B4C-828C-DE0594FB62EA}"/>
              </a:ext>
            </a:extLst>
          </p:cNvPr>
          <p:cNvSpPr txBox="1"/>
          <p:nvPr/>
        </p:nvSpPr>
        <p:spPr>
          <a:xfrm>
            <a:off x="635000" y="1092200"/>
            <a:ext cx="7620000" cy="279400"/>
          </a:xfrm>
          <a:prstGeom prst="rect">
            <a:avLst/>
          </a:prstGeom>
          <a:noFill/>
        </p:spPr>
        <p:txBody>
          <a:bodyPr vertOverflow="overflow" vert="horz" wrap="square" rtlCol="0" anchor="t">
            <a:normAutofit fontScale="92500" lnSpcReduction="20000"/>
          </a:bodyPr>
          <a:lstStyle/>
          <a:p>
            <a:pPr algn="l"/>
            <a:r>
              <a:rPr lang="en-US" sz="1600" b="1">
                <a:solidFill>
                  <a:srgbClr val="4A00E2"/>
                </a:solidFill>
                <a:latin typeface="Arial"/>
                <a:cs typeface="Arial"/>
              </a:rPr>
              <a:t>Questions and discussion</a:t>
            </a:r>
          </a:p>
        </p:txBody>
      </p:sp>
      <p:sp>
        <p:nvSpPr>
          <p:cNvPr id="50" name="ackhdr"/>
          <p:cNvSpPr txBox="1"/>
          <p:nvPr/>
        </p:nvSpPr>
        <p:spPr>
          <a:xfrm>
            <a:off x="635000" y="1778000"/>
            <a:ext cx="7620000" cy="203200"/>
          </a:xfrm>
          <a:prstGeom prst="rect">
            <a:avLst/>
          </a:prstGeom>
          <a:noFill/>
        </p:spPr>
        <p:txBody>
          <a:bodyPr wrap="square" lIns="0" tIns="0" rIns="0" bIns="0">
            <a:noAutofit/>
          </a:bodyPr>
          <a:lstStyle/>
          <a:p>
            <a:pPr algn="l">
              <a:buNone/>
            </a:pPr>
            <a:r>
              <a:rPr lang="en-US" sz="1100" b="1" dirty="0">
                <a:solidFill>
                  <a:srgbClr val="8A829E"/>
                </a:solidFill>
                <a:latin typeface="Arial"/>
                <a:cs typeface="Arial"/>
              </a:rPr>
              <a:t>WITH THANKS TO</a:t>
            </a:r>
          </a:p>
        </p:txBody>
      </p:sp>
      <p:sp>
        <p:nvSpPr>
          <p:cNvPr id="51" name="c1bg"/>
          <p:cNvSpPr/>
          <p:nvPr/>
        </p:nvSpPr>
        <p:spPr>
          <a:xfrm>
            <a:off x="533400" y="2006600"/>
            <a:ext cx="2489200" cy="2133600"/>
          </a:xfrm>
          <a:prstGeom prst="roundRect">
            <a:avLst>
              <a:gd name="adj" fmla="val 6000"/>
            </a:avLst>
          </a:prstGeom>
          <a:solidFill>
            <a:srgbClr val="F7F6FC"/>
          </a:solidFill>
          <a:ln>
            <a:noFill/>
          </a:ln>
        </p:spPr>
        <p:txBody>
          <a:bodyPr/>
          <a:lstStyle/>
          <a:p>
            <a:endParaRPr/>
          </a:p>
        </p:txBody>
      </p:sp>
      <p:sp>
        <p:nvSpPr>
          <p:cNvPr id="52" name="c2bg"/>
          <p:cNvSpPr/>
          <p:nvPr/>
        </p:nvSpPr>
        <p:spPr>
          <a:xfrm>
            <a:off x="3149600" y="2006600"/>
            <a:ext cx="2489200" cy="2133600"/>
          </a:xfrm>
          <a:prstGeom prst="roundRect">
            <a:avLst>
              <a:gd name="adj" fmla="val 6000"/>
            </a:avLst>
          </a:prstGeom>
          <a:solidFill>
            <a:srgbClr val="F7F6FC"/>
          </a:solidFill>
          <a:ln>
            <a:noFill/>
          </a:ln>
        </p:spPr>
        <p:txBody>
          <a:bodyPr/>
          <a:lstStyle/>
          <a:p>
            <a:endParaRPr/>
          </a:p>
        </p:txBody>
      </p:sp>
      <p:sp>
        <p:nvSpPr>
          <p:cNvPr id="53" name="c3bg"/>
          <p:cNvSpPr/>
          <p:nvPr/>
        </p:nvSpPr>
        <p:spPr>
          <a:xfrm>
            <a:off x="5765800" y="2006600"/>
            <a:ext cx="2489200" cy="2133600"/>
          </a:xfrm>
          <a:prstGeom prst="roundRect">
            <a:avLst>
              <a:gd name="adj" fmla="val 6000"/>
            </a:avLst>
          </a:prstGeom>
          <a:solidFill>
            <a:srgbClr val="F7F6FC"/>
          </a:solidFill>
          <a:ln>
            <a:noFill/>
          </a:ln>
        </p:spPr>
        <p:txBody>
          <a:bodyPr/>
          <a:lstStyle/>
          <a:p>
            <a:endParaRPr/>
          </a:p>
        </p:txBody>
      </p:sp>
      <p:sp>
        <p:nvSpPr>
          <p:cNvPr id="54" name="c1"/>
          <p:cNvSpPr txBox="1"/>
          <p:nvPr/>
        </p:nvSpPr>
        <p:spPr>
          <a:xfrm>
            <a:off x="635000" y="2108200"/>
            <a:ext cx="2286000" cy="2032000"/>
          </a:xfrm>
          <a:prstGeom prst="rect">
            <a:avLst/>
          </a:prstGeom>
          <a:noFill/>
        </p:spPr>
        <p:txBody>
          <a:bodyPr wrap="square" lIns="0" tIns="0" rIns="0" bIns="0">
            <a:noAutofit/>
          </a:bodyPr>
          <a:lstStyle/>
          <a:p>
            <a:pPr algn="l">
              <a:buNone/>
            </a:pPr>
            <a:r>
              <a:rPr lang="en-US" sz="1300" b="1" dirty="0">
                <a:solidFill>
                  <a:srgbClr val="4A00E2"/>
                </a:solidFill>
                <a:latin typeface="Arial"/>
                <a:cs typeface="Arial"/>
              </a:rPr>
              <a:t>ASCEND-MA trial</a:t>
            </a:r>
          </a:p>
          <a:p>
            <a:pPr algn="l">
              <a:spcAft>
                <a:spcPts val="300"/>
              </a:spcAft>
              <a:buNone/>
            </a:pPr>
            <a:r>
              <a:rPr lang="en-US" sz="1300" dirty="0">
                <a:solidFill>
                  <a:srgbClr val="4A4170"/>
                </a:solidFill>
                <a:latin typeface="Arial"/>
                <a:cs typeface="Arial"/>
              </a:rPr>
              <a:t>Joseph Kamerath, MD</a:t>
            </a:r>
            <a:r>
              <a:rPr lang="en-US" sz="1100" dirty="0">
                <a:solidFill>
                  <a:srgbClr val="8A829E"/>
                </a:solidFill>
                <a:latin typeface="Arial"/>
                <a:cs typeface="Arial"/>
              </a:rPr>
              <a:t> </a:t>
            </a:r>
          </a:p>
          <a:p>
            <a:pPr algn="l">
              <a:spcAft>
                <a:spcPts val="300"/>
              </a:spcAft>
              <a:buNone/>
            </a:pPr>
            <a:r>
              <a:rPr lang="en-US" sz="1300" dirty="0">
                <a:solidFill>
                  <a:srgbClr val="4A4170"/>
                </a:solidFill>
                <a:latin typeface="Arial"/>
                <a:cs typeface="Arial"/>
              </a:rPr>
              <a:t>Brian Locke, MD</a:t>
            </a:r>
          </a:p>
          <a:p>
            <a:pPr algn="l">
              <a:spcAft>
                <a:spcPts val="300"/>
              </a:spcAft>
              <a:buNone/>
            </a:pPr>
            <a:r>
              <a:rPr lang="en-US" sz="1300" dirty="0">
                <a:solidFill>
                  <a:srgbClr val="4A4170"/>
                </a:solidFill>
                <a:latin typeface="Arial"/>
                <a:cs typeface="Arial"/>
              </a:rPr>
              <a:t>Haya Khalaf, RN</a:t>
            </a:r>
          </a:p>
          <a:p>
            <a:pPr algn="l">
              <a:spcAft>
                <a:spcPts val="300"/>
              </a:spcAft>
              <a:buNone/>
            </a:pPr>
            <a:r>
              <a:rPr lang="en-US" sz="1300" dirty="0">
                <a:solidFill>
                  <a:srgbClr val="4A4170"/>
                </a:solidFill>
                <a:latin typeface="Arial"/>
                <a:cs typeface="Arial"/>
              </a:rPr>
              <a:t>Kate Minick, PhD</a:t>
            </a:r>
          </a:p>
          <a:p>
            <a:pPr algn="l">
              <a:spcAft>
                <a:spcPts val="300"/>
              </a:spcAft>
              <a:buNone/>
            </a:pPr>
            <a:r>
              <a:rPr lang="en-US" sz="1300" dirty="0">
                <a:solidFill>
                  <a:srgbClr val="4A4170"/>
                </a:solidFill>
                <a:latin typeface="Arial"/>
                <a:cs typeface="Arial"/>
              </a:rPr>
              <a:t>Samuel Brown, MD MSc</a:t>
            </a:r>
          </a:p>
        </p:txBody>
      </p:sp>
      <p:sp>
        <p:nvSpPr>
          <p:cNvPr id="55" name="c2"/>
          <p:cNvSpPr txBox="1"/>
          <p:nvPr/>
        </p:nvSpPr>
        <p:spPr>
          <a:xfrm>
            <a:off x="3251200" y="2108200"/>
            <a:ext cx="2286000" cy="2032000"/>
          </a:xfrm>
          <a:prstGeom prst="rect">
            <a:avLst/>
          </a:prstGeom>
          <a:noFill/>
        </p:spPr>
        <p:txBody>
          <a:bodyPr wrap="square" lIns="0" tIns="0" rIns="0" bIns="0">
            <a:noAutofit/>
          </a:bodyPr>
          <a:lstStyle/>
          <a:p>
            <a:pPr algn="l">
              <a:buNone/>
            </a:pPr>
            <a:r>
              <a:rPr lang="en-US" sz="1300" b="1" dirty="0">
                <a:solidFill>
                  <a:srgbClr val="4A00E2"/>
                </a:solidFill>
                <a:latin typeface="Arial"/>
                <a:cs typeface="Arial"/>
              </a:rPr>
              <a:t>AIM-HIGH trial</a:t>
            </a:r>
            <a:endParaRPr lang="en-US" sz="1300" dirty="0">
              <a:solidFill>
                <a:srgbClr val="4A4170"/>
              </a:solidFill>
              <a:latin typeface="Arial"/>
              <a:cs typeface="Arial"/>
            </a:endParaRPr>
          </a:p>
          <a:p>
            <a:pPr algn="l">
              <a:spcAft>
                <a:spcPts val="300"/>
              </a:spcAft>
              <a:buNone/>
            </a:pPr>
            <a:r>
              <a:rPr lang="en-US" sz="1300" dirty="0">
                <a:solidFill>
                  <a:srgbClr val="4A4170"/>
                </a:solidFill>
                <a:latin typeface="Arial"/>
                <a:cs typeface="Arial"/>
              </a:rPr>
              <a:t>David Hedges, PhD</a:t>
            </a:r>
          </a:p>
          <a:p>
            <a:pPr algn="l">
              <a:spcAft>
                <a:spcPts val="300"/>
              </a:spcAft>
              <a:buNone/>
            </a:pPr>
            <a:r>
              <a:rPr lang="en-US" sz="1300" dirty="0">
                <a:solidFill>
                  <a:srgbClr val="4A4170"/>
                </a:solidFill>
                <a:latin typeface="Arial"/>
                <a:cs typeface="Arial"/>
              </a:rPr>
              <a:t>Rylan Fowers, PhD</a:t>
            </a:r>
          </a:p>
          <a:p>
            <a:pPr algn="l">
              <a:spcAft>
                <a:spcPts val="300"/>
              </a:spcAft>
              <a:buNone/>
            </a:pPr>
            <a:r>
              <a:rPr lang="en-US" sz="1300" dirty="0">
                <a:solidFill>
                  <a:srgbClr val="4A4170"/>
                </a:solidFill>
                <a:latin typeface="Arial"/>
                <a:cs typeface="Arial"/>
              </a:rPr>
              <a:t>Nick Green</a:t>
            </a:r>
          </a:p>
          <a:p>
            <a:pPr algn="l">
              <a:spcAft>
                <a:spcPts val="300"/>
              </a:spcAft>
              <a:buNone/>
            </a:pPr>
            <a:r>
              <a:rPr lang="en-US" sz="1300" dirty="0">
                <a:solidFill>
                  <a:srgbClr val="4A4170"/>
                </a:solidFill>
                <a:latin typeface="Arial"/>
                <a:cs typeface="Arial"/>
              </a:rPr>
              <a:t>Samuel Brown, MD MSc</a:t>
            </a:r>
          </a:p>
        </p:txBody>
      </p:sp>
      <p:sp>
        <p:nvSpPr>
          <p:cNvPr id="56" name="c3"/>
          <p:cNvSpPr txBox="1"/>
          <p:nvPr/>
        </p:nvSpPr>
        <p:spPr>
          <a:xfrm>
            <a:off x="5867400" y="2108200"/>
            <a:ext cx="2286000" cy="2032000"/>
          </a:xfrm>
          <a:prstGeom prst="rect">
            <a:avLst/>
          </a:prstGeom>
          <a:noFill/>
        </p:spPr>
        <p:txBody>
          <a:bodyPr wrap="square" lIns="0" tIns="0" rIns="0" bIns="0">
            <a:noAutofit/>
          </a:bodyPr>
          <a:lstStyle/>
          <a:p>
            <a:pPr algn="l">
              <a:buNone/>
            </a:pPr>
            <a:r>
              <a:rPr lang="en-US" sz="1300" b="1" dirty="0">
                <a:solidFill>
                  <a:srgbClr val="4A00E2"/>
                </a:solidFill>
                <a:latin typeface="Arial"/>
                <a:cs typeface="Arial"/>
              </a:rPr>
              <a:t>K23 mentorship</a:t>
            </a:r>
          </a:p>
          <a:p>
            <a:pPr algn="l">
              <a:spcAft>
                <a:spcPts val="400"/>
              </a:spcAft>
              <a:buNone/>
            </a:pPr>
            <a:r>
              <a:rPr lang="en-US" sz="1300" dirty="0">
                <a:solidFill>
                  <a:srgbClr val="4A4170"/>
                </a:solidFill>
                <a:latin typeface="Arial"/>
                <a:cs typeface="Arial"/>
              </a:rPr>
              <a:t>Samuel Brown, MD MSc</a:t>
            </a:r>
          </a:p>
          <a:p>
            <a:pPr algn="l">
              <a:spcAft>
                <a:spcPts val="400"/>
              </a:spcAft>
              <a:buNone/>
            </a:pPr>
            <a:r>
              <a:rPr lang="en-US" sz="1300" dirty="0">
                <a:solidFill>
                  <a:srgbClr val="4A4170"/>
                </a:solidFill>
                <a:latin typeface="Arial"/>
                <a:cs typeface="Arial"/>
              </a:rPr>
              <a:t>Joseph Finkelstein, MD PhD</a:t>
            </a:r>
          </a:p>
          <a:p>
            <a:pPr algn="l">
              <a:spcAft>
                <a:spcPts val="400"/>
              </a:spcAft>
              <a:buNone/>
            </a:pPr>
            <a:r>
              <a:rPr lang="en-US" sz="1300" dirty="0">
                <a:solidFill>
                  <a:srgbClr val="4A4170"/>
                </a:solidFill>
                <a:latin typeface="Arial"/>
                <a:cs typeface="Arial"/>
              </a:rPr>
              <a:t>Barb Jones, MD MSc</a:t>
            </a:r>
          </a:p>
          <a:p>
            <a:pPr algn="l">
              <a:spcAft>
                <a:spcPts val="400"/>
              </a:spcAft>
              <a:buNone/>
            </a:pPr>
            <a:r>
              <a:rPr lang="en-US" sz="1300" dirty="0">
                <a:solidFill>
                  <a:srgbClr val="4A4170"/>
                </a:solidFill>
                <a:latin typeface="Arial"/>
                <a:cs typeface="Arial"/>
              </a:rPr>
              <a:t>Ben </a:t>
            </a:r>
            <a:r>
              <a:rPr lang="en-US" sz="1300" dirty="0" err="1">
                <a:solidFill>
                  <a:srgbClr val="4A4170"/>
                </a:solidFill>
                <a:latin typeface="Arial"/>
                <a:cs typeface="Arial"/>
              </a:rPr>
              <a:t>Brintz</a:t>
            </a:r>
            <a:r>
              <a:rPr lang="en-US" sz="1300" dirty="0">
                <a:solidFill>
                  <a:srgbClr val="4A4170"/>
                </a:solidFill>
                <a:latin typeface="Arial"/>
                <a:cs typeface="Arial"/>
              </a:rPr>
              <a:t>, PhD</a:t>
            </a:r>
          </a:p>
          <a:p>
            <a:pPr algn="l">
              <a:spcAft>
                <a:spcPts val="400"/>
              </a:spcAft>
              <a:buNone/>
            </a:pPr>
            <a:r>
              <a:rPr lang="en-US" sz="1300" dirty="0">
                <a:solidFill>
                  <a:srgbClr val="4A4170"/>
                </a:solidFill>
                <a:latin typeface="Arial"/>
                <a:cs typeface="Arial"/>
              </a:rPr>
              <a:t>Ithan Peltan, MD MSc</a:t>
            </a:r>
          </a:p>
          <a:p>
            <a:pPr algn="l">
              <a:buNone/>
            </a:pPr>
            <a:r>
              <a:rPr lang="en-US" sz="1300" dirty="0">
                <a:solidFill>
                  <a:srgbClr val="4A4170"/>
                </a:solidFill>
                <a:latin typeface="Arial"/>
                <a:cs typeface="Arial"/>
              </a:rPr>
              <a:t>Holly Frost, MD PhD</a:t>
            </a:r>
          </a:p>
        </p:txBody>
      </p:sp>
    </p:spTree>
    <p:extLst>
      <p:ext uri="{BB962C8B-B14F-4D97-AF65-F5344CB8AC3E}">
        <p14:creationId xmlns:p14="http://schemas.microsoft.com/office/powerpoint/2010/main" val="4152209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39F4A6-759C-4F46-8BA4-B88055A12894}"/>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8B2C6142-7E87-4912-91DD-66871AFBB912}"/>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55026B50-328D-4374-8753-8B6823A29185}"/>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APPENDIX A1</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84816043-1363-42B4-8415-62A9E934D5D5}"/>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a:bodyPr>
          <a:lstStyle/>
          <a:p>
            <a:pPr algn="l">
              <a:defRPr sz="2400" b="1">
                <a:solidFill>
                  <a:srgbClr val="110057"/>
                </a:solidFill>
                <a:latin typeface="Arial"/>
                <a:ea typeface="Arial"/>
                <a:cs typeface="Arial"/>
              </a:defRPr>
            </a:pPr>
            <a:r>
              <a:rPr lang="en-US" sz="2400" b="1">
                <a:solidFill>
                  <a:srgbClr val="110057"/>
                </a:solidFill>
                <a:latin typeface="Arial"/>
                <a:ea typeface="Arial"/>
                <a:cs typeface="Arial"/>
              </a:rPr>
              <a:t>A1. PATH vocabulary for risk-first personalization</a:t>
            </a:r>
            <a:endParaRPr sz="2400" b="1">
              <a:solidFill>
                <a:srgbClr val="110057"/>
              </a:solidFill>
              <a:latin typeface="Arial"/>
              <a:ea typeface="Arial"/>
              <a:cs typeface="Arial"/>
            </a:endParaRPr>
          </a:p>
        </p:txBody>
      </p:sp>
      <p:sp>
        <p:nvSpPr>
          <p:cNvPr id="5" name="Rectangle 4">
            <a:extLst>
              <a:ext uri="{FF2B5EF4-FFF2-40B4-BE49-F238E27FC236}">
                <a16:creationId xmlns:a16="http://schemas.microsoft.com/office/drawing/2014/main" id="{5FE1DCB5-2573-4484-BD22-F2757C4FC1E4}"/>
              </a:ext>
            </a:extLst>
          </p:cNvPr>
          <p:cNvSpPr>
            <a:spLocks noGrp="1"/>
          </p:cNvSpPr>
          <p:nvPr/>
        </p:nvSpPr>
        <p:spPr>
          <a:xfrm>
            <a:off x="552450" y="4876800"/>
            <a:ext cx="6096000" cy="1524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000" b="0">
                <a:solidFill>
                  <a:srgbClr val="4A4170"/>
                </a:solidFill>
                <a:latin typeface="Arial"/>
                <a:ea typeface="Arial"/>
                <a:cs typeface="Arial"/>
              </a:defRPr>
            </a:pPr>
            <a:r>
              <a:rPr lang="en-US" sz="1600">
                <a:solidFill>
                  <a:srgbClr val="4A4170"/>
                </a:solidFill>
                <a:latin typeface="Arial"/>
                <a:ea typeface="Arial"/>
                <a:cs typeface="Arial"/>
              </a:rPr>
              <a:t>PATH Statement; Kent et al., Ann Intern Med 2020</a:t>
            </a:r>
            <a:endParaRPr sz="1600">
              <a:solidFill>
                <a:srgbClr val="4A4170"/>
              </a:solidFill>
              <a:latin typeface="Arial"/>
              <a:ea typeface="Arial"/>
              <a:cs typeface="Arial"/>
            </a:endParaRPr>
          </a:p>
        </p:txBody>
      </p:sp>
      <p:sp>
        <p:nvSpPr>
          <p:cNvPr id="6" name="Rectangle 5">
            <a:extLst>
              <a:ext uri="{FF2B5EF4-FFF2-40B4-BE49-F238E27FC236}">
                <a16:creationId xmlns:a16="http://schemas.microsoft.com/office/drawing/2014/main" id="{2FE2BD8C-9C8F-404A-9F9A-A41419CEEE96}"/>
              </a:ext>
            </a:extLst>
          </p:cNvPr>
          <p:cNvSpPr>
            <a:spLocks noGrp="1"/>
          </p:cNvSpPr>
          <p:nvPr/>
        </p:nvSpPr>
        <p:spPr>
          <a:xfrm>
            <a:off x="7277100" y="4876800"/>
            <a:ext cx="1314450" cy="1524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r">
              <a:defRPr sz="1000" b="0">
                <a:solidFill>
                  <a:srgbClr val="4A4170"/>
                </a:solidFill>
                <a:latin typeface="Arial"/>
                <a:ea typeface="Arial"/>
                <a:cs typeface="Arial"/>
              </a:defRPr>
            </a:pPr>
            <a:r>
              <a:rPr sz="1600" b="0">
                <a:solidFill>
                  <a:srgbClr val="4A4170"/>
                </a:solidFill>
                <a:latin typeface="Arial"/>
                <a:ea typeface="Arial"/>
                <a:cs typeface="Arial"/>
              </a:rPr>
              <a:t>APPENDIX</a:t>
            </a:r>
          </a:p>
        </p:txBody>
      </p:sp>
      <p:sp>
        <p:nvSpPr>
          <p:cNvPr id="7" name="Rectangle 6">
            <a:extLst>
              <a:ext uri="{FF2B5EF4-FFF2-40B4-BE49-F238E27FC236}">
                <a16:creationId xmlns:a16="http://schemas.microsoft.com/office/drawing/2014/main" id="{A65F1C08-D8C2-4C99-B20A-40C3D7591FDB}"/>
              </a:ext>
            </a:extLst>
          </p:cNvPr>
          <p:cNvSpPr>
            <a:spLocks noGrp="1"/>
          </p:cNvSpPr>
          <p:nvPr/>
        </p:nvSpPr>
        <p:spPr>
          <a:xfrm>
            <a:off x="952500" y="1333500"/>
            <a:ext cx="2857500" cy="1028700"/>
          </a:xfrm>
          <a:prstGeom prst="rect">
            <a:avLst/>
          </a:prstGeom>
          <a:solidFill>
            <a:srgbClr val="EEF7F6"/>
          </a:solidFill>
          <a:ln w="9525">
            <a:solidFill>
              <a:srgbClr val="D8DEE7"/>
            </a:solidFill>
            <a:prstDash val="solid"/>
          </a:ln>
        </p:spPr>
        <p:txBody>
          <a:bodyPr/>
          <a:lstStyle/>
          <a:p>
            <a:endParaRPr lang="en-US" sz="1600">
              <a:latin typeface="Arial"/>
              <a:cs typeface="Arial"/>
            </a:endParaRPr>
          </a:p>
        </p:txBody>
      </p:sp>
      <p:sp>
        <p:nvSpPr>
          <p:cNvPr id="9" name="Rectangle 8">
            <a:extLst>
              <a:ext uri="{FF2B5EF4-FFF2-40B4-BE49-F238E27FC236}">
                <a16:creationId xmlns:a16="http://schemas.microsoft.com/office/drawing/2014/main" id="{BC321744-FF46-409E-BDBC-6354026AA576}"/>
              </a:ext>
            </a:extLst>
          </p:cNvPr>
          <p:cNvSpPr>
            <a:spLocks noGrp="1"/>
          </p:cNvSpPr>
          <p:nvPr/>
        </p:nvSpPr>
        <p:spPr>
          <a:xfrm>
            <a:off x="1066800" y="1422400"/>
            <a:ext cx="2628900" cy="7620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a:solidFill>
                  <a:srgbClr val="110057"/>
                </a:solidFill>
                <a:latin typeface="Arial"/>
                <a:ea typeface="Arial"/>
                <a:cs typeface="Arial"/>
              </a:rPr>
              <a:t>Keep the terms separate: outcome risk, treatment effect, and clinical utility.</a:t>
            </a:r>
            <a:endParaRPr sz="1600">
              <a:solidFill>
                <a:srgbClr val="110057"/>
              </a:solidFill>
              <a:latin typeface="Arial"/>
              <a:ea typeface="Arial"/>
              <a:cs typeface="Arial"/>
            </a:endParaRPr>
          </a:p>
        </p:txBody>
      </p:sp>
      <p:sp>
        <p:nvSpPr>
          <p:cNvPr id="10" name="Rectangle 9">
            <a:extLst>
              <a:ext uri="{FF2B5EF4-FFF2-40B4-BE49-F238E27FC236}">
                <a16:creationId xmlns:a16="http://schemas.microsoft.com/office/drawing/2014/main" id="{0A1BCB4C-25C6-42BC-B92D-BA6E339BE777}"/>
              </a:ext>
            </a:extLst>
          </p:cNvPr>
          <p:cNvSpPr>
            <a:spLocks noGrp="1"/>
          </p:cNvSpPr>
          <p:nvPr/>
        </p:nvSpPr>
        <p:spPr>
          <a:xfrm>
            <a:off x="4286250" y="1333500"/>
            <a:ext cx="3429000" cy="238125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A8571EDC-F2D7-44E0-8F56-D3EE7643003B}"/>
              </a:ext>
            </a:extLst>
          </p:cNvPr>
          <p:cNvSpPr>
            <a:spLocks noGrp="1"/>
          </p:cNvSpPr>
          <p:nvPr/>
        </p:nvSpPr>
        <p:spPr>
          <a:xfrm>
            <a:off x="4400550" y="1422400"/>
            <a:ext cx="3200400" cy="18669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dirty="0">
                <a:solidFill>
                  <a:srgbClr val="110057"/>
                </a:solidFill>
                <a:latin typeface="Arial"/>
                <a:ea typeface="Arial"/>
                <a:cs typeface="Arial"/>
              </a:rPr>
              <a:t>HTE = variation in treatment effects on a chosen scale.
Clinically important HTE is usually judged on absolute risk difference.
CATE/reference-class effect = average effect conditional on covariates, not a directly observed person-level effect.</a:t>
            </a:r>
            <a:endParaRPr sz="1600" dirty="0">
              <a:solidFill>
                <a:srgbClr val="110057"/>
              </a:solidFill>
              <a:latin typeface="Arial"/>
              <a:ea typeface="Arial"/>
              <a:cs typeface="Arial"/>
            </a:endParaRPr>
          </a:p>
        </p:txBody>
      </p:sp>
    </p:spTree>
    <p:extLst>
      <p:ext uri="{BB962C8B-B14F-4D97-AF65-F5344CB8AC3E}">
        <p14:creationId xmlns:p14="http://schemas.microsoft.com/office/powerpoint/2010/main" val="25198946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canvas">
            <a:extLst>
              <a:ext uri="{FF2B5EF4-FFF2-40B4-BE49-F238E27FC236}">
                <a16:creationId xmlns:a16="http://schemas.microsoft.com/office/drawing/2014/main" id="{F8788790-BF38-F643-B724-D76B8AECAE32}"/>
              </a:ext>
            </a:extLst>
          </p:cNvPr>
          <p:cNvSpPr/>
          <p:nvPr/>
        </p:nvSpPr>
        <p:spPr>
          <a:xfrm>
            <a:off x="0" y="0"/>
            <a:ext cx="9144000" cy="51435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6" name="left_rail">
            <a:extLst>
              <a:ext uri="{FF2B5EF4-FFF2-40B4-BE49-F238E27FC236}">
                <a16:creationId xmlns:a16="http://schemas.microsoft.com/office/drawing/2014/main" id="{EBBE8451-1E38-AE40-A2A3-86FAC22B21F8}"/>
              </a:ext>
            </a:extLst>
          </p:cNvPr>
          <p:cNvSpPr/>
          <p:nvPr/>
        </p:nvSpPr>
        <p:spPr>
          <a:xfrm>
            <a:off x="361950" y="742950"/>
            <a:ext cx="57150" cy="3638550"/>
          </a:xfrm>
          <a:prstGeom prst="rect">
            <a:avLst/>
          </a:prstGeom>
          <a:solidFill>
            <a:srgbClr val="5B00F5">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7" name="kicker">
            <a:extLst>
              <a:ext uri="{FF2B5EF4-FFF2-40B4-BE49-F238E27FC236}">
                <a16:creationId xmlns:a16="http://schemas.microsoft.com/office/drawing/2014/main" id="{8CA1766A-9B63-6C41-9195-20E2BEE551B7}"/>
              </a:ext>
            </a:extLst>
          </p:cNvPr>
          <p:cNvSpPr txBox="1"/>
          <p:nvPr/>
        </p:nvSpPr>
        <p:spPr>
          <a:xfrm>
            <a:off x="552450" y="304800"/>
            <a:ext cx="3937000" cy="152400"/>
          </a:xfrm>
          <a:prstGeom prst="rect">
            <a:avLst/>
          </a:prstGeom>
          <a:noFill/>
        </p:spPr>
        <p:txBody>
          <a:bodyPr vertOverflow="overflow" vert="horz" wrap="square" rtlCol="0" anchor="t">
            <a:noAutofit/>
          </a:bodyPr>
          <a:lstStyle/>
          <a:p>
            <a:pPr algn="l"/>
            <a:r>
              <a:rPr lang="en-US" sz="1100" b="1" dirty="0">
                <a:solidFill>
                  <a:srgbClr val="4A00E2"/>
                </a:solidFill>
                <a:latin typeface="Arial"/>
                <a:cs typeface="Arial"/>
              </a:rPr>
              <a:t>APPENDIX A2</a:t>
            </a:r>
          </a:p>
        </p:txBody>
      </p:sp>
      <p:sp>
        <p:nvSpPr>
          <p:cNvPr id="18" name="title">
            <a:extLst>
              <a:ext uri="{FF2B5EF4-FFF2-40B4-BE49-F238E27FC236}">
                <a16:creationId xmlns:a16="http://schemas.microsoft.com/office/drawing/2014/main" id="{66DA3F8B-CCBA-6949-AE02-1175B43DF2A9}"/>
              </a:ext>
            </a:extLst>
          </p:cNvPr>
          <p:cNvSpPr txBox="1"/>
          <p:nvPr/>
        </p:nvSpPr>
        <p:spPr>
          <a:xfrm>
            <a:off x="552450" y="495300"/>
            <a:ext cx="7937500" cy="533400"/>
          </a:xfrm>
          <a:prstGeom prst="rect">
            <a:avLst/>
          </a:prstGeom>
          <a:noFill/>
        </p:spPr>
        <p:txBody>
          <a:bodyPr vertOverflow="overflow" vert="horz" wrap="square" rtlCol="0" anchor="t">
            <a:noAutofit/>
          </a:bodyPr>
          <a:lstStyle/>
          <a:p>
            <a:pPr algn="l"/>
            <a:r>
              <a:rPr lang="en-US" sz="2400" b="1" dirty="0">
                <a:solidFill>
                  <a:srgbClr val="110057"/>
                </a:solidFill>
                <a:latin typeface="Arial"/>
                <a:cs typeface="Arial"/>
              </a:rPr>
              <a:t>A2. Potential-outcomes notation</a:t>
            </a:r>
          </a:p>
        </p:txBody>
      </p:sp>
      <p:sp>
        <p:nvSpPr>
          <p:cNvPr id="19" name="left_panel_bg">
            <a:extLst>
              <a:ext uri="{FF2B5EF4-FFF2-40B4-BE49-F238E27FC236}">
                <a16:creationId xmlns:a16="http://schemas.microsoft.com/office/drawing/2014/main" id="{04C566D7-85B7-9F41-BCE6-3C7CDD428678}"/>
              </a:ext>
            </a:extLst>
          </p:cNvPr>
          <p:cNvSpPr/>
          <p:nvPr/>
        </p:nvSpPr>
        <p:spPr>
          <a:xfrm>
            <a:off x="698500" y="1295400"/>
            <a:ext cx="3619500" cy="2768600"/>
          </a:xfrm>
          <a:prstGeom prst="rect">
            <a:avLst/>
          </a:prstGeom>
          <a:solidFill>
            <a:srgbClr val="F0FBFA">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0" name="right_panel_bg">
            <a:extLst>
              <a:ext uri="{FF2B5EF4-FFF2-40B4-BE49-F238E27FC236}">
                <a16:creationId xmlns:a16="http://schemas.microsoft.com/office/drawing/2014/main" id="{265FE54D-9DA3-0843-A7B6-0CDC6D431F5E}"/>
              </a:ext>
            </a:extLst>
          </p:cNvPr>
          <p:cNvSpPr/>
          <p:nvPr/>
        </p:nvSpPr>
        <p:spPr>
          <a:xfrm>
            <a:off x="4648200" y="1295400"/>
            <a:ext cx="3810000" cy="2768600"/>
          </a:xfrm>
          <a:prstGeom prst="rect">
            <a:avLst/>
          </a:prstGeom>
          <a:solidFill>
            <a:srgbClr val="F5F1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1" name="left_panel_heading">
            <a:extLst>
              <a:ext uri="{FF2B5EF4-FFF2-40B4-BE49-F238E27FC236}">
                <a16:creationId xmlns:a16="http://schemas.microsoft.com/office/drawing/2014/main" id="{3CAE9B56-D0EA-B949-BD3C-DFF45776A98E}"/>
              </a:ext>
            </a:extLst>
          </p:cNvPr>
          <p:cNvSpPr txBox="1"/>
          <p:nvPr/>
        </p:nvSpPr>
        <p:spPr>
          <a:xfrm>
            <a:off x="876300" y="1473200"/>
            <a:ext cx="2984500" cy="203200"/>
          </a:xfrm>
          <a:prstGeom prst="rect">
            <a:avLst/>
          </a:prstGeom>
          <a:noFill/>
        </p:spPr>
        <p:txBody>
          <a:bodyPr vertOverflow="overflow" vert="horz" wrap="square" rtlCol="0" anchor="t">
            <a:noAutofit/>
          </a:bodyPr>
          <a:lstStyle/>
          <a:p>
            <a:pPr algn="l"/>
            <a:r>
              <a:rPr lang="en-US" sz="1300" b="1">
                <a:solidFill>
                  <a:srgbClr val="5B00F5"/>
                </a:solidFill>
                <a:latin typeface="Arial"/>
                <a:cs typeface="Arial"/>
              </a:rPr>
              <a:t>Individual treatment effect</a:t>
            </a:r>
          </a:p>
        </p:txBody>
      </p:sp>
      <p:sp>
        <p:nvSpPr>
          <p:cNvPr id="22" name="left_formula">
            <a:extLst>
              <a:ext uri="{FF2B5EF4-FFF2-40B4-BE49-F238E27FC236}">
                <a16:creationId xmlns:a16="http://schemas.microsoft.com/office/drawing/2014/main" id="{FF8B92A5-DD2F-9B4E-A4A4-FBDB2FA317E5}"/>
              </a:ext>
            </a:extLst>
          </p:cNvPr>
          <p:cNvSpPr txBox="1"/>
          <p:nvPr/>
        </p:nvSpPr>
        <p:spPr>
          <a:xfrm>
            <a:off x="876300" y="1803400"/>
            <a:ext cx="3175000" cy="431800"/>
          </a:xfrm>
          <a:prstGeom prst="rect">
            <a:avLst/>
          </a:prstGeom>
          <a:noFill/>
        </p:spPr>
        <p:txBody>
          <a:bodyPr vertOverflow="overflow" vert="horz" wrap="square" rtlCol="0" anchor="t">
            <a:normAutofit/>
          </a:bodyPr>
          <a:lstStyle/>
          <a:p>
            <a:pPr algn="l"/>
            <a:r>
              <a:rPr lang="en-US" sz="1300" b="1">
                <a:solidFill>
                  <a:srgbClr val="5B00F5"/>
                </a:solidFill>
                <a:latin typeface="Arial"/>
                <a:cs typeface="Arial"/>
              </a:rPr>
              <a:t>Y(1) − Y(0)</a:t>
            </a:r>
          </a:p>
        </p:txBody>
      </p:sp>
      <p:sp>
        <p:nvSpPr>
          <p:cNvPr id="23" name="left_subtitle">
            <a:extLst>
              <a:ext uri="{FF2B5EF4-FFF2-40B4-BE49-F238E27FC236}">
                <a16:creationId xmlns:a16="http://schemas.microsoft.com/office/drawing/2014/main" id="{3C6B9BAB-4D9F-024B-A947-93E1C2EDC41C}"/>
              </a:ext>
            </a:extLst>
          </p:cNvPr>
          <p:cNvSpPr txBox="1"/>
          <p:nvPr/>
        </p:nvSpPr>
        <p:spPr>
          <a:xfrm>
            <a:off x="952500" y="2209800"/>
            <a:ext cx="3175000" cy="304800"/>
          </a:xfrm>
          <a:prstGeom prst="rect">
            <a:avLst/>
          </a:prstGeom>
          <a:noFill/>
        </p:spPr>
        <p:txBody>
          <a:bodyPr vertOverflow="overflow" vert="horz" wrap="square" rtlCol="0" anchor="t">
            <a:noAutofit/>
          </a:bodyPr>
          <a:lstStyle/>
          <a:p>
            <a:pPr algn="l"/>
            <a:r>
              <a:rPr lang="en-US" sz="1100">
                <a:solidFill>
                  <a:srgbClr val="160057"/>
                </a:solidFill>
                <a:latin typeface="Arial"/>
                <a:cs typeface="Arial"/>
              </a:rPr>
              <a:t>Only one potential outcome is observed.</a:t>
            </a:r>
          </a:p>
        </p:txBody>
      </p:sp>
      <p:sp>
        <p:nvSpPr>
          <p:cNvPr id="24" name="observed_card_bg">
            <a:extLst>
              <a:ext uri="{FF2B5EF4-FFF2-40B4-BE49-F238E27FC236}">
                <a16:creationId xmlns:a16="http://schemas.microsoft.com/office/drawing/2014/main" id="{60AC34EC-3F26-F44B-B299-1099C09E7AC3}"/>
              </a:ext>
            </a:extLst>
          </p:cNvPr>
          <p:cNvSpPr/>
          <p:nvPr/>
        </p:nvSpPr>
        <p:spPr>
          <a:xfrm>
            <a:off x="939800" y="2514600"/>
            <a:ext cx="1422400" cy="6350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5" name="missing_card_bg">
            <a:extLst>
              <a:ext uri="{FF2B5EF4-FFF2-40B4-BE49-F238E27FC236}">
                <a16:creationId xmlns:a16="http://schemas.microsoft.com/office/drawing/2014/main" id="{07B1B1F1-7071-7348-823C-5E9C7100C9E2}"/>
              </a:ext>
            </a:extLst>
          </p:cNvPr>
          <p:cNvSpPr/>
          <p:nvPr/>
        </p:nvSpPr>
        <p:spPr>
          <a:xfrm>
            <a:off x="2590800" y="2514600"/>
            <a:ext cx="1422400" cy="6350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6" name="observed_label">
            <a:extLst>
              <a:ext uri="{FF2B5EF4-FFF2-40B4-BE49-F238E27FC236}">
                <a16:creationId xmlns:a16="http://schemas.microsoft.com/office/drawing/2014/main" id="{6354E5AF-A253-424D-8BCB-B7EF7F5D995E}"/>
              </a:ext>
            </a:extLst>
          </p:cNvPr>
          <p:cNvSpPr txBox="1"/>
          <p:nvPr/>
        </p:nvSpPr>
        <p:spPr>
          <a:xfrm>
            <a:off x="1066800" y="2616200"/>
            <a:ext cx="1168400" cy="152400"/>
          </a:xfrm>
          <a:prstGeom prst="rect">
            <a:avLst/>
          </a:prstGeom>
          <a:noFill/>
        </p:spPr>
        <p:txBody>
          <a:bodyPr vertOverflow="overflow" vert="horz" wrap="square" rtlCol="0" anchor="t">
            <a:noAutofit/>
          </a:bodyPr>
          <a:lstStyle/>
          <a:p>
            <a:pPr algn="l"/>
            <a:r>
              <a:rPr lang="en-US" sz="1100" b="1">
                <a:solidFill>
                  <a:srgbClr val="5B00F5"/>
                </a:solidFill>
                <a:latin typeface="Arial"/>
                <a:cs typeface="Arial"/>
              </a:rPr>
              <a:t>Observed</a:t>
            </a:r>
          </a:p>
        </p:txBody>
      </p:sp>
      <p:sp>
        <p:nvSpPr>
          <p:cNvPr id="27" name="observed_text">
            <a:extLst>
              <a:ext uri="{FF2B5EF4-FFF2-40B4-BE49-F238E27FC236}">
                <a16:creationId xmlns:a16="http://schemas.microsoft.com/office/drawing/2014/main" id="{D7757FBC-3C04-D54E-8F80-5D454880EA9B}"/>
              </a:ext>
            </a:extLst>
          </p:cNvPr>
          <p:cNvSpPr txBox="1"/>
          <p:nvPr/>
        </p:nvSpPr>
        <p:spPr>
          <a:xfrm>
            <a:off x="1066800" y="2819400"/>
            <a:ext cx="1168400" cy="152400"/>
          </a:xfrm>
          <a:prstGeom prst="rect">
            <a:avLst/>
          </a:prstGeom>
          <a:noFill/>
        </p:spPr>
        <p:txBody>
          <a:bodyPr vertOverflow="overflow" vert="horz" wrap="square" rtlCol="0" anchor="t">
            <a:noAutofit/>
          </a:bodyPr>
          <a:lstStyle/>
          <a:p>
            <a:pPr algn="l"/>
            <a:r>
              <a:rPr lang="en-US" sz="1000">
                <a:solidFill>
                  <a:srgbClr val="160057"/>
                </a:solidFill>
                <a:latin typeface="Arial"/>
                <a:cs typeface="Arial"/>
              </a:rPr>
              <a:t>assigned path</a:t>
            </a:r>
          </a:p>
        </p:txBody>
      </p:sp>
      <p:sp>
        <p:nvSpPr>
          <p:cNvPr id="28" name="missing_label">
            <a:extLst>
              <a:ext uri="{FF2B5EF4-FFF2-40B4-BE49-F238E27FC236}">
                <a16:creationId xmlns:a16="http://schemas.microsoft.com/office/drawing/2014/main" id="{7AE0BDD9-B36D-5949-A8FC-331443B1528D}"/>
              </a:ext>
            </a:extLst>
          </p:cNvPr>
          <p:cNvSpPr txBox="1"/>
          <p:nvPr/>
        </p:nvSpPr>
        <p:spPr>
          <a:xfrm>
            <a:off x="2717800" y="2616200"/>
            <a:ext cx="1168400" cy="152400"/>
          </a:xfrm>
          <a:prstGeom prst="rect">
            <a:avLst/>
          </a:prstGeom>
          <a:noFill/>
        </p:spPr>
        <p:txBody>
          <a:bodyPr vertOverflow="overflow" vert="horz" wrap="square" rtlCol="0" anchor="t">
            <a:noAutofit/>
          </a:bodyPr>
          <a:lstStyle/>
          <a:p>
            <a:pPr algn="l"/>
            <a:r>
              <a:rPr lang="en-US" sz="1100" b="1">
                <a:solidFill>
                  <a:srgbClr val="FF5A5F"/>
                </a:solidFill>
                <a:latin typeface="Arial"/>
                <a:cs typeface="Arial"/>
              </a:rPr>
              <a:t>Missing</a:t>
            </a:r>
          </a:p>
        </p:txBody>
      </p:sp>
      <p:sp>
        <p:nvSpPr>
          <p:cNvPr id="29" name="missing_text">
            <a:extLst>
              <a:ext uri="{FF2B5EF4-FFF2-40B4-BE49-F238E27FC236}">
                <a16:creationId xmlns:a16="http://schemas.microsoft.com/office/drawing/2014/main" id="{38A06486-A350-9B44-B916-727AF7CFD688}"/>
              </a:ext>
            </a:extLst>
          </p:cNvPr>
          <p:cNvSpPr txBox="1"/>
          <p:nvPr/>
        </p:nvSpPr>
        <p:spPr>
          <a:xfrm>
            <a:off x="2717800" y="2819400"/>
            <a:ext cx="1168400" cy="152400"/>
          </a:xfrm>
          <a:prstGeom prst="rect">
            <a:avLst/>
          </a:prstGeom>
          <a:noFill/>
        </p:spPr>
        <p:txBody>
          <a:bodyPr vertOverflow="overflow" vert="horz" wrap="square" rtlCol="0" anchor="t">
            <a:noAutofit/>
          </a:bodyPr>
          <a:lstStyle/>
          <a:p>
            <a:pPr algn="l"/>
            <a:r>
              <a:rPr lang="en-US" sz="1000">
                <a:solidFill>
                  <a:srgbClr val="160057"/>
                </a:solidFill>
                <a:latin typeface="Arial"/>
                <a:cs typeface="Arial"/>
              </a:rPr>
              <a:t>counterfactual</a:t>
            </a:r>
          </a:p>
        </p:txBody>
      </p:sp>
      <p:sp>
        <p:nvSpPr>
          <p:cNvPr id="30" name="left_warning">
            <a:extLst>
              <a:ext uri="{FF2B5EF4-FFF2-40B4-BE49-F238E27FC236}">
                <a16:creationId xmlns:a16="http://schemas.microsoft.com/office/drawing/2014/main" id="{2F11ED3D-AA39-3848-B7D1-FDA4115646F1}"/>
              </a:ext>
            </a:extLst>
          </p:cNvPr>
          <p:cNvSpPr txBox="1"/>
          <p:nvPr/>
        </p:nvSpPr>
        <p:spPr>
          <a:xfrm>
            <a:off x="965200" y="3327400"/>
            <a:ext cx="3022600" cy="254000"/>
          </a:xfrm>
          <a:prstGeom prst="rect">
            <a:avLst/>
          </a:prstGeom>
          <a:noFill/>
        </p:spPr>
        <p:txBody>
          <a:bodyPr vertOverflow="overflow" vert="horz" wrap="square" rtlCol="0" anchor="t">
            <a:noAutofit/>
          </a:bodyPr>
          <a:lstStyle/>
          <a:p>
            <a:pPr algn="l"/>
            <a:r>
              <a:rPr lang="en-US" sz="1100" b="1">
                <a:solidFill>
                  <a:srgbClr val="D04A02"/>
                </a:solidFill>
                <a:latin typeface="Arial"/>
                <a:cs typeface="Arial"/>
              </a:rPr>
              <a:t>Individual effects remain unobserved—even in an RCT.</a:t>
            </a:r>
          </a:p>
        </p:txBody>
      </p:sp>
      <p:sp>
        <p:nvSpPr>
          <p:cNvPr id="31" name="right_panel_heading">
            <a:extLst>
              <a:ext uri="{FF2B5EF4-FFF2-40B4-BE49-F238E27FC236}">
                <a16:creationId xmlns:a16="http://schemas.microsoft.com/office/drawing/2014/main" id="{A9FBDC34-96AA-CF41-9473-E7EE366DDC07}"/>
              </a:ext>
            </a:extLst>
          </p:cNvPr>
          <p:cNvSpPr txBox="1"/>
          <p:nvPr/>
        </p:nvSpPr>
        <p:spPr>
          <a:xfrm>
            <a:off x="4838700" y="1473200"/>
            <a:ext cx="3175000" cy="203200"/>
          </a:xfrm>
          <a:prstGeom prst="rect">
            <a:avLst/>
          </a:prstGeom>
          <a:noFill/>
        </p:spPr>
        <p:txBody>
          <a:bodyPr vertOverflow="overflow" vert="horz" wrap="square" rtlCol="0" anchor="t">
            <a:noAutofit/>
          </a:bodyPr>
          <a:lstStyle/>
          <a:p>
            <a:pPr algn="l"/>
            <a:r>
              <a:rPr lang="en-US" sz="1300" b="1">
                <a:solidFill>
                  <a:srgbClr val="5B00F5"/>
                </a:solidFill>
                <a:latin typeface="Arial"/>
                <a:cs typeface="Arial"/>
              </a:rPr>
              <a:t>Reference-class treatment effect</a:t>
            </a:r>
          </a:p>
        </p:txBody>
      </p:sp>
      <p:sp>
        <p:nvSpPr>
          <p:cNvPr id="32" name="right_formula">
            <a:extLst>
              <a:ext uri="{FF2B5EF4-FFF2-40B4-BE49-F238E27FC236}">
                <a16:creationId xmlns:a16="http://schemas.microsoft.com/office/drawing/2014/main" id="{72E799F4-8531-4443-BD2B-0B6992B116B3}"/>
              </a:ext>
            </a:extLst>
          </p:cNvPr>
          <p:cNvSpPr txBox="1"/>
          <p:nvPr/>
        </p:nvSpPr>
        <p:spPr>
          <a:xfrm>
            <a:off x="4927600" y="1778000"/>
            <a:ext cx="3225800" cy="330200"/>
          </a:xfrm>
          <a:prstGeom prst="rect">
            <a:avLst/>
          </a:prstGeom>
          <a:noFill/>
        </p:spPr>
        <p:txBody>
          <a:bodyPr vertOverflow="overflow" vert="horz" wrap="square" rtlCol="0" anchor="t">
            <a:noAutofit/>
          </a:bodyPr>
          <a:lstStyle/>
          <a:p>
            <a:pPr algn="l"/>
            <a:r>
              <a:rPr lang="el-GR" sz="1300" b="1">
                <a:solidFill>
                  <a:srgbClr val="5B00F5"/>
                </a:solidFill>
                <a:latin typeface="Arial"/>
                <a:cs typeface="Arial"/>
              </a:rPr>
              <a:t>τ(</a:t>
            </a:r>
            <a:r>
              <a:rPr lang="en-US" sz="1300" b="1">
                <a:solidFill>
                  <a:srgbClr val="5B00F5"/>
                </a:solidFill>
                <a:latin typeface="Arial"/>
                <a:cs typeface="Arial"/>
              </a:rPr>
              <a:t>x) = E[Y(1) − Y(0) | X = x]</a:t>
            </a:r>
          </a:p>
        </p:txBody>
      </p:sp>
      <p:sp>
        <p:nvSpPr>
          <p:cNvPr id="33" name="right_formula2">
            <a:extLst>
              <a:ext uri="{FF2B5EF4-FFF2-40B4-BE49-F238E27FC236}">
                <a16:creationId xmlns:a16="http://schemas.microsoft.com/office/drawing/2014/main" id="{F8A1EBEC-03F5-7D4C-BD64-70B6DDBD6FF0}"/>
              </a:ext>
            </a:extLst>
          </p:cNvPr>
          <p:cNvSpPr txBox="1"/>
          <p:nvPr/>
        </p:nvSpPr>
        <p:spPr>
          <a:xfrm>
            <a:off x="4927600" y="2108200"/>
            <a:ext cx="3225800" cy="1905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 risk under control − risk under treatment</a:t>
            </a:r>
          </a:p>
        </p:txBody>
      </p:sp>
      <p:sp>
        <p:nvSpPr>
          <p:cNvPr id="34" name="right_divider">
            <a:extLst>
              <a:ext uri="{FF2B5EF4-FFF2-40B4-BE49-F238E27FC236}">
                <a16:creationId xmlns:a16="http://schemas.microsoft.com/office/drawing/2014/main" id="{25B9E1F6-10C4-BA4C-9963-177B8A7B48A9}"/>
              </a:ext>
            </a:extLst>
          </p:cNvPr>
          <p:cNvSpPr/>
          <p:nvPr/>
        </p:nvSpPr>
        <p:spPr>
          <a:xfrm>
            <a:off x="4953000" y="2362200"/>
            <a:ext cx="3175000" cy="15240"/>
          </a:xfrm>
          <a:prstGeom prst="rect">
            <a:avLst/>
          </a:prstGeom>
          <a:solidFill>
            <a:srgbClr val="D9D3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5" name="step_1_circle_proxy">
            <a:extLst>
              <a:ext uri="{FF2B5EF4-FFF2-40B4-BE49-F238E27FC236}">
                <a16:creationId xmlns:a16="http://schemas.microsoft.com/office/drawing/2014/main" id="{01558AE3-A56D-074A-B9DF-3364B0E00CF3}"/>
              </a:ext>
            </a:extLst>
          </p:cNvPr>
          <p:cNvSpPr/>
          <p:nvPr/>
        </p:nvSpPr>
        <p:spPr>
          <a:xfrm>
            <a:off x="4902200" y="2489200"/>
            <a:ext cx="190500" cy="190500"/>
          </a:xfrm>
          <a:prstGeom prst="rect">
            <a:avLst/>
          </a:prstGeom>
          <a:solidFill>
            <a:srgbClr val="5B00F5">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6" name="step_1_num">
            <a:extLst>
              <a:ext uri="{FF2B5EF4-FFF2-40B4-BE49-F238E27FC236}">
                <a16:creationId xmlns:a16="http://schemas.microsoft.com/office/drawing/2014/main" id="{CB2CD7D4-FAF1-0D49-88E8-0894E5B2B48F}"/>
              </a:ext>
            </a:extLst>
          </p:cNvPr>
          <p:cNvSpPr txBox="1"/>
          <p:nvPr/>
        </p:nvSpPr>
        <p:spPr>
          <a:xfrm>
            <a:off x="4902200" y="2514600"/>
            <a:ext cx="190500" cy="127000"/>
          </a:xfrm>
          <a:prstGeom prst="rect">
            <a:avLst/>
          </a:prstGeom>
          <a:noFill/>
        </p:spPr>
        <p:txBody>
          <a:bodyPr vertOverflow="overflow" vert="horz" wrap="square" rtlCol="0" anchor="t">
            <a:noAutofit/>
          </a:bodyPr>
          <a:lstStyle/>
          <a:p>
            <a:pPr algn="l"/>
            <a:r>
              <a:rPr lang="en-US" sz="1600" b="1">
                <a:solidFill>
                  <a:srgbClr val="FFFFFF"/>
                </a:solidFill>
                <a:latin typeface="Arial"/>
                <a:cs typeface="Arial"/>
              </a:rPr>
              <a:t>1</a:t>
            </a:r>
          </a:p>
        </p:txBody>
      </p:sp>
      <p:sp>
        <p:nvSpPr>
          <p:cNvPr id="37" name="step_1_head">
            <a:extLst>
              <a:ext uri="{FF2B5EF4-FFF2-40B4-BE49-F238E27FC236}">
                <a16:creationId xmlns:a16="http://schemas.microsoft.com/office/drawing/2014/main" id="{5317FA95-948D-7247-997F-2C69BEADC461}"/>
              </a:ext>
            </a:extLst>
          </p:cNvPr>
          <p:cNvSpPr txBox="1"/>
          <p:nvPr/>
        </p:nvSpPr>
        <p:spPr>
          <a:xfrm>
            <a:off x="5168900" y="2489200"/>
            <a:ext cx="2921000" cy="139700"/>
          </a:xfrm>
          <a:prstGeom prst="rect">
            <a:avLst/>
          </a:prstGeom>
          <a:noFill/>
        </p:spPr>
        <p:txBody>
          <a:bodyPr vertOverflow="overflow" vert="horz" wrap="square" rtlCol="0" anchor="t">
            <a:noAutofit/>
          </a:bodyPr>
          <a:lstStyle/>
          <a:p>
            <a:pPr algn="l"/>
            <a:r>
              <a:rPr lang="en-US" sz="1200" b="1">
                <a:solidFill>
                  <a:srgbClr val="160057"/>
                </a:solidFill>
                <a:latin typeface="Arial"/>
                <a:cs typeface="Arial"/>
              </a:rPr>
              <a:t>Define the reference class</a:t>
            </a:r>
          </a:p>
        </p:txBody>
      </p:sp>
      <p:sp>
        <p:nvSpPr>
          <p:cNvPr id="38" name="step_1_body">
            <a:extLst>
              <a:ext uri="{FF2B5EF4-FFF2-40B4-BE49-F238E27FC236}">
                <a16:creationId xmlns:a16="http://schemas.microsoft.com/office/drawing/2014/main" id="{92AD6DF8-52F7-1B40-8F42-B41BABD7ABBB}"/>
              </a:ext>
            </a:extLst>
          </p:cNvPr>
          <p:cNvSpPr txBox="1"/>
          <p:nvPr/>
        </p:nvSpPr>
        <p:spPr>
          <a:xfrm>
            <a:off x="5168900" y="2654300"/>
            <a:ext cx="2946400" cy="2286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Baseline variables/model, before effects.</a:t>
            </a:r>
          </a:p>
        </p:txBody>
      </p:sp>
      <p:sp>
        <p:nvSpPr>
          <p:cNvPr id="39" name="step_2_circle_proxy">
            <a:extLst>
              <a:ext uri="{FF2B5EF4-FFF2-40B4-BE49-F238E27FC236}">
                <a16:creationId xmlns:a16="http://schemas.microsoft.com/office/drawing/2014/main" id="{C546CD15-40B7-0243-919C-525A408E26A6}"/>
              </a:ext>
            </a:extLst>
          </p:cNvPr>
          <p:cNvSpPr/>
          <p:nvPr/>
        </p:nvSpPr>
        <p:spPr>
          <a:xfrm>
            <a:off x="4902200" y="2971800"/>
            <a:ext cx="190500" cy="190500"/>
          </a:xfrm>
          <a:prstGeom prst="rect">
            <a:avLst/>
          </a:prstGeom>
          <a:solidFill>
            <a:srgbClr val="5B00F5">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0" name="step_2_num">
            <a:extLst>
              <a:ext uri="{FF2B5EF4-FFF2-40B4-BE49-F238E27FC236}">
                <a16:creationId xmlns:a16="http://schemas.microsoft.com/office/drawing/2014/main" id="{EE604F78-11CD-F64C-AE18-744EDE526951}"/>
              </a:ext>
            </a:extLst>
          </p:cNvPr>
          <p:cNvSpPr txBox="1"/>
          <p:nvPr/>
        </p:nvSpPr>
        <p:spPr>
          <a:xfrm>
            <a:off x="4902200" y="2997200"/>
            <a:ext cx="190500" cy="127000"/>
          </a:xfrm>
          <a:prstGeom prst="rect">
            <a:avLst/>
          </a:prstGeom>
          <a:noFill/>
        </p:spPr>
        <p:txBody>
          <a:bodyPr vertOverflow="overflow" vert="horz" wrap="square" rtlCol="0" anchor="t">
            <a:noAutofit/>
          </a:bodyPr>
          <a:lstStyle/>
          <a:p>
            <a:pPr algn="l"/>
            <a:r>
              <a:rPr lang="en-US" sz="1600" b="1">
                <a:solidFill>
                  <a:srgbClr val="FFFFFF"/>
                </a:solidFill>
                <a:latin typeface="Arial"/>
                <a:cs typeface="Arial"/>
              </a:rPr>
              <a:t>2</a:t>
            </a:r>
          </a:p>
        </p:txBody>
      </p:sp>
      <p:sp>
        <p:nvSpPr>
          <p:cNvPr id="41" name="step_2_head">
            <a:extLst>
              <a:ext uri="{FF2B5EF4-FFF2-40B4-BE49-F238E27FC236}">
                <a16:creationId xmlns:a16="http://schemas.microsoft.com/office/drawing/2014/main" id="{0D150FE4-06FE-2D43-BFE4-5EAD8980A6E6}"/>
              </a:ext>
            </a:extLst>
          </p:cNvPr>
          <p:cNvSpPr txBox="1"/>
          <p:nvPr/>
        </p:nvSpPr>
        <p:spPr>
          <a:xfrm>
            <a:off x="5168900" y="2971800"/>
            <a:ext cx="2921000" cy="139700"/>
          </a:xfrm>
          <a:prstGeom prst="rect">
            <a:avLst/>
          </a:prstGeom>
          <a:noFill/>
        </p:spPr>
        <p:txBody>
          <a:bodyPr vertOverflow="overflow" vert="horz" wrap="square" rtlCol="0" anchor="t">
            <a:noAutofit/>
          </a:bodyPr>
          <a:lstStyle/>
          <a:p>
            <a:pPr algn="l"/>
            <a:r>
              <a:rPr lang="en-US" sz="1200" b="1">
                <a:solidFill>
                  <a:srgbClr val="160057"/>
                </a:solidFill>
                <a:latin typeface="Arial"/>
                <a:cs typeface="Arial"/>
              </a:rPr>
              <a:t>Preserve randomization</a:t>
            </a:r>
          </a:p>
        </p:txBody>
      </p:sp>
      <p:sp>
        <p:nvSpPr>
          <p:cNvPr id="42" name="step_2_body">
            <a:extLst>
              <a:ext uri="{FF2B5EF4-FFF2-40B4-BE49-F238E27FC236}">
                <a16:creationId xmlns:a16="http://schemas.microsoft.com/office/drawing/2014/main" id="{1B16842A-ABA9-4744-9EF6-DE97E0D73141}"/>
              </a:ext>
            </a:extLst>
          </p:cNvPr>
          <p:cNvSpPr txBox="1"/>
          <p:nvPr/>
        </p:nvSpPr>
        <p:spPr>
          <a:xfrm>
            <a:off x="5168900" y="3136900"/>
            <a:ext cx="2946400" cy="2286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Randomization holds within the class.</a:t>
            </a:r>
          </a:p>
        </p:txBody>
      </p:sp>
      <p:sp>
        <p:nvSpPr>
          <p:cNvPr id="43" name="step_3_circle_proxy">
            <a:extLst>
              <a:ext uri="{FF2B5EF4-FFF2-40B4-BE49-F238E27FC236}">
                <a16:creationId xmlns:a16="http://schemas.microsoft.com/office/drawing/2014/main" id="{35AEF12D-EB11-D242-B811-27F2AD8FB059}"/>
              </a:ext>
            </a:extLst>
          </p:cNvPr>
          <p:cNvSpPr/>
          <p:nvPr/>
        </p:nvSpPr>
        <p:spPr>
          <a:xfrm>
            <a:off x="4902200" y="3454400"/>
            <a:ext cx="190500" cy="190500"/>
          </a:xfrm>
          <a:prstGeom prst="rect">
            <a:avLst/>
          </a:prstGeom>
          <a:solidFill>
            <a:srgbClr val="5B00F5">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4" name="step_3_num">
            <a:extLst>
              <a:ext uri="{FF2B5EF4-FFF2-40B4-BE49-F238E27FC236}">
                <a16:creationId xmlns:a16="http://schemas.microsoft.com/office/drawing/2014/main" id="{3790D004-0337-1C42-88A9-0E6861761F48}"/>
              </a:ext>
            </a:extLst>
          </p:cNvPr>
          <p:cNvSpPr txBox="1"/>
          <p:nvPr/>
        </p:nvSpPr>
        <p:spPr>
          <a:xfrm>
            <a:off x="4902200" y="3479800"/>
            <a:ext cx="190500" cy="127000"/>
          </a:xfrm>
          <a:prstGeom prst="rect">
            <a:avLst/>
          </a:prstGeom>
          <a:noFill/>
        </p:spPr>
        <p:txBody>
          <a:bodyPr vertOverflow="overflow" vert="horz" wrap="square" rtlCol="0" anchor="t">
            <a:noAutofit/>
          </a:bodyPr>
          <a:lstStyle/>
          <a:p>
            <a:pPr algn="l"/>
            <a:r>
              <a:rPr lang="en-US" sz="1600" b="1">
                <a:solidFill>
                  <a:srgbClr val="FFFFFF"/>
                </a:solidFill>
                <a:latin typeface="Arial"/>
                <a:cs typeface="Arial"/>
              </a:rPr>
              <a:t>3</a:t>
            </a:r>
          </a:p>
        </p:txBody>
      </p:sp>
      <p:sp>
        <p:nvSpPr>
          <p:cNvPr id="45" name="step_3_head">
            <a:extLst>
              <a:ext uri="{FF2B5EF4-FFF2-40B4-BE49-F238E27FC236}">
                <a16:creationId xmlns:a16="http://schemas.microsoft.com/office/drawing/2014/main" id="{56F8585D-0ECC-9143-B944-E5660E7FE814}"/>
              </a:ext>
            </a:extLst>
          </p:cNvPr>
          <p:cNvSpPr txBox="1"/>
          <p:nvPr/>
        </p:nvSpPr>
        <p:spPr>
          <a:xfrm>
            <a:off x="5168900" y="3454400"/>
            <a:ext cx="2921000" cy="139700"/>
          </a:xfrm>
          <a:prstGeom prst="rect">
            <a:avLst/>
          </a:prstGeom>
          <a:noFill/>
        </p:spPr>
        <p:txBody>
          <a:bodyPr vertOverflow="overflow" vert="horz" wrap="square" rtlCol="0" anchor="t">
            <a:noAutofit/>
          </a:bodyPr>
          <a:lstStyle/>
          <a:p>
            <a:pPr algn="l"/>
            <a:r>
              <a:rPr lang="en-US" sz="1200" b="1">
                <a:solidFill>
                  <a:srgbClr val="160057"/>
                </a:solidFill>
                <a:latin typeface="Arial"/>
                <a:cs typeface="Arial"/>
              </a:rPr>
              <a:t>Report ARR / NNT by risk</a:t>
            </a:r>
          </a:p>
        </p:txBody>
      </p:sp>
      <p:sp>
        <p:nvSpPr>
          <p:cNvPr id="46" name="step_3_body">
            <a:extLst>
              <a:ext uri="{FF2B5EF4-FFF2-40B4-BE49-F238E27FC236}">
                <a16:creationId xmlns:a16="http://schemas.microsoft.com/office/drawing/2014/main" id="{48A68E2E-3EA5-8749-AA09-5F48C0BBA4DF}"/>
              </a:ext>
            </a:extLst>
          </p:cNvPr>
          <p:cNvSpPr txBox="1"/>
          <p:nvPr/>
        </p:nvSpPr>
        <p:spPr>
          <a:xfrm>
            <a:off x="5168900" y="3619500"/>
            <a:ext cx="2946400" cy="2286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Event-rate differences; no counterfactual.</a:t>
            </a:r>
          </a:p>
        </p:txBody>
      </p:sp>
      <p:sp>
        <p:nvSpPr>
          <p:cNvPr id="47" name="takeaway_band">
            <a:extLst>
              <a:ext uri="{FF2B5EF4-FFF2-40B4-BE49-F238E27FC236}">
                <a16:creationId xmlns:a16="http://schemas.microsoft.com/office/drawing/2014/main" id="{34039726-317B-DB4D-8E2B-74DCF2F1E2F1}"/>
              </a:ext>
            </a:extLst>
          </p:cNvPr>
          <p:cNvSpPr/>
          <p:nvPr/>
        </p:nvSpPr>
        <p:spPr>
          <a:xfrm>
            <a:off x="850900" y="4267200"/>
            <a:ext cx="7493000" cy="406400"/>
          </a:xfrm>
          <a:prstGeom prst="rect">
            <a:avLst/>
          </a:prstGeom>
          <a:solidFill>
            <a:srgbClr val="EFE8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8" name="takeaway_text">
            <a:extLst>
              <a:ext uri="{FF2B5EF4-FFF2-40B4-BE49-F238E27FC236}">
                <a16:creationId xmlns:a16="http://schemas.microsoft.com/office/drawing/2014/main" id="{230CC664-0D06-924C-8C46-25426B60B306}"/>
              </a:ext>
            </a:extLst>
          </p:cNvPr>
          <p:cNvSpPr txBox="1"/>
          <p:nvPr/>
        </p:nvSpPr>
        <p:spPr>
          <a:xfrm>
            <a:off x="990600" y="4356100"/>
            <a:ext cx="7213600" cy="228600"/>
          </a:xfrm>
          <a:prstGeom prst="rect">
            <a:avLst/>
          </a:prstGeom>
          <a:noFill/>
        </p:spPr>
        <p:txBody>
          <a:bodyPr vertOverflow="overflow" vert="horz" wrap="square" rtlCol="0" anchor="t">
            <a:noAutofit/>
          </a:bodyPr>
          <a:lstStyle/>
          <a:p>
            <a:pPr algn="l"/>
            <a:r>
              <a:rPr lang="en-US" sz="1200" b="1">
                <a:solidFill>
                  <a:srgbClr val="D04A02"/>
                </a:solidFill>
                <a:latin typeface="Arial"/>
                <a:cs typeface="Arial"/>
              </a:rPr>
              <a:t>CATE is a randomized average for a risk-defined reference class—not a directly observed patient-level effect.</a:t>
            </a:r>
          </a:p>
        </p:txBody>
      </p:sp>
      <p:sp>
        <p:nvSpPr>
          <p:cNvPr id="49" name="source_note">
            <a:extLst>
              <a:ext uri="{FF2B5EF4-FFF2-40B4-BE49-F238E27FC236}">
                <a16:creationId xmlns:a16="http://schemas.microsoft.com/office/drawing/2014/main" id="{EF6A01D6-7043-DF46-B1B0-9CA646131432}"/>
              </a:ext>
            </a:extLst>
          </p:cNvPr>
          <p:cNvSpPr txBox="1"/>
          <p:nvPr/>
        </p:nvSpPr>
        <p:spPr>
          <a:xfrm>
            <a:off x="552450" y="4902200"/>
            <a:ext cx="8128000" cy="114300"/>
          </a:xfrm>
          <a:prstGeom prst="rect">
            <a:avLst/>
          </a:prstGeom>
          <a:noFill/>
        </p:spPr>
        <p:txBody>
          <a:bodyPr vertOverflow="overflow" vert="horz" wrap="square" rtlCol="0" anchor="t">
            <a:noAutofit/>
          </a:bodyPr>
          <a:lstStyle/>
          <a:p>
            <a:pPr algn="l"/>
            <a:r>
              <a:rPr lang="en-US" sz="1000">
                <a:solidFill>
                  <a:srgbClr val="5E5573"/>
                </a:solidFill>
                <a:latin typeface="Arial"/>
                <a:cs typeface="Arial"/>
              </a:rPr>
              <a:t>Source: PATH Statement (Kent et al., Ann Intern Med 2020).</a:t>
            </a:r>
          </a:p>
        </p:txBody>
      </p:sp>
    </p:spTree>
    <p:extLst>
      <p:ext uri="{BB962C8B-B14F-4D97-AF65-F5344CB8AC3E}">
        <p14:creationId xmlns:p14="http://schemas.microsoft.com/office/powerpoint/2010/main" val="2286412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A0378DF-766D-4763-8241-B1DBAD99392A}"/>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32351396-262F-441C-8788-60444BCA874E}"/>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24515BF3-0194-4C05-A0C6-6D64EC1C7F01}"/>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APPENDIX A3</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6C11B196-F234-46E1-A6E8-58123A72EFCC}"/>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a:bodyPr>
          <a:lstStyle/>
          <a:p>
            <a:pPr algn="l">
              <a:defRPr sz="2400" b="1">
                <a:solidFill>
                  <a:srgbClr val="110057"/>
                </a:solidFill>
                <a:latin typeface="Arial"/>
                <a:ea typeface="Arial"/>
                <a:cs typeface="Arial"/>
              </a:defRPr>
            </a:pPr>
            <a:r>
              <a:rPr lang="en-US" sz="2400" b="1">
                <a:solidFill>
                  <a:srgbClr val="110057"/>
                </a:solidFill>
                <a:latin typeface="Arial"/>
                <a:ea typeface="Arial"/>
                <a:cs typeface="Arial"/>
              </a:rPr>
              <a:t>A3. Absolute benefit is the decision scale</a:t>
            </a:r>
            <a:endParaRPr sz="2400" b="1">
              <a:solidFill>
                <a:srgbClr val="110057"/>
              </a:solidFill>
              <a:latin typeface="Arial"/>
              <a:ea typeface="Arial"/>
              <a:cs typeface="Arial"/>
            </a:endParaRPr>
          </a:p>
        </p:txBody>
      </p:sp>
      <p:sp>
        <p:nvSpPr>
          <p:cNvPr id="5" name="Rectangle 4">
            <a:extLst>
              <a:ext uri="{FF2B5EF4-FFF2-40B4-BE49-F238E27FC236}">
                <a16:creationId xmlns:a16="http://schemas.microsoft.com/office/drawing/2014/main" id="{8829FD88-AF71-4DC6-B835-2450B67ED50B}"/>
              </a:ext>
            </a:extLst>
          </p:cNvPr>
          <p:cNvSpPr>
            <a:spLocks noGrp="1"/>
          </p:cNvSpPr>
          <p:nvPr/>
        </p:nvSpPr>
        <p:spPr>
          <a:xfrm>
            <a:off x="552450" y="4876800"/>
            <a:ext cx="6096000" cy="1524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000" b="0">
                <a:solidFill>
                  <a:srgbClr val="4A4170"/>
                </a:solidFill>
                <a:latin typeface="Arial"/>
                <a:ea typeface="Arial"/>
                <a:cs typeface="Arial"/>
              </a:defRPr>
            </a:pPr>
            <a:r>
              <a:rPr lang="en-US" sz="1600">
                <a:solidFill>
                  <a:srgbClr val="4A4170"/>
                </a:solidFill>
                <a:latin typeface="Arial"/>
                <a:ea typeface="Arial"/>
                <a:cs typeface="Arial"/>
              </a:rPr>
              <a:t>PATH Statement explanation and elaboration; Figures 1–4</a:t>
            </a:r>
            <a:endParaRPr sz="1600">
              <a:solidFill>
                <a:srgbClr val="4A4170"/>
              </a:solidFill>
              <a:latin typeface="Arial"/>
              <a:ea typeface="Arial"/>
              <a:cs typeface="Arial"/>
            </a:endParaRPr>
          </a:p>
        </p:txBody>
      </p:sp>
      <p:sp>
        <p:nvSpPr>
          <p:cNvPr id="6" name="Rectangle 5">
            <a:extLst>
              <a:ext uri="{FF2B5EF4-FFF2-40B4-BE49-F238E27FC236}">
                <a16:creationId xmlns:a16="http://schemas.microsoft.com/office/drawing/2014/main" id="{D05203B1-23F2-432A-BB96-390F7AB4C55D}"/>
              </a:ext>
            </a:extLst>
          </p:cNvPr>
          <p:cNvSpPr>
            <a:spLocks noGrp="1"/>
          </p:cNvSpPr>
          <p:nvPr/>
        </p:nvSpPr>
        <p:spPr>
          <a:xfrm>
            <a:off x="7277100" y="4876800"/>
            <a:ext cx="1314450" cy="1524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r">
              <a:defRPr sz="1000" b="0">
                <a:solidFill>
                  <a:srgbClr val="4A4170"/>
                </a:solidFill>
                <a:latin typeface="Arial"/>
                <a:ea typeface="Arial"/>
                <a:cs typeface="Arial"/>
              </a:defRPr>
            </a:pPr>
            <a:r>
              <a:rPr sz="1600" b="0">
                <a:solidFill>
                  <a:srgbClr val="4A4170"/>
                </a:solidFill>
                <a:latin typeface="Arial"/>
                <a:ea typeface="Arial"/>
                <a:cs typeface="Arial"/>
              </a:rPr>
              <a:t>APPENDIX</a:t>
            </a:r>
          </a:p>
        </p:txBody>
      </p:sp>
      <p:sp>
        <p:nvSpPr>
          <p:cNvPr id="7" name="Rectangle 6">
            <a:extLst>
              <a:ext uri="{FF2B5EF4-FFF2-40B4-BE49-F238E27FC236}">
                <a16:creationId xmlns:a16="http://schemas.microsoft.com/office/drawing/2014/main" id="{F92C64E8-C9AB-4327-8789-2DFB77C35057}"/>
              </a:ext>
            </a:extLst>
          </p:cNvPr>
          <p:cNvSpPr>
            <a:spLocks noGrp="1"/>
          </p:cNvSpPr>
          <p:nvPr/>
        </p:nvSpPr>
        <p:spPr>
          <a:xfrm>
            <a:off x="952500" y="1333500"/>
            <a:ext cx="2857500" cy="1028700"/>
          </a:xfrm>
          <a:prstGeom prst="rect">
            <a:avLst/>
          </a:prstGeom>
          <a:solidFill>
            <a:srgbClr val="EEF7F6"/>
          </a:solidFill>
          <a:ln w="9525">
            <a:solidFill>
              <a:srgbClr val="D8DEE7"/>
            </a:solidFill>
            <a:prstDash val="solid"/>
          </a:ln>
        </p:spPr>
        <p:txBody>
          <a:bodyPr/>
          <a:lstStyle/>
          <a:p>
            <a:endParaRPr lang="en-US" sz="1600">
              <a:latin typeface="Arial"/>
              <a:cs typeface="Arial"/>
            </a:endParaRPr>
          </a:p>
        </p:txBody>
      </p:sp>
      <p:sp>
        <p:nvSpPr>
          <p:cNvPr id="9" name="Rectangle 8">
            <a:extLst>
              <a:ext uri="{FF2B5EF4-FFF2-40B4-BE49-F238E27FC236}">
                <a16:creationId xmlns:a16="http://schemas.microsoft.com/office/drawing/2014/main" id="{0A444C2D-0FC0-44F0-87AD-A15154A48123}"/>
              </a:ext>
            </a:extLst>
          </p:cNvPr>
          <p:cNvSpPr>
            <a:spLocks noGrp="1"/>
          </p:cNvSpPr>
          <p:nvPr/>
        </p:nvSpPr>
        <p:spPr>
          <a:xfrm>
            <a:off x="1066800" y="1422400"/>
            <a:ext cx="2628900" cy="7620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a:solidFill>
                  <a:srgbClr val="110057"/>
                </a:solidFill>
                <a:latin typeface="Arial"/>
                <a:ea typeface="Arial"/>
                <a:cs typeface="Arial"/>
              </a:rPr>
              <a:t>Stable relative effects can still create clinically important differences in ARR/NNT.</a:t>
            </a:r>
            <a:endParaRPr sz="1600">
              <a:solidFill>
                <a:srgbClr val="110057"/>
              </a:solidFill>
              <a:latin typeface="Arial"/>
              <a:ea typeface="Arial"/>
              <a:cs typeface="Arial"/>
            </a:endParaRPr>
          </a:p>
        </p:txBody>
      </p:sp>
      <p:sp>
        <p:nvSpPr>
          <p:cNvPr id="10" name="Rectangle 9">
            <a:extLst>
              <a:ext uri="{FF2B5EF4-FFF2-40B4-BE49-F238E27FC236}">
                <a16:creationId xmlns:a16="http://schemas.microsoft.com/office/drawing/2014/main" id="{E126FFE2-488D-47B4-90EF-2F2A0D4AE420}"/>
              </a:ext>
            </a:extLst>
          </p:cNvPr>
          <p:cNvSpPr>
            <a:spLocks noGrp="1"/>
          </p:cNvSpPr>
          <p:nvPr/>
        </p:nvSpPr>
        <p:spPr>
          <a:xfrm>
            <a:off x="4286250" y="1333500"/>
            <a:ext cx="3429000" cy="238125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F552C904-22B4-464A-A4D1-CF682F263747}"/>
              </a:ext>
            </a:extLst>
          </p:cNvPr>
          <p:cNvSpPr>
            <a:spLocks noGrp="1"/>
          </p:cNvSpPr>
          <p:nvPr/>
        </p:nvSpPr>
        <p:spPr>
          <a:xfrm>
            <a:off x="4400550" y="1422400"/>
            <a:ext cx="3200400" cy="18669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a:solidFill>
                  <a:srgbClr val="110057"/>
                </a:solidFill>
                <a:latin typeface="Arial"/>
                <a:ea typeface="Arial"/>
                <a:cs typeface="Arial"/>
              </a:rPr>
              <a:t>Report outcome rates, relative effects, and events prevented per 100 patients across risk strata.
Show treatment-related harms within each stratum.
Decision thresholds depend on treatment burden and patient values.</a:t>
            </a:r>
            <a:endParaRPr sz="1600">
              <a:solidFill>
                <a:srgbClr val="110057"/>
              </a:solidFill>
              <a:latin typeface="Arial"/>
              <a:ea typeface="Arial"/>
              <a:cs typeface="Arial"/>
            </a:endParaRPr>
          </a:p>
        </p:txBody>
      </p:sp>
    </p:spTree>
    <p:extLst>
      <p:ext uri="{BB962C8B-B14F-4D97-AF65-F5344CB8AC3E}">
        <p14:creationId xmlns:p14="http://schemas.microsoft.com/office/powerpoint/2010/main" val="24811018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canvas">
            <a:extLst>
              <a:ext uri="{FF2B5EF4-FFF2-40B4-BE49-F238E27FC236}">
                <a16:creationId xmlns:a16="http://schemas.microsoft.com/office/drawing/2014/main" id="{AD6F148E-CFBD-9A48-BEE8-104245E503DA}"/>
              </a:ext>
            </a:extLst>
          </p:cNvPr>
          <p:cNvSpPr/>
          <p:nvPr/>
        </p:nvSpPr>
        <p:spPr>
          <a:xfrm>
            <a:off x="0" y="0"/>
            <a:ext cx="9144000" cy="51435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5" name="left_rail">
            <a:extLst>
              <a:ext uri="{FF2B5EF4-FFF2-40B4-BE49-F238E27FC236}">
                <a16:creationId xmlns:a16="http://schemas.microsoft.com/office/drawing/2014/main" id="{FB4CF751-D696-FD4D-A129-39EDB80AED42}"/>
              </a:ext>
            </a:extLst>
          </p:cNvPr>
          <p:cNvSpPr/>
          <p:nvPr/>
        </p:nvSpPr>
        <p:spPr>
          <a:xfrm>
            <a:off x="361950" y="742950"/>
            <a:ext cx="57150" cy="3638550"/>
          </a:xfrm>
          <a:prstGeom prst="rect">
            <a:avLst/>
          </a:prstGeom>
          <a:solidFill>
            <a:srgbClr val="5B00F5">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6" name="kicker">
            <a:extLst>
              <a:ext uri="{FF2B5EF4-FFF2-40B4-BE49-F238E27FC236}">
                <a16:creationId xmlns:a16="http://schemas.microsoft.com/office/drawing/2014/main" id="{30246DAC-C4D7-6B4C-88E3-D8A1FB89F667}"/>
              </a:ext>
            </a:extLst>
          </p:cNvPr>
          <p:cNvSpPr txBox="1"/>
          <p:nvPr/>
        </p:nvSpPr>
        <p:spPr>
          <a:xfrm>
            <a:off x="552450" y="304800"/>
            <a:ext cx="3810000" cy="152400"/>
          </a:xfrm>
          <a:prstGeom prst="rect">
            <a:avLst/>
          </a:prstGeom>
          <a:noFill/>
        </p:spPr>
        <p:txBody>
          <a:bodyPr vertOverflow="overflow" vert="horz" wrap="square" rtlCol="0" anchor="t">
            <a:noAutofit/>
          </a:bodyPr>
          <a:lstStyle/>
          <a:p>
            <a:pPr algn="l"/>
            <a:r>
              <a:rPr lang="en-US" sz="1100" b="1" dirty="0">
                <a:solidFill>
                  <a:srgbClr val="4A00E2"/>
                </a:solidFill>
                <a:latin typeface="Arial"/>
                <a:cs typeface="Arial"/>
              </a:rPr>
              <a:t>APPENDIX A4</a:t>
            </a:r>
          </a:p>
        </p:txBody>
      </p:sp>
      <p:sp>
        <p:nvSpPr>
          <p:cNvPr id="17" name="title">
            <a:extLst>
              <a:ext uri="{FF2B5EF4-FFF2-40B4-BE49-F238E27FC236}">
                <a16:creationId xmlns:a16="http://schemas.microsoft.com/office/drawing/2014/main" id="{AC1E38C0-86EA-684A-80BF-B92AD3DC905D}"/>
              </a:ext>
            </a:extLst>
          </p:cNvPr>
          <p:cNvSpPr txBox="1"/>
          <p:nvPr/>
        </p:nvSpPr>
        <p:spPr>
          <a:xfrm>
            <a:off x="552450" y="495300"/>
            <a:ext cx="7937500" cy="508000"/>
          </a:xfrm>
          <a:prstGeom prst="rect">
            <a:avLst/>
          </a:prstGeom>
          <a:noFill/>
        </p:spPr>
        <p:txBody>
          <a:bodyPr vertOverflow="overflow" vert="horz" wrap="square" rtlCol="0" anchor="t">
            <a:normAutofit/>
          </a:bodyPr>
          <a:lstStyle/>
          <a:p>
            <a:pPr algn="l"/>
            <a:r>
              <a:rPr lang="en-US" sz="2400" b="1" dirty="0">
                <a:solidFill>
                  <a:srgbClr val="110057"/>
                </a:solidFill>
                <a:latin typeface="Arial"/>
                <a:cs typeface="Arial"/>
              </a:rPr>
              <a:t>A4. Why effect models are fragile</a:t>
            </a:r>
          </a:p>
        </p:txBody>
      </p:sp>
      <p:sp>
        <p:nvSpPr>
          <p:cNvPr id="18" name="risk_panel_bg">
            <a:extLst>
              <a:ext uri="{FF2B5EF4-FFF2-40B4-BE49-F238E27FC236}">
                <a16:creationId xmlns:a16="http://schemas.microsoft.com/office/drawing/2014/main" id="{70E8F85A-6CCA-F645-B65E-CFEDDEA0FD4A}"/>
              </a:ext>
            </a:extLst>
          </p:cNvPr>
          <p:cNvSpPr/>
          <p:nvPr/>
        </p:nvSpPr>
        <p:spPr>
          <a:xfrm>
            <a:off x="698500" y="1282700"/>
            <a:ext cx="3810000" cy="2921000"/>
          </a:xfrm>
          <a:prstGeom prst="rect">
            <a:avLst/>
          </a:prstGeom>
          <a:solidFill>
            <a:srgbClr val="F0FBFA">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19" name="effect_panel_bg">
            <a:extLst>
              <a:ext uri="{FF2B5EF4-FFF2-40B4-BE49-F238E27FC236}">
                <a16:creationId xmlns:a16="http://schemas.microsoft.com/office/drawing/2014/main" id="{9A56F3F7-585F-9047-BEAB-0C36F98651D5}"/>
              </a:ext>
            </a:extLst>
          </p:cNvPr>
          <p:cNvSpPr/>
          <p:nvPr/>
        </p:nvSpPr>
        <p:spPr>
          <a:xfrm>
            <a:off x="4699000" y="1282700"/>
            <a:ext cx="3810000" cy="2921000"/>
          </a:xfrm>
          <a:prstGeom prst="rect">
            <a:avLst/>
          </a:prstGeom>
          <a:solidFill>
            <a:srgbClr val="F5F1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0" name="risk_heading">
            <a:extLst>
              <a:ext uri="{FF2B5EF4-FFF2-40B4-BE49-F238E27FC236}">
                <a16:creationId xmlns:a16="http://schemas.microsoft.com/office/drawing/2014/main" id="{8B9FF80A-A3E8-124A-8A41-086D32FD9381}"/>
              </a:ext>
            </a:extLst>
          </p:cNvPr>
          <p:cNvSpPr txBox="1"/>
          <p:nvPr/>
        </p:nvSpPr>
        <p:spPr>
          <a:xfrm>
            <a:off x="914400" y="1473200"/>
            <a:ext cx="3111500" cy="203200"/>
          </a:xfrm>
          <a:prstGeom prst="rect">
            <a:avLst/>
          </a:prstGeom>
          <a:noFill/>
        </p:spPr>
        <p:txBody>
          <a:bodyPr vertOverflow="overflow" vert="horz" wrap="square" rtlCol="0" anchor="t">
            <a:noAutofit/>
          </a:bodyPr>
          <a:lstStyle/>
          <a:p>
            <a:pPr algn="l"/>
            <a:r>
              <a:rPr lang="en-US" sz="1300" b="1">
                <a:solidFill>
                  <a:srgbClr val="5B00F5"/>
                </a:solidFill>
                <a:latin typeface="Arial"/>
                <a:cs typeface="Arial"/>
              </a:rPr>
              <a:t>Risk modeling</a:t>
            </a:r>
          </a:p>
        </p:txBody>
      </p:sp>
      <p:sp>
        <p:nvSpPr>
          <p:cNvPr id="21" name="risk_formula">
            <a:extLst>
              <a:ext uri="{FF2B5EF4-FFF2-40B4-BE49-F238E27FC236}">
                <a16:creationId xmlns:a16="http://schemas.microsoft.com/office/drawing/2014/main" id="{25E44ECA-5FF3-BC46-9AD6-71A3C11E34C0}"/>
              </a:ext>
            </a:extLst>
          </p:cNvPr>
          <p:cNvSpPr txBox="1"/>
          <p:nvPr/>
        </p:nvSpPr>
        <p:spPr>
          <a:xfrm>
            <a:off x="914400" y="1803400"/>
            <a:ext cx="3149600" cy="228600"/>
          </a:xfrm>
          <a:prstGeom prst="rect">
            <a:avLst/>
          </a:prstGeom>
          <a:noFill/>
        </p:spPr>
        <p:txBody>
          <a:bodyPr vertOverflow="overflow" vert="horz" wrap="square" rtlCol="0" anchor="t">
            <a:noAutofit/>
          </a:bodyPr>
          <a:lstStyle/>
          <a:p>
            <a:pPr algn="l"/>
            <a:r>
              <a:rPr lang="en-US" sz="1300" b="1">
                <a:solidFill>
                  <a:srgbClr val="160057"/>
                </a:solidFill>
                <a:latin typeface="Arial"/>
                <a:cs typeface="Arial"/>
              </a:rPr>
              <a:t>risk = f(X)   — blinded to treatment</a:t>
            </a:r>
          </a:p>
        </p:txBody>
      </p:sp>
      <p:sp>
        <p:nvSpPr>
          <p:cNvPr id="22" name="risk_body">
            <a:extLst>
              <a:ext uri="{FF2B5EF4-FFF2-40B4-BE49-F238E27FC236}">
                <a16:creationId xmlns:a16="http://schemas.microsoft.com/office/drawing/2014/main" id="{DBAF7190-6082-B44F-B9EE-15BD3C1B2853}"/>
              </a:ext>
            </a:extLst>
          </p:cNvPr>
          <p:cNvSpPr txBox="1"/>
          <p:nvPr/>
        </p:nvSpPr>
        <p:spPr>
          <a:xfrm>
            <a:off x="914400" y="2108200"/>
            <a:ext cx="3175000" cy="4318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Define baseline risk before examining treatment effects; within each stratum, randomization still supports treated-versus-control comparisons.</a:t>
            </a:r>
          </a:p>
        </p:txBody>
      </p:sp>
      <p:sp>
        <p:nvSpPr>
          <p:cNvPr id="23" name="risk_divider">
            <a:extLst>
              <a:ext uri="{FF2B5EF4-FFF2-40B4-BE49-F238E27FC236}">
                <a16:creationId xmlns:a16="http://schemas.microsoft.com/office/drawing/2014/main" id="{E001BC2A-2D3A-0C48-BC2D-316925DD0160}"/>
              </a:ext>
            </a:extLst>
          </p:cNvPr>
          <p:cNvSpPr/>
          <p:nvPr/>
        </p:nvSpPr>
        <p:spPr>
          <a:xfrm>
            <a:off x="914400" y="2628900"/>
            <a:ext cx="3149600" cy="15240"/>
          </a:xfrm>
          <a:prstGeom prst="rect">
            <a:avLst/>
          </a:prstGeom>
          <a:solidFill>
            <a:srgbClr val="D9D3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4" name="risk_table_header1">
            <a:extLst>
              <a:ext uri="{FF2B5EF4-FFF2-40B4-BE49-F238E27FC236}">
                <a16:creationId xmlns:a16="http://schemas.microsoft.com/office/drawing/2014/main" id="{DC0F01A0-E031-B847-99FD-B420344AB46D}"/>
              </a:ext>
            </a:extLst>
          </p:cNvPr>
          <p:cNvSpPr txBox="1"/>
          <p:nvPr/>
        </p:nvSpPr>
        <p:spPr>
          <a:xfrm>
            <a:off x="990600" y="2781300"/>
            <a:ext cx="889000" cy="127000"/>
          </a:xfrm>
          <a:prstGeom prst="rect">
            <a:avLst/>
          </a:prstGeom>
          <a:noFill/>
        </p:spPr>
        <p:txBody>
          <a:bodyPr vertOverflow="overflow" vert="horz" wrap="square" rtlCol="0" anchor="t">
            <a:noAutofit/>
          </a:bodyPr>
          <a:lstStyle/>
          <a:p>
            <a:pPr algn="l"/>
            <a:r>
              <a:rPr lang="en-US" sz="1100" b="1">
                <a:solidFill>
                  <a:srgbClr val="5E5573"/>
                </a:solidFill>
                <a:latin typeface="Arial"/>
                <a:cs typeface="Arial"/>
              </a:rPr>
              <a:t>baseline risk</a:t>
            </a:r>
          </a:p>
        </p:txBody>
      </p:sp>
      <p:sp>
        <p:nvSpPr>
          <p:cNvPr id="25" name="risk_table_header2">
            <a:extLst>
              <a:ext uri="{FF2B5EF4-FFF2-40B4-BE49-F238E27FC236}">
                <a16:creationId xmlns:a16="http://schemas.microsoft.com/office/drawing/2014/main" id="{187C4366-274F-6340-8D9F-5E764CC86FA8}"/>
              </a:ext>
            </a:extLst>
          </p:cNvPr>
          <p:cNvSpPr txBox="1"/>
          <p:nvPr/>
        </p:nvSpPr>
        <p:spPr>
          <a:xfrm>
            <a:off x="2006600" y="2781300"/>
            <a:ext cx="889000" cy="127000"/>
          </a:xfrm>
          <a:prstGeom prst="rect">
            <a:avLst/>
          </a:prstGeom>
          <a:noFill/>
        </p:spPr>
        <p:txBody>
          <a:bodyPr vertOverflow="overflow" vert="horz" wrap="square" rtlCol="0" anchor="t">
            <a:noAutofit/>
          </a:bodyPr>
          <a:lstStyle/>
          <a:p>
            <a:pPr algn="l"/>
            <a:r>
              <a:rPr lang="en-US" sz="1100" b="1">
                <a:solidFill>
                  <a:srgbClr val="5E5573"/>
                </a:solidFill>
                <a:latin typeface="Arial"/>
                <a:cs typeface="Arial"/>
              </a:rPr>
              <a:t>if RR = 0.80</a:t>
            </a:r>
          </a:p>
        </p:txBody>
      </p:sp>
      <p:sp>
        <p:nvSpPr>
          <p:cNvPr id="26" name="risk_table_header3">
            <a:extLst>
              <a:ext uri="{FF2B5EF4-FFF2-40B4-BE49-F238E27FC236}">
                <a16:creationId xmlns:a16="http://schemas.microsoft.com/office/drawing/2014/main" id="{30E473AE-32DB-994F-8380-B0D1722687F3}"/>
              </a:ext>
            </a:extLst>
          </p:cNvPr>
          <p:cNvSpPr txBox="1"/>
          <p:nvPr/>
        </p:nvSpPr>
        <p:spPr>
          <a:xfrm>
            <a:off x="3022600" y="2781300"/>
            <a:ext cx="698500" cy="127000"/>
          </a:xfrm>
          <a:prstGeom prst="rect">
            <a:avLst/>
          </a:prstGeom>
          <a:noFill/>
        </p:spPr>
        <p:txBody>
          <a:bodyPr vertOverflow="overflow" vert="horz" wrap="square" rtlCol="0" anchor="t">
            <a:noAutofit/>
          </a:bodyPr>
          <a:lstStyle/>
          <a:p>
            <a:pPr algn="l"/>
            <a:r>
              <a:rPr lang="en-US" sz="1100" b="1">
                <a:solidFill>
                  <a:srgbClr val="5E5573"/>
                </a:solidFill>
                <a:latin typeface="Arial"/>
                <a:cs typeface="Arial"/>
              </a:rPr>
              <a:t>NNT</a:t>
            </a:r>
          </a:p>
        </p:txBody>
      </p:sp>
      <p:sp>
        <p:nvSpPr>
          <p:cNvPr id="27" name="risk_row_0_bg">
            <a:extLst>
              <a:ext uri="{FF2B5EF4-FFF2-40B4-BE49-F238E27FC236}">
                <a16:creationId xmlns:a16="http://schemas.microsoft.com/office/drawing/2014/main" id="{3494948B-B1A2-B641-9061-A8ECDA239A8F}"/>
              </a:ext>
            </a:extLst>
          </p:cNvPr>
          <p:cNvSpPr/>
          <p:nvPr/>
        </p:nvSpPr>
        <p:spPr>
          <a:xfrm>
            <a:off x="965200" y="3022600"/>
            <a:ext cx="2857500" cy="2794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28" name="risk_r0_c1">
            <a:extLst>
              <a:ext uri="{FF2B5EF4-FFF2-40B4-BE49-F238E27FC236}">
                <a16:creationId xmlns:a16="http://schemas.microsoft.com/office/drawing/2014/main" id="{AEDAAC9E-7358-4B44-BF4B-A94D9496144F}"/>
              </a:ext>
            </a:extLst>
          </p:cNvPr>
          <p:cNvSpPr txBox="1"/>
          <p:nvPr/>
        </p:nvSpPr>
        <p:spPr>
          <a:xfrm>
            <a:off x="1041400" y="3086100"/>
            <a:ext cx="762000" cy="114300"/>
          </a:xfrm>
          <a:prstGeom prst="rect">
            <a:avLst/>
          </a:prstGeom>
          <a:noFill/>
        </p:spPr>
        <p:txBody>
          <a:bodyPr vertOverflow="overflow" vert="horz" wrap="square" rtlCol="0" anchor="t">
            <a:noAutofit/>
          </a:bodyPr>
          <a:lstStyle/>
          <a:p>
            <a:pPr algn="l"/>
            <a:r>
              <a:rPr lang="en-US" sz="1100" b="1">
                <a:solidFill>
                  <a:srgbClr val="160057"/>
                </a:solidFill>
                <a:latin typeface="Arial"/>
                <a:cs typeface="Arial"/>
              </a:rPr>
              <a:t>5%</a:t>
            </a:r>
          </a:p>
        </p:txBody>
      </p:sp>
      <p:sp>
        <p:nvSpPr>
          <p:cNvPr id="29" name="risk_r0_c2">
            <a:extLst>
              <a:ext uri="{FF2B5EF4-FFF2-40B4-BE49-F238E27FC236}">
                <a16:creationId xmlns:a16="http://schemas.microsoft.com/office/drawing/2014/main" id="{630083BE-EBD5-9542-987D-D105E78E956A}"/>
              </a:ext>
            </a:extLst>
          </p:cNvPr>
          <p:cNvSpPr txBox="1"/>
          <p:nvPr/>
        </p:nvSpPr>
        <p:spPr>
          <a:xfrm>
            <a:off x="2032000" y="3086100"/>
            <a:ext cx="838200" cy="114300"/>
          </a:xfrm>
          <a:prstGeom prst="rect">
            <a:avLst/>
          </a:prstGeom>
          <a:noFill/>
        </p:spPr>
        <p:txBody>
          <a:bodyPr vertOverflow="overflow" vert="horz" wrap="square" rtlCol="0" anchor="t">
            <a:noAutofit/>
          </a:bodyPr>
          <a:lstStyle/>
          <a:p>
            <a:pPr algn="l"/>
            <a:r>
              <a:rPr lang="en-US" sz="1100">
                <a:solidFill>
                  <a:srgbClr val="160057"/>
                </a:solidFill>
                <a:latin typeface="Arial"/>
                <a:cs typeface="Arial"/>
              </a:rPr>
              <a:t>ARR 1%</a:t>
            </a:r>
          </a:p>
        </p:txBody>
      </p:sp>
      <p:sp>
        <p:nvSpPr>
          <p:cNvPr id="30" name="risk_r0_c3">
            <a:extLst>
              <a:ext uri="{FF2B5EF4-FFF2-40B4-BE49-F238E27FC236}">
                <a16:creationId xmlns:a16="http://schemas.microsoft.com/office/drawing/2014/main" id="{F51BE472-0393-9C45-A8C2-AE40E6721B99}"/>
              </a:ext>
            </a:extLst>
          </p:cNvPr>
          <p:cNvSpPr txBox="1"/>
          <p:nvPr/>
        </p:nvSpPr>
        <p:spPr>
          <a:xfrm>
            <a:off x="3048000" y="3086100"/>
            <a:ext cx="635000" cy="114300"/>
          </a:xfrm>
          <a:prstGeom prst="rect">
            <a:avLst/>
          </a:prstGeom>
          <a:noFill/>
        </p:spPr>
        <p:txBody>
          <a:bodyPr vertOverflow="overflow" vert="horz" wrap="square" rtlCol="0" anchor="t">
            <a:noAutofit/>
          </a:bodyPr>
          <a:lstStyle/>
          <a:p>
            <a:pPr algn="l"/>
            <a:r>
              <a:rPr lang="en-US" sz="1100" b="1">
                <a:solidFill>
                  <a:srgbClr val="5B00F5"/>
                </a:solidFill>
                <a:latin typeface="Arial"/>
                <a:cs typeface="Arial"/>
              </a:rPr>
              <a:t>100</a:t>
            </a:r>
          </a:p>
        </p:txBody>
      </p:sp>
      <p:sp>
        <p:nvSpPr>
          <p:cNvPr id="31" name="risk_row_1_bg">
            <a:extLst>
              <a:ext uri="{FF2B5EF4-FFF2-40B4-BE49-F238E27FC236}">
                <a16:creationId xmlns:a16="http://schemas.microsoft.com/office/drawing/2014/main" id="{F56B466F-3B5B-0940-9B5A-32FE2110584D}"/>
              </a:ext>
            </a:extLst>
          </p:cNvPr>
          <p:cNvSpPr/>
          <p:nvPr/>
        </p:nvSpPr>
        <p:spPr>
          <a:xfrm>
            <a:off x="965200" y="3378200"/>
            <a:ext cx="2857500" cy="2794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2" name="risk_r1_c1">
            <a:extLst>
              <a:ext uri="{FF2B5EF4-FFF2-40B4-BE49-F238E27FC236}">
                <a16:creationId xmlns:a16="http://schemas.microsoft.com/office/drawing/2014/main" id="{A9692C25-DFA1-8545-9E80-044B2F8F878E}"/>
              </a:ext>
            </a:extLst>
          </p:cNvPr>
          <p:cNvSpPr txBox="1"/>
          <p:nvPr/>
        </p:nvSpPr>
        <p:spPr>
          <a:xfrm>
            <a:off x="1041400" y="3441700"/>
            <a:ext cx="762000" cy="114300"/>
          </a:xfrm>
          <a:prstGeom prst="rect">
            <a:avLst/>
          </a:prstGeom>
          <a:noFill/>
        </p:spPr>
        <p:txBody>
          <a:bodyPr vertOverflow="overflow" vert="horz" wrap="square" rtlCol="0" anchor="t">
            <a:noAutofit/>
          </a:bodyPr>
          <a:lstStyle/>
          <a:p>
            <a:pPr algn="l"/>
            <a:r>
              <a:rPr lang="en-US" sz="1100" b="1">
                <a:solidFill>
                  <a:srgbClr val="160057"/>
                </a:solidFill>
                <a:latin typeface="Arial"/>
                <a:cs typeface="Arial"/>
              </a:rPr>
              <a:t>25%</a:t>
            </a:r>
          </a:p>
        </p:txBody>
      </p:sp>
      <p:sp>
        <p:nvSpPr>
          <p:cNvPr id="33" name="risk_r1_c2">
            <a:extLst>
              <a:ext uri="{FF2B5EF4-FFF2-40B4-BE49-F238E27FC236}">
                <a16:creationId xmlns:a16="http://schemas.microsoft.com/office/drawing/2014/main" id="{FBF82BA3-8FF4-C847-A3B3-68E75270FB0E}"/>
              </a:ext>
            </a:extLst>
          </p:cNvPr>
          <p:cNvSpPr txBox="1"/>
          <p:nvPr/>
        </p:nvSpPr>
        <p:spPr>
          <a:xfrm>
            <a:off x="2032000" y="3441700"/>
            <a:ext cx="838200" cy="114300"/>
          </a:xfrm>
          <a:prstGeom prst="rect">
            <a:avLst/>
          </a:prstGeom>
          <a:noFill/>
        </p:spPr>
        <p:txBody>
          <a:bodyPr vertOverflow="overflow" vert="horz" wrap="square" rtlCol="0" anchor="t">
            <a:noAutofit/>
          </a:bodyPr>
          <a:lstStyle/>
          <a:p>
            <a:pPr algn="l"/>
            <a:r>
              <a:rPr lang="en-US" sz="1100">
                <a:solidFill>
                  <a:srgbClr val="160057"/>
                </a:solidFill>
                <a:latin typeface="Arial"/>
                <a:cs typeface="Arial"/>
              </a:rPr>
              <a:t>ARR 5%</a:t>
            </a:r>
          </a:p>
        </p:txBody>
      </p:sp>
      <p:sp>
        <p:nvSpPr>
          <p:cNvPr id="34" name="risk_r1_c3">
            <a:extLst>
              <a:ext uri="{FF2B5EF4-FFF2-40B4-BE49-F238E27FC236}">
                <a16:creationId xmlns:a16="http://schemas.microsoft.com/office/drawing/2014/main" id="{7EBA5208-5139-6F4D-AB55-5E0F55B45785}"/>
              </a:ext>
            </a:extLst>
          </p:cNvPr>
          <p:cNvSpPr txBox="1"/>
          <p:nvPr/>
        </p:nvSpPr>
        <p:spPr>
          <a:xfrm>
            <a:off x="3048000" y="3441700"/>
            <a:ext cx="635000" cy="114300"/>
          </a:xfrm>
          <a:prstGeom prst="rect">
            <a:avLst/>
          </a:prstGeom>
          <a:noFill/>
        </p:spPr>
        <p:txBody>
          <a:bodyPr vertOverflow="overflow" vert="horz" wrap="square" rtlCol="0" anchor="t">
            <a:noAutofit/>
          </a:bodyPr>
          <a:lstStyle/>
          <a:p>
            <a:pPr algn="l"/>
            <a:r>
              <a:rPr lang="en-US" sz="1100" b="1">
                <a:solidFill>
                  <a:srgbClr val="5B00F5"/>
                </a:solidFill>
                <a:latin typeface="Arial"/>
                <a:cs typeface="Arial"/>
              </a:rPr>
              <a:t>20</a:t>
            </a:r>
          </a:p>
        </p:txBody>
      </p:sp>
      <p:sp>
        <p:nvSpPr>
          <p:cNvPr id="35" name="risk_pill_bg">
            <a:extLst>
              <a:ext uri="{FF2B5EF4-FFF2-40B4-BE49-F238E27FC236}">
                <a16:creationId xmlns:a16="http://schemas.microsoft.com/office/drawing/2014/main" id="{D180E730-2C31-0641-8121-15C0A097B1A3}"/>
              </a:ext>
            </a:extLst>
          </p:cNvPr>
          <p:cNvSpPr/>
          <p:nvPr/>
        </p:nvSpPr>
        <p:spPr>
          <a:xfrm>
            <a:off x="1270000" y="3822700"/>
            <a:ext cx="2159000" cy="215900"/>
          </a:xfrm>
          <a:prstGeom prst="rect">
            <a:avLst/>
          </a:prstGeom>
          <a:solidFill>
            <a:srgbClr val="E5F7F6">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36" name="risk_pill">
            <a:extLst>
              <a:ext uri="{FF2B5EF4-FFF2-40B4-BE49-F238E27FC236}">
                <a16:creationId xmlns:a16="http://schemas.microsoft.com/office/drawing/2014/main" id="{D4FE65EF-4EC5-8343-8F47-65A1A761688F}"/>
              </a:ext>
            </a:extLst>
          </p:cNvPr>
          <p:cNvSpPr txBox="1"/>
          <p:nvPr/>
        </p:nvSpPr>
        <p:spPr>
          <a:xfrm>
            <a:off x="1320800" y="3848100"/>
            <a:ext cx="2057400" cy="139700"/>
          </a:xfrm>
          <a:prstGeom prst="rect">
            <a:avLst/>
          </a:prstGeom>
          <a:noFill/>
        </p:spPr>
        <p:txBody>
          <a:bodyPr vertOverflow="overflow" vert="horz" wrap="square" rtlCol="0" anchor="t">
            <a:noAutofit/>
          </a:bodyPr>
          <a:lstStyle/>
          <a:p>
            <a:pPr algn="l"/>
            <a:r>
              <a:rPr lang="en-US" sz="1100" b="1">
                <a:solidFill>
                  <a:srgbClr val="5B00F5"/>
                </a:solidFill>
                <a:latin typeface="Arial"/>
                <a:cs typeface="Arial"/>
              </a:rPr>
              <a:t>easy arithmetic on the absolute scale</a:t>
            </a:r>
          </a:p>
        </p:txBody>
      </p:sp>
      <p:sp>
        <p:nvSpPr>
          <p:cNvPr id="37" name="effect_heading">
            <a:extLst>
              <a:ext uri="{FF2B5EF4-FFF2-40B4-BE49-F238E27FC236}">
                <a16:creationId xmlns:a16="http://schemas.microsoft.com/office/drawing/2014/main" id="{5B145029-19E8-9B46-BFF4-955467BF8FAD}"/>
              </a:ext>
            </a:extLst>
          </p:cNvPr>
          <p:cNvSpPr txBox="1"/>
          <p:nvPr/>
        </p:nvSpPr>
        <p:spPr>
          <a:xfrm>
            <a:off x="4914900" y="1473200"/>
            <a:ext cx="3111500" cy="203200"/>
          </a:xfrm>
          <a:prstGeom prst="rect">
            <a:avLst/>
          </a:prstGeom>
          <a:noFill/>
        </p:spPr>
        <p:txBody>
          <a:bodyPr vertOverflow="overflow" vert="horz" wrap="square" rtlCol="0" anchor="t">
            <a:noAutofit/>
          </a:bodyPr>
          <a:lstStyle/>
          <a:p>
            <a:pPr algn="l"/>
            <a:r>
              <a:rPr lang="en-US" sz="1300" b="1">
                <a:solidFill>
                  <a:srgbClr val="FF5A5F"/>
                </a:solidFill>
                <a:latin typeface="Arial"/>
                <a:cs typeface="Arial"/>
              </a:rPr>
              <a:t>Effect modeling</a:t>
            </a:r>
          </a:p>
        </p:txBody>
      </p:sp>
      <p:sp>
        <p:nvSpPr>
          <p:cNvPr id="38" name="effect_formula">
            <a:extLst>
              <a:ext uri="{FF2B5EF4-FFF2-40B4-BE49-F238E27FC236}">
                <a16:creationId xmlns:a16="http://schemas.microsoft.com/office/drawing/2014/main" id="{08022552-541E-7849-8032-D413A81F5218}"/>
              </a:ext>
            </a:extLst>
          </p:cNvPr>
          <p:cNvSpPr txBox="1"/>
          <p:nvPr/>
        </p:nvSpPr>
        <p:spPr>
          <a:xfrm>
            <a:off x="4914900" y="1803400"/>
            <a:ext cx="3111500" cy="228600"/>
          </a:xfrm>
          <a:prstGeom prst="rect">
            <a:avLst/>
          </a:prstGeom>
          <a:noFill/>
        </p:spPr>
        <p:txBody>
          <a:bodyPr vertOverflow="overflow" vert="horz" wrap="square" rtlCol="0" anchor="t">
            <a:noAutofit/>
          </a:bodyPr>
          <a:lstStyle/>
          <a:p>
            <a:pPr algn="l"/>
            <a:r>
              <a:rPr lang="en-US" sz="1300" b="1">
                <a:solidFill>
                  <a:srgbClr val="160057"/>
                </a:solidFill>
                <a:latin typeface="Arial"/>
                <a:cs typeface="Arial"/>
              </a:rPr>
              <a:t>risk = f(X + Tx + X×Tx)</a:t>
            </a:r>
          </a:p>
        </p:txBody>
      </p:sp>
      <p:sp>
        <p:nvSpPr>
          <p:cNvPr id="39" name="effect_body">
            <a:extLst>
              <a:ext uri="{FF2B5EF4-FFF2-40B4-BE49-F238E27FC236}">
                <a16:creationId xmlns:a16="http://schemas.microsoft.com/office/drawing/2014/main" id="{48B1AC4A-51B7-584F-A1A0-431B930BAD1F}"/>
              </a:ext>
            </a:extLst>
          </p:cNvPr>
          <p:cNvSpPr txBox="1"/>
          <p:nvPr/>
        </p:nvSpPr>
        <p:spPr>
          <a:xfrm>
            <a:off x="4914900" y="2108200"/>
            <a:ext cx="3175000" cy="4318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Estimate which covariates modify the treatment effect—an interaction problem with low power, multiplicity, and false-discovery risk.</a:t>
            </a:r>
          </a:p>
        </p:txBody>
      </p:sp>
      <p:sp>
        <p:nvSpPr>
          <p:cNvPr id="40" name="effect_divider">
            <a:extLst>
              <a:ext uri="{FF2B5EF4-FFF2-40B4-BE49-F238E27FC236}">
                <a16:creationId xmlns:a16="http://schemas.microsoft.com/office/drawing/2014/main" id="{DBF98087-8EC7-904C-9FF2-2430DF249D79}"/>
              </a:ext>
            </a:extLst>
          </p:cNvPr>
          <p:cNvSpPr/>
          <p:nvPr/>
        </p:nvSpPr>
        <p:spPr>
          <a:xfrm>
            <a:off x="4914900" y="2628900"/>
            <a:ext cx="3149600" cy="15240"/>
          </a:xfrm>
          <a:prstGeom prst="rect">
            <a:avLst/>
          </a:prstGeom>
          <a:solidFill>
            <a:srgbClr val="D9D3E8"/>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1" name="power_row1">
            <a:extLst>
              <a:ext uri="{FF2B5EF4-FFF2-40B4-BE49-F238E27FC236}">
                <a16:creationId xmlns:a16="http://schemas.microsoft.com/office/drawing/2014/main" id="{ADE8967E-DBE0-5741-A042-719C7E996F1E}"/>
              </a:ext>
            </a:extLst>
          </p:cNvPr>
          <p:cNvSpPr/>
          <p:nvPr/>
        </p:nvSpPr>
        <p:spPr>
          <a:xfrm>
            <a:off x="4978400" y="2794000"/>
            <a:ext cx="2857500" cy="3048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2" name="power1_label">
            <a:extLst>
              <a:ext uri="{FF2B5EF4-FFF2-40B4-BE49-F238E27FC236}">
                <a16:creationId xmlns:a16="http://schemas.microsoft.com/office/drawing/2014/main" id="{BB9C4839-8B26-D74A-8DD8-2E0E32166714}"/>
              </a:ext>
            </a:extLst>
          </p:cNvPr>
          <p:cNvSpPr txBox="1"/>
          <p:nvPr/>
        </p:nvSpPr>
        <p:spPr>
          <a:xfrm>
            <a:off x="5092700" y="2870200"/>
            <a:ext cx="1079500" cy="1143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overall effect</a:t>
            </a:r>
          </a:p>
        </p:txBody>
      </p:sp>
      <p:sp>
        <p:nvSpPr>
          <p:cNvPr id="43" name="power1_val">
            <a:extLst>
              <a:ext uri="{FF2B5EF4-FFF2-40B4-BE49-F238E27FC236}">
                <a16:creationId xmlns:a16="http://schemas.microsoft.com/office/drawing/2014/main" id="{D10070C1-EAF3-574C-A4F2-D579DFC490E6}"/>
              </a:ext>
            </a:extLst>
          </p:cNvPr>
          <p:cNvSpPr txBox="1"/>
          <p:nvPr/>
        </p:nvSpPr>
        <p:spPr>
          <a:xfrm>
            <a:off x="7010400" y="2844800"/>
            <a:ext cx="508000" cy="139700"/>
          </a:xfrm>
          <a:prstGeom prst="rect">
            <a:avLst/>
          </a:prstGeom>
          <a:noFill/>
        </p:spPr>
        <p:txBody>
          <a:bodyPr vertOverflow="overflow" vert="horz" wrap="square" rtlCol="0" anchor="t">
            <a:noAutofit/>
          </a:bodyPr>
          <a:lstStyle/>
          <a:p>
            <a:pPr algn="l"/>
            <a:r>
              <a:rPr lang="en-US" sz="1200" b="1">
                <a:solidFill>
                  <a:srgbClr val="5B00F5"/>
                </a:solidFill>
                <a:latin typeface="Arial"/>
                <a:cs typeface="Arial"/>
              </a:rPr>
              <a:t>N</a:t>
            </a:r>
          </a:p>
        </p:txBody>
      </p:sp>
      <p:sp>
        <p:nvSpPr>
          <p:cNvPr id="44" name="power_row2">
            <a:extLst>
              <a:ext uri="{FF2B5EF4-FFF2-40B4-BE49-F238E27FC236}">
                <a16:creationId xmlns:a16="http://schemas.microsoft.com/office/drawing/2014/main" id="{FFED9044-004C-A24D-9E3C-0589A030C51F}"/>
              </a:ext>
            </a:extLst>
          </p:cNvPr>
          <p:cNvSpPr/>
          <p:nvPr/>
        </p:nvSpPr>
        <p:spPr>
          <a:xfrm>
            <a:off x="4978400" y="3162300"/>
            <a:ext cx="2857500" cy="3048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5" name="power2_label">
            <a:extLst>
              <a:ext uri="{FF2B5EF4-FFF2-40B4-BE49-F238E27FC236}">
                <a16:creationId xmlns:a16="http://schemas.microsoft.com/office/drawing/2014/main" id="{28F3160F-AB55-4B44-B618-A62CCBDA170E}"/>
              </a:ext>
            </a:extLst>
          </p:cNvPr>
          <p:cNvSpPr txBox="1"/>
          <p:nvPr/>
        </p:nvSpPr>
        <p:spPr>
          <a:xfrm>
            <a:off x="5092700" y="3238500"/>
            <a:ext cx="1460500" cy="1143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one balanced</a:t>
            </a:r>
          </a:p>
        </p:txBody>
      </p:sp>
      <p:sp>
        <p:nvSpPr>
          <p:cNvPr id="46" name="power2_val">
            <a:extLst>
              <a:ext uri="{FF2B5EF4-FFF2-40B4-BE49-F238E27FC236}">
                <a16:creationId xmlns:a16="http://schemas.microsoft.com/office/drawing/2014/main" id="{8B3FE36B-00E8-0649-A082-2D1AA085FDC3}"/>
              </a:ext>
            </a:extLst>
          </p:cNvPr>
          <p:cNvSpPr txBox="1"/>
          <p:nvPr/>
        </p:nvSpPr>
        <p:spPr>
          <a:xfrm>
            <a:off x="6794500" y="3213100"/>
            <a:ext cx="889000" cy="139700"/>
          </a:xfrm>
          <a:prstGeom prst="rect">
            <a:avLst/>
          </a:prstGeom>
          <a:noFill/>
        </p:spPr>
        <p:txBody>
          <a:bodyPr vertOverflow="overflow" vert="horz" wrap="square" rtlCol="0" anchor="t">
            <a:noAutofit/>
          </a:bodyPr>
          <a:lstStyle/>
          <a:p>
            <a:pPr algn="l"/>
            <a:r>
              <a:rPr lang="en-US" sz="1200" b="1">
                <a:solidFill>
                  <a:srgbClr val="D04A02"/>
                </a:solidFill>
                <a:latin typeface="Arial"/>
                <a:cs typeface="Arial"/>
              </a:rPr>
              <a:t>≈4× N</a:t>
            </a:r>
          </a:p>
        </p:txBody>
      </p:sp>
      <p:sp>
        <p:nvSpPr>
          <p:cNvPr id="47" name="power_row3">
            <a:extLst>
              <a:ext uri="{FF2B5EF4-FFF2-40B4-BE49-F238E27FC236}">
                <a16:creationId xmlns:a16="http://schemas.microsoft.com/office/drawing/2014/main" id="{8D193ED6-F7EB-9649-9644-8CE41BF5AC46}"/>
              </a:ext>
            </a:extLst>
          </p:cNvPr>
          <p:cNvSpPr/>
          <p:nvPr/>
        </p:nvSpPr>
        <p:spPr>
          <a:xfrm>
            <a:off x="4978400" y="3530600"/>
            <a:ext cx="2857500" cy="304800"/>
          </a:xfrm>
          <a:prstGeom prst="rect">
            <a:avLst/>
          </a:prstGeom>
          <a:solidFill>
            <a:srgbClr val="FFFF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48" name="power3_label">
            <a:extLst>
              <a:ext uri="{FF2B5EF4-FFF2-40B4-BE49-F238E27FC236}">
                <a16:creationId xmlns:a16="http://schemas.microsoft.com/office/drawing/2014/main" id="{7D61AAE9-D99B-6A46-A6F1-3A27C0B1C66B}"/>
              </a:ext>
            </a:extLst>
          </p:cNvPr>
          <p:cNvSpPr txBox="1"/>
          <p:nvPr/>
        </p:nvSpPr>
        <p:spPr>
          <a:xfrm>
            <a:off x="5092700" y="3606800"/>
            <a:ext cx="1524000" cy="114300"/>
          </a:xfrm>
          <a:prstGeom prst="rect">
            <a:avLst/>
          </a:prstGeom>
          <a:noFill/>
        </p:spPr>
        <p:txBody>
          <a:bodyPr vertOverflow="overflow" vert="horz" wrap="square" rtlCol="0" anchor="t">
            <a:noAutofit/>
          </a:bodyPr>
          <a:lstStyle/>
          <a:p>
            <a:pPr algn="l"/>
            <a:r>
              <a:rPr lang="en-US" sz="1100">
                <a:solidFill>
                  <a:srgbClr val="5E5573"/>
                </a:solidFill>
                <a:latin typeface="Arial"/>
                <a:cs typeface="Arial"/>
              </a:rPr>
              <a:t>20% subgroup</a:t>
            </a:r>
          </a:p>
        </p:txBody>
      </p:sp>
      <p:sp>
        <p:nvSpPr>
          <p:cNvPr id="49" name="power3_val">
            <a:extLst>
              <a:ext uri="{FF2B5EF4-FFF2-40B4-BE49-F238E27FC236}">
                <a16:creationId xmlns:a16="http://schemas.microsoft.com/office/drawing/2014/main" id="{C4F3AEB7-56D4-824F-8837-33F66D0BD78E}"/>
              </a:ext>
            </a:extLst>
          </p:cNvPr>
          <p:cNvSpPr txBox="1"/>
          <p:nvPr/>
        </p:nvSpPr>
        <p:spPr>
          <a:xfrm>
            <a:off x="6794500" y="3581400"/>
            <a:ext cx="889000" cy="139700"/>
          </a:xfrm>
          <a:prstGeom prst="rect">
            <a:avLst/>
          </a:prstGeom>
          <a:noFill/>
        </p:spPr>
        <p:txBody>
          <a:bodyPr vertOverflow="overflow" vert="horz" wrap="square" rtlCol="0" anchor="t">
            <a:noAutofit/>
          </a:bodyPr>
          <a:lstStyle/>
          <a:p>
            <a:pPr algn="l"/>
            <a:r>
              <a:rPr lang="en-US" sz="1200" b="1">
                <a:solidFill>
                  <a:srgbClr val="D04A02"/>
                </a:solidFill>
                <a:latin typeface="Arial"/>
                <a:cs typeface="Arial"/>
              </a:rPr>
              <a:t>≈10× N</a:t>
            </a:r>
          </a:p>
        </p:txBody>
      </p:sp>
      <p:sp>
        <p:nvSpPr>
          <p:cNvPr id="50" name="effect_warning">
            <a:extLst>
              <a:ext uri="{FF2B5EF4-FFF2-40B4-BE49-F238E27FC236}">
                <a16:creationId xmlns:a16="http://schemas.microsoft.com/office/drawing/2014/main" id="{0200999E-40DE-4B41-9C7B-81096D787605}"/>
              </a:ext>
            </a:extLst>
          </p:cNvPr>
          <p:cNvSpPr txBox="1"/>
          <p:nvPr/>
        </p:nvSpPr>
        <p:spPr>
          <a:xfrm>
            <a:off x="5054600" y="3987800"/>
            <a:ext cx="2730500" cy="152400"/>
          </a:xfrm>
          <a:prstGeom prst="rect">
            <a:avLst/>
          </a:prstGeom>
          <a:noFill/>
        </p:spPr>
        <p:txBody>
          <a:bodyPr vertOverflow="overflow" vert="horz" wrap="square" rtlCol="0" anchor="t">
            <a:noAutofit/>
          </a:bodyPr>
          <a:lstStyle/>
          <a:p>
            <a:pPr algn="l"/>
            <a:r>
              <a:rPr lang="en-US" sz="1100" b="1">
                <a:solidFill>
                  <a:srgbClr val="D04A02"/>
                </a:solidFill>
                <a:latin typeface="Arial"/>
                <a:cs typeface="Arial"/>
              </a:rPr>
              <a:t>Interactions multiply tests, sample-size needs, and validation burden.</a:t>
            </a:r>
          </a:p>
        </p:txBody>
      </p:sp>
      <p:sp>
        <p:nvSpPr>
          <p:cNvPr id="51" name="takeaway_band">
            <a:extLst>
              <a:ext uri="{FF2B5EF4-FFF2-40B4-BE49-F238E27FC236}">
                <a16:creationId xmlns:a16="http://schemas.microsoft.com/office/drawing/2014/main" id="{6CAFF1CC-455C-0141-A01D-56A99C916DC2}"/>
              </a:ext>
            </a:extLst>
          </p:cNvPr>
          <p:cNvSpPr/>
          <p:nvPr/>
        </p:nvSpPr>
        <p:spPr>
          <a:xfrm>
            <a:off x="812800" y="4343400"/>
            <a:ext cx="7620000" cy="431800"/>
          </a:xfrm>
          <a:prstGeom prst="rect">
            <a:avLst/>
          </a:prstGeom>
          <a:solidFill>
            <a:srgbClr val="EFE8FF">
              <a:alpha val="100000"/>
            </a:srgb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a:latin typeface="Arial"/>
              <a:cs typeface="Arial"/>
            </a:endParaRPr>
          </a:p>
        </p:txBody>
      </p:sp>
      <p:sp>
        <p:nvSpPr>
          <p:cNvPr id="52" name="takeaway_text">
            <a:extLst>
              <a:ext uri="{FF2B5EF4-FFF2-40B4-BE49-F238E27FC236}">
                <a16:creationId xmlns:a16="http://schemas.microsoft.com/office/drawing/2014/main" id="{4C51CDEB-28C0-FB40-8770-0290FBC9ABC4}"/>
              </a:ext>
            </a:extLst>
          </p:cNvPr>
          <p:cNvSpPr txBox="1"/>
          <p:nvPr/>
        </p:nvSpPr>
        <p:spPr>
          <a:xfrm>
            <a:off x="990600" y="4419600"/>
            <a:ext cx="7239000" cy="254000"/>
          </a:xfrm>
          <a:prstGeom prst="rect">
            <a:avLst/>
          </a:prstGeom>
          <a:noFill/>
        </p:spPr>
        <p:txBody>
          <a:bodyPr vertOverflow="overflow" vert="horz" wrap="square" rtlCol="0" anchor="t">
            <a:noAutofit/>
          </a:bodyPr>
          <a:lstStyle/>
          <a:p>
            <a:pPr algn="l"/>
            <a:r>
              <a:rPr lang="en-US" sz="1200" b="1" dirty="0">
                <a:solidFill>
                  <a:srgbClr val="D04A02"/>
                </a:solidFill>
                <a:latin typeface="Arial"/>
                <a:cs typeface="Arial"/>
              </a:rPr>
              <a:t>Start with conditional-on-risk estimates; </a:t>
            </a:r>
            <a:r>
              <a:rPr lang="en-US" sz="1200" b="1" dirty="0" err="1">
                <a:solidFill>
                  <a:srgbClr val="D04A02"/>
                </a:solidFill>
                <a:latin typeface="Arial"/>
                <a:cs typeface="Arial"/>
              </a:rPr>
              <a:t>Treatment×covariate</a:t>
            </a:r>
            <a:r>
              <a:rPr lang="en-US" sz="1200" b="1" dirty="0">
                <a:solidFill>
                  <a:srgbClr val="D04A02"/>
                </a:solidFill>
                <a:latin typeface="Arial"/>
                <a:cs typeface="Arial"/>
              </a:rPr>
              <a:t> interactions only with strong priors or very large pooled data.</a:t>
            </a:r>
          </a:p>
        </p:txBody>
      </p:sp>
      <p:sp>
        <p:nvSpPr>
          <p:cNvPr id="53" name="source_note">
            <a:extLst>
              <a:ext uri="{FF2B5EF4-FFF2-40B4-BE49-F238E27FC236}">
                <a16:creationId xmlns:a16="http://schemas.microsoft.com/office/drawing/2014/main" id="{437513A5-5C4E-EE4F-A335-AFC82310C898}"/>
              </a:ext>
            </a:extLst>
          </p:cNvPr>
          <p:cNvSpPr txBox="1"/>
          <p:nvPr/>
        </p:nvSpPr>
        <p:spPr>
          <a:xfrm>
            <a:off x="552450" y="4927600"/>
            <a:ext cx="8128000" cy="114300"/>
          </a:xfrm>
          <a:prstGeom prst="rect">
            <a:avLst/>
          </a:prstGeom>
          <a:noFill/>
        </p:spPr>
        <p:txBody>
          <a:bodyPr vertOverflow="overflow" vert="horz" wrap="square" rtlCol="0" anchor="t">
            <a:noAutofit/>
          </a:bodyPr>
          <a:lstStyle/>
          <a:p>
            <a:pPr algn="l"/>
            <a:r>
              <a:rPr lang="en-US" sz="1000">
                <a:solidFill>
                  <a:srgbClr val="5E5573"/>
                </a:solidFill>
                <a:latin typeface="Arial"/>
                <a:cs typeface="Arial"/>
              </a:rPr>
              <a:t>Source: PATH Statement; Kent et al., Ann Intern Med 2020.</a:t>
            </a:r>
          </a:p>
        </p:txBody>
      </p:sp>
    </p:spTree>
    <p:extLst>
      <p:ext uri="{BB962C8B-B14F-4D97-AF65-F5344CB8AC3E}">
        <p14:creationId xmlns:p14="http://schemas.microsoft.com/office/powerpoint/2010/main" val="32715393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EAC31B-0103-4292-982A-961FFD75754A}"/>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1F54B9F7-44AD-4105-A305-19F26E982E48}"/>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49E50EF1-FD3A-4E38-A7F8-B9FA75E5C6F5}"/>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APPENDIX A5</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1F14A94C-9DD0-4E14-B51A-2EBECF5DB592}"/>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fontScale="92500"/>
          </a:bodyPr>
          <a:lstStyle/>
          <a:p>
            <a:pPr algn="l">
              <a:defRPr sz="2400" b="1">
                <a:solidFill>
                  <a:srgbClr val="110057"/>
                </a:solidFill>
                <a:latin typeface="Arial"/>
                <a:ea typeface="Arial"/>
                <a:cs typeface="Arial"/>
              </a:defRPr>
            </a:pPr>
            <a:r>
              <a:rPr lang="en-US" sz="2400" b="1">
                <a:solidFill>
                  <a:srgbClr val="110057"/>
                </a:solidFill>
                <a:latin typeface="Arial"/>
                <a:ea typeface="Arial"/>
                <a:cs typeface="Arial"/>
              </a:rPr>
              <a:t>A5. Conditional-on-risk estimates preserve randomization</a:t>
            </a:r>
            <a:endParaRPr sz="2400" b="1">
              <a:solidFill>
                <a:srgbClr val="110057"/>
              </a:solidFill>
              <a:latin typeface="Arial"/>
              <a:ea typeface="Arial"/>
              <a:cs typeface="Arial"/>
            </a:endParaRPr>
          </a:p>
        </p:txBody>
      </p:sp>
      <p:sp>
        <p:nvSpPr>
          <p:cNvPr id="5" name="Rectangle 4">
            <a:extLst>
              <a:ext uri="{FF2B5EF4-FFF2-40B4-BE49-F238E27FC236}">
                <a16:creationId xmlns:a16="http://schemas.microsoft.com/office/drawing/2014/main" id="{79CA294B-768A-4023-89C7-E6E3F447F454}"/>
              </a:ext>
            </a:extLst>
          </p:cNvPr>
          <p:cNvSpPr>
            <a:spLocks noGrp="1"/>
          </p:cNvSpPr>
          <p:nvPr/>
        </p:nvSpPr>
        <p:spPr>
          <a:xfrm>
            <a:off x="552450" y="4876800"/>
            <a:ext cx="6096000" cy="1524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000" b="0">
                <a:solidFill>
                  <a:srgbClr val="4A4170"/>
                </a:solidFill>
                <a:latin typeface="Arial"/>
                <a:ea typeface="Arial"/>
                <a:cs typeface="Arial"/>
              </a:defRPr>
            </a:pPr>
            <a:r>
              <a:rPr lang="en-US" sz="1600">
                <a:solidFill>
                  <a:srgbClr val="4A4170"/>
                </a:solidFill>
                <a:latin typeface="Arial"/>
                <a:ea typeface="Arial"/>
                <a:cs typeface="Arial"/>
              </a:rPr>
              <a:t>PATH risk-modeling strategy; conditional-on-risk reference classes</a:t>
            </a:r>
            <a:endParaRPr sz="1600">
              <a:solidFill>
                <a:srgbClr val="4A4170"/>
              </a:solidFill>
              <a:latin typeface="Arial"/>
              <a:ea typeface="Arial"/>
              <a:cs typeface="Arial"/>
            </a:endParaRPr>
          </a:p>
        </p:txBody>
      </p:sp>
      <p:sp>
        <p:nvSpPr>
          <p:cNvPr id="6" name="Rectangle 5">
            <a:extLst>
              <a:ext uri="{FF2B5EF4-FFF2-40B4-BE49-F238E27FC236}">
                <a16:creationId xmlns:a16="http://schemas.microsoft.com/office/drawing/2014/main" id="{E1FBCC24-FD4E-46D5-89E1-D2D3A5523CFF}"/>
              </a:ext>
            </a:extLst>
          </p:cNvPr>
          <p:cNvSpPr>
            <a:spLocks noGrp="1"/>
          </p:cNvSpPr>
          <p:nvPr/>
        </p:nvSpPr>
        <p:spPr>
          <a:xfrm>
            <a:off x="7277100" y="4876800"/>
            <a:ext cx="1314450" cy="1524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r">
              <a:defRPr sz="1000" b="0">
                <a:solidFill>
                  <a:srgbClr val="4A4170"/>
                </a:solidFill>
                <a:latin typeface="Arial"/>
                <a:ea typeface="Arial"/>
                <a:cs typeface="Arial"/>
              </a:defRPr>
            </a:pPr>
            <a:r>
              <a:rPr sz="1600" b="0">
                <a:solidFill>
                  <a:srgbClr val="4A4170"/>
                </a:solidFill>
                <a:latin typeface="Arial"/>
                <a:ea typeface="Arial"/>
                <a:cs typeface="Arial"/>
              </a:rPr>
              <a:t>APPENDIX</a:t>
            </a:r>
          </a:p>
        </p:txBody>
      </p:sp>
      <p:sp>
        <p:nvSpPr>
          <p:cNvPr id="7" name="Rectangle 6">
            <a:extLst>
              <a:ext uri="{FF2B5EF4-FFF2-40B4-BE49-F238E27FC236}">
                <a16:creationId xmlns:a16="http://schemas.microsoft.com/office/drawing/2014/main" id="{39444BC8-B877-45A5-A1CA-975FBE63A536}"/>
              </a:ext>
            </a:extLst>
          </p:cNvPr>
          <p:cNvSpPr>
            <a:spLocks noGrp="1"/>
          </p:cNvSpPr>
          <p:nvPr/>
        </p:nvSpPr>
        <p:spPr>
          <a:xfrm>
            <a:off x="952500" y="1333500"/>
            <a:ext cx="2857500" cy="1028700"/>
          </a:xfrm>
          <a:prstGeom prst="rect">
            <a:avLst/>
          </a:prstGeom>
          <a:solidFill>
            <a:srgbClr val="EEF7F6"/>
          </a:solidFill>
          <a:ln w="9525">
            <a:solidFill>
              <a:srgbClr val="D8DEE7"/>
            </a:solidFill>
            <a:prstDash val="solid"/>
          </a:ln>
        </p:spPr>
        <p:txBody>
          <a:bodyPr/>
          <a:lstStyle/>
          <a:p>
            <a:endParaRPr lang="en-US" sz="1600">
              <a:latin typeface="Arial"/>
              <a:cs typeface="Arial"/>
            </a:endParaRPr>
          </a:p>
        </p:txBody>
      </p:sp>
      <p:sp>
        <p:nvSpPr>
          <p:cNvPr id="9" name="Rectangle 8">
            <a:extLst>
              <a:ext uri="{FF2B5EF4-FFF2-40B4-BE49-F238E27FC236}">
                <a16:creationId xmlns:a16="http://schemas.microsoft.com/office/drawing/2014/main" id="{951D9FB9-9215-44A5-9532-4052F4EEFB1D}"/>
              </a:ext>
            </a:extLst>
          </p:cNvPr>
          <p:cNvSpPr>
            <a:spLocks noGrp="1"/>
          </p:cNvSpPr>
          <p:nvPr/>
        </p:nvSpPr>
        <p:spPr>
          <a:xfrm>
            <a:off x="1066800" y="1422400"/>
            <a:ext cx="2628900" cy="7620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a:solidFill>
                  <a:srgbClr val="110057"/>
                </a:solidFill>
                <a:latin typeface="Arial"/>
                <a:ea typeface="Arial"/>
                <a:cs typeface="Arial"/>
              </a:rPr>
              <a:t>Risk strata are defined before examining treatment effects.</a:t>
            </a:r>
            <a:endParaRPr sz="1600">
              <a:solidFill>
                <a:srgbClr val="110057"/>
              </a:solidFill>
              <a:latin typeface="Arial"/>
              <a:ea typeface="Arial"/>
              <a:cs typeface="Arial"/>
            </a:endParaRPr>
          </a:p>
        </p:txBody>
      </p:sp>
      <p:sp>
        <p:nvSpPr>
          <p:cNvPr id="10" name="Rectangle 9">
            <a:extLst>
              <a:ext uri="{FF2B5EF4-FFF2-40B4-BE49-F238E27FC236}">
                <a16:creationId xmlns:a16="http://schemas.microsoft.com/office/drawing/2014/main" id="{C8405EC0-353B-4B8E-9D75-B0758CC325D9}"/>
              </a:ext>
            </a:extLst>
          </p:cNvPr>
          <p:cNvSpPr>
            <a:spLocks noGrp="1"/>
          </p:cNvSpPr>
          <p:nvPr/>
        </p:nvSpPr>
        <p:spPr>
          <a:xfrm>
            <a:off x="4286250" y="1333500"/>
            <a:ext cx="3429000" cy="238125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FE07F8DA-924C-449D-92E3-587F490562AE}"/>
              </a:ext>
            </a:extLst>
          </p:cNvPr>
          <p:cNvSpPr>
            <a:spLocks noGrp="1"/>
          </p:cNvSpPr>
          <p:nvPr/>
        </p:nvSpPr>
        <p:spPr>
          <a:xfrm>
            <a:off x="4400550" y="1422400"/>
            <a:ext cx="3200400" cy="18669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216" b="0">
                <a:solidFill>
                  <a:srgbClr val="110057"/>
                </a:solidFill>
                <a:latin typeface="Arial"/>
                <a:ea typeface="Arial"/>
                <a:cs typeface="Arial"/>
              </a:defRPr>
            </a:pPr>
            <a:r>
              <a:rPr lang="en-US" sz="1600">
                <a:solidFill>
                  <a:srgbClr val="110057"/>
                </a:solidFill>
                <a:latin typeface="Arial"/>
                <a:ea typeface="Arial"/>
                <a:cs typeface="Arial"/>
              </a:rPr>
              <a:t>Use information known before treatment or a prespecified risk model.
Within each stratum, randomization still supports treated-versus-control comparisons.
This gives rigorous, patient-centered reference-class estimates.</a:t>
            </a:r>
            <a:endParaRPr sz="1600">
              <a:solidFill>
                <a:srgbClr val="110057"/>
              </a:solidFill>
              <a:latin typeface="Arial"/>
              <a:ea typeface="Arial"/>
              <a:cs typeface="Arial"/>
            </a:endParaRPr>
          </a:p>
        </p:txBody>
      </p:sp>
    </p:spTree>
    <p:extLst>
      <p:ext uri="{BB962C8B-B14F-4D97-AF65-F5344CB8AC3E}">
        <p14:creationId xmlns:p14="http://schemas.microsoft.com/office/powerpoint/2010/main" val="2536981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04A1F30-B884-44E9-A96F-781E9F0F0FB4}"/>
              </a:ext>
            </a:extLst>
          </p:cNvPr>
          <p:cNvSpPr>
            <a:spLocks noGrp="1"/>
          </p:cNvSpPr>
          <p:nvPr/>
        </p:nvSpPr>
        <p:spPr>
          <a:xfrm>
            <a:off x="0" y="0"/>
            <a:ext cx="9144000" cy="5143500"/>
          </a:xfrm>
          <a:prstGeom prst="rect">
            <a:avLst/>
          </a:prstGeom>
          <a:solidFill>
            <a:srgbClr val="FAFAF8"/>
          </a:solidFill>
          <a:ln w="0">
            <a:solidFill>
              <a:srgbClr val="000000">
                <a:alpha val="0"/>
              </a:srgbClr>
            </a:solidFill>
            <a:prstDash val="solid"/>
          </a:ln>
        </p:spPr>
        <p:txBody>
          <a:bodyPr/>
          <a:lstStyle/>
          <a:p>
            <a:endParaRPr lang="en-US" sz="1600">
              <a:latin typeface="Arial"/>
              <a:cs typeface="Arial"/>
            </a:endParaRPr>
          </a:p>
        </p:txBody>
      </p:sp>
      <p:sp>
        <p:nvSpPr>
          <p:cNvPr id="2" name="Rectangle 1">
            <a:extLst>
              <a:ext uri="{FF2B5EF4-FFF2-40B4-BE49-F238E27FC236}">
                <a16:creationId xmlns:a16="http://schemas.microsoft.com/office/drawing/2014/main" id="{95497AAC-8A75-46FB-9D88-86EC2AC55711}"/>
              </a:ext>
            </a:extLst>
          </p:cNvPr>
          <p:cNvSpPr>
            <a:spLocks noGrp="1"/>
          </p:cNvSpPr>
          <p:nvPr/>
        </p:nvSpPr>
        <p:spPr>
          <a:xfrm>
            <a:off x="361950" y="742950"/>
            <a:ext cx="57150" cy="3638550"/>
          </a:xfrm>
          <a:prstGeom prst="rect">
            <a:avLst/>
          </a:prstGeom>
          <a:solidFill>
            <a:srgbClr val="4A00E2"/>
          </a:solidFill>
          <a:ln w="0">
            <a:solidFill>
              <a:srgbClr val="000000">
                <a:alpha val="0"/>
              </a:srgbClr>
            </a:solidFill>
            <a:prstDash val="solid"/>
          </a:ln>
        </p:spPr>
        <p:txBody>
          <a:bodyPr/>
          <a:lstStyle/>
          <a:p>
            <a:endParaRPr lang="en-US" sz="1600">
              <a:latin typeface="Arial"/>
              <a:cs typeface="Arial"/>
            </a:endParaRPr>
          </a:p>
        </p:txBody>
      </p:sp>
      <p:sp>
        <p:nvSpPr>
          <p:cNvPr id="3" name="Rectangle 2">
            <a:extLst>
              <a:ext uri="{FF2B5EF4-FFF2-40B4-BE49-F238E27FC236}">
                <a16:creationId xmlns:a16="http://schemas.microsoft.com/office/drawing/2014/main" id="{41266DD9-978A-4C5B-9B89-94BD0AECD079}"/>
              </a:ext>
            </a:extLst>
          </p:cNvPr>
          <p:cNvSpPr>
            <a:spLocks noGrp="1"/>
          </p:cNvSpPr>
          <p:nvPr/>
        </p:nvSpPr>
        <p:spPr>
          <a:xfrm>
            <a:off x="552450" y="304800"/>
            <a:ext cx="3429000" cy="17145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defRPr sz="1100" b="1">
                <a:solidFill>
                  <a:srgbClr val="4A00E2"/>
                </a:solidFill>
                <a:latin typeface="Arial"/>
                <a:ea typeface="Arial"/>
                <a:cs typeface="Arial"/>
              </a:defRPr>
            </a:pPr>
            <a:r>
              <a:rPr lang="en-US" sz="1100" b="1">
                <a:solidFill>
                  <a:srgbClr val="4A00E2"/>
                </a:solidFill>
                <a:latin typeface="Arial"/>
                <a:ea typeface="Arial"/>
                <a:cs typeface="Arial"/>
              </a:rPr>
              <a:t>APPENDIX A6</a:t>
            </a:r>
            <a:endParaRPr sz="1100" b="1">
              <a:solidFill>
                <a:srgbClr val="4A00E2"/>
              </a:solidFill>
              <a:latin typeface="Arial"/>
              <a:ea typeface="Arial"/>
              <a:cs typeface="Arial"/>
            </a:endParaRPr>
          </a:p>
        </p:txBody>
      </p:sp>
      <p:sp>
        <p:nvSpPr>
          <p:cNvPr id="4" name="Rectangle 3">
            <a:extLst>
              <a:ext uri="{FF2B5EF4-FFF2-40B4-BE49-F238E27FC236}">
                <a16:creationId xmlns:a16="http://schemas.microsoft.com/office/drawing/2014/main" id="{4333549A-8933-4612-9534-ADE431518EFF}"/>
              </a:ext>
            </a:extLst>
          </p:cNvPr>
          <p:cNvSpPr>
            <a:spLocks noGrp="1"/>
          </p:cNvSpPr>
          <p:nvPr/>
        </p:nvSpPr>
        <p:spPr>
          <a:xfrm>
            <a:off x="552450" y="495300"/>
            <a:ext cx="7810500" cy="514350"/>
          </a:xfrm>
          <a:prstGeom prst="rect">
            <a:avLst/>
          </a:prstGeom>
          <a:solidFill>
            <a:srgbClr val="000000">
              <a:alpha val="0"/>
            </a:srgbClr>
          </a:solidFill>
          <a:ln w="0">
            <a:solidFill>
              <a:srgbClr val="000000">
                <a:alpha val="0"/>
              </a:srgbClr>
            </a:solidFill>
            <a:prstDash val="solid"/>
          </a:ln>
        </p:spPr>
        <p:txBody>
          <a:bodyPr lIns="57150" tIns="38100" rIns="57150" bIns="38100" anchor="t">
            <a:normAutofit/>
          </a:bodyPr>
          <a:lstStyle/>
          <a:p>
            <a:pPr algn="l">
              <a:defRPr sz="2400" b="1">
                <a:solidFill>
                  <a:srgbClr val="110057"/>
                </a:solidFill>
                <a:latin typeface="Arial"/>
                <a:ea typeface="Arial"/>
                <a:cs typeface="Arial"/>
              </a:defRPr>
            </a:pPr>
            <a:r>
              <a:rPr lang="en-US" sz="2400" b="1">
                <a:solidFill>
                  <a:srgbClr val="110057"/>
                </a:solidFill>
                <a:latin typeface="Arial"/>
                <a:ea typeface="Arial"/>
                <a:cs typeface="Arial"/>
              </a:rPr>
              <a:t>A6. Reporting checklist for PATH-aligned analyses</a:t>
            </a:r>
            <a:endParaRPr sz="2400" b="1">
              <a:solidFill>
                <a:srgbClr val="110057"/>
              </a:solidFill>
              <a:latin typeface="Arial"/>
              <a:ea typeface="Arial"/>
              <a:cs typeface="Arial"/>
            </a:endParaRPr>
          </a:p>
        </p:txBody>
      </p:sp>
      <p:sp>
        <p:nvSpPr>
          <p:cNvPr id="5" name="Rectangle 4">
            <a:extLst>
              <a:ext uri="{FF2B5EF4-FFF2-40B4-BE49-F238E27FC236}">
                <a16:creationId xmlns:a16="http://schemas.microsoft.com/office/drawing/2014/main" id="{AD45F1F5-0550-49AE-BE81-5CBA683AE5D1}"/>
              </a:ext>
            </a:extLst>
          </p:cNvPr>
          <p:cNvSpPr>
            <a:spLocks noGrp="1"/>
          </p:cNvSpPr>
          <p:nvPr/>
        </p:nvSpPr>
        <p:spPr>
          <a:xfrm>
            <a:off x="552450" y="4876800"/>
            <a:ext cx="6096000" cy="1524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000" b="0">
                <a:solidFill>
                  <a:srgbClr val="4A4170"/>
                </a:solidFill>
                <a:latin typeface="Arial"/>
                <a:ea typeface="Arial"/>
                <a:cs typeface="Arial"/>
              </a:defRPr>
            </a:pPr>
            <a:r>
              <a:rPr lang="en-US" sz="1600">
                <a:solidFill>
                  <a:srgbClr val="4A4170"/>
                </a:solidFill>
                <a:latin typeface="Arial"/>
                <a:ea typeface="Arial"/>
                <a:cs typeface="Arial"/>
              </a:rPr>
              <a:t>PATH consensus guidance on applying and reporting risk models</a:t>
            </a:r>
            <a:endParaRPr sz="1600">
              <a:solidFill>
                <a:srgbClr val="4A4170"/>
              </a:solidFill>
              <a:latin typeface="Arial"/>
              <a:ea typeface="Arial"/>
              <a:cs typeface="Arial"/>
            </a:endParaRPr>
          </a:p>
        </p:txBody>
      </p:sp>
      <p:sp>
        <p:nvSpPr>
          <p:cNvPr id="6" name="Rectangle 5">
            <a:extLst>
              <a:ext uri="{FF2B5EF4-FFF2-40B4-BE49-F238E27FC236}">
                <a16:creationId xmlns:a16="http://schemas.microsoft.com/office/drawing/2014/main" id="{EED28A59-00BE-47BE-B738-4E0C3CBCA6C0}"/>
              </a:ext>
            </a:extLst>
          </p:cNvPr>
          <p:cNvSpPr>
            <a:spLocks noGrp="1"/>
          </p:cNvSpPr>
          <p:nvPr/>
        </p:nvSpPr>
        <p:spPr>
          <a:xfrm>
            <a:off x="7277100" y="4876800"/>
            <a:ext cx="1314450" cy="1524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r">
              <a:defRPr sz="1000" b="0">
                <a:solidFill>
                  <a:srgbClr val="4A4170"/>
                </a:solidFill>
                <a:latin typeface="Arial"/>
                <a:ea typeface="Arial"/>
                <a:cs typeface="Arial"/>
              </a:defRPr>
            </a:pPr>
            <a:r>
              <a:rPr sz="1600" b="0">
                <a:solidFill>
                  <a:srgbClr val="4A4170"/>
                </a:solidFill>
                <a:latin typeface="Arial"/>
                <a:ea typeface="Arial"/>
                <a:cs typeface="Arial"/>
              </a:rPr>
              <a:t>APPENDIX</a:t>
            </a:r>
          </a:p>
        </p:txBody>
      </p:sp>
      <p:sp>
        <p:nvSpPr>
          <p:cNvPr id="7" name="Rectangle 6">
            <a:extLst>
              <a:ext uri="{FF2B5EF4-FFF2-40B4-BE49-F238E27FC236}">
                <a16:creationId xmlns:a16="http://schemas.microsoft.com/office/drawing/2014/main" id="{7FF2E35E-3165-4581-8A30-6EA8B1ACC14A}"/>
              </a:ext>
            </a:extLst>
          </p:cNvPr>
          <p:cNvSpPr>
            <a:spLocks noGrp="1"/>
          </p:cNvSpPr>
          <p:nvPr/>
        </p:nvSpPr>
        <p:spPr>
          <a:xfrm>
            <a:off x="952500" y="1333500"/>
            <a:ext cx="2857500" cy="1028700"/>
          </a:xfrm>
          <a:prstGeom prst="rect">
            <a:avLst/>
          </a:prstGeom>
          <a:solidFill>
            <a:srgbClr val="EEF7F6"/>
          </a:solidFill>
          <a:ln w="9525">
            <a:solidFill>
              <a:srgbClr val="D8DEE7"/>
            </a:solidFill>
            <a:prstDash val="solid"/>
          </a:ln>
        </p:spPr>
        <p:txBody>
          <a:bodyPr/>
          <a:lstStyle/>
          <a:p>
            <a:endParaRPr lang="en-US" sz="1600">
              <a:latin typeface="Arial"/>
              <a:cs typeface="Arial"/>
            </a:endParaRPr>
          </a:p>
        </p:txBody>
      </p:sp>
      <p:sp>
        <p:nvSpPr>
          <p:cNvPr id="9" name="Rectangle 8">
            <a:extLst>
              <a:ext uri="{FF2B5EF4-FFF2-40B4-BE49-F238E27FC236}">
                <a16:creationId xmlns:a16="http://schemas.microsoft.com/office/drawing/2014/main" id="{5ED5B2F1-D5D4-402C-9110-67FF05FCBEB4}"/>
              </a:ext>
            </a:extLst>
          </p:cNvPr>
          <p:cNvSpPr>
            <a:spLocks noGrp="1"/>
          </p:cNvSpPr>
          <p:nvPr/>
        </p:nvSpPr>
        <p:spPr>
          <a:xfrm>
            <a:off x="1066800" y="1422400"/>
            <a:ext cx="2628900" cy="7620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a:solidFill>
                  <a:srgbClr val="110057"/>
                </a:solidFill>
                <a:latin typeface="Arial"/>
                <a:ea typeface="Arial"/>
                <a:cs typeface="Arial"/>
              </a:rPr>
              <a:t>A risk-first analysis should be readable as a decision analysis.</a:t>
            </a:r>
            <a:endParaRPr sz="1600">
              <a:solidFill>
                <a:srgbClr val="110057"/>
              </a:solidFill>
              <a:latin typeface="Arial"/>
              <a:ea typeface="Arial"/>
              <a:cs typeface="Arial"/>
            </a:endParaRPr>
          </a:p>
        </p:txBody>
      </p:sp>
      <p:sp>
        <p:nvSpPr>
          <p:cNvPr id="10" name="Rectangle 9">
            <a:extLst>
              <a:ext uri="{FF2B5EF4-FFF2-40B4-BE49-F238E27FC236}">
                <a16:creationId xmlns:a16="http://schemas.microsoft.com/office/drawing/2014/main" id="{C711E45F-A29C-448F-93D5-7E84A79CFDE5}"/>
              </a:ext>
            </a:extLst>
          </p:cNvPr>
          <p:cNvSpPr>
            <a:spLocks noGrp="1"/>
          </p:cNvSpPr>
          <p:nvPr/>
        </p:nvSpPr>
        <p:spPr>
          <a:xfrm>
            <a:off x="4286250" y="1333500"/>
            <a:ext cx="3429000" cy="2381250"/>
          </a:xfrm>
          <a:prstGeom prst="rect">
            <a:avLst/>
          </a:prstGeom>
          <a:solidFill>
            <a:srgbClr val="FFFFFF"/>
          </a:solidFill>
          <a:ln w="9525">
            <a:solidFill>
              <a:srgbClr val="D8DEE7"/>
            </a:solidFill>
            <a:prstDash val="solid"/>
          </a:ln>
        </p:spPr>
        <p:txBody>
          <a:bodyPr/>
          <a:lstStyle/>
          <a:p>
            <a:endParaRPr lang="en-US" sz="1600">
              <a:latin typeface="Arial"/>
              <a:cs typeface="Arial"/>
            </a:endParaRPr>
          </a:p>
        </p:txBody>
      </p:sp>
      <p:sp>
        <p:nvSpPr>
          <p:cNvPr id="12" name="Rectangle 11">
            <a:extLst>
              <a:ext uri="{FF2B5EF4-FFF2-40B4-BE49-F238E27FC236}">
                <a16:creationId xmlns:a16="http://schemas.microsoft.com/office/drawing/2014/main" id="{EA4EC067-9CB7-4041-A941-46B8140CBA3C}"/>
              </a:ext>
            </a:extLst>
          </p:cNvPr>
          <p:cNvSpPr>
            <a:spLocks noGrp="1"/>
          </p:cNvSpPr>
          <p:nvPr/>
        </p:nvSpPr>
        <p:spPr>
          <a:xfrm>
            <a:off x="4400550" y="1422400"/>
            <a:ext cx="3200400" cy="1866900"/>
          </a:xfrm>
          <a:prstGeom prst="rect">
            <a:avLst/>
          </a:prstGeom>
          <a:solidFill>
            <a:srgbClr val="000000">
              <a:alpha val="0"/>
            </a:srgbClr>
          </a:solidFill>
          <a:ln w="0">
            <a:solidFill>
              <a:srgbClr val="000000">
                <a:alpha val="0"/>
              </a:srgbClr>
            </a:solidFill>
            <a:prstDash val="solid"/>
          </a:ln>
        </p:spPr>
        <p:txBody>
          <a:bodyPr lIns="57150" tIns="38100" rIns="57150" bIns="38100" anchor="t">
            <a:noAutofit/>
          </a:bodyPr>
          <a:lstStyle/>
          <a:p>
            <a:pPr algn="l">
              <a:defRPr sz="1496" b="0">
                <a:solidFill>
                  <a:srgbClr val="110057"/>
                </a:solidFill>
                <a:latin typeface="Arial"/>
                <a:ea typeface="Arial"/>
                <a:cs typeface="Arial"/>
              </a:defRPr>
            </a:pPr>
            <a:r>
              <a:rPr lang="en-US" sz="1600">
                <a:solidFill>
                  <a:srgbClr val="110057"/>
                </a:solidFill>
                <a:latin typeface="Arial"/>
                <a:ea typeface="Arial"/>
                <a:cs typeface="Arial"/>
              </a:rPr>
              <a:t>1. Show the risk distribution.
2. Report discrimination/calibration.
3. Show ARR, RR, and NNT by stratum.
4. Include treatment-related harms.
5. Translate to threshold or decision impact.</a:t>
            </a:r>
            <a:endParaRPr sz="1600">
              <a:solidFill>
                <a:srgbClr val="110057"/>
              </a:solidFill>
              <a:latin typeface="Arial"/>
              <a:ea typeface="Arial"/>
              <a:cs typeface="Arial"/>
            </a:endParaRPr>
          </a:p>
        </p:txBody>
      </p:sp>
    </p:spTree>
    <p:extLst>
      <p:ext uri="{BB962C8B-B14F-4D97-AF65-F5344CB8AC3E}">
        <p14:creationId xmlns:p14="http://schemas.microsoft.com/office/powerpoint/2010/main" val="3960265088"/>
      </p:ext>
    </p:extLst>
  </p:cSld>
  <p:clrMapOvr>
    <a:masterClrMapping/>
  </p:clrMapOvr>
</p:sld>
</file>

<file path=ppt/theme/theme1.xml><?xml version="1.0" encoding="utf-8"?>
<a:theme xmlns:a="http://schemas.openxmlformats.org/drawingml/2006/main" name="IH Colors">
  <a:themeElements>
    <a:clrScheme name="IH Colors">
      <a:dk1>
        <a:srgbClr val="110057"/>
      </a:dk1>
      <a:lt1>
        <a:srgbClr val="F7F5F9"/>
      </a:lt1>
      <a:dk2>
        <a:srgbClr val="4A00E2"/>
      </a:dk2>
      <a:lt2>
        <a:srgbClr val="FFFFFF"/>
      </a:lt2>
      <a:accent1>
        <a:srgbClr val="110057"/>
      </a:accent1>
      <a:accent2>
        <a:srgbClr val="4A00E2"/>
      </a:accent2>
      <a:accent3>
        <a:srgbClr val="FF0044"/>
      </a:accent3>
      <a:accent4>
        <a:srgbClr val="7CAFD0"/>
      </a:accent4>
      <a:accent5>
        <a:srgbClr val="FF5D55"/>
      </a:accent5>
      <a:accent6>
        <a:srgbClr val="FFBCB9"/>
      </a:accent6>
      <a:hlink>
        <a:srgbClr val="110057"/>
      </a:hlink>
      <a:folHlink>
        <a:srgbClr val="4A00E2"/>
      </a:folHlink>
    </a:clrScheme>
    <a:fontScheme name="IH Office Fonts">
      <a:majorFont>
        <a:latin typeface="Arial"/>
        <a:ea typeface=""/>
        <a:cs typeface=""/>
      </a:majorFont>
      <a:minorFont>
        <a:latin typeface="Arial"/>
        <a:ea typeface=""/>
        <a:cs typeface=""/>
      </a:minorFont>
    </a:fontScheme>
    <a:fmtScheme name="IH Colors">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H Colors">
  <a:themeElements>
    <a:clrScheme name="IH Colors">
      <a:dk1>
        <a:srgbClr val="110057"/>
      </a:dk1>
      <a:lt1>
        <a:srgbClr val="F7F5F9"/>
      </a:lt1>
      <a:dk2>
        <a:srgbClr val="4A00E2"/>
      </a:dk2>
      <a:lt2>
        <a:srgbClr val="FFFFFF"/>
      </a:lt2>
      <a:accent1>
        <a:srgbClr val="110057"/>
      </a:accent1>
      <a:accent2>
        <a:srgbClr val="4A00E2"/>
      </a:accent2>
      <a:accent3>
        <a:srgbClr val="FF0044"/>
      </a:accent3>
      <a:accent4>
        <a:srgbClr val="7CAFD0"/>
      </a:accent4>
      <a:accent5>
        <a:srgbClr val="FF5D55"/>
      </a:accent5>
      <a:accent6>
        <a:srgbClr val="FFBCB9"/>
      </a:accent6>
      <a:hlink>
        <a:srgbClr val="110057"/>
      </a:hlink>
      <a:folHlink>
        <a:srgbClr val="4A00E2"/>
      </a:folHlink>
    </a:clrScheme>
    <a:fontScheme name="IH Office Fonts">
      <a:majorFont>
        <a:latin typeface="Arial"/>
        <a:ea typeface=""/>
        <a:cs typeface=""/>
      </a:majorFont>
      <a:minorFont>
        <a:latin typeface="Arial"/>
        <a:ea typeface=""/>
        <a:cs typeface=""/>
      </a:minorFont>
    </a:fontScheme>
    <a:fmtScheme name="IH Colors">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8C4627A-8DE7-174C-9894-E8B548ED3893}">
  <we:reference id="WA200010001" version="1.0.0.1" store="Omex" storeType="OMEX"/>
  <we:alternateReferences>
    <we:reference id="WA200010001" version="1.0.0.1" store="WA200010001" storeType="OMEX"/>
  </we:alternateReferences>
  <we:properties>
    <we:property name="claude.fileId" value="&quot;1d628948-d51d-4147-a765-75e62f7a3c40&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D2EB1C7-DCCB-8147-9D4E-82F4D86EBE03}">
  <we:reference id="wa200010215" version="2.0.0.0" store="en-US" storeType="OMEX"/>
  <we:alternateReferences>
    <we:reference id="WA200010215" version="2.0.0.0" store="WA20001021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2858</TotalTime>
  <Words>9481</Words>
  <Application>Microsoft Macintosh PowerPoint</Application>
  <DocSecurity>0</DocSecurity>
  <PresentationFormat>On-screen Show (16:9)</PresentationFormat>
  <Paragraphs>1002</Paragraphs>
  <Slides>56</Slides>
  <Notes>52</Notes>
  <HiddenSlides>8</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56</vt:i4>
      </vt:variant>
    </vt:vector>
  </HeadingPairs>
  <TitlesOfParts>
    <vt:vector size="61" baseType="lpstr">
      <vt:lpstr>Aptos</vt:lpstr>
      <vt:lpstr>Arial</vt:lpstr>
      <vt:lpstr>IH Colors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ASCEND-MA risk adjustment sharpens the trial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Brian Locke</cp:lastModifiedBy>
  <cp:revision>15</cp:revision>
  <dcterms:created xsi:type="dcterms:W3CDTF">2026-05-31T21:47:22Z</dcterms:created>
  <dcterms:modified xsi:type="dcterms:W3CDTF">2026-06-03T23:58:58Z</dcterms:modified>
</cp:coreProperties>
</file>