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2" r:id="rId2"/>
    <p:sldMasterId id="2147483684" r:id="rId3"/>
  </p:sldMasterIdLst>
  <p:notesMasterIdLst>
    <p:notesMasterId r:id="rId54"/>
  </p:notesMasterIdLst>
  <p:sldIdLst>
    <p:sldId id="563" r:id="rId4"/>
    <p:sldId id="564" r:id="rId5"/>
    <p:sldId id="704" r:id="rId6"/>
    <p:sldId id="565" r:id="rId7"/>
    <p:sldId id="566" r:id="rId8"/>
    <p:sldId id="567" r:id="rId9"/>
    <p:sldId id="568" r:id="rId10"/>
    <p:sldId id="569" r:id="rId11"/>
    <p:sldId id="570" r:id="rId12"/>
    <p:sldId id="571" r:id="rId13"/>
    <p:sldId id="689" r:id="rId14"/>
    <p:sldId id="604" r:id="rId15"/>
    <p:sldId id="628" r:id="rId16"/>
    <p:sldId id="629" r:id="rId17"/>
    <p:sldId id="676" r:id="rId18"/>
    <p:sldId id="677" r:id="rId19"/>
    <p:sldId id="630" r:id="rId20"/>
    <p:sldId id="691" r:id="rId21"/>
    <p:sldId id="637" r:id="rId22"/>
    <p:sldId id="627" r:id="rId23"/>
    <p:sldId id="693" r:id="rId24"/>
    <p:sldId id="697" r:id="rId25"/>
    <p:sldId id="683" r:id="rId26"/>
    <p:sldId id="699" r:id="rId27"/>
    <p:sldId id="652" r:id="rId28"/>
    <p:sldId id="712" r:id="rId29"/>
    <p:sldId id="715" r:id="rId30"/>
    <p:sldId id="635" r:id="rId31"/>
    <p:sldId id="633" r:id="rId32"/>
    <p:sldId id="702" r:id="rId33"/>
    <p:sldId id="706" r:id="rId34"/>
    <p:sldId id="638" r:id="rId35"/>
    <p:sldId id="640" r:id="rId36"/>
    <p:sldId id="698" r:id="rId37"/>
    <p:sldId id="646" r:id="rId38"/>
    <p:sldId id="650" r:id="rId39"/>
    <p:sldId id="653" r:id="rId40"/>
    <p:sldId id="656" r:id="rId41"/>
    <p:sldId id="658" r:id="rId42"/>
    <p:sldId id="660" r:id="rId43"/>
    <p:sldId id="661" r:id="rId44"/>
    <p:sldId id="664" r:id="rId45"/>
    <p:sldId id="668" r:id="rId46"/>
    <p:sldId id="669" r:id="rId47"/>
    <p:sldId id="688" r:id="rId48"/>
    <p:sldId id="671" r:id="rId49"/>
    <p:sldId id="672" r:id="rId50"/>
    <p:sldId id="673" r:id="rId51"/>
    <p:sldId id="674" r:id="rId52"/>
    <p:sldId id="675" r:id="rId53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4FF6CD6-A390-7A40-A1D9-6D2458E1FF11}">
          <p14:sldIdLst>
            <p14:sldId id="563"/>
            <p14:sldId id="564"/>
            <p14:sldId id="704"/>
            <p14:sldId id="565"/>
            <p14:sldId id="566"/>
            <p14:sldId id="567"/>
            <p14:sldId id="568"/>
            <p14:sldId id="569"/>
            <p14:sldId id="570"/>
            <p14:sldId id="571"/>
            <p14:sldId id="689"/>
            <p14:sldId id="604"/>
            <p14:sldId id="628"/>
            <p14:sldId id="629"/>
            <p14:sldId id="676"/>
            <p14:sldId id="677"/>
            <p14:sldId id="630"/>
            <p14:sldId id="691"/>
            <p14:sldId id="637"/>
            <p14:sldId id="627"/>
            <p14:sldId id="693"/>
            <p14:sldId id="697"/>
            <p14:sldId id="683"/>
            <p14:sldId id="699"/>
            <p14:sldId id="652"/>
            <p14:sldId id="712"/>
            <p14:sldId id="715"/>
            <p14:sldId id="635"/>
            <p14:sldId id="633"/>
            <p14:sldId id="702"/>
            <p14:sldId id="706"/>
            <p14:sldId id="638"/>
            <p14:sldId id="640"/>
            <p14:sldId id="698"/>
            <p14:sldId id="646"/>
            <p14:sldId id="650"/>
            <p14:sldId id="653"/>
            <p14:sldId id="656"/>
            <p14:sldId id="658"/>
            <p14:sldId id="660"/>
            <p14:sldId id="661"/>
            <p14:sldId id="664"/>
            <p14:sldId id="668"/>
            <p14:sldId id="669"/>
            <p14:sldId id="688"/>
            <p14:sldId id="671"/>
            <p14:sldId id="672"/>
            <p14:sldId id="673"/>
            <p14:sldId id="674"/>
            <p14:sldId id="675"/>
          </p14:sldIdLst>
        </p14:section>
        <p14:section name="ML to support decisions" id="{11D2F785-FA46-F443-A08A-DDF7F6FE48BC}">
          <p14:sldIdLst/>
        </p14:section>
        <p14:section name="Personalized Medicine" id="{99D21816-065C-4641-9903-B6C6BEBC11E0}">
          <p14:sldIdLst/>
        </p14:section>
        <p14:section name="Appendix Slides" id="{3BCE447A-88F9-6D43-947A-B68BF9F7AA9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74726"/>
  </p:normalViewPr>
  <p:slideViewPr>
    <p:cSldViewPr snapToGrid="0">
      <p:cViewPr varScale="1">
        <p:scale>
          <a:sx n="124" d="100"/>
          <a:sy n="124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tableStyles" Target="tableStyle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heme" Target="theme/theme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Purpose: Anti-hype slide that separates model performance from clinical impact.</a:t>
            </a:r>
          </a:p>
          <a:p>
            <a:r>
              <a:rPr dirty="0"/>
              <a:t>Key line: AUC is upstream of the endpoint we actually care about.</a:t>
            </a:r>
          </a:p>
          <a:p>
            <a:r>
              <a:rPr dirty="0"/>
              <a:t>Transition: Now name the hard question.</a:t>
            </a:r>
          </a:p>
          <a:p>
            <a:r>
              <a:rPr dirty="0"/>
              <a:t>Source anchors: A Few Good Metrics; STRATOS TG6 / Van </a:t>
            </a:r>
            <a:r>
              <a:rPr dirty="0" err="1"/>
              <a:t>Calster</a:t>
            </a:r>
            <a:r>
              <a:rPr dirty="0"/>
              <a:t> et al.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you recenter the AUC curve in the box?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76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Establish the organizing question for the whole talk.</a:t>
            </a:r>
          </a:p>
          <a:p>
            <a:r>
              <a:t>Key line: The hard question is not whether a model predicts; it is what the prediction is for.</a:t>
            </a:r>
          </a:p>
          <a:p>
            <a:r>
              <a:t>Transition: Introduce the four answers, but keep this slide focused on purpose.</a:t>
            </a:r>
          </a:p>
          <a:p>
            <a:r>
              <a:t>Source anchors: Current deck opening; rebuild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Present the only taxonomy used in the deck.</a:t>
            </a:r>
          </a:p>
          <a:p>
            <a:r>
              <a:t>Key line: Prediction earns its keep when it does one of four jobs: act, label, enrich, or estimate.</a:t>
            </a:r>
          </a:p>
          <a:p>
            <a:r>
              <a:t>Transition: Start with Act using the Wells Score.</a:t>
            </a:r>
          </a:p>
          <a:p>
            <a:r>
              <a:t>Source anchors: Rebuild ticket; current taxonomy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Bridge familiar clinical rules to machine learning without teaching model classes.</a:t>
            </a:r>
          </a:p>
          <a:p>
            <a:r>
              <a:t>Key line: Machine learning is not synonymous with neural networks.</a:t>
            </a:r>
          </a:p>
          <a:p>
            <a:r>
              <a:t>Transition: PE diagnosis created a narrow action problem.</a:t>
            </a:r>
          </a:p>
          <a:p>
            <a:r>
              <a:t>Source anchors: View from the MTN ML article; Wells Score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Anchor Wells in a specific action, not diagnosis in the abstract.</a:t>
            </a:r>
          </a:p>
          <a:p>
            <a:r>
              <a:t>Key line: The useful question was who can safely avoid CT.</a:t>
            </a:r>
          </a:p>
          <a:p>
            <a:r>
              <a:t>Transition: Show how Wells became a workflow.</a:t>
            </a:r>
          </a:p>
          <a:p>
            <a:r>
              <a:t>Source anchors: Wells Score background; current Wells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Purpose: Compress Wells history into the development pathway that made it usable.</a:t>
            </a:r>
          </a:p>
          <a:p>
            <a:r>
              <a:rPr dirty="0"/>
              <a:t>Key line: Wells worked because it became a validated workflow.</a:t>
            </a:r>
          </a:p>
          <a:p>
            <a:r>
              <a:rPr dirty="0"/>
              <a:t>Transition: Reduce the mechanics to one logistic-regression slide.</a:t>
            </a:r>
          </a:p>
          <a:p>
            <a:r>
              <a:rPr dirty="0"/>
              <a:t>Source anchors: Wells et al. 2000; View from the MTN Wells 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 was not modern machine learning. It was earlier and arguably more operationally mature: a coded clinical database plus executable medical knowledge. It used deterministic if-then logic, Bayesian probability calculations, temporal rules, monitoring logic, and explanations to support real decisions in cardiology, ICU care, radiology, pharmacy, laboratory interpretation, infection surveillance, and antibiotic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Introduce the reference-class problem.</a:t>
            </a:r>
          </a:p>
          <a:p>
            <a:r>
              <a:t>Key line: A diagnosis is useful if the class helps predict prognosis, mechanism, treatment response, or routing.</a:t>
            </a:r>
          </a:p>
          <a:p>
            <a:r>
              <a:t>Transition: Define fitness for purpose.</a:t>
            </a:r>
          </a:p>
          <a:p>
            <a:r>
              <a:t>Source anchors: Current reference-class section; K23 framing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990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Reframe disease definitions as purposeful scientific and clinical tools. Key line: A disease definition is not simply a mirror of nature; it is a tool that must be judged against a job. Transition: Once the purpose is explicit, separate definitions based on present abnormality from those based on future risk. Source anchors: Stegenga; Doust et al.; Ranieri et al. AJRCCM 2022; Carrell et al. JAMIA 2025.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Purpose: Contrast abnormality-based and risk-based disease definitions. Key line: Abnormality asks what is unusual now; risk asks what future harm is likely. Transition: Use hyperlipidemia as the familiar example of this shift. Source anchors: Stegenga; Aronowitz Risky Medicine; Doust et al. JAMA Internal Medicine 2017.</a:t>
            </a:r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Purpose: Use cholesterol to show the shift from biomarker abnormality toward preventable event risk and expected benefit. Key line: The question moved from is the LDL high to is this patient's absolute ASCVD risk high enough that lipid lowering is worth it. Transition: This is not only philosophical; the screening math makes risk central to action. Source anchors: ATP III; 2013 ACC/AHA Blood Cholesterol Guideline; Pooled Cohort Equations.</a:t>
            </a:r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Purpose of a HLD label is really just to indicate you should be on medications to improve your risk profile.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Show why risk-based definitions are advantageous for guiding action by using screening math. Key line: Baseline risk is not background information; it determines predictive value, yield, and false-positive burden. Transition: This same logic motivates transition-care phenotypes: the useful HRF label should route scarce post-discharge attention. Source anchors: Bayes theorem; diagnostic threshold logic; screening PPV example.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 i="1" u="none" dirty="0"/>
              <a:t>Purpose: Make the clinical operations analogy concrete and professional on slide.</a:t>
            </a:r>
          </a:p>
          <a:p>
            <a:r>
              <a:rPr sz="1200" b="0" i="1" u="none" dirty="0"/>
              <a:t>Key line: AI can expand the range of questions we can act on quickly and reasonably.</a:t>
            </a:r>
          </a:p>
          <a:p>
            <a:r>
              <a:rPr sz="1200" b="0" i="1" u="none" dirty="0"/>
              <a:t>Transition: Then define the comparator as the available care system.</a:t>
            </a:r>
          </a:p>
          <a:p>
            <a:r>
              <a:rPr sz="1200" b="0" i="1" u="none" dirty="0"/>
              <a:t>Source anchors: Current slide 30; ASCEND-MA framing.</a:t>
            </a:r>
          </a:p>
          <a:p>
            <a:r>
              <a:rPr sz="1200" b="0" i="1" u="none" dirty="0"/>
              <a:t>Oral bridge: My girlfriend gives me a hard time when I use AI to do things I probably would have spent the time to think through myself. That critique is basically right: that can become cognitive outsourcing. The more useful pattern is different. AI lets me look into things I would otherwise shrug off because I lack the time, confidence, or activation energy to investigate them. It expands the sphere where I can act quickly and reasonably.</a:t>
            </a:r>
          </a:p>
          <a:p>
            <a:endParaRPr sz="1200" b="0" i="1" u="none" dirty="0"/>
          </a:p>
          <a:p>
            <a:r>
              <a:rPr sz="1200" b="0" i="1" u="none" dirty="0"/>
              <a:t>Pivot: That is the clinical operations analogy. The sickest patients are often already visible. AI may be most useful when it expands care-team attention into the rising-risk middle.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ASCEND-MA as implementation case study.</a:t>
            </a:r>
          </a:p>
          <a:p>
            <a:r>
              <a:rPr lang="en-US" dirty="0"/>
              <a:t>Key line: The outcome is not AUC; the outcome is operational, clinical, and economic impact.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 i="1" u="none" dirty="0"/>
              <a:t>Purpose: Shift from treatment rules to operations.</a:t>
            </a:r>
          </a:p>
          <a:p>
            <a:r>
              <a:rPr sz="1200" b="0" i="1" u="none" dirty="0"/>
              <a:t>Key line: The target is not simply highest risk; it is risk times modifiability times usual-care miss probability.</a:t>
            </a:r>
          </a:p>
          <a:p>
            <a:r>
              <a:rPr sz="1200" b="0" i="1" u="none" dirty="0"/>
              <a:t>Transition: Use the AI sphere-of-action slide to make the operations analogy.</a:t>
            </a:r>
          </a:p>
          <a:p>
            <a:r>
              <a:rPr sz="1200" b="0" i="1" u="none" dirty="0"/>
              <a:t>Source anchors: ASCEND-MA framing; prior deck slide 27.</a:t>
            </a:r>
            <a:endParaRPr lang="en-US" sz="1200" b="0" i="1" u="none" dirty="0"/>
          </a:p>
          <a:p>
            <a:endParaRPr lang="en-US" sz="1200" b="0" i="1" u="none" dirty="0"/>
          </a:p>
          <a:p>
            <a:r>
              <a:rPr lang="en-US" sz="1200" b="0" i="1" u="none" dirty="0"/>
              <a:t>We should also include that the nudges can occur several times over the 90 day period. (1-4x per the protocol) - this could be represented with an arrow back to 2 from 4. </a:t>
            </a:r>
            <a:endParaRPr sz="1200" b="0" i="1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Purpose: Define prognostic enrichment cleanly.</a:t>
            </a:r>
          </a:p>
          <a:p>
            <a:r>
              <a:rPr dirty="0"/>
              <a:t>Key line: Enrichment does not require predicting who responds.</a:t>
            </a:r>
          </a:p>
          <a:p>
            <a:r>
              <a:rPr dirty="0"/>
              <a:t>Transition: Critical care trials especially need signal.</a:t>
            </a:r>
          </a:p>
          <a:p>
            <a:r>
              <a:rPr dirty="0"/>
              <a:t>Source anchors: Current trial enrichment slide; Kent/prognostic enrichment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ASCEND-MA as implementation case study.</a:t>
            </a:r>
          </a:p>
          <a:p>
            <a:r>
              <a:rPr lang="en-US" dirty="0"/>
              <a:t>Key line: The outcome is not AUC; the outcome is operational, clinical, and economic impact.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54DB4-2766-7241-9B65-8741C5A79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7902E-69F9-BCC4-CFD1-A2717B988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0FDF9-94B9-26CC-E7BE-22883296A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Purpose: Preview K23 without turning this section into a grant pitch.</a:t>
            </a:r>
          </a:p>
          <a:p>
            <a:r>
              <a:rPr dirty="0"/>
              <a:t>Key line: HRF can be defined physiologically, but transition care needs a routing class.</a:t>
            </a:r>
          </a:p>
          <a:p>
            <a:r>
              <a:rPr dirty="0"/>
              <a:t>Transition: Recap the Label answer, then move to risk-based action.</a:t>
            </a:r>
          </a:p>
          <a:p>
            <a:r>
              <a:rPr dirty="0"/>
              <a:t>Source anchors: Locke K23 Specific Aims; prior deck framing.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13132-AA25-A738-FEC9-37F5151559A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06626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Purpose: Anchor the K23 in a clinical transition gap.</a:t>
            </a:r>
          </a:p>
          <a:p>
            <a:r>
              <a:rPr dirty="0"/>
              <a:t>Key line: HRF transition care is the pulmonary application of reference-class and attention-routing logic.</a:t>
            </a:r>
          </a:p>
          <a:p>
            <a:r>
              <a:rPr dirty="0"/>
              <a:t>Transition: Show the three-aim sequence.</a:t>
            </a:r>
          </a:p>
          <a:p>
            <a:r>
              <a:rPr dirty="0"/>
              <a:t>Source anchors: Locke K23 Specific Aims.</a:t>
            </a:r>
          </a:p>
          <a:p>
            <a:r>
              <a:rPr dirty="0"/>
              <a:t>Required guardrail: HRF transition care is the pulmonary/critical care application of reference-class and attention-routing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Purpose: Make the grant sequence legible.</a:t>
            </a:r>
          </a:p>
          <a:p>
            <a:r>
              <a:rPr dirty="0"/>
              <a:t>Key line: Measure current care, validate risk infrastructure, then test feasibility before R01.</a:t>
            </a:r>
          </a:p>
          <a:p>
            <a:r>
              <a:rPr dirty="0"/>
              <a:t>Transition: Clarify Aim 2 is not deployment.</a:t>
            </a:r>
          </a:p>
          <a:p>
            <a:r>
              <a:rPr dirty="0"/>
              <a:t>Source anchors: Locke K23 Research Strategy.</a:t>
            </a:r>
          </a:p>
          <a:p>
            <a:r>
              <a:rPr dirty="0"/>
              <a:t>Required guardrails: Aim 2 validates risk infrastructure, not a deployed tool. Aim 3 enrollment is criteria-based and independent of Aim 2 model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Purpose: Guard against overclaiming model deployment in the K23.</a:t>
            </a:r>
          </a:p>
          <a:p>
            <a:r>
              <a:rPr dirty="0"/>
              <a:t>Key line: Aim 2 validates research-ready risk infrastructure; it is not a clinical deployment tool.</a:t>
            </a:r>
          </a:p>
          <a:p>
            <a:r>
              <a:rPr dirty="0"/>
              <a:t>Transition: Clarify Aim 3 is feasibility, not efficacy.</a:t>
            </a:r>
          </a:p>
          <a:p>
            <a:r>
              <a:rPr dirty="0"/>
              <a:t>Source anchors: Locke K23 Specific Aims / Research Strategy.</a:t>
            </a:r>
          </a:p>
          <a:p>
            <a:r>
              <a:rPr dirty="0"/>
              <a:t>Required guardrail: Aim 2 validates risk infrastructure, not a deployed tool.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one seems a little too much like the prior one in terms of layout.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rPr lang="en-US" dirty="0"/>
              <a:t>Future use (on-slide line moved to notes): Future use: enrichment, stratification, endpoint capture, navigator-capacity planning.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Guard against overclaiming model deployment in the K23.</a:t>
            </a:r>
          </a:p>
          <a:p>
            <a:r>
              <a:t>Key line: Aim 2 validates research-ready risk infrastructure; it is not a clinical deployment tool.</a:t>
            </a:r>
          </a:p>
          <a:p>
            <a:r>
              <a:t>Transition: Clarify Aim 3 is feasibility, not efficacy.</a:t>
            </a:r>
          </a:p>
          <a:p>
            <a:r>
              <a:t>Source anchors: Locke K23 Specific Aims / Research Strategy.</a:t>
            </a:r>
          </a:p>
          <a:p>
            <a:r>
              <a:t>Required guardrail: Aim 2 validates risk infrastructure, not a deployed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rPr lang="en-US" dirty="0"/>
              <a:t>Future use (on-slide line moved to notes): Future use: enrichment, stratification, endpoint capture, navigator-capacity planning.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Guard against overclaiming model deployment in the K23.</a:t>
            </a:r>
          </a:p>
          <a:p>
            <a:r>
              <a:t>Key line: Aim 2 validates research-ready risk infrastructure; it is not a clinical deployment tool.</a:t>
            </a:r>
          </a:p>
          <a:p>
            <a:r>
              <a:t>Transition: Clarify Aim 3 is feasibility, not efficacy.</a:t>
            </a:r>
          </a:p>
          <a:p>
            <a:r>
              <a:t>Source anchors: Locke K23 Specific Aims / Research Strategy.</a:t>
            </a:r>
          </a:p>
          <a:p>
            <a:r>
              <a:t>Required guardrail: Aim 2 validates risk infrastructure, not a deployed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rPr lang="en-US" dirty="0"/>
              <a:t>Future use (on-slide line moved to notes): Future use: enrichment, stratification, endpoint capture, navigator-capacity planning.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Anchor the K23 in a clinical transition gap.</a:t>
            </a:r>
          </a:p>
          <a:p>
            <a:r>
              <a:t>Key line: HRF transition care is the pulmonary application of reference-class and attention-routing logic.</a:t>
            </a:r>
          </a:p>
          <a:p>
            <a:r>
              <a:t>Transition: Show the three-aim sequence.</a:t>
            </a:r>
          </a:p>
          <a:p>
            <a:r>
              <a:t>Source anchors: Locke K23 Specific Aims.</a:t>
            </a:r>
          </a:p>
          <a:p>
            <a:r>
              <a:t>Required guardrail: HRF transition care is the pulmonary/critical care application of reference-class and attention-routing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Keep Aim 3 as feasibility rather than a full grant pitch.</a:t>
            </a:r>
          </a:p>
          <a:p>
            <a:r>
              <a:t>Key line: Aim 3 tests whether a pathway can reliably route patients to indicated care.</a:t>
            </a:r>
          </a:p>
          <a:p>
            <a:r>
              <a:t>Transition: Return to the four answers and close.</a:t>
            </a:r>
          </a:p>
          <a:p>
            <a:r>
              <a:t>Source anchors: Locke K23 Specific Aims / Reapplication.</a:t>
            </a:r>
          </a:p>
          <a:p>
            <a:r>
              <a:t>Required guardrails: Aim 3 enrollment is criteria-based and independent of Aim 2 model performance. Aim 3 is feasibility, not efficacy.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Motivate enrichment and adjustment in PCCM trials.</a:t>
            </a:r>
          </a:p>
          <a:p>
            <a:r>
              <a:t>Key line: When outcomes are noisy, better prediction can improve design before predicting response.</a:t>
            </a:r>
          </a:p>
          <a:p>
            <a:r>
              <a:t>Transition: Now show adjustment as the Estimate job.</a:t>
            </a:r>
          </a:p>
          <a:p>
            <a:r>
              <a:t>Source anchors: Critical care trial design; current slide 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Summarize the trial design argument.</a:t>
            </a:r>
          </a:p>
          <a:p>
            <a:r>
              <a:t>Key line: Enrichment chooses who enters; adjustment estimates more precisely after randomization.</a:t>
            </a:r>
          </a:p>
          <a:p>
            <a:r>
              <a:t>Transition: Apply the full logic to the K23 HRF program.</a:t>
            </a:r>
          </a:p>
          <a:p>
            <a:r>
              <a:t>Source anchors: Current slide 45; K23 Aim 2 future-use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Purpose: Introduce prognostic adjustment as precision infrastructure.</a:t>
            </a:r>
          </a:p>
          <a:p>
            <a:r>
              <a:rPr dirty="0"/>
              <a:t>Key line: This is precision adjustment in an RCT, not confounding adjustment.</a:t>
            </a:r>
          </a:p>
          <a:p>
            <a:r>
              <a:rPr dirty="0"/>
              <a:t>Transition: Quantify the precision payoff.</a:t>
            </a:r>
          </a:p>
          <a:p>
            <a:r>
              <a:rPr dirty="0"/>
              <a:t>Source anchors: Senn 2015; trial covariate adjustment literature.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2A2340"/>
                </a:solidFill>
                <a:latin typeface="Arial"/>
                <a:cs typeface="Arial"/>
              </a:rPr>
              <a:t>Teaching sequence: intuition, then formula, then numbers. Adjustment is not personalization; it improves estimation of the average randomized effect.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Purpose: Give trialists the mathematical payoff.</a:t>
            </a:r>
          </a:p>
          <a:p>
            <a:r>
              <a:rPr dirty="0"/>
              <a:t>Key line: If residual SD falls by 20%, SE falls by 20%.</a:t>
            </a:r>
          </a:p>
          <a:p>
            <a:r>
              <a:rPr dirty="0"/>
              <a:t>Transition: Close the trial-methods section by linking enrichment and adjustment.</a:t>
            </a:r>
          </a:p>
          <a:p>
            <a:r>
              <a:rPr dirty="0"/>
              <a:t>Source anchors: Senn 2015; efficient estimation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Purpose: Reframe NNT without dismissing it.</a:t>
            </a:r>
          </a:p>
          <a:p>
            <a:r>
              <a:rPr dirty="0"/>
              <a:t>Key line: NNT equals 50 is a population summary, not a patient property.</a:t>
            </a:r>
          </a:p>
          <a:p>
            <a:r>
              <a:rPr dirty="0"/>
              <a:t>Transition: Show how baseline risk changes absolute benefit.</a:t>
            </a:r>
          </a:p>
          <a:p>
            <a:r>
              <a:rPr dirty="0"/>
              <a:t>Source anchors: Kent 2023; current NNT slide.</a:t>
            </a:r>
            <a:endParaRPr lang="en-US" dirty="0"/>
          </a:p>
          <a:p>
            <a:endParaRPr lang="en-US" dirty="0"/>
          </a:p>
          <a:p>
            <a:r>
              <a:rPr lang="en-US" dirty="0"/>
              <a:t>[ ] plan to revise this some with the framing from Harrell https://</a:t>
            </a:r>
            <a:r>
              <a:rPr lang="en-US" dirty="0" err="1"/>
              <a:t>www.fharrell.com</a:t>
            </a:r>
            <a:r>
              <a:rPr lang="en-US" dirty="0"/>
              <a:t>/post/</a:t>
            </a:r>
            <a:r>
              <a:rPr lang="en-US" dirty="0" err="1"/>
              <a:t>rdist</a:t>
            </a:r>
            <a:r>
              <a:rPr lang="en-US" dirty="0"/>
              <a:t>/ </a:t>
            </a:r>
          </a:p>
          <a:p>
            <a:endParaRPr lang="en-US" dirty="0"/>
          </a:p>
          <a:p>
            <a:r>
              <a:rPr lang="en-US" dirty="0"/>
              <a:t>ARR and NNT conflate baseline risk and treatment effect – not the best way to generalize to other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Purpose: Show risk magnification of absolute benefit.</a:t>
            </a:r>
          </a:p>
          <a:p>
            <a:r>
              <a:rPr dirty="0"/>
              <a:t>Key line: The same relative effect can produce very different ARR and NNT.</a:t>
            </a:r>
          </a:p>
          <a:p>
            <a:r>
              <a:rPr dirty="0"/>
              <a:t>Transition: Benefits and burdens may scale differently.</a:t>
            </a:r>
          </a:p>
          <a:p>
            <a:r>
              <a:rPr dirty="0"/>
              <a:t>Source anchors: Kent 2023; Harrell risk-magnification framing.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should add some evidence that actually, RR’s tend to be more stable than other effect measures.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Purpose: Make the key conceptual distinction before CATE.</a:t>
            </a:r>
          </a:p>
          <a:p>
            <a:r>
              <a:rPr dirty="0"/>
              <a:t>Key line: Risk targeting can be useful even if relative effects are stable.</a:t>
            </a:r>
          </a:p>
          <a:p>
            <a:r>
              <a:rPr dirty="0"/>
              <a:t>Transition: Define CATE as the aspirational but harder target.</a:t>
            </a:r>
          </a:p>
          <a:p>
            <a:r>
              <a:rPr dirty="0"/>
              <a:t>Source anchors: Kent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Purpose: Define CATE clearly without over-teaching causal inference.</a:t>
            </a:r>
          </a:p>
          <a:p>
            <a:r>
              <a:rPr dirty="0"/>
              <a:t>Key line: CATE is causal, not ordinary prediction.</a:t>
            </a:r>
          </a:p>
          <a:p>
            <a:r>
              <a:rPr dirty="0"/>
              <a:t>Transition: That is why baseline risk is usually the first useful layer.</a:t>
            </a:r>
          </a:p>
          <a:p>
            <a:r>
              <a:rPr dirty="0"/>
              <a:t>Source anchors: AJE 2023 identifiability; </a:t>
            </a:r>
            <a:r>
              <a:rPr dirty="0" err="1"/>
              <a:t>AnnRev</a:t>
            </a:r>
            <a:r>
              <a:rPr dirty="0"/>
              <a:t> Biomed Data Sci 2025 HTE learners.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Purpose: State the main treatment-rule claim.</a:t>
            </a:r>
          </a:p>
          <a:p>
            <a:r>
              <a:rPr dirty="0"/>
              <a:t>Key line: Use more risk models before more effect models.</a:t>
            </a:r>
          </a:p>
          <a:p>
            <a:r>
              <a:rPr dirty="0"/>
              <a:t>Transition: Now apply risk targeting to scarce attention.</a:t>
            </a:r>
          </a:p>
          <a:p>
            <a:r>
              <a:rPr dirty="0"/>
              <a:t>Source anchors: Kent 2023; Senn response-variation caveat.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20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Risk modeling: apply f(X) without treatment, then compare treated vs control within risk strata.
Effect modeling: estimate </a:t>
            </a:r>
            <a:r>
              <a:rPr lang="en-US" sz="1200" dirty="0" err="1">
                <a:solidFill>
                  <a:srgbClr val="110057"/>
                </a:solidFill>
                <a:latin typeface="Arial"/>
                <a:ea typeface="Arial"/>
                <a:cs typeface="Arial"/>
              </a:rPr>
              <a:t>treatment×covariate</a:t>
            </a:r>
            <a:r>
              <a:rPr lang="en-US" sz="120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 interactions.
Use effect models cautiously: low power, multiplicity, and overfitting risk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Close with the thesis and invite discussion.</a:t>
            </a:r>
          </a:p>
          <a:p>
            <a:r>
              <a:t>Key line: Prediction earns its keep when it does work.</a:t>
            </a:r>
          </a:p>
          <a:p>
            <a:r>
              <a:t>Transition: Invite questions.</a:t>
            </a:r>
          </a:p>
          <a:p>
            <a:r>
              <a:t>Source anchors: Full deck synthesis; Wells, ASCEND-MA, K23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Appendix backup for ML definition.</a:t>
            </a:r>
          </a:p>
          <a:p>
            <a:r>
              <a:t>Key line: Simple models can be powerful when the use case is right.</a:t>
            </a:r>
          </a:p>
          <a:p>
            <a:r>
              <a:t>Transition: Use only if needed during Q&amp;A.</a:t>
            </a:r>
          </a:p>
          <a:p>
            <a:r>
              <a:t>Source anchors: Wells Score / ML article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Purpose: Close with the thesis and invite discussion.</a:t>
            </a:r>
          </a:p>
          <a:p>
            <a:r>
              <a:rPr dirty="0"/>
              <a:t>Key line: Prediction earns its keep when it does work.</a:t>
            </a:r>
          </a:p>
          <a:p>
            <a:r>
              <a:rPr dirty="0"/>
              <a:t>Transition: Invite questions.</a:t>
            </a:r>
          </a:p>
          <a:p>
            <a:r>
              <a:rPr dirty="0"/>
              <a:t>Source anchors: Full deck synthesis; Wells, ASCEND-MA, K23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Appendix backup for ML definition.</a:t>
            </a:r>
          </a:p>
          <a:p>
            <a:r>
              <a:t>Key line: Simple models can be powerful when the use case is right.</a:t>
            </a:r>
          </a:p>
          <a:p>
            <a:r>
              <a:t>Transition: Use only if needed during Q&amp;A.</a:t>
            </a:r>
          </a:p>
          <a:p>
            <a:r>
              <a:t>Source anchors: Wells Score / ML article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Backup for logistic-regression mechanics.</a:t>
            </a:r>
          </a:p>
          <a:p>
            <a:r>
              <a:t>Key line: The main deck does not need to teach the sigmoid.</a:t>
            </a:r>
          </a:p>
          <a:p>
            <a:r>
              <a:t>Transition: Use only if needed during Q&amp;A.</a:t>
            </a:r>
          </a:p>
          <a:p>
            <a:r>
              <a:t>Source anchors: Log-odds notes; current slides 10-11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 i="1" u="none"/>
              <a:t>Purpose: Backup for ASCEND-MA operational evaluation.</a:t>
            </a:r>
          </a:p>
          <a:p>
            <a:r>
              <a:rPr sz="1200" b="0" i="1" u="none"/>
              <a:t>Key line: If review capacity is fixed, evaluate the actionable band.</a:t>
            </a:r>
          </a:p>
          <a:p>
            <a:r>
              <a:rPr sz="1200" b="0" i="1" u="none"/>
              <a:t>Transition: Use only if needed during Q&amp;A.</a:t>
            </a:r>
          </a:p>
          <a:p>
            <a:r>
              <a:rPr sz="1200" b="0" i="1" u="none"/>
              <a:t>Source anchors: ASCEND-MA protocol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Backup for HTE caution.</a:t>
            </a:r>
          </a:p>
          <a:p>
            <a:r>
              <a:t>Key line: Different p-values do not prove different effects.</a:t>
            </a:r>
          </a:p>
          <a:p>
            <a:r>
              <a:t>Transition: Use only if needed during Q&amp;A.</a:t>
            </a:r>
          </a:p>
          <a:p>
            <a:r>
              <a:t>Source anchors: HTE learners; AJE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DA20C-D2BC-4278-A683-99745DFD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680339"/>
            <a:ext cx="4504056" cy="2428443"/>
          </a:xfrm>
        </p:spPr>
        <p:txBody>
          <a:bodyPr anchor="t"/>
          <a:lstStyle>
            <a:lvl1pPr>
              <a:lnSpc>
                <a:spcPct val="100000"/>
              </a:lnSpc>
              <a:buNone/>
              <a:defRPr sz="54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CCFA5-BA84-44CB-8799-9B9E38B0534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B09F4-8BB8-478D-A9D9-B4B47D736E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3309C-0603-4A8B-AE17-85E6C745D5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ree Column Proces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B8D2-9D1F-49F6-80F6-C2864DCD7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8" y="393106"/>
            <a:ext cx="8305803" cy="730353"/>
          </a:xfrm>
        </p:spPr>
        <p:txBody>
          <a:bodyPr anchor="t"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8A393-879B-4F9D-8927-2CC8893FDC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1414A-9239-4604-A244-A75D19F69D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1AF52-F3D6-4051-84A0-2246408976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9099" y="2520473"/>
            <a:ext cx="2138764" cy="1940401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  <a:lvl3pPr marL="171450" indent="-171450">
              <a:spcBef>
                <a:spcPts val="1200"/>
              </a:spcBef>
              <a:buNone/>
              <a:defRPr>
                <a:solidFill>
                  <a:schemeClr val="tx1"/>
                </a:solidFill>
              </a:defRPr>
            </a:lvl3pPr>
          </a:lstStyle>
          <a:p>
            <a:endParaRPr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642A8771-4A82-CB8D-C424-41BF6D808A00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3264847" y="2520473"/>
            <a:ext cx="2138764" cy="1940401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  <a:lvl3pPr marL="171450" indent="-171450">
              <a:spcBef>
                <a:spcPts val="1200"/>
              </a:spcBef>
              <a:buNone/>
              <a:defRPr>
                <a:solidFill>
                  <a:schemeClr val="tx1"/>
                </a:solidFill>
              </a:defRPr>
            </a:lvl3pPr>
          </a:lstStyle>
          <a:p>
            <a:endParaRPr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DDE02F3C-8D05-3406-3842-5B3130A895E5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110596" y="2520473"/>
            <a:ext cx="2138764" cy="1940401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  <a:lvl3pPr marL="171450" indent="-171450">
              <a:spcBef>
                <a:spcPts val="1200"/>
              </a:spcBef>
              <a:buNone/>
              <a:defRPr>
                <a:solidFill>
                  <a:schemeClr val="tx1"/>
                </a:solidFill>
              </a:defRPr>
            </a:lvl3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Dark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31073-9DDE-4DD8-8F6D-0B29E27032F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2CC45-FC26-4AEA-B33B-9336AA99FD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5C65E-DD7B-43F1-A6E0-5E36ABE3C6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684714" y="833007"/>
            <a:ext cx="3732894" cy="185891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</a:lstStyle>
          <a:p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328F577-4841-9649-336F-3AB9DFB7B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56093"/>
            <a:ext cx="3846513" cy="3704782"/>
          </a:xfrm>
        </p:spPr>
        <p:txBody>
          <a:bodyPr anchor="t"/>
          <a:lstStyle>
            <a:lvl1pPr>
              <a:lnSpc>
                <a:spcPct val="100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Left_Text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C2CF63-0F81-6216-7BFD-B0FB6E3D6918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22150" y="390524"/>
            <a:ext cx="4040187" cy="4070351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1BCC2F-D643-49CF-97EE-9D04F352A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652" y="393106"/>
            <a:ext cx="4039248" cy="730353"/>
          </a:xfrm>
        </p:spPr>
        <p:txBody>
          <a:bodyPr/>
          <a:lstStyle/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8B7CF-8C93-4E19-8D9D-4C78E79B29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274E5-442E-4AB5-AD2D-3DA2E0AF1A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EF604-5D6A-4A9C-8281-D62EDB06B1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95D2886-2BFA-C21B-D72F-4ECA74442F7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685652" y="1266937"/>
            <a:ext cx="4041648" cy="409278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685651" y="1676215"/>
            <a:ext cx="4039249" cy="2784659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Cor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96F62-D3C3-4F60-8F5A-ACC673B0EF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E9563-34AE-4D60-86FD-03351A2A134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3A989-97D1-44BA-AC36-4DE36BF80C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684714" y="833007"/>
            <a:ext cx="3732894" cy="1858918"/>
          </a:xfr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</a:lstStyle>
          <a:p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328F577-4841-9649-336F-3AB9DFB7B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56093"/>
            <a:ext cx="3846513" cy="3704782"/>
          </a:xfrm>
        </p:spPr>
        <p:txBody>
          <a:bodyPr anchor="t"/>
          <a:lstStyle>
            <a:lvl1pPr>
              <a:lnSpc>
                <a:spcPct val="100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Left_Imag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C8E1D-BE14-456D-A29B-A97A2FD36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393106"/>
            <a:ext cx="4039248" cy="730353"/>
          </a:xfrm>
        </p:spPr>
        <p:txBody>
          <a:bodyPr/>
          <a:lstStyle/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A5C6A-D191-47CE-A0D3-ED208655018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4423-7C2D-4B6D-9F3C-EB59D29BA4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5999B-A1F0-4936-8C91-1FF9E5DAA4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95D2886-2BFA-C21B-D72F-4ECA74442F7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30213" y="1266937"/>
            <a:ext cx="4041648" cy="409278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9098" y="1676215"/>
            <a:ext cx="4039249" cy="2784659"/>
          </a:xfrm>
        </p:spPr>
        <p:txBody>
          <a:bodyPr/>
          <a:lstStyle/>
          <a:p>
            <a:endParaRPr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C2CF63-0F81-6216-7BFD-B0FB6E3D6918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84713" y="390524"/>
            <a:ext cx="4040187" cy="4070351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6B2D7-A7C5-E04B-559B-CD89EFC1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8" y="393106"/>
            <a:ext cx="8305801" cy="730353"/>
          </a:xfrm>
        </p:spPr>
        <p:txBody>
          <a:bodyPr anchor="t"/>
          <a:lstStyle/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C2D18-6293-B1CC-9520-5D129ECF51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085BA-A8E8-AD04-F15B-4C73A72320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B2DAA-362B-4AE3-646B-5445FB1403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9101A72-F511-75EC-76D5-2E936D99EC0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30213" y="1266937"/>
            <a:ext cx="5486400" cy="409942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60B904-C450-B2E9-A6CE-57A860B53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50" y="1676879"/>
            <a:ext cx="4051501" cy="2783996"/>
          </a:xfrm>
        </p:spPr>
        <p:txBody>
          <a:bodyPr/>
          <a:lstStyle>
            <a:lvl1pPr marL="171450" indent="-171450">
              <a:buChar char="•"/>
              <a:defRPr b="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>
            <a:endParaRPr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5F8D2A5-E174-5E97-4E01-7E5DC474CC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678652" y="1676879"/>
            <a:ext cx="4051501" cy="2783996"/>
          </a:xfrm>
        </p:spPr>
        <p:txBody>
          <a:bodyPr/>
          <a:lstStyle>
            <a:lvl1pPr marL="171450" indent="-171450">
              <a:buChar char="•"/>
              <a:defRPr b="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A3A48-6C38-4E9D-9380-D48E59A1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699389"/>
            <a:ext cx="4504056" cy="2639453"/>
          </a:xfrm>
        </p:spPr>
        <p:txBody>
          <a:bodyPr anchor="t"/>
          <a:lstStyle>
            <a:lvl1pPr>
              <a:lnSpc>
                <a:spcPct val="100000"/>
              </a:lnSpc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6327B-EAE1-491B-B413-2F52AF508A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9307F-4B54-4D24-911B-26CFCB89DB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014DF-58AB-4131-940E-442C69BFA6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 full width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A84B9-6156-4066-82DA-4346F78B8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D1CA2-1571-4A25-9B69-F7E9CDF6A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51" y="1676879"/>
            <a:ext cx="8315362" cy="2783996"/>
          </a:xfrm>
        </p:spPr>
        <p:txBody>
          <a:bodyPr/>
          <a:lstStyle>
            <a:lvl1pPr marL="171450" indent="-171450">
              <a:buChar char="•"/>
              <a:defRPr b="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BDCF7-5D25-4282-A7CC-2A9A700990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65EFD-F33F-48E1-B3EF-BA305FC512D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E4D5F-28F3-4568-8520-2A57F167DE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58A102-113C-AD29-0E56-CB6BA465845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30213" y="1266937"/>
            <a:ext cx="8305800" cy="409942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FFA3D40-8460-D40A-1ED2-D62418FA8278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D8639-02C8-4110-80DB-A84657C93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34829"/>
            <a:ext cx="4007621" cy="2639453"/>
          </a:xfrm>
        </p:spPr>
        <p:txBody>
          <a:bodyPr anchor="t"/>
          <a:lstStyle>
            <a:lvl1pPr>
              <a:buNone/>
              <a:defRPr sz="54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04DF8-9AB4-4C14-A747-A360BA508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3374282"/>
            <a:ext cx="4007621" cy="77042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ED7DC-3B6E-4B4A-B622-BA0B9503A9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B4523-942C-4B89-86EB-9E65ED6216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9BAE5-61DC-4F25-86F4-7185ABBE7C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FFA3D40-8460-D40A-1ED2-D62418FA8278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FAF49E-5D36-4A1E-BBFA-08AE2536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34829"/>
            <a:ext cx="4007621" cy="2639453"/>
          </a:xfrm>
        </p:spPr>
        <p:txBody>
          <a:bodyPr anchor="t"/>
          <a:lstStyle>
            <a:lvl1pPr>
              <a:buNone/>
              <a:defRPr sz="54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20DFD-DF13-4B45-8626-0E6ED2E5D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3374282"/>
            <a:ext cx="4007621" cy="770428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C9943-687F-4C5E-BA7F-06F48E7F60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74010-86AD-4383-A5F1-3BBB5DD6A1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F0173-B2D9-47F2-9EC2-6118AB2954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Left_Wide Imag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913E0-EA09-48AA-B3DC-5B44452D08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D1625-3DE1-4332-9B93-B45D89F914D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2594C-7FBA-495E-9288-F90440F3A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9098" y="2105248"/>
            <a:ext cx="2543840" cy="2355628"/>
          </a:xfrm>
        </p:spPr>
        <p:txBody>
          <a:bodyPr/>
          <a:lstStyle>
            <a:lvl1pPr marL="0" indent="0">
              <a:lnSpc>
                <a:spcPct val="105000"/>
              </a:lnSpc>
              <a:buNone/>
              <a:defRPr/>
            </a:lvl1pPr>
            <a:lvl2pPr marL="0" indent="0">
              <a:buNone/>
              <a:defRPr sz="1600" u="sng">
                <a:solidFill>
                  <a:schemeClr val="tx1"/>
                </a:solidFill>
              </a:defRPr>
            </a:lvl2pPr>
          </a:lstStyle>
          <a:p>
            <a:endParaRPr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C2CF63-0F81-6216-7BFD-B0FB6E3D6918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60651" y="390524"/>
            <a:ext cx="5464249" cy="4070351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170041-B313-4490-3EEE-D2CBF1648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733235"/>
            <a:ext cx="2743200" cy="1201369"/>
          </a:xfrm>
        </p:spPr>
        <p:txBody>
          <a:bodyPr anchor="t"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Left_Imag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8F91B-5A56-43E3-9175-D8329F3DBB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11C13-F863-4CFD-9471-7F5085E264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CE7EE-E6AB-4E05-B27E-7BE2C692C6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9098" y="3186038"/>
            <a:ext cx="3846515" cy="12748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C2CF63-0F81-6216-7BFD-B0FB6E3D6918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84713" y="390524"/>
            <a:ext cx="4040187" cy="4070351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328F577-4841-9649-336F-3AB9DFB7B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56093"/>
            <a:ext cx="3846513" cy="2142471"/>
          </a:xfrm>
        </p:spPr>
        <p:txBody>
          <a:bodyPr anchor="t"/>
          <a:lstStyle>
            <a:lvl1pPr>
              <a:lnSpc>
                <a:spcPct val="100000"/>
              </a:lnSpc>
              <a:buNone/>
              <a:defRPr sz="32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27800-5BEB-4042-802D-C7BCC782B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699389"/>
            <a:ext cx="4504056" cy="2639453"/>
          </a:xfrm>
        </p:spPr>
        <p:txBody>
          <a:bodyPr anchor="t"/>
          <a:lstStyle>
            <a:lvl1pPr>
              <a:lnSpc>
                <a:spcPct val="100000"/>
              </a:lnSpc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286BF-809B-4B12-BBE7-6AD36733FB7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E4724-104B-4C2B-96C6-52278BD950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C44A2-DB87-4440-A834-DECB948DC6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188B0-58F1-41BF-9579-EF20E37A9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212" y="1491239"/>
            <a:ext cx="4080828" cy="1241823"/>
          </a:xfrm>
        </p:spPr>
        <p:txBody>
          <a:bodyPr anchor="b"/>
          <a:lstStyle>
            <a:lvl1pPr algn="l">
              <a:lnSpc>
                <a:spcPct val="100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D16256-6239-4D90-9FB2-E0E006CD0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212" y="2978009"/>
            <a:ext cx="3423941" cy="1482866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2F924-BE80-4714-8F65-901CE157BE1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5CA54-0EB6-407B-BB6A-11F1711AA1A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30212" y="4623512"/>
            <a:ext cx="3086100" cy="107722"/>
          </a:xfrm>
        </p:spPr>
        <p:txBody>
          <a:bodyPr/>
          <a:lstStyle>
            <a:lvl1pPr algn="l"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tatement Slide with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BBD2D21-C171-1A2B-AC3E-F6A951934E44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EAC8B-604F-446C-90A7-FE81009AE1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9A46-9BD5-42D4-8473-BFA2600B11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B73FF-ADD7-4915-AF57-AFE6DC32F5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2A131D3-0540-078D-DF01-87FBF7750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12" y="3621522"/>
            <a:ext cx="7891524" cy="730353"/>
          </a:xfrm>
        </p:spPr>
        <p:txBody>
          <a:bodyPr anchor="ctr"/>
          <a:lstStyle>
            <a:lvl1pPr>
              <a:buNone/>
              <a:defRPr>
                <a:solidFill>
                  <a:schemeClr val="bg2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AC206-B52C-4638-AB5D-D0DB33E19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680339"/>
            <a:ext cx="4504056" cy="2428443"/>
          </a:xfrm>
        </p:spPr>
        <p:txBody>
          <a:bodyPr anchor="t"/>
          <a:lstStyle>
            <a:lvl1pPr>
              <a:lnSpc>
                <a:spcPct val="100000"/>
              </a:lnSpc>
              <a:buNone/>
              <a:defRPr sz="54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2705D-7162-4CAE-9E66-E63C3FB828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CAAFC-1B93-4FC8-BE7F-A109976E395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B03A7-081C-4B1E-8977-583DF45854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90945-C2CE-4AE3-9AD1-6B578ECE1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C04EC7-AFFD-4ABD-BC3F-C2812FB8DC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657FB-B1A9-4CF1-93C3-A0DCF40D49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A4E05-BB86-44D6-878E-E5E3CE4B5E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 Slide Image With Fram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BD3C95-659A-8892-1572-85CAFF6F3746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481430" y="454400"/>
            <a:ext cx="8182724" cy="3946047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15BEC-BFFE-40A0-896D-1859B7CF0B0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6C210-D2AE-4ED2-8AE0-FB76AE4E12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DF2AA-BC4C-412B-A9B2-7FB38AD181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BBD2D21-C171-1A2B-AC3E-F6A951934E44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5A5620-CF96-4211-8D85-F55D44C10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699389"/>
            <a:ext cx="4504056" cy="2639453"/>
          </a:xfrm>
        </p:spPr>
        <p:txBody>
          <a:bodyPr anchor="t"/>
          <a:lstStyle>
            <a:lvl1pPr>
              <a:lnSpc>
                <a:spcPct val="100000"/>
              </a:lnSpc>
              <a:buNone/>
              <a:defRPr sz="44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97B07-F795-4B0D-B8A6-65DAD8CC6C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A1CA9-07B0-4834-A528-2F421358D6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9CFC8-BDCF-414C-A01F-C5D00109A3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C9023-F46A-4572-AA6C-1C60BD78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680339"/>
            <a:ext cx="4504056" cy="2428443"/>
          </a:xfrm>
        </p:spPr>
        <p:txBody>
          <a:bodyPr anchor="t"/>
          <a:lstStyle>
            <a:lvl1pPr>
              <a:lnSpc>
                <a:spcPct val="100000"/>
              </a:lnSpc>
              <a:buNone/>
              <a:defRPr sz="5400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7368C-B713-4353-8A10-1ED0A9A6088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522E7-2363-4A32-A0D6-D917EC1BC0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3F305-3EB0-4F54-8AA5-78198A03F5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04E53-9282-436B-A294-A701E4CE0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680339"/>
            <a:ext cx="4504056" cy="2428443"/>
          </a:xfrm>
        </p:spPr>
        <p:txBody>
          <a:bodyPr anchor="t"/>
          <a:lstStyle>
            <a:lvl1pPr>
              <a:lnSpc>
                <a:spcPct val="100000"/>
              </a:lnSpc>
              <a:buNone/>
              <a:defRPr sz="54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677B2-818A-412B-9C66-9A5BB765C25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02FEB-2D7B-40C6-AB8F-D806754DBB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9330F-06DA-4AAB-B61E-2EB18BB715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ree Column Process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BD3C95-659A-8892-1572-85CAFF6F3746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AF498-7363-4878-BDBF-450680F03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8" y="393106"/>
            <a:ext cx="8305803" cy="730353"/>
          </a:xfrm>
        </p:spPr>
        <p:txBody>
          <a:bodyPr anchor="t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29214-C51E-4BC3-8C13-99217A785A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72988-58A9-4620-9EBC-1A9A21E3FE0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30386-1C86-40FA-A64B-9B414AE606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9099" y="2520473"/>
            <a:ext cx="2138764" cy="1940401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  <a:lvl3pPr marL="171450" indent="-171450">
              <a:spcBef>
                <a:spcPts val="1200"/>
              </a:spcBef>
              <a:buNone/>
              <a:defRPr>
                <a:solidFill>
                  <a:schemeClr val="bg1"/>
                </a:solidFill>
              </a:defRPr>
            </a:lvl3pPr>
          </a:lstStyle>
          <a:p>
            <a:endParaRPr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642A8771-4A82-CB8D-C424-41BF6D808A00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3264847" y="2520473"/>
            <a:ext cx="2138764" cy="1940401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  <a:lvl3pPr marL="171450" indent="-171450">
              <a:spcBef>
                <a:spcPts val="1200"/>
              </a:spcBef>
              <a:buNone/>
              <a:defRPr>
                <a:solidFill>
                  <a:schemeClr val="bg1"/>
                </a:solidFill>
              </a:defRPr>
            </a:lvl3pPr>
          </a:lstStyle>
          <a:p>
            <a:endParaRPr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DDE02F3C-8D05-3406-3842-5B3130A895E5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110596" y="2520473"/>
            <a:ext cx="2138764" cy="1940401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  <a:lvl3pPr marL="171450" indent="-171450">
              <a:spcBef>
                <a:spcPts val="1200"/>
              </a:spcBef>
              <a:buNone/>
              <a:defRPr>
                <a:solidFill>
                  <a:schemeClr val="bg1"/>
                </a:solidFill>
              </a:defRPr>
            </a:lvl3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13649-D07C-4167-AE86-97DC7A4A5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34829"/>
            <a:ext cx="4323816" cy="2139553"/>
          </a:xfrm>
        </p:spPr>
        <p:txBody>
          <a:bodyPr anchor="t"/>
          <a:lstStyle>
            <a:lvl1pPr>
              <a:buNone/>
              <a:defRPr sz="54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65526-CF3A-4F5D-9C6E-698F07877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3374282"/>
            <a:ext cx="4323816" cy="77042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ABC67-9A58-440F-9DA2-7C30B9DED45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23A63-B077-4F29-96A1-EFB1855A2B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E529A-7C1F-45BC-8953-3050BC679E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Left_Chart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8B280-C11C-4AEA-A2BD-16793F035B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EAB4D-0CE4-41CF-9220-E396A76F5D1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D1497-ED50-423D-BB30-435AC5CBA3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9098" y="1674813"/>
            <a:ext cx="2358285" cy="2786063"/>
          </a:xfrm>
        </p:spPr>
        <p:txBody>
          <a:bodyPr/>
          <a:lstStyle>
            <a:lvl1pPr marL="0" indent="0">
              <a:lnSpc>
                <a:spcPct val="105000"/>
              </a:lnSpc>
              <a:buNone/>
              <a:defRPr/>
            </a:lvl1pPr>
            <a:lvl2pPr marL="0" indent="0">
              <a:buNone/>
              <a:defRPr sz="1400">
                <a:solidFill>
                  <a:schemeClr val="accent3"/>
                </a:solidFill>
              </a:defRPr>
            </a:lvl2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FA77CF-6FD1-45FE-4C52-667680635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8" y="393106"/>
            <a:ext cx="3200400" cy="811530"/>
          </a:xfrm>
        </p:spPr>
        <p:txBody>
          <a:bodyPr anchor="t"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 Slide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BD3C95-659A-8892-1572-85CAFF6F3746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421898" y="392591"/>
            <a:ext cx="8303001" cy="4068284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14A97-48A1-459B-986C-47AC4FFC40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D9F62-703E-46F9-A8AE-B46E64F9A34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B82C9-6CC7-46D7-BD7F-161A1D849D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ree Column Text with imag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4E278-FF3B-44D2-8A2A-E9E4EC59D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8" y="393106"/>
            <a:ext cx="8305803" cy="730353"/>
          </a:xfrm>
        </p:spPr>
        <p:txBody>
          <a:bodyPr anchor="t"/>
          <a:lstStyle/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FA67A-6A06-4EFB-A88C-196662764C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85A38-9170-402D-8B20-70CC3C6A3B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CCC67-47F0-40C5-B7F5-030AA22919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D3D91AF-105B-FCD6-C4F5-C67B716D571D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419098" y="2777384"/>
            <a:ext cx="2651760" cy="1683492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306B345E-D8AD-5ABF-C286-5E6C94298122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246119" y="2777384"/>
            <a:ext cx="2651760" cy="1683492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774D32F3-07D7-A773-4B83-740E4AFDFF0B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6076058" y="2777384"/>
            <a:ext cx="2651760" cy="1683492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9F8DACD0-57C1-A420-18D0-79585384046E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3246120" y="1676217"/>
            <a:ext cx="2651760" cy="1380492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0" indent="0">
              <a:spcBef>
                <a:spcPts val="600"/>
              </a:spcBef>
              <a:buNone/>
              <a:defRPr/>
            </a:lvl2pPr>
            <a:lvl3pPr marL="171450" indent="-171450">
              <a:spcBef>
                <a:spcPts val="1200"/>
              </a:spcBef>
              <a:buNone/>
              <a:defRPr/>
            </a:lvl3pPr>
          </a:lstStyle>
          <a:p>
            <a:endParaRPr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84B27034-5514-D99C-E637-202A25B1FD6F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073141" y="1676216"/>
            <a:ext cx="2651760" cy="1380491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0" indent="0">
              <a:spcBef>
                <a:spcPts val="600"/>
              </a:spcBef>
              <a:buNone/>
              <a:defRPr/>
            </a:lvl2pPr>
            <a:lvl3pPr marL="171450" indent="-171450">
              <a:spcBef>
                <a:spcPts val="1200"/>
              </a:spcBef>
              <a:buNone/>
              <a:defRPr/>
            </a:lvl3pPr>
          </a:lstStyle>
          <a:p>
            <a:endParaRPr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9099" y="1676217"/>
            <a:ext cx="2651760" cy="1101167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0" indent="0">
              <a:spcBef>
                <a:spcPts val="600"/>
              </a:spcBef>
              <a:buNone/>
              <a:defRPr/>
            </a:lvl2pPr>
            <a:lvl3pPr marL="171450" indent="-171450">
              <a:spcBef>
                <a:spcPts val="1200"/>
              </a:spcBef>
              <a:buNone/>
              <a:defRPr/>
            </a:lvl3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A6E48-0072-4DCB-A783-EE24054F8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34829"/>
            <a:ext cx="4323816" cy="2139553"/>
          </a:xfrm>
        </p:spPr>
        <p:txBody>
          <a:bodyPr anchor="t"/>
          <a:lstStyle>
            <a:lvl1pPr>
              <a:buNone/>
              <a:defRPr sz="54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169D6-5941-428B-9957-7C58356CD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3374282"/>
            <a:ext cx="4323816" cy="77042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A4389-6B42-4143-B7CE-DB02A11BD1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7C9A4-4018-4325-A122-006421F041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6693E-F378-42DB-890B-F9833E3EAB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4B001C-1ECE-49DA-8500-0E9EBEB7B4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6068E7-D67D-4B32-9958-1E40A2E3AA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A7F0B-9047-45A4-9A5B-6A569C6451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Soft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6BF0C-5945-4FFF-B95D-63550064D2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65F60-EF76-4750-A316-BF6F9B1D9CD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20F2D-8620-4D81-AD88-63FDD34463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684714" y="833007"/>
            <a:ext cx="3732894" cy="1858918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</a:lstStyle>
          <a:p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328F577-4841-9649-336F-3AB9DFB7B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56093"/>
            <a:ext cx="3846513" cy="3704782"/>
          </a:xfrm>
        </p:spPr>
        <p:txBody>
          <a:bodyPr anchor="t"/>
          <a:lstStyle>
            <a:lvl1pPr>
              <a:lnSpc>
                <a:spcPct val="100000"/>
              </a:lnSpc>
              <a:buNone/>
              <a:defRPr sz="36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9BC7E5-EBF6-40A6-9F96-CB04A78A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8" y="393106"/>
            <a:ext cx="8305801" cy="730353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694C7-E966-47BD-A95F-C8BF3FEC8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099" y="1674813"/>
            <a:ext cx="5486400" cy="2784845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47A20-376F-4F47-A028-6FB9EE700C0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500463" y="5430974"/>
            <a:ext cx="2057400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61B05-90E0-44BC-ACC3-5C9DC2F3EAA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923156" y="4767388"/>
            <a:ext cx="3086100" cy="107722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r">
              <a:buNone/>
              <a:defRPr sz="70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8711C-06F4-45E3-B29B-297D354955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439468" y="4767388"/>
            <a:ext cx="274320" cy="107722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r">
              <a:buNone/>
              <a:defRPr sz="70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</p:sldLayoutIdLst>
  <p:txStyles>
    <p:titleStyle>
      <a:lvl1pPr algn="l">
        <a:lnSpc>
          <a:spcPct val="90000"/>
        </a:lnSpc>
        <a:spcBef>
          <a:spcPts val="0"/>
        </a:spcBef>
        <a:buNone/>
        <a:defRPr sz="28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>
        <a:lnSpc>
          <a:spcPct val="100000"/>
        </a:lnSpc>
        <a:spcBef>
          <a:spcPts val="1200"/>
        </a:spcBef>
        <a:buChar char="•"/>
        <a:defRPr sz="1800" b="0">
          <a:solidFill>
            <a:schemeClr val="tx1"/>
          </a:solidFill>
          <a:latin typeface="+mn-lt"/>
          <a:ea typeface="+mn-lt"/>
          <a:cs typeface="+mn-lt"/>
        </a:defRPr>
      </a:lvl1pPr>
      <a:lvl2pPr marL="512763" indent="-171450" algn="l">
        <a:lnSpc>
          <a:spcPct val="100000"/>
        </a:lnSpc>
        <a:spcBef>
          <a:spcPts val="1200"/>
        </a:spcBef>
        <a:buChar char="–"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>
        <a:lnSpc>
          <a:spcPct val="100000"/>
        </a:lnSpc>
        <a:spcBef>
          <a:spcPts val="12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>
        <a:lnSpc>
          <a:spcPct val="100000"/>
        </a:lnSpc>
        <a:spcBef>
          <a:spcPts val="1200"/>
        </a:spcBef>
        <a:buChar char="–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>
        <a:lnSpc>
          <a:spcPct val="100000"/>
        </a:lnSpc>
        <a:spcBef>
          <a:spcPts val="12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.jpe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 b="1">
              <a:latin typeface="Arial"/>
              <a:cs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" y="0"/>
            <a:ext cx="9143771" cy="28575"/>
          </a:xfrm>
          <a:prstGeom prst="rect">
            <a:avLst/>
          </a:prstGeom>
          <a:solidFill>
            <a:srgbClr val="4B0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100" b="1">
              <a:latin typeface="Arial"/>
              <a:cs typeface="Arial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28624" y="942975"/>
            <a:ext cx="78579" cy="2800350"/>
          </a:xfrm>
          <a:prstGeom prst="rect">
            <a:avLst/>
          </a:prstGeom>
          <a:solidFill>
            <a:srgbClr val="4B0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b="1">
              <a:latin typeface="Arial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378" y="1042988"/>
            <a:ext cx="62149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 algn="l">
              <a:buNone/>
            </a:pPr>
            <a:r>
              <a:rPr lang="en-US" sz="1400" dirty="0">
                <a:solidFill>
                  <a:srgbClr val="4B00E8"/>
                </a:solidFill>
                <a:ea typeface="Aptos" pitchFamily="34" charset="-122"/>
                <a:cs typeface="Arial"/>
              </a:rPr>
              <a:t>MACHINE LEARNING FOR CLINICAL CARE AND RESEARCH AT INTERMOUNTAIN</a:t>
            </a:r>
            <a:endParaRPr lang="en-US" sz="1400" dirty="0">
              <a:latin typeface="Arial"/>
              <a:cs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377" y="1414463"/>
            <a:ext cx="5571986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685800" rtl="0" eaLnBrk="1" latinLnBrk="0" hangingPunct="1">
              <a:defRPr sz="32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32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32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32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32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32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32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32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32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 algn="l">
              <a:buNone/>
            </a:pPr>
            <a:r>
              <a:rPr lang="en-US" sz="3200" b="1" dirty="0">
                <a:solidFill>
                  <a:srgbClr val="1C0A63"/>
                </a:solidFill>
                <a:ea typeface="Aptos" pitchFamily="34" charset="-122"/>
                <a:cs typeface="Arial"/>
              </a:rPr>
              <a:t>You can predict the future.</a:t>
            </a:r>
            <a:endParaRPr lang="en-US" sz="3200" b="1" dirty="0">
              <a:latin typeface="Arial"/>
              <a:cs typeface="Arial"/>
            </a:endParaRPr>
          </a:p>
          <a:p>
            <a:pPr marL="0" indent="0" algn="l">
              <a:buNone/>
            </a:pPr>
            <a:r>
              <a:rPr lang="en-US" sz="3200" b="1" dirty="0">
                <a:solidFill>
                  <a:srgbClr val="1C0A63"/>
                </a:solidFill>
                <a:ea typeface="Aptos" pitchFamily="34" charset="-122"/>
                <a:cs typeface="Arial"/>
              </a:rPr>
              <a:t>So what?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928665" y="2921000"/>
            <a:ext cx="585772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 algn="l">
              <a:buNone/>
            </a:pPr>
            <a:r>
              <a:rPr lang="en-US" dirty="0">
                <a:solidFill>
                  <a:srgbClr val="4E416F"/>
                </a:solidFill>
                <a:ea typeface="Aptos" pitchFamily="34" charset="-122"/>
              </a:rPr>
              <a:t>Moving from predictions to action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" y="4107657"/>
            <a:ext cx="9143771" cy="1035844"/>
          </a:xfrm>
          <a:prstGeom prst="rect">
            <a:avLst/>
          </a:prstGeom>
          <a:solidFill>
            <a:srgbClr val="1600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84200" y="4267200"/>
            <a:ext cx="596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ea typeface="Aptos" pitchFamily="34" charset="-122"/>
                <a:cs typeface="Arial"/>
              </a:rPr>
              <a:t>Brian Locke, MD, MSCI  |  Pulmonary &amp; Critical Care Grand Rounds  |  Intermountain Medical Center</a:t>
            </a:r>
          </a:p>
        </p:txBody>
      </p:sp>
      <p:sp>
        <p:nvSpPr>
          <p:cNvPr id="13" name="Shape 11"/>
          <p:cNvSpPr/>
          <p:nvPr/>
        </p:nvSpPr>
        <p:spPr>
          <a:xfrm>
            <a:off x="7112000" y="4241800"/>
            <a:ext cx="1447800" cy="3302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Arial"/>
              <a:cs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112000" y="4279900"/>
            <a:ext cx="144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ea typeface="Aptos" pitchFamily="34" charset="-122"/>
                <a:cs typeface="Arial"/>
              </a:rPr>
              <a:t>June 2, 2026</a:t>
            </a:r>
          </a:p>
        </p:txBody>
      </p:sp>
      <p:sp>
        <p:nvSpPr>
          <p:cNvPr id="15" name="Text 13"/>
          <p:cNvSpPr/>
          <p:nvPr/>
        </p:nvSpPr>
        <p:spPr>
          <a:xfrm>
            <a:off x="584200" y="4699000"/>
            <a:ext cx="79629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 algn="l">
              <a:buNone/>
            </a:pPr>
            <a:r>
              <a:rPr lang="en-US" sz="1400" dirty="0">
                <a:solidFill>
                  <a:srgbClr val="DCD6FF"/>
                </a:solidFill>
                <a:ea typeface="Aptos" pitchFamily="34" charset="-122"/>
                <a:cs typeface="Arial"/>
              </a:rPr>
              <a:t>Disclosure: Relevant financial relationship. Equity Mountain Biometrics (MTN), non-clinical AI related to data harmonization.</a:t>
            </a:r>
          </a:p>
        </p:txBody>
      </p:sp>
    </p:spTree>
    <p:extLst>
      <p:ext uri="{BB962C8B-B14F-4D97-AF65-F5344CB8AC3E}">
        <p14:creationId xmlns:p14="http://schemas.microsoft.com/office/powerpoint/2010/main" val="3649018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B602749-C5F1-40F2-B54E-2D3DAFE8CA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821AAE-3F75-4687-989A-31F9509EB4EF}"/>
              </a:ext>
            </a:extLst>
          </p:cNvPr>
          <p:cNvSpPr>
            <a:spLocks noGrp="1"/>
          </p:cNvSpPr>
          <p:nvPr/>
        </p:nvSpPr>
        <p:spPr>
          <a:xfrm>
            <a:off x="361950" y="304800"/>
            <a:ext cx="57150" cy="444500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EFF158-F781-4315-BB9B-D0524249676B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1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B5343-F3F4-4197-AA93-5E7A92383495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4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2400" b="1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Predictions are purportedly accurate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0E6528-6655-4D38-AD25-F428AA400BA4}"/>
              </a:ext>
            </a:extLst>
          </p:cNvPr>
          <p:cNvSpPr>
            <a:spLocks noGrp="1"/>
          </p:cNvSpPr>
          <p:nvPr/>
        </p:nvSpPr>
        <p:spPr>
          <a:xfrm>
            <a:off x="819150" y="1651000"/>
            <a:ext cx="3429000" cy="2540000"/>
          </a:xfrm>
          <a:prstGeom prst="rect">
            <a:avLst/>
          </a:prstGeom>
          <a:solidFill>
            <a:srgbClr val="EEF7F6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3200" b="1"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26705E-887C-426C-92AB-A668087A0153}"/>
              </a:ext>
            </a:extLst>
          </p:cNvPr>
          <p:cNvSpPr>
            <a:spLocks noGrp="1"/>
          </p:cNvSpPr>
          <p:nvPr/>
        </p:nvSpPr>
        <p:spPr>
          <a:xfrm>
            <a:off x="933450" y="1828800"/>
            <a:ext cx="3200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THE PROMISE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D13961-907B-4638-8B3F-01E14700767C}"/>
              </a:ext>
            </a:extLst>
          </p:cNvPr>
          <p:cNvSpPr>
            <a:spLocks noGrp="1"/>
          </p:cNvSpPr>
          <p:nvPr/>
        </p:nvSpPr>
        <p:spPr>
          <a:xfrm>
            <a:off x="933450" y="2133600"/>
            <a:ext cx="3200400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 anchorCtr="0"/>
          <a:lstStyle/>
          <a:p>
            <a:pPr algn="l">
              <a:defRPr sz="140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Impressive prediction.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C7B4B5-E9D4-4F3D-B6C4-C92D692D2945}"/>
              </a:ext>
            </a:extLst>
          </p:cNvPr>
          <p:cNvSpPr>
            <a:spLocks noGrp="1"/>
          </p:cNvSpPr>
          <p:nvPr/>
        </p:nvSpPr>
        <p:spPr>
          <a:xfrm>
            <a:off x="4895850" y="1651000"/>
            <a:ext cx="3429000" cy="2540000"/>
          </a:xfrm>
          <a:prstGeom prst="rect">
            <a:avLst/>
          </a:prstGeom>
          <a:solidFill>
            <a:srgbClr val="F2EEFA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3200" b="1">
              <a:latin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F7D593-C16F-4E49-83B5-089EE645184B}"/>
              </a:ext>
            </a:extLst>
          </p:cNvPr>
          <p:cNvSpPr>
            <a:spLocks noGrp="1"/>
          </p:cNvSpPr>
          <p:nvPr/>
        </p:nvSpPr>
        <p:spPr>
          <a:xfrm>
            <a:off x="5010150" y="1828800"/>
            <a:ext cx="3200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00" b="1">
                <a:solidFill>
                  <a:srgbClr val="FF5D5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5D55"/>
                </a:solidFill>
                <a:latin typeface="Arial"/>
                <a:ea typeface="Arial"/>
                <a:cs typeface="Arial"/>
              </a:rPr>
              <a:t>THE REALITY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E0BBFD-7A1F-4EEC-A3ED-11EF4D7702E3}"/>
              </a:ext>
            </a:extLst>
          </p:cNvPr>
          <p:cNvSpPr>
            <a:spLocks noGrp="1"/>
          </p:cNvSpPr>
          <p:nvPr/>
        </p:nvSpPr>
        <p:spPr>
          <a:xfrm>
            <a:off x="5010150" y="2209800"/>
            <a:ext cx="3200400" cy="180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 anchorCtr="0"/>
          <a:lstStyle/>
          <a:p>
            <a:pPr marL="285750" indent="-285750" algn="l">
              <a:buFont typeface="Arial" panose="020B0604020202020204" pitchFamily="34" charset="0"/>
              <a:buChar char="•"/>
              <a:defRPr sz="1777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Few are as accurate as claimed.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777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Few models </a:t>
            </a:r>
            <a:r>
              <a:rPr lang="en-US" sz="160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can be used at</a:t>
            </a:r>
            <a:r>
              <a:rPr sz="160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 bedside.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777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Few change decisions.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6FFF72-AD7C-4A8C-BD10-82122C000DCD}"/>
              </a:ext>
            </a:extLst>
          </p:cNvPr>
          <p:cNvSpPr>
            <a:spLocks noGrp="1"/>
          </p:cNvSpPr>
          <p:nvPr/>
        </p:nvSpPr>
        <p:spPr>
          <a:xfrm>
            <a:off x="4400550" y="2717800"/>
            <a:ext cx="342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400" b="1">
                <a:solidFill>
                  <a:srgbClr val="FF5D5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5D55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68D56-1E9B-9F41-89C3-1829C4713C24}"/>
              </a:ext>
            </a:extLst>
          </p:cNvPr>
          <p:cNvSpPr txBox="1"/>
          <p:nvPr/>
        </p:nvSpPr>
        <p:spPr>
          <a:xfrm>
            <a:off x="558800" y="1041400"/>
            <a:ext cx="78105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 dirty="0">
                <a:solidFill>
                  <a:srgbClr val="4A4170"/>
                </a:solidFill>
                <a:latin typeface="Arial"/>
                <a:cs typeface="Arial"/>
              </a:rPr>
              <a:t>Clinical impact generally remains … disappointing?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D0BC9E-70F1-F047-B15C-42196DDA6A0A}"/>
              </a:ext>
            </a:extLst>
          </p:cNvPr>
          <p:cNvSpPr/>
          <p:nvPr/>
        </p:nvSpPr>
        <p:spPr>
          <a:xfrm>
            <a:off x="1498600" y="2489200"/>
            <a:ext cx="1422400" cy="142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B3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400">
              <a:latin typeface="Arial"/>
              <a:cs typeface="Arial"/>
            </a:endParaRPr>
          </a:p>
        </p:txBody>
      </p:sp>
      <p:sp>
        <p:nvSpPr>
          <p:cNvPr id="60" name="Chance Line"/>
          <p:cNvSpPr/>
          <p:nvPr/>
        </p:nvSpPr>
        <p:spPr>
          <a:xfrm>
            <a:off x="1498600" y="2489200"/>
            <a:ext cx="1422400" cy="1422400"/>
          </a:xfrm>
          <a:custGeom>
            <a:avLst/>
            <a:gdLst/>
            <a:ahLst/>
            <a:cxnLst/>
            <a:rect l="0" t="0" r="0" b="0"/>
            <a:pathLst>
              <a:path w="1422400" h="1422400">
                <a:moveTo>
                  <a:pt x="0" y="1422400"/>
                </a:moveTo>
                <a:lnTo>
                  <a:pt x="1422400" y="0"/>
                </a:lnTo>
              </a:path>
            </a:pathLst>
          </a:custGeom>
          <a:noFill/>
          <a:ln w="15875" cap="rnd">
            <a:solidFill>
              <a:srgbClr val="B9B3C9"/>
            </a:solidFill>
            <a:prstDash val="dash"/>
            <a:round/>
          </a:ln>
        </p:spPr>
        <p:txBody>
          <a:bodyPr/>
          <a:lstStyle/>
          <a:p>
            <a:endParaRPr sz="1400">
              <a:latin typeface="Arial"/>
              <a:cs typeface="Arial"/>
            </a:endParaRPr>
          </a:p>
        </p:txBody>
      </p:sp>
      <p:sp>
        <p:nvSpPr>
          <p:cNvPr id="61" name="ROC Curve"/>
          <p:cNvSpPr/>
          <p:nvPr/>
        </p:nvSpPr>
        <p:spPr>
          <a:xfrm>
            <a:off x="1498600" y="2489200"/>
            <a:ext cx="1422400" cy="1422400"/>
          </a:xfrm>
          <a:custGeom>
            <a:avLst/>
            <a:gdLst/>
            <a:ahLst/>
            <a:cxnLst/>
            <a:rect l="0" t="0" r="0" b="0"/>
            <a:pathLst>
              <a:path w="1422400" h="1422400">
                <a:moveTo>
                  <a:pt x="0" y="1422400"/>
                </a:moveTo>
                <a:cubicBezTo>
                  <a:pt x="85344" y="426720"/>
                  <a:pt x="256032" y="113792"/>
                  <a:pt x="640080" y="71120"/>
                </a:cubicBezTo>
                <a:cubicBezTo>
                  <a:pt x="995680" y="42672"/>
                  <a:pt x="1280160" y="0"/>
                  <a:pt x="1422400" y="0"/>
                </a:cubicBezTo>
              </a:path>
            </a:pathLst>
          </a:custGeom>
          <a:noFill/>
          <a:ln w="31750" cap="rnd">
            <a:solidFill>
              <a:srgbClr val="4A00E2"/>
            </a:solidFill>
            <a:round/>
          </a:ln>
        </p:spPr>
        <p:txBody>
          <a:bodyPr/>
          <a:lstStyle/>
          <a:p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8655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83CBF8-DFCF-274A-B082-7132E2FD919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4EC875-58FE-FD43-B5C7-2FFCC1ED3C57}"/>
              </a:ext>
            </a:extLst>
          </p:cNvPr>
          <p:cNvSpPr/>
          <p:nvPr/>
        </p:nvSpPr>
        <p:spPr>
          <a:xfrm>
            <a:off x="355600" y="736600"/>
            <a:ext cx="63500" cy="3657600"/>
          </a:xfrm>
          <a:prstGeom prst="rect">
            <a:avLst/>
          </a:prstGeom>
          <a:solidFill>
            <a:srgbClr val="5B19E6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4A8C32-0A7B-B145-97C1-A778BB2A701B}"/>
              </a:ext>
            </a:extLst>
          </p:cNvPr>
          <p:cNvSpPr txBox="1"/>
          <p:nvPr/>
        </p:nvSpPr>
        <p:spPr>
          <a:xfrm>
            <a:off x="635000" y="330200"/>
            <a:ext cx="660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750" b="1">
                <a:solidFill>
                  <a:srgbClr val="5F22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CME QUESTION | RISK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6B8E5-8D2A-AD46-BB15-BB12A4421219}"/>
              </a:ext>
            </a:extLst>
          </p:cNvPr>
          <p:cNvSpPr txBox="1"/>
          <p:nvPr/>
        </p:nvSpPr>
        <p:spPr>
          <a:xfrm>
            <a:off x="635000" y="558800"/>
            <a:ext cx="8001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500" b="1">
                <a:solidFill>
                  <a:srgbClr val="2514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properly used risk model can improve an RCT by: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65643A-843C-ED44-86E8-56222813976B}"/>
              </a:ext>
            </a:extLst>
          </p:cNvPr>
          <p:cNvSpPr txBox="1"/>
          <p:nvPr/>
        </p:nvSpPr>
        <p:spPr>
          <a:xfrm>
            <a:off x="635000" y="1270000"/>
            <a:ext cx="330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5661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the best answer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CF06F0-0521-024D-9226-B5E2E204008B}"/>
              </a:ext>
            </a:extLst>
          </p:cNvPr>
          <p:cNvSpPr/>
          <p:nvPr/>
        </p:nvSpPr>
        <p:spPr>
          <a:xfrm>
            <a:off x="889000" y="1651000"/>
            <a:ext cx="34290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3B4D92-D7C5-DE41-83F2-22ABAF53D5C8}"/>
              </a:ext>
            </a:extLst>
          </p:cNvPr>
          <p:cNvSpPr/>
          <p:nvPr/>
        </p:nvSpPr>
        <p:spPr>
          <a:xfrm>
            <a:off x="1092200" y="1879600"/>
            <a:ext cx="330200" cy="330200"/>
          </a:xfrm>
          <a:prstGeom prst="rect">
            <a:avLst/>
          </a:prstGeom>
          <a:solidFill>
            <a:srgbClr val="2D1B63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12221-CFB9-3342-B9BA-3F3C51771F86}"/>
              </a:ext>
            </a:extLst>
          </p:cNvPr>
          <p:cNvSpPr txBox="1"/>
          <p:nvPr/>
        </p:nvSpPr>
        <p:spPr>
          <a:xfrm>
            <a:off x="1092200" y="19304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3C7A6-8F61-7B48-8741-610398424A56}"/>
              </a:ext>
            </a:extLst>
          </p:cNvPr>
          <p:cNvSpPr txBox="1"/>
          <p:nvPr/>
        </p:nvSpPr>
        <p:spPr>
          <a:xfrm>
            <a:off x="1574800" y="18542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8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Enriching the population of interest, thereby making the trial more efficient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B1305D-C77A-7C41-9202-16A64E086841}"/>
              </a:ext>
            </a:extLst>
          </p:cNvPr>
          <p:cNvSpPr/>
          <p:nvPr/>
        </p:nvSpPr>
        <p:spPr>
          <a:xfrm>
            <a:off x="4826000" y="1651000"/>
            <a:ext cx="34290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C34E0E-1AF5-DD4D-A8FD-5D6C86EA7648}"/>
              </a:ext>
            </a:extLst>
          </p:cNvPr>
          <p:cNvSpPr/>
          <p:nvPr/>
        </p:nvSpPr>
        <p:spPr>
          <a:xfrm>
            <a:off x="5029200" y="1879600"/>
            <a:ext cx="330200" cy="330200"/>
          </a:xfrm>
          <a:prstGeom prst="rect">
            <a:avLst/>
          </a:prstGeom>
          <a:solidFill>
            <a:srgbClr val="2D1B63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789FDC-ED4C-2E4D-974C-45744CD6E7DF}"/>
              </a:ext>
            </a:extLst>
          </p:cNvPr>
          <p:cNvSpPr txBox="1"/>
          <p:nvPr/>
        </p:nvSpPr>
        <p:spPr>
          <a:xfrm>
            <a:off x="5029200" y="19304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0EEB0D-C1F3-C94F-98C4-A8DF93B4BB0E}"/>
              </a:ext>
            </a:extLst>
          </p:cNvPr>
          <p:cNvSpPr txBox="1"/>
          <p:nvPr/>
        </p:nvSpPr>
        <p:spPr>
          <a:xfrm>
            <a:off x="5511800" y="18542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8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Allowing more efficient estimation of the treatment-effect size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E0303C-6B17-8B4E-9692-46ACFDE4FBAD}"/>
              </a:ext>
            </a:extLst>
          </p:cNvPr>
          <p:cNvSpPr/>
          <p:nvPr/>
        </p:nvSpPr>
        <p:spPr>
          <a:xfrm>
            <a:off x="889000" y="2844800"/>
            <a:ext cx="3429000" cy="1092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94B7E0-9F9A-B74E-8CC9-F211B91C660A}"/>
              </a:ext>
            </a:extLst>
          </p:cNvPr>
          <p:cNvSpPr/>
          <p:nvPr/>
        </p:nvSpPr>
        <p:spPr>
          <a:xfrm>
            <a:off x="1092200" y="3073400"/>
            <a:ext cx="330200" cy="330200"/>
          </a:xfrm>
          <a:prstGeom prst="rect">
            <a:avLst/>
          </a:prstGeom>
          <a:solidFill>
            <a:srgbClr val="2D1B63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C6B870-C5D3-C146-A94A-3C53A642E2FD}"/>
              </a:ext>
            </a:extLst>
          </p:cNvPr>
          <p:cNvSpPr txBox="1"/>
          <p:nvPr/>
        </p:nvSpPr>
        <p:spPr>
          <a:xfrm>
            <a:off x="1092200" y="31242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B920BA-12C3-3E41-A8BE-95146401EED9}"/>
              </a:ext>
            </a:extLst>
          </p:cNvPr>
          <p:cNvSpPr txBox="1"/>
          <p:nvPr/>
        </p:nvSpPr>
        <p:spPr>
          <a:xfrm>
            <a:off x="1574800" y="3048000"/>
            <a:ext cx="2540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8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Enabling more personalized application of treatment-effect estimates to individual patients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93945D-522F-1E45-9102-544A9A2B0FCA}"/>
              </a:ext>
            </a:extLst>
          </p:cNvPr>
          <p:cNvSpPr/>
          <p:nvPr/>
        </p:nvSpPr>
        <p:spPr>
          <a:xfrm>
            <a:off x="4826000" y="2844800"/>
            <a:ext cx="3429000" cy="1092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A80E40-8077-EC49-8D36-4DB7D59A8543}"/>
              </a:ext>
            </a:extLst>
          </p:cNvPr>
          <p:cNvSpPr/>
          <p:nvPr/>
        </p:nvSpPr>
        <p:spPr>
          <a:xfrm>
            <a:off x="5029200" y="3073400"/>
            <a:ext cx="330200" cy="330200"/>
          </a:xfrm>
          <a:prstGeom prst="rect">
            <a:avLst/>
          </a:prstGeom>
          <a:solidFill>
            <a:srgbClr val="2D1B63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B0AACF-276C-1E4E-AC7D-9D91C4E7D14C}"/>
              </a:ext>
            </a:extLst>
          </p:cNvPr>
          <p:cNvSpPr txBox="1"/>
          <p:nvPr/>
        </p:nvSpPr>
        <p:spPr>
          <a:xfrm>
            <a:off x="5029200" y="31242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2A97F0-D4AC-A142-A87F-208661963911}"/>
              </a:ext>
            </a:extLst>
          </p:cNvPr>
          <p:cNvSpPr txBox="1"/>
          <p:nvPr/>
        </p:nvSpPr>
        <p:spPr>
          <a:xfrm>
            <a:off x="5511800" y="3048000"/>
            <a:ext cx="2540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38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of the above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7B9EE6-21A2-4E4D-A8D3-B04811D7B878}"/>
              </a:ext>
            </a:extLst>
          </p:cNvPr>
          <p:cNvSpPr/>
          <p:nvPr/>
        </p:nvSpPr>
        <p:spPr>
          <a:xfrm>
            <a:off x="1117600" y="4851400"/>
            <a:ext cx="6858000" cy="15240"/>
          </a:xfrm>
          <a:prstGeom prst="rect">
            <a:avLst/>
          </a:prstGeom>
          <a:solidFill>
            <a:srgbClr val="DAD4E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220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C7B8910-380F-4B0D-A842-C35E4B856C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8EC9FA-8A91-457B-A3E0-7D1E85B0B6D2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845740-7DEC-428B-8F7E-86E065346261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1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0B3693-AA81-48C0-A6A2-A30ABADB374E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4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You can predict the future. So what?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7F5CB4-57C6-4F46-9177-0193D20979BD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1671638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400">
              <a:latin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9B04D3-0D0D-4FA7-89BA-A8A2162D2DAE}"/>
              </a:ext>
            </a:extLst>
          </p:cNvPr>
          <p:cNvSpPr>
            <a:spLocks noGrp="1"/>
          </p:cNvSpPr>
          <p:nvPr/>
        </p:nvSpPr>
        <p:spPr>
          <a:xfrm>
            <a:off x="1035050" y="2387600"/>
            <a:ext cx="1316038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4A00E2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073AE0-A6B0-4355-A98C-62E78BF6EFB9}"/>
              </a:ext>
            </a:extLst>
          </p:cNvPr>
          <p:cNvSpPr>
            <a:spLocks noGrp="1"/>
          </p:cNvSpPr>
          <p:nvPr/>
        </p:nvSpPr>
        <p:spPr>
          <a:xfrm>
            <a:off x="1035050" y="2717800"/>
            <a:ext cx="1316038" cy="1117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0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risk, class, outcome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81DD9F-5CE7-4AED-A973-5216AD1ECA74}"/>
              </a:ext>
            </a:extLst>
          </p:cNvPr>
          <p:cNvSpPr>
            <a:spLocks noGrp="1"/>
          </p:cNvSpPr>
          <p:nvPr/>
        </p:nvSpPr>
        <p:spPr>
          <a:xfrm>
            <a:off x="2470150" y="270510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57150" tIns="38100" rIns="57150" bIns="38100" anchor="ctr" anchorCtr="0">
            <a:noAutofit/>
          </a:bodyPr>
          <a:lstStyle/>
          <a:p>
            <a:pPr algn="ctr">
              <a:defRPr sz="1400" b="1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400" b="1">
                <a:solidFill>
                  <a:srgbClr val="4A4170"/>
                </a:solidFill>
                <a:latin typeface="Arial"/>
                <a:ea typeface="Arial"/>
                <a:cs typeface="Arial"/>
              </a:rPr>
              <a:t>→</a:t>
            </a:r>
            <a:endParaRPr sz="1400" b="1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16F2A1-7618-4A80-A410-827C2F7F5E7D}"/>
              </a:ext>
            </a:extLst>
          </p:cNvPr>
          <p:cNvSpPr>
            <a:spLocks noGrp="1"/>
          </p:cNvSpPr>
          <p:nvPr/>
        </p:nvSpPr>
        <p:spPr>
          <a:xfrm>
            <a:off x="2776538" y="1905000"/>
            <a:ext cx="1671638" cy="1905000"/>
          </a:xfrm>
          <a:prstGeom prst="rect">
            <a:avLst/>
          </a:prstGeom>
          <a:solidFill>
            <a:srgbClr val="F2EEFA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400">
              <a:latin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4DBBA0-5326-4C2D-B0E7-3B1BEECDA013}"/>
              </a:ext>
            </a:extLst>
          </p:cNvPr>
          <p:cNvSpPr>
            <a:spLocks noGrp="1"/>
          </p:cNvSpPr>
          <p:nvPr/>
        </p:nvSpPr>
        <p:spPr>
          <a:xfrm>
            <a:off x="2954338" y="2387600"/>
            <a:ext cx="1316038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00" b="1">
                <a:solidFill>
                  <a:srgbClr val="FF5D55"/>
                </a:solidFill>
                <a:latin typeface="Arial"/>
                <a:ea typeface="Arial"/>
                <a:cs typeface="Arial"/>
              </a:defRPr>
            </a:pPr>
            <a:r>
              <a:rPr lang="en-US" sz="1600" b="1" dirty="0">
                <a:solidFill>
                  <a:srgbClr val="FF5D55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964CDF-85FD-4670-AFC6-70259B6FA14D}"/>
              </a:ext>
            </a:extLst>
          </p:cNvPr>
          <p:cNvSpPr>
            <a:spLocks noGrp="1"/>
          </p:cNvSpPr>
          <p:nvPr/>
        </p:nvSpPr>
        <p:spPr>
          <a:xfrm>
            <a:off x="2954338" y="2717800"/>
            <a:ext cx="1316038" cy="1117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0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the bottleneck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6B8DC0-622C-45F4-954B-A491AE8A0211}"/>
              </a:ext>
            </a:extLst>
          </p:cNvPr>
          <p:cNvSpPr>
            <a:spLocks noGrp="1"/>
          </p:cNvSpPr>
          <p:nvPr/>
        </p:nvSpPr>
        <p:spPr>
          <a:xfrm>
            <a:off x="4387850" y="270510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57150" tIns="38100" rIns="57150" bIns="38100" anchor="ctr" anchorCtr="0">
            <a:noAutofit/>
          </a:bodyPr>
          <a:lstStyle/>
          <a:p>
            <a:pPr algn="ctr">
              <a:defRPr sz="1400" b="1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400" b="1">
                <a:solidFill>
                  <a:srgbClr val="4A4170"/>
                </a:solidFill>
                <a:latin typeface="Arial"/>
                <a:ea typeface="Arial"/>
                <a:cs typeface="Arial"/>
              </a:rPr>
              <a:t>→</a:t>
            </a:r>
            <a:endParaRPr sz="1400" b="1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61384C-97D9-4EC8-B150-37487231C677}"/>
              </a:ext>
            </a:extLst>
          </p:cNvPr>
          <p:cNvSpPr>
            <a:spLocks noGrp="1"/>
          </p:cNvSpPr>
          <p:nvPr/>
        </p:nvSpPr>
        <p:spPr>
          <a:xfrm>
            <a:off x="4695825" y="1905000"/>
            <a:ext cx="1671638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400">
              <a:latin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BD7524-DA50-48A9-B337-B56CE3B99713}"/>
              </a:ext>
            </a:extLst>
          </p:cNvPr>
          <p:cNvSpPr>
            <a:spLocks noGrp="1"/>
          </p:cNvSpPr>
          <p:nvPr/>
        </p:nvSpPr>
        <p:spPr>
          <a:xfrm>
            <a:off x="4873625" y="2387600"/>
            <a:ext cx="1316038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600" b="1" dirty="0">
                <a:solidFill>
                  <a:srgbClr val="4A00E2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3FE310-C67B-459A-A2CF-6925FACDD8D0}"/>
              </a:ext>
            </a:extLst>
          </p:cNvPr>
          <p:cNvSpPr>
            <a:spLocks noGrp="1"/>
          </p:cNvSpPr>
          <p:nvPr/>
        </p:nvSpPr>
        <p:spPr>
          <a:xfrm>
            <a:off x="4873625" y="2717800"/>
            <a:ext cx="1316038" cy="1117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0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change a decision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C5F2A8-A544-4A1D-A2CC-87768E800222}"/>
              </a:ext>
            </a:extLst>
          </p:cNvPr>
          <p:cNvSpPr>
            <a:spLocks noGrp="1"/>
          </p:cNvSpPr>
          <p:nvPr/>
        </p:nvSpPr>
        <p:spPr>
          <a:xfrm>
            <a:off x="6305550" y="270510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57150" tIns="38100" rIns="57150" bIns="38100" anchor="ctr" anchorCtr="0">
            <a:noAutofit/>
          </a:bodyPr>
          <a:lstStyle/>
          <a:p>
            <a:pPr algn="ctr">
              <a:defRPr sz="1400" b="1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400" b="1">
                <a:solidFill>
                  <a:srgbClr val="4A4170"/>
                </a:solidFill>
                <a:latin typeface="Arial"/>
                <a:ea typeface="Arial"/>
                <a:cs typeface="Arial"/>
              </a:rPr>
              <a:t>→</a:t>
            </a:r>
            <a:endParaRPr sz="1400" b="1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39B4AF-450E-4752-83BC-8098B1CE5FCF}"/>
              </a:ext>
            </a:extLst>
          </p:cNvPr>
          <p:cNvSpPr>
            <a:spLocks noGrp="1"/>
          </p:cNvSpPr>
          <p:nvPr/>
        </p:nvSpPr>
        <p:spPr>
          <a:xfrm>
            <a:off x="6615113" y="1905000"/>
            <a:ext cx="1671638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400">
              <a:latin typeface="Arial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D43A10-2BB4-4365-9CF5-56FF43C0BC78}"/>
              </a:ext>
            </a:extLst>
          </p:cNvPr>
          <p:cNvSpPr>
            <a:spLocks noGrp="1"/>
          </p:cNvSpPr>
          <p:nvPr/>
        </p:nvSpPr>
        <p:spPr>
          <a:xfrm>
            <a:off x="6792913" y="2387600"/>
            <a:ext cx="1316038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663770-E653-4468-82BF-3B6F7A49CF22}"/>
              </a:ext>
            </a:extLst>
          </p:cNvPr>
          <p:cNvSpPr>
            <a:spLocks noGrp="1"/>
          </p:cNvSpPr>
          <p:nvPr/>
        </p:nvSpPr>
        <p:spPr>
          <a:xfrm>
            <a:off x="6792913" y="2717800"/>
            <a:ext cx="1316038" cy="1117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0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better care / research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4C19147-515C-862C-5746-F2FEECEAB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200" y="3911600"/>
            <a:ext cx="812800" cy="123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8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B05F468-5756-4A05-8A80-6C92F42754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DA8B75-4C38-48D7-982F-333E1C1200AE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F2943F-4659-4372-9B3E-737DA45D7633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1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1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ROADMAP</a:t>
            </a:r>
            <a:endParaRPr sz="1100" b="1">
              <a:solidFill>
                <a:srgbClr val="4A00E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D63B5F-FB38-4065-88D6-CD67BE036084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defRPr sz="24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2400" b="1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Four ways to make use of good predictions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1FADA2-4E8A-4D4F-A7AC-521224D6BC84}"/>
              </a:ext>
            </a:extLst>
          </p:cNvPr>
          <p:cNvSpPr>
            <a:spLocks noGrp="1"/>
          </p:cNvSpPr>
          <p:nvPr/>
        </p:nvSpPr>
        <p:spPr>
          <a:xfrm>
            <a:off x="876300" y="1270000"/>
            <a:ext cx="32385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3200" b="1">
              <a:latin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425C6E-5BDF-4840-815C-67610B32884D}"/>
              </a:ext>
            </a:extLst>
          </p:cNvPr>
          <p:cNvSpPr>
            <a:spLocks noGrp="1"/>
          </p:cNvSpPr>
          <p:nvPr/>
        </p:nvSpPr>
        <p:spPr>
          <a:xfrm>
            <a:off x="876300" y="1270000"/>
            <a:ext cx="66675" cy="1371600"/>
          </a:xfrm>
          <a:prstGeom prst="rect">
            <a:avLst/>
          </a:prstGeom>
          <a:solidFill>
            <a:srgbClr val="FF5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8C0C8-9044-4D26-8A74-61A9786A590C}"/>
              </a:ext>
            </a:extLst>
          </p:cNvPr>
          <p:cNvSpPr>
            <a:spLocks noGrp="1"/>
          </p:cNvSpPr>
          <p:nvPr/>
        </p:nvSpPr>
        <p:spPr>
          <a:xfrm>
            <a:off x="1123950" y="1498600"/>
            <a:ext cx="165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00" b="1">
                <a:solidFill>
                  <a:srgbClr val="FF5D55"/>
                </a:solidFill>
                <a:latin typeface="Arial"/>
                <a:ea typeface="Arial"/>
                <a:cs typeface="Arial"/>
              </a:defRPr>
            </a:pPr>
            <a:r>
              <a:rPr lang="en-US" sz="1400" b="1">
                <a:solidFill>
                  <a:srgbClr val="FF5D55"/>
                </a:solidFill>
                <a:latin typeface="Arial"/>
                <a:ea typeface="Arial"/>
                <a:cs typeface="Arial"/>
              </a:rPr>
              <a:t>ACT</a:t>
            </a:r>
            <a:endParaRPr sz="1400" b="1">
              <a:solidFill>
                <a:srgbClr val="FF5D5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51CD61-8B47-4B71-B460-2396A1AA95D4}"/>
              </a:ext>
            </a:extLst>
          </p:cNvPr>
          <p:cNvSpPr>
            <a:spLocks noGrp="1"/>
          </p:cNvSpPr>
          <p:nvPr/>
        </p:nvSpPr>
        <p:spPr>
          <a:xfrm>
            <a:off x="1123950" y="1828800"/>
            <a:ext cx="2743200" cy="711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 anchorCtr="0">
            <a:noAutofit/>
          </a:bodyPr>
          <a:lstStyle/>
          <a:p>
            <a:pPr algn="l"/>
            <a:r>
              <a:rPr lang="en-US" sz="1600">
                <a:solidFill>
                  <a:srgbClr val="4A4170"/>
                </a:solidFill>
                <a:latin typeface="Arial"/>
                <a:ea typeface="Arial"/>
                <a:cs typeface="Arial"/>
              </a:rPr>
              <a:t>Target attention or treatment when expected benefit exceeds burden</a:t>
            </a:r>
            <a:endParaRPr lang="en-US" sz="1600" dirty="0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2226FD-0396-4724-BDE5-06A91CE677A4}"/>
              </a:ext>
            </a:extLst>
          </p:cNvPr>
          <p:cNvSpPr>
            <a:spLocks noGrp="1"/>
          </p:cNvSpPr>
          <p:nvPr/>
        </p:nvSpPr>
        <p:spPr>
          <a:xfrm>
            <a:off x="4762500" y="1270000"/>
            <a:ext cx="32385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3200" b="1"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57914E-6998-4BEC-9D16-C06804506928}"/>
              </a:ext>
            </a:extLst>
          </p:cNvPr>
          <p:cNvSpPr>
            <a:spLocks noGrp="1"/>
          </p:cNvSpPr>
          <p:nvPr/>
        </p:nvSpPr>
        <p:spPr>
          <a:xfrm>
            <a:off x="4762500" y="1270000"/>
            <a:ext cx="66675" cy="137160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>
              <a:latin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AA61D5-FD7A-4429-AA63-BB937A7F4304}"/>
              </a:ext>
            </a:extLst>
          </p:cNvPr>
          <p:cNvSpPr>
            <a:spLocks noGrp="1"/>
          </p:cNvSpPr>
          <p:nvPr/>
        </p:nvSpPr>
        <p:spPr>
          <a:xfrm>
            <a:off x="5010150" y="1498600"/>
            <a:ext cx="165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4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LABEL</a:t>
            </a:r>
            <a:endParaRPr sz="1400" b="1">
              <a:solidFill>
                <a:srgbClr val="4A00E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AFE143-D291-467D-84E6-AE3F2A4103A3}"/>
              </a:ext>
            </a:extLst>
          </p:cNvPr>
          <p:cNvSpPr>
            <a:spLocks noGrp="1"/>
          </p:cNvSpPr>
          <p:nvPr/>
        </p:nvSpPr>
        <p:spPr>
          <a:xfrm>
            <a:off x="5010150" y="1828800"/>
            <a:ext cx="2743200" cy="711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 anchorCtr="0">
            <a:normAutofit/>
          </a:bodyPr>
          <a:lstStyle/>
          <a:p>
            <a:pPr algn="l"/>
            <a:r>
              <a:rPr lang="en-US" sz="1600">
                <a:solidFill>
                  <a:srgbClr val="4A4170"/>
                </a:solidFill>
                <a:latin typeface="Arial"/>
                <a:ea typeface="Arial"/>
                <a:cs typeface="Arial"/>
              </a:rPr>
              <a:t>Build the reference class that matches the clinical decision</a:t>
            </a:r>
            <a:endParaRPr lang="en-US" sz="1600" dirty="0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56AAB7-D656-4132-8826-2E69B8E6E7CD}"/>
              </a:ext>
            </a:extLst>
          </p:cNvPr>
          <p:cNvSpPr>
            <a:spLocks noGrp="1"/>
          </p:cNvSpPr>
          <p:nvPr/>
        </p:nvSpPr>
        <p:spPr>
          <a:xfrm>
            <a:off x="876300" y="2844800"/>
            <a:ext cx="32385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93FA2D-0D2C-4920-9E5A-C9FAB7FF1C8D}"/>
              </a:ext>
            </a:extLst>
          </p:cNvPr>
          <p:cNvSpPr>
            <a:spLocks noGrp="1"/>
          </p:cNvSpPr>
          <p:nvPr/>
        </p:nvSpPr>
        <p:spPr>
          <a:xfrm>
            <a:off x="876300" y="2844800"/>
            <a:ext cx="66675" cy="1371600"/>
          </a:xfrm>
          <a:prstGeom prst="rect">
            <a:avLst/>
          </a:prstGeom>
          <a:solidFill>
            <a:srgbClr val="7CAF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>
              <a:latin typeface="Arial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B4BE62-F7AE-4487-9AAB-D765D5C459DA}"/>
              </a:ext>
            </a:extLst>
          </p:cNvPr>
          <p:cNvSpPr>
            <a:spLocks noGrp="1"/>
          </p:cNvSpPr>
          <p:nvPr/>
        </p:nvSpPr>
        <p:spPr>
          <a:xfrm>
            <a:off x="1123950" y="3073400"/>
            <a:ext cx="165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00" b="1">
                <a:solidFill>
                  <a:srgbClr val="7CAFD0"/>
                </a:solidFill>
                <a:latin typeface="Arial"/>
                <a:ea typeface="Arial"/>
                <a:cs typeface="Arial"/>
              </a:defRPr>
            </a:pPr>
            <a:r>
              <a:rPr lang="en-US" sz="1400" b="1">
                <a:solidFill>
                  <a:srgbClr val="7CAFD0"/>
                </a:solidFill>
                <a:latin typeface="Arial"/>
                <a:ea typeface="Arial"/>
                <a:cs typeface="Arial"/>
              </a:rPr>
              <a:t>ENRICH</a:t>
            </a:r>
            <a:endParaRPr sz="1400" b="1">
              <a:solidFill>
                <a:srgbClr val="7CAF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324E9F-89D1-4159-8825-825743173E6E}"/>
              </a:ext>
            </a:extLst>
          </p:cNvPr>
          <p:cNvSpPr>
            <a:spLocks noGrp="1"/>
          </p:cNvSpPr>
          <p:nvPr/>
        </p:nvSpPr>
        <p:spPr>
          <a:xfrm>
            <a:off x="1123950" y="3403600"/>
            <a:ext cx="2743200" cy="711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 anchorCtr="0">
            <a:normAutofit/>
          </a:bodyPr>
          <a:lstStyle/>
          <a:p>
            <a:pPr algn="l"/>
            <a:r>
              <a:rPr lang="en-US" sz="1600">
                <a:solidFill>
                  <a:srgbClr val="4A4170"/>
                </a:solidFill>
                <a:latin typeface="Arial"/>
                <a:ea typeface="Arial"/>
                <a:cs typeface="Arial"/>
              </a:rPr>
              <a:t>Choose who and what to study so the trial can learn</a:t>
            </a:r>
            <a:endParaRPr lang="en-US" sz="1600" dirty="0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170B41-2F20-4280-BF61-5969174892A5}"/>
              </a:ext>
            </a:extLst>
          </p:cNvPr>
          <p:cNvSpPr>
            <a:spLocks noGrp="1"/>
          </p:cNvSpPr>
          <p:nvPr/>
        </p:nvSpPr>
        <p:spPr>
          <a:xfrm>
            <a:off x="4762500" y="2844800"/>
            <a:ext cx="32385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0F8AF5-4BEE-4F56-92E9-08F84CA81A89}"/>
              </a:ext>
            </a:extLst>
          </p:cNvPr>
          <p:cNvSpPr>
            <a:spLocks noGrp="1"/>
          </p:cNvSpPr>
          <p:nvPr/>
        </p:nvSpPr>
        <p:spPr>
          <a:xfrm>
            <a:off x="4762500" y="2844800"/>
            <a:ext cx="66675" cy="1371600"/>
          </a:xfrm>
          <a:prstGeom prst="rect">
            <a:avLst/>
          </a:prstGeom>
          <a:solidFill>
            <a:srgbClr val="FF0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>
              <a:latin typeface="Arial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A498E4-217B-439E-973B-5C86702A4BE7}"/>
              </a:ext>
            </a:extLst>
          </p:cNvPr>
          <p:cNvSpPr>
            <a:spLocks noGrp="1"/>
          </p:cNvSpPr>
          <p:nvPr/>
        </p:nvSpPr>
        <p:spPr>
          <a:xfrm>
            <a:off x="5010150" y="3073400"/>
            <a:ext cx="165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/>
            <a:r>
              <a:rPr lang="en-US" sz="1400" b="1">
                <a:solidFill>
                  <a:srgbClr val="FF0044"/>
                </a:solidFill>
                <a:latin typeface="Arial"/>
                <a:ea typeface="Arial"/>
                <a:cs typeface="Arial"/>
              </a:rPr>
              <a:t>ESTIMATE</a:t>
            </a:r>
            <a:endParaRPr lang="en-US" sz="1400" b="1" dirty="0">
              <a:solidFill>
                <a:srgbClr val="FF00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171C36-CF36-4A9E-A448-0B12C4E09DE8}"/>
              </a:ext>
            </a:extLst>
          </p:cNvPr>
          <p:cNvSpPr>
            <a:spLocks noGrp="1"/>
          </p:cNvSpPr>
          <p:nvPr/>
        </p:nvSpPr>
        <p:spPr>
          <a:xfrm>
            <a:off x="5010150" y="3403600"/>
            <a:ext cx="2743200" cy="711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 anchorCtr="0">
            <a:noAutofit/>
          </a:bodyPr>
          <a:lstStyle/>
          <a:p>
            <a:pPr algn="l"/>
            <a:r>
              <a:rPr lang="en-US" sz="1600">
                <a:solidFill>
                  <a:srgbClr val="4A4170"/>
                </a:solidFill>
                <a:latin typeface="Arial"/>
                <a:ea typeface="Arial"/>
                <a:cs typeface="Arial"/>
              </a:rPr>
              <a:t>Preserve randomization while removing predictable noise</a:t>
            </a:r>
            <a:endParaRPr lang="en-US" sz="1600" dirty="0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9580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617F172-BD38-4C30-BF02-5847BEAC4D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7498A842-2950-9645-9836-3BF4A9670B06}"/>
              </a:ext>
            </a:extLst>
          </p:cNvPr>
          <p:cNvSpPr/>
          <p:nvPr/>
        </p:nvSpPr>
        <p:spPr>
          <a:xfrm>
            <a:off x="3517900" y="1816100"/>
            <a:ext cx="2133600" cy="952500"/>
          </a:xfrm>
          <a:prstGeom prst="hexagon">
            <a:avLst/>
          </a:prstGeom>
          <a:solidFill>
            <a:srgbClr val="EDE7FB"/>
          </a:solidFill>
          <a:ln w="15875">
            <a:solidFill>
              <a:srgbClr val="4A00E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4351D5-C175-4D50-BDCE-1484C67800A3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C392ED-3CC3-4620-983E-F39A2FFAFFF3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/>
            <a:r>
              <a:rPr lang="en-US" sz="1100" b="1" dirty="0">
                <a:solidFill>
                  <a:srgbClr val="4A00E2"/>
                </a:solidFill>
                <a:latin typeface="Arial"/>
                <a:ea typeface="Arial"/>
                <a:cs typeface="Arial"/>
              </a:rPr>
              <a:t>ACT | MACHINE LEARNING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47D337-B120-48F9-B74D-250C02176F1B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/>
            <a:r>
              <a:rPr lang="en-US" sz="2400" b="1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ML finds the map from predictors to an outcome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78B4D5-EF25-4DF3-8076-925FF82C4740}"/>
              </a:ext>
            </a:extLst>
          </p:cNvPr>
          <p:cNvSpPr>
            <a:spLocks noGrp="1"/>
          </p:cNvSpPr>
          <p:nvPr/>
        </p:nvSpPr>
        <p:spPr>
          <a:xfrm>
            <a:off x="863600" y="1809750"/>
            <a:ext cx="21336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F75645-C0DC-44ED-B76D-10A36D280CDF}"/>
              </a:ext>
            </a:extLst>
          </p:cNvPr>
          <p:cNvSpPr>
            <a:spLocks noGrp="1"/>
          </p:cNvSpPr>
          <p:nvPr/>
        </p:nvSpPr>
        <p:spPr>
          <a:xfrm>
            <a:off x="977900" y="19240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/>
            <a:r>
              <a:rPr lang="en-US" sz="1600" b="1" dirty="0">
                <a:solidFill>
                  <a:srgbClr val="4A00E2"/>
                </a:solidFill>
                <a:latin typeface="Arial"/>
                <a:ea typeface="Arial"/>
                <a:cs typeface="Arial"/>
              </a:rPr>
              <a:t>Predictors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F3D73D-FB84-496A-98DE-DA5283A7D280}"/>
              </a:ext>
            </a:extLst>
          </p:cNvPr>
          <p:cNvSpPr>
            <a:spLocks noGrp="1"/>
          </p:cNvSpPr>
          <p:nvPr/>
        </p:nvSpPr>
        <p:spPr>
          <a:xfrm>
            <a:off x="977900" y="2209800"/>
            <a:ext cx="190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/>
            <a:r>
              <a:rPr lang="en-US" sz="160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age, vitals, labs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480701-304A-4624-8AD3-53EED3EFBAD9}"/>
              </a:ext>
            </a:extLst>
          </p:cNvPr>
          <p:cNvSpPr>
            <a:spLocks noGrp="1"/>
          </p:cNvSpPr>
          <p:nvPr/>
        </p:nvSpPr>
        <p:spPr>
          <a:xfrm>
            <a:off x="3105150" y="217805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871" b="1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600" b="1" dirty="0">
                <a:solidFill>
                  <a:srgbClr val="4A4170"/>
                </a:solidFill>
                <a:latin typeface="Arial"/>
                <a:ea typeface="Arial"/>
                <a:cs typeface="Arial"/>
              </a:rPr>
              <a:t>→</a:t>
            </a:r>
            <a:endParaRPr sz="1600" b="1" dirty="0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30F0C0-4DC5-4FC1-B247-43C0DF279752}"/>
              </a:ext>
            </a:extLst>
          </p:cNvPr>
          <p:cNvSpPr>
            <a:spLocks noGrp="1"/>
          </p:cNvSpPr>
          <p:nvPr/>
        </p:nvSpPr>
        <p:spPr>
          <a:xfrm>
            <a:off x="3632200" y="19240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/>
            <a:r>
              <a:rPr lang="en-US" sz="1600" b="1" dirty="0">
                <a:solidFill>
                  <a:srgbClr val="4A00E2"/>
                </a:solidFill>
                <a:latin typeface="Arial"/>
                <a:ea typeface="Arial"/>
                <a:cs typeface="Arial"/>
              </a:rPr>
              <a:t>Algorithm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28C8D4-0D26-4D4C-BF35-43DC4347C406}"/>
              </a:ext>
            </a:extLst>
          </p:cNvPr>
          <p:cNvSpPr>
            <a:spLocks noGrp="1"/>
          </p:cNvSpPr>
          <p:nvPr/>
        </p:nvSpPr>
        <p:spPr>
          <a:xfrm>
            <a:off x="3632200" y="2209800"/>
            <a:ext cx="190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/>
            <a:r>
              <a:rPr lang="en-US" sz="160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learns the mapping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2ED634-9319-43EF-BE43-8040BFE26E7D}"/>
              </a:ext>
            </a:extLst>
          </p:cNvPr>
          <p:cNvSpPr>
            <a:spLocks noGrp="1"/>
          </p:cNvSpPr>
          <p:nvPr/>
        </p:nvSpPr>
        <p:spPr>
          <a:xfrm>
            <a:off x="5759450" y="217805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871" b="1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600" b="1">
                <a:solidFill>
                  <a:srgbClr val="4A4170"/>
                </a:solidFill>
                <a:latin typeface="Arial"/>
                <a:ea typeface="Arial"/>
                <a:cs typeface="Arial"/>
              </a:rPr>
              <a:t>→</a:t>
            </a:r>
            <a:endParaRPr sz="1600" b="1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B2F72F-5578-430E-BE39-ACD3996E97C1}"/>
              </a:ext>
            </a:extLst>
          </p:cNvPr>
          <p:cNvSpPr>
            <a:spLocks noGrp="1"/>
          </p:cNvSpPr>
          <p:nvPr/>
        </p:nvSpPr>
        <p:spPr>
          <a:xfrm>
            <a:off x="6172200" y="1809750"/>
            <a:ext cx="21336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435467-1CED-45D8-8645-CAEFBE439365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/>
            <a:r>
              <a:rPr lang="en-US" sz="1600" b="1" dirty="0">
                <a:solidFill>
                  <a:srgbClr val="4A00E2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4880BA-7CB4-4A4B-904F-365F5318B225}"/>
              </a:ext>
            </a:extLst>
          </p:cNvPr>
          <p:cNvSpPr>
            <a:spLocks noGrp="1"/>
          </p:cNvSpPr>
          <p:nvPr/>
        </p:nvSpPr>
        <p:spPr>
          <a:xfrm>
            <a:off x="6286500" y="2209800"/>
            <a:ext cx="190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/>
            <a:r>
              <a:rPr lang="en-US" sz="160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classification or regression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313E50-C236-4605-B736-E9B0C5592794}"/>
              </a:ext>
            </a:extLst>
          </p:cNvPr>
          <p:cNvSpPr>
            <a:spLocks noGrp="1"/>
          </p:cNvSpPr>
          <p:nvPr/>
        </p:nvSpPr>
        <p:spPr>
          <a:xfrm>
            <a:off x="660400" y="3406003"/>
            <a:ext cx="7823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/>
            <a:r>
              <a:rPr lang="en-US" sz="1600" b="1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Learn relationships in one set of observations, apply to new ones.</a:t>
            </a:r>
          </a:p>
        </p:txBody>
      </p:sp>
    </p:spTree>
    <p:extLst>
      <p:ext uri="{BB962C8B-B14F-4D97-AF65-F5344CB8AC3E}">
        <p14:creationId xmlns:p14="http://schemas.microsoft.com/office/powerpoint/2010/main" val="1314527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D31A216-3D41-4822-B2DC-E76DE4849A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DC7F3F-2A50-4797-880F-8B6A68D7B5B9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FF71-9B7B-4E89-A7BD-7BB361724C08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/>
            <a:r>
              <a:rPr lang="en-US" sz="1100" b="1" dirty="0">
                <a:solidFill>
                  <a:srgbClr val="4A00E2"/>
                </a:solidFill>
                <a:latin typeface="Arial"/>
                <a:ea typeface="Arial"/>
                <a:cs typeface="Arial"/>
              </a:rPr>
              <a:t>ACT | MACHINE LEARNING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354E8-CD63-41F1-8240-D5337DA24862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/>
            <a:r>
              <a:rPr lang="en-US" sz="2400" b="1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Fit a best-fit line (in log-odds space) → probability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F82D2A-5DE4-4B10-9AFD-E9D590634A8F}"/>
              </a:ext>
            </a:extLst>
          </p:cNvPr>
          <p:cNvSpPr>
            <a:spLocks noGrp="1"/>
          </p:cNvSpPr>
          <p:nvPr/>
        </p:nvSpPr>
        <p:spPr>
          <a:xfrm>
            <a:off x="558800" y="3810000"/>
            <a:ext cx="4699000" cy="88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one does this math at the bedside… except you do.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CD2C6-DBCF-37E1-200A-A787B0228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009" y="1219200"/>
            <a:ext cx="2398511" cy="2958164"/>
          </a:xfrm>
          <a:prstGeom prst="rect">
            <a:avLst/>
          </a:prstGeom>
        </p:spPr>
      </p:pic>
      <p:sp>
        <p:nvSpPr>
          <p:cNvPr id="100" name="L100"/>
          <p:cNvSpPr/>
          <p:nvPr/>
        </p:nvSpPr>
        <p:spPr>
          <a:xfrm>
            <a:off x="914400" y="1397000"/>
            <a:ext cx="2286000" cy="1905000"/>
          </a:xfrm>
          <a:custGeom>
            <a:avLst/>
            <a:gdLst/>
            <a:ahLst/>
            <a:cxnLst/>
            <a:rect l="0" t="0" r="0" b="0"/>
            <a:pathLst>
              <a:path w="2286000" h="1905000">
                <a:moveTo>
                  <a:pt x="0" y="0"/>
                </a:moveTo>
                <a:lnTo>
                  <a:pt x="0" y="1905000"/>
                </a:lnTo>
                <a:lnTo>
                  <a:pt x="2286000" y="1905000"/>
                </a:lnTo>
              </a:path>
            </a:pathLst>
          </a:custGeom>
          <a:noFill/>
          <a:ln w="12700" cap="rnd">
            <a:solidFill>
              <a:srgbClr val="94A3B8"/>
            </a:solidFill>
            <a:round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101" name="L101"/>
          <p:cNvSpPr/>
          <p:nvPr/>
        </p:nvSpPr>
        <p:spPr>
          <a:xfrm>
            <a:off x="914400" y="1397000"/>
            <a:ext cx="2286000" cy="1905000"/>
          </a:xfrm>
          <a:custGeom>
            <a:avLst/>
            <a:gdLst/>
            <a:ahLst/>
            <a:cxnLst/>
            <a:rect l="0" t="0" r="0" b="0"/>
            <a:pathLst>
              <a:path w="2286000" h="1905000">
                <a:moveTo>
                  <a:pt x="0" y="952500"/>
                </a:moveTo>
                <a:lnTo>
                  <a:pt x="2286000" y="952500"/>
                </a:lnTo>
              </a:path>
            </a:pathLst>
          </a:custGeom>
          <a:noFill/>
          <a:ln w="9525" cap="rnd">
            <a:solidFill>
              <a:srgbClr val="D8DEE7"/>
            </a:solidFill>
            <a:prstDash val="dash"/>
            <a:round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102" name="L102"/>
          <p:cNvSpPr/>
          <p:nvPr/>
        </p:nvSpPr>
        <p:spPr>
          <a:xfrm>
            <a:off x="914400" y="1397000"/>
            <a:ext cx="2286000" cy="1905000"/>
          </a:xfrm>
          <a:custGeom>
            <a:avLst/>
            <a:gdLst/>
            <a:ahLst/>
            <a:cxnLst/>
            <a:rect l="0" t="0" r="0" b="0"/>
            <a:pathLst>
              <a:path w="2286000" h="1905000">
                <a:moveTo>
                  <a:pt x="0" y="1752600"/>
                </a:moveTo>
                <a:lnTo>
                  <a:pt x="2286000" y="152400"/>
                </a:lnTo>
              </a:path>
            </a:pathLst>
          </a:custGeom>
          <a:noFill/>
          <a:ln w="31750" cap="rnd">
            <a:solidFill>
              <a:srgbClr val="4A00E2"/>
            </a:solidFill>
            <a:round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110" name="d110"/>
          <p:cNvSpPr/>
          <p:nvPr/>
        </p:nvSpPr>
        <p:spPr>
          <a:xfrm>
            <a:off x="1016000" y="2999740"/>
            <a:ext cx="71120" cy="711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111" name="d111"/>
          <p:cNvSpPr/>
          <p:nvPr/>
        </p:nvSpPr>
        <p:spPr>
          <a:xfrm>
            <a:off x="1198880" y="2923540"/>
            <a:ext cx="71120" cy="711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112" name="d112"/>
          <p:cNvSpPr/>
          <p:nvPr/>
        </p:nvSpPr>
        <p:spPr>
          <a:xfrm>
            <a:off x="1336040" y="2771140"/>
            <a:ext cx="71120" cy="711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113" name="d113"/>
          <p:cNvSpPr/>
          <p:nvPr/>
        </p:nvSpPr>
        <p:spPr>
          <a:xfrm>
            <a:off x="1518920" y="2694940"/>
            <a:ext cx="71120" cy="711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114" name="d114"/>
          <p:cNvSpPr/>
          <p:nvPr/>
        </p:nvSpPr>
        <p:spPr>
          <a:xfrm>
            <a:off x="1656080" y="2504440"/>
            <a:ext cx="71120" cy="711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115" name="d115"/>
          <p:cNvSpPr/>
          <p:nvPr/>
        </p:nvSpPr>
        <p:spPr>
          <a:xfrm>
            <a:off x="1838960" y="2409190"/>
            <a:ext cx="71120" cy="711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116" name="d116"/>
          <p:cNvSpPr/>
          <p:nvPr/>
        </p:nvSpPr>
        <p:spPr>
          <a:xfrm>
            <a:off x="2021840" y="2256790"/>
            <a:ext cx="71120" cy="711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117" name="d117"/>
          <p:cNvSpPr/>
          <p:nvPr/>
        </p:nvSpPr>
        <p:spPr>
          <a:xfrm>
            <a:off x="2204720" y="2123440"/>
            <a:ext cx="71120" cy="711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118" name="d118"/>
          <p:cNvSpPr/>
          <p:nvPr/>
        </p:nvSpPr>
        <p:spPr>
          <a:xfrm>
            <a:off x="2341880" y="2009140"/>
            <a:ext cx="71120" cy="711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119" name="d119"/>
          <p:cNvSpPr/>
          <p:nvPr/>
        </p:nvSpPr>
        <p:spPr>
          <a:xfrm>
            <a:off x="2524760" y="1856740"/>
            <a:ext cx="71120" cy="711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120" name="d120"/>
          <p:cNvSpPr/>
          <p:nvPr/>
        </p:nvSpPr>
        <p:spPr>
          <a:xfrm>
            <a:off x="2707640" y="1742440"/>
            <a:ext cx="71120" cy="711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121" name="d121"/>
          <p:cNvSpPr/>
          <p:nvPr/>
        </p:nvSpPr>
        <p:spPr>
          <a:xfrm>
            <a:off x="2890520" y="1628140"/>
            <a:ext cx="71120" cy="711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122" name="d122"/>
          <p:cNvSpPr/>
          <p:nvPr/>
        </p:nvSpPr>
        <p:spPr>
          <a:xfrm>
            <a:off x="3027680" y="1551940"/>
            <a:ext cx="71120" cy="711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150" name="t150"/>
          <p:cNvSpPr txBox="1"/>
          <p:nvPr/>
        </p:nvSpPr>
        <p:spPr>
          <a:xfrm>
            <a:off x="838200" y="12192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600" b="0" dirty="0">
                <a:solidFill>
                  <a:srgbClr val="4A4170"/>
                </a:solidFill>
                <a:latin typeface="Arial"/>
                <a:cs typeface="Arial"/>
              </a:rPr>
              <a:t>log-odds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14400" y="3378200"/>
            <a:ext cx="228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600" b="0" dirty="0">
                <a:solidFill>
                  <a:srgbClr val="4A4170"/>
                </a:solidFill>
                <a:latin typeface="Arial"/>
                <a:cs typeface="Arial"/>
              </a:rPr>
              <a:t>linear predictor (η)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3302000" y="21463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4A00E2"/>
                </a:solidFill>
                <a:latin typeface="Arial"/>
                <a:cs typeface="Arial"/>
              </a:rPr>
              <a:t>logit⁻¹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3378200" y="23241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4A00E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200" name="L200"/>
          <p:cNvSpPr/>
          <p:nvPr/>
        </p:nvSpPr>
        <p:spPr>
          <a:xfrm>
            <a:off x="3987800" y="1397000"/>
            <a:ext cx="2286000" cy="1905000"/>
          </a:xfrm>
          <a:custGeom>
            <a:avLst/>
            <a:gdLst/>
            <a:ahLst/>
            <a:cxnLst/>
            <a:rect l="0" t="0" r="0" b="0"/>
            <a:pathLst>
              <a:path w="2286000" h="1905000">
                <a:moveTo>
                  <a:pt x="0" y="0"/>
                </a:moveTo>
                <a:lnTo>
                  <a:pt x="0" y="1905000"/>
                </a:lnTo>
                <a:lnTo>
                  <a:pt x="2286000" y="1905000"/>
                </a:lnTo>
              </a:path>
            </a:pathLst>
          </a:custGeom>
          <a:noFill/>
          <a:ln w="12700" cap="rnd">
            <a:solidFill>
              <a:srgbClr val="94A3B8"/>
            </a:solidFill>
            <a:round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201" name="L201"/>
          <p:cNvSpPr/>
          <p:nvPr/>
        </p:nvSpPr>
        <p:spPr>
          <a:xfrm>
            <a:off x="3987800" y="1397000"/>
            <a:ext cx="2286000" cy="1905000"/>
          </a:xfrm>
          <a:custGeom>
            <a:avLst/>
            <a:gdLst/>
            <a:ahLst/>
            <a:cxnLst/>
            <a:rect l="0" t="0" r="0" b="0"/>
            <a:pathLst>
              <a:path w="2286000" h="1905000">
                <a:moveTo>
                  <a:pt x="0" y="952500"/>
                </a:moveTo>
                <a:lnTo>
                  <a:pt x="2286000" y="952500"/>
                </a:lnTo>
              </a:path>
            </a:pathLst>
          </a:custGeom>
          <a:noFill/>
          <a:ln w="9525" cap="rnd">
            <a:solidFill>
              <a:srgbClr val="D8DEE7"/>
            </a:solidFill>
            <a:prstDash val="dash"/>
            <a:round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202" name="L202"/>
          <p:cNvSpPr/>
          <p:nvPr/>
        </p:nvSpPr>
        <p:spPr>
          <a:xfrm>
            <a:off x="3987800" y="1397000"/>
            <a:ext cx="2286000" cy="1905000"/>
          </a:xfrm>
          <a:custGeom>
            <a:avLst/>
            <a:gdLst/>
            <a:ahLst/>
            <a:cxnLst/>
            <a:rect l="0" t="0" r="0" b="0"/>
            <a:pathLst>
              <a:path w="2286000" h="1905000">
                <a:moveTo>
                  <a:pt x="0" y="1897246"/>
                </a:moveTo>
                <a:lnTo>
                  <a:pt x="87923" y="1893188"/>
                </a:lnTo>
                <a:lnTo>
                  <a:pt x="175846" y="1887026"/>
                </a:lnTo>
                <a:lnTo>
                  <a:pt x="263769" y="1877696"/>
                </a:lnTo>
                <a:lnTo>
                  <a:pt x="351692" y="1863629"/>
                </a:lnTo>
                <a:lnTo>
                  <a:pt x="439615" y="1842555"/>
                </a:lnTo>
                <a:lnTo>
                  <a:pt x="527538" y="1811285"/>
                </a:lnTo>
                <a:lnTo>
                  <a:pt x="615462" y="1765544"/>
                </a:lnTo>
                <a:lnTo>
                  <a:pt x="703385" y="1700002"/>
                </a:lnTo>
                <a:lnTo>
                  <a:pt x="791308" y="1608825"/>
                </a:lnTo>
                <a:lnTo>
                  <a:pt x="879231" y="1487064"/>
                </a:lnTo>
                <a:lnTo>
                  <a:pt x="967154" y="1333042"/>
                </a:lnTo>
                <a:lnTo>
                  <a:pt x="1055077" y="1151038"/>
                </a:lnTo>
                <a:lnTo>
                  <a:pt x="1143000" y="952500"/>
                </a:lnTo>
                <a:lnTo>
                  <a:pt x="1230923" y="753962"/>
                </a:lnTo>
                <a:lnTo>
                  <a:pt x="1318846" y="571958"/>
                </a:lnTo>
                <a:lnTo>
                  <a:pt x="1406769" y="417936"/>
                </a:lnTo>
                <a:lnTo>
                  <a:pt x="1494692" y="296175"/>
                </a:lnTo>
                <a:lnTo>
                  <a:pt x="1582615" y="204998"/>
                </a:lnTo>
                <a:lnTo>
                  <a:pt x="1670538" y="139456"/>
                </a:lnTo>
                <a:lnTo>
                  <a:pt x="1758462" y="93715"/>
                </a:lnTo>
                <a:lnTo>
                  <a:pt x="1846385" y="62445"/>
                </a:lnTo>
                <a:lnTo>
                  <a:pt x="1934308" y="41371"/>
                </a:lnTo>
                <a:lnTo>
                  <a:pt x="2022231" y="27304"/>
                </a:lnTo>
                <a:lnTo>
                  <a:pt x="2110154" y="17974"/>
                </a:lnTo>
                <a:lnTo>
                  <a:pt x="2198077" y="11812"/>
                </a:lnTo>
                <a:lnTo>
                  <a:pt x="2286000" y="7754"/>
                </a:lnTo>
              </a:path>
            </a:pathLst>
          </a:custGeom>
          <a:noFill/>
          <a:ln w="31750" cap="rnd">
            <a:solidFill>
              <a:srgbClr val="4A00E2"/>
            </a:solidFill>
            <a:round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250" name="t250"/>
          <p:cNvSpPr txBox="1"/>
          <p:nvPr/>
        </p:nvSpPr>
        <p:spPr>
          <a:xfrm>
            <a:off x="3606800" y="13589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1600" b="0" dirty="0">
                <a:solidFill>
                  <a:srgbClr val="4A4170"/>
                </a:solidFill>
                <a:latin typeface="Arial"/>
                <a:cs typeface="Arial"/>
              </a:rPr>
              <a:t>P = 1</a:t>
            </a:r>
          </a:p>
        </p:txBody>
      </p:sp>
      <p:sp>
        <p:nvSpPr>
          <p:cNvPr id="251" name="t251"/>
          <p:cNvSpPr txBox="1"/>
          <p:nvPr/>
        </p:nvSpPr>
        <p:spPr>
          <a:xfrm>
            <a:off x="3606800" y="31877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1600" b="0" dirty="0">
                <a:solidFill>
                  <a:srgbClr val="4A4170"/>
                </a:solidFill>
                <a:latin typeface="Arial"/>
                <a:cs typeface="Arial"/>
              </a:rPr>
              <a:t>P = 0</a:t>
            </a:r>
          </a:p>
        </p:txBody>
      </p:sp>
      <p:sp>
        <p:nvSpPr>
          <p:cNvPr id="252" name="t252"/>
          <p:cNvSpPr txBox="1"/>
          <p:nvPr/>
        </p:nvSpPr>
        <p:spPr>
          <a:xfrm>
            <a:off x="3987800" y="3378200"/>
            <a:ext cx="228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600" b="0" dirty="0">
                <a:solidFill>
                  <a:srgbClr val="4A4170"/>
                </a:solidFill>
                <a:latin typeface="Arial"/>
                <a:cs typeface="Arial"/>
              </a:rPr>
              <a:t>linear predictor (η)</a:t>
            </a:r>
          </a:p>
        </p:txBody>
      </p:sp>
      <p:sp>
        <p:nvSpPr>
          <p:cNvPr id="300" name="thr300"/>
          <p:cNvSpPr/>
          <p:nvPr/>
        </p:nvSpPr>
        <p:spPr>
          <a:xfrm>
            <a:off x="4856480" y="1397000"/>
            <a:ext cx="0" cy="1905000"/>
          </a:xfrm>
          <a:custGeom>
            <a:avLst/>
            <a:gdLst/>
            <a:ahLst/>
            <a:cxnLst/>
            <a:rect l="0" t="0" r="0" b="0"/>
            <a:pathLst>
              <a:path h="1905000">
                <a:moveTo>
                  <a:pt x="0" y="0"/>
                </a:moveTo>
                <a:lnTo>
                  <a:pt x="0" y="1905000"/>
                </a:lnTo>
              </a:path>
            </a:pathLst>
          </a:custGeom>
          <a:noFill/>
          <a:ln w="19050" cap="rnd">
            <a:solidFill>
              <a:srgbClr val="FF5D55"/>
            </a:solidFill>
            <a:prstDash val="dash"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301" name="thr301"/>
          <p:cNvSpPr/>
          <p:nvPr/>
        </p:nvSpPr>
        <p:spPr>
          <a:xfrm>
            <a:off x="5450840" y="1397000"/>
            <a:ext cx="0" cy="1905000"/>
          </a:xfrm>
          <a:custGeom>
            <a:avLst/>
            <a:gdLst/>
            <a:ahLst/>
            <a:cxnLst/>
            <a:rect l="0" t="0" r="0" b="0"/>
            <a:pathLst>
              <a:path h="1905000">
                <a:moveTo>
                  <a:pt x="0" y="0"/>
                </a:moveTo>
                <a:lnTo>
                  <a:pt x="0" y="1905000"/>
                </a:lnTo>
              </a:path>
            </a:pathLst>
          </a:custGeom>
          <a:noFill/>
          <a:ln w="19050" cap="rnd">
            <a:solidFill>
              <a:srgbClr val="FF0044"/>
            </a:solidFill>
            <a:prstDash val="dash"/>
          </a:ln>
        </p:spPr>
        <p:txBody>
          <a:bodyPr/>
          <a:lstStyle/>
          <a:p>
            <a:endParaRPr sz="1600">
              <a:latin typeface="Arial"/>
              <a:cs typeface="Arial"/>
            </a:endParaRPr>
          </a:p>
        </p:txBody>
      </p:sp>
      <p:sp>
        <p:nvSpPr>
          <p:cNvPr id="302" name="tl302"/>
          <p:cNvSpPr txBox="1"/>
          <p:nvPr/>
        </p:nvSpPr>
        <p:spPr>
          <a:xfrm>
            <a:off x="4433244" y="1172682"/>
            <a:ext cx="5588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FF5D55"/>
                </a:solidFill>
                <a:latin typeface="Arial"/>
                <a:cs typeface="Arial"/>
              </a:rPr>
              <a:t>rule-out</a:t>
            </a:r>
          </a:p>
        </p:txBody>
      </p:sp>
      <p:sp>
        <p:nvSpPr>
          <p:cNvPr id="303" name="tl303"/>
          <p:cNvSpPr txBox="1"/>
          <p:nvPr/>
        </p:nvSpPr>
        <p:spPr>
          <a:xfrm>
            <a:off x="5314706" y="1172682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FF0044"/>
                </a:solidFill>
                <a:latin typeface="Arial"/>
                <a:cs typeface="Arial"/>
              </a:rPr>
              <a:t>rule-in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3BD47-B7C9-144D-9A56-302178622C99}"/>
              </a:ext>
            </a:extLst>
          </p:cNvPr>
          <p:cNvSpPr txBox="1"/>
          <p:nvPr/>
        </p:nvSpPr>
        <p:spPr>
          <a:xfrm>
            <a:off x="1484630" y="2865387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 dirty="0">
                <a:solidFill>
                  <a:srgbClr val="110057"/>
                </a:solidFill>
                <a:latin typeface="Arial"/>
                <a:cs typeface="Arial"/>
              </a:rPr>
              <a:t>p = </a:t>
            </a:r>
            <a:r>
              <a:rPr lang="el-GR" sz="1600" dirty="0">
                <a:solidFill>
                  <a:srgbClr val="110057"/>
                </a:solidFill>
                <a:latin typeface="Arial"/>
                <a:cs typeface="Arial"/>
              </a:rPr>
              <a:t>β₀ + β₁</a:t>
            </a:r>
            <a:r>
              <a:rPr lang="en-US" sz="1600" dirty="0">
                <a:solidFill>
                  <a:srgbClr val="110057"/>
                </a:solidFill>
                <a:latin typeface="Arial"/>
                <a:cs typeface="Arial"/>
              </a:rPr>
              <a:t>x₁ + </a:t>
            </a:r>
            <a:r>
              <a:rPr lang="el-GR" sz="1600" dirty="0">
                <a:solidFill>
                  <a:srgbClr val="110057"/>
                </a:solidFill>
                <a:latin typeface="Arial"/>
                <a:cs typeface="Arial"/>
              </a:rPr>
              <a:t>β₂</a:t>
            </a:r>
            <a:r>
              <a:rPr lang="en-US" sz="1600" dirty="0">
                <a:solidFill>
                  <a:srgbClr val="110057"/>
                </a:solidFill>
                <a:latin typeface="Arial"/>
                <a:cs typeface="Arial"/>
              </a:rPr>
              <a:t>x₂</a:t>
            </a:r>
          </a:p>
        </p:txBody>
      </p:sp>
    </p:spTree>
    <p:extLst>
      <p:ext uri="{BB962C8B-B14F-4D97-AF65-F5344CB8AC3E}">
        <p14:creationId xmlns:p14="http://schemas.microsoft.com/office/powerpoint/2010/main" val="4233069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8327895-18FD-444E-96A0-342EE78F38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746D00-EA13-43E0-B59A-5DC59E777C73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4EC69E-6A43-45A2-8599-F3B9E9CA887E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/>
            <a:r>
              <a:rPr lang="en-US" sz="1100" b="1" dirty="0">
                <a:solidFill>
                  <a:srgbClr val="4A00E2"/>
                </a:solidFill>
                <a:latin typeface="Arial"/>
                <a:ea typeface="Arial"/>
                <a:cs typeface="Arial"/>
              </a:rPr>
              <a:t>ACT | MACHINE LEARNING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D67605-BAD1-4377-898A-BD617BE7087E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r>
              <a:rPr lang="en-US" sz="2400" b="1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Wells: regression coefficients → point score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2D0258-CF59-4DD0-A5E2-C25496A8DC07}"/>
              </a:ext>
            </a:extLst>
          </p:cNvPr>
          <p:cNvSpPr>
            <a:spLocks noGrp="1"/>
          </p:cNvSpPr>
          <p:nvPr/>
        </p:nvSpPr>
        <p:spPr>
          <a:xfrm>
            <a:off x="558799" y="4064000"/>
            <a:ext cx="7660527" cy="342900"/>
          </a:xfrm>
          <a:prstGeom prst="rect">
            <a:avLst/>
          </a:prstGeom>
          <a:solidFill>
            <a:srgbClr val="F2EEFA"/>
          </a:solidFill>
          <a:ln w="9525">
            <a:solidFill>
              <a:srgbClr val="F0C8C2"/>
            </a:solidFill>
            <a:prstDash val="solid"/>
          </a:ln>
        </p:spPr>
        <p:txBody>
          <a:bodyPr lIns="57150" tIns="38100" rIns="57150" bIns="38100" anchor="t"/>
          <a:lstStyle/>
          <a:p>
            <a:pPr algn="l"/>
            <a:r>
              <a:rPr lang="en-US" sz="1600" dirty="0">
                <a:solidFill>
                  <a:srgbClr val="4A4170"/>
                </a:solidFill>
                <a:latin typeface="Arial"/>
                <a:ea typeface="Arial"/>
                <a:cs typeface="Arial"/>
              </a:rPr>
              <a:t>R</a:t>
            </a:r>
            <a:r>
              <a:rPr lang="en-US" sz="1600" b="0" dirty="0">
                <a:solidFill>
                  <a:srgbClr val="4A4170"/>
                </a:solidFill>
                <a:latin typeface="Arial"/>
                <a:ea typeface="Arial"/>
                <a:cs typeface="Arial"/>
              </a:rPr>
              <a:t>ound the coefficients and pick points that line up with decision thresholds = score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E43FD9-3F24-409D-AF0E-808EBE0DCFF8}"/>
              </a:ext>
            </a:extLst>
          </p:cNvPr>
          <p:cNvSpPr>
            <a:spLocks noGrp="1"/>
          </p:cNvSpPr>
          <p:nvPr/>
        </p:nvSpPr>
        <p:spPr>
          <a:xfrm>
            <a:off x="558800" y="4762500"/>
            <a:ext cx="5080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/>
            <a:r>
              <a:rPr lang="en-US" sz="1600" b="0" dirty="0">
                <a:solidFill>
                  <a:srgbClr val="4A4170"/>
                </a:solidFill>
                <a:latin typeface="Arial"/>
                <a:ea typeface="Arial"/>
                <a:cs typeface="Arial"/>
              </a:rPr>
              <a:t>Wells et al., Thromb Haemost 2000;83:416–20.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A8CD6-87FD-000B-FEA2-C61115CE1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99" y="1249748"/>
            <a:ext cx="5740513" cy="2571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7D6598-604C-D368-AB08-811DBBC3D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385" y="2191192"/>
            <a:ext cx="3175000" cy="1206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0EF41E-D097-485F-23B9-CCB1546D78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500" y="1524000"/>
            <a:ext cx="1905000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56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28F76A9-2F35-4FC8-AB29-61FB0330BE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E464FF-546D-4E7D-8455-C432FED874EE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8939D8-9D47-4C64-A6D7-6842CF272BD8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/>
            <a:r>
              <a:rPr lang="en-US" sz="1100" b="1" dirty="0">
                <a:solidFill>
                  <a:srgbClr val="4A00E2"/>
                </a:solidFill>
                <a:latin typeface="Arial"/>
                <a:ea typeface="Arial"/>
                <a:cs typeface="Arial"/>
              </a:rPr>
              <a:t>ACT | MACHINE LEARNING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5BA2AB-6B38-49CF-9E54-16B59E80B338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/>
            <a:r>
              <a:rPr lang="en-US" sz="2400" b="1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Intermountain: bedside decision support in 1967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6604B-C1D2-4BE3-B0B0-B75619276875}"/>
              </a:ext>
            </a:extLst>
          </p:cNvPr>
          <p:cNvSpPr>
            <a:spLocks noGrp="1"/>
          </p:cNvSpPr>
          <p:nvPr/>
        </p:nvSpPr>
        <p:spPr>
          <a:xfrm>
            <a:off x="558800" y="1463218"/>
            <a:ext cx="3810000" cy="18039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E16BA4-F591-45C2-8991-3EA00873402E}"/>
              </a:ext>
            </a:extLst>
          </p:cNvPr>
          <p:cNvSpPr>
            <a:spLocks noGrp="1"/>
          </p:cNvSpPr>
          <p:nvPr/>
        </p:nvSpPr>
        <p:spPr>
          <a:xfrm>
            <a:off x="736600" y="1590218"/>
            <a:ext cx="3479800" cy="142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/>
            <a:r>
              <a:rPr lang="en-US" sz="160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At LDS Hospital, HELP captured coded clinical data into a shared patient record, applied modular medical logic, and returned patient-specific diagnoses, alerts, reminders, and treatment recommendations.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C63CBE-91A8-49F5-97F7-F973B86D9424}"/>
              </a:ext>
            </a:extLst>
          </p:cNvPr>
          <p:cNvSpPr>
            <a:spLocks noGrp="1"/>
          </p:cNvSpPr>
          <p:nvPr/>
        </p:nvSpPr>
        <p:spPr>
          <a:xfrm>
            <a:off x="558800" y="3347666"/>
            <a:ext cx="3810000" cy="88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/>
            <a: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Capturing data for machine learning was the original motivation for the EHR.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25A69E-3BB3-FA57-C61C-CD78569A3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44542"/>
            <a:ext cx="4064000" cy="1562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EA1C3CA-881E-1AA5-52BD-A98A0CD57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695542"/>
            <a:ext cx="4064000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21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38B72A0-325D-4BCD-BCE3-AAF4431A51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696F97-8A66-4215-9517-321B5FBA10B2}"/>
              </a:ext>
            </a:extLst>
          </p:cNvPr>
          <p:cNvSpPr>
            <a:spLocks noGrp="1"/>
          </p:cNvSpPr>
          <p:nvPr/>
        </p:nvSpPr>
        <p:spPr>
          <a:xfrm>
            <a:off x="355600" y="736600"/>
            <a:ext cx="50800" cy="3581400"/>
          </a:xfrm>
          <a:prstGeom prst="rect">
            <a:avLst/>
          </a:prstGeom>
          <a:solidFill>
            <a:srgbClr val="6C4FF6">
              <a:alpha val="10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72C13C-0024-4FC1-9729-E5512B8BA33F}"/>
              </a:ext>
            </a:extLst>
          </p:cNvPr>
          <p:cNvSpPr>
            <a:spLocks noGrp="1"/>
          </p:cNvSpPr>
          <p:nvPr/>
        </p:nvSpPr>
        <p:spPr>
          <a:xfrm>
            <a:off x="552450" y="317500"/>
            <a:ext cx="1905000" cy="1524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57150" tIns="38100" rIns="57150" bIns="38100" anchor="t" anchorCtr="0">
            <a:noAutofit/>
          </a:bodyPr>
          <a:lstStyle/>
          <a:p>
            <a:pPr algn="l">
              <a:defRPr sz="10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100" b="1">
                <a:solidFill>
                  <a:srgbClr val="6F63C5"/>
                </a:solidFill>
                <a:latin typeface="Arial"/>
                <a:ea typeface="Arial"/>
                <a:cs typeface="Arial"/>
              </a:rPr>
              <a:t>CLINICAL PREDICTION MODELS</a:t>
            </a:r>
            <a:endParaRPr sz="1100" b="1">
              <a:solidFill>
                <a:srgbClr val="6F63C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58BDEE-62EB-44FD-833E-06DFD7844175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787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57150" tIns="38100" rIns="57150" bIns="38100" anchor="t" anchorCtr="0">
            <a:noAutofit/>
          </a:bodyPr>
          <a:lstStyle/>
          <a:p>
            <a:pPr algn="l"/>
            <a:r>
              <a:rPr lang="en-US" sz="2400" b="1" dirty="0">
                <a:solidFill>
                  <a:srgbClr val="1F184F"/>
                </a:solidFill>
                <a:latin typeface="Arial"/>
                <a:ea typeface="Arial"/>
                <a:cs typeface="Arial"/>
              </a:rPr>
              <a:t>Statistical learning </a:t>
            </a:r>
            <a:r>
              <a:rPr lang="en-US" sz="2400" b="1" u="sng" dirty="0">
                <a:solidFill>
                  <a:srgbClr val="1F184F"/>
                </a:solidFill>
                <a:latin typeface="Arial"/>
                <a:ea typeface="Arial"/>
                <a:cs typeface="Arial"/>
              </a:rPr>
              <a:t>is</a:t>
            </a:r>
            <a:r>
              <a:rPr lang="en-US" sz="2400" b="1" dirty="0">
                <a:solidFill>
                  <a:srgbClr val="1F184F"/>
                </a:solidFill>
                <a:latin typeface="Arial"/>
                <a:ea typeface="Arial"/>
                <a:cs typeface="Arial"/>
              </a:rPr>
              <a:t> embedded in routine care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B08EAD1-FA59-7C44-AB1F-69188B2481E7}"/>
              </a:ext>
            </a:extLst>
          </p:cNvPr>
          <p:cNvSpPr/>
          <p:nvPr/>
        </p:nvSpPr>
        <p:spPr>
          <a:xfrm>
            <a:off x="558800" y="2489200"/>
            <a:ext cx="1905000" cy="1905000"/>
          </a:xfrm>
          <a:prstGeom prst="roundRect">
            <a:avLst/>
          </a:prstGeom>
          <a:solidFill>
            <a:srgbClr val="FCFBFF"/>
          </a:solidFill>
          <a:ln w="12700">
            <a:solidFill>
              <a:srgbClr val="D7CDF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5D85FC-7700-7942-BB20-5FF44B97B7DB}"/>
              </a:ext>
            </a:extLst>
          </p:cNvPr>
          <p:cNvSpPr txBox="1"/>
          <p:nvPr/>
        </p:nvSpPr>
        <p:spPr>
          <a:xfrm>
            <a:off x="552450" y="1066800"/>
            <a:ext cx="7874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rgbClr val="5A5470"/>
                </a:solidFill>
                <a:latin typeface="Arial"/>
                <a:cs typeface="Arial"/>
              </a:rPr>
              <a:t>Clinical tools convert observed features into estimates, categories, or action thresholds.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55A5F41-C1ED-E646-BA10-2B2C48EFCE75}"/>
              </a:ext>
            </a:extLst>
          </p:cNvPr>
          <p:cNvSpPr/>
          <p:nvPr/>
        </p:nvSpPr>
        <p:spPr>
          <a:xfrm>
            <a:off x="2654300" y="2489200"/>
            <a:ext cx="1905000" cy="1905000"/>
          </a:xfrm>
          <a:prstGeom prst="roundRect">
            <a:avLst/>
          </a:prstGeom>
          <a:solidFill>
            <a:srgbClr val="FCFBFF"/>
          </a:solidFill>
          <a:ln w="12700">
            <a:solidFill>
              <a:srgbClr val="D7CDF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89FC13-2455-5B4A-AE4F-ACFCDE3A0024}"/>
              </a:ext>
            </a:extLst>
          </p:cNvPr>
          <p:cNvSpPr txBox="1"/>
          <p:nvPr/>
        </p:nvSpPr>
        <p:spPr>
          <a:xfrm>
            <a:off x="685800" y="2656156"/>
            <a:ext cx="1651000" cy="152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343047"/>
                </a:solidFill>
                <a:latin typeface="Arial"/>
                <a:cs typeface="Arial"/>
              </a:rPr>
              <a:t>Findings + history</a:t>
            </a: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343047"/>
                </a:solidFill>
                <a:latin typeface="Arial"/>
                <a:cs typeface="Arial"/>
              </a:rPr>
              <a:t>→ weighted rule</a:t>
            </a: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343047"/>
                </a:solidFill>
                <a:latin typeface="Arial"/>
                <a:cs typeface="Arial"/>
              </a:rPr>
              <a:t>→ probability estimate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03EF4B6-6BFA-7C4E-898C-D944287E7E82}"/>
              </a:ext>
            </a:extLst>
          </p:cNvPr>
          <p:cNvSpPr/>
          <p:nvPr/>
        </p:nvSpPr>
        <p:spPr>
          <a:xfrm>
            <a:off x="4749800" y="2489200"/>
            <a:ext cx="1905000" cy="1905000"/>
          </a:xfrm>
          <a:prstGeom prst="roundRect">
            <a:avLst/>
          </a:prstGeom>
          <a:solidFill>
            <a:srgbClr val="FCFBFF"/>
          </a:solidFill>
          <a:ln w="12700">
            <a:solidFill>
              <a:srgbClr val="D7CDF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2CB002-8A50-9F4F-A1A4-375FA8543A01}"/>
              </a:ext>
            </a:extLst>
          </p:cNvPr>
          <p:cNvSpPr txBox="1"/>
          <p:nvPr/>
        </p:nvSpPr>
        <p:spPr>
          <a:xfrm>
            <a:off x="2781300" y="2656156"/>
            <a:ext cx="1651000" cy="152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343047"/>
                </a:solidFill>
                <a:latin typeface="Arial"/>
                <a:cs typeface="Arial"/>
              </a:rPr>
              <a:t>Creatinine + demographics</a:t>
            </a: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343047"/>
                </a:solidFill>
                <a:latin typeface="Arial"/>
                <a:cs typeface="Arial"/>
              </a:rPr>
              <a:t>→ regression model</a:t>
            </a: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343047"/>
                </a:solidFill>
                <a:latin typeface="Arial"/>
                <a:cs typeface="Arial"/>
              </a:rPr>
              <a:t>→ kidney estimate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D6A436D-2EAB-E944-9E38-39919894F333}"/>
              </a:ext>
            </a:extLst>
          </p:cNvPr>
          <p:cNvSpPr/>
          <p:nvPr/>
        </p:nvSpPr>
        <p:spPr>
          <a:xfrm>
            <a:off x="6845300" y="2489200"/>
            <a:ext cx="1905000" cy="1905000"/>
          </a:xfrm>
          <a:prstGeom prst="roundRect">
            <a:avLst/>
          </a:prstGeom>
          <a:solidFill>
            <a:srgbClr val="FCFBFF"/>
          </a:solidFill>
          <a:ln w="12700">
            <a:solidFill>
              <a:srgbClr val="D7CDF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938AD1-D86C-5D4D-B6D7-ECE9CC34D1F2}"/>
              </a:ext>
            </a:extLst>
          </p:cNvPr>
          <p:cNvSpPr txBox="1"/>
          <p:nvPr/>
        </p:nvSpPr>
        <p:spPr>
          <a:xfrm>
            <a:off x="4876800" y="2656156"/>
            <a:ext cx="1651000" cy="152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343047"/>
                </a:solidFill>
                <a:latin typeface="Arial"/>
                <a:cs typeface="Arial"/>
              </a:rPr>
              <a:t>Observed signs</a:t>
            </a: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343047"/>
                </a:solidFill>
                <a:latin typeface="Arial"/>
                <a:cs typeface="Arial"/>
              </a:rPr>
              <a:t>→ composite score</a:t>
            </a: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343047"/>
                </a:solidFill>
                <a:latin typeface="Arial"/>
                <a:cs typeface="Arial"/>
              </a:rPr>
              <a:t>→ transition status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F09130-32C5-7F4C-9B82-D4A25BCDFB96}"/>
              </a:ext>
            </a:extLst>
          </p:cNvPr>
          <p:cNvSpPr txBox="1"/>
          <p:nvPr/>
        </p:nvSpPr>
        <p:spPr>
          <a:xfrm>
            <a:off x="6972300" y="2656156"/>
            <a:ext cx="1651000" cy="152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343047"/>
                </a:solidFill>
                <a:latin typeface="Arial"/>
                <a:cs typeface="Arial"/>
              </a:rPr>
              <a:t>Risk factors + labels</a:t>
            </a: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343047"/>
                </a:solidFill>
                <a:latin typeface="Arial"/>
                <a:cs typeface="Arial"/>
              </a:rPr>
              <a:t>→ cohort model</a:t>
            </a: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343047"/>
                </a:solidFill>
                <a:latin typeface="Arial"/>
                <a:cs typeface="Arial"/>
              </a:rPr>
              <a:t>→ treatment threshold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EF16732-AEC5-2C4F-B818-F8400E6AA24C}"/>
              </a:ext>
            </a:extLst>
          </p:cNvPr>
          <p:cNvSpPr/>
          <p:nvPr/>
        </p:nvSpPr>
        <p:spPr>
          <a:xfrm>
            <a:off x="558800" y="1905000"/>
            <a:ext cx="1905000" cy="508000"/>
          </a:xfrm>
          <a:prstGeom prst="roundRect">
            <a:avLst/>
          </a:prstGeom>
          <a:solidFill>
            <a:srgbClr val="4B35B4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Wells score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2EEF658-C505-8040-BE92-BD6AA25A8B93}"/>
              </a:ext>
            </a:extLst>
          </p:cNvPr>
          <p:cNvSpPr/>
          <p:nvPr/>
        </p:nvSpPr>
        <p:spPr>
          <a:xfrm>
            <a:off x="2654300" y="1905000"/>
            <a:ext cx="1905000" cy="508000"/>
          </a:xfrm>
          <a:prstGeom prst="roundRect">
            <a:avLst/>
          </a:prstGeom>
          <a:solidFill>
            <a:srgbClr val="4B35B4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eGFR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2C984C5-E904-2040-BB51-C06917727F24}"/>
              </a:ext>
            </a:extLst>
          </p:cNvPr>
          <p:cNvSpPr/>
          <p:nvPr/>
        </p:nvSpPr>
        <p:spPr>
          <a:xfrm>
            <a:off x="4749800" y="1905000"/>
            <a:ext cx="1905000" cy="508000"/>
          </a:xfrm>
          <a:prstGeom prst="roundRect">
            <a:avLst/>
          </a:prstGeom>
          <a:solidFill>
            <a:srgbClr val="4B35B4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Apgar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1212893-A7C7-8342-AF5D-2AC625C56E9B}"/>
              </a:ext>
            </a:extLst>
          </p:cNvPr>
          <p:cNvSpPr/>
          <p:nvPr/>
        </p:nvSpPr>
        <p:spPr>
          <a:xfrm>
            <a:off x="6845300" y="1905000"/>
            <a:ext cx="1905000" cy="508000"/>
          </a:xfrm>
          <a:prstGeom prst="roundRect">
            <a:avLst/>
          </a:prstGeom>
          <a:solidFill>
            <a:srgbClr val="4B35B4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Framingham risk</a:t>
            </a:r>
          </a:p>
        </p:txBody>
      </p:sp>
    </p:spTree>
    <p:extLst>
      <p:ext uri="{BB962C8B-B14F-4D97-AF65-F5344CB8AC3E}">
        <p14:creationId xmlns:p14="http://schemas.microsoft.com/office/powerpoint/2010/main" val="2395559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ail">
            <a:extLst>
              <a:ext uri="{FF2B5EF4-FFF2-40B4-BE49-F238E27FC236}">
                <a16:creationId xmlns:a16="http://schemas.microsoft.com/office/drawing/2014/main" id="{00FB05FA-38B8-8D43-96A7-F83E2FACA2EF}"/>
              </a:ext>
            </a:extLst>
          </p:cNvPr>
          <p:cNvSpPr/>
          <p:nvPr/>
        </p:nvSpPr>
        <p:spPr>
          <a:xfrm>
            <a:off x="368300" y="736600"/>
            <a:ext cx="63500" cy="3644900"/>
          </a:xfrm>
          <a:prstGeom prst="rect">
            <a:avLst/>
          </a:prstGeom>
          <a:solidFill>
            <a:srgbClr val="4A00E2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kicker">
            <a:extLst>
              <a:ext uri="{FF2B5EF4-FFF2-40B4-BE49-F238E27FC236}">
                <a16:creationId xmlns:a16="http://schemas.microsoft.com/office/drawing/2014/main" id="{8976F8E0-7F0E-8D4B-BEBD-5EC59B84432B}"/>
              </a:ext>
            </a:extLst>
          </p:cNvPr>
          <p:cNvSpPr txBox="1"/>
          <p:nvPr/>
        </p:nvSpPr>
        <p:spPr>
          <a:xfrm>
            <a:off x="609600" y="304800"/>
            <a:ext cx="508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00E2"/>
                </a:solidFill>
                <a:latin typeface="Arial"/>
                <a:cs typeface="Arial"/>
              </a:rPr>
              <a:t>RECAP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7208EB9E-3960-9F49-8A76-DF14C6799139}"/>
              </a:ext>
            </a:extLst>
          </p:cNvPr>
          <p:cNvSpPr txBox="1"/>
          <p:nvPr/>
        </p:nvSpPr>
        <p:spPr>
          <a:xfrm>
            <a:off x="609600" y="508000"/>
            <a:ext cx="8128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0057"/>
                </a:solidFill>
                <a:latin typeface="Arial"/>
                <a:cs typeface="Arial"/>
              </a:rPr>
              <a:t>Machine learning for clinical decisions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7860F8E-D69F-B64B-92F3-B98E782FAF9D}"/>
              </a:ext>
            </a:extLst>
          </p:cNvPr>
          <p:cNvSpPr/>
          <p:nvPr/>
        </p:nvSpPr>
        <p:spPr>
          <a:xfrm>
            <a:off x="635000" y="1524000"/>
            <a:ext cx="2413000" cy="1651000"/>
          </a:xfrm>
          <a:prstGeom prst="roundRect">
            <a:avLst/>
          </a:prstGeom>
          <a:solidFill>
            <a:srgbClr val="F4F1FF"/>
          </a:solidFill>
          <a:ln w="12700">
            <a:solidFill>
              <a:srgbClr val="E2DA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37B9ED-33CD-464F-963B-714C415C03FE}"/>
              </a:ext>
            </a:extLst>
          </p:cNvPr>
          <p:cNvSpPr txBox="1"/>
          <p:nvPr/>
        </p:nvSpPr>
        <p:spPr>
          <a:xfrm>
            <a:off x="812800" y="1701800"/>
            <a:ext cx="20574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0057"/>
                </a:solidFill>
                <a:latin typeface="Arial"/>
                <a:cs typeface="Arial"/>
              </a:rPr>
              <a:t>ML learns patterns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B99472-47AB-274C-AAB6-E43195E51D91}"/>
              </a:ext>
            </a:extLst>
          </p:cNvPr>
          <p:cNvSpPr txBox="1"/>
          <p:nvPr/>
        </p:nvSpPr>
        <p:spPr>
          <a:xfrm>
            <a:off x="812800" y="2184400"/>
            <a:ext cx="2057400" cy="73866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A2340"/>
                </a:solidFill>
                <a:latin typeface="Arial"/>
                <a:cs typeface="Arial"/>
              </a:rPr>
              <a:t>Machine learning finds mapping from predictors to an output.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FDD2C80-3F79-D94C-89C6-8B1F2775AD20}"/>
              </a:ext>
            </a:extLst>
          </p:cNvPr>
          <p:cNvSpPr/>
          <p:nvPr/>
        </p:nvSpPr>
        <p:spPr>
          <a:xfrm>
            <a:off x="3378200" y="1524000"/>
            <a:ext cx="2413000" cy="1651000"/>
          </a:xfrm>
          <a:prstGeom prst="roundRect">
            <a:avLst/>
          </a:prstGeom>
          <a:solidFill>
            <a:srgbClr val="F4F1FF"/>
          </a:solidFill>
          <a:ln w="12700">
            <a:solidFill>
              <a:srgbClr val="E2DA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8CB2A0-D90E-9844-95AF-3687C129E2EE}"/>
              </a:ext>
            </a:extLst>
          </p:cNvPr>
          <p:cNvSpPr txBox="1"/>
          <p:nvPr/>
        </p:nvSpPr>
        <p:spPr>
          <a:xfrm>
            <a:off x="3556000" y="1701800"/>
            <a:ext cx="20574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0057"/>
                </a:solidFill>
                <a:latin typeface="Arial"/>
                <a:cs typeface="Arial"/>
              </a:rPr>
              <a:t>Good ML is embedded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98A26D-755B-834A-8C6B-41927EB09CEF}"/>
              </a:ext>
            </a:extLst>
          </p:cNvPr>
          <p:cNvSpPr txBox="1"/>
          <p:nvPr/>
        </p:nvSpPr>
        <p:spPr>
          <a:xfrm>
            <a:off x="3556000" y="2184400"/>
            <a:ext cx="2057400" cy="52322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A2340"/>
                </a:solidFill>
                <a:latin typeface="Arial"/>
                <a:cs typeface="Arial"/>
              </a:rPr>
              <a:t>It quietly underlies much of usual practice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4FC747E-7937-AE4A-97AD-F98DA4C0084B}"/>
              </a:ext>
            </a:extLst>
          </p:cNvPr>
          <p:cNvSpPr/>
          <p:nvPr/>
        </p:nvSpPr>
        <p:spPr>
          <a:xfrm>
            <a:off x="6121400" y="1524000"/>
            <a:ext cx="2413000" cy="1651000"/>
          </a:xfrm>
          <a:prstGeom prst="roundRect">
            <a:avLst/>
          </a:prstGeom>
          <a:solidFill>
            <a:srgbClr val="F4F1FF"/>
          </a:solidFill>
          <a:ln w="12700">
            <a:solidFill>
              <a:srgbClr val="E2DA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A646AB-2B25-024E-ABBF-9A9D74A01C36}"/>
              </a:ext>
            </a:extLst>
          </p:cNvPr>
          <p:cNvSpPr txBox="1"/>
          <p:nvPr/>
        </p:nvSpPr>
        <p:spPr>
          <a:xfrm>
            <a:off x="6299200" y="1701800"/>
            <a:ext cx="20574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0057"/>
                </a:solidFill>
                <a:latin typeface="Arial"/>
                <a:cs typeface="Arial"/>
              </a:rPr>
              <a:t>It already has impact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28C286-40A1-4640-AD21-DA9FCB8E7AD4}"/>
              </a:ext>
            </a:extLst>
          </p:cNvPr>
          <p:cNvSpPr txBox="1"/>
          <p:nvPr/>
        </p:nvSpPr>
        <p:spPr>
          <a:xfrm>
            <a:off x="6299200" y="2184400"/>
            <a:ext cx="2057400" cy="73866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A2340"/>
                </a:solidFill>
                <a:latin typeface="Arial"/>
                <a:cs typeface="Arial"/>
              </a:rPr>
              <a:t>Though perhaps not as much as it could (should)</a:t>
            </a:r>
          </a:p>
        </p:txBody>
      </p:sp>
      <p:sp>
        <p:nvSpPr>
          <p:cNvPr id="15" name="pivot band">
            <a:extLst>
              <a:ext uri="{FF2B5EF4-FFF2-40B4-BE49-F238E27FC236}">
                <a16:creationId xmlns:a16="http://schemas.microsoft.com/office/drawing/2014/main" id="{54CAD0F7-8661-8F4E-A3C1-794B3EFB6296}"/>
              </a:ext>
            </a:extLst>
          </p:cNvPr>
          <p:cNvSpPr/>
          <p:nvPr/>
        </p:nvSpPr>
        <p:spPr>
          <a:xfrm>
            <a:off x="635000" y="3454400"/>
            <a:ext cx="7899400" cy="787400"/>
          </a:xfrm>
          <a:prstGeom prst="roundRect">
            <a:avLst/>
          </a:prstGeom>
          <a:solidFill>
            <a:srgbClr val="11005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pivot text">
            <a:extLst>
              <a:ext uri="{FF2B5EF4-FFF2-40B4-BE49-F238E27FC236}">
                <a16:creationId xmlns:a16="http://schemas.microsoft.com/office/drawing/2014/main" id="{B642ADB6-C813-C44D-B975-91C83A6A84B3}"/>
              </a:ext>
            </a:extLst>
          </p:cNvPr>
          <p:cNvSpPr txBox="1"/>
          <p:nvPr/>
        </p:nvSpPr>
        <p:spPr>
          <a:xfrm>
            <a:off x="939800" y="3706912"/>
            <a:ext cx="7289800" cy="30777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ML can be used for things other than clinical decision support. </a:t>
            </a:r>
          </a:p>
        </p:txBody>
      </p:sp>
    </p:spTree>
    <p:extLst>
      <p:ext uri="{BB962C8B-B14F-4D97-AF65-F5344CB8AC3E}">
        <p14:creationId xmlns:p14="http://schemas.microsoft.com/office/powerpoint/2010/main" val="2697975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38B72A0-325D-4BCD-BCE3-AAF4431A51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696F97-8A66-4215-9517-321B5FBA10B2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89890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72C13C-0024-4FC1-9729-E5512B8BA33F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0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PRAGMATIC NOSOLOGY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58BDEE-62EB-44FD-833E-06DFD7844175}"/>
              </a:ext>
            </a:extLst>
          </p:cNvPr>
          <p:cNvSpPr>
            <a:spLocks noGrp="1"/>
          </p:cNvSpPr>
          <p:nvPr/>
        </p:nvSpPr>
        <p:spPr>
          <a:xfrm>
            <a:off x="548640" y="493776"/>
            <a:ext cx="8046720" cy="6400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/>
            <a:r>
              <a:rPr lang="en-US" sz="2400" b="1" dirty="0">
                <a:solidFill>
                  <a:srgbClr val="110057"/>
                </a:solidFill>
                <a:latin typeface="Arial"/>
                <a:cs typeface="Arial"/>
              </a:rPr>
              <a:t>Prediction for </a:t>
            </a:r>
            <a:r>
              <a:rPr sz="2400" b="1" dirty="0">
                <a:solidFill>
                  <a:srgbClr val="110057"/>
                </a:solidFill>
                <a:latin typeface="Arial"/>
                <a:cs typeface="Arial"/>
              </a:rPr>
              <a:t>Condition 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1152134"/>
            <a:ext cx="745236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0" dirty="0">
                <a:solidFill>
                  <a:srgbClr val="4C487A"/>
                </a:solidFill>
                <a:latin typeface="Arial"/>
                <a:cs typeface="Arial"/>
              </a:rPr>
              <a:t>Classification draws useful boundaries around </a:t>
            </a:r>
            <a:r>
              <a:rPr lang="en-US" sz="1600" b="0" dirty="0">
                <a:solidFill>
                  <a:srgbClr val="4C487A"/>
                </a:solidFill>
                <a:latin typeface="Arial"/>
                <a:cs typeface="Arial"/>
              </a:rPr>
              <a:t>physiology… pragmatic constructs</a:t>
            </a:r>
            <a:endParaRPr sz="1600" b="0" dirty="0">
              <a:solidFill>
                <a:srgbClr val="4C487A"/>
              </a:solidFill>
              <a:latin typeface="Arial"/>
              <a:cs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13232" y="1778000"/>
            <a:ext cx="2212848" cy="1676400"/>
          </a:xfrm>
          <a:prstGeom prst="roundRect">
            <a:avLst/>
          </a:prstGeom>
          <a:solidFill>
            <a:srgbClr val="F8F9FC"/>
          </a:solidFill>
          <a:ln w="9525">
            <a:solidFill>
              <a:srgbClr val="D8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rtlCol="0" anchor="ctr" anchorCtr="0"/>
          <a:lstStyle/>
          <a:p>
            <a:pPr algn="l"/>
            <a:r>
              <a:rPr sz="1600" b="1" dirty="0">
                <a:solidFill>
                  <a:srgbClr val="4A00E2"/>
                </a:solidFill>
                <a:latin typeface="Arial"/>
                <a:cs typeface="Arial"/>
              </a:rPr>
              <a:t>Explain the present</a:t>
            </a:r>
          </a:p>
          <a:p>
            <a:pPr algn="l">
              <a:spcBef>
                <a:spcPts val="350"/>
              </a:spcBef>
            </a:pPr>
            <a:r>
              <a:rPr sz="1600" b="0" dirty="0">
                <a:solidFill>
                  <a:srgbClr val="110057"/>
                </a:solidFill>
                <a:latin typeface="Arial"/>
                <a:cs typeface="Arial"/>
              </a:rPr>
              <a:t>Make symptoms, signs, or </a:t>
            </a:r>
            <a:r>
              <a:rPr sz="1600" b="1" dirty="0">
                <a:solidFill>
                  <a:srgbClr val="110057"/>
                </a:solidFill>
                <a:latin typeface="Arial"/>
                <a:cs typeface="Arial"/>
              </a:rPr>
              <a:t>abnormal</a:t>
            </a:r>
            <a:r>
              <a:rPr sz="1600" b="0" dirty="0">
                <a:solidFill>
                  <a:srgbClr val="110057"/>
                </a:solidFill>
                <a:latin typeface="Arial"/>
                <a:cs typeface="Arial"/>
              </a:rPr>
              <a:t> findings cohere.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1778000"/>
            <a:ext cx="2212848" cy="1676400"/>
          </a:xfrm>
          <a:prstGeom prst="roundRect">
            <a:avLst/>
          </a:prstGeom>
          <a:solidFill>
            <a:srgbClr val="F0EAFF"/>
          </a:solidFill>
          <a:ln w="9525">
            <a:solidFill>
              <a:srgbClr val="D8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rtlCol="0" anchor="ctr" anchorCtr="0"/>
          <a:lstStyle/>
          <a:p>
            <a:pPr algn="l"/>
            <a:r>
              <a:rPr sz="1600" b="1">
                <a:solidFill>
                  <a:srgbClr val="4A00E2"/>
                </a:solidFill>
                <a:latin typeface="Arial"/>
                <a:cs typeface="Arial"/>
              </a:rPr>
              <a:t>Predict the future</a:t>
            </a:r>
          </a:p>
          <a:p>
            <a:pPr algn="l">
              <a:spcBef>
                <a:spcPts val="350"/>
              </a:spcBef>
            </a:pPr>
            <a:r>
              <a:rPr sz="1600" b="0">
                <a:solidFill>
                  <a:srgbClr val="110057"/>
                </a:solidFill>
                <a:latin typeface="Arial"/>
                <a:cs typeface="Arial"/>
              </a:rPr>
              <a:t>Estimate risk of clinically important outcomes.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79008" y="1778000"/>
            <a:ext cx="2212848" cy="1676400"/>
          </a:xfrm>
          <a:prstGeom prst="roundRect">
            <a:avLst/>
          </a:prstGeom>
          <a:solidFill>
            <a:srgbClr val="F8F9FC"/>
          </a:solidFill>
          <a:ln w="9525">
            <a:solidFill>
              <a:srgbClr val="D8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rtlCol="0" anchor="ctr" anchorCtr="0"/>
          <a:lstStyle/>
          <a:p>
            <a:pPr algn="l"/>
            <a:r>
              <a:rPr sz="1600" b="1">
                <a:solidFill>
                  <a:srgbClr val="4A00E2"/>
                </a:solidFill>
                <a:latin typeface="Arial"/>
                <a:cs typeface="Arial"/>
              </a:rPr>
              <a:t>Guide action</a:t>
            </a:r>
          </a:p>
          <a:p>
            <a:pPr algn="l">
              <a:spcBef>
                <a:spcPts val="350"/>
              </a:spcBef>
            </a:pPr>
            <a:r>
              <a:rPr sz="1600" b="0">
                <a:solidFill>
                  <a:srgbClr val="110057"/>
                </a:solidFill>
                <a:latin typeface="Arial"/>
                <a:cs typeface="Arial"/>
              </a:rPr>
              <a:t>Identify who benefits enough to treat, monitor, or route.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1200" y="3708400"/>
            <a:ext cx="7277100" cy="939800"/>
          </a:xfrm>
          <a:prstGeom prst="roundRect">
            <a:avLst/>
          </a:prstGeom>
          <a:solidFill>
            <a:srgbClr val="F0EAFF"/>
          </a:solidFill>
          <a:ln w="9525">
            <a:solidFill>
              <a:srgbClr val="D8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rtlCol="0" anchor="ctr" anchorCtr="0"/>
          <a:lstStyle/>
          <a:p>
            <a:pPr algn="l"/>
            <a:r>
              <a:rPr sz="1600" b="1" dirty="0">
                <a:solidFill>
                  <a:srgbClr val="4A00E2"/>
                </a:solidFill>
                <a:latin typeface="Arial"/>
                <a:cs typeface="Arial"/>
              </a:rPr>
              <a:t>Disease categories are tools, not natural kinds</a:t>
            </a:r>
            <a:r>
              <a:rPr lang="en-US" sz="1600" b="1" dirty="0">
                <a:solidFill>
                  <a:srgbClr val="4A00E2"/>
                </a:solidFill>
                <a:latin typeface="Arial"/>
                <a:cs typeface="Arial"/>
              </a:rPr>
              <a:t> (usually)</a:t>
            </a:r>
            <a:r>
              <a:rPr sz="1600" b="1" dirty="0">
                <a:solidFill>
                  <a:srgbClr val="4A00E2"/>
                </a:solidFill>
                <a:latin typeface="Arial"/>
                <a:cs typeface="Arial"/>
              </a:rPr>
              <a:t>.</a:t>
            </a:r>
          </a:p>
          <a:p>
            <a:pPr algn="l">
              <a:spcBef>
                <a:spcPts val="250"/>
              </a:spcBef>
            </a:pPr>
            <a:r>
              <a:rPr sz="1600" b="0" dirty="0">
                <a:solidFill>
                  <a:srgbClr val="110057"/>
                </a:solidFill>
                <a:latin typeface="Arial"/>
                <a:cs typeface="Arial"/>
              </a:rPr>
              <a:t>Boundaries are drawn across continuous physiology when the grouping helps describe, predict, or guide action.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55464"/>
            <a:ext cx="7680960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en-US" sz="1100" b="0" dirty="0">
                <a:solidFill>
                  <a:srgbClr val="4C487A"/>
                </a:solidFill>
                <a:latin typeface="Aptos"/>
              </a:rPr>
              <a:t>Stegenga 2018; Doust et al., JAMA Intern Med 2017; Ranieri et al., AJRCCM 2022; Carrell et al., JAMIA 2025</a:t>
            </a:r>
          </a:p>
        </p:txBody>
      </p:sp>
    </p:spTree>
    <p:extLst>
      <p:ext uri="{BB962C8B-B14F-4D97-AF65-F5344CB8AC3E}">
        <p14:creationId xmlns:p14="http://schemas.microsoft.com/office/powerpoint/2010/main" val="3207857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3F2086-5B2A-9E49-8239-BC4897DF5113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E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EDE236-FF1F-EB46-95CB-3B1D0645CCD8}"/>
              </a:ext>
            </a:extLst>
          </p:cNvPr>
          <p:cNvSpPr/>
          <p:nvPr/>
        </p:nvSpPr>
        <p:spPr>
          <a:xfrm>
            <a:off x="361950" y="742950"/>
            <a:ext cx="57150" cy="3619500"/>
          </a:xfrm>
          <a:prstGeom prst="rect">
            <a:avLst/>
          </a:prstGeom>
          <a:solidFill>
            <a:srgbClr val="5A21F0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549EE6-4C7B-D443-983F-8FAE659FA9E6}"/>
              </a:ext>
            </a:extLst>
          </p:cNvPr>
          <p:cNvSpPr txBox="1"/>
          <p:nvPr/>
        </p:nvSpPr>
        <p:spPr>
          <a:xfrm>
            <a:off x="609600" y="304800"/>
            <a:ext cx="228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4A00E2"/>
                </a:solidFill>
                <a:latin typeface="Arial"/>
                <a:cs typeface="Arial"/>
              </a:rPr>
              <a:t>LABEL 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D97E9F-A693-FF47-ABFF-ED03C4D87C2A}"/>
              </a:ext>
            </a:extLst>
          </p:cNvPr>
          <p:cNvSpPr txBox="1"/>
          <p:nvPr/>
        </p:nvSpPr>
        <p:spPr>
          <a:xfrm>
            <a:off x="609600" y="495300"/>
            <a:ext cx="774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110057"/>
                </a:solidFill>
                <a:latin typeface="Arial"/>
                <a:cs typeface="Arial"/>
              </a:rPr>
              <a:t>Cutpoints and risk thresholds serve different purposes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8AF407-318C-744F-A0B8-F8F2A5F7CD4F}"/>
              </a:ext>
            </a:extLst>
          </p:cNvPr>
          <p:cNvSpPr txBox="1"/>
          <p:nvPr/>
        </p:nvSpPr>
        <p:spPr>
          <a:xfrm>
            <a:off x="609600" y="1168400"/>
            <a:ext cx="762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2B2457"/>
                </a:solidFill>
                <a:latin typeface="Arial"/>
                <a:cs typeface="Arial"/>
              </a:rPr>
              <a:t>Use abnormality labels to describe observed state; use risk labels to justify action.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6566FD-1072-1B47-878B-D2FFF3A6D83E}"/>
              </a:ext>
            </a:extLst>
          </p:cNvPr>
          <p:cNvSpPr/>
          <p:nvPr/>
        </p:nvSpPr>
        <p:spPr>
          <a:xfrm>
            <a:off x="1879600" y="1778000"/>
            <a:ext cx="3022600" cy="1066800"/>
          </a:xfrm>
          <a:prstGeom prst="rect">
            <a:avLst/>
          </a:prstGeom>
          <a:solidFill>
            <a:srgbClr val="EFEA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13D224-7F31-8245-B53D-A18AD3083810}"/>
              </a:ext>
            </a:extLst>
          </p:cNvPr>
          <p:cNvSpPr/>
          <p:nvPr/>
        </p:nvSpPr>
        <p:spPr>
          <a:xfrm>
            <a:off x="5105400" y="1778000"/>
            <a:ext cx="3022600" cy="1066800"/>
          </a:xfrm>
          <a:prstGeom prst="rect">
            <a:avLst/>
          </a:prstGeom>
          <a:solidFill>
            <a:srgbClr val="EAF6F6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FA282D-896A-704F-BCFD-A5AC25DA9566}"/>
              </a:ext>
            </a:extLst>
          </p:cNvPr>
          <p:cNvSpPr txBox="1"/>
          <p:nvPr/>
        </p:nvSpPr>
        <p:spPr>
          <a:xfrm>
            <a:off x="2082800" y="1879600"/>
            <a:ext cx="27178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5A21F0"/>
                </a:solidFill>
                <a:latin typeface="Arial"/>
                <a:cs typeface="Arial"/>
              </a:rPr>
              <a:t>Abnormality label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4FEA4D-222F-DD47-9316-D2FD740D9882}"/>
              </a:ext>
            </a:extLst>
          </p:cNvPr>
          <p:cNvSpPr txBox="1"/>
          <p:nvPr/>
        </p:nvSpPr>
        <p:spPr>
          <a:xfrm>
            <a:off x="2082800" y="2159000"/>
            <a:ext cx="2717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3A3168"/>
                </a:solidFill>
                <a:latin typeface="Arial"/>
                <a:cs typeface="Arial"/>
              </a:rPr>
              <a:t>How far from a reference state?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902E48-335D-424D-AFB8-6F325CFF14BB}"/>
              </a:ext>
            </a:extLst>
          </p:cNvPr>
          <p:cNvSpPr txBox="1"/>
          <p:nvPr/>
        </p:nvSpPr>
        <p:spPr>
          <a:xfrm>
            <a:off x="5308600" y="1879600"/>
            <a:ext cx="27178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5A21F0"/>
                </a:solidFill>
                <a:latin typeface="Arial"/>
                <a:cs typeface="Arial"/>
              </a:rPr>
              <a:t>Risk / action label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CB118A-6278-E24F-A9FC-E76941927330}"/>
              </a:ext>
            </a:extLst>
          </p:cNvPr>
          <p:cNvSpPr txBox="1"/>
          <p:nvPr/>
        </p:nvSpPr>
        <p:spPr>
          <a:xfrm>
            <a:off x="5308600" y="2159000"/>
            <a:ext cx="2717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3A3168"/>
                </a:solidFill>
                <a:latin typeface="Arial"/>
                <a:cs typeface="Arial"/>
              </a:rPr>
              <a:t>When is action worth taking?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E8D36E-39FE-9C4C-9B8D-A7AC8F1C01A6}"/>
              </a:ext>
            </a:extLst>
          </p:cNvPr>
          <p:cNvSpPr/>
          <p:nvPr/>
        </p:nvSpPr>
        <p:spPr>
          <a:xfrm>
            <a:off x="914400" y="2946400"/>
            <a:ext cx="7112000" cy="15240"/>
          </a:xfrm>
          <a:prstGeom prst="rect">
            <a:avLst/>
          </a:prstGeom>
          <a:solidFill>
            <a:srgbClr val="D8D2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67E2F4-B3EF-5144-B781-FBBB6DFB22C8}"/>
              </a:ext>
            </a:extLst>
          </p:cNvPr>
          <p:cNvSpPr/>
          <p:nvPr/>
        </p:nvSpPr>
        <p:spPr>
          <a:xfrm>
            <a:off x="914400" y="3962400"/>
            <a:ext cx="7112000" cy="15240"/>
          </a:xfrm>
          <a:prstGeom prst="rect">
            <a:avLst/>
          </a:prstGeom>
          <a:solidFill>
            <a:srgbClr val="D8D2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026D89-C592-2A4F-9498-54CC7C384FA1}"/>
              </a:ext>
            </a:extLst>
          </p:cNvPr>
          <p:cNvSpPr/>
          <p:nvPr/>
        </p:nvSpPr>
        <p:spPr>
          <a:xfrm>
            <a:off x="4902200" y="2946400"/>
            <a:ext cx="15240" cy="1879600"/>
          </a:xfrm>
          <a:prstGeom prst="rect">
            <a:avLst/>
          </a:prstGeom>
          <a:solidFill>
            <a:srgbClr val="D8D2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178D2B-28E2-4F43-B983-A38E10BB7086}"/>
              </a:ext>
            </a:extLst>
          </p:cNvPr>
          <p:cNvSpPr txBox="1"/>
          <p:nvPr/>
        </p:nvSpPr>
        <p:spPr>
          <a:xfrm>
            <a:off x="914400" y="3175000"/>
            <a:ext cx="101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rgbClr val="5A21F0"/>
                </a:solidFill>
                <a:latin typeface="Arial"/>
                <a:cs typeface="Arial"/>
              </a:rPr>
              <a:t>HLD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33A017-A28A-8042-B6A7-CF2EDE2865BF}"/>
              </a:ext>
            </a:extLst>
          </p:cNvPr>
          <p:cNvSpPr txBox="1"/>
          <p:nvPr/>
        </p:nvSpPr>
        <p:spPr>
          <a:xfrm>
            <a:off x="2032000" y="3098800"/>
            <a:ext cx="2565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24135F"/>
                </a:solidFill>
                <a:latin typeface="Arial"/>
                <a:cs typeface="Arial"/>
              </a:rPr>
              <a:t>LDL-C above a </a:t>
            </a:r>
            <a:r>
              <a:rPr lang="en-US" sz="1600" dirty="0" err="1">
                <a:solidFill>
                  <a:srgbClr val="24135F"/>
                </a:solidFill>
                <a:latin typeface="Arial"/>
                <a:cs typeface="Arial"/>
              </a:rPr>
              <a:t>cutpoint</a:t>
            </a:r>
            <a:r>
              <a:rPr lang="en-US" sz="1600" dirty="0">
                <a:solidFill>
                  <a:srgbClr val="24135F"/>
                </a:solidFill>
                <a:latin typeface="Arial"/>
                <a:cs typeface="Arial"/>
              </a:rPr>
              <a:t> labels a lipid abnormality.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441872-EA75-E24C-A0EA-28977415475A}"/>
              </a:ext>
            </a:extLst>
          </p:cNvPr>
          <p:cNvSpPr txBox="1"/>
          <p:nvPr/>
        </p:nvSpPr>
        <p:spPr>
          <a:xfrm>
            <a:off x="5308600" y="3098800"/>
            <a:ext cx="2413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24135F"/>
                </a:solidFill>
                <a:latin typeface="Arial"/>
                <a:cs typeface="Arial"/>
              </a:rPr>
              <a:t>Ten-year ASCVD risk estimates likely benefit from statin treatment.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A1CDD6-F471-D249-BD56-0384530C8C71}"/>
              </a:ext>
            </a:extLst>
          </p:cNvPr>
          <p:cNvSpPr txBox="1"/>
          <p:nvPr/>
        </p:nvSpPr>
        <p:spPr>
          <a:xfrm>
            <a:off x="863600" y="4140200"/>
            <a:ext cx="11684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rgbClr val="5A21F0"/>
                </a:solidFill>
                <a:latin typeface="Arial"/>
                <a:cs typeface="Arial"/>
              </a:rPr>
              <a:t>Lung nodule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6ECB6B-1CB9-FD49-B0F4-72FA38540A2D}"/>
              </a:ext>
            </a:extLst>
          </p:cNvPr>
          <p:cNvSpPr txBox="1"/>
          <p:nvPr/>
        </p:nvSpPr>
        <p:spPr>
          <a:xfrm>
            <a:off x="2032000" y="4089400"/>
            <a:ext cx="2667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24135F"/>
                </a:solidFill>
                <a:latin typeface="Arial"/>
                <a:cs typeface="Arial"/>
              </a:rPr>
              <a:t>Size and morphology label an imaging abnormality.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F46212-1F16-FA49-9C33-0E4037AD4CD4}"/>
              </a:ext>
            </a:extLst>
          </p:cNvPr>
          <p:cNvSpPr txBox="1"/>
          <p:nvPr/>
        </p:nvSpPr>
        <p:spPr>
          <a:xfrm>
            <a:off x="5308600" y="4089400"/>
            <a:ext cx="27178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24135F"/>
                </a:solidFill>
                <a:latin typeface="Arial"/>
                <a:cs typeface="Arial"/>
              </a:rPr>
              <a:t>Estimated malignancy risk determines surveillance, PET, biopsy, or resection.</a:t>
            </a:r>
          </a:p>
        </p:txBody>
      </p:sp>
    </p:spTree>
    <p:extLst>
      <p:ext uri="{BB962C8B-B14F-4D97-AF65-F5344CB8AC3E}">
        <p14:creationId xmlns:p14="http://schemas.microsoft.com/office/powerpoint/2010/main" val="2300106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5BC9CB0-0F08-F84B-9551-86E3D6B8C296}"/>
              </a:ext>
            </a:extLst>
          </p:cNvPr>
          <p:cNvSpPr/>
          <p:nvPr/>
        </p:nvSpPr>
        <p:spPr>
          <a:xfrm>
            <a:off x="736600" y="1905000"/>
            <a:ext cx="3149600" cy="2159000"/>
          </a:xfrm>
          <a:prstGeom prst="roundRect">
            <a:avLst/>
          </a:prstGeom>
          <a:solidFill>
            <a:srgbClr val="F5F0FF"/>
          </a:solidFill>
          <a:ln w="12700">
            <a:solidFill>
              <a:srgbClr val="D8CDF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A0F180-8D16-0641-B0A3-408F12A76BEE}"/>
              </a:ext>
            </a:extLst>
          </p:cNvPr>
          <p:cNvSpPr txBox="1"/>
          <p:nvPr/>
        </p:nvSpPr>
        <p:spPr>
          <a:xfrm>
            <a:off x="914400" y="21844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3D2B78"/>
                </a:solidFill>
                <a:latin typeface="Arial"/>
                <a:cs typeface="Arial"/>
              </a:rPr>
              <a:t>LDL-C abnormality label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2F5F8B-E9C0-8D4F-8AD7-27B787400ABA}"/>
              </a:ext>
            </a:extLst>
          </p:cNvPr>
          <p:cNvSpPr txBox="1"/>
          <p:nvPr/>
        </p:nvSpPr>
        <p:spPr>
          <a:xfrm>
            <a:off x="914400" y="2717800"/>
            <a:ext cx="2794000" cy="736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2D2D2D"/>
                </a:solidFill>
                <a:latin typeface="Arial"/>
                <a:cs typeface="Arial"/>
              </a:rPr>
              <a:t>Classifies a measurement
Work: description</a:t>
            </a:r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29C52AC6-C091-C246-8589-2DF489426B3B}"/>
              </a:ext>
            </a:extLst>
          </p:cNvPr>
          <p:cNvSpPr/>
          <p:nvPr/>
        </p:nvSpPr>
        <p:spPr>
          <a:xfrm>
            <a:off x="4127500" y="2743200"/>
            <a:ext cx="914400" cy="482600"/>
          </a:xfrm>
          <a:prstGeom prst="rightArrow">
            <a:avLst/>
          </a:prstGeom>
          <a:solidFill>
            <a:srgbClr val="5E17EB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8FB0B69-668E-784E-9D3B-CB699FE9B747}"/>
              </a:ext>
            </a:extLst>
          </p:cNvPr>
          <p:cNvSpPr/>
          <p:nvPr/>
        </p:nvSpPr>
        <p:spPr>
          <a:xfrm>
            <a:off x="5283200" y="1905000"/>
            <a:ext cx="3530600" cy="2159000"/>
          </a:xfrm>
          <a:prstGeom prst="roundRect">
            <a:avLst/>
          </a:prstGeom>
          <a:solidFill>
            <a:srgbClr val="EEF9FC"/>
          </a:solidFill>
          <a:ln w="12700">
            <a:solidFill>
              <a:srgbClr val="CFE7E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C9501F-1E5F-EC4A-B0E4-A814065C8474}"/>
              </a:ext>
            </a:extLst>
          </p:cNvPr>
          <p:cNvSpPr txBox="1"/>
          <p:nvPr/>
        </p:nvSpPr>
        <p:spPr>
          <a:xfrm>
            <a:off x="5461000" y="21844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155E75"/>
                </a:solidFill>
                <a:latin typeface="Arial"/>
                <a:cs typeface="Arial"/>
              </a:rPr>
              <a:t>Statin-benefit action class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5E9303-0C1C-A94A-BA13-317A76BBAEE0}"/>
              </a:ext>
            </a:extLst>
          </p:cNvPr>
          <p:cNvSpPr txBox="1"/>
          <p:nvPr/>
        </p:nvSpPr>
        <p:spPr>
          <a:xfrm>
            <a:off x="5461000" y="2717800"/>
            <a:ext cx="3175000" cy="736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2D2D2D"/>
                </a:solidFill>
                <a:latin typeface="Arial"/>
                <a:cs typeface="Arial"/>
              </a:rPr>
              <a:t>Classifies expected benefit
Work: treatment threshold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1136DD-3A31-9949-9465-C46077758C31}"/>
              </a:ext>
            </a:extLst>
          </p:cNvPr>
          <p:cNvSpPr txBox="1"/>
          <p:nvPr/>
        </p:nvSpPr>
        <p:spPr>
          <a:xfrm>
            <a:off x="508000" y="4609676"/>
            <a:ext cx="8191500" cy="26161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100" dirty="0">
                <a:solidFill>
                  <a:srgbClr val="777777"/>
                </a:solidFill>
                <a:latin typeface="Arial"/>
                <a:cs typeface="Arial"/>
              </a:rPr>
              <a:t>Sources: ATP III; 2013 ACC/AHA cholesterol guideline; Pooled Cohort Equations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F114635-A6B1-6B40-8E47-02FF0189F2CF}"/>
              </a:ext>
            </a:extLst>
          </p:cNvPr>
          <p:cNvSpPr/>
          <p:nvPr/>
        </p:nvSpPr>
        <p:spPr>
          <a:xfrm>
            <a:off x="482600" y="330200"/>
            <a:ext cx="63500" cy="685800"/>
          </a:xfrm>
          <a:prstGeom prst="rect">
            <a:avLst/>
          </a:prstGeom>
          <a:solidFill>
            <a:srgbClr val="5E17EB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165957-52EE-8146-8B7D-E43E7DE035E6}"/>
              </a:ext>
            </a:extLst>
          </p:cNvPr>
          <p:cNvSpPr txBox="1"/>
          <p:nvPr/>
        </p:nvSpPr>
        <p:spPr>
          <a:xfrm>
            <a:off x="711200" y="279400"/>
            <a:ext cx="2286000" cy="26161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100" b="1">
                <a:solidFill>
                  <a:srgbClr val="4A00E2"/>
                </a:solidFill>
                <a:latin typeface="Arial"/>
                <a:cs typeface="Arial"/>
              </a:rPr>
              <a:t>GUIDELINE CASE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E1E3AD-7B34-794E-9397-5B31DDFAFC02}"/>
              </a:ext>
            </a:extLst>
          </p:cNvPr>
          <p:cNvSpPr txBox="1"/>
          <p:nvPr/>
        </p:nvSpPr>
        <p:spPr>
          <a:xfrm>
            <a:off x="711200" y="508000"/>
            <a:ext cx="8382000" cy="830997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10057"/>
                </a:solidFill>
                <a:latin typeface="Arial"/>
                <a:cs typeface="Arial"/>
              </a:rPr>
              <a:t>2013 ACC/AHA: used risk prediction to make cholesterol labels action-oriented</a:t>
            </a:r>
          </a:p>
        </p:txBody>
      </p:sp>
    </p:spTree>
    <p:extLst>
      <p:ext uri="{BB962C8B-B14F-4D97-AF65-F5344CB8AC3E}">
        <p14:creationId xmlns:p14="http://schemas.microsoft.com/office/powerpoint/2010/main" val="3278337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lean white background">
            <a:extLst>
              <a:ext uri="{FF2B5EF4-FFF2-40B4-BE49-F238E27FC236}">
                <a16:creationId xmlns:a16="http://schemas.microsoft.com/office/drawing/2014/main" id="{9B446110-8AF2-2644-B4B6-11275A28CF8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3" name="Left purple rail">
            <a:extLst>
              <a:ext uri="{FF2B5EF4-FFF2-40B4-BE49-F238E27FC236}">
                <a16:creationId xmlns:a16="http://schemas.microsoft.com/office/drawing/2014/main" id="{D2CA1A53-C6B6-B545-88F5-3E0B288B804D}"/>
              </a:ext>
            </a:extLst>
          </p:cNvPr>
          <p:cNvSpPr/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B00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4" name="Kicker">
            <a:extLst>
              <a:ext uri="{FF2B5EF4-FFF2-40B4-BE49-F238E27FC236}">
                <a16:creationId xmlns:a16="http://schemas.microsoft.com/office/drawing/2014/main" id="{74FFE5BD-0B66-BC49-90B5-7601F8C829A9}"/>
              </a:ext>
            </a:extLst>
          </p:cNvPr>
          <p:cNvSpPr txBox="1"/>
          <p:nvPr/>
        </p:nvSpPr>
        <p:spPr>
          <a:xfrm>
            <a:off x="609600" y="317500"/>
            <a:ext cx="27940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1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ACT | RISK-BASED</a:t>
            </a:r>
          </a:p>
        </p:txBody>
      </p:sp>
      <p:sp>
        <p:nvSpPr>
          <p:cNvPr id="105" name="Title">
            <a:extLst>
              <a:ext uri="{FF2B5EF4-FFF2-40B4-BE49-F238E27FC236}">
                <a16:creationId xmlns:a16="http://schemas.microsoft.com/office/drawing/2014/main" id="{592C27E6-4C52-EC41-91E4-68973DB7EFC9}"/>
              </a:ext>
            </a:extLst>
          </p:cNvPr>
          <p:cNvSpPr txBox="1"/>
          <p:nvPr/>
        </p:nvSpPr>
        <p:spPr>
          <a:xfrm>
            <a:off x="609600" y="533400"/>
            <a:ext cx="7747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Baseline risk is a ceiling on benefit</a:t>
            </a:r>
          </a:p>
        </p:txBody>
      </p:sp>
      <p:sp>
        <p:nvSpPr>
          <p:cNvPr id="106" name="Footer">
            <a:extLst>
              <a:ext uri="{FF2B5EF4-FFF2-40B4-BE49-F238E27FC236}">
                <a16:creationId xmlns:a16="http://schemas.microsoft.com/office/drawing/2014/main" id="{BDDF11C5-B101-F341-9221-D19A7C077F87}"/>
              </a:ext>
            </a:extLst>
          </p:cNvPr>
          <p:cNvSpPr txBox="1"/>
          <p:nvPr/>
        </p:nvSpPr>
        <p:spPr>
          <a:xfrm>
            <a:off x="609600" y="4927600"/>
            <a:ext cx="1397000" cy="127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750">
                <a:solidFill>
                  <a:srgbClr val="6B7280"/>
                </a:solidFill>
                <a:latin typeface="Arial"/>
                <a:ea typeface="Arial"/>
                <a:cs typeface="Arial"/>
              </a:rPr>
              <a:t>Kent 2023</a:t>
            </a:r>
          </a:p>
        </p:txBody>
      </p:sp>
      <p:sp>
        <p:nvSpPr>
          <p:cNvPr id="107" name="Caliper explanation">
            <a:extLst>
              <a:ext uri="{FF2B5EF4-FFF2-40B4-BE49-F238E27FC236}">
                <a16:creationId xmlns:a16="http://schemas.microsoft.com/office/drawing/2014/main" id="{D8A2C010-64DD-2B49-A9BE-35E0E7CB49D1}"/>
              </a:ext>
            </a:extLst>
          </p:cNvPr>
          <p:cNvSpPr txBox="1"/>
          <p:nvPr/>
        </p:nvSpPr>
        <p:spPr>
          <a:xfrm>
            <a:off x="2032000" y="1117600"/>
            <a:ext cx="2984500" cy="330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150" b="1">
                <a:solidFill>
                  <a:srgbClr val="170A5A"/>
                </a:solidFill>
                <a:latin typeface="Arial"/>
                <a:ea typeface="Arial"/>
                <a:cs typeface="Arial"/>
              </a:rPr>
              <a:t>Calipers mark the only group
that can possibly benefit</a:t>
            </a:r>
          </a:p>
        </p:txBody>
      </p:sp>
      <p:sp>
        <p:nvSpPr>
          <p:cNvPr id="108" name="Remaining label">
            <a:extLst>
              <a:ext uri="{FF2B5EF4-FFF2-40B4-BE49-F238E27FC236}">
                <a16:creationId xmlns:a16="http://schemas.microsoft.com/office/drawing/2014/main" id="{D4BFB158-DE8F-5E40-BEDF-E7BFECAEC680}"/>
              </a:ext>
            </a:extLst>
          </p:cNvPr>
          <p:cNvSpPr txBox="1"/>
          <p:nvPr/>
        </p:nvSpPr>
        <p:spPr>
          <a:xfrm>
            <a:off x="5461000" y="1117600"/>
            <a:ext cx="2921000" cy="330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150" b="1">
                <a:solidFill>
                  <a:srgbClr val="170A5A"/>
                </a:solidFill>
                <a:latin typeface="Arial"/>
                <a:ea typeface="Arial"/>
                <a:cs typeface="Arial"/>
              </a:rPr>
              <a:t>remaining patients would
never have the outcome</a:t>
            </a:r>
          </a:p>
        </p:txBody>
      </p:sp>
      <p:sp>
        <p:nvSpPr>
          <p:cNvPr id="109" name="High risk label">
            <a:extLst>
              <a:ext uri="{FF2B5EF4-FFF2-40B4-BE49-F238E27FC236}">
                <a16:creationId xmlns:a16="http://schemas.microsoft.com/office/drawing/2014/main" id="{1DA56589-69CB-B846-B853-F2DA6C070178}"/>
              </a:ext>
            </a:extLst>
          </p:cNvPr>
          <p:cNvSpPr txBox="1"/>
          <p:nvPr/>
        </p:nvSpPr>
        <p:spPr>
          <a:xfrm>
            <a:off x="609600" y="1549400"/>
            <a:ext cx="12192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00" b="1">
                <a:solidFill>
                  <a:srgbClr val="170A5A"/>
                </a:solidFill>
                <a:latin typeface="Arial"/>
                <a:ea typeface="Arial"/>
                <a:cs typeface="Arial"/>
              </a:rPr>
              <a:t>High risk</a:t>
            </a:r>
          </a:p>
        </p:txBody>
      </p:sp>
      <p:sp>
        <p:nvSpPr>
          <p:cNvPr id="110" name="High risk percent">
            <a:extLst>
              <a:ext uri="{FF2B5EF4-FFF2-40B4-BE49-F238E27FC236}">
                <a16:creationId xmlns:a16="http://schemas.microsoft.com/office/drawing/2014/main" id="{E155ADBB-77F0-794B-9652-8D126CE4F222}"/>
              </a:ext>
            </a:extLst>
          </p:cNvPr>
          <p:cNvSpPr txBox="1"/>
          <p:nvPr/>
        </p:nvSpPr>
        <p:spPr>
          <a:xfrm>
            <a:off x="609600" y="1790700"/>
            <a:ext cx="1219200" cy="177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3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~33%</a:t>
            </a:r>
          </a:p>
        </p:txBody>
      </p:sp>
      <p:sp>
        <p:nvSpPr>
          <p:cNvPr id="111" name="High risk caliper span">
            <a:extLst>
              <a:ext uri="{FF2B5EF4-FFF2-40B4-BE49-F238E27FC236}">
                <a16:creationId xmlns:a16="http://schemas.microsoft.com/office/drawing/2014/main" id="{4A24D146-4CF3-9740-8104-AF80EB6FBFE8}"/>
              </a:ext>
            </a:extLst>
          </p:cNvPr>
          <p:cNvSpPr/>
          <p:nvPr/>
        </p:nvSpPr>
        <p:spPr>
          <a:xfrm>
            <a:off x="2032000" y="1498600"/>
            <a:ext cx="1778000" cy="19050"/>
          </a:xfrm>
          <a:prstGeom prst="rect">
            <a:avLst/>
          </a:prstGeom>
          <a:solidFill>
            <a:srgbClr val="2B196E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2" name="High risk caliper left tick">
            <a:extLst>
              <a:ext uri="{FF2B5EF4-FFF2-40B4-BE49-F238E27FC236}">
                <a16:creationId xmlns:a16="http://schemas.microsoft.com/office/drawing/2014/main" id="{C39BC75F-B1E2-6844-86BA-0FEBFA8CFCEF}"/>
              </a:ext>
            </a:extLst>
          </p:cNvPr>
          <p:cNvSpPr/>
          <p:nvPr/>
        </p:nvSpPr>
        <p:spPr>
          <a:xfrm>
            <a:off x="2032000" y="1485900"/>
            <a:ext cx="19050" cy="114300"/>
          </a:xfrm>
          <a:prstGeom prst="rect">
            <a:avLst/>
          </a:prstGeom>
          <a:solidFill>
            <a:srgbClr val="2B196E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3" name="High risk caliper right tick">
            <a:extLst>
              <a:ext uri="{FF2B5EF4-FFF2-40B4-BE49-F238E27FC236}">
                <a16:creationId xmlns:a16="http://schemas.microsoft.com/office/drawing/2014/main" id="{5A5EAF51-0117-3541-9FC7-FA942C0A4BF6}"/>
              </a:ext>
            </a:extLst>
          </p:cNvPr>
          <p:cNvSpPr/>
          <p:nvPr/>
        </p:nvSpPr>
        <p:spPr>
          <a:xfrm>
            <a:off x="3790950" y="1485900"/>
            <a:ext cx="19050" cy="114300"/>
          </a:xfrm>
          <a:prstGeom prst="rect">
            <a:avLst/>
          </a:prstGeom>
          <a:solidFill>
            <a:srgbClr val="2B196E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4" name="High risk boundary percent">
            <a:extLst>
              <a:ext uri="{FF2B5EF4-FFF2-40B4-BE49-F238E27FC236}">
                <a16:creationId xmlns:a16="http://schemas.microsoft.com/office/drawing/2014/main" id="{1BAC59B4-6CC2-3F46-BB4E-BB2213676F9C}"/>
              </a:ext>
            </a:extLst>
          </p:cNvPr>
          <p:cNvSpPr txBox="1"/>
          <p:nvPr/>
        </p:nvSpPr>
        <p:spPr>
          <a:xfrm>
            <a:off x="3886200" y="1397000"/>
            <a:ext cx="533400" cy="127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2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~33</a:t>
            </a:r>
          </a:p>
        </p:txBody>
      </p:sp>
      <p:sp>
        <p:nvSpPr>
          <p:cNvPr id="115" name="High risk would get outcome">
            <a:extLst>
              <a:ext uri="{FF2B5EF4-FFF2-40B4-BE49-F238E27FC236}">
                <a16:creationId xmlns:a16="http://schemas.microsoft.com/office/drawing/2014/main" id="{A8BA4FAA-2E8D-B64F-8422-6719C2F5AA52}"/>
              </a:ext>
            </a:extLst>
          </p:cNvPr>
          <p:cNvSpPr/>
          <p:nvPr/>
        </p:nvSpPr>
        <p:spPr>
          <a:xfrm>
            <a:off x="2032000" y="1625600"/>
            <a:ext cx="1778000" cy="304800"/>
          </a:xfrm>
          <a:prstGeom prst="rect">
            <a:avLst/>
          </a:prstGeom>
          <a:solidFill>
            <a:srgbClr val="FF5A5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6" name="High risk would never">
            <a:extLst>
              <a:ext uri="{FF2B5EF4-FFF2-40B4-BE49-F238E27FC236}">
                <a16:creationId xmlns:a16="http://schemas.microsoft.com/office/drawing/2014/main" id="{1E2BB6EE-B4F7-0C4E-8011-0E12D5CC50FC}"/>
              </a:ext>
            </a:extLst>
          </p:cNvPr>
          <p:cNvSpPr/>
          <p:nvPr/>
        </p:nvSpPr>
        <p:spPr>
          <a:xfrm>
            <a:off x="3810000" y="1625600"/>
            <a:ext cx="3619500" cy="304800"/>
          </a:xfrm>
          <a:prstGeom prst="rect">
            <a:avLst/>
          </a:prstGeom>
          <a:solidFill>
            <a:srgbClr val="E7EDF2"/>
          </a:solidFill>
          <a:ln w="5080">
            <a:solidFill>
              <a:srgbClr val="D1D9E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7" name="High risk red segment label">
            <a:extLst>
              <a:ext uri="{FF2B5EF4-FFF2-40B4-BE49-F238E27FC236}">
                <a16:creationId xmlns:a16="http://schemas.microsoft.com/office/drawing/2014/main" id="{E6D3A55B-6ADC-9743-8024-4E4EFD903536}"/>
              </a:ext>
            </a:extLst>
          </p:cNvPr>
          <p:cNvSpPr txBox="1"/>
          <p:nvPr/>
        </p:nvSpPr>
        <p:spPr>
          <a:xfrm>
            <a:off x="2032000" y="1625600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would get
outcome</a:t>
            </a:r>
          </a:p>
        </p:txBody>
      </p:sp>
      <p:sp>
        <p:nvSpPr>
          <p:cNvPr id="118" name="High risk gray segment label">
            <a:extLst>
              <a:ext uri="{FF2B5EF4-FFF2-40B4-BE49-F238E27FC236}">
                <a16:creationId xmlns:a16="http://schemas.microsoft.com/office/drawing/2014/main" id="{4613BF10-3F88-9A43-824E-CB42039CCB32}"/>
              </a:ext>
            </a:extLst>
          </p:cNvPr>
          <p:cNvSpPr txBox="1"/>
          <p:nvPr/>
        </p:nvSpPr>
        <p:spPr>
          <a:xfrm>
            <a:off x="4000500" y="16256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ctr"/>
            <a:r>
              <a:rPr lang="en-US" sz="1100" b="1">
                <a:solidFill>
                  <a:srgbClr val="170A5A"/>
                </a:solidFill>
                <a:latin typeface="Arial"/>
                <a:ea typeface="Arial"/>
                <a:cs typeface="Arial"/>
              </a:rPr>
              <a:t>would never have outcome</a:t>
            </a:r>
          </a:p>
        </p:txBody>
      </p:sp>
      <p:sp>
        <p:nvSpPr>
          <p:cNvPr id="119" name="Medium risk label">
            <a:extLst>
              <a:ext uri="{FF2B5EF4-FFF2-40B4-BE49-F238E27FC236}">
                <a16:creationId xmlns:a16="http://schemas.microsoft.com/office/drawing/2014/main" id="{14137511-3976-F448-A6AE-8CB38F88D12C}"/>
              </a:ext>
            </a:extLst>
          </p:cNvPr>
          <p:cNvSpPr txBox="1"/>
          <p:nvPr/>
        </p:nvSpPr>
        <p:spPr>
          <a:xfrm>
            <a:off x="609600" y="2374900"/>
            <a:ext cx="12192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400" b="1" dirty="0">
                <a:solidFill>
                  <a:srgbClr val="1B0758"/>
                </a:solidFill>
                <a:latin typeface="Arial"/>
                <a:cs typeface="Arial"/>
              </a:rPr>
              <a:t>Medium risk</a:t>
            </a:r>
          </a:p>
        </p:txBody>
      </p:sp>
      <p:sp>
        <p:nvSpPr>
          <p:cNvPr id="120" name="Medium risk percent">
            <a:extLst>
              <a:ext uri="{FF2B5EF4-FFF2-40B4-BE49-F238E27FC236}">
                <a16:creationId xmlns:a16="http://schemas.microsoft.com/office/drawing/2014/main" id="{1615E9B8-920A-8F40-A7CA-B8CC35740754}"/>
              </a:ext>
            </a:extLst>
          </p:cNvPr>
          <p:cNvSpPr txBox="1"/>
          <p:nvPr/>
        </p:nvSpPr>
        <p:spPr>
          <a:xfrm>
            <a:off x="609600" y="2616200"/>
            <a:ext cx="1219200" cy="177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3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~15%</a:t>
            </a:r>
          </a:p>
        </p:txBody>
      </p:sp>
      <p:sp>
        <p:nvSpPr>
          <p:cNvPr id="121" name="Medium risk caliper span">
            <a:extLst>
              <a:ext uri="{FF2B5EF4-FFF2-40B4-BE49-F238E27FC236}">
                <a16:creationId xmlns:a16="http://schemas.microsoft.com/office/drawing/2014/main" id="{A3DF0B57-6EE5-EE42-ABEE-289A7AE03A01}"/>
              </a:ext>
            </a:extLst>
          </p:cNvPr>
          <p:cNvSpPr/>
          <p:nvPr/>
        </p:nvSpPr>
        <p:spPr>
          <a:xfrm>
            <a:off x="2032000" y="2324100"/>
            <a:ext cx="812800" cy="19050"/>
          </a:xfrm>
          <a:prstGeom prst="rect">
            <a:avLst/>
          </a:prstGeom>
          <a:solidFill>
            <a:srgbClr val="2B196E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2" name="Medium risk caliper left tick">
            <a:extLst>
              <a:ext uri="{FF2B5EF4-FFF2-40B4-BE49-F238E27FC236}">
                <a16:creationId xmlns:a16="http://schemas.microsoft.com/office/drawing/2014/main" id="{882386B9-0E7D-0E42-AEF9-9AAAC9632ACC}"/>
              </a:ext>
            </a:extLst>
          </p:cNvPr>
          <p:cNvSpPr/>
          <p:nvPr/>
        </p:nvSpPr>
        <p:spPr>
          <a:xfrm>
            <a:off x="2032000" y="2311400"/>
            <a:ext cx="19050" cy="114300"/>
          </a:xfrm>
          <a:prstGeom prst="rect">
            <a:avLst/>
          </a:prstGeom>
          <a:solidFill>
            <a:srgbClr val="2B196E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3" name="Medium risk caliper right tick">
            <a:extLst>
              <a:ext uri="{FF2B5EF4-FFF2-40B4-BE49-F238E27FC236}">
                <a16:creationId xmlns:a16="http://schemas.microsoft.com/office/drawing/2014/main" id="{054163B5-7AF0-2C4A-93C7-8968F39AA2CE}"/>
              </a:ext>
            </a:extLst>
          </p:cNvPr>
          <p:cNvSpPr/>
          <p:nvPr/>
        </p:nvSpPr>
        <p:spPr>
          <a:xfrm>
            <a:off x="2825750" y="2311400"/>
            <a:ext cx="19050" cy="114300"/>
          </a:xfrm>
          <a:prstGeom prst="rect">
            <a:avLst/>
          </a:prstGeom>
          <a:solidFill>
            <a:srgbClr val="2B196E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4" name="Medium risk boundary percent">
            <a:extLst>
              <a:ext uri="{FF2B5EF4-FFF2-40B4-BE49-F238E27FC236}">
                <a16:creationId xmlns:a16="http://schemas.microsoft.com/office/drawing/2014/main" id="{0834BC2C-4CFD-584C-8F4F-FAF365833D40}"/>
              </a:ext>
            </a:extLst>
          </p:cNvPr>
          <p:cNvSpPr txBox="1"/>
          <p:nvPr/>
        </p:nvSpPr>
        <p:spPr>
          <a:xfrm>
            <a:off x="2908300" y="2222500"/>
            <a:ext cx="533400" cy="127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2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~15</a:t>
            </a:r>
          </a:p>
        </p:txBody>
      </p:sp>
      <p:sp>
        <p:nvSpPr>
          <p:cNvPr id="125" name="Medium risk would get outcome">
            <a:extLst>
              <a:ext uri="{FF2B5EF4-FFF2-40B4-BE49-F238E27FC236}">
                <a16:creationId xmlns:a16="http://schemas.microsoft.com/office/drawing/2014/main" id="{C1413A9B-AC8C-5243-8C8F-FC6B8D85A4F0}"/>
              </a:ext>
            </a:extLst>
          </p:cNvPr>
          <p:cNvSpPr/>
          <p:nvPr/>
        </p:nvSpPr>
        <p:spPr>
          <a:xfrm>
            <a:off x="2032000" y="2451100"/>
            <a:ext cx="812800" cy="304800"/>
          </a:xfrm>
          <a:prstGeom prst="rect">
            <a:avLst/>
          </a:prstGeom>
          <a:solidFill>
            <a:srgbClr val="FF5A5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6" name="Medium risk would never">
            <a:extLst>
              <a:ext uri="{FF2B5EF4-FFF2-40B4-BE49-F238E27FC236}">
                <a16:creationId xmlns:a16="http://schemas.microsoft.com/office/drawing/2014/main" id="{CE706125-FDAB-D24F-A864-E8ACAEB6D4F9}"/>
              </a:ext>
            </a:extLst>
          </p:cNvPr>
          <p:cNvSpPr/>
          <p:nvPr/>
        </p:nvSpPr>
        <p:spPr>
          <a:xfrm>
            <a:off x="2844800" y="2451100"/>
            <a:ext cx="4584700" cy="304800"/>
          </a:xfrm>
          <a:prstGeom prst="rect">
            <a:avLst/>
          </a:prstGeom>
          <a:solidFill>
            <a:srgbClr val="E7EDF2"/>
          </a:solidFill>
          <a:ln w="5080">
            <a:solidFill>
              <a:srgbClr val="D1D9E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7" name="Low risk label">
            <a:extLst>
              <a:ext uri="{FF2B5EF4-FFF2-40B4-BE49-F238E27FC236}">
                <a16:creationId xmlns:a16="http://schemas.microsoft.com/office/drawing/2014/main" id="{822D73D2-BC6F-1949-B1AB-D0176AC33FB6}"/>
              </a:ext>
            </a:extLst>
          </p:cNvPr>
          <p:cNvSpPr txBox="1"/>
          <p:nvPr/>
        </p:nvSpPr>
        <p:spPr>
          <a:xfrm>
            <a:off x="609600" y="3200400"/>
            <a:ext cx="12192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00" b="1">
                <a:solidFill>
                  <a:srgbClr val="170A5A"/>
                </a:solidFill>
                <a:latin typeface="Arial"/>
                <a:ea typeface="Arial"/>
                <a:cs typeface="Arial"/>
              </a:rPr>
              <a:t>Low risk</a:t>
            </a:r>
          </a:p>
        </p:txBody>
      </p:sp>
      <p:sp>
        <p:nvSpPr>
          <p:cNvPr id="128" name="Low risk percent">
            <a:extLst>
              <a:ext uri="{FF2B5EF4-FFF2-40B4-BE49-F238E27FC236}">
                <a16:creationId xmlns:a16="http://schemas.microsoft.com/office/drawing/2014/main" id="{19C28EC0-5B4B-8D42-8C05-E24611E8A9DB}"/>
              </a:ext>
            </a:extLst>
          </p:cNvPr>
          <p:cNvSpPr txBox="1"/>
          <p:nvPr/>
        </p:nvSpPr>
        <p:spPr>
          <a:xfrm>
            <a:off x="609600" y="3441700"/>
            <a:ext cx="1219200" cy="177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3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~5%</a:t>
            </a:r>
          </a:p>
        </p:txBody>
      </p:sp>
      <p:sp>
        <p:nvSpPr>
          <p:cNvPr id="129" name="Low risk caliper span">
            <a:extLst>
              <a:ext uri="{FF2B5EF4-FFF2-40B4-BE49-F238E27FC236}">
                <a16:creationId xmlns:a16="http://schemas.microsoft.com/office/drawing/2014/main" id="{21EA77CF-4A22-3B4B-AC6A-68D1FF5F8B8D}"/>
              </a:ext>
            </a:extLst>
          </p:cNvPr>
          <p:cNvSpPr/>
          <p:nvPr/>
        </p:nvSpPr>
        <p:spPr>
          <a:xfrm>
            <a:off x="2032000" y="3149600"/>
            <a:ext cx="266700" cy="19050"/>
          </a:xfrm>
          <a:prstGeom prst="rect">
            <a:avLst/>
          </a:prstGeom>
          <a:solidFill>
            <a:srgbClr val="2B196E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0" name="Low risk caliper left tick">
            <a:extLst>
              <a:ext uri="{FF2B5EF4-FFF2-40B4-BE49-F238E27FC236}">
                <a16:creationId xmlns:a16="http://schemas.microsoft.com/office/drawing/2014/main" id="{A9ADECAA-35F5-924E-85FF-93C68E50B12A}"/>
              </a:ext>
            </a:extLst>
          </p:cNvPr>
          <p:cNvSpPr/>
          <p:nvPr/>
        </p:nvSpPr>
        <p:spPr>
          <a:xfrm>
            <a:off x="2032000" y="3136900"/>
            <a:ext cx="19050" cy="114300"/>
          </a:xfrm>
          <a:prstGeom prst="rect">
            <a:avLst/>
          </a:prstGeom>
          <a:solidFill>
            <a:srgbClr val="2B196E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1" name="Low risk caliper right tick">
            <a:extLst>
              <a:ext uri="{FF2B5EF4-FFF2-40B4-BE49-F238E27FC236}">
                <a16:creationId xmlns:a16="http://schemas.microsoft.com/office/drawing/2014/main" id="{D10605CE-B26F-5F40-BA4D-93E60E69F2FA}"/>
              </a:ext>
            </a:extLst>
          </p:cNvPr>
          <p:cNvSpPr/>
          <p:nvPr/>
        </p:nvSpPr>
        <p:spPr>
          <a:xfrm>
            <a:off x="2279650" y="3136900"/>
            <a:ext cx="19050" cy="114300"/>
          </a:xfrm>
          <a:prstGeom prst="rect">
            <a:avLst/>
          </a:prstGeom>
          <a:solidFill>
            <a:srgbClr val="2B196E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2" name="Low risk boundary percent">
            <a:extLst>
              <a:ext uri="{FF2B5EF4-FFF2-40B4-BE49-F238E27FC236}">
                <a16:creationId xmlns:a16="http://schemas.microsoft.com/office/drawing/2014/main" id="{5A3B5143-2FDB-B84A-94B1-604099709DB2}"/>
              </a:ext>
            </a:extLst>
          </p:cNvPr>
          <p:cNvSpPr txBox="1"/>
          <p:nvPr/>
        </p:nvSpPr>
        <p:spPr>
          <a:xfrm>
            <a:off x="2362200" y="3048000"/>
            <a:ext cx="533400" cy="127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2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~5</a:t>
            </a:r>
          </a:p>
        </p:txBody>
      </p:sp>
      <p:sp>
        <p:nvSpPr>
          <p:cNvPr id="133" name="Low risk would get outcome">
            <a:extLst>
              <a:ext uri="{FF2B5EF4-FFF2-40B4-BE49-F238E27FC236}">
                <a16:creationId xmlns:a16="http://schemas.microsoft.com/office/drawing/2014/main" id="{ABE8AAE0-046A-D348-A53B-CBBD61A8A92E}"/>
              </a:ext>
            </a:extLst>
          </p:cNvPr>
          <p:cNvSpPr/>
          <p:nvPr/>
        </p:nvSpPr>
        <p:spPr>
          <a:xfrm>
            <a:off x="2032000" y="3276600"/>
            <a:ext cx="266700" cy="304800"/>
          </a:xfrm>
          <a:prstGeom prst="rect">
            <a:avLst/>
          </a:prstGeom>
          <a:solidFill>
            <a:srgbClr val="FF5A5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4" name="Low risk would never">
            <a:extLst>
              <a:ext uri="{FF2B5EF4-FFF2-40B4-BE49-F238E27FC236}">
                <a16:creationId xmlns:a16="http://schemas.microsoft.com/office/drawing/2014/main" id="{7B9BFB95-D972-0143-8829-7B47452FE0EA}"/>
              </a:ext>
            </a:extLst>
          </p:cNvPr>
          <p:cNvSpPr/>
          <p:nvPr/>
        </p:nvSpPr>
        <p:spPr>
          <a:xfrm>
            <a:off x="2298700" y="3276600"/>
            <a:ext cx="5130800" cy="304800"/>
          </a:xfrm>
          <a:prstGeom prst="rect">
            <a:avLst/>
          </a:prstGeom>
          <a:solidFill>
            <a:srgbClr val="E7EDF2"/>
          </a:solidFill>
          <a:ln w="5080">
            <a:solidFill>
              <a:srgbClr val="D1D9E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5" name="Takeaway">
            <a:extLst>
              <a:ext uri="{FF2B5EF4-FFF2-40B4-BE49-F238E27FC236}">
                <a16:creationId xmlns:a16="http://schemas.microsoft.com/office/drawing/2014/main" id="{25190E61-CA31-E24D-B070-4B6E515DB03C}"/>
              </a:ext>
            </a:extLst>
          </p:cNvPr>
          <p:cNvSpPr txBox="1"/>
          <p:nvPr/>
        </p:nvSpPr>
        <p:spPr>
          <a:xfrm>
            <a:off x="889000" y="41021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600" b="1">
                <a:solidFill>
                  <a:srgbClr val="4B00E8"/>
                </a:solidFill>
                <a:latin typeface="Arial"/>
                <a:ea typeface="Arial"/>
                <a:cs typeface="Arial"/>
              </a:rPr>
              <a:t>You can only prevent an outcome that was going to happen.</a:t>
            </a:r>
          </a:p>
        </p:txBody>
      </p:sp>
    </p:spTree>
    <p:extLst>
      <p:ext uri="{BB962C8B-B14F-4D97-AF65-F5344CB8AC3E}">
        <p14:creationId xmlns:p14="http://schemas.microsoft.com/office/powerpoint/2010/main" val="2141126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23">
            <a:extLst>
              <a:ext uri="{FF2B5EF4-FFF2-40B4-BE49-F238E27FC236}">
                <a16:creationId xmlns:a16="http://schemas.microsoft.com/office/drawing/2014/main" id="{BE7DA973-D4D4-3C45-8F2A-F88FF9D6B0E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F0C9C25-B909-344F-A321-1A14DF5AE36D}"/>
              </a:ext>
            </a:extLst>
          </p:cNvPr>
          <p:cNvSpPr txBox="1"/>
          <p:nvPr/>
        </p:nvSpPr>
        <p:spPr>
          <a:xfrm>
            <a:off x="533400" y="621014"/>
            <a:ext cx="8128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2400" b="1" dirty="0">
                <a:solidFill>
                  <a:srgbClr val="110057"/>
                </a:solidFill>
                <a:latin typeface="Arial"/>
              </a:rPr>
              <a:t>Preventive care has cruel base-rate math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16BFAAC-F409-7A49-BC4B-D686586EC58E}"/>
              </a:ext>
            </a:extLst>
          </p:cNvPr>
          <p:cNvSpPr txBox="1"/>
          <p:nvPr/>
        </p:nvSpPr>
        <p:spPr>
          <a:xfrm>
            <a:off x="533400" y="1325365"/>
            <a:ext cx="8128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400" dirty="0">
                <a:solidFill>
                  <a:srgbClr val="5B5B5B"/>
                </a:solidFill>
                <a:latin typeface="Arial"/>
              </a:rPr>
              <a:t>Before the outcome happens, most people cannot benefit; everyone touched can still be burdened.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CE85E40-C08A-1841-A336-A421B6D6FA71}"/>
              </a:ext>
            </a:extLst>
          </p:cNvPr>
          <p:cNvSpPr/>
          <p:nvPr/>
        </p:nvSpPr>
        <p:spPr>
          <a:xfrm>
            <a:off x="431800" y="1168400"/>
            <a:ext cx="8280400" cy="15240"/>
          </a:xfrm>
          <a:prstGeom prst="rect">
            <a:avLst/>
          </a:prstGeom>
          <a:solidFill>
            <a:srgbClr val="E2E2E2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4CD6CE3C-C94A-CA45-8EBA-FF416923ACBE}"/>
              </a:ext>
            </a:extLst>
          </p:cNvPr>
          <p:cNvSpPr/>
          <p:nvPr/>
        </p:nvSpPr>
        <p:spPr>
          <a:xfrm>
            <a:off x="635000" y="1828800"/>
            <a:ext cx="7874000" cy="1092200"/>
          </a:xfrm>
          <a:prstGeom prst="roundRect">
            <a:avLst/>
          </a:prstGeom>
          <a:solidFill>
            <a:srgbClr val="F7F4FF"/>
          </a:solidFill>
          <a:ln w="12700">
            <a:solidFill>
              <a:srgbClr val="D9CC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3CF2469-2923-C545-8495-64036CEA41FE}"/>
              </a:ext>
            </a:extLst>
          </p:cNvPr>
          <p:cNvSpPr/>
          <p:nvPr/>
        </p:nvSpPr>
        <p:spPr>
          <a:xfrm>
            <a:off x="1066800" y="2184400"/>
            <a:ext cx="6121400" cy="254000"/>
          </a:xfrm>
          <a:prstGeom prst="rect">
            <a:avLst/>
          </a:prstGeom>
          <a:solidFill>
            <a:srgbClr val="E5DC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FA5E7CF1-8BE8-5747-9F18-023BC12DC204}"/>
              </a:ext>
            </a:extLst>
          </p:cNvPr>
          <p:cNvSpPr/>
          <p:nvPr/>
        </p:nvSpPr>
        <p:spPr>
          <a:xfrm>
            <a:off x="7188200" y="2184400"/>
            <a:ext cx="596900" cy="254000"/>
          </a:xfrm>
          <a:prstGeom prst="rect">
            <a:avLst/>
          </a:prstGeom>
          <a:solidFill>
            <a:srgbClr val="B8A1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FC01B58-B17E-FF45-89BF-D12512FE1C9F}"/>
              </a:ext>
            </a:extLst>
          </p:cNvPr>
          <p:cNvSpPr/>
          <p:nvPr/>
        </p:nvSpPr>
        <p:spPr>
          <a:xfrm>
            <a:off x="7785100" y="2184400"/>
            <a:ext cx="127000" cy="254000"/>
          </a:xfrm>
          <a:prstGeom prst="rect">
            <a:avLst/>
          </a:prstGeom>
          <a:solidFill>
            <a:srgbClr val="FF575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7A4891BF-1D8B-2E42-8408-90948EF6304E}"/>
              </a:ext>
            </a:extLst>
          </p:cNvPr>
          <p:cNvSpPr/>
          <p:nvPr/>
        </p:nvSpPr>
        <p:spPr>
          <a:xfrm>
            <a:off x="7302500" y="1714500"/>
            <a:ext cx="1168400" cy="355600"/>
          </a:xfrm>
          <a:prstGeom prst="roundRect">
            <a:avLst/>
          </a:prstGeom>
          <a:solidFill>
            <a:srgbClr val="FF575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9BA65AE-14C1-D04A-9240-9CF2FCB4A81F}"/>
              </a:ext>
            </a:extLst>
          </p:cNvPr>
          <p:cNvSpPr txBox="1"/>
          <p:nvPr/>
        </p:nvSpPr>
        <p:spPr>
          <a:xfrm>
            <a:off x="7431356" y="1801544"/>
            <a:ext cx="977900" cy="3937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Treatable few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9170F11-825B-A843-9DEA-F4BF3774E927}"/>
              </a:ext>
            </a:extLst>
          </p:cNvPr>
          <p:cNvSpPr/>
          <p:nvPr/>
        </p:nvSpPr>
        <p:spPr>
          <a:xfrm>
            <a:off x="7848600" y="2070100"/>
            <a:ext cx="25400" cy="215900"/>
          </a:xfrm>
          <a:prstGeom prst="rect">
            <a:avLst/>
          </a:prstGeom>
          <a:solidFill>
            <a:srgbClr val="FF575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DD12824-B47A-1E4E-9903-79B91CF2EA21}"/>
              </a:ext>
            </a:extLst>
          </p:cNvPr>
          <p:cNvSpPr txBox="1"/>
          <p:nvPr/>
        </p:nvSpPr>
        <p:spPr>
          <a:xfrm>
            <a:off x="1193800" y="2565400"/>
            <a:ext cx="3937000" cy="177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100" dirty="0">
                <a:solidFill>
                  <a:srgbClr val="686868"/>
                </a:solidFill>
                <a:latin typeface="Arial"/>
              </a:rPr>
              <a:t>Would not have event anyway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2075387-0977-744B-8B0A-139021D0C497}"/>
              </a:ext>
            </a:extLst>
          </p:cNvPr>
          <p:cNvSpPr txBox="1"/>
          <p:nvPr/>
        </p:nvSpPr>
        <p:spPr>
          <a:xfrm>
            <a:off x="6781800" y="2527300"/>
            <a:ext cx="1524000" cy="431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100" b="1" dirty="0">
                <a:solidFill>
                  <a:srgbClr val="5B5B5B"/>
                </a:solidFill>
                <a:latin typeface="Arial"/>
              </a:rPr>
              <a:t>Event despite action</a:t>
            </a:r>
          </a:p>
        </p:txBody>
      </p:sp>
      <p:sp>
        <p:nvSpPr>
          <p:cNvPr id="138" name="Rounded Rectangle 137">
            <a:extLst>
              <a:ext uri="{FF2B5EF4-FFF2-40B4-BE49-F238E27FC236}">
                <a16:creationId xmlns:a16="http://schemas.microsoft.com/office/drawing/2014/main" id="{596C2589-103F-FC44-B4E6-3E1B03B8BA4E}"/>
              </a:ext>
            </a:extLst>
          </p:cNvPr>
          <p:cNvSpPr/>
          <p:nvPr/>
        </p:nvSpPr>
        <p:spPr>
          <a:xfrm>
            <a:off x="635000" y="3149600"/>
            <a:ext cx="3810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5C53D7C-C6E7-3947-91E6-B6DB468CDBFC}"/>
              </a:ext>
            </a:extLst>
          </p:cNvPr>
          <p:cNvSpPr txBox="1"/>
          <p:nvPr/>
        </p:nvSpPr>
        <p:spPr>
          <a:xfrm>
            <a:off x="914400" y="3276600"/>
            <a:ext cx="3302000" cy="2159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400" b="1" dirty="0">
                <a:solidFill>
                  <a:srgbClr val="14005B"/>
                </a:solidFill>
                <a:latin typeface="Arial"/>
              </a:rPr>
              <a:t>Burden scales with everyone touched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442CEEB8-8B49-9147-8AA9-B92455F80CFF}"/>
              </a:ext>
            </a:extLst>
          </p:cNvPr>
          <p:cNvSpPr txBox="1"/>
          <p:nvPr/>
        </p:nvSpPr>
        <p:spPr>
          <a:xfrm>
            <a:off x="914400" y="3581400"/>
            <a:ext cx="34290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400">
                <a:solidFill>
                  <a:srgbClr val="1F1F1F"/>
                </a:solidFill>
                <a:latin typeface="Arial"/>
              </a:rPr>
              <a:t>outreach, testing, false positives, anxiety, tx burden</a:t>
            </a: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83B3C395-C2F4-224D-B589-1D85AEC60875}"/>
              </a:ext>
            </a:extLst>
          </p:cNvPr>
          <p:cNvSpPr/>
          <p:nvPr/>
        </p:nvSpPr>
        <p:spPr>
          <a:xfrm>
            <a:off x="4699000" y="3149600"/>
            <a:ext cx="3810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400">
              <a:latin typeface="Arial"/>
              <a:cs typeface="Arial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1074EDC-87CB-F54F-865A-622EDB2E8384}"/>
              </a:ext>
            </a:extLst>
          </p:cNvPr>
          <p:cNvSpPr txBox="1"/>
          <p:nvPr/>
        </p:nvSpPr>
        <p:spPr>
          <a:xfrm>
            <a:off x="4978400" y="3276600"/>
            <a:ext cx="3327400" cy="2159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400" b="1">
                <a:solidFill>
                  <a:srgbClr val="FF4D55"/>
                </a:solidFill>
                <a:latin typeface="Arial"/>
              </a:rPr>
              <a:t>Benefit scales with the preventable few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02700FA-DC59-CD4C-A7B7-BDD6FD7A306F}"/>
              </a:ext>
            </a:extLst>
          </p:cNvPr>
          <p:cNvSpPr txBox="1"/>
          <p:nvPr/>
        </p:nvSpPr>
        <p:spPr>
          <a:xfrm>
            <a:off x="4978400" y="35814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400">
                <a:solidFill>
                  <a:srgbClr val="1F1F1F"/>
                </a:solidFill>
                <a:latin typeface="Arial"/>
              </a:rPr>
              <a:t>avoided admissions, events, or deaths</a:t>
            </a:r>
          </a:p>
        </p:txBody>
      </p: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A6576BB6-C2BA-4940-9FD3-321F88F9CBC5}"/>
              </a:ext>
            </a:extLst>
          </p:cNvPr>
          <p:cNvSpPr/>
          <p:nvPr/>
        </p:nvSpPr>
        <p:spPr>
          <a:xfrm>
            <a:off x="635000" y="4191000"/>
            <a:ext cx="7874000" cy="355600"/>
          </a:xfrm>
          <a:prstGeom prst="roundRect">
            <a:avLst/>
          </a:prstGeom>
          <a:solidFill>
            <a:srgbClr val="12005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4EFFEA9-A527-DE40-ABEE-4F06529742FF}"/>
              </a:ext>
            </a:extLst>
          </p:cNvPr>
          <p:cNvSpPr txBox="1"/>
          <p:nvPr/>
        </p:nvSpPr>
        <p:spPr>
          <a:xfrm>
            <a:off x="1041400" y="4279900"/>
            <a:ext cx="7061200" cy="165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rial"/>
              </a:rPr>
              <a:t>ARR = baseline risk x relative risk reduction;  NNT = 1 / ARR</a:t>
            </a: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549891FF-E37D-884D-9948-08F478634A68}"/>
              </a:ext>
            </a:extLst>
          </p:cNvPr>
          <p:cNvSpPr/>
          <p:nvPr/>
        </p:nvSpPr>
        <p:spPr>
          <a:xfrm>
            <a:off x="635000" y="4648200"/>
            <a:ext cx="7874000" cy="292100"/>
          </a:xfrm>
          <a:prstGeom prst="roundRect">
            <a:avLst/>
          </a:prstGeom>
          <a:solidFill>
            <a:srgbClr val="FF575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A42E1C9-2A3F-6540-A4A3-CF7821DEB43C}"/>
              </a:ext>
            </a:extLst>
          </p:cNvPr>
          <p:cNvSpPr txBox="1"/>
          <p:nvPr/>
        </p:nvSpPr>
        <p:spPr>
          <a:xfrm>
            <a:off x="965200" y="4699000"/>
            <a:ext cx="7213600" cy="165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rial"/>
              </a:rPr>
              <a:t>Earlier action lowers the base rate; benefit:harm math becomes unforgiving.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484D9364-9921-4442-B4C3-EF1AFDBB6365}"/>
              </a:ext>
            </a:extLst>
          </p:cNvPr>
          <p:cNvSpPr txBox="1"/>
          <p:nvPr/>
        </p:nvSpPr>
        <p:spPr>
          <a:xfrm>
            <a:off x="533400" y="4978400"/>
            <a:ext cx="8255000" cy="101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560">
                <a:solidFill>
                  <a:srgbClr val="6B6B6B"/>
                </a:solidFill>
                <a:latin typeface="Arial"/>
              </a:rPr>
              <a:t>Sources: Welch &amp; Passow, JAMA Intern Med 2014; Welch, Schwartz &amp; Woloshin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7C9FEDAB-8F51-EC4D-869D-A74154DB2C4C}"/>
              </a:ext>
            </a:extLst>
          </p:cNvPr>
          <p:cNvSpPr txBox="1"/>
          <p:nvPr/>
        </p:nvSpPr>
        <p:spPr>
          <a:xfrm>
            <a:off x="533400" y="3048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 dirty="0">
                <a:solidFill>
                  <a:srgbClr val="4A00E2"/>
                </a:solidFill>
                <a:latin typeface="Arial"/>
                <a:cs typeface="Arial"/>
              </a:rPr>
              <a:t>ACT | RISK-BASED TREATMENT</a:t>
            </a:r>
          </a:p>
        </p:txBody>
      </p:sp>
      <p:sp>
        <p:nvSpPr>
          <p:cNvPr id="3" name="accent rail">
            <a:extLst>
              <a:ext uri="{FF2B5EF4-FFF2-40B4-BE49-F238E27FC236}">
                <a16:creationId xmlns:a16="http://schemas.microsoft.com/office/drawing/2014/main" id="{EAC4777C-103E-0944-8765-B1B7A4ED36B9}"/>
              </a:ext>
            </a:extLst>
          </p:cNvPr>
          <p:cNvSpPr/>
          <p:nvPr/>
        </p:nvSpPr>
        <p:spPr>
          <a:xfrm>
            <a:off x="368300" y="304800"/>
            <a:ext cx="63500" cy="787400"/>
          </a:xfrm>
          <a:prstGeom prst="rect">
            <a:avLst/>
          </a:prstGeom>
          <a:solidFill>
            <a:srgbClr val="4A00E2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946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2F918338-5D8C-F04A-A903-84427E09C2B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DFB84D-0B89-A446-9CCF-B2D09DE48FEB}"/>
              </a:ext>
            </a:extLst>
          </p:cNvPr>
          <p:cNvSpPr txBox="1"/>
          <p:nvPr/>
        </p:nvSpPr>
        <p:spPr>
          <a:xfrm>
            <a:off x="711200" y="457200"/>
            <a:ext cx="8128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400" b="1" dirty="0">
                <a:solidFill>
                  <a:srgbClr val="110057"/>
                </a:solidFill>
                <a:latin typeface="Arial"/>
                <a:cs typeface="Arial"/>
              </a:rPr>
              <a:t>Proactive care has two viable paths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C384B0-0A06-6948-9598-765DCB2D5FAA}"/>
              </a:ext>
            </a:extLst>
          </p:cNvPr>
          <p:cNvSpPr txBox="1"/>
          <p:nvPr/>
        </p:nvSpPr>
        <p:spPr>
          <a:xfrm>
            <a:off x="711200" y="838200"/>
            <a:ext cx="812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rgbClr val="666666"/>
                </a:solidFill>
                <a:latin typeface="Arial"/>
                <a:cs typeface="Arial"/>
              </a:rPr>
              <a:t>Unless action nearly harmless, the population must be selected by expected benefit.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19BC44F-D31C-0941-BCB9-A2C86167F367}"/>
              </a:ext>
            </a:extLst>
          </p:cNvPr>
          <p:cNvSpPr/>
          <p:nvPr/>
        </p:nvSpPr>
        <p:spPr>
          <a:xfrm>
            <a:off x="482600" y="279400"/>
            <a:ext cx="63500" cy="736600"/>
          </a:xfrm>
          <a:prstGeom prst="rect">
            <a:avLst/>
          </a:prstGeom>
          <a:solidFill>
            <a:srgbClr val="5E17EB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3C23C824-4FF6-004B-8291-D0BFE25160CC}"/>
              </a:ext>
            </a:extLst>
          </p:cNvPr>
          <p:cNvSpPr/>
          <p:nvPr/>
        </p:nvSpPr>
        <p:spPr>
          <a:xfrm>
            <a:off x="635000" y="1422400"/>
            <a:ext cx="7899400" cy="508000"/>
          </a:xfrm>
          <a:prstGeom prst="roundRect">
            <a:avLst/>
          </a:prstGeom>
          <a:solidFill>
            <a:srgbClr val="3D2B7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869703-8AF5-F440-A501-AD8E37A9A54F}"/>
              </a:ext>
            </a:extLst>
          </p:cNvPr>
          <p:cNvSpPr txBox="1"/>
          <p:nvPr/>
        </p:nvSpPr>
        <p:spPr>
          <a:xfrm>
            <a:off x="965200" y="1549400"/>
            <a:ext cx="7239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Intermountain priority: act before avoidable deterioration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C7C47F6-89C2-574F-ADE6-8A88D69C2BE2}"/>
              </a:ext>
            </a:extLst>
          </p:cNvPr>
          <p:cNvSpPr/>
          <p:nvPr/>
        </p:nvSpPr>
        <p:spPr>
          <a:xfrm>
            <a:off x="635000" y="2133600"/>
            <a:ext cx="2501900" cy="1905000"/>
          </a:xfrm>
          <a:prstGeom prst="roundRect">
            <a:avLst/>
          </a:prstGeom>
          <a:solidFill>
            <a:srgbClr val="F7F4FF"/>
          </a:solidFill>
          <a:ln w="12700">
            <a:solidFill>
              <a:srgbClr val="D9CC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3D8FAC-CD9A-B545-B6E6-1F11C29C8CE2}"/>
              </a:ext>
            </a:extLst>
          </p:cNvPr>
          <p:cNvSpPr txBox="1"/>
          <p:nvPr/>
        </p:nvSpPr>
        <p:spPr>
          <a:xfrm>
            <a:off x="889000" y="2336800"/>
            <a:ext cx="19939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3D2B78"/>
                </a:solidFill>
                <a:latin typeface="Arial"/>
                <a:cs typeface="Arial"/>
              </a:rPr>
              <a:t>1  Stay harmless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717C441-1DC7-F54B-A9A9-79A70AA73162}"/>
              </a:ext>
            </a:extLst>
          </p:cNvPr>
          <p:cNvSpPr txBox="1"/>
          <p:nvPr/>
        </p:nvSpPr>
        <p:spPr>
          <a:xfrm>
            <a:off x="889000" y="2743200"/>
            <a:ext cx="1993900" cy="1168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rgbClr val="222222"/>
                </a:solidFill>
                <a:latin typeface="Arial"/>
                <a:cs typeface="Arial"/>
              </a:rPr>
              <a:t>Deploy broadly only when actions are safe, cheap, and low-burden.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2587BA56-4CAD-2B45-A75F-EAE7915ED707}"/>
              </a:ext>
            </a:extLst>
          </p:cNvPr>
          <p:cNvSpPr/>
          <p:nvPr/>
        </p:nvSpPr>
        <p:spPr>
          <a:xfrm>
            <a:off x="3340100" y="2133600"/>
            <a:ext cx="2501900" cy="19050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FC4C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5D2929-DC40-E246-AE38-9A9B55C494A4}"/>
              </a:ext>
            </a:extLst>
          </p:cNvPr>
          <p:cNvSpPr txBox="1"/>
          <p:nvPr/>
        </p:nvSpPr>
        <p:spPr>
          <a:xfrm>
            <a:off x="3594100" y="2336800"/>
            <a:ext cx="19939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5757"/>
                </a:solidFill>
                <a:latin typeface="Arial"/>
                <a:cs typeface="Arial"/>
              </a:rPr>
              <a:t>2  Target preventable risk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99D5C6-06C8-2541-812A-CD1BDF87C341}"/>
              </a:ext>
            </a:extLst>
          </p:cNvPr>
          <p:cNvSpPr txBox="1"/>
          <p:nvPr/>
        </p:nvSpPr>
        <p:spPr>
          <a:xfrm>
            <a:off x="3594100" y="2743200"/>
            <a:ext cx="1993900" cy="1168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rgbClr val="222222"/>
                </a:solidFill>
                <a:latin typeface="Arial"/>
                <a:cs typeface="Arial"/>
              </a:rPr>
              <a:t>Use models when action carries cost, harm, or capacity burden.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E4ACF3C5-F34C-A347-B87B-AB5367B16287}"/>
              </a:ext>
            </a:extLst>
          </p:cNvPr>
          <p:cNvSpPr/>
          <p:nvPr/>
        </p:nvSpPr>
        <p:spPr>
          <a:xfrm>
            <a:off x="6045200" y="2133600"/>
            <a:ext cx="2501900" cy="1905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DADAD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988BA1-124C-2B44-9DFF-79761AB42443}"/>
              </a:ext>
            </a:extLst>
          </p:cNvPr>
          <p:cNvSpPr txBox="1"/>
          <p:nvPr/>
        </p:nvSpPr>
        <p:spPr>
          <a:xfrm>
            <a:off x="6299200" y="2336800"/>
            <a:ext cx="19939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666666"/>
                </a:solidFill>
                <a:latin typeface="Arial"/>
                <a:cs typeface="Arial"/>
              </a:rPr>
              <a:t>3  Failure mode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FA0566-8B62-9541-8488-F564124BACFE}"/>
              </a:ext>
            </a:extLst>
          </p:cNvPr>
          <p:cNvSpPr txBox="1"/>
          <p:nvPr/>
        </p:nvSpPr>
        <p:spPr>
          <a:xfrm>
            <a:off x="6299200" y="2743200"/>
            <a:ext cx="1993900" cy="1168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rgbClr val="222222"/>
                </a:solidFill>
                <a:latin typeface="Arial"/>
                <a:cs typeface="Arial"/>
              </a:rPr>
              <a:t>Treating everyone lets harms and costs accumulate.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78020A6-C58A-BC47-8D6A-EC2A18F768D6}"/>
              </a:ext>
            </a:extLst>
          </p:cNvPr>
          <p:cNvSpPr/>
          <p:nvPr/>
        </p:nvSpPr>
        <p:spPr>
          <a:xfrm>
            <a:off x="635000" y="4089400"/>
            <a:ext cx="7899400" cy="482600"/>
          </a:xfrm>
          <a:prstGeom prst="roundRect">
            <a:avLst/>
          </a:prstGeom>
          <a:solidFill>
            <a:srgbClr val="F1EEFF"/>
          </a:solidFill>
          <a:ln w="12700">
            <a:solidFill>
              <a:srgbClr val="D9CC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FA72CF-1C8B-1D44-B75C-2582FD3D4FA3}"/>
              </a:ext>
            </a:extLst>
          </p:cNvPr>
          <p:cNvSpPr txBox="1"/>
          <p:nvPr/>
        </p:nvSpPr>
        <p:spPr>
          <a:xfrm>
            <a:off x="939800" y="4178300"/>
            <a:ext cx="7289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3D2B78"/>
                </a:solidFill>
                <a:latin typeface="Arial"/>
                <a:cs typeface="Arial"/>
              </a:rPr>
              <a:t>Action threshold: expected benefit &gt; harm + cost + capacity burden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5E247585-D35B-D24D-AB9E-F39EB5384C0C}"/>
              </a:ext>
            </a:extLst>
          </p:cNvPr>
          <p:cNvSpPr/>
          <p:nvPr/>
        </p:nvSpPr>
        <p:spPr>
          <a:xfrm>
            <a:off x="635000" y="4648200"/>
            <a:ext cx="7899400" cy="381000"/>
          </a:xfrm>
          <a:prstGeom prst="roundRect">
            <a:avLst/>
          </a:prstGeom>
          <a:solidFill>
            <a:srgbClr val="FF575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E4F22A8-295B-1446-A694-9C190C73EB0A}"/>
              </a:ext>
            </a:extLst>
          </p:cNvPr>
          <p:cNvSpPr txBox="1"/>
          <p:nvPr/>
        </p:nvSpPr>
        <p:spPr>
          <a:xfrm>
            <a:off x="914400" y="4699000"/>
            <a:ext cx="73406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Modeling matters because proactive care is earlier care under uncertainty.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C1145AF4-414D-C34C-B359-324E53488726}"/>
              </a:ext>
            </a:extLst>
          </p:cNvPr>
          <p:cNvSpPr txBox="1"/>
          <p:nvPr/>
        </p:nvSpPr>
        <p:spPr>
          <a:xfrm>
            <a:off x="711200" y="254000"/>
            <a:ext cx="381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4A00E2"/>
                </a:solidFill>
                <a:latin typeface="Arial"/>
                <a:cs typeface="Arial"/>
              </a:rPr>
              <a:t>CARE STRATEGY</a:t>
            </a:r>
          </a:p>
        </p:txBody>
      </p:sp>
    </p:spTree>
    <p:extLst>
      <p:ext uri="{BB962C8B-B14F-4D97-AF65-F5344CB8AC3E}">
        <p14:creationId xmlns:p14="http://schemas.microsoft.com/office/powerpoint/2010/main" val="3241656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3A84CB5C-721D-844C-BDFA-4D1EDF420AC1}"/>
              </a:ext>
            </a:extLst>
          </p:cNvPr>
          <p:cNvSpPr/>
          <p:nvPr/>
        </p:nvSpPr>
        <p:spPr>
          <a:xfrm>
            <a:off x="431800" y="736600"/>
            <a:ext cx="50800" cy="3911600"/>
          </a:xfrm>
          <a:prstGeom prst="rect">
            <a:avLst/>
          </a:prstGeom>
          <a:solidFill>
            <a:srgbClr val="4B00F5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CB1B18-DFBA-7B4F-BCAF-69EF5AD62EE7}"/>
              </a:ext>
            </a:extLst>
          </p:cNvPr>
          <p:cNvSpPr txBox="1"/>
          <p:nvPr/>
        </p:nvSpPr>
        <p:spPr>
          <a:xfrm>
            <a:off x="711200" y="304800"/>
            <a:ext cx="381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A00E2"/>
                </a:solidFill>
                <a:latin typeface="Arial"/>
                <a:cs typeface="Arial"/>
              </a:rPr>
              <a:t>ACT I | USUAL CARE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FB1D5A-0505-2949-8BC2-93DBEBA15309}"/>
              </a:ext>
            </a:extLst>
          </p:cNvPr>
          <p:cNvSpPr txBox="1"/>
          <p:nvPr/>
        </p:nvSpPr>
        <p:spPr>
          <a:xfrm>
            <a:off x="711200" y="495300"/>
            <a:ext cx="800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85000" lnSpcReduction="10000"/>
          </a:bodyPr>
          <a:lstStyle/>
          <a:p>
            <a:pPr algn="l"/>
            <a:r>
              <a:rPr lang="en-US" sz="2400" b="1" dirty="0">
                <a:solidFill>
                  <a:srgbClr val="110057"/>
                </a:solidFill>
                <a:latin typeface="Arial"/>
                <a:cs typeface="Arial"/>
              </a:rPr>
              <a:t>Risk scores already route some patients into proactive care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E64D2BD9-F980-E343-8389-B543DD8F926A}"/>
              </a:ext>
            </a:extLst>
          </p:cNvPr>
          <p:cNvSpPr/>
          <p:nvPr/>
        </p:nvSpPr>
        <p:spPr>
          <a:xfrm>
            <a:off x="812800" y="1397000"/>
            <a:ext cx="2032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9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15332F-6188-A247-89F0-9B915C153AD7}"/>
              </a:ext>
            </a:extLst>
          </p:cNvPr>
          <p:cNvSpPr txBox="1"/>
          <p:nvPr/>
        </p:nvSpPr>
        <p:spPr>
          <a:xfrm>
            <a:off x="1016000" y="1600200"/>
            <a:ext cx="172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1B0758"/>
                </a:solidFill>
                <a:latin typeface="Arial"/>
                <a:cs typeface="Arial"/>
              </a:rPr>
              <a:t>Prediction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2FD787-BDD9-4247-8DF3-9CCE2EE822DA}"/>
              </a:ext>
            </a:extLst>
          </p:cNvPr>
          <p:cNvSpPr txBox="1"/>
          <p:nvPr/>
        </p:nvSpPr>
        <p:spPr>
          <a:xfrm>
            <a:off x="1016000" y="1879600"/>
            <a:ext cx="1727200" cy="1320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dirty="0">
                <a:solidFill>
                  <a:srgbClr val="2A2340"/>
                </a:solidFill>
                <a:latin typeface="Arial"/>
                <a:cs typeface="Arial"/>
              </a:rPr>
              <a:t>Claims, utilization history, diagnoses, and demographics feed a Predictive Risk Model that flags high- or rising-risk members.</a:t>
            </a:r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09AB4D88-2447-834A-A62B-FAE22626B449}"/>
              </a:ext>
            </a:extLst>
          </p:cNvPr>
          <p:cNvSpPr/>
          <p:nvPr/>
        </p:nvSpPr>
        <p:spPr>
          <a:xfrm>
            <a:off x="2908300" y="2209800"/>
            <a:ext cx="431800" cy="279400"/>
          </a:xfrm>
          <a:prstGeom prst="rightArrow">
            <a:avLst/>
          </a:prstGeom>
          <a:solidFill>
            <a:srgbClr val="6C638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2AA56AFB-D40E-BD47-8DCD-886EF6E0A3F7}"/>
              </a:ext>
            </a:extLst>
          </p:cNvPr>
          <p:cNvSpPr/>
          <p:nvPr/>
        </p:nvSpPr>
        <p:spPr>
          <a:xfrm>
            <a:off x="3403600" y="1397000"/>
            <a:ext cx="2032000" cy="1905000"/>
          </a:xfrm>
          <a:prstGeom prst="roundRect">
            <a:avLst/>
          </a:prstGeom>
          <a:solidFill>
            <a:srgbClr val="F4F1FF"/>
          </a:solidFill>
          <a:ln w="12700">
            <a:solidFill>
              <a:srgbClr val="DDD9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463F98-719F-A94D-8EA5-F652FAF0958C}"/>
              </a:ext>
            </a:extLst>
          </p:cNvPr>
          <p:cNvSpPr txBox="1"/>
          <p:nvPr/>
        </p:nvSpPr>
        <p:spPr>
          <a:xfrm>
            <a:off x="3606800" y="1600200"/>
            <a:ext cx="172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4B00F5"/>
                </a:solidFill>
                <a:latin typeface="Arial"/>
                <a:cs typeface="Arial"/>
              </a:rPr>
              <a:t>Triage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68E6959-7E97-5E4D-B13D-2EB4591A181C}"/>
              </a:ext>
            </a:extLst>
          </p:cNvPr>
          <p:cNvSpPr txBox="1"/>
          <p:nvPr/>
        </p:nvSpPr>
        <p:spPr>
          <a:xfrm>
            <a:off x="3606800" y="1879600"/>
            <a:ext cx="1727200" cy="1320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dirty="0">
                <a:solidFill>
                  <a:srgbClr val="2A2340"/>
                </a:solidFill>
                <a:latin typeface="Arial"/>
                <a:cs typeface="Arial"/>
              </a:rPr>
              <a:t>Members are routed to care coordination or management.</a:t>
            </a:r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F9580115-76BE-7F42-B8E8-A1516C4D8425}"/>
              </a:ext>
            </a:extLst>
          </p:cNvPr>
          <p:cNvSpPr/>
          <p:nvPr/>
        </p:nvSpPr>
        <p:spPr>
          <a:xfrm>
            <a:off x="5499100" y="2209800"/>
            <a:ext cx="431800" cy="279400"/>
          </a:xfrm>
          <a:prstGeom prst="rightArrow">
            <a:avLst/>
          </a:prstGeom>
          <a:solidFill>
            <a:srgbClr val="6C638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24EBC8B5-47E3-634F-B4C2-57153CDE34FB}"/>
              </a:ext>
            </a:extLst>
          </p:cNvPr>
          <p:cNvSpPr/>
          <p:nvPr/>
        </p:nvSpPr>
        <p:spPr>
          <a:xfrm>
            <a:off x="5994400" y="1397000"/>
            <a:ext cx="2032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9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DC813A-DC6F-9340-95EE-E371E172E04A}"/>
              </a:ext>
            </a:extLst>
          </p:cNvPr>
          <p:cNvSpPr txBox="1"/>
          <p:nvPr/>
        </p:nvSpPr>
        <p:spPr>
          <a:xfrm>
            <a:off x="6197600" y="1600200"/>
            <a:ext cx="172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1B0758"/>
                </a:solidFill>
                <a:latin typeface="Arial"/>
                <a:cs typeface="Arial"/>
              </a:rPr>
              <a:t>Navigator Help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FC4EAE-C5DA-D245-B1FB-5A783960CA5A}"/>
              </a:ext>
            </a:extLst>
          </p:cNvPr>
          <p:cNvSpPr txBox="1"/>
          <p:nvPr/>
        </p:nvSpPr>
        <p:spPr>
          <a:xfrm>
            <a:off x="6197600" y="1879600"/>
            <a:ext cx="1727200" cy="1320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dirty="0">
                <a:solidFill>
                  <a:srgbClr val="2A2340"/>
                </a:solidFill>
                <a:latin typeface="Arial"/>
                <a:cs typeface="Arial"/>
              </a:rPr>
              <a:t>Care gaps, social determinants (SDoH), transitions, and escalation.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1BF35266-7C2E-C543-BB0F-A927489D5A06}"/>
              </a:ext>
            </a:extLst>
          </p:cNvPr>
          <p:cNvSpPr/>
          <p:nvPr/>
        </p:nvSpPr>
        <p:spPr>
          <a:xfrm>
            <a:off x="812800" y="3556000"/>
            <a:ext cx="7213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F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1139BE-8471-6947-AE8D-436E7339B78A}"/>
              </a:ext>
            </a:extLst>
          </p:cNvPr>
          <p:cNvSpPr txBox="1"/>
          <p:nvPr/>
        </p:nvSpPr>
        <p:spPr>
          <a:xfrm>
            <a:off x="1016000" y="3683000"/>
            <a:ext cx="6807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1B0758"/>
                </a:solidFill>
                <a:latin typeface="Arial"/>
                <a:cs typeface="Arial"/>
              </a:rPr>
              <a:t>What this looks like operationally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F1951A-45F8-0B47-8164-0C9E003BBBCE}"/>
              </a:ext>
            </a:extLst>
          </p:cNvPr>
          <p:cNvSpPr txBox="1"/>
          <p:nvPr/>
        </p:nvSpPr>
        <p:spPr>
          <a:xfrm>
            <a:off x="1016000" y="3987800"/>
            <a:ext cx="68072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dirty="0">
                <a:solidFill>
                  <a:srgbClr val="2A2340"/>
                </a:solidFill>
                <a:latin typeface="Arial"/>
                <a:cs typeface="Arial"/>
              </a:rPr>
              <a:t>Coordinators organize care, navigate benefits, and connect patients to preventive and social-needs support.</a:t>
            </a:r>
          </a:p>
        </p:txBody>
      </p:sp>
    </p:spTree>
    <p:extLst>
      <p:ext uri="{BB962C8B-B14F-4D97-AF65-F5344CB8AC3E}">
        <p14:creationId xmlns:p14="http://schemas.microsoft.com/office/powerpoint/2010/main" val="3325665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FBDFF7-239F-F84E-8524-CFA88A354E53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004A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4F0AB3-F3F1-7E41-936D-360E7FCD0F1E}"/>
              </a:ext>
            </a:extLst>
          </p:cNvPr>
          <p:cNvSpPr txBox="1"/>
          <p:nvPr/>
        </p:nvSpPr>
        <p:spPr>
          <a:xfrm>
            <a:off x="609600" y="800100"/>
            <a:ext cx="77470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  <a:cs typeface="Arial"/>
              </a:rPr>
              <a:t>ASCEND-MA Trial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FAAF4C-C337-9F4C-AD9B-E7921D5B77F0}"/>
              </a:ext>
            </a:extLst>
          </p:cNvPr>
          <p:cNvSpPr txBox="1"/>
          <p:nvPr/>
        </p:nvSpPr>
        <p:spPr>
          <a:xfrm>
            <a:off x="609600" y="1778000"/>
            <a:ext cx="8102600" cy="965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000" b="1">
                <a:solidFill>
                  <a:srgbClr val="FF5A5F"/>
                </a:solidFill>
                <a:latin typeface="Arial"/>
                <a:cs typeface="Arial"/>
              </a:rPr>
              <a:t>AI-Supported Care Engagement for Next-step Delivery</a:t>
            </a:r>
          </a:p>
          <a:p>
            <a:pPr algn="l"/>
            <a:r>
              <a:rPr lang="en-US" sz="2000" b="1">
                <a:solidFill>
                  <a:srgbClr val="FF5A5F"/>
                </a:solidFill>
                <a:latin typeface="Arial"/>
                <a:cs typeface="Arial"/>
              </a:rPr>
              <a:t>— Medicare Advantage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7D3A8-4949-AB43-97CF-CC52BB0FC493}"/>
              </a:ext>
            </a:extLst>
          </p:cNvPr>
          <p:cNvSpPr txBox="1"/>
          <p:nvPr/>
        </p:nvSpPr>
        <p:spPr>
          <a:xfrm>
            <a:off x="609600" y="4038600"/>
            <a:ext cx="7747000" cy="736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900" b="1" dirty="0">
                <a:solidFill>
                  <a:srgbClr val="FFFFFF"/>
                </a:solidFill>
                <a:latin typeface="Arial"/>
                <a:cs typeface="Arial"/>
              </a:rPr>
              <a:t>Can prediction extend preventive attention to patients</a:t>
            </a:r>
          </a:p>
          <a:p>
            <a:pPr algn="l"/>
            <a:r>
              <a:rPr lang="en-US" sz="1900" b="1" dirty="0">
                <a:solidFill>
                  <a:srgbClr val="FFFFFF"/>
                </a:solidFill>
                <a:latin typeface="Arial"/>
                <a:cs typeface="Arial"/>
              </a:rPr>
              <a:t>not yet reached by usual care?</a:t>
            </a:r>
          </a:p>
        </p:txBody>
      </p:sp>
      <p:sp>
        <p:nvSpPr>
          <p:cNvPr id="16" name="ASCEND-MA Study Team">
            <a:extLst>
              <a:ext uri="{FF2B5EF4-FFF2-40B4-BE49-F238E27FC236}">
                <a16:creationId xmlns:a16="http://schemas.microsoft.com/office/drawing/2014/main" id="{5E782831-C440-DE43-AF69-19AB9B7227C9}"/>
              </a:ext>
            </a:extLst>
          </p:cNvPr>
          <p:cNvSpPr txBox="1"/>
          <p:nvPr/>
        </p:nvSpPr>
        <p:spPr>
          <a:xfrm>
            <a:off x="609600" y="2984500"/>
            <a:ext cx="81026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350">
                <a:solidFill>
                  <a:srgbClr val="CADCFC"/>
                </a:solidFill>
                <a:latin typeface="Arial"/>
                <a:cs typeface="Arial"/>
              </a:rPr>
              <a:t>Study team: Joseph Kamerath, MD (PI); Brian Locke, MD; Haya Khalaf, RN;</a:t>
            </a:r>
          </a:p>
          <a:p>
            <a:pPr algn="l"/>
            <a:r>
              <a:rPr lang="en-US" sz="1350">
                <a:solidFill>
                  <a:srgbClr val="CADCFC"/>
                </a:solidFill>
                <a:latin typeface="Arial"/>
                <a:cs typeface="Arial"/>
              </a:rPr>
              <a:t>Kate Minick, PhD; Samuel Brown, MD</a:t>
            </a:r>
          </a:p>
        </p:txBody>
      </p:sp>
    </p:spTree>
    <p:extLst>
      <p:ext uri="{BB962C8B-B14F-4D97-AF65-F5344CB8AC3E}">
        <p14:creationId xmlns:p14="http://schemas.microsoft.com/office/powerpoint/2010/main" val="2345182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ptos"/>
              <a:cs typeface="Apto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2911" y="457200"/>
            <a:ext cx="7929365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3D2B78"/>
                </a:solidFill>
                <a:latin typeface="Aptos"/>
                <a:ea typeface="Aptos" pitchFamily="34" charset="-122"/>
                <a:cs typeface="Aptos"/>
              </a:rPr>
              <a:t>ASCEND-MA tests risk targeting under capacity constraints</a:t>
            </a:r>
            <a:endParaRPr lang="en-US" sz="1600" dirty="0">
              <a:latin typeface="Aptos"/>
              <a:cs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7199" y="787400"/>
            <a:ext cx="771505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Aptos"/>
              </a:rPr>
              <a:t>The comparator is the best available workflow, not an ideal clinician.</a:t>
            </a:r>
          </a:p>
        </p:txBody>
      </p:sp>
      <p:sp>
        <p:nvSpPr>
          <p:cNvPr id="5" name="Shape 3"/>
          <p:cNvSpPr/>
          <p:nvPr/>
        </p:nvSpPr>
        <p:spPr>
          <a:xfrm>
            <a:off x="542912" y="1244600"/>
            <a:ext cx="8057948" cy="14288"/>
          </a:xfrm>
          <a:prstGeom prst="rect">
            <a:avLst/>
          </a:prstGeom>
          <a:solidFill>
            <a:srgbClr val="D7DC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ptos"/>
              <a:cs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0400" y="14986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1C0A63"/>
                </a:solidFill>
                <a:latin typeface="Aptos"/>
                <a:cs typeface="Aptos"/>
              </a:rPr>
              <a:t>Current risk-targeting infrastructure</a:t>
            </a:r>
          </a:p>
        </p:txBody>
      </p:sp>
      <p:sp>
        <p:nvSpPr>
          <p:cNvPr id="7" name="Text 5"/>
          <p:cNvSpPr/>
          <p:nvPr/>
        </p:nvSpPr>
        <p:spPr>
          <a:xfrm>
            <a:off x="4724400" y="1498600"/>
            <a:ext cx="374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1C0A63"/>
                </a:solidFill>
                <a:latin typeface="Aptos"/>
                <a:cs typeface="Aptos"/>
              </a:rPr>
              <a:t>Why supervised AI is plausible here</a:t>
            </a:r>
          </a:p>
        </p:txBody>
      </p:sp>
      <p:sp>
        <p:nvSpPr>
          <p:cNvPr id="8" name="Shape 6"/>
          <p:cNvSpPr/>
          <p:nvPr/>
        </p:nvSpPr>
        <p:spPr>
          <a:xfrm>
            <a:off x="660400" y="1905000"/>
            <a:ext cx="3810000" cy="762000"/>
          </a:xfrm>
          <a:prstGeom prst="roundRect">
            <a:avLst/>
          </a:prstGeom>
          <a:solidFill>
            <a:srgbClr val="1C0A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ptos"/>
              <a:cs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3600" y="2082800"/>
            <a:ext cx="3403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  <a:cs typeface="Aptos"/>
              </a:rPr>
              <a:t>High-risk CM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  <a:cs typeface="Aptos"/>
              </a:rPr>
              <a:t>high-touch support</a:t>
            </a:r>
          </a:p>
        </p:txBody>
      </p:sp>
      <p:sp>
        <p:nvSpPr>
          <p:cNvPr id="10" name="Shape 8"/>
          <p:cNvSpPr/>
          <p:nvPr/>
        </p:nvSpPr>
        <p:spPr>
          <a:xfrm>
            <a:off x="660400" y="2819400"/>
            <a:ext cx="3810000" cy="1320800"/>
          </a:xfrm>
          <a:prstGeom prst="roundRect">
            <a:avLst/>
          </a:prstGeom>
          <a:solidFill>
            <a:srgbClr val="E7E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ptos"/>
              <a:cs typeface="Apto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3600" y="2946400"/>
            <a:ext cx="340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b="1" dirty="0">
                <a:solidFill>
                  <a:srgbClr val="1C0A63"/>
                </a:solidFill>
                <a:latin typeface="Aptos"/>
                <a:cs typeface="Aptos"/>
              </a:rPr>
              <a:t>Rising-risk middle</a:t>
            </a:r>
          </a:p>
        </p:txBody>
      </p:sp>
      <p:sp>
        <p:nvSpPr>
          <p:cNvPr id="12" name="Text 10"/>
          <p:cNvSpPr/>
          <p:nvPr/>
        </p:nvSpPr>
        <p:spPr>
          <a:xfrm>
            <a:off x="863600" y="3225800"/>
            <a:ext cx="340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00" dirty="0">
                <a:solidFill>
                  <a:srgbClr val="2A2340"/>
                </a:solidFill>
                <a:latin typeface="Aptos"/>
                <a:cs typeface="Aptos"/>
              </a:rPr>
              <a:t>PRM RR ≥0.70; CR &lt;0.95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2A2340"/>
                </a:solidFill>
                <a:latin typeface="Aptos"/>
                <a:cs typeface="Aptos"/>
              </a:rPr>
              <a:t>≥30% predicted YoY cost growth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2A2340"/>
                </a:solidFill>
                <a:latin typeface="Aptos"/>
                <a:cs typeface="Aptos"/>
              </a:rPr>
              <a:t>not yet in high-risk CM</a:t>
            </a:r>
          </a:p>
        </p:txBody>
      </p:sp>
      <p:sp>
        <p:nvSpPr>
          <p:cNvPr id="13" name="Shape 11"/>
          <p:cNvSpPr/>
          <p:nvPr/>
        </p:nvSpPr>
        <p:spPr>
          <a:xfrm>
            <a:off x="660400" y="4292600"/>
            <a:ext cx="3810000" cy="762000"/>
          </a:xfrm>
          <a:prstGeom prst="roundRect">
            <a:avLst/>
          </a:prstGeom>
          <a:solidFill>
            <a:srgbClr val="F4F1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ptos"/>
              <a:cs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3600" y="4470400"/>
            <a:ext cx="340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b="1" dirty="0">
                <a:solidFill>
                  <a:srgbClr val="2A2340"/>
                </a:solidFill>
                <a:latin typeface="Aptos"/>
                <a:cs typeface="Aptos"/>
              </a:rPr>
              <a:t>Broad MA population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2A2340"/>
                </a:solidFill>
                <a:latin typeface="Aptos"/>
                <a:cs typeface="Aptos"/>
              </a:rPr>
              <a:t>routine care + low-intensity outreach</a:t>
            </a:r>
          </a:p>
        </p:txBody>
      </p:sp>
      <p:sp>
        <p:nvSpPr>
          <p:cNvPr id="15" name="Shape 13"/>
          <p:cNvSpPr/>
          <p:nvPr/>
        </p:nvSpPr>
        <p:spPr>
          <a:xfrm>
            <a:off x="4724400" y="1905000"/>
            <a:ext cx="3835400" cy="2895600"/>
          </a:xfrm>
          <a:prstGeom prst="rect">
            <a:avLst/>
          </a:prstGeom>
          <a:solidFill>
            <a:srgbClr val="F4F1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ptos"/>
              <a:cs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24400" y="1905000"/>
            <a:ext cx="76200" cy="2895600"/>
          </a:xfrm>
          <a:prstGeom prst="rect">
            <a:avLst/>
          </a:prstGeom>
          <a:solidFill>
            <a:srgbClr val="4B0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ptos"/>
              <a:cs typeface="Apto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78400" y="2108200"/>
            <a:ext cx="340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b="1" dirty="0">
                <a:solidFill>
                  <a:srgbClr val="1C0A63"/>
                </a:solidFill>
                <a:latin typeface="Aptos"/>
                <a:cs typeface="Aptos"/>
              </a:rPr>
              <a:t>Capacity constraint</a:t>
            </a:r>
          </a:p>
        </p:txBody>
      </p:sp>
      <p:sp>
        <p:nvSpPr>
          <p:cNvPr id="18" name="Text 16"/>
          <p:cNvSpPr/>
          <p:nvPr/>
        </p:nvSpPr>
        <p:spPr>
          <a:xfrm>
            <a:off x="4978400" y="2387600"/>
            <a:ext cx="340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dirty="0">
                <a:solidFill>
                  <a:srgbClr val="2A2340"/>
                </a:solidFill>
                <a:latin typeface="Aptos"/>
                <a:cs typeface="Aptos"/>
              </a:rPr>
              <a:t>Teams can't review the full rising-risk panel.</a:t>
            </a:r>
          </a:p>
        </p:txBody>
      </p:sp>
      <p:sp>
        <p:nvSpPr>
          <p:cNvPr id="19" name="Text 17"/>
          <p:cNvSpPr/>
          <p:nvPr/>
        </p:nvSpPr>
        <p:spPr>
          <a:xfrm>
            <a:off x="4978400" y="3124200"/>
            <a:ext cx="340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b="1" dirty="0">
                <a:solidFill>
                  <a:srgbClr val="1C0A63"/>
                </a:solidFill>
                <a:latin typeface="Aptos"/>
                <a:cs typeface="Aptos"/>
              </a:rPr>
              <a:t>Targeting problem</a:t>
            </a:r>
          </a:p>
        </p:txBody>
      </p:sp>
      <p:sp>
        <p:nvSpPr>
          <p:cNvPr id="20" name="Text 18"/>
          <p:cNvSpPr/>
          <p:nvPr/>
        </p:nvSpPr>
        <p:spPr>
          <a:xfrm>
            <a:off x="4978400" y="34036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dirty="0">
                <a:solidFill>
                  <a:srgbClr val="2A2340"/>
                </a:solidFill>
                <a:latin typeface="Aptos"/>
                <a:cs typeface="Aptos"/>
              </a:rPr>
              <a:t>Reach preventable, unattended risk.</a:t>
            </a:r>
          </a:p>
        </p:txBody>
      </p:sp>
      <p:sp>
        <p:nvSpPr>
          <p:cNvPr id="21" name="Text 19"/>
          <p:cNvSpPr/>
          <p:nvPr/>
        </p:nvSpPr>
        <p:spPr>
          <a:xfrm>
            <a:off x="4978400" y="4140200"/>
            <a:ext cx="340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b="1" dirty="0">
                <a:solidFill>
                  <a:srgbClr val="1C0A63"/>
                </a:solidFill>
                <a:latin typeface="Aptos"/>
                <a:cs typeface="Aptos"/>
              </a:rPr>
              <a:t>Base-rate constraint</a:t>
            </a:r>
          </a:p>
        </p:txBody>
      </p:sp>
      <p:sp>
        <p:nvSpPr>
          <p:cNvPr id="22" name="Text 20"/>
          <p:cNvSpPr/>
          <p:nvPr/>
        </p:nvSpPr>
        <p:spPr>
          <a:xfrm>
            <a:off x="4978400" y="4419600"/>
            <a:ext cx="3403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dirty="0">
                <a:solidFill>
                  <a:srgbClr val="2A2340"/>
                </a:solidFill>
                <a:latin typeface="Aptos"/>
                <a:cs typeface="Aptos"/>
              </a:rPr>
              <a:t>Expand reach only when benefit justifies burden.</a:t>
            </a:r>
          </a:p>
        </p:txBody>
      </p:sp>
      <p:sp>
        <p:nvSpPr>
          <p:cNvPr id="26" name="accent rail">
            <a:extLst>
              <a:ext uri="{FF2B5EF4-FFF2-40B4-BE49-F238E27FC236}">
                <a16:creationId xmlns:a16="http://schemas.microsoft.com/office/drawing/2014/main" id="{0BD4055D-FC22-FA49-8B35-645E2508AC68}"/>
              </a:ext>
            </a:extLst>
          </p:cNvPr>
          <p:cNvSpPr/>
          <p:nvPr/>
        </p:nvSpPr>
        <p:spPr>
          <a:xfrm>
            <a:off x="381000" y="457200"/>
            <a:ext cx="63500" cy="4343400"/>
          </a:xfrm>
          <a:prstGeom prst="rect">
            <a:avLst/>
          </a:prstGeom>
          <a:solidFill>
            <a:srgbClr val="5E17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333258-3BDC-B340-8D77-DD832C646663}"/>
              </a:ext>
            </a:extLst>
          </p:cNvPr>
          <p:cNvSpPr/>
          <p:nvPr/>
        </p:nvSpPr>
        <p:spPr>
          <a:xfrm>
            <a:off x="431800" y="736600"/>
            <a:ext cx="50800" cy="3810000"/>
          </a:xfrm>
          <a:prstGeom prst="rect">
            <a:avLst/>
          </a:prstGeom>
          <a:solidFill>
            <a:srgbClr val="4B00E8"/>
          </a:solidFill>
          <a:ln w="12700">
            <a:solidFill>
              <a:srgbClr val="4B00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5D9C9-8873-C043-807D-A4A87828E0A3}"/>
              </a:ext>
            </a:extLst>
          </p:cNvPr>
          <p:cNvSpPr txBox="1"/>
          <p:nvPr/>
        </p:nvSpPr>
        <p:spPr>
          <a:xfrm>
            <a:off x="800100" y="304800"/>
            <a:ext cx="533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A00E2"/>
                </a:solidFill>
                <a:latin typeface="Arial"/>
                <a:cs typeface="Arial"/>
              </a:rPr>
              <a:t>ACT I | ASCEND-MA INTERVENTION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9B337-E39D-8748-AE58-FAE539956E3E}"/>
              </a:ext>
            </a:extLst>
          </p:cNvPr>
          <p:cNvSpPr txBox="1"/>
          <p:nvPr/>
        </p:nvSpPr>
        <p:spPr>
          <a:xfrm>
            <a:off x="800100" y="556944"/>
            <a:ext cx="7493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85000" lnSpcReduction="10000"/>
          </a:bodyPr>
          <a:lstStyle/>
          <a:p>
            <a:pPr algn="l"/>
            <a:r>
              <a:rPr lang="en-US" sz="2400" b="1" dirty="0">
                <a:solidFill>
                  <a:srgbClr val="110057"/>
                </a:solidFill>
                <a:latin typeface="Arial"/>
                <a:cs typeface="Arial"/>
              </a:rPr>
              <a:t>Can supervised AI can extend proactive attention earlier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B2B8C5-F06E-C344-9450-2490B1DA6BF2}"/>
              </a:ext>
            </a:extLst>
          </p:cNvPr>
          <p:cNvSpPr txBox="1"/>
          <p:nvPr/>
        </p:nvSpPr>
        <p:spPr>
          <a:xfrm>
            <a:off x="800100" y="1066800"/>
            <a:ext cx="7366000" cy="292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dirty="0">
                <a:solidFill>
                  <a:srgbClr val="5F6B7A"/>
                </a:solidFill>
                <a:latin typeface="Aptos"/>
              </a:rPr>
              <a:t>The comparison is AI-supported review versus finite human bandwidth: not AI versus ideal care.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E248583-3BF6-C04A-B4AE-F4EA22A183EB}"/>
              </a:ext>
            </a:extLst>
          </p:cNvPr>
          <p:cNvSpPr/>
          <p:nvPr/>
        </p:nvSpPr>
        <p:spPr>
          <a:xfrm>
            <a:off x="800100" y="1677540"/>
            <a:ext cx="7543800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72042B-4AAD-B84C-ABB5-60CA72F33D58}"/>
              </a:ext>
            </a:extLst>
          </p:cNvPr>
          <p:cNvSpPr txBox="1"/>
          <p:nvPr/>
        </p:nvSpPr>
        <p:spPr>
          <a:xfrm>
            <a:off x="1016000" y="17399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4B00E8"/>
                </a:solidFill>
                <a:latin typeface="Arial"/>
                <a:cs typeface="Arial"/>
              </a:rPr>
              <a:t>Targeting premise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7A0DD0-D5B1-6947-AC89-F2106B5CBD4F}"/>
              </a:ext>
            </a:extLst>
          </p:cNvPr>
          <p:cNvSpPr txBox="1"/>
          <p:nvPr/>
        </p:nvSpPr>
        <p:spPr>
          <a:xfrm>
            <a:off x="2667000" y="1739900"/>
            <a:ext cx="5486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dirty="0">
                <a:solidFill>
                  <a:srgbClr val="2A2340"/>
                </a:solidFill>
                <a:latin typeface="Arial"/>
                <a:cs typeface="Arial"/>
              </a:rPr>
              <a:t>Can a lower-intensity, reviewed workflow reach rising-risk patients before escalation?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5FF57DC-5D17-214D-AADB-CDD8B2E9BD33}"/>
              </a:ext>
            </a:extLst>
          </p:cNvPr>
          <p:cNvSpPr/>
          <p:nvPr/>
        </p:nvSpPr>
        <p:spPr>
          <a:xfrm>
            <a:off x="800100" y="2794000"/>
            <a:ext cx="1473200" cy="1701800"/>
          </a:xfrm>
          <a:prstGeom prst="roundRect">
            <a:avLst/>
          </a:prstGeom>
          <a:solidFill>
            <a:srgbClr val="F4F1FF"/>
          </a:solidFill>
          <a:ln w="12700">
            <a:solidFill>
              <a:srgbClr val="E2DA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0DB5EA-D76E-174B-B0E9-F5D672D9559D}"/>
              </a:ext>
            </a:extLst>
          </p:cNvPr>
          <p:cNvSpPr txBox="1"/>
          <p:nvPr/>
        </p:nvSpPr>
        <p:spPr>
          <a:xfrm>
            <a:off x="1384300" y="2997200"/>
            <a:ext cx="3048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4B00E8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A971AF-A20E-6A4D-B9F0-31755B5EDDBB}"/>
              </a:ext>
            </a:extLst>
          </p:cNvPr>
          <p:cNvSpPr txBox="1"/>
          <p:nvPr/>
        </p:nvSpPr>
        <p:spPr>
          <a:xfrm>
            <a:off x="927100" y="3352800"/>
            <a:ext cx="1219200" cy="990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17003D"/>
                </a:solidFill>
                <a:latin typeface="Arial"/>
                <a:cs typeface="Arial"/>
              </a:rPr>
              <a:t>Risk model flags member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98806856-2CA0-A84E-A13C-ECE557E0E8FF}"/>
              </a:ext>
            </a:extLst>
          </p:cNvPr>
          <p:cNvSpPr/>
          <p:nvPr/>
        </p:nvSpPr>
        <p:spPr>
          <a:xfrm>
            <a:off x="2374900" y="3543300"/>
            <a:ext cx="254000" cy="190500"/>
          </a:xfrm>
          <a:prstGeom prst="rightArrow">
            <a:avLst/>
          </a:prstGeom>
          <a:solidFill>
            <a:srgbClr val="6B6382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0448F49-8F84-8049-83D2-75795E73AD82}"/>
              </a:ext>
            </a:extLst>
          </p:cNvPr>
          <p:cNvSpPr/>
          <p:nvPr/>
        </p:nvSpPr>
        <p:spPr>
          <a:xfrm>
            <a:off x="2692400" y="2794000"/>
            <a:ext cx="1473200" cy="1701800"/>
          </a:xfrm>
          <a:prstGeom prst="roundRect">
            <a:avLst/>
          </a:prstGeom>
          <a:solidFill>
            <a:srgbClr val="F4F1FF"/>
          </a:solidFill>
          <a:ln w="12700">
            <a:solidFill>
              <a:srgbClr val="E2DA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21179F-5916-9A49-AB49-69DCE3937FED}"/>
              </a:ext>
            </a:extLst>
          </p:cNvPr>
          <p:cNvSpPr txBox="1"/>
          <p:nvPr/>
        </p:nvSpPr>
        <p:spPr>
          <a:xfrm>
            <a:off x="3276600" y="2997200"/>
            <a:ext cx="3048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4B00E8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CF279F-DF13-C748-A0A1-C70F9C5F0906}"/>
              </a:ext>
            </a:extLst>
          </p:cNvPr>
          <p:cNvSpPr txBox="1"/>
          <p:nvPr/>
        </p:nvSpPr>
        <p:spPr>
          <a:xfrm>
            <a:off x="2819400" y="3352800"/>
            <a:ext cx="1219200" cy="990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17003D"/>
                </a:solidFill>
                <a:latin typeface="Arial"/>
                <a:cs typeface="Arial"/>
              </a:rPr>
              <a:t>AI drafts 1–4 care gaps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5342FF46-F57A-5447-9915-4D3A339E9A8F}"/>
              </a:ext>
            </a:extLst>
          </p:cNvPr>
          <p:cNvSpPr/>
          <p:nvPr/>
        </p:nvSpPr>
        <p:spPr>
          <a:xfrm>
            <a:off x="4267200" y="3543300"/>
            <a:ext cx="254000" cy="190500"/>
          </a:xfrm>
          <a:prstGeom prst="rightArrow">
            <a:avLst/>
          </a:prstGeom>
          <a:solidFill>
            <a:srgbClr val="6B6382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36228D4-C8F6-8C49-ABA0-B86C1D007ECA}"/>
              </a:ext>
            </a:extLst>
          </p:cNvPr>
          <p:cNvSpPr/>
          <p:nvPr/>
        </p:nvSpPr>
        <p:spPr>
          <a:xfrm>
            <a:off x="4584700" y="2794000"/>
            <a:ext cx="1473200" cy="1701800"/>
          </a:xfrm>
          <a:prstGeom prst="roundRect">
            <a:avLst/>
          </a:prstGeom>
          <a:solidFill>
            <a:srgbClr val="F4F1FF"/>
          </a:solidFill>
          <a:ln w="12700">
            <a:solidFill>
              <a:srgbClr val="E2DA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444757-C071-9049-A937-D4A2FC170D5F}"/>
              </a:ext>
            </a:extLst>
          </p:cNvPr>
          <p:cNvSpPr txBox="1"/>
          <p:nvPr/>
        </p:nvSpPr>
        <p:spPr>
          <a:xfrm>
            <a:off x="5168900" y="2997200"/>
            <a:ext cx="3048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4B00E8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0BFD47-2B6D-3A4B-8FBA-A546F477F7DF}"/>
              </a:ext>
            </a:extLst>
          </p:cNvPr>
          <p:cNvSpPr txBox="1"/>
          <p:nvPr/>
        </p:nvSpPr>
        <p:spPr>
          <a:xfrm>
            <a:off x="4711700" y="3352800"/>
            <a:ext cx="1219200" cy="990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17003D"/>
                </a:solidFill>
                <a:latin typeface="Arial"/>
                <a:cs typeface="Arial"/>
              </a:rPr>
              <a:t>RN accepts, modifies, or rejects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E9DCF672-57E2-EB47-B173-5D472F924328}"/>
              </a:ext>
            </a:extLst>
          </p:cNvPr>
          <p:cNvSpPr/>
          <p:nvPr/>
        </p:nvSpPr>
        <p:spPr>
          <a:xfrm>
            <a:off x="6159500" y="3543300"/>
            <a:ext cx="254000" cy="190500"/>
          </a:xfrm>
          <a:prstGeom prst="rightArrow">
            <a:avLst/>
          </a:prstGeom>
          <a:solidFill>
            <a:srgbClr val="6B6382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06A533A-005F-D74C-997C-B2464D52A5D7}"/>
              </a:ext>
            </a:extLst>
          </p:cNvPr>
          <p:cNvSpPr/>
          <p:nvPr/>
        </p:nvSpPr>
        <p:spPr>
          <a:xfrm>
            <a:off x="6477000" y="2794000"/>
            <a:ext cx="1473200" cy="1701800"/>
          </a:xfrm>
          <a:prstGeom prst="roundRect">
            <a:avLst/>
          </a:prstGeom>
          <a:solidFill>
            <a:srgbClr val="F4F1FF"/>
          </a:solidFill>
          <a:ln w="12700">
            <a:solidFill>
              <a:srgbClr val="E2DA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F73D68-04E9-4446-B628-5581535DD43C}"/>
              </a:ext>
            </a:extLst>
          </p:cNvPr>
          <p:cNvSpPr txBox="1"/>
          <p:nvPr/>
        </p:nvSpPr>
        <p:spPr>
          <a:xfrm>
            <a:off x="7061200" y="2997200"/>
            <a:ext cx="3048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4B00E8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DB2CF8-0E79-C14E-8905-AA87955B7ECE}"/>
              </a:ext>
            </a:extLst>
          </p:cNvPr>
          <p:cNvSpPr txBox="1"/>
          <p:nvPr/>
        </p:nvSpPr>
        <p:spPr>
          <a:xfrm>
            <a:off x="6604000" y="3352800"/>
            <a:ext cx="1219200" cy="990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17003D"/>
                </a:solidFill>
                <a:latin typeface="Arial"/>
                <a:cs typeface="Arial"/>
              </a:rPr>
              <a:t>Nudge sent</a:t>
            </a:r>
          </a:p>
        </p:txBody>
      </p:sp>
    </p:spTree>
    <p:extLst>
      <p:ext uri="{BB962C8B-B14F-4D97-AF65-F5344CB8AC3E}">
        <p14:creationId xmlns:p14="http://schemas.microsoft.com/office/powerpoint/2010/main" val="1267258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left accent rail">
            <a:extLst>
              <a:ext uri="{FF2B5EF4-FFF2-40B4-BE49-F238E27FC236}">
                <a16:creationId xmlns:a16="http://schemas.microsoft.com/office/drawing/2014/main" id="{19F89BF6-96C5-C54A-8722-19C4DF25BC69}"/>
              </a:ext>
            </a:extLst>
          </p:cNvPr>
          <p:cNvSpPr/>
          <p:nvPr/>
        </p:nvSpPr>
        <p:spPr>
          <a:xfrm>
            <a:off x="431800" y="736600"/>
            <a:ext cx="50800" cy="3937000"/>
          </a:xfrm>
          <a:prstGeom prst="rect">
            <a:avLst/>
          </a:prstGeom>
          <a:solidFill>
            <a:srgbClr val="6C4BA3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5" name="kicker">
            <a:extLst>
              <a:ext uri="{FF2B5EF4-FFF2-40B4-BE49-F238E27FC236}">
                <a16:creationId xmlns:a16="http://schemas.microsoft.com/office/drawing/2014/main" id="{A10F71EA-A2F8-DB46-AD9D-E0842D9C44A3}"/>
              </a:ext>
            </a:extLst>
          </p:cNvPr>
          <p:cNvSpPr txBox="1"/>
          <p:nvPr/>
        </p:nvSpPr>
        <p:spPr>
          <a:xfrm>
            <a:off x="711200" y="381000"/>
            <a:ext cx="6604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 dirty="0">
                <a:solidFill>
                  <a:srgbClr val="4A00E2"/>
                </a:solidFill>
                <a:latin typeface="Arial"/>
              </a:rPr>
              <a:t>PROTOCOL DESIGN · ASCEND-MA</a:t>
            </a:r>
          </a:p>
        </p:txBody>
      </p:sp>
      <p:sp>
        <p:nvSpPr>
          <p:cNvPr id="106" name="title">
            <a:extLst>
              <a:ext uri="{FF2B5EF4-FFF2-40B4-BE49-F238E27FC236}">
                <a16:creationId xmlns:a16="http://schemas.microsoft.com/office/drawing/2014/main" id="{3117002C-C9AE-D24F-8ABF-5F2D41F038B2}"/>
              </a:ext>
            </a:extLst>
          </p:cNvPr>
          <p:cNvSpPr txBox="1"/>
          <p:nvPr/>
        </p:nvSpPr>
        <p:spPr>
          <a:xfrm>
            <a:off x="711200" y="660400"/>
            <a:ext cx="7747000" cy="685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n-US" sz="2400" b="1" dirty="0">
                <a:solidFill>
                  <a:srgbClr val="110057"/>
                </a:solidFill>
                <a:latin typeface="Arial"/>
                <a:cs typeface="Arial"/>
              </a:rPr>
              <a:t>Trial design at a glance</a:t>
            </a:r>
          </a:p>
        </p:txBody>
      </p:sp>
      <p:sp>
        <p:nvSpPr>
          <p:cNvPr id="108" name="title divider">
            <a:extLst>
              <a:ext uri="{FF2B5EF4-FFF2-40B4-BE49-F238E27FC236}">
                <a16:creationId xmlns:a16="http://schemas.microsoft.com/office/drawing/2014/main" id="{299A72D1-7D12-0D4E-8A5A-9C8D5361BDEE}"/>
              </a:ext>
            </a:extLst>
          </p:cNvPr>
          <p:cNvSpPr/>
          <p:nvPr/>
        </p:nvSpPr>
        <p:spPr>
          <a:xfrm>
            <a:off x="711200" y="1244600"/>
            <a:ext cx="7721600" cy="15240"/>
          </a:xfrm>
          <a:prstGeom prst="rect">
            <a:avLst/>
          </a:prstGeom>
          <a:solidFill>
            <a:srgbClr val="D6DE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DFCBF3-48F7-C542-8569-F9DBDA104148}"/>
              </a:ext>
            </a:extLst>
          </p:cNvPr>
          <p:cNvSpPr/>
          <p:nvPr/>
        </p:nvSpPr>
        <p:spPr>
          <a:xfrm>
            <a:off x="711200" y="2311970"/>
            <a:ext cx="2844800" cy="762000"/>
          </a:xfrm>
          <a:prstGeom prst="roundRect">
            <a:avLst/>
          </a:prstGeom>
          <a:solidFill>
            <a:srgbClr val="F4F1FF"/>
          </a:solidFill>
          <a:ln w="12700">
            <a:solidFill>
              <a:srgbClr val="E2DA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36618F-5C0C-2947-8408-44383E46E8E7}"/>
              </a:ext>
            </a:extLst>
          </p:cNvPr>
          <p:cNvSpPr txBox="1"/>
          <p:nvPr/>
        </p:nvSpPr>
        <p:spPr>
          <a:xfrm>
            <a:off x="914400" y="2400870"/>
            <a:ext cx="2438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 dirty="0">
                <a:solidFill>
                  <a:srgbClr val="1C0A63"/>
                </a:solidFill>
                <a:latin typeface="Arial"/>
                <a:cs typeface="Arial"/>
              </a:rPr>
              <a:t>QUASI-RANDOMIZATION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376D44-2BD6-A047-A26C-488EBF8B27BC}"/>
              </a:ext>
            </a:extLst>
          </p:cNvPr>
          <p:cNvSpPr txBox="1"/>
          <p:nvPr/>
        </p:nvSpPr>
        <p:spPr>
          <a:xfrm>
            <a:off x="914400" y="2629470"/>
            <a:ext cx="2438400" cy="46166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2A2340"/>
                </a:solidFill>
                <a:latin typeface="Arial"/>
                <a:cs typeface="Arial"/>
              </a:rPr>
              <a:t>MRN parity (1:1) assignment; ITT primary analysis.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91B65D8-EAAC-F442-AB31-EC8FB7C76DF3}"/>
              </a:ext>
            </a:extLst>
          </p:cNvPr>
          <p:cNvSpPr/>
          <p:nvPr/>
        </p:nvSpPr>
        <p:spPr>
          <a:xfrm>
            <a:off x="711200" y="1397000"/>
            <a:ext cx="2844800" cy="863600"/>
          </a:xfrm>
          <a:prstGeom prst="roundRect">
            <a:avLst/>
          </a:prstGeom>
          <a:solidFill>
            <a:srgbClr val="F4F1FF"/>
          </a:solidFill>
          <a:ln w="12700">
            <a:solidFill>
              <a:srgbClr val="E2DA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27EC48-AA60-8843-B686-97E0AEEA2438}"/>
              </a:ext>
            </a:extLst>
          </p:cNvPr>
          <p:cNvSpPr txBox="1"/>
          <p:nvPr/>
        </p:nvSpPr>
        <p:spPr>
          <a:xfrm>
            <a:off x="914400" y="1372886"/>
            <a:ext cx="2438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 dirty="0">
                <a:solidFill>
                  <a:srgbClr val="1C0A63"/>
                </a:solidFill>
                <a:latin typeface="Arial"/>
                <a:cs typeface="Arial"/>
              </a:rPr>
              <a:t>EXCLUSION CRITERIA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EBA901-8077-BF4B-95CE-207D340356E3}"/>
              </a:ext>
            </a:extLst>
          </p:cNvPr>
          <p:cNvSpPr txBox="1"/>
          <p:nvPr/>
        </p:nvSpPr>
        <p:spPr>
          <a:xfrm>
            <a:off x="914400" y="1601486"/>
            <a:ext cx="2438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2A2340"/>
                </a:solidFill>
                <a:latin typeface="Arial"/>
                <a:cs typeface="Arial"/>
              </a:rPr>
              <a:t>In high-risk CM at index, hospice/EOL, or insufficient scoring history.</a:t>
            </a:r>
          </a:p>
        </p:txBody>
      </p:sp>
      <p:sp>
        <p:nvSpPr>
          <p:cNvPr id="15" name="outcomes band">
            <a:extLst>
              <a:ext uri="{FF2B5EF4-FFF2-40B4-BE49-F238E27FC236}">
                <a16:creationId xmlns:a16="http://schemas.microsoft.com/office/drawing/2014/main" id="{BC503926-55D1-7949-9A6A-9ED86DAD7477}"/>
              </a:ext>
            </a:extLst>
          </p:cNvPr>
          <p:cNvSpPr/>
          <p:nvPr/>
        </p:nvSpPr>
        <p:spPr>
          <a:xfrm>
            <a:off x="711200" y="3124200"/>
            <a:ext cx="2844800" cy="1346200"/>
          </a:xfrm>
          <a:prstGeom prst="roundRect">
            <a:avLst/>
          </a:prstGeom>
          <a:solidFill>
            <a:srgbClr val="1C0A63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band label">
            <a:extLst>
              <a:ext uri="{FF2B5EF4-FFF2-40B4-BE49-F238E27FC236}">
                <a16:creationId xmlns:a16="http://schemas.microsoft.com/office/drawing/2014/main" id="{CDD6C773-9500-F044-899A-F5CF858342D2}"/>
              </a:ext>
            </a:extLst>
          </p:cNvPr>
          <p:cNvSpPr txBox="1"/>
          <p:nvPr/>
        </p:nvSpPr>
        <p:spPr>
          <a:xfrm>
            <a:off x="909548" y="3199830"/>
            <a:ext cx="2489200" cy="152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 dirty="0">
                <a:solidFill>
                  <a:srgbClr val="B8A6F0"/>
                </a:solidFill>
                <a:latin typeface="Arial"/>
                <a:cs typeface="Arial"/>
              </a:rPr>
              <a:t>PRIMARY OUTCOME</a:t>
            </a:r>
          </a:p>
        </p:txBody>
      </p:sp>
      <p:sp>
        <p:nvSpPr>
          <p:cNvPr id="17" name="band val">
            <a:extLst>
              <a:ext uri="{FF2B5EF4-FFF2-40B4-BE49-F238E27FC236}">
                <a16:creationId xmlns:a16="http://schemas.microsoft.com/office/drawing/2014/main" id="{B81129A3-2DC2-EE49-84E8-8F428A89E9FA}"/>
              </a:ext>
            </a:extLst>
          </p:cNvPr>
          <p:cNvSpPr txBox="1"/>
          <p:nvPr/>
        </p:nvSpPr>
        <p:spPr>
          <a:xfrm>
            <a:off x="909548" y="3364930"/>
            <a:ext cx="2489200" cy="190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12-mo medical spend</a:t>
            </a:r>
          </a:p>
        </p:txBody>
      </p:sp>
      <p:sp>
        <p:nvSpPr>
          <p:cNvPr id="18" name="band label">
            <a:extLst>
              <a:ext uri="{FF2B5EF4-FFF2-40B4-BE49-F238E27FC236}">
                <a16:creationId xmlns:a16="http://schemas.microsoft.com/office/drawing/2014/main" id="{1AB32376-AFBB-524E-88E2-1D4B1C9DB482}"/>
              </a:ext>
            </a:extLst>
          </p:cNvPr>
          <p:cNvSpPr txBox="1"/>
          <p:nvPr/>
        </p:nvSpPr>
        <p:spPr>
          <a:xfrm>
            <a:off x="909548" y="3606230"/>
            <a:ext cx="2489200" cy="152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 dirty="0">
                <a:solidFill>
                  <a:srgbClr val="B8A6F0"/>
                </a:solidFill>
                <a:latin typeface="Arial"/>
                <a:cs typeface="Arial"/>
              </a:rPr>
              <a:t>SECONDARY (PULMONARY)</a:t>
            </a:r>
          </a:p>
        </p:txBody>
      </p:sp>
      <p:sp>
        <p:nvSpPr>
          <p:cNvPr id="19" name="band val">
            <a:extLst>
              <a:ext uri="{FF2B5EF4-FFF2-40B4-BE49-F238E27FC236}">
                <a16:creationId xmlns:a16="http://schemas.microsoft.com/office/drawing/2014/main" id="{14D25691-0892-6E42-BC39-43D81598E61D}"/>
              </a:ext>
            </a:extLst>
          </p:cNvPr>
          <p:cNvSpPr txBox="1"/>
          <p:nvPr/>
        </p:nvSpPr>
        <p:spPr>
          <a:xfrm>
            <a:off x="909548" y="3771330"/>
            <a:ext cx="2489200" cy="190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COPD deterioration</a:t>
            </a:r>
          </a:p>
        </p:txBody>
      </p:sp>
      <p:sp>
        <p:nvSpPr>
          <p:cNvPr id="20" name="band label">
            <a:extLst>
              <a:ext uri="{FF2B5EF4-FFF2-40B4-BE49-F238E27FC236}">
                <a16:creationId xmlns:a16="http://schemas.microsoft.com/office/drawing/2014/main" id="{82AD30F5-2919-474F-A18E-876130B92242}"/>
              </a:ext>
            </a:extLst>
          </p:cNvPr>
          <p:cNvSpPr txBox="1"/>
          <p:nvPr/>
        </p:nvSpPr>
        <p:spPr>
          <a:xfrm>
            <a:off x="909548" y="4012630"/>
            <a:ext cx="2489200" cy="152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 dirty="0">
                <a:solidFill>
                  <a:srgbClr val="B8A6F0"/>
                </a:solidFill>
                <a:latin typeface="Arial"/>
                <a:cs typeface="Arial"/>
              </a:rPr>
              <a:t>ANALYSIS</a:t>
            </a:r>
          </a:p>
        </p:txBody>
      </p:sp>
      <p:sp>
        <p:nvSpPr>
          <p:cNvPr id="21" name="band val">
            <a:extLst>
              <a:ext uri="{FF2B5EF4-FFF2-40B4-BE49-F238E27FC236}">
                <a16:creationId xmlns:a16="http://schemas.microsoft.com/office/drawing/2014/main" id="{7A380F0E-4AFC-EB41-9853-64DDD89E9AB3}"/>
              </a:ext>
            </a:extLst>
          </p:cNvPr>
          <p:cNvSpPr txBox="1"/>
          <p:nvPr/>
        </p:nvSpPr>
        <p:spPr>
          <a:xfrm>
            <a:off x="909548" y="4177730"/>
            <a:ext cx="2489200" cy="190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ITT vs usual care</a:t>
            </a:r>
          </a:p>
        </p:txBody>
      </p:sp>
      <p:pic>
        <p:nvPicPr>
          <p:cNvPr id="2" name="drawing">
            <a:extLst>
              <a:ext uri="{FF2B5EF4-FFF2-40B4-BE49-F238E27FC236}">
                <a16:creationId xmlns:a16="http://schemas.microsoft.com/office/drawing/2014/main" id="{0F425B14-98E6-78B6-AAE3-5E2C8F991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4246" y="1386724"/>
            <a:ext cx="5385202" cy="303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92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28615" y="728663"/>
            <a:ext cx="50005" cy="3714750"/>
          </a:xfrm>
          <a:prstGeom prst="rect">
            <a:avLst/>
          </a:prstGeom>
          <a:solidFill>
            <a:srgbClr val="6B46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4357" y="304800"/>
            <a:ext cx="5334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 algn="l">
              <a:buNone/>
            </a:pPr>
            <a:r>
              <a:rPr lang="en-US" sz="1100" b="1" dirty="0">
                <a:solidFill>
                  <a:srgbClr val="4A00E2"/>
                </a:solidFill>
                <a:latin typeface="Arial"/>
                <a:cs typeface="Arial"/>
              </a:rPr>
              <a:t>ASCEND-MA | WHY EVALUATE NOW</a:t>
            </a:r>
          </a:p>
        </p:txBody>
      </p:sp>
      <p:sp>
        <p:nvSpPr>
          <p:cNvPr id="5" name="Text 3"/>
          <p:cNvSpPr/>
          <p:nvPr/>
        </p:nvSpPr>
        <p:spPr>
          <a:xfrm>
            <a:off x="714358" y="508000"/>
            <a:ext cx="77150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>
            <a:lvl1pPr marL="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solidFill>
                  <a:srgbClr val="110057"/>
                </a:solidFill>
                <a:latin typeface="Arial"/>
                <a:cs typeface="Arial"/>
              </a:rPr>
              <a:t>Adoption is coming either way — design now to learn whether it helps</a:t>
            </a:r>
          </a:p>
        </p:txBody>
      </p:sp>
      <p:sp>
        <p:nvSpPr>
          <p:cNvPr id="7" name="Shape 5"/>
          <p:cNvSpPr/>
          <p:nvPr/>
        </p:nvSpPr>
        <p:spPr>
          <a:xfrm>
            <a:off x="714358" y="1219200"/>
            <a:ext cx="7715057" cy="14288"/>
          </a:xfrm>
          <a:prstGeom prst="rect">
            <a:avLst/>
          </a:prstGeom>
          <a:solidFill>
            <a:srgbClr val="D5DC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11200" y="1778000"/>
            <a:ext cx="2082800" cy="1905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9000" y="1955800"/>
            <a:ext cx="27145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6B46C1"/>
                </a:solidFill>
                <a:latin typeface="Arial"/>
                <a:ea typeface="Arial" pitchFamily="34" charset="-122"/>
                <a:cs typeface="Arial"/>
              </a:rPr>
              <a:t>1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7600" y="1955800"/>
            <a:ext cx="152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 algn="l">
              <a:buNone/>
            </a:pPr>
            <a:r>
              <a:rPr lang="en-US" sz="1300" b="1" dirty="0">
                <a:solidFill>
                  <a:srgbClr val="110057"/>
                </a:solidFill>
                <a:latin typeface="Arial"/>
                <a:cs typeface="Arial"/>
              </a:rPr>
              <a:t>Adoption is happening </a:t>
            </a:r>
          </a:p>
        </p:txBody>
      </p:sp>
      <p:sp>
        <p:nvSpPr>
          <p:cNvPr id="11" name="Text 9"/>
          <p:cNvSpPr/>
          <p:nvPr/>
        </p:nvSpPr>
        <p:spPr>
          <a:xfrm>
            <a:off x="889000" y="2489200"/>
            <a:ext cx="17272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 algn="l">
              <a:buNone/>
            </a:pPr>
            <a:r>
              <a:rPr lang="en-US" sz="1200" dirty="0">
                <a:solidFill>
                  <a:srgbClr val="2A2340"/>
                </a:solidFill>
                <a:latin typeface="Arial"/>
                <a:cs typeface="Arial"/>
              </a:rPr>
              <a:t>AI tools are spreading across the organization for many reasons, and will expand as models improve.</a:t>
            </a:r>
          </a:p>
        </p:txBody>
      </p:sp>
      <p:sp>
        <p:nvSpPr>
          <p:cNvPr id="12" name="Shape 10"/>
          <p:cNvSpPr/>
          <p:nvPr/>
        </p:nvSpPr>
        <p:spPr>
          <a:xfrm>
            <a:off x="3429000" y="1778000"/>
            <a:ext cx="2082800" cy="1905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06800" y="1955800"/>
            <a:ext cx="27145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6B46C1"/>
                </a:solidFill>
                <a:latin typeface="Arial"/>
                <a:ea typeface="Arial" pitchFamily="34" charset="-122"/>
                <a:cs typeface="Arial"/>
              </a:rPr>
              <a:t>2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35400" y="1955800"/>
            <a:ext cx="152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 algn="l">
              <a:buNone/>
            </a:pPr>
            <a:r>
              <a:rPr lang="en-US" sz="1300" b="1" dirty="0">
                <a:solidFill>
                  <a:srgbClr val="110057"/>
                </a:solidFill>
                <a:latin typeface="Arial"/>
                <a:cs typeface="Arial"/>
              </a:rPr>
              <a:t>Narrow design window</a:t>
            </a:r>
          </a:p>
        </p:txBody>
      </p:sp>
      <p:sp>
        <p:nvSpPr>
          <p:cNvPr id="15" name="Text 13"/>
          <p:cNvSpPr/>
          <p:nvPr/>
        </p:nvSpPr>
        <p:spPr>
          <a:xfrm>
            <a:off x="3606800" y="2489200"/>
            <a:ext cx="17272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 algn="l">
              <a:buNone/>
            </a:pPr>
            <a:r>
              <a:rPr lang="en-US" sz="1200" dirty="0">
                <a:solidFill>
                  <a:srgbClr val="2A2340"/>
                </a:solidFill>
                <a:latin typeface="Arial"/>
                <a:cs typeface="Arial"/>
              </a:rPr>
              <a:t>Moving early lets us build causal-inference design in before adoption is locked in everywhere.</a:t>
            </a:r>
          </a:p>
        </p:txBody>
      </p:sp>
      <p:sp>
        <p:nvSpPr>
          <p:cNvPr id="16" name="Shape 14"/>
          <p:cNvSpPr/>
          <p:nvPr/>
        </p:nvSpPr>
        <p:spPr>
          <a:xfrm>
            <a:off x="6146800" y="1778000"/>
            <a:ext cx="2082800" cy="1905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24600" y="1955800"/>
            <a:ext cx="27145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6B46C1"/>
                </a:solidFill>
                <a:latin typeface="Arial"/>
                <a:ea typeface="Arial" pitchFamily="34" charset="-122"/>
                <a:cs typeface="Arial"/>
              </a:rPr>
              <a:t>3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53200" y="1955800"/>
            <a:ext cx="152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 algn="l">
              <a:buNone/>
            </a:pPr>
            <a:r>
              <a:rPr lang="en-US" sz="1300" b="1" dirty="0">
                <a:solidFill>
                  <a:srgbClr val="110057"/>
                </a:solidFill>
                <a:latin typeface="Arial"/>
                <a:cs typeface="Arial"/>
              </a:rPr>
              <a:t>A cautionary precedent</a:t>
            </a:r>
          </a:p>
        </p:txBody>
      </p:sp>
      <p:sp>
        <p:nvSpPr>
          <p:cNvPr id="19" name="Text 17"/>
          <p:cNvSpPr/>
          <p:nvPr/>
        </p:nvSpPr>
        <p:spPr>
          <a:xfrm>
            <a:off x="6324600" y="2489200"/>
            <a:ext cx="17272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 algn="l">
              <a:buNone/>
            </a:pPr>
            <a:r>
              <a:rPr lang="en-US" sz="1200" dirty="0">
                <a:solidFill>
                  <a:srgbClr val="2A2340"/>
                </a:solidFill>
                <a:latin typeface="Arial"/>
                <a:cs typeface="Arial"/>
              </a:rPr>
              <a:t>“Hotspotting” looked transformative — until the RCT showed regression to the mean. Enthusiasm is not evidence.</a:t>
            </a:r>
          </a:p>
        </p:txBody>
      </p:sp>
      <p:sp>
        <p:nvSpPr>
          <p:cNvPr id="20" name="Shape 18"/>
          <p:cNvSpPr/>
          <p:nvPr/>
        </p:nvSpPr>
        <p:spPr>
          <a:xfrm>
            <a:off x="942952" y="3962400"/>
            <a:ext cx="7257869" cy="558800"/>
          </a:xfrm>
          <a:prstGeom prst="roundRect">
            <a:avLst/>
          </a:prstGeom>
          <a:solidFill>
            <a:srgbClr val="F1ECFF"/>
          </a:solidFill>
          <a:ln w="19050">
            <a:solidFill>
              <a:srgbClr val="C7B7FF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71546" y="4064000"/>
            <a:ext cx="68006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 b="1" dirty="0">
                <a:solidFill>
                  <a:srgbClr val="2E0B7A"/>
                </a:solidFill>
                <a:latin typeface="Arial"/>
                <a:cs typeface="Arial"/>
              </a:rPr>
              <a:t>Design the evaluation now and we learn which AI workflows truly help and which should be discouraged or de-adopted.</a:t>
            </a:r>
          </a:p>
        </p:txBody>
      </p:sp>
      <p:sp>
        <p:nvSpPr>
          <p:cNvPr id="22" name="Text 20"/>
          <p:cNvSpPr/>
          <p:nvPr/>
        </p:nvSpPr>
        <p:spPr>
          <a:xfrm>
            <a:off x="714358" y="4902200"/>
            <a:ext cx="77150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dirty="0">
                <a:solidFill>
                  <a:srgbClr val="7A7A7A"/>
                </a:solidFill>
                <a:latin typeface="Arial"/>
                <a:cs typeface="Arial"/>
              </a:rPr>
              <a:t>Cautionary precedent: Camden Coalition hotspotting RCT (Finkelstein et al., NEJM 2020).</a:t>
            </a:r>
          </a:p>
        </p:txBody>
      </p:sp>
      <p:sp>
        <p:nvSpPr>
          <p:cNvPr id="6" name="flow_arrow_1">
            <a:extLst>
              <a:ext uri="{FF2B5EF4-FFF2-40B4-BE49-F238E27FC236}">
                <a16:creationId xmlns:a16="http://schemas.microsoft.com/office/drawing/2014/main" id="{A4099E2E-8D4B-234C-B514-E09396CCA819}"/>
              </a:ext>
            </a:extLst>
          </p:cNvPr>
          <p:cNvSpPr/>
          <p:nvPr/>
        </p:nvSpPr>
        <p:spPr>
          <a:xfrm>
            <a:off x="2895600" y="2616200"/>
            <a:ext cx="457200" cy="228600"/>
          </a:xfrm>
          <a:prstGeom prst="rightArrow">
            <a:avLst/>
          </a:prstGeom>
          <a:solidFill>
            <a:srgbClr val="4B00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flow_arrow_2">
            <a:extLst>
              <a:ext uri="{FF2B5EF4-FFF2-40B4-BE49-F238E27FC236}">
                <a16:creationId xmlns:a16="http://schemas.microsoft.com/office/drawing/2014/main" id="{5DFF395A-1B2D-2A49-B0BA-B6F1F33255CB}"/>
              </a:ext>
            </a:extLst>
          </p:cNvPr>
          <p:cNvSpPr/>
          <p:nvPr/>
        </p:nvSpPr>
        <p:spPr>
          <a:xfrm>
            <a:off x="5613400" y="2616200"/>
            <a:ext cx="457200" cy="228600"/>
          </a:xfrm>
          <a:prstGeom prst="rightArrow">
            <a:avLst/>
          </a:prstGeom>
          <a:solidFill>
            <a:srgbClr val="4B00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03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28615" y="728663"/>
            <a:ext cx="50005" cy="3714750"/>
          </a:xfrm>
          <a:prstGeom prst="rect">
            <a:avLst/>
          </a:prstGeom>
          <a:solidFill>
            <a:srgbClr val="6B46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4357" y="304800"/>
            <a:ext cx="5334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1100" b="1" kern="1200">
                <a:solidFill>
                  <a:srgbClr val="4A00E2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 algn="l">
              <a:buNone/>
            </a:pPr>
            <a:r>
              <a:rPr lang="en-US" sz="1100" b="1" dirty="0">
                <a:solidFill>
                  <a:srgbClr val="4A00E2"/>
                </a:solidFill>
                <a:latin typeface="Arial"/>
                <a:cs typeface="Arial"/>
              </a:rPr>
              <a:t>ASCEND-MA | CAUTIONARY PRECEDENT</a:t>
            </a:r>
          </a:p>
        </p:txBody>
      </p:sp>
      <p:sp>
        <p:nvSpPr>
          <p:cNvPr id="5" name="Text 3"/>
          <p:cNvSpPr/>
          <p:nvPr/>
        </p:nvSpPr>
        <p:spPr>
          <a:xfrm>
            <a:off x="714358" y="508000"/>
            <a:ext cx="77150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>
            <a:lvl1pPr marL="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24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solidFill>
                  <a:srgbClr val="110057"/>
                </a:solidFill>
                <a:latin typeface="Arial"/>
                <a:cs typeface="Arial"/>
              </a:rPr>
              <a:t>Hotspotting looked transformative — until it was randomized</a:t>
            </a:r>
          </a:p>
        </p:txBody>
      </p:sp>
      <p:sp>
        <p:nvSpPr>
          <p:cNvPr id="7" name="Shape 5"/>
          <p:cNvSpPr/>
          <p:nvPr/>
        </p:nvSpPr>
        <p:spPr>
          <a:xfrm>
            <a:off x="714358" y="1219200"/>
            <a:ext cx="7715057" cy="14288"/>
          </a:xfrm>
          <a:prstGeom prst="rect">
            <a:avLst/>
          </a:prstGeom>
          <a:solidFill>
            <a:srgbClr val="D5DC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11200" y="1397000"/>
            <a:ext cx="4572000" cy="1066800"/>
          </a:xfrm>
          <a:prstGeom prst="roundRect">
            <a:avLst/>
          </a:prstGeom>
          <a:solidFill>
            <a:srgbClr val="F4F1FF"/>
          </a:solidFill>
          <a:ln w="12700">
            <a:solidFill>
              <a:srgbClr val="E2DAFF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1524000"/>
            <a:ext cx="416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9pPr>
          </a:lstStyle>
          <a:p>
            <a:pPr algn="l"/>
            <a:r>
              <a:rPr lang="en-US" sz="1300" b="1" dirty="0">
                <a:solidFill>
                  <a:srgbClr val="2E0B7A"/>
                </a:solidFill>
                <a:latin typeface="Arial"/>
                <a:cs typeface="Arial"/>
              </a:rPr>
              <a:t>THE EXCITEMENT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1803400"/>
            <a:ext cx="416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9pPr>
          </a:lstStyle>
          <a:p>
            <a:pPr algn="l"/>
            <a:r>
              <a:rPr lang="en-US" sz="1300" dirty="0">
                <a:solidFill>
                  <a:srgbClr val="2A2340"/>
                </a:solidFill>
                <a:latin typeface="Arial"/>
                <a:cs typeface="Arial"/>
              </a:rPr>
              <a:t>Intensive care management for super-utilizers showed steep drops in admissions and cost in before-after data.</a:t>
            </a:r>
          </a:p>
        </p:txBody>
      </p:sp>
      <p:sp>
        <p:nvSpPr>
          <p:cNvPr id="16" name="Shape 14"/>
          <p:cNvSpPr/>
          <p:nvPr/>
        </p:nvSpPr>
        <p:spPr>
          <a:xfrm>
            <a:off x="711200" y="2590800"/>
            <a:ext cx="4572000" cy="10668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FFC9C9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2717800"/>
            <a:ext cx="416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1300" b="1" kern="1200">
                <a:solidFill>
                  <a:srgbClr val="110057"/>
                </a:solidFill>
                <a:latin typeface="Arial"/>
                <a:ea typeface="+mn-ea"/>
                <a:cs typeface="Arial"/>
              </a:defRPr>
            </a:lvl9pPr>
          </a:lstStyle>
          <a:p>
            <a:pPr algn="l"/>
            <a:r>
              <a:rPr lang="en-US" sz="1300" b="1" dirty="0">
                <a:solidFill>
                  <a:srgbClr val="C62828"/>
                </a:solidFill>
                <a:latin typeface="Arial"/>
                <a:cs typeface="Arial"/>
              </a:rPr>
              <a:t>THE CONTROLLED REALITY</a:t>
            </a:r>
          </a:p>
        </p:txBody>
      </p:sp>
      <p:sp>
        <p:nvSpPr>
          <p:cNvPr id="19" name="Text 17"/>
          <p:cNvSpPr/>
          <p:nvPr/>
        </p:nvSpPr>
        <p:spPr>
          <a:xfrm>
            <a:off x="914400" y="2997200"/>
            <a:ext cx="416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1pPr>
            <a:lvl2pPr marL="3429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2pPr>
            <a:lvl3pPr marL="6858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3pPr>
            <a:lvl4pPr marL="10287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4pPr>
            <a:lvl5pPr marL="13716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5pPr>
            <a:lvl6pPr marL="17145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6pPr>
            <a:lvl7pPr marL="20574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7pPr>
            <a:lvl8pPr marL="24003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8pPr>
            <a:lvl9pPr marL="2743200" algn="l" defTabSz="685800" rtl="0" eaLnBrk="1" latinLnBrk="0" hangingPunct="1">
              <a:defRPr sz="1200" b="0" kern="1200">
                <a:solidFill>
                  <a:srgbClr val="2A2340"/>
                </a:solidFill>
                <a:latin typeface="Arial"/>
                <a:ea typeface="+mn-ea"/>
                <a:cs typeface="Arial"/>
              </a:defRPr>
            </a:lvl9pPr>
          </a:lstStyle>
          <a:p>
            <a:pPr algn="l"/>
            <a:r>
              <a:rPr lang="en-US" sz="1300" dirty="0">
                <a:solidFill>
                  <a:srgbClr val="2A2340"/>
                </a:solidFill>
                <a:latin typeface="Arial"/>
                <a:cs typeface="Arial"/>
              </a:rPr>
              <a:t>The Camden Coalition RCT found no reduction in 180-day readmissions versus usual care.</a:t>
            </a:r>
          </a:p>
        </p:txBody>
      </p:sp>
      <p:sp>
        <p:nvSpPr>
          <p:cNvPr id="20" name="Shape 18"/>
          <p:cNvSpPr/>
          <p:nvPr/>
        </p:nvSpPr>
        <p:spPr>
          <a:xfrm>
            <a:off x="711200" y="3810000"/>
            <a:ext cx="4572000" cy="990600"/>
          </a:xfrm>
          <a:prstGeom prst="roundRect">
            <a:avLst/>
          </a:prstGeom>
          <a:solidFill>
            <a:srgbClr val="F1ECFF"/>
          </a:solidFill>
          <a:ln w="19050">
            <a:solidFill>
              <a:srgbClr val="C7B7FF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" y="3911600"/>
            <a:ext cx="4165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300" dirty="0">
                <a:solidFill>
                  <a:srgbClr val="2A2340"/>
                </a:solidFill>
                <a:latin typeface="Arial"/>
                <a:cs typeface="Arial"/>
              </a:rPr>
              <a:t>Why it failed: patients enter at a peak and many improve anyway… without a control arm, </a:t>
            </a:r>
            <a:r>
              <a:rPr lang="en-US" sz="1300" b="1" dirty="0">
                <a:solidFill>
                  <a:srgbClr val="2A2340"/>
                </a:solidFill>
                <a:latin typeface="Arial"/>
                <a:cs typeface="Arial"/>
              </a:rPr>
              <a:t>regression to the mean looks like impact</a:t>
            </a:r>
            <a:r>
              <a:rPr lang="en-US" sz="1300" dirty="0">
                <a:solidFill>
                  <a:srgbClr val="2A234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22" name="Text 20"/>
          <p:cNvSpPr/>
          <p:nvPr/>
        </p:nvSpPr>
        <p:spPr>
          <a:xfrm>
            <a:off x="714358" y="4902200"/>
            <a:ext cx="77150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dirty="0">
                <a:solidFill>
                  <a:srgbClr val="7A7A7A"/>
                </a:solidFill>
                <a:latin typeface="Arial"/>
                <a:cs typeface="Arial"/>
              </a:rPr>
              <a:t>Source: Finkelstein et al., Health Care Hotspotting — A Randomized, Controlled Trial. N Engl J Med 2020;382:152-162.</a:t>
            </a:r>
          </a:p>
        </p:txBody>
      </p:sp>
      <p:sp>
        <p:nvSpPr>
          <p:cNvPr id="6" name="vs_marker">
            <a:extLst>
              <a:ext uri="{FF2B5EF4-FFF2-40B4-BE49-F238E27FC236}">
                <a16:creationId xmlns:a16="http://schemas.microsoft.com/office/drawing/2014/main" id="{D1CAC94D-8D2F-CA48-9701-2D5954ECB2BA}"/>
              </a:ext>
            </a:extLst>
          </p:cNvPr>
          <p:cNvSpPr/>
          <p:nvPr/>
        </p:nvSpPr>
        <p:spPr>
          <a:xfrm>
            <a:off x="2794000" y="2324100"/>
            <a:ext cx="406400" cy="406400"/>
          </a:xfrm>
          <a:prstGeom prst="ellipse">
            <a:avLst/>
          </a:prstGeom>
          <a:solidFill>
            <a:srgbClr val="1700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vs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29EAEF-F3DE-03C3-2C01-AE253620E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250" y="1397000"/>
            <a:ext cx="22225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27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FBDFF7-239F-F84E-8524-CFA88A354E53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004A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4F0AB3-F3F1-7E41-936D-360E7FCD0F1E}"/>
              </a:ext>
            </a:extLst>
          </p:cNvPr>
          <p:cNvSpPr txBox="1"/>
          <p:nvPr/>
        </p:nvSpPr>
        <p:spPr>
          <a:xfrm>
            <a:off x="609600" y="787400"/>
            <a:ext cx="79248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AIM-HIGH: Intermountain-</a:t>
            </a:r>
            <a:r>
              <a:rPr lang="en-US" b="1" dirty="0" err="1">
                <a:solidFill>
                  <a:srgbClr val="FFFFFF"/>
                </a:solidFill>
                <a:latin typeface="Arial"/>
                <a:cs typeface="Arial"/>
              </a:rPr>
              <a:t>SelectHealth</a:t>
            </a:r>
            <a:endParaRPr lang="en-US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FAAF4C-C337-9F4C-AD9B-E7921D5B77F0}"/>
              </a:ext>
            </a:extLst>
          </p:cNvPr>
          <p:cNvSpPr txBox="1"/>
          <p:nvPr/>
        </p:nvSpPr>
        <p:spPr>
          <a:xfrm>
            <a:off x="609600" y="1549400"/>
            <a:ext cx="8102600" cy="660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r>
              <a:rPr lang="en-US" sz="3000" b="1" dirty="0">
                <a:solidFill>
                  <a:srgbClr val="FF5A5A"/>
                </a:solidFill>
                <a:latin typeface="Arial"/>
                <a:cs typeface="Arial"/>
              </a:rPr>
              <a:t>Inpatient-Outpatient Transition for Patients with Hypercapnic Respiratory Failure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7D3A8-4949-AB43-97CF-CC52BB0FC493}"/>
              </a:ext>
            </a:extLst>
          </p:cNvPr>
          <p:cNvSpPr txBox="1"/>
          <p:nvPr/>
        </p:nvSpPr>
        <p:spPr>
          <a:xfrm>
            <a:off x="609600" y="3556000"/>
            <a:ext cx="8255000" cy="1168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K23: </a:t>
            </a:r>
          </a:p>
          <a:p>
            <a:r>
              <a:rPr lang="en-US" sz="1500" dirty="0">
                <a:solidFill>
                  <a:srgbClr val="FFFFFF"/>
                </a:solidFill>
                <a:latin typeface="Arial"/>
                <a:cs typeface="Arial"/>
              </a:rPr>
              <a:t>Aim 1: Develop and temporally validate automated discharge-risk estimates
</a:t>
            </a:r>
            <a:r>
              <a:rPr lang="en-US" sz="1500" u="sng" dirty="0">
                <a:solidFill>
                  <a:srgbClr val="FFFFFF"/>
                </a:solidFill>
                <a:latin typeface="Arial"/>
                <a:cs typeface="Arial"/>
              </a:rPr>
              <a:t>Aim 2: Compare early EHR, discharge EHR, and claims-augmented predictor sets</a:t>
            </a:r>
            <a:r>
              <a:rPr lang="en-US" sz="1500" dirty="0">
                <a:solidFill>
                  <a:srgbClr val="FFFFFF"/>
                </a:solidFill>
                <a:latin typeface="Arial"/>
                <a:cs typeface="Arial"/>
              </a:rPr>
              <a:t>
Aim 3: Test whether target choice changes capacity-limited triage panels</a:t>
            </a:r>
          </a:p>
        </p:txBody>
      </p:sp>
      <p:sp>
        <p:nvSpPr>
          <p:cNvPr id="16" name="ASCEND-MA Study Team">
            <a:extLst>
              <a:ext uri="{FF2B5EF4-FFF2-40B4-BE49-F238E27FC236}">
                <a16:creationId xmlns:a16="http://schemas.microsoft.com/office/drawing/2014/main" id="{5E782831-C440-DE43-AF69-19AB9B7227C9}"/>
              </a:ext>
            </a:extLst>
          </p:cNvPr>
          <p:cNvSpPr txBox="1"/>
          <p:nvPr/>
        </p:nvSpPr>
        <p:spPr>
          <a:xfrm>
            <a:off x="609600" y="2641600"/>
            <a:ext cx="8102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b="1">
                <a:solidFill>
                  <a:srgbClr val="C9C3EA"/>
                </a:solidFill>
                <a:latin typeface="Arial"/>
                <a:cs typeface="Arial"/>
              </a:rPr>
              <a:t>AIM-HIGH study team: Brian Locke, David Hedges, Rylan Fowers, Nick Green, Samuel Brown</a:t>
            </a:r>
          </a:p>
        </p:txBody>
      </p:sp>
    </p:spTree>
    <p:extLst>
      <p:ext uri="{BB962C8B-B14F-4D97-AF65-F5344CB8AC3E}">
        <p14:creationId xmlns:p14="http://schemas.microsoft.com/office/powerpoint/2010/main" val="1035597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465A1-5871-0F61-E7D9-E4BEB74EC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911D5D2-7088-C972-4C76-BF743A0146B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5B4619-707F-771D-2A5E-C38B8D279B98}"/>
              </a:ext>
            </a:extLst>
          </p:cNvPr>
          <p:cNvSpPr/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5200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7F6582-2484-D2E2-35A3-A92C7172B5CC}"/>
              </a:ext>
            </a:extLst>
          </p:cNvPr>
          <p:cNvSpPr txBox="1"/>
          <p:nvPr/>
        </p:nvSpPr>
        <p:spPr>
          <a:xfrm>
            <a:off x="552450" y="304800"/>
            <a:ext cx="4646274" cy="36302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 dirty="0">
                <a:solidFill>
                  <a:srgbClr val="4A00E2"/>
                </a:solidFill>
                <a:latin typeface="Arial"/>
                <a:cs typeface="Arial"/>
              </a:rPr>
              <a:t>RATIONALE | HYPERCAPNIC RF TRANSITION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7A4DB7-BD82-E565-D85B-A5A5555ADCC7}"/>
              </a:ext>
            </a:extLst>
          </p:cNvPr>
          <p:cNvSpPr txBox="1"/>
          <p:nvPr/>
        </p:nvSpPr>
        <p:spPr>
          <a:xfrm>
            <a:off x="552450" y="495300"/>
            <a:ext cx="79375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 fontScale="92500" lnSpcReduction="10000"/>
          </a:bodyPr>
          <a:lstStyle/>
          <a:p>
            <a:pPr algn="l"/>
            <a:r>
              <a:rPr lang="en-US" sz="2400" b="1" dirty="0">
                <a:solidFill>
                  <a:srgbClr val="110057"/>
                </a:solidFill>
                <a:latin typeface="Arial"/>
                <a:cs typeface="Arial"/>
              </a:rPr>
              <a:t>Hypercapnic respiratory failure is high-burden — and these patients are under-evaluated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5A214D-FD24-D329-9279-2F798DC44786}"/>
              </a:ext>
            </a:extLst>
          </p:cNvPr>
          <p:cNvSpPr/>
          <p:nvPr/>
        </p:nvSpPr>
        <p:spPr>
          <a:xfrm>
            <a:off x="668035" y="1226477"/>
            <a:ext cx="3465814" cy="433227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6DDED0-F4EF-450E-ECC6-43727B0FF722}"/>
              </a:ext>
            </a:extLst>
          </p:cNvPr>
          <p:cNvSpPr txBox="1"/>
          <p:nvPr/>
        </p:nvSpPr>
        <p:spPr>
          <a:xfrm>
            <a:off x="652972" y="1257300"/>
            <a:ext cx="2491355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 b="1" dirty="0">
                <a:solidFill>
                  <a:srgbClr val="5200FF"/>
                </a:solidFill>
                <a:latin typeface="Arial"/>
                <a:cs typeface="Arial"/>
              </a:rPr>
              <a:t>~1 in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1DE83D-66A7-8A7A-4F74-EE1DE60B32B6}"/>
              </a:ext>
            </a:extLst>
          </p:cNvPr>
          <p:cNvSpPr txBox="1"/>
          <p:nvPr/>
        </p:nvSpPr>
        <p:spPr>
          <a:xfrm>
            <a:off x="1535987" y="1312666"/>
            <a:ext cx="2941491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16004B"/>
                </a:solidFill>
                <a:latin typeface="Arial"/>
                <a:cs typeface="Arial"/>
              </a:rPr>
              <a:t>readmitted within 30 days (national)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457AEC-054C-0A65-8888-64C10E898E34}"/>
              </a:ext>
            </a:extLst>
          </p:cNvPr>
          <p:cNvSpPr/>
          <p:nvPr/>
        </p:nvSpPr>
        <p:spPr>
          <a:xfrm>
            <a:off x="4398303" y="1209997"/>
            <a:ext cx="3041650" cy="4479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26B2E4-7275-4794-A512-CAB78FF10C1A}"/>
              </a:ext>
            </a:extLst>
          </p:cNvPr>
          <p:cNvSpPr txBox="1"/>
          <p:nvPr/>
        </p:nvSpPr>
        <p:spPr>
          <a:xfrm>
            <a:off x="4398303" y="1213493"/>
            <a:ext cx="19685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 b="1" dirty="0">
                <a:solidFill>
                  <a:srgbClr val="5200FF"/>
                </a:solidFill>
                <a:latin typeface="Arial"/>
                <a:cs typeface="Arial"/>
              </a:rPr>
              <a:t>~10×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58AEB0-6AB8-BB6B-BD9E-3B837A38CC97}"/>
              </a:ext>
            </a:extLst>
          </p:cNvPr>
          <p:cNvSpPr txBox="1"/>
          <p:nvPr/>
        </p:nvSpPr>
        <p:spPr>
          <a:xfrm>
            <a:off x="5053851" y="1282700"/>
            <a:ext cx="25527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16004B"/>
                </a:solidFill>
                <a:latin typeface="Arial"/>
                <a:cs typeface="Arial"/>
              </a:rPr>
              <a:t>age-expected mortality (national)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67568A-B793-208D-94D1-0BD0443FC5BB}"/>
              </a:ext>
            </a:extLst>
          </p:cNvPr>
          <p:cNvSpPr/>
          <p:nvPr/>
        </p:nvSpPr>
        <p:spPr>
          <a:xfrm>
            <a:off x="2080553" y="3509053"/>
            <a:ext cx="5359400" cy="80519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8642A6-F4EC-0AEF-92C7-825F2AFC1854}"/>
              </a:ext>
            </a:extLst>
          </p:cNvPr>
          <p:cNvSpPr txBox="1"/>
          <p:nvPr/>
        </p:nvSpPr>
        <p:spPr>
          <a:xfrm>
            <a:off x="2842553" y="3610653"/>
            <a:ext cx="44196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 b="1" dirty="0">
                <a:solidFill>
                  <a:srgbClr val="C62828"/>
                </a:solidFill>
                <a:latin typeface="Arial"/>
                <a:cs typeface="Arial"/>
              </a:rPr>
              <a:t>Cause Seldom Investigated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6C49E1-FDAB-DE78-057D-1140A631C7FA}"/>
              </a:ext>
            </a:extLst>
          </p:cNvPr>
          <p:cNvSpPr txBox="1"/>
          <p:nvPr/>
        </p:nvSpPr>
        <p:spPr>
          <a:xfrm>
            <a:off x="2086387" y="3994650"/>
            <a:ext cx="5488112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16004B"/>
                </a:solidFill>
                <a:latin typeface="Arial"/>
                <a:cs typeface="Arial"/>
              </a:rPr>
              <a:t>31% PFTs, 21% Sleep study 5y before; 15% PFTs, 10% Sleep study 1y after. </a:t>
            </a:r>
          </a:p>
        </p:txBody>
      </p:sp>
      <p:sp>
        <p:nvSpPr>
          <p:cNvPr id="2" name="cost_label">
            <a:extLst>
              <a:ext uri="{FF2B5EF4-FFF2-40B4-BE49-F238E27FC236}">
                <a16:creationId xmlns:a16="http://schemas.microsoft.com/office/drawing/2014/main" id="{FEC80EE4-C2A4-C64B-927A-6717B5B99942}"/>
              </a:ext>
            </a:extLst>
          </p:cNvPr>
          <p:cNvSpPr txBox="1"/>
          <p:nvPr/>
        </p:nvSpPr>
        <p:spPr>
          <a:xfrm>
            <a:off x="711200" y="1676400"/>
            <a:ext cx="77216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 dirty="0">
                <a:solidFill>
                  <a:srgbClr val="4A00E2"/>
                </a:solidFill>
                <a:latin typeface="Arial"/>
                <a:cs typeface="Arial"/>
              </a:rPr>
              <a:t>COST BURDEN · PLAN-PAID PER-MEMBER-PER-MONTH (n=5,624, first </a:t>
            </a:r>
            <a:r>
              <a:rPr lang="en-US" sz="1100" b="1" dirty="0" err="1">
                <a:solidFill>
                  <a:srgbClr val="4A00E2"/>
                </a:solidFill>
                <a:latin typeface="Arial"/>
                <a:cs typeface="Arial"/>
              </a:rPr>
              <a:t>hypercap</a:t>
            </a:r>
            <a:r>
              <a:rPr lang="en-US" sz="1100" b="1" dirty="0">
                <a:solidFill>
                  <a:srgbClr val="4A00E2"/>
                </a:solidFill>
                <a:latin typeface="Arial"/>
                <a:cs typeface="Arial"/>
              </a:rPr>
              <a:t> RF hospitalization, 2016–2024)</a:t>
            </a:r>
          </a:p>
        </p:txBody>
      </p:sp>
      <p:sp>
        <p:nvSpPr>
          <p:cNvPr id="3" name="coststep">
            <a:extLst>
              <a:ext uri="{FF2B5EF4-FFF2-40B4-BE49-F238E27FC236}">
                <a16:creationId xmlns:a16="http://schemas.microsoft.com/office/drawing/2014/main" id="{6ADAA43F-5B79-6644-BC5B-7034B7E3C610}"/>
              </a:ext>
            </a:extLst>
          </p:cNvPr>
          <p:cNvSpPr/>
          <p:nvPr/>
        </p:nvSpPr>
        <p:spPr>
          <a:xfrm>
            <a:off x="711200" y="1981200"/>
            <a:ext cx="1549400" cy="1041400"/>
          </a:xfrm>
          <a:prstGeom prst="roundRect">
            <a:avLst/>
          </a:prstGeom>
          <a:solidFill>
            <a:srgbClr val="F4F1FF"/>
          </a:solidFill>
          <a:ln w="9525">
            <a:solidFill>
              <a:srgbClr val="EDE7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10D9B-BAA2-F649-845B-96F7884F6D00}"/>
              </a:ext>
            </a:extLst>
          </p:cNvPr>
          <p:cNvSpPr txBox="1"/>
          <p:nvPr/>
        </p:nvSpPr>
        <p:spPr>
          <a:xfrm>
            <a:off x="838200" y="2133600"/>
            <a:ext cx="1295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4A00E2"/>
                </a:solidFill>
                <a:latin typeface="Arial"/>
                <a:cs typeface="Arial"/>
              </a:rPr>
              <a:t>Early baseline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E75A0-8A11-4C4D-BCD3-62594C164D4E}"/>
              </a:ext>
            </a:extLst>
          </p:cNvPr>
          <p:cNvSpPr txBox="1"/>
          <p:nvPr/>
        </p:nvSpPr>
        <p:spPr>
          <a:xfrm>
            <a:off x="838200" y="2362200"/>
            <a:ext cx="1295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10057"/>
                </a:solidFill>
                <a:latin typeface="Arial"/>
                <a:cs typeface="Arial"/>
              </a:rPr>
              <a:t>$3,571/mo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EDAFD9-F0F6-8647-A2C7-FB19B440830E}"/>
              </a:ext>
            </a:extLst>
          </p:cNvPr>
          <p:cNvSpPr txBox="1"/>
          <p:nvPr/>
        </p:nvSpPr>
        <p:spPr>
          <a:xfrm>
            <a:off x="838200" y="2717800"/>
            <a:ext cx="1295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>
                <a:solidFill>
                  <a:srgbClr val="2A2340"/>
                </a:solidFill>
                <a:latin typeface="Arial"/>
                <a:cs typeface="Arial"/>
              </a:rPr>
              <a:t>months −12 to −4</a:t>
            </a:r>
          </a:p>
        </p:txBody>
      </p:sp>
      <p:sp>
        <p:nvSpPr>
          <p:cNvPr id="8" name="coststep">
            <a:extLst>
              <a:ext uri="{FF2B5EF4-FFF2-40B4-BE49-F238E27FC236}">
                <a16:creationId xmlns:a16="http://schemas.microsoft.com/office/drawing/2014/main" id="{F63A7FA0-EE95-4F4B-927D-88632FE5E0FF}"/>
              </a:ext>
            </a:extLst>
          </p:cNvPr>
          <p:cNvSpPr/>
          <p:nvPr/>
        </p:nvSpPr>
        <p:spPr>
          <a:xfrm>
            <a:off x="2768600" y="1981200"/>
            <a:ext cx="1549400" cy="1041400"/>
          </a:xfrm>
          <a:prstGeom prst="roundRect">
            <a:avLst/>
          </a:prstGeom>
          <a:solidFill>
            <a:srgbClr val="F4F1FF"/>
          </a:solidFill>
          <a:ln w="9525">
            <a:solidFill>
              <a:srgbClr val="EDE7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BF7AB3-F955-BF47-9411-77776971998E}"/>
              </a:ext>
            </a:extLst>
          </p:cNvPr>
          <p:cNvSpPr txBox="1"/>
          <p:nvPr/>
        </p:nvSpPr>
        <p:spPr>
          <a:xfrm>
            <a:off x="2895600" y="2133600"/>
            <a:ext cx="1295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4A00E2"/>
                </a:solidFill>
                <a:latin typeface="Arial"/>
                <a:cs typeface="Arial"/>
              </a:rPr>
              <a:t>Pre-index 3 mo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A7B8E-E3EA-0349-8D71-CA2E724D6E3B}"/>
              </a:ext>
            </a:extLst>
          </p:cNvPr>
          <p:cNvSpPr txBox="1"/>
          <p:nvPr/>
        </p:nvSpPr>
        <p:spPr>
          <a:xfrm>
            <a:off x="2895600" y="2362200"/>
            <a:ext cx="1295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10057"/>
                </a:solidFill>
                <a:latin typeface="Arial"/>
                <a:cs typeface="Arial"/>
              </a:rPr>
              <a:t>$6,311/mo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889A7-FE51-B949-9B70-10A93359B8EF}"/>
              </a:ext>
            </a:extLst>
          </p:cNvPr>
          <p:cNvSpPr txBox="1"/>
          <p:nvPr/>
        </p:nvSpPr>
        <p:spPr>
          <a:xfrm>
            <a:off x="2895600" y="2717800"/>
            <a:ext cx="1295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>
                <a:solidFill>
                  <a:srgbClr val="2A2340"/>
                </a:solidFill>
                <a:latin typeface="Arial"/>
                <a:cs typeface="Arial"/>
              </a:rPr>
              <a:t>+77% vs baseline</a:t>
            </a:r>
          </a:p>
        </p:txBody>
      </p:sp>
      <p:sp>
        <p:nvSpPr>
          <p:cNvPr id="12" name="coststep">
            <a:extLst>
              <a:ext uri="{FF2B5EF4-FFF2-40B4-BE49-F238E27FC236}">
                <a16:creationId xmlns:a16="http://schemas.microsoft.com/office/drawing/2014/main" id="{E1C1D516-9978-3B42-A0F0-F6FCFD075ED3}"/>
              </a:ext>
            </a:extLst>
          </p:cNvPr>
          <p:cNvSpPr/>
          <p:nvPr/>
        </p:nvSpPr>
        <p:spPr>
          <a:xfrm>
            <a:off x="4826000" y="1981200"/>
            <a:ext cx="1549400" cy="1041400"/>
          </a:xfrm>
          <a:prstGeom prst="roundRect">
            <a:avLst/>
          </a:prstGeom>
          <a:solidFill>
            <a:srgbClr val="110057"/>
          </a:solidFill>
          <a:ln w="9525">
            <a:solidFill>
              <a:srgbClr val="11005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486CB7-2001-A742-912D-0E0AFDC6E8C4}"/>
              </a:ext>
            </a:extLst>
          </p:cNvPr>
          <p:cNvSpPr txBox="1"/>
          <p:nvPr/>
        </p:nvSpPr>
        <p:spPr>
          <a:xfrm>
            <a:off x="4953000" y="2133600"/>
            <a:ext cx="1295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C9BFFF"/>
                </a:solidFill>
                <a:latin typeface="Arial"/>
                <a:cs typeface="Arial"/>
              </a:rPr>
              <a:t>Index month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0BD6B3-9DC5-AC4F-83FD-270163929590}"/>
              </a:ext>
            </a:extLst>
          </p:cNvPr>
          <p:cNvSpPr txBox="1"/>
          <p:nvPr/>
        </p:nvSpPr>
        <p:spPr>
          <a:xfrm>
            <a:off x="4953000" y="2362200"/>
            <a:ext cx="1295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Arial"/>
                <a:cs typeface="Arial"/>
              </a:rPr>
              <a:t>$50,084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F40235-64B7-194A-8922-273BC4304DF0}"/>
              </a:ext>
            </a:extLst>
          </p:cNvPr>
          <p:cNvSpPr txBox="1"/>
          <p:nvPr/>
        </p:nvSpPr>
        <p:spPr>
          <a:xfrm>
            <a:off x="4953000" y="2717800"/>
            <a:ext cx="1295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>
                <a:solidFill>
                  <a:srgbClr val="DCD6FF"/>
                </a:solidFill>
                <a:latin typeface="Arial"/>
                <a:cs typeface="Arial"/>
              </a:rPr>
              <a:t>≈14× baseline · 84% inpatient</a:t>
            </a:r>
          </a:p>
        </p:txBody>
      </p:sp>
      <p:sp>
        <p:nvSpPr>
          <p:cNvPr id="36" name="coststep">
            <a:extLst>
              <a:ext uri="{FF2B5EF4-FFF2-40B4-BE49-F238E27FC236}">
                <a16:creationId xmlns:a16="http://schemas.microsoft.com/office/drawing/2014/main" id="{53080DE9-31EB-A44B-8485-E56E53004853}"/>
              </a:ext>
            </a:extLst>
          </p:cNvPr>
          <p:cNvSpPr/>
          <p:nvPr/>
        </p:nvSpPr>
        <p:spPr>
          <a:xfrm>
            <a:off x="6883400" y="1981200"/>
            <a:ext cx="1549400" cy="1041400"/>
          </a:xfrm>
          <a:prstGeom prst="roundRect">
            <a:avLst/>
          </a:prstGeom>
          <a:solidFill>
            <a:srgbClr val="F4F1FF"/>
          </a:solidFill>
          <a:ln w="9525">
            <a:solidFill>
              <a:srgbClr val="EDE7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84F0C4-859F-A346-A356-3B8AF2B17CFD}"/>
              </a:ext>
            </a:extLst>
          </p:cNvPr>
          <p:cNvSpPr txBox="1"/>
          <p:nvPr/>
        </p:nvSpPr>
        <p:spPr>
          <a:xfrm>
            <a:off x="7010400" y="2133600"/>
            <a:ext cx="1295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4A00E2"/>
                </a:solidFill>
                <a:latin typeface="Arial"/>
                <a:cs typeface="Arial"/>
              </a:rPr>
              <a:t>Post-index 3 mo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6649DB-C096-0545-9B12-D47A15413967}"/>
              </a:ext>
            </a:extLst>
          </p:cNvPr>
          <p:cNvSpPr txBox="1"/>
          <p:nvPr/>
        </p:nvSpPr>
        <p:spPr>
          <a:xfrm>
            <a:off x="7010400" y="2362200"/>
            <a:ext cx="1295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10057"/>
                </a:solidFill>
                <a:latin typeface="Arial"/>
                <a:cs typeface="Arial"/>
              </a:rPr>
              <a:t>$6,121/mo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21E956-1952-1D4B-AFA3-D942746DCF93}"/>
              </a:ext>
            </a:extLst>
          </p:cNvPr>
          <p:cNvSpPr txBox="1"/>
          <p:nvPr/>
        </p:nvSpPr>
        <p:spPr>
          <a:xfrm>
            <a:off x="7010400" y="2717800"/>
            <a:ext cx="1295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>
                <a:solidFill>
                  <a:srgbClr val="2A2340"/>
                </a:solidFill>
                <a:latin typeface="Arial"/>
                <a:cs typeface="Arial"/>
              </a:rPr>
              <a:t>+71% vs baseline</a:t>
            </a:r>
          </a:p>
        </p:txBody>
      </p:sp>
      <p:sp>
        <p:nvSpPr>
          <p:cNvPr id="40" name="cost_arrow">
            <a:extLst>
              <a:ext uri="{FF2B5EF4-FFF2-40B4-BE49-F238E27FC236}">
                <a16:creationId xmlns:a16="http://schemas.microsoft.com/office/drawing/2014/main" id="{64C26100-7B93-D942-AE0D-81D1BADD95BC}"/>
              </a:ext>
            </a:extLst>
          </p:cNvPr>
          <p:cNvSpPr/>
          <p:nvPr/>
        </p:nvSpPr>
        <p:spPr>
          <a:xfrm>
            <a:off x="2413000" y="2400300"/>
            <a:ext cx="330200" cy="203200"/>
          </a:xfrm>
          <a:prstGeom prst="rightArrow">
            <a:avLst/>
          </a:prstGeom>
          <a:solidFill>
            <a:srgbClr val="4B00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cost_arrow">
            <a:extLst>
              <a:ext uri="{FF2B5EF4-FFF2-40B4-BE49-F238E27FC236}">
                <a16:creationId xmlns:a16="http://schemas.microsoft.com/office/drawing/2014/main" id="{F2BA6814-F622-1A4A-9CAF-6B3E0CED06B7}"/>
              </a:ext>
            </a:extLst>
          </p:cNvPr>
          <p:cNvSpPr/>
          <p:nvPr/>
        </p:nvSpPr>
        <p:spPr>
          <a:xfrm>
            <a:off x="4470400" y="2400300"/>
            <a:ext cx="330200" cy="203200"/>
          </a:xfrm>
          <a:prstGeom prst="rightArrow">
            <a:avLst/>
          </a:prstGeom>
          <a:solidFill>
            <a:srgbClr val="4B00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cost_arrow">
            <a:extLst>
              <a:ext uri="{FF2B5EF4-FFF2-40B4-BE49-F238E27FC236}">
                <a16:creationId xmlns:a16="http://schemas.microsoft.com/office/drawing/2014/main" id="{7081C1CA-F2C6-D04F-B06B-18E3D721DACB}"/>
              </a:ext>
            </a:extLst>
          </p:cNvPr>
          <p:cNvSpPr/>
          <p:nvPr/>
        </p:nvSpPr>
        <p:spPr>
          <a:xfrm>
            <a:off x="6527800" y="2400300"/>
            <a:ext cx="330200" cy="203200"/>
          </a:xfrm>
          <a:prstGeom prst="rightArrow">
            <a:avLst/>
          </a:prstGeom>
          <a:solidFill>
            <a:srgbClr val="4B00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cost_source">
            <a:extLst>
              <a:ext uri="{FF2B5EF4-FFF2-40B4-BE49-F238E27FC236}">
                <a16:creationId xmlns:a16="http://schemas.microsoft.com/office/drawing/2014/main" id="{45E35748-8602-A048-836B-46947AF0E608}"/>
              </a:ext>
            </a:extLst>
          </p:cNvPr>
          <p:cNvSpPr txBox="1"/>
          <p:nvPr/>
        </p:nvSpPr>
        <p:spPr>
          <a:xfrm>
            <a:off x="711200" y="3124200"/>
            <a:ext cx="7721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7A7A7A"/>
                </a:solidFill>
                <a:latin typeface="Arial"/>
                <a:cs typeface="Arial"/>
              </a:rPr>
              <a:t>Locke et al., ATS 2026 — SelectHealth/Intermountain cohort, 2016–2024; nominal insurer-paid claims.</a:t>
            </a:r>
          </a:p>
        </p:txBody>
      </p:sp>
    </p:spTree>
    <p:extLst>
      <p:ext uri="{BB962C8B-B14F-4D97-AF65-F5344CB8AC3E}">
        <p14:creationId xmlns:p14="http://schemas.microsoft.com/office/powerpoint/2010/main" val="15765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>
            <a:extLst>
              <a:ext uri="{FF2B5EF4-FFF2-40B4-BE49-F238E27FC236}">
                <a16:creationId xmlns:a16="http://schemas.microsoft.com/office/drawing/2014/main" id="{89357A86-52F1-DF48-A659-5B74EBEA741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accent rail">
            <a:extLst>
              <a:ext uri="{FF2B5EF4-FFF2-40B4-BE49-F238E27FC236}">
                <a16:creationId xmlns:a16="http://schemas.microsoft.com/office/drawing/2014/main" id="{2B4086AE-BC3F-6045-8443-2F70092A9631}"/>
              </a:ext>
            </a:extLst>
          </p:cNvPr>
          <p:cNvSpPr/>
          <p:nvPr/>
        </p:nvSpPr>
        <p:spPr>
          <a:xfrm>
            <a:off x="355600" y="711200"/>
            <a:ext cx="63500" cy="3708400"/>
          </a:xfrm>
          <a:prstGeom prst="rect">
            <a:avLst/>
          </a:prstGeom>
          <a:solidFill>
            <a:srgbClr val="3F247B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kicker">
            <a:extLst>
              <a:ext uri="{FF2B5EF4-FFF2-40B4-BE49-F238E27FC236}">
                <a16:creationId xmlns:a16="http://schemas.microsoft.com/office/drawing/2014/main" id="{177F3AD7-FD04-D442-B22E-BC47BF182654}"/>
              </a:ext>
            </a:extLst>
          </p:cNvPr>
          <p:cNvSpPr txBox="1"/>
          <p:nvPr/>
        </p:nvSpPr>
        <p:spPr>
          <a:xfrm>
            <a:off x="647700" y="342900"/>
            <a:ext cx="5461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 b="1">
                <a:solidFill>
                  <a:srgbClr val="3F247B"/>
                </a:solidFill>
                <a:latin typeface="Arial"/>
                <a:cs typeface="Arial"/>
              </a:rPr>
              <a:t>RISK TARGETING | LATENT VENTILATORY FRAILTY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77B662BD-420F-A24E-A8C9-57E9362CCC3E}"/>
              </a:ext>
            </a:extLst>
          </p:cNvPr>
          <p:cNvSpPr txBox="1"/>
          <p:nvPr/>
        </p:nvSpPr>
        <p:spPr>
          <a:xfrm>
            <a:off x="647700" y="596900"/>
            <a:ext cx="7874000" cy="546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150" b="1">
                <a:solidFill>
                  <a:srgbClr val="3F247B"/>
                </a:solidFill>
                <a:latin typeface="Arial"/>
                <a:cs typeface="Arial"/>
              </a:rPr>
              <a:t>Latent Ventilatory Frailty flags a high-risk, under-tested care gap</a:t>
            </a:r>
          </a:p>
        </p:txBody>
      </p:sp>
      <p:sp>
        <p:nvSpPr>
          <p:cNvPr id="6" name="card 1">
            <a:extLst>
              <a:ext uri="{FF2B5EF4-FFF2-40B4-BE49-F238E27FC236}">
                <a16:creationId xmlns:a16="http://schemas.microsoft.com/office/drawing/2014/main" id="{96E1AC99-6896-A244-926D-4CB194CC86B3}"/>
              </a:ext>
            </a:extLst>
          </p:cNvPr>
          <p:cNvSpPr/>
          <p:nvPr/>
        </p:nvSpPr>
        <p:spPr>
          <a:xfrm>
            <a:off x="812800" y="1422400"/>
            <a:ext cx="2260600" cy="22352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 1 top rule">
            <a:extLst>
              <a:ext uri="{FF2B5EF4-FFF2-40B4-BE49-F238E27FC236}">
                <a16:creationId xmlns:a16="http://schemas.microsoft.com/office/drawing/2014/main" id="{3DF18E8B-E7FE-5941-8689-4D67A4C44EE2}"/>
              </a:ext>
            </a:extLst>
          </p:cNvPr>
          <p:cNvSpPr/>
          <p:nvPr/>
        </p:nvSpPr>
        <p:spPr>
          <a:xfrm>
            <a:off x="812800" y="1422400"/>
            <a:ext cx="2260600" cy="12700"/>
          </a:xfrm>
          <a:prstGeom prst="rect">
            <a:avLst/>
          </a:prstGeom>
          <a:solidFill>
            <a:srgbClr val="DDD5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card 1 bottom rule">
            <a:extLst>
              <a:ext uri="{FF2B5EF4-FFF2-40B4-BE49-F238E27FC236}">
                <a16:creationId xmlns:a16="http://schemas.microsoft.com/office/drawing/2014/main" id="{342C2188-3700-B84C-967C-D4CA535B4B27}"/>
              </a:ext>
            </a:extLst>
          </p:cNvPr>
          <p:cNvSpPr/>
          <p:nvPr/>
        </p:nvSpPr>
        <p:spPr>
          <a:xfrm>
            <a:off x="812800" y="3644900"/>
            <a:ext cx="2260600" cy="12700"/>
          </a:xfrm>
          <a:prstGeom prst="rect">
            <a:avLst/>
          </a:prstGeom>
          <a:solidFill>
            <a:srgbClr val="DDD5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card 1 left rule">
            <a:extLst>
              <a:ext uri="{FF2B5EF4-FFF2-40B4-BE49-F238E27FC236}">
                <a16:creationId xmlns:a16="http://schemas.microsoft.com/office/drawing/2014/main" id="{DCA23985-C8DA-5445-AA64-D79E0F2B51EA}"/>
              </a:ext>
            </a:extLst>
          </p:cNvPr>
          <p:cNvSpPr/>
          <p:nvPr/>
        </p:nvSpPr>
        <p:spPr>
          <a:xfrm>
            <a:off x="812800" y="1422400"/>
            <a:ext cx="12700" cy="2235200"/>
          </a:xfrm>
          <a:prstGeom prst="rect">
            <a:avLst/>
          </a:prstGeom>
          <a:solidFill>
            <a:srgbClr val="DDD5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 1 right rule">
            <a:extLst>
              <a:ext uri="{FF2B5EF4-FFF2-40B4-BE49-F238E27FC236}">
                <a16:creationId xmlns:a16="http://schemas.microsoft.com/office/drawing/2014/main" id="{A653DA38-BF91-FD4C-996E-F5F70070B62C}"/>
              </a:ext>
            </a:extLst>
          </p:cNvPr>
          <p:cNvSpPr/>
          <p:nvPr/>
        </p:nvSpPr>
        <p:spPr>
          <a:xfrm>
            <a:off x="3060700" y="1422400"/>
            <a:ext cx="12700" cy="2235200"/>
          </a:xfrm>
          <a:prstGeom prst="rect">
            <a:avLst/>
          </a:prstGeom>
          <a:solidFill>
            <a:srgbClr val="DDD5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ag 1">
            <a:extLst>
              <a:ext uri="{FF2B5EF4-FFF2-40B4-BE49-F238E27FC236}">
                <a16:creationId xmlns:a16="http://schemas.microsoft.com/office/drawing/2014/main" id="{37AE3BF8-0CAD-374C-9F7D-59BB619A349F}"/>
              </a:ext>
            </a:extLst>
          </p:cNvPr>
          <p:cNvSpPr/>
          <p:nvPr/>
        </p:nvSpPr>
        <p:spPr>
          <a:xfrm>
            <a:off x="990600" y="1600200"/>
            <a:ext cx="1041400" cy="215900"/>
          </a:xfrm>
          <a:prstGeom prst="rect">
            <a:avLst/>
          </a:prstGeom>
          <a:solidFill>
            <a:srgbClr val="2F92C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ag text 1">
            <a:extLst>
              <a:ext uri="{FF2B5EF4-FFF2-40B4-BE49-F238E27FC236}">
                <a16:creationId xmlns:a16="http://schemas.microsoft.com/office/drawing/2014/main" id="{AA6D8F89-AF29-8E45-950E-EA872D9FE361}"/>
              </a:ext>
            </a:extLst>
          </p:cNvPr>
          <p:cNvSpPr txBox="1"/>
          <p:nvPr/>
        </p:nvSpPr>
        <p:spPr>
          <a:xfrm>
            <a:off x="1066800" y="1638300"/>
            <a:ext cx="914400" cy="12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580" b="1">
                <a:solidFill>
                  <a:srgbClr val="FFFFFF"/>
                </a:solidFill>
                <a:latin typeface="Arial"/>
                <a:cs typeface="Arial"/>
              </a:rPr>
              <a:t>WILSON ET AL.</a:t>
            </a:r>
          </a:p>
        </p:txBody>
      </p:sp>
      <p:sp>
        <p:nvSpPr>
          <p:cNvPr id="13" name="heading 1">
            <a:extLst>
              <a:ext uri="{FF2B5EF4-FFF2-40B4-BE49-F238E27FC236}">
                <a16:creationId xmlns:a16="http://schemas.microsoft.com/office/drawing/2014/main" id="{DEBAD7B0-1B36-4647-81F6-3DADA9ACCA21}"/>
              </a:ext>
            </a:extLst>
          </p:cNvPr>
          <p:cNvSpPr txBox="1"/>
          <p:nvPr/>
        </p:nvSpPr>
        <p:spPr>
          <a:xfrm>
            <a:off x="990600" y="19685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70" b="1">
                <a:solidFill>
                  <a:srgbClr val="1F2937"/>
                </a:solidFill>
                <a:latin typeface="Arial"/>
                <a:cs typeface="Arial"/>
              </a:rPr>
              <a:t>1  Risk signal</a:t>
            </a:r>
          </a:p>
        </p:txBody>
      </p:sp>
      <p:sp>
        <p:nvSpPr>
          <p:cNvPr id="14" name="body 1">
            <a:extLst>
              <a:ext uri="{FF2B5EF4-FFF2-40B4-BE49-F238E27FC236}">
                <a16:creationId xmlns:a16="http://schemas.microsoft.com/office/drawing/2014/main" id="{DB926D0B-9150-234D-958B-B9CF65DB684A}"/>
              </a:ext>
            </a:extLst>
          </p:cNvPr>
          <p:cNvSpPr txBox="1"/>
          <p:nvPr/>
        </p:nvSpPr>
        <p:spPr>
          <a:xfrm>
            <a:off x="990600" y="2400300"/>
            <a:ext cx="1905000" cy="673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70" b="1">
                <a:solidFill>
                  <a:srgbClr val="1F2937"/>
                </a:solidFill>
                <a:latin typeface="Arial"/>
                <a:cs typeface="Arial"/>
              </a:rPr>
              <a:t>PCO₂ &gt;50 with normal pH identified a high-risk hospitalized cohort.</a:t>
            </a:r>
          </a:p>
        </p:txBody>
      </p:sp>
      <p:sp>
        <p:nvSpPr>
          <p:cNvPr id="15" name="inner rule 1">
            <a:extLst>
              <a:ext uri="{FF2B5EF4-FFF2-40B4-BE49-F238E27FC236}">
                <a16:creationId xmlns:a16="http://schemas.microsoft.com/office/drawing/2014/main" id="{1ADDCE97-F868-7841-8DB1-3717E2ACD733}"/>
              </a:ext>
            </a:extLst>
          </p:cNvPr>
          <p:cNvSpPr/>
          <p:nvPr/>
        </p:nvSpPr>
        <p:spPr>
          <a:xfrm>
            <a:off x="990600" y="3175000"/>
            <a:ext cx="1905000" cy="19050"/>
          </a:xfrm>
          <a:prstGeom prst="rect">
            <a:avLst/>
          </a:prstGeom>
          <a:solidFill>
            <a:srgbClr val="DDD5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note 1">
            <a:extLst>
              <a:ext uri="{FF2B5EF4-FFF2-40B4-BE49-F238E27FC236}">
                <a16:creationId xmlns:a16="http://schemas.microsoft.com/office/drawing/2014/main" id="{BA1A9822-84D8-9E48-AAFD-9C5672B5DF07}"/>
              </a:ext>
            </a:extLst>
          </p:cNvPr>
          <p:cNvSpPr txBox="1"/>
          <p:nvPr/>
        </p:nvSpPr>
        <p:spPr>
          <a:xfrm>
            <a:off x="990600" y="3302000"/>
            <a:ext cx="190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70" b="1">
                <a:solidFill>
                  <a:srgbClr val="5B6472"/>
                </a:solidFill>
                <a:latin typeface="Arial"/>
                <a:cs typeface="Arial"/>
              </a:rPr>
              <a:t>44% died over median 592 days; adj. HR 1.09 per +5 mmHg.</a:t>
            </a:r>
          </a:p>
        </p:txBody>
      </p:sp>
      <p:sp>
        <p:nvSpPr>
          <p:cNvPr id="17" name="card 2">
            <a:extLst>
              <a:ext uri="{FF2B5EF4-FFF2-40B4-BE49-F238E27FC236}">
                <a16:creationId xmlns:a16="http://schemas.microsoft.com/office/drawing/2014/main" id="{40986AE6-8303-7A4A-8B29-3E205BCFEC7C}"/>
              </a:ext>
            </a:extLst>
          </p:cNvPr>
          <p:cNvSpPr/>
          <p:nvPr/>
        </p:nvSpPr>
        <p:spPr>
          <a:xfrm>
            <a:off x="3416300" y="1422400"/>
            <a:ext cx="2260600" cy="22352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card 2 top rule">
            <a:extLst>
              <a:ext uri="{FF2B5EF4-FFF2-40B4-BE49-F238E27FC236}">
                <a16:creationId xmlns:a16="http://schemas.microsoft.com/office/drawing/2014/main" id="{52094847-384A-8440-BD05-CCE745F333E9}"/>
              </a:ext>
            </a:extLst>
          </p:cNvPr>
          <p:cNvSpPr/>
          <p:nvPr/>
        </p:nvSpPr>
        <p:spPr>
          <a:xfrm>
            <a:off x="3416300" y="1422400"/>
            <a:ext cx="2260600" cy="12700"/>
          </a:xfrm>
          <a:prstGeom prst="rect">
            <a:avLst/>
          </a:prstGeom>
          <a:solidFill>
            <a:srgbClr val="DDD5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card 2 bottom rule">
            <a:extLst>
              <a:ext uri="{FF2B5EF4-FFF2-40B4-BE49-F238E27FC236}">
                <a16:creationId xmlns:a16="http://schemas.microsoft.com/office/drawing/2014/main" id="{B637286A-1C8B-F44B-85C8-8888BC72DF56}"/>
              </a:ext>
            </a:extLst>
          </p:cNvPr>
          <p:cNvSpPr/>
          <p:nvPr/>
        </p:nvSpPr>
        <p:spPr>
          <a:xfrm>
            <a:off x="3416300" y="3644900"/>
            <a:ext cx="2260600" cy="12700"/>
          </a:xfrm>
          <a:prstGeom prst="rect">
            <a:avLst/>
          </a:prstGeom>
          <a:solidFill>
            <a:srgbClr val="DDD5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card 2 left rule">
            <a:extLst>
              <a:ext uri="{FF2B5EF4-FFF2-40B4-BE49-F238E27FC236}">
                <a16:creationId xmlns:a16="http://schemas.microsoft.com/office/drawing/2014/main" id="{57D3C0D4-BE5E-E44A-9E05-8A89DF8C9C00}"/>
              </a:ext>
            </a:extLst>
          </p:cNvPr>
          <p:cNvSpPr/>
          <p:nvPr/>
        </p:nvSpPr>
        <p:spPr>
          <a:xfrm>
            <a:off x="3416300" y="1422400"/>
            <a:ext cx="12700" cy="2235200"/>
          </a:xfrm>
          <a:prstGeom prst="rect">
            <a:avLst/>
          </a:prstGeom>
          <a:solidFill>
            <a:srgbClr val="DDD5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card 2 right rule">
            <a:extLst>
              <a:ext uri="{FF2B5EF4-FFF2-40B4-BE49-F238E27FC236}">
                <a16:creationId xmlns:a16="http://schemas.microsoft.com/office/drawing/2014/main" id="{6BDD7253-4DF9-1340-A32E-0EAED29513E4}"/>
              </a:ext>
            </a:extLst>
          </p:cNvPr>
          <p:cNvSpPr/>
          <p:nvPr/>
        </p:nvSpPr>
        <p:spPr>
          <a:xfrm>
            <a:off x="5664200" y="1422400"/>
            <a:ext cx="12700" cy="2235200"/>
          </a:xfrm>
          <a:prstGeom prst="rect">
            <a:avLst/>
          </a:prstGeom>
          <a:solidFill>
            <a:srgbClr val="DDD5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ag 2">
            <a:extLst>
              <a:ext uri="{FF2B5EF4-FFF2-40B4-BE49-F238E27FC236}">
                <a16:creationId xmlns:a16="http://schemas.microsoft.com/office/drawing/2014/main" id="{111E00A4-4E7D-C542-A482-B5C4715021C3}"/>
              </a:ext>
            </a:extLst>
          </p:cNvPr>
          <p:cNvSpPr/>
          <p:nvPr/>
        </p:nvSpPr>
        <p:spPr>
          <a:xfrm>
            <a:off x="3594100" y="1600200"/>
            <a:ext cx="1041400" cy="215900"/>
          </a:xfrm>
          <a:prstGeom prst="rect">
            <a:avLst/>
          </a:prstGeom>
          <a:solidFill>
            <a:srgbClr val="2F92C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ag text 2">
            <a:extLst>
              <a:ext uri="{FF2B5EF4-FFF2-40B4-BE49-F238E27FC236}">
                <a16:creationId xmlns:a16="http://schemas.microsoft.com/office/drawing/2014/main" id="{8F61F428-A023-C34C-9995-1E212DF8249B}"/>
              </a:ext>
            </a:extLst>
          </p:cNvPr>
          <p:cNvSpPr txBox="1"/>
          <p:nvPr/>
        </p:nvSpPr>
        <p:spPr>
          <a:xfrm>
            <a:off x="3670300" y="1638300"/>
            <a:ext cx="914400" cy="12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580" b="1">
                <a:solidFill>
                  <a:srgbClr val="FFFFFF"/>
                </a:solidFill>
                <a:latin typeface="Arial"/>
                <a:cs typeface="Arial"/>
              </a:rPr>
              <a:t>MERDAD ET AL.</a:t>
            </a:r>
          </a:p>
        </p:txBody>
      </p:sp>
      <p:sp>
        <p:nvSpPr>
          <p:cNvPr id="24" name="heading 2">
            <a:extLst>
              <a:ext uri="{FF2B5EF4-FFF2-40B4-BE49-F238E27FC236}">
                <a16:creationId xmlns:a16="http://schemas.microsoft.com/office/drawing/2014/main" id="{1FC8D9B1-EC2B-BF4B-9694-CF0B79AA6A60}"/>
              </a:ext>
            </a:extLst>
          </p:cNvPr>
          <p:cNvSpPr txBox="1"/>
          <p:nvPr/>
        </p:nvSpPr>
        <p:spPr>
          <a:xfrm>
            <a:off x="3594100" y="19685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70" b="1">
                <a:solidFill>
                  <a:srgbClr val="1F2937"/>
                </a:solidFill>
                <a:latin typeface="Arial"/>
                <a:cs typeface="Arial"/>
              </a:rPr>
              <a:t>2  Presentation context</a:t>
            </a:r>
          </a:p>
        </p:txBody>
      </p:sp>
      <p:sp>
        <p:nvSpPr>
          <p:cNvPr id="25" name="body 2">
            <a:extLst>
              <a:ext uri="{FF2B5EF4-FFF2-40B4-BE49-F238E27FC236}">
                <a16:creationId xmlns:a16="http://schemas.microsoft.com/office/drawing/2014/main" id="{6C8F2A6B-5A8F-2D4F-B4BB-0842FB6C84D5}"/>
              </a:ext>
            </a:extLst>
          </p:cNvPr>
          <p:cNvSpPr txBox="1"/>
          <p:nvPr/>
        </p:nvSpPr>
        <p:spPr>
          <a:xfrm>
            <a:off x="3594100" y="2400300"/>
            <a:ext cx="1905000" cy="673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70" b="1">
                <a:solidFill>
                  <a:srgbClr val="1F2937"/>
                </a:solidFill>
                <a:latin typeface="Arial"/>
                <a:cs typeface="Arial"/>
              </a:rPr>
              <a:t>Respiratory concerns were enriched in coded or compensated hypercapnia.</a:t>
            </a:r>
          </a:p>
        </p:txBody>
      </p:sp>
      <p:sp>
        <p:nvSpPr>
          <p:cNvPr id="26" name="inner rule 2">
            <a:extLst>
              <a:ext uri="{FF2B5EF4-FFF2-40B4-BE49-F238E27FC236}">
                <a16:creationId xmlns:a16="http://schemas.microsoft.com/office/drawing/2014/main" id="{55CF8A4C-2CE7-684C-B65C-749159A08308}"/>
              </a:ext>
            </a:extLst>
          </p:cNvPr>
          <p:cNvSpPr/>
          <p:nvPr/>
        </p:nvSpPr>
        <p:spPr>
          <a:xfrm>
            <a:off x="3594100" y="3175000"/>
            <a:ext cx="1905000" cy="19050"/>
          </a:xfrm>
          <a:prstGeom prst="rect">
            <a:avLst/>
          </a:prstGeom>
          <a:solidFill>
            <a:srgbClr val="DDD5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note 2">
            <a:extLst>
              <a:ext uri="{FF2B5EF4-FFF2-40B4-BE49-F238E27FC236}">
                <a16:creationId xmlns:a16="http://schemas.microsoft.com/office/drawing/2014/main" id="{AFB10B59-C7D2-1F47-81B8-0C9D8D914D51}"/>
              </a:ext>
            </a:extLst>
          </p:cNvPr>
          <p:cNvSpPr txBox="1"/>
          <p:nvPr/>
        </p:nvSpPr>
        <p:spPr>
          <a:xfrm>
            <a:off x="3594100" y="3302000"/>
            <a:ext cx="190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70" b="1">
                <a:solidFill>
                  <a:srgbClr val="5B6472"/>
                </a:solidFill>
                <a:latin typeface="Arial"/>
                <a:cs typeface="Arial"/>
              </a:rPr>
              <a:t>ICD-positive: 50% respiratory; physiologic criteria broader.</a:t>
            </a:r>
          </a:p>
        </p:txBody>
      </p:sp>
      <p:sp>
        <p:nvSpPr>
          <p:cNvPr id="28" name="card 3">
            <a:extLst>
              <a:ext uri="{FF2B5EF4-FFF2-40B4-BE49-F238E27FC236}">
                <a16:creationId xmlns:a16="http://schemas.microsoft.com/office/drawing/2014/main" id="{726483B1-83F9-1E46-B327-1157655899E8}"/>
              </a:ext>
            </a:extLst>
          </p:cNvPr>
          <p:cNvSpPr/>
          <p:nvPr/>
        </p:nvSpPr>
        <p:spPr>
          <a:xfrm>
            <a:off x="6019800" y="1422400"/>
            <a:ext cx="2260600" cy="22352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card 3 top rule">
            <a:extLst>
              <a:ext uri="{FF2B5EF4-FFF2-40B4-BE49-F238E27FC236}">
                <a16:creationId xmlns:a16="http://schemas.microsoft.com/office/drawing/2014/main" id="{D21E7CD9-7D06-734A-845A-3BC87AE5775C}"/>
              </a:ext>
            </a:extLst>
          </p:cNvPr>
          <p:cNvSpPr/>
          <p:nvPr/>
        </p:nvSpPr>
        <p:spPr>
          <a:xfrm>
            <a:off x="6019800" y="1422400"/>
            <a:ext cx="2260600" cy="12700"/>
          </a:xfrm>
          <a:prstGeom prst="rect">
            <a:avLst/>
          </a:prstGeom>
          <a:solidFill>
            <a:srgbClr val="DDD5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card 3 bottom rule">
            <a:extLst>
              <a:ext uri="{FF2B5EF4-FFF2-40B4-BE49-F238E27FC236}">
                <a16:creationId xmlns:a16="http://schemas.microsoft.com/office/drawing/2014/main" id="{5AD5209E-165F-004F-A003-55E0DCBD2816}"/>
              </a:ext>
            </a:extLst>
          </p:cNvPr>
          <p:cNvSpPr/>
          <p:nvPr/>
        </p:nvSpPr>
        <p:spPr>
          <a:xfrm>
            <a:off x="6019800" y="3644900"/>
            <a:ext cx="2260600" cy="12700"/>
          </a:xfrm>
          <a:prstGeom prst="rect">
            <a:avLst/>
          </a:prstGeom>
          <a:solidFill>
            <a:srgbClr val="DDD5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 3 left rule">
            <a:extLst>
              <a:ext uri="{FF2B5EF4-FFF2-40B4-BE49-F238E27FC236}">
                <a16:creationId xmlns:a16="http://schemas.microsoft.com/office/drawing/2014/main" id="{1D9973AE-9B35-B643-83FB-AEB80364E4E9}"/>
              </a:ext>
            </a:extLst>
          </p:cNvPr>
          <p:cNvSpPr/>
          <p:nvPr/>
        </p:nvSpPr>
        <p:spPr>
          <a:xfrm>
            <a:off x="6019800" y="1422400"/>
            <a:ext cx="12700" cy="2235200"/>
          </a:xfrm>
          <a:prstGeom prst="rect">
            <a:avLst/>
          </a:prstGeom>
          <a:solidFill>
            <a:srgbClr val="DDD5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 3 right rule">
            <a:extLst>
              <a:ext uri="{FF2B5EF4-FFF2-40B4-BE49-F238E27FC236}">
                <a16:creationId xmlns:a16="http://schemas.microsoft.com/office/drawing/2014/main" id="{0662281E-5F7F-854D-A079-01C377F0B863}"/>
              </a:ext>
            </a:extLst>
          </p:cNvPr>
          <p:cNvSpPr/>
          <p:nvPr/>
        </p:nvSpPr>
        <p:spPr>
          <a:xfrm>
            <a:off x="8267700" y="1422400"/>
            <a:ext cx="12700" cy="2235200"/>
          </a:xfrm>
          <a:prstGeom prst="rect">
            <a:avLst/>
          </a:prstGeom>
          <a:solidFill>
            <a:srgbClr val="DDD5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ag 3">
            <a:extLst>
              <a:ext uri="{FF2B5EF4-FFF2-40B4-BE49-F238E27FC236}">
                <a16:creationId xmlns:a16="http://schemas.microsoft.com/office/drawing/2014/main" id="{52A007A8-5308-6D42-8910-E6C354A57035}"/>
              </a:ext>
            </a:extLst>
          </p:cNvPr>
          <p:cNvSpPr/>
          <p:nvPr/>
        </p:nvSpPr>
        <p:spPr>
          <a:xfrm>
            <a:off x="6197600" y="1600200"/>
            <a:ext cx="1041400" cy="215900"/>
          </a:xfrm>
          <a:prstGeom prst="rect">
            <a:avLst/>
          </a:prstGeom>
          <a:solidFill>
            <a:srgbClr val="3F247B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ag text 3">
            <a:extLst>
              <a:ext uri="{FF2B5EF4-FFF2-40B4-BE49-F238E27FC236}">
                <a16:creationId xmlns:a16="http://schemas.microsoft.com/office/drawing/2014/main" id="{F52DC1EF-C9C3-F245-A54F-741AA5FF8CFA}"/>
              </a:ext>
            </a:extLst>
          </p:cNvPr>
          <p:cNvSpPr txBox="1"/>
          <p:nvPr/>
        </p:nvSpPr>
        <p:spPr>
          <a:xfrm>
            <a:off x="6273800" y="1638300"/>
            <a:ext cx="914400" cy="12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580" b="1">
                <a:solidFill>
                  <a:srgbClr val="FFFFFF"/>
                </a:solidFill>
                <a:latin typeface="Arial"/>
                <a:cs typeface="Arial"/>
              </a:rPr>
              <a:t>PROPOSED LABEL</a:t>
            </a:r>
          </a:p>
        </p:txBody>
      </p:sp>
      <p:sp>
        <p:nvSpPr>
          <p:cNvPr id="38" name="heading 3">
            <a:extLst>
              <a:ext uri="{FF2B5EF4-FFF2-40B4-BE49-F238E27FC236}">
                <a16:creationId xmlns:a16="http://schemas.microsoft.com/office/drawing/2014/main" id="{9BB32479-5AC1-4A47-9471-3C23C9D7408B}"/>
              </a:ext>
            </a:extLst>
          </p:cNvPr>
          <p:cNvSpPr txBox="1"/>
          <p:nvPr/>
        </p:nvSpPr>
        <p:spPr>
          <a:xfrm>
            <a:off x="6197600" y="19685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70" b="1">
                <a:solidFill>
                  <a:srgbClr val="1F2937"/>
                </a:solidFill>
                <a:latin typeface="Arial"/>
                <a:cs typeface="Arial"/>
              </a:rPr>
              <a:t>3  LVF phenotype</a:t>
            </a:r>
          </a:p>
        </p:txBody>
      </p:sp>
      <p:sp>
        <p:nvSpPr>
          <p:cNvPr id="40" name="body 3">
            <a:extLst>
              <a:ext uri="{FF2B5EF4-FFF2-40B4-BE49-F238E27FC236}">
                <a16:creationId xmlns:a16="http://schemas.microsoft.com/office/drawing/2014/main" id="{53AC7312-ED1C-2048-BB1E-AECE87C3BA68}"/>
              </a:ext>
            </a:extLst>
          </p:cNvPr>
          <p:cNvSpPr txBox="1"/>
          <p:nvPr/>
        </p:nvSpPr>
        <p:spPr>
          <a:xfrm>
            <a:off x="6197600" y="2400300"/>
            <a:ext cx="1905000" cy="673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70" b="1">
                <a:solidFill>
                  <a:srgbClr val="1F2937"/>
                </a:solidFill>
                <a:latin typeface="Arial"/>
                <a:cs typeface="Arial"/>
              </a:rPr>
              <a:t>High HCO₃⁻ + above-borderline PCO₂ may reveal an unoptimized care gap.</a:t>
            </a:r>
          </a:p>
        </p:txBody>
      </p:sp>
      <p:sp>
        <p:nvSpPr>
          <p:cNvPr id="41" name="inner rule 3">
            <a:extLst>
              <a:ext uri="{FF2B5EF4-FFF2-40B4-BE49-F238E27FC236}">
                <a16:creationId xmlns:a16="http://schemas.microsoft.com/office/drawing/2014/main" id="{85B4DC94-E5DA-BB4E-86D4-560596B9D5A6}"/>
              </a:ext>
            </a:extLst>
          </p:cNvPr>
          <p:cNvSpPr/>
          <p:nvPr/>
        </p:nvSpPr>
        <p:spPr>
          <a:xfrm>
            <a:off x="6197600" y="3175000"/>
            <a:ext cx="1905000" cy="19050"/>
          </a:xfrm>
          <a:prstGeom prst="rect">
            <a:avLst/>
          </a:prstGeom>
          <a:solidFill>
            <a:srgbClr val="DDD5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note 3">
            <a:extLst>
              <a:ext uri="{FF2B5EF4-FFF2-40B4-BE49-F238E27FC236}">
                <a16:creationId xmlns:a16="http://schemas.microsoft.com/office/drawing/2014/main" id="{21A944B5-DE48-7C4B-9C52-009E6713BE28}"/>
              </a:ext>
            </a:extLst>
          </p:cNvPr>
          <p:cNvSpPr txBox="1"/>
          <p:nvPr/>
        </p:nvSpPr>
        <p:spPr>
          <a:xfrm>
            <a:off x="6197600" y="3302000"/>
            <a:ext cx="190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70" b="1">
                <a:solidFill>
                  <a:srgbClr val="5B6472"/>
                </a:solidFill>
                <a:latin typeface="Arial"/>
                <a:cs typeface="Arial"/>
              </a:rPr>
              <a:t>No recent PFT, sleep evaluation, or NIV review = actionable.</a:t>
            </a:r>
          </a:p>
        </p:txBody>
      </p:sp>
      <p:sp>
        <p:nvSpPr>
          <p:cNvPr id="43" name="connector 1">
            <a:extLst>
              <a:ext uri="{FF2B5EF4-FFF2-40B4-BE49-F238E27FC236}">
                <a16:creationId xmlns:a16="http://schemas.microsoft.com/office/drawing/2014/main" id="{8872D3B4-F2A2-A344-9FB5-B69F6CDC5AAF}"/>
              </a:ext>
            </a:extLst>
          </p:cNvPr>
          <p:cNvSpPr/>
          <p:nvPr/>
        </p:nvSpPr>
        <p:spPr>
          <a:xfrm>
            <a:off x="3136900" y="2527300"/>
            <a:ext cx="228600" cy="38100"/>
          </a:xfrm>
          <a:prstGeom prst="rect">
            <a:avLst/>
          </a:prstGeom>
          <a:solidFill>
            <a:srgbClr val="DDD5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connector 2">
            <a:extLst>
              <a:ext uri="{FF2B5EF4-FFF2-40B4-BE49-F238E27FC236}">
                <a16:creationId xmlns:a16="http://schemas.microsoft.com/office/drawing/2014/main" id="{767C93B4-9E27-964D-9A6E-B3AE4C0F639C}"/>
              </a:ext>
            </a:extLst>
          </p:cNvPr>
          <p:cNvSpPr/>
          <p:nvPr/>
        </p:nvSpPr>
        <p:spPr>
          <a:xfrm>
            <a:off x="5740400" y="2527300"/>
            <a:ext cx="228600" cy="38100"/>
          </a:xfrm>
          <a:prstGeom prst="rect">
            <a:avLst/>
          </a:prstGeom>
          <a:solidFill>
            <a:srgbClr val="DDD5E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ml band">
            <a:extLst>
              <a:ext uri="{FF2B5EF4-FFF2-40B4-BE49-F238E27FC236}">
                <a16:creationId xmlns:a16="http://schemas.microsoft.com/office/drawing/2014/main" id="{164A42C0-EC80-4847-BAC3-A5771D209AFB}"/>
              </a:ext>
            </a:extLst>
          </p:cNvPr>
          <p:cNvSpPr/>
          <p:nvPr/>
        </p:nvSpPr>
        <p:spPr>
          <a:xfrm>
            <a:off x="812800" y="3975100"/>
            <a:ext cx="7442200" cy="622300"/>
          </a:xfrm>
          <a:prstGeom prst="rect">
            <a:avLst/>
          </a:prstGeom>
          <a:solidFill>
            <a:srgbClr val="F6F3F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ml label fill">
            <a:extLst>
              <a:ext uri="{FF2B5EF4-FFF2-40B4-BE49-F238E27FC236}">
                <a16:creationId xmlns:a16="http://schemas.microsoft.com/office/drawing/2014/main" id="{EE228FC2-409A-3B49-B8CF-EE6FD8AEEAFE}"/>
              </a:ext>
            </a:extLst>
          </p:cNvPr>
          <p:cNvSpPr/>
          <p:nvPr/>
        </p:nvSpPr>
        <p:spPr>
          <a:xfrm>
            <a:off x="812800" y="3975100"/>
            <a:ext cx="1320800" cy="622300"/>
          </a:xfrm>
          <a:prstGeom prst="rect">
            <a:avLst/>
          </a:prstGeom>
          <a:solidFill>
            <a:srgbClr val="3F247B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ml label">
            <a:extLst>
              <a:ext uri="{FF2B5EF4-FFF2-40B4-BE49-F238E27FC236}">
                <a16:creationId xmlns:a16="http://schemas.microsoft.com/office/drawing/2014/main" id="{D4619A5D-5B37-0542-8BF5-3ABCBE35E9C2}"/>
              </a:ext>
            </a:extLst>
          </p:cNvPr>
          <p:cNvSpPr txBox="1"/>
          <p:nvPr/>
        </p:nvSpPr>
        <p:spPr>
          <a:xfrm>
            <a:off x="939800" y="4178300"/>
            <a:ext cx="1066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rial"/>
                <a:cs typeface="Arial"/>
              </a:rPr>
              <a:t>ML optimization</a:t>
            </a:r>
          </a:p>
        </p:txBody>
      </p:sp>
      <p:sp>
        <p:nvSpPr>
          <p:cNvPr id="48" name="ml body">
            <a:extLst>
              <a:ext uri="{FF2B5EF4-FFF2-40B4-BE49-F238E27FC236}">
                <a16:creationId xmlns:a16="http://schemas.microsoft.com/office/drawing/2014/main" id="{778249BA-D3E9-734C-BB8B-0F13CF3AD480}"/>
              </a:ext>
            </a:extLst>
          </p:cNvPr>
          <p:cNvSpPr txBox="1"/>
          <p:nvPr/>
        </p:nvSpPr>
        <p:spPr>
          <a:xfrm>
            <a:off x="2336800" y="4127500"/>
            <a:ext cx="563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50" b="1">
                <a:solidFill>
                  <a:srgbClr val="1F2937"/>
                </a:solidFill>
                <a:latin typeface="Arial"/>
                <a:cs typeface="Arial"/>
              </a:rPr>
              <a:t>Learn the best threshold combination, quantify predictor strength, and validate LVF as an actionable risk label.</a:t>
            </a:r>
          </a:p>
        </p:txBody>
      </p:sp>
      <p:sp>
        <p:nvSpPr>
          <p:cNvPr id="49" name="sources">
            <a:extLst>
              <a:ext uri="{FF2B5EF4-FFF2-40B4-BE49-F238E27FC236}">
                <a16:creationId xmlns:a16="http://schemas.microsoft.com/office/drawing/2014/main" id="{116CCE9D-47DA-3040-9385-F18BD5AB7445}"/>
              </a:ext>
            </a:extLst>
          </p:cNvPr>
          <p:cNvSpPr txBox="1"/>
          <p:nvPr/>
        </p:nvSpPr>
        <p:spPr>
          <a:xfrm>
            <a:off x="812800" y="4775200"/>
            <a:ext cx="74422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580">
                <a:solidFill>
                  <a:srgbClr val="6B7280"/>
                </a:solidFill>
                <a:latin typeface="Arial"/>
                <a:cs typeface="Arial"/>
              </a:rPr>
              <a:t>Sources: Wilson et al., Ann Am Thorac Soc 2021; Merdad et al., manuscript draft. LVF proposed; validation needed.</a:t>
            </a:r>
          </a:p>
        </p:txBody>
      </p:sp>
    </p:spTree>
    <p:extLst>
      <p:ext uri="{BB962C8B-B14F-4D97-AF65-F5344CB8AC3E}">
        <p14:creationId xmlns:p14="http://schemas.microsoft.com/office/powerpoint/2010/main" val="1693586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12A1361-7A94-498E-B134-6AED1405F2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D73A1C-1CAE-4096-B2BE-6E76DDC760AF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E86DEB-4BB2-408B-9C2A-152DAAA6EA7F}"/>
              </a:ext>
            </a:extLst>
          </p:cNvPr>
          <p:cNvSpPr>
            <a:spLocks noGrp="1"/>
          </p:cNvSpPr>
          <p:nvPr/>
        </p:nvSpPr>
        <p:spPr>
          <a:xfrm>
            <a:off x="552450" y="335622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1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1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APPLY | K23 ROADMAP</a:t>
            </a:r>
            <a:endParaRPr sz="1100" b="1">
              <a:solidFill>
                <a:srgbClr val="4A00E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D3E707-70AA-437B-ACBA-309ED7A7FF0E}"/>
              </a:ext>
            </a:extLst>
          </p:cNvPr>
          <p:cNvSpPr>
            <a:spLocks noGrp="1"/>
          </p:cNvSpPr>
          <p:nvPr/>
        </p:nvSpPr>
        <p:spPr>
          <a:xfrm>
            <a:off x="552450" y="59804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2400" b="1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Transition-care evidence cycle for </a:t>
            </a:r>
            <a:r>
              <a:rPr lang="en-US" sz="2400" b="1" dirty="0" err="1">
                <a:solidFill>
                  <a:srgbClr val="110057"/>
                </a:solidFill>
                <a:latin typeface="Arial"/>
                <a:ea typeface="Arial"/>
                <a:cs typeface="Arial"/>
              </a:rPr>
              <a:t>Hypercap</a:t>
            </a:r>
            <a:r>
              <a:rPr lang="en-US" sz="2400" b="1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 RF</a:t>
            </a:r>
            <a:endParaRPr sz="2400" b="1" dirty="0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54CE83-0D2B-4EBC-ACF2-C842A8ABB39E}"/>
              </a:ext>
            </a:extLst>
          </p:cNvPr>
          <p:cNvSpPr>
            <a:spLocks noGrp="1"/>
          </p:cNvSpPr>
          <p:nvPr/>
        </p:nvSpPr>
        <p:spPr>
          <a:xfrm>
            <a:off x="857250" y="1543050"/>
            <a:ext cx="2311400" cy="18679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7A73F8-4974-4195-8ADA-3091F3BAD6FC}"/>
              </a:ext>
            </a:extLst>
          </p:cNvPr>
          <p:cNvSpPr>
            <a:spLocks noGrp="1"/>
          </p:cNvSpPr>
          <p:nvPr/>
        </p:nvSpPr>
        <p:spPr>
          <a:xfrm>
            <a:off x="971550" y="1657350"/>
            <a:ext cx="2082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31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600" b="1">
                <a:solidFill>
                  <a:srgbClr val="5A00FF"/>
                </a:solidFill>
                <a:latin typeface="Arial"/>
                <a:ea typeface="Arial"/>
                <a:cs typeface="Arial"/>
              </a:rPr>
              <a:t>Aim 1</a:t>
            </a:r>
            <a:endParaRPr sz="1600" b="1">
              <a:solidFill>
                <a:srgbClr val="5A00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247C9A-DDE8-4213-8A85-D8F793A3AA47}"/>
              </a:ext>
            </a:extLst>
          </p:cNvPr>
          <p:cNvSpPr>
            <a:spLocks noGrp="1"/>
          </p:cNvSpPr>
          <p:nvPr/>
        </p:nvSpPr>
        <p:spPr>
          <a:xfrm>
            <a:off x="971550" y="1943100"/>
            <a:ext cx="2082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122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 dirty="0">
                <a:solidFill>
                  <a:srgbClr val="120047"/>
                </a:solidFill>
                <a:latin typeface="Arial"/>
                <a:ea typeface="Arial"/>
                <a:cs typeface="Arial"/>
              </a:rPr>
              <a:t>Measure variation
Labeling, testing, equipment/med review, referral, follow-up across IH.</a:t>
            </a:r>
            <a:endParaRPr sz="1600" dirty="0">
              <a:solidFill>
                <a:srgbClr val="1200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447F8F-3214-49CC-94D6-5C8AF26F941C}"/>
              </a:ext>
            </a:extLst>
          </p:cNvPr>
          <p:cNvSpPr>
            <a:spLocks noGrp="1"/>
          </p:cNvSpPr>
          <p:nvPr/>
        </p:nvSpPr>
        <p:spPr>
          <a:xfrm>
            <a:off x="3416300" y="1543050"/>
            <a:ext cx="2311400" cy="18679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BDC44C-36DD-4572-95E0-BFE87E1848D2}"/>
              </a:ext>
            </a:extLst>
          </p:cNvPr>
          <p:cNvSpPr>
            <a:spLocks noGrp="1"/>
          </p:cNvSpPr>
          <p:nvPr/>
        </p:nvSpPr>
        <p:spPr>
          <a:xfrm>
            <a:off x="3530600" y="1657350"/>
            <a:ext cx="2082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31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600" b="1">
                <a:solidFill>
                  <a:srgbClr val="5A00FF"/>
                </a:solidFill>
                <a:latin typeface="Arial"/>
                <a:ea typeface="Arial"/>
                <a:cs typeface="Arial"/>
              </a:rPr>
              <a:t>Aim 2</a:t>
            </a:r>
            <a:endParaRPr sz="1600" b="1">
              <a:solidFill>
                <a:srgbClr val="5A00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BD406A-0D35-45DF-9DBD-5D38D3D74FE1}"/>
              </a:ext>
            </a:extLst>
          </p:cNvPr>
          <p:cNvSpPr>
            <a:spLocks noGrp="1"/>
          </p:cNvSpPr>
          <p:nvPr/>
        </p:nvSpPr>
        <p:spPr>
          <a:xfrm>
            <a:off x="3530600" y="1943100"/>
            <a:ext cx="2082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122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 dirty="0">
                <a:solidFill>
                  <a:srgbClr val="120047"/>
                </a:solidFill>
                <a:latin typeface="Arial"/>
                <a:ea typeface="Arial"/>
                <a:cs typeface="Arial"/>
              </a:rPr>
              <a:t>Validate at-discharge risk model for 
repeat utilization, overall cost, care-burden  </a:t>
            </a:r>
            <a:endParaRPr sz="1600" dirty="0">
              <a:solidFill>
                <a:srgbClr val="1200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DD2A00-16D2-465C-8803-A49D7F2FD6DF}"/>
              </a:ext>
            </a:extLst>
          </p:cNvPr>
          <p:cNvSpPr>
            <a:spLocks noGrp="1"/>
          </p:cNvSpPr>
          <p:nvPr/>
        </p:nvSpPr>
        <p:spPr>
          <a:xfrm>
            <a:off x="5975350" y="1543049"/>
            <a:ext cx="2311400" cy="1867969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24259E-2186-460A-88AD-BD9BD6064B72}"/>
              </a:ext>
            </a:extLst>
          </p:cNvPr>
          <p:cNvSpPr>
            <a:spLocks noGrp="1"/>
          </p:cNvSpPr>
          <p:nvPr/>
        </p:nvSpPr>
        <p:spPr>
          <a:xfrm>
            <a:off x="6089650" y="1657350"/>
            <a:ext cx="2082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310" b="1">
                <a:solidFill>
                  <a:srgbClr val="FF5D55"/>
                </a:solidFill>
                <a:latin typeface="Arial"/>
                <a:ea typeface="Arial"/>
                <a:cs typeface="Arial"/>
              </a:defRPr>
            </a:pPr>
            <a:r>
              <a:rPr lang="en-US" sz="1600" b="1">
                <a:solidFill>
                  <a:srgbClr val="FF5C5C"/>
                </a:solidFill>
                <a:latin typeface="Arial"/>
                <a:ea typeface="Arial"/>
                <a:cs typeface="Arial"/>
              </a:rPr>
              <a:t>Aim 3</a:t>
            </a:r>
            <a:endParaRPr sz="1600" b="1">
              <a:solidFill>
                <a:srgbClr val="FF5C5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67EB42-ACA5-4701-818F-8F99D45B7C26}"/>
              </a:ext>
            </a:extLst>
          </p:cNvPr>
          <p:cNvSpPr>
            <a:spLocks noGrp="1"/>
          </p:cNvSpPr>
          <p:nvPr/>
        </p:nvSpPr>
        <p:spPr>
          <a:xfrm>
            <a:off x="6089650" y="1943100"/>
            <a:ext cx="2082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122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 dirty="0">
                <a:solidFill>
                  <a:srgbClr val="120047"/>
                </a:solidFill>
                <a:latin typeface="Arial"/>
                <a:ea typeface="Arial"/>
                <a:cs typeface="Arial"/>
              </a:rPr>
              <a:t>Test feasibility of 
Navigator assessment for prespecified high-risk patients</a:t>
            </a:r>
            <a:endParaRPr sz="1600" dirty="0">
              <a:solidFill>
                <a:srgbClr val="1200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D12A91-ACA8-488F-959D-780010FC416C}"/>
              </a:ext>
            </a:extLst>
          </p:cNvPr>
          <p:cNvSpPr>
            <a:spLocks noGrp="1"/>
          </p:cNvSpPr>
          <p:nvPr/>
        </p:nvSpPr>
        <p:spPr>
          <a:xfrm>
            <a:off x="1428750" y="3668086"/>
            <a:ext cx="628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defRPr sz="1964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600" b="1" dirty="0">
                <a:solidFill>
                  <a:schemeClr val="bg1">
                    <a:lumMod val="10000"/>
                  </a:schemeClr>
                </a:solidFill>
                <a:latin typeface="Arial"/>
                <a:ea typeface="Arial"/>
                <a:cs typeface="Arial"/>
              </a:rPr>
              <a:t>K23 products: train a health-services research expert in chronic respiratory failure care transitions, as well as planning data for effectiveness trial of risk-targeted care navigation. </a:t>
            </a:r>
            <a:endParaRPr sz="1600" b="1" dirty="0">
              <a:solidFill>
                <a:schemeClr val="bg1">
                  <a:lumMod val="1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9850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67F893B-9FE1-427F-BE87-012596C0E1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385571-0665-4543-82BA-54B1986AF1E1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97C359-5D83-4B23-91C5-FF5864C4F521}"/>
              </a:ext>
            </a:extLst>
          </p:cNvPr>
          <p:cNvSpPr>
            <a:spLocks noGrp="1"/>
          </p:cNvSpPr>
          <p:nvPr/>
        </p:nvSpPr>
        <p:spPr>
          <a:xfrm>
            <a:off x="552450" y="469184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1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1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AIM 2 | RISK INFRASTRUCTURE</a:t>
            </a:r>
            <a:endParaRPr sz="1100" b="1">
              <a:solidFill>
                <a:srgbClr val="4A00E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270226-40EF-4AF5-8048-9F232C47DCB0}"/>
              </a:ext>
            </a:extLst>
          </p:cNvPr>
          <p:cNvSpPr>
            <a:spLocks noGrp="1"/>
          </p:cNvSpPr>
          <p:nvPr/>
        </p:nvSpPr>
        <p:spPr>
          <a:xfrm>
            <a:off x="552450" y="834342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77500" lnSpcReduction="20000"/>
          </a:bodyPr>
          <a:lstStyle/>
          <a:p>
            <a:pPr algn="l">
              <a:defRPr sz="24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2400" b="1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Aim 2 validates post-discharge risk infrastructure for future trials</a:t>
            </a:r>
            <a:endParaRPr sz="2400" b="1" dirty="0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83F1BD-F23D-4976-B4B4-847086F03C8C}"/>
              </a:ext>
            </a:extLst>
          </p:cNvPr>
          <p:cNvSpPr>
            <a:spLocks noGrp="1"/>
          </p:cNvSpPr>
          <p:nvPr/>
        </p:nvSpPr>
        <p:spPr>
          <a:xfrm>
            <a:off x="857250" y="1466850"/>
            <a:ext cx="2311400" cy="149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D13E8C-4AB6-4A40-B73E-15F7798C025D}"/>
              </a:ext>
            </a:extLst>
          </p:cNvPr>
          <p:cNvSpPr>
            <a:spLocks noGrp="1"/>
          </p:cNvSpPr>
          <p:nvPr/>
        </p:nvSpPr>
        <p:spPr>
          <a:xfrm>
            <a:off x="971550" y="1581150"/>
            <a:ext cx="20828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31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600" b="1">
                <a:solidFill>
                  <a:srgbClr val="5A00FF"/>
                </a:solidFill>
                <a:latin typeface="Arial"/>
                <a:ea typeface="Arial"/>
                <a:cs typeface="Arial"/>
              </a:rPr>
              <a:t>Inputs before discharge</a:t>
            </a:r>
            <a:endParaRPr sz="1600" b="1">
              <a:solidFill>
                <a:srgbClr val="5A00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76F930-15F3-4775-9454-3C09483F3E6E}"/>
              </a:ext>
            </a:extLst>
          </p:cNvPr>
          <p:cNvSpPr>
            <a:spLocks noGrp="1"/>
          </p:cNvSpPr>
          <p:nvPr/>
        </p:nvSpPr>
        <p:spPr>
          <a:xfrm>
            <a:off x="971550" y="2006600"/>
            <a:ext cx="2082800" cy="88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122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 dirty="0">
                <a:solidFill>
                  <a:srgbClr val="120047"/>
                </a:solidFill>
                <a:latin typeface="Arial"/>
                <a:ea typeface="Arial"/>
                <a:cs typeface="Arial"/>
              </a:rPr>
              <a:t>recognition route, labs, comorbidities, prior use, discharge needs</a:t>
            </a:r>
            <a:endParaRPr sz="1600" dirty="0">
              <a:solidFill>
                <a:srgbClr val="1200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2B3FF9-10FA-4B6F-AE1E-ECED49067AE4}"/>
              </a:ext>
            </a:extLst>
          </p:cNvPr>
          <p:cNvSpPr>
            <a:spLocks noGrp="1"/>
          </p:cNvSpPr>
          <p:nvPr/>
        </p:nvSpPr>
        <p:spPr>
          <a:xfrm>
            <a:off x="3178175" y="210820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871" b="1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600" b="1">
                <a:solidFill>
                  <a:srgbClr val="4A4170"/>
                </a:solidFill>
                <a:latin typeface="Arial"/>
                <a:ea typeface="Arial"/>
                <a:cs typeface="Arial"/>
              </a:rPr>
              <a:t>→</a:t>
            </a:r>
            <a:endParaRPr sz="1600" b="1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7033E0-A23B-42C7-BB06-EE7F87BA745C}"/>
              </a:ext>
            </a:extLst>
          </p:cNvPr>
          <p:cNvSpPr>
            <a:spLocks noGrp="1"/>
          </p:cNvSpPr>
          <p:nvPr/>
        </p:nvSpPr>
        <p:spPr>
          <a:xfrm>
            <a:off x="3416300" y="1466850"/>
            <a:ext cx="2311400" cy="149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F2D3B0-E609-4808-A390-4AAA4386F537}"/>
              </a:ext>
            </a:extLst>
          </p:cNvPr>
          <p:cNvSpPr>
            <a:spLocks noGrp="1"/>
          </p:cNvSpPr>
          <p:nvPr/>
        </p:nvSpPr>
        <p:spPr>
          <a:xfrm>
            <a:off x="3530600" y="1581150"/>
            <a:ext cx="20828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31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600" b="1">
                <a:solidFill>
                  <a:srgbClr val="5A00FF"/>
                </a:solidFill>
                <a:latin typeface="Arial"/>
                <a:ea typeface="Arial"/>
                <a:cs typeface="Arial"/>
              </a:rPr>
              <a:t>Interpretable model</a:t>
            </a:r>
            <a:endParaRPr sz="1600" b="1">
              <a:solidFill>
                <a:srgbClr val="5A00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320D10-66E7-496D-A01D-8ED52B97BB95}"/>
              </a:ext>
            </a:extLst>
          </p:cNvPr>
          <p:cNvSpPr>
            <a:spLocks noGrp="1"/>
          </p:cNvSpPr>
          <p:nvPr/>
        </p:nvSpPr>
        <p:spPr>
          <a:xfrm>
            <a:off x="3530600" y="2006600"/>
            <a:ext cx="2082800" cy="88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122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120047"/>
                </a:solidFill>
                <a:latin typeface="Arial"/>
                <a:ea typeface="Arial"/>
                <a:cs typeface="Arial"/>
              </a:rPr>
              <a:t>validate/recalibrate interpretable time-to-event model</a:t>
            </a:r>
            <a:endParaRPr sz="1600">
              <a:solidFill>
                <a:srgbClr val="1200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452E18-933E-4D99-8735-29CC6C545B70}"/>
              </a:ext>
            </a:extLst>
          </p:cNvPr>
          <p:cNvSpPr>
            <a:spLocks noGrp="1"/>
          </p:cNvSpPr>
          <p:nvPr/>
        </p:nvSpPr>
        <p:spPr>
          <a:xfrm>
            <a:off x="5737225" y="210820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871" b="1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600" b="1">
                <a:solidFill>
                  <a:srgbClr val="4A4170"/>
                </a:solidFill>
                <a:latin typeface="Arial"/>
                <a:ea typeface="Arial"/>
                <a:cs typeface="Arial"/>
              </a:rPr>
              <a:t>→</a:t>
            </a:r>
            <a:endParaRPr sz="1600" b="1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A3F7ED-B2D4-4C03-9FC1-B8BF77587311}"/>
              </a:ext>
            </a:extLst>
          </p:cNvPr>
          <p:cNvSpPr>
            <a:spLocks noGrp="1"/>
          </p:cNvSpPr>
          <p:nvPr/>
        </p:nvSpPr>
        <p:spPr>
          <a:xfrm>
            <a:off x="5975350" y="1466850"/>
            <a:ext cx="2311400" cy="149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59DF1B-1C37-4A58-B29C-23D293575AD4}"/>
              </a:ext>
            </a:extLst>
          </p:cNvPr>
          <p:cNvSpPr>
            <a:spLocks noGrp="1"/>
          </p:cNvSpPr>
          <p:nvPr/>
        </p:nvSpPr>
        <p:spPr>
          <a:xfrm>
            <a:off x="6089650" y="1581150"/>
            <a:ext cx="20828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310" b="1">
                <a:solidFill>
                  <a:srgbClr val="FF5D55"/>
                </a:solidFill>
                <a:latin typeface="Arial"/>
                <a:ea typeface="Arial"/>
                <a:cs typeface="Arial"/>
              </a:defRPr>
            </a:pPr>
            <a:r>
              <a:rPr lang="en-US" sz="1600" b="1">
                <a:solidFill>
                  <a:srgbClr val="FF5C5C"/>
                </a:solidFill>
                <a:latin typeface="Arial"/>
                <a:ea typeface="Arial"/>
                <a:cs typeface="Arial"/>
              </a:rPr>
              <a:t>Planning endpoints</a:t>
            </a:r>
            <a:endParaRPr sz="1600" b="1">
              <a:solidFill>
                <a:srgbClr val="FF5C5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5DFB66-97A5-4E6E-8FB2-C869097318F7}"/>
              </a:ext>
            </a:extLst>
          </p:cNvPr>
          <p:cNvSpPr>
            <a:spLocks noGrp="1"/>
          </p:cNvSpPr>
          <p:nvPr/>
        </p:nvSpPr>
        <p:spPr>
          <a:xfrm>
            <a:off x="6089650" y="2006600"/>
            <a:ext cx="2082800" cy="88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122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120047"/>
                </a:solidFill>
                <a:latin typeface="Arial"/>
                <a:ea typeface="Arial"/>
                <a:cs typeface="Arial"/>
              </a:rPr>
              <a:t>readmission, HRF acute care, death; 30/90-day risk</a:t>
            </a:r>
            <a:endParaRPr sz="1600">
              <a:solidFill>
                <a:srgbClr val="1200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097E70-2193-428B-91C6-11E1A97FBBDF}"/>
              </a:ext>
            </a:extLst>
          </p:cNvPr>
          <p:cNvSpPr>
            <a:spLocks noGrp="1"/>
          </p:cNvSpPr>
          <p:nvPr/>
        </p:nvSpPr>
        <p:spPr>
          <a:xfrm>
            <a:off x="1352550" y="3251200"/>
            <a:ext cx="643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defRPr sz="1590" b="1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600" b="1">
                <a:solidFill>
                  <a:srgbClr val="5F557A"/>
                </a:solidFill>
                <a:latin typeface="Arial"/>
                <a:ea typeface="Arial"/>
                <a:cs typeface="Arial"/>
              </a:rPr>
              <a:t>Planning use: enrichment, stratification, endpoint capture, and navigator-capacity scenarios — not deployment.</a:t>
            </a:r>
            <a:endParaRPr sz="1600" b="1">
              <a:solidFill>
                <a:srgbClr val="5F55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0089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67F893B-9FE1-427F-BE87-012596C0E1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385571-0665-4543-82BA-54B1986AF1E1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97C359-5D83-4B23-91C5-FF5864C4F521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/>
            <a:r>
              <a:rPr lang="en-US" sz="1100" b="1" dirty="0">
                <a:solidFill>
                  <a:srgbClr val="4A00E2"/>
                </a:solidFill>
                <a:latin typeface="Arial"/>
                <a:cs typeface="Arial"/>
              </a:rPr>
              <a:t>AIM 2 | PREDICTION TARGETS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270226-40EF-4AF5-8048-9F232C47DCB0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/>
            <a:r>
              <a:rPr lang="en-US" sz="2400" b="1" dirty="0">
                <a:solidFill>
                  <a:srgbClr val="110057"/>
                </a:solidFill>
                <a:latin typeface="Arial"/>
                <a:cs typeface="Arial"/>
              </a:rPr>
              <a:t>Prediction starts at discharge time-zero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C9B6F-3EE7-4E84-AC94-0E2730CB604C}"/>
              </a:ext>
            </a:extLst>
          </p:cNvPr>
          <p:cNvSpPr>
            <a:spLocks noGrp="1"/>
          </p:cNvSpPr>
          <p:nvPr/>
        </p:nvSpPr>
        <p:spPr>
          <a:xfrm>
            <a:off x="552450" y="4876800"/>
            <a:ext cx="609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Arial"/>
                <a:cs typeface="Arial"/>
              </a:rPr>
              <a:t>Locke HRF discharge-risk manuscript draft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83F1BD-F23D-4976-B4B4-847086F03C8C}"/>
              </a:ext>
            </a:extLst>
          </p:cNvPr>
          <p:cNvSpPr>
            <a:spLocks noGrp="1"/>
          </p:cNvSpPr>
          <p:nvPr/>
        </p:nvSpPr>
        <p:spPr>
          <a:xfrm>
            <a:off x="558800" y="1879600"/>
            <a:ext cx="1435100" cy="1219200"/>
          </a:xfrm>
          <a:prstGeom prst="rect">
            <a:avLst/>
          </a:prstGeom>
          <a:solidFill>
            <a:srgbClr val="F4F1FF"/>
          </a:solidFill>
          <a:ln w="9525">
            <a:solidFill>
              <a:srgbClr val="EDE7FF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D13E8C-4AB6-4A40-B73E-15F7798C025D}"/>
              </a:ext>
            </a:extLst>
          </p:cNvPr>
          <p:cNvSpPr>
            <a:spLocks noGrp="1"/>
          </p:cNvSpPr>
          <p:nvPr/>
        </p:nvSpPr>
        <p:spPr>
          <a:xfrm>
            <a:off x="685800" y="200660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/>
            <a:r>
              <a:rPr lang="en-US" sz="1200" b="1" dirty="0">
                <a:solidFill>
                  <a:srgbClr val="110057"/>
                </a:solidFill>
                <a:latin typeface="Arial"/>
                <a:cs typeface="Arial"/>
              </a:rPr>
              <a:t>Primary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76F930-15F3-4775-9454-3C09483F3E6E}"/>
              </a:ext>
            </a:extLst>
          </p:cNvPr>
          <p:cNvSpPr>
            <a:spLocks noGrp="1"/>
          </p:cNvSpPr>
          <p:nvPr/>
        </p:nvSpPr>
        <p:spPr>
          <a:xfrm>
            <a:off x="685800" y="2260600"/>
            <a:ext cx="1181100" cy="711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/>
            <a:r>
              <a:rPr lang="en-US" sz="1100" dirty="0">
                <a:solidFill>
                  <a:srgbClr val="2A2340"/>
                </a:solidFill>
                <a:latin typeface="Arial"/>
                <a:cs typeface="Arial"/>
              </a:rPr>
              <a:t>Clinical failure: death or unplanned readmission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7033E0-A23B-42C7-BB06-EE7F87BA745C}"/>
              </a:ext>
            </a:extLst>
          </p:cNvPr>
          <p:cNvSpPr>
            <a:spLocks noGrp="1"/>
          </p:cNvSpPr>
          <p:nvPr/>
        </p:nvSpPr>
        <p:spPr>
          <a:xfrm>
            <a:off x="2146300" y="1879600"/>
            <a:ext cx="1435100" cy="1219200"/>
          </a:xfrm>
          <a:prstGeom prst="rect">
            <a:avLst/>
          </a:prstGeom>
          <a:solidFill>
            <a:srgbClr val="F4F1FF"/>
          </a:solidFill>
          <a:ln w="9525">
            <a:solidFill>
              <a:srgbClr val="EDE7FF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F2D3B0-E609-4808-A390-4AAA4386F537}"/>
              </a:ext>
            </a:extLst>
          </p:cNvPr>
          <p:cNvSpPr>
            <a:spLocks noGrp="1"/>
          </p:cNvSpPr>
          <p:nvPr/>
        </p:nvSpPr>
        <p:spPr>
          <a:xfrm>
            <a:off x="2273300" y="200660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/>
            <a:r>
              <a:rPr lang="en-US" sz="1200" b="1" dirty="0">
                <a:solidFill>
                  <a:srgbClr val="110057"/>
                </a:solidFill>
                <a:latin typeface="Arial"/>
                <a:cs typeface="Arial"/>
              </a:rPr>
              <a:t>Utilization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320D10-66E7-496D-A01D-8ED52B97BB95}"/>
              </a:ext>
            </a:extLst>
          </p:cNvPr>
          <p:cNvSpPr>
            <a:spLocks noGrp="1"/>
          </p:cNvSpPr>
          <p:nvPr/>
        </p:nvSpPr>
        <p:spPr>
          <a:xfrm>
            <a:off x="2273300" y="2260600"/>
            <a:ext cx="1181100" cy="711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/>
            <a:r>
              <a:rPr lang="en-US" sz="1100" dirty="0">
                <a:solidFill>
                  <a:srgbClr val="2A2340"/>
                </a:solidFill>
                <a:latin typeface="Arial"/>
                <a:cs typeface="Arial"/>
              </a:rPr>
              <a:t>Acute-care use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097E70-2193-428B-91C6-11E1A97FBBDF}"/>
              </a:ext>
            </a:extLst>
          </p:cNvPr>
          <p:cNvSpPr>
            <a:spLocks noGrp="1"/>
          </p:cNvSpPr>
          <p:nvPr/>
        </p:nvSpPr>
        <p:spPr>
          <a:xfrm>
            <a:off x="1352550" y="3810000"/>
            <a:ext cx="643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/>
            <a:r>
              <a:rPr lang="en-US" sz="1400" b="1" dirty="0">
                <a:solidFill>
                  <a:srgbClr val="2E0B7A"/>
                </a:solidFill>
                <a:latin typeface="Arial"/>
                <a:cs typeface="Arial"/>
              </a:rPr>
              <a:t>Different futures may select different patients – Overlap (or not) is a key question</a:t>
            </a:r>
          </a:p>
        </p:txBody>
      </p:sp>
      <p:sp>
        <p:nvSpPr>
          <p:cNvPr id="6" name="cohort_strip">
            <a:extLst>
              <a:ext uri="{FF2B5EF4-FFF2-40B4-BE49-F238E27FC236}">
                <a16:creationId xmlns:a16="http://schemas.microsoft.com/office/drawing/2014/main" id="{9EDA2A68-4A73-5A44-9D80-D5FB3F50FAAF}"/>
              </a:ext>
            </a:extLst>
          </p:cNvPr>
          <p:cNvSpPr/>
          <p:nvPr/>
        </p:nvSpPr>
        <p:spPr>
          <a:xfrm>
            <a:off x="558800" y="1219200"/>
            <a:ext cx="7810500" cy="482600"/>
          </a:xfrm>
          <a:prstGeom prst="roundRect">
            <a:avLst/>
          </a:prstGeom>
          <a:solidFill>
            <a:srgbClr val="F4F1FF"/>
          </a:solidFill>
          <a:ln w="12700">
            <a:solidFill>
              <a:srgbClr val="E2DA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200">
                <a:solidFill>
                  <a:srgbClr val="2A2340"/>
                </a:solidFill>
                <a:latin typeface="Arial"/>
                <a:cs typeface="Arial"/>
              </a:rPr>
              <a:t>Entry: ABG PaCO₂ &gt;45, VBG PCO₂ &gt;50, or ICD HRF codes  →  discharge = time zero (pre-routing)</a:t>
            </a:r>
          </a:p>
        </p:txBody>
      </p:sp>
      <p:sp>
        <p:nvSpPr>
          <p:cNvPr id="23" name="ocard4">
            <a:extLst>
              <a:ext uri="{FF2B5EF4-FFF2-40B4-BE49-F238E27FC236}">
                <a16:creationId xmlns:a16="http://schemas.microsoft.com/office/drawing/2014/main" id="{313C4403-EE1F-F642-BCAE-2E13308CDBF1}"/>
              </a:ext>
            </a:extLst>
          </p:cNvPr>
          <p:cNvSpPr/>
          <p:nvPr/>
        </p:nvSpPr>
        <p:spPr>
          <a:xfrm>
            <a:off x="6908800" y="1879600"/>
            <a:ext cx="1435100" cy="1219200"/>
          </a:xfrm>
          <a:prstGeom prst="roundRect">
            <a:avLst/>
          </a:prstGeom>
          <a:solidFill>
            <a:srgbClr val="F4F1FF"/>
          </a:solidFill>
          <a:ln w="9525">
            <a:solidFill>
              <a:srgbClr val="EDE7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head4">
            <a:extLst>
              <a:ext uri="{FF2B5EF4-FFF2-40B4-BE49-F238E27FC236}">
                <a16:creationId xmlns:a16="http://schemas.microsoft.com/office/drawing/2014/main" id="{3C8E03F1-F151-474E-9FDA-3300B39336E2}"/>
              </a:ext>
            </a:extLst>
          </p:cNvPr>
          <p:cNvSpPr txBox="1"/>
          <p:nvPr/>
        </p:nvSpPr>
        <p:spPr>
          <a:xfrm>
            <a:off x="7035800" y="2006600"/>
            <a:ext cx="11811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10057"/>
                </a:solidFill>
                <a:latin typeface="Arial"/>
                <a:cs typeface="Arial"/>
              </a:rPr>
              <a:t>Cost</a:t>
            </a:r>
          </a:p>
        </p:txBody>
      </p:sp>
      <p:sp>
        <p:nvSpPr>
          <p:cNvPr id="25" name="obody4">
            <a:extLst>
              <a:ext uri="{FF2B5EF4-FFF2-40B4-BE49-F238E27FC236}">
                <a16:creationId xmlns:a16="http://schemas.microsoft.com/office/drawing/2014/main" id="{768DF581-24A6-FF4A-B98B-6EE959700005}"/>
              </a:ext>
            </a:extLst>
          </p:cNvPr>
          <p:cNvSpPr txBox="1"/>
          <p:nvPr/>
        </p:nvSpPr>
        <p:spPr>
          <a:xfrm>
            <a:off x="7035800" y="2260600"/>
            <a:ext cx="11811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2A2340"/>
                </a:solidFill>
                <a:latin typeface="Arial"/>
                <a:cs typeface="Arial"/>
              </a:rPr>
              <a:t>1-year postdischarge cost</a:t>
            </a:r>
          </a:p>
        </p:txBody>
      </p:sp>
    </p:spTree>
    <p:extLst>
      <p:ext uri="{BB962C8B-B14F-4D97-AF65-F5344CB8AC3E}">
        <p14:creationId xmlns:p14="http://schemas.microsoft.com/office/powerpoint/2010/main" val="30085137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67F893B-9FE1-427F-BE87-012596C0E1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385571-0665-4543-82BA-54B1986AF1E1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97C359-5D83-4B23-91C5-FF5864C4F521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/>
            <a:r>
              <a:rPr lang="en-US" sz="1100" b="1" dirty="0">
                <a:solidFill>
                  <a:srgbClr val="4A00E2"/>
                </a:solidFill>
                <a:latin typeface="Arial"/>
                <a:cs typeface="Arial"/>
              </a:rPr>
              <a:t>AIM 2 | MODEL CONSTRUCTION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270226-40EF-4AF5-8048-9F232C47DCB0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/>
            <a:r>
              <a:rPr lang="en-US" sz="2400" b="1" dirty="0">
                <a:solidFill>
                  <a:srgbClr val="110057"/>
                </a:solidFill>
                <a:latin typeface="Arial"/>
                <a:cs typeface="Arial"/>
              </a:rPr>
              <a:t>Predictor sets test how much information is enough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83F1BD-F23D-4976-B4B4-847086F03C8C}"/>
              </a:ext>
            </a:extLst>
          </p:cNvPr>
          <p:cNvSpPr>
            <a:spLocks noGrp="1"/>
          </p:cNvSpPr>
          <p:nvPr/>
        </p:nvSpPr>
        <p:spPr>
          <a:xfrm>
            <a:off x="558800" y="1778000"/>
            <a:ext cx="2463800" cy="990600"/>
          </a:xfrm>
          <a:prstGeom prst="rect">
            <a:avLst/>
          </a:prstGeom>
          <a:solidFill>
            <a:srgbClr val="F4F1FF"/>
          </a:solidFill>
          <a:ln w="12700">
            <a:solidFill>
              <a:srgbClr val="E2DAFF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D13E8C-4AB6-4A40-B73E-15F7798C025D}"/>
              </a:ext>
            </a:extLst>
          </p:cNvPr>
          <p:cNvSpPr>
            <a:spLocks noGrp="1"/>
          </p:cNvSpPr>
          <p:nvPr/>
        </p:nvSpPr>
        <p:spPr>
          <a:xfrm>
            <a:off x="736600" y="1879600"/>
            <a:ext cx="21082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/>
            <a:r>
              <a:rPr lang="en-US" sz="1200" b="1" dirty="0">
                <a:solidFill>
                  <a:srgbClr val="110057"/>
                </a:solidFill>
                <a:latin typeface="Arial"/>
                <a:cs typeface="Arial"/>
              </a:rPr>
              <a:t>Set 1 · Early structured EHR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76F930-15F3-4775-9454-3C09483F3E6E}"/>
              </a:ext>
            </a:extLst>
          </p:cNvPr>
          <p:cNvSpPr>
            <a:spLocks noGrp="1"/>
          </p:cNvSpPr>
          <p:nvPr/>
        </p:nvSpPr>
        <p:spPr>
          <a:xfrm>
            <a:off x="736600" y="2362200"/>
            <a:ext cx="2108200" cy="355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/>
            <a:r>
              <a:rPr lang="en-US" sz="1100" dirty="0">
                <a:solidFill>
                  <a:srgbClr val="2A2340"/>
                </a:solidFill>
                <a:latin typeface="Arial"/>
                <a:cs typeface="Arial"/>
              </a:rPr>
              <a:t>Recognition-stage risk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7033E0-A23B-42C7-BB06-EE7F87BA745C}"/>
              </a:ext>
            </a:extLst>
          </p:cNvPr>
          <p:cNvSpPr>
            <a:spLocks noGrp="1"/>
          </p:cNvSpPr>
          <p:nvPr/>
        </p:nvSpPr>
        <p:spPr>
          <a:xfrm>
            <a:off x="3225800" y="1778000"/>
            <a:ext cx="2463800" cy="990600"/>
          </a:xfrm>
          <a:prstGeom prst="rect">
            <a:avLst/>
          </a:prstGeom>
          <a:solidFill>
            <a:srgbClr val="F4F1FF"/>
          </a:solidFill>
          <a:ln w="12700">
            <a:solidFill>
              <a:srgbClr val="E2DAFF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F2D3B0-E609-4808-A390-4AAA4386F537}"/>
              </a:ext>
            </a:extLst>
          </p:cNvPr>
          <p:cNvSpPr>
            <a:spLocks noGrp="1"/>
          </p:cNvSpPr>
          <p:nvPr/>
        </p:nvSpPr>
        <p:spPr>
          <a:xfrm>
            <a:off x="3403600" y="1879600"/>
            <a:ext cx="21082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/>
            <a:r>
              <a:rPr lang="en-US" sz="1200" b="1" dirty="0">
                <a:solidFill>
                  <a:srgbClr val="110057"/>
                </a:solidFill>
                <a:latin typeface="Arial"/>
                <a:cs typeface="Arial"/>
              </a:rPr>
              <a:t>Set 2 · Discharge-available EHR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320D10-66E7-496D-A01D-8ED52B97BB95}"/>
              </a:ext>
            </a:extLst>
          </p:cNvPr>
          <p:cNvSpPr>
            <a:spLocks noGrp="1"/>
          </p:cNvSpPr>
          <p:nvPr/>
        </p:nvSpPr>
        <p:spPr>
          <a:xfrm>
            <a:off x="3403600" y="2362200"/>
            <a:ext cx="2108200" cy="355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/>
            <a:r>
              <a:rPr lang="en-US" sz="1100" dirty="0">
                <a:solidFill>
                  <a:srgbClr val="4A00E2"/>
                </a:solidFill>
                <a:latin typeface="Arial"/>
                <a:cs typeface="Arial"/>
              </a:rPr>
              <a:t>Primary scalable model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A3F7ED-B2D4-4C03-9FC1-B8BF77587311}"/>
              </a:ext>
            </a:extLst>
          </p:cNvPr>
          <p:cNvSpPr>
            <a:spLocks noGrp="1"/>
          </p:cNvSpPr>
          <p:nvPr/>
        </p:nvSpPr>
        <p:spPr>
          <a:xfrm>
            <a:off x="5892800" y="1778000"/>
            <a:ext cx="2463800" cy="990600"/>
          </a:xfrm>
          <a:prstGeom prst="rect">
            <a:avLst/>
          </a:prstGeom>
          <a:solidFill>
            <a:srgbClr val="F4F1FF"/>
          </a:solidFill>
          <a:ln w="12700">
            <a:solidFill>
              <a:srgbClr val="E2DAFF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59DF1B-1C37-4A58-B29C-23D293575AD4}"/>
              </a:ext>
            </a:extLst>
          </p:cNvPr>
          <p:cNvSpPr>
            <a:spLocks noGrp="1"/>
          </p:cNvSpPr>
          <p:nvPr/>
        </p:nvSpPr>
        <p:spPr>
          <a:xfrm>
            <a:off x="6070600" y="1879600"/>
            <a:ext cx="21082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/>
            <a:r>
              <a:rPr lang="en-US" sz="1200" b="1" dirty="0">
                <a:solidFill>
                  <a:srgbClr val="110057"/>
                </a:solidFill>
                <a:latin typeface="Arial"/>
                <a:cs typeface="Arial"/>
              </a:rPr>
              <a:t>Set 3 · Claims + finalized discharge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5DFB66-97A5-4E6E-8FB2-C869097318F7}"/>
              </a:ext>
            </a:extLst>
          </p:cNvPr>
          <p:cNvSpPr>
            <a:spLocks noGrp="1"/>
          </p:cNvSpPr>
          <p:nvPr/>
        </p:nvSpPr>
        <p:spPr>
          <a:xfrm>
            <a:off x="6070600" y="2362200"/>
            <a:ext cx="2108200" cy="355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/>
            <a:r>
              <a:rPr lang="en-US" sz="1100" dirty="0">
                <a:solidFill>
                  <a:srgbClr val="2A2340"/>
                </a:solidFill>
                <a:latin typeface="Arial"/>
                <a:cs typeface="Arial"/>
              </a:rPr>
              <a:t>Approximate upper bound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097E70-2193-428B-91C6-11E1A97FBBDF}"/>
              </a:ext>
            </a:extLst>
          </p:cNvPr>
          <p:cNvSpPr>
            <a:spLocks noGrp="1"/>
          </p:cNvSpPr>
          <p:nvPr/>
        </p:nvSpPr>
        <p:spPr>
          <a:xfrm>
            <a:off x="558800" y="419100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/>
            <a:r>
              <a:rPr lang="en-US" sz="1200" b="1" dirty="0">
                <a:solidFill>
                  <a:srgbClr val="110057"/>
                </a:solidFill>
                <a:latin typeface="Arial"/>
                <a:cs typeface="Arial"/>
              </a:rPr>
              <a:t>Temporal validation:  2016–2021 develop  →  2022 tune + lock  →  2023–2024 temporal test</a:t>
            </a:r>
          </a:p>
          <a:p>
            <a:pPr algn="ctr">
              <a:spcBef>
                <a:spcPts val="400"/>
              </a:spcBef>
            </a:pPr>
            <a:r>
              <a:rPr lang="en-US" sz="1200" dirty="0">
                <a:solidFill>
                  <a:srgbClr val="2E0B7A"/>
                </a:solidFill>
                <a:latin typeface="Arial"/>
                <a:cs typeface="Arial"/>
              </a:rPr>
              <a:t>Evaluate the model where routing decisions would actually be made.</a:t>
            </a:r>
          </a:p>
        </p:txBody>
      </p:sp>
      <p:sp>
        <p:nvSpPr>
          <p:cNvPr id="6" name="cohort_strip">
            <a:extLst>
              <a:ext uri="{FF2B5EF4-FFF2-40B4-BE49-F238E27FC236}">
                <a16:creationId xmlns:a16="http://schemas.microsoft.com/office/drawing/2014/main" id="{9EDA2A68-4A73-5A44-9D80-D5FB3F50FAAF}"/>
              </a:ext>
            </a:extLst>
          </p:cNvPr>
          <p:cNvSpPr/>
          <p:nvPr/>
        </p:nvSpPr>
        <p:spPr>
          <a:xfrm>
            <a:off x="558800" y="1473200"/>
            <a:ext cx="7810500" cy="25400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100" b="1" dirty="0">
                <a:solidFill>
                  <a:srgbClr val="4A00E2"/>
                </a:solidFill>
                <a:latin typeface="Arial"/>
                <a:cs typeface="Arial"/>
              </a:rPr>
              <a:t>Information available by routing time</a:t>
            </a:r>
          </a:p>
        </p:txBody>
      </p:sp>
      <p:sp>
        <p:nvSpPr>
          <p:cNvPr id="10" name="spine_label">
            <a:extLst>
              <a:ext uri="{FF2B5EF4-FFF2-40B4-BE49-F238E27FC236}">
                <a16:creationId xmlns:a16="http://schemas.microsoft.com/office/drawing/2014/main" id="{92131B4F-5F47-F144-B429-CA839FE93927}"/>
              </a:ext>
            </a:extLst>
          </p:cNvPr>
          <p:cNvSpPr txBox="1"/>
          <p:nvPr/>
        </p:nvSpPr>
        <p:spPr>
          <a:xfrm>
            <a:off x="558800" y="3048000"/>
            <a:ext cx="381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4A00E2"/>
                </a:solidFill>
                <a:latin typeface="Arial"/>
                <a:cs typeface="Arial"/>
              </a:rPr>
              <a:t>Model-development spine</a:t>
            </a:r>
          </a:p>
        </p:txBody>
      </p:sp>
      <p:sp>
        <p:nvSpPr>
          <p:cNvPr id="14" name="spinecell">
            <a:extLst>
              <a:ext uri="{FF2B5EF4-FFF2-40B4-BE49-F238E27FC236}">
                <a16:creationId xmlns:a16="http://schemas.microsoft.com/office/drawing/2014/main" id="{9E3789C3-239C-6247-987B-ED1B7EF62F83}"/>
              </a:ext>
            </a:extLst>
          </p:cNvPr>
          <p:cNvSpPr/>
          <p:nvPr/>
        </p:nvSpPr>
        <p:spPr>
          <a:xfrm>
            <a:off x="558800" y="3276600"/>
            <a:ext cx="2463800" cy="660400"/>
          </a:xfrm>
          <a:prstGeom prst="roundRect">
            <a:avLst/>
          </a:prstGeom>
          <a:solidFill>
            <a:srgbClr val="EDE7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000">
                <a:solidFill>
                  <a:srgbClr val="2A2340"/>
                </a:solidFill>
                <a:latin typeface="Arial"/>
                <a:cs typeface="Arial"/>
              </a:rPr>
              <a:t>Model class
LASSO / elastic-net Cox</a:t>
            </a:r>
          </a:p>
        </p:txBody>
      </p:sp>
      <p:sp>
        <p:nvSpPr>
          <p:cNvPr id="26" name="spinecell">
            <a:extLst>
              <a:ext uri="{FF2B5EF4-FFF2-40B4-BE49-F238E27FC236}">
                <a16:creationId xmlns:a16="http://schemas.microsoft.com/office/drawing/2014/main" id="{A9D8CB9C-F1A3-C743-85BE-890DC47BAD1E}"/>
              </a:ext>
            </a:extLst>
          </p:cNvPr>
          <p:cNvSpPr/>
          <p:nvPr/>
        </p:nvSpPr>
        <p:spPr>
          <a:xfrm>
            <a:off x="3225800" y="3276600"/>
            <a:ext cx="2463800" cy="660400"/>
          </a:xfrm>
          <a:prstGeom prst="roundRect">
            <a:avLst/>
          </a:prstGeom>
          <a:solidFill>
            <a:srgbClr val="EDE7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000">
                <a:solidFill>
                  <a:srgbClr val="2A2340"/>
                </a:solidFill>
                <a:latin typeface="Arial"/>
                <a:cs typeface="Arial"/>
              </a:rPr>
              <a:t>Calibration
Hazard at 30 · 90 · 365 d</a:t>
            </a:r>
          </a:p>
        </p:txBody>
      </p:sp>
      <p:sp>
        <p:nvSpPr>
          <p:cNvPr id="27" name="spinecell">
            <a:extLst>
              <a:ext uri="{FF2B5EF4-FFF2-40B4-BE49-F238E27FC236}">
                <a16:creationId xmlns:a16="http://schemas.microsoft.com/office/drawing/2014/main" id="{4830FD24-E6C3-724A-A002-F057AD2F29E1}"/>
              </a:ext>
            </a:extLst>
          </p:cNvPr>
          <p:cNvSpPr/>
          <p:nvPr/>
        </p:nvSpPr>
        <p:spPr>
          <a:xfrm>
            <a:off x="5892800" y="3276600"/>
            <a:ext cx="2463800" cy="660400"/>
          </a:xfrm>
          <a:prstGeom prst="roundRect">
            <a:avLst/>
          </a:prstGeom>
          <a:solidFill>
            <a:srgbClr val="EDE7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000">
                <a:solidFill>
                  <a:srgbClr val="2A2340"/>
                </a:solidFill>
                <a:latin typeface="Arial"/>
                <a:cs typeface="Arial"/>
              </a:rPr>
              <a:t>Evaluation
Discrimination · Brier · yield</a:t>
            </a:r>
          </a:p>
        </p:txBody>
      </p:sp>
    </p:spTree>
    <p:extLst>
      <p:ext uri="{BB962C8B-B14F-4D97-AF65-F5344CB8AC3E}">
        <p14:creationId xmlns:p14="http://schemas.microsoft.com/office/powerpoint/2010/main" val="2438733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58D2CD-E7C9-4944-9FF3-CBA44EE16573}"/>
              </a:ext>
            </a:extLst>
          </p:cNvPr>
          <p:cNvSpPr/>
          <p:nvPr/>
        </p:nvSpPr>
        <p:spPr>
          <a:xfrm>
            <a:off x="355600" y="736600"/>
            <a:ext cx="50800" cy="3657600"/>
          </a:xfrm>
          <a:prstGeom prst="rect">
            <a:avLst/>
          </a:prstGeom>
          <a:solidFill>
            <a:srgbClr val="5200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E794E0-3094-F448-9EFF-496873AE6B50}"/>
              </a:ext>
            </a:extLst>
          </p:cNvPr>
          <p:cNvSpPr txBox="1"/>
          <p:nvPr/>
        </p:nvSpPr>
        <p:spPr>
          <a:xfrm>
            <a:off x="635000" y="304800"/>
            <a:ext cx="5334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4A00E2"/>
                </a:solidFill>
                <a:latin typeface="Arial"/>
                <a:cs typeface="Arial"/>
              </a:rPr>
              <a:t>OPTIONAL BRIDGE | MODEL USE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D14AEC-E037-7A48-B605-89C0D5F15959}"/>
              </a:ext>
            </a:extLst>
          </p:cNvPr>
          <p:cNvSpPr txBox="1"/>
          <p:nvPr/>
        </p:nvSpPr>
        <p:spPr>
          <a:xfrm>
            <a:off x="635000" y="558800"/>
            <a:ext cx="7747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110057"/>
                </a:solidFill>
                <a:latin typeface="Arial"/>
                <a:cs typeface="Arial"/>
              </a:rPr>
              <a:t>The risk model’s first job is for trial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C76AF-1823-2449-AC7C-25AB6CF0BAF3}"/>
              </a:ext>
            </a:extLst>
          </p:cNvPr>
          <p:cNvSpPr txBox="1"/>
          <p:nvPr/>
        </p:nvSpPr>
        <p:spPr>
          <a:xfrm>
            <a:off x="863600" y="1219200"/>
            <a:ext cx="749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6F6689"/>
                </a:solidFill>
                <a:latin typeface="Arial"/>
                <a:cs typeface="Arial"/>
              </a:rPr>
              <a:t>Validated risk estimates make the next trial feasible — where risk, actionability, and capacity meet.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E78B2D-3E70-2C40-922B-4C235EAE00B2}"/>
              </a:ext>
            </a:extLst>
          </p:cNvPr>
          <p:cNvSpPr/>
          <p:nvPr/>
        </p:nvSpPr>
        <p:spPr>
          <a:xfrm>
            <a:off x="812800" y="1752600"/>
            <a:ext cx="234950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6E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CA8E5-051F-2243-9CE3-75E9B9F71453}"/>
              </a:ext>
            </a:extLst>
          </p:cNvPr>
          <p:cNvSpPr txBox="1"/>
          <p:nvPr/>
        </p:nvSpPr>
        <p:spPr>
          <a:xfrm>
            <a:off x="990600" y="1854200"/>
            <a:ext cx="19939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5200FF"/>
                </a:solidFill>
                <a:latin typeface="Arial"/>
                <a:cs typeface="Arial"/>
              </a:rPr>
              <a:t>1. Enrich the cohort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5250CE-5B18-8046-B821-45A3C5EAA489}"/>
              </a:ext>
            </a:extLst>
          </p:cNvPr>
          <p:cNvSpPr txBox="1"/>
          <p:nvPr/>
        </p:nvSpPr>
        <p:spPr>
          <a:xfrm>
            <a:off x="990600" y="2286000"/>
            <a:ext cx="19939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26006E"/>
                </a:solidFill>
                <a:latin typeface="Arial"/>
                <a:cs typeface="Arial"/>
              </a:rPr>
              <a:t>Increase expected event yield for readmission, HRF acute care, or death after discharge.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CF5A91-5552-CD40-8C37-89678ED2F091}"/>
              </a:ext>
            </a:extLst>
          </p:cNvPr>
          <p:cNvSpPr/>
          <p:nvPr/>
        </p:nvSpPr>
        <p:spPr>
          <a:xfrm>
            <a:off x="3390900" y="1752600"/>
            <a:ext cx="2349500" cy="1600200"/>
          </a:xfrm>
          <a:prstGeom prst="rect">
            <a:avLst/>
          </a:prstGeom>
          <a:solidFill>
            <a:srgbClr val="EEF9FB"/>
          </a:solidFill>
          <a:ln w="10160">
            <a:solidFill>
              <a:srgbClr val="DAD6E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2183BC-A014-C64F-86D1-F55B2473541F}"/>
              </a:ext>
            </a:extLst>
          </p:cNvPr>
          <p:cNvSpPr txBox="1"/>
          <p:nvPr/>
        </p:nvSpPr>
        <p:spPr>
          <a:xfrm>
            <a:off x="3568700" y="1854200"/>
            <a:ext cx="19939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5200FF"/>
                </a:solidFill>
                <a:latin typeface="Arial"/>
                <a:cs typeface="Arial"/>
              </a:rPr>
              <a:t>2. Stratify the trial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1DA9D-7CF1-2847-BD4A-48703950A43E}"/>
              </a:ext>
            </a:extLst>
          </p:cNvPr>
          <p:cNvSpPr txBox="1"/>
          <p:nvPr/>
        </p:nvSpPr>
        <p:spPr>
          <a:xfrm>
            <a:off x="3568700" y="2286000"/>
            <a:ext cx="19939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26006E"/>
                </a:solidFill>
                <a:latin typeface="Arial"/>
                <a:cs typeface="Arial"/>
              </a:rPr>
              <a:t>Balance arms and prespecify risk strata without treating a score as an indication.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49F2CB-D8F1-3549-894D-1BCDC5CDA8F1}"/>
              </a:ext>
            </a:extLst>
          </p:cNvPr>
          <p:cNvSpPr/>
          <p:nvPr/>
        </p:nvSpPr>
        <p:spPr>
          <a:xfrm>
            <a:off x="5969000" y="1752600"/>
            <a:ext cx="234950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6E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30F477-B31B-304E-9151-77625269588B}"/>
              </a:ext>
            </a:extLst>
          </p:cNvPr>
          <p:cNvSpPr txBox="1"/>
          <p:nvPr/>
        </p:nvSpPr>
        <p:spPr>
          <a:xfrm>
            <a:off x="6146800" y="1854200"/>
            <a:ext cx="19939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5A5F"/>
                </a:solidFill>
                <a:latin typeface="Arial"/>
                <a:cs typeface="Arial"/>
              </a:rPr>
              <a:t>3. Size the workflow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02D612-5ED5-3F4B-96EA-6C8539646BCB}"/>
              </a:ext>
            </a:extLst>
          </p:cNvPr>
          <p:cNvSpPr txBox="1"/>
          <p:nvPr/>
        </p:nvSpPr>
        <p:spPr>
          <a:xfrm>
            <a:off x="6146800" y="2286000"/>
            <a:ext cx="19939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26006E"/>
                </a:solidFill>
                <a:latin typeface="Arial"/>
                <a:cs typeface="Arial"/>
              </a:rPr>
              <a:t>Estimate top-N weekly review lists, site volume, and navigator/RT capacity needs.</a:t>
            </a:r>
          </a:p>
        </p:txBody>
      </p:sp>
    </p:spTree>
    <p:extLst>
      <p:ext uri="{BB962C8B-B14F-4D97-AF65-F5344CB8AC3E}">
        <p14:creationId xmlns:p14="http://schemas.microsoft.com/office/powerpoint/2010/main" val="33912260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F3BEE36-34FF-43C8-A717-9DB17851F7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545A0B-9036-4CE6-972C-109F74ECCC4D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407A22-D193-4D48-AE41-107F72106BA8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1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1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AIM 3 | FEASIBILITY TRIAL</a:t>
            </a:r>
            <a:endParaRPr sz="1100" b="1">
              <a:solidFill>
                <a:srgbClr val="4A00E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1BFB34-DA86-4F42-BB28-BD655AA2AEC2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24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24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Aim 3 tests whether structured assessment is feasible in high-risk HRF transitions</a:t>
            </a:r>
            <a:endParaRPr sz="2400" b="1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BB826E-F6E1-4520-8F15-A55EE91A18C1}"/>
              </a:ext>
            </a:extLst>
          </p:cNvPr>
          <p:cNvSpPr>
            <a:spLocks noGrp="1"/>
          </p:cNvSpPr>
          <p:nvPr/>
        </p:nvSpPr>
        <p:spPr>
          <a:xfrm>
            <a:off x="857250" y="1473200"/>
            <a:ext cx="23114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22E805-C699-47C4-BF98-0ECE14B3E78D}"/>
              </a:ext>
            </a:extLst>
          </p:cNvPr>
          <p:cNvSpPr>
            <a:spLocks noGrp="1"/>
          </p:cNvSpPr>
          <p:nvPr/>
        </p:nvSpPr>
        <p:spPr>
          <a:xfrm>
            <a:off x="971550" y="1574800"/>
            <a:ext cx="2082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31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600" b="1">
                <a:solidFill>
                  <a:srgbClr val="5A00FF"/>
                </a:solidFill>
                <a:latin typeface="Arial"/>
                <a:ea typeface="Arial"/>
                <a:cs typeface="Arial"/>
              </a:rPr>
              <a:t>Prespecified high-risk group</a:t>
            </a:r>
            <a:endParaRPr sz="1600" b="1">
              <a:solidFill>
                <a:srgbClr val="5A00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E0BDEF-4E7E-4DC7-A231-53A3AF4A065B}"/>
              </a:ext>
            </a:extLst>
          </p:cNvPr>
          <p:cNvSpPr>
            <a:spLocks noGrp="1"/>
          </p:cNvSpPr>
          <p:nvPr/>
        </p:nvSpPr>
        <p:spPr>
          <a:xfrm>
            <a:off x="971550" y="2082800"/>
            <a:ext cx="20828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029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120047"/>
                </a:solidFill>
                <a:latin typeface="Arial"/>
                <a:ea typeface="Arial"/>
                <a:cs typeface="Arial"/>
              </a:rPr>
              <a:t>HRF diagnosis code + no prior PFT/sleep study + prior respiratory exacerbation</a:t>
            </a:r>
            <a:endParaRPr sz="1600">
              <a:solidFill>
                <a:srgbClr val="1200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87CC3D-58BE-4408-9404-359FBB8A4747}"/>
              </a:ext>
            </a:extLst>
          </p:cNvPr>
          <p:cNvSpPr>
            <a:spLocks noGrp="1"/>
          </p:cNvSpPr>
          <p:nvPr/>
        </p:nvSpPr>
        <p:spPr>
          <a:xfrm>
            <a:off x="3178175" y="207010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871" b="1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600" b="1">
                <a:solidFill>
                  <a:srgbClr val="4A4170"/>
                </a:solidFill>
                <a:latin typeface="Arial"/>
                <a:ea typeface="Arial"/>
                <a:cs typeface="Arial"/>
              </a:rPr>
              <a:t>→</a:t>
            </a:r>
            <a:endParaRPr sz="1600" b="1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64D400-F3E8-4E7E-B5CF-2D0CB15D78B6}"/>
              </a:ext>
            </a:extLst>
          </p:cNvPr>
          <p:cNvSpPr>
            <a:spLocks noGrp="1"/>
          </p:cNvSpPr>
          <p:nvPr/>
        </p:nvSpPr>
        <p:spPr>
          <a:xfrm>
            <a:off x="3416300" y="1473200"/>
            <a:ext cx="23114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8157D-70B8-4A7C-B4EA-227992FC7BE8}"/>
              </a:ext>
            </a:extLst>
          </p:cNvPr>
          <p:cNvSpPr>
            <a:spLocks noGrp="1"/>
          </p:cNvSpPr>
          <p:nvPr/>
        </p:nvSpPr>
        <p:spPr>
          <a:xfrm>
            <a:off x="3530600" y="1574800"/>
            <a:ext cx="2082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31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600" b="1">
                <a:solidFill>
                  <a:srgbClr val="5A00FF"/>
                </a:solidFill>
                <a:latin typeface="Arial"/>
                <a:ea typeface="Arial"/>
                <a:cs typeface="Arial"/>
              </a:rPr>
              <a:t>Navigator assessment</a:t>
            </a:r>
            <a:endParaRPr sz="1600" b="1">
              <a:solidFill>
                <a:srgbClr val="5A00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09E8CC-7B46-4143-BD75-51DDCC703A26}"/>
              </a:ext>
            </a:extLst>
          </p:cNvPr>
          <p:cNvSpPr>
            <a:spLocks noGrp="1"/>
          </p:cNvSpPr>
          <p:nvPr/>
        </p:nvSpPr>
        <p:spPr>
          <a:xfrm>
            <a:off x="3530600" y="2082800"/>
            <a:ext cx="20828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029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120047"/>
                </a:solidFill>
                <a:latin typeface="Arial"/>
                <a:ea typeface="Arial"/>
                <a:cs typeface="Arial"/>
              </a:rPr>
              <a:t>care gaps, etiology clues, barriers, equipment/medications, follow-up needs</a:t>
            </a:r>
            <a:endParaRPr sz="1600">
              <a:solidFill>
                <a:srgbClr val="1200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552757-4518-4BFB-91AF-28567BA4FEEB}"/>
              </a:ext>
            </a:extLst>
          </p:cNvPr>
          <p:cNvSpPr>
            <a:spLocks noGrp="1"/>
          </p:cNvSpPr>
          <p:nvPr/>
        </p:nvSpPr>
        <p:spPr>
          <a:xfrm>
            <a:off x="5737225" y="207010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871" b="1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600" b="1">
                <a:solidFill>
                  <a:srgbClr val="4A4170"/>
                </a:solidFill>
                <a:latin typeface="Arial"/>
                <a:ea typeface="Arial"/>
                <a:cs typeface="Arial"/>
              </a:rPr>
              <a:t>→</a:t>
            </a:r>
            <a:endParaRPr sz="1600" b="1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487B28-724F-4810-B540-EEF1DBD9EEAE}"/>
              </a:ext>
            </a:extLst>
          </p:cNvPr>
          <p:cNvSpPr>
            <a:spLocks noGrp="1"/>
          </p:cNvSpPr>
          <p:nvPr/>
        </p:nvSpPr>
        <p:spPr>
          <a:xfrm>
            <a:off x="5975350" y="1473200"/>
            <a:ext cx="23114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C34E3C-1B5A-4EDB-8F67-C560D6E89961}"/>
              </a:ext>
            </a:extLst>
          </p:cNvPr>
          <p:cNvSpPr>
            <a:spLocks noGrp="1"/>
          </p:cNvSpPr>
          <p:nvPr/>
        </p:nvSpPr>
        <p:spPr>
          <a:xfrm>
            <a:off x="6089650" y="1574800"/>
            <a:ext cx="2082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310" b="1">
                <a:solidFill>
                  <a:srgbClr val="FF5D55"/>
                </a:solidFill>
                <a:latin typeface="Arial"/>
                <a:ea typeface="Arial"/>
                <a:cs typeface="Arial"/>
              </a:defRPr>
            </a:pPr>
            <a:r>
              <a:rPr lang="en-US" sz="1600" b="1">
                <a:solidFill>
                  <a:srgbClr val="FF5C5C"/>
                </a:solidFill>
                <a:latin typeface="Arial"/>
                <a:ea typeface="Arial"/>
                <a:cs typeface="Arial"/>
              </a:rPr>
              <a:t>Feasibility readouts</a:t>
            </a:r>
            <a:endParaRPr sz="1600" b="1">
              <a:solidFill>
                <a:srgbClr val="FF5C5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92875A-387B-42B6-937E-000A0C4D5351}"/>
              </a:ext>
            </a:extLst>
          </p:cNvPr>
          <p:cNvSpPr>
            <a:spLocks noGrp="1"/>
          </p:cNvSpPr>
          <p:nvPr/>
        </p:nvSpPr>
        <p:spPr>
          <a:xfrm>
            <a:off x="6089650" y="2082800"/>
            <a:ext cx="20828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defRPr sz="1029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120047"/>
                </a:solidFill>
                <a:latin typeface="Arial"/>
                <a:ea typeface="Arial"/>
                <a:cs typeface="Arial"/>
              </a:rPr>
              <a:t>reach, fidelity, acceptability, burden, barriers, 90-day indicated testing</a:t>
            </a:r>
            <a:endParaRPr sz="1600">
              <a:solidFill>
                <a:srgbClr val="1200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D709D1-DAED-4FDA-9C6C-4342D22214D0}"/>
              </a:ext>
            </a:extLst>
          </p:cNvPr>
          <p:cNvSpPr>
            <a:spLocks noGrp="1"/>
          </p:cNvSpPr>
          <p:nvPr/>
        </p:nvSpPr>
        <p:spPr>
          <a:xfrm>
            <a:off x="1600200" y="3276600"/>
            <a:ext cx="594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/>
            <a:r>
              <a:rPr lang="en-US" sz="1400" b="1" dirty="0">
                <a:solidFill>
                  <a:srgbClr val="5A00FF"/>
                </a:solidFill>
                <a:latin typeface="Arial"/>
                <a:cs typeface="Arial"/>
              </a:rPr>
              <a:t>Embedded randomized feasibility trial: 40 patients, 3 sites.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FE1807-9C0F-41B0-B59D-8D83B9750689}"/>
              </a:ext>
            </a:extLst>
          </p:cNvPr>
          <p:cNvSpPr>
            <a:spLocks noGrp="1"/>
          </p:cNvSpPr>
          <p:nvPr/>
        </p:nvSpPr>
        <p:spPr>
          <a:xfrm>
            <a:off x="1524000" y="3708400"/>
            <a:ext cx="6096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/>
            <a:r>
              <a:rPr lang="en-US" sz="1400" b="1" dirty="0">
                <a:solidFill>
                  <a:srgbClr val="FF5C5C"/>
                </a:solidFill>
                <a:latin typeface="Arial"/>
                <a:cs typeface="Arial"/>
              </a:rPr>
              <a:t>Estimates workflow requirements, not clinical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2146831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D6E630E-44E9-054A-88BC-96E419D2A11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514DA5-9146-DA4C-B671-BF4377D4E837}"/>
              </a:ext>
            </a:extLst>
          </p:cNvPr>
          <p:cNvSpPr/>
          <p:nvPr/>
        </p:nvSpPr>
        <p:spPr>
          <a:xfrm>
            <a:off x="355600" y="736600"/>
            <a:ext cx="63500" cy="3657600"/>
          </a:xfrm>
          <a:prstGeom prst="rect">
            <a:avLst/>
          </a:prstGeom>
          <a:solidFill>
            <a:srgbClr val="5B19E6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8A75FA-98E4-FB44-93F7-7E208A3B319A}"/>
              </a:ext>
            </a:extLst>
          </p:cNvPr>
          <p:cNvSpPr txBox="1"/>
          <p:nvPr/>
        </p:nvSpPr>
        <p:spPr>
          <a:xfrm>
            <a:off x="635000" y="330200"/>
            <a:ext cx="660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 dirty="0">
                <a:solidFill>
                  <a:srgbClr val="5F22E8"/>
                </a:solidFill>
                <a:latin typeface="Aptos"/>
              </a:rPr>
              <a:t>TRIAL APPRAISAL | PREDICTION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1CA51A-9E3F-7547-A0B8-73DDA3EBF772}"/>
              </a:ext>
            </a:extLst>
          </p:cNvPr>
          <p:cNvSpPr txBox="1"/>
          <p:nvPr/>
        </p:nvSpPr>
        <p:spPr>
          <a:xfrm>
            <a:off x="635000" y="558800"/>
            <a:ext cx="8001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50" b="1">
                <a:solidFill>
                  <a:srgbClr val="25145C"/>
                </a:solidFill>
                <a:latin typeface="Aptos"/>
              </a:rPr>
              <a:t>Prediction models help interpret trials across design, estimates, and application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3161B4-2437-7D40-8FB3-D79D2D958871}"/>
              </a:ext>
            </a:extLst>
          </p:cNvPr>
          <p:cNvSpPr txBox="1"/>
          <p:nvPr/>
        </p:nvSpPr>
        <p:spPr>
          <a:xfrm>
            <a:off x="635000" y="1320800"/>
            <a:ext cx="660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566170"/>
                </a:solidFill>
                <a:latin typeface="Aptos"/>
              </a:rPr>
              <a:t>Pivot from model performance to trial usefulness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BDEB86-0EFD-CE40-AB02-2799E2930C08}"/>
              </a:ext>
            </a:extLst>
          </p:cNvPr>
          <p:cNvSpPr/>
          <p:nvPr/>
        </p:nvSpPr>
        <p:spPr>
          <a:xfrm>
            <a:off x="889000" y="1841500"/>
            <a:ext cx="22225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4E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DB52FF-5FBF-7D40-9168-43DA67882A9F}"/>
              </a:ext>
            </a:extLst>
          </p:cNvPr>
          <p:cNvSpPr/>
          <p:nvPr/>
        </p:nvSpPr>
        <p:spPr>
          <a:xfrm>
            <a:off x="1092200" y="2070100"/>
            <a:ext cx="787400" cy="228600"/>
          </a:xfrm>
          <a:prstGeom prst="rect">
            <a:avLst/>
          </a:prstGeom>
          <a:solidFill>
            <a:srgbClr val="2F93C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4AF5C1-D616-314A-8007-8C6E9CE54579}"/>
              </a:ext>
            </a:extLst>
          </p:cNvPr>
          <p:cNvSpPr txBox="1"/>
          <p:nvPr/>
        </p:nvSpPr>
        <p:spPr>
          <a:xfrm>
            <a:off x="1193800" y="2108200"/>
            <a:ext cx="7112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Aptos"/>
              </a:rPr>
              <a:t>DESIGN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B75062-53A2-294F-8C36-A54D55C34585}"/>
              </a:ext>
            </a:extLst>
          </p:cNvPr>
          <p:cNvSpPr txBox="1"/>
          <p:nvPr/>
        </p:nvSpPr>
        <p:spPr>
          <a:xfrm>
            <a:off x="1092200" y="2317538"/>
            <a:ext cx="18161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1F2937"/>
                </a:solidFill>
                <a:latin typeface="Aptos"/>
              </a:rPr>
              <a:t>Enrich the trial population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75A9BE-44E7-FF44-AFE9-636E2C9F01EF}"/>
              </a:ext>
            </a:extLst>
          </p:cNvPr>
          <p:cNvSpPr txBox="1"/>
          <p:nvPr/>
        </p:nvSpPr>
        <p:spPr>
          <a:xfrm>
            <a:off x="1092200" y="2806700"/>
            <a:ext cx="18161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566170"/>
                </a:solidFill>
                <a:latin typeface="Aptos"/>
              </a:rPr>
              <a:t>Target patients most likely to have events or benefit.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F0FA2B-DF31-7A48-BF43-EE88BE27BC3A}"/>
              </a:ext>
            </a:extLst>
          </p:cNvPr>
          <p:cNvSpPr/>
          <p:nvPr/>
        </p:nvSpPr>
        <p:spPr>
          <a:xfrm>
            <a:off x="3454400" y="1841500"/>
            <a:ext cx="22225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4E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7A3B51-E336-1C42-B687-E7A91FBAC6B9}"/>
              </a:ext>
            </a:extLst>
          </p:cNvPr>
          <p:cNvSpPr/>
          <p:nvPr/>
        </p:nvSpPr>
        <p:spPr>
          <a:xfrm>
            <a:off x="3657600" y="2070100"/>
            <a:ext cx="1037690" cy="228600"/>
          </a:xfrm>
          <a:prstGeom prst="rect">
            <a:avLst/>
          </a:prstGeom>
          <a:solidFill>
            <a:srgbClr val="2F93C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67B321-6808-EB4E-B737-CE93038CDEBE}"/>
              </a:ext>
            </a:extLst>
          </p:cNvPr>
          <p:cNvSpPr txBox="1"/>
          <p:nvPr/>
        </p:nvSpPr>
        <p:spPr>
          <a:xfrm>
            <a:off x="3759200" y="2108200"/>
            <a:ext cx="8128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Aptos"/>
              </a:rPr>
              <a:t>ESTIMATE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263DAD-C5D9-C244-8EFB-708A890933A1}"/>
              </a:ext>
            </a:extLst>
          </p:cNvPr>
          <p:cNvSpPr txBox="1"/>
          <p:nvPr/>
        </p:nvSpPr>
        <p:spPr>
          <a:xfrm>
            <a:off x="3657600" y="2317538"/>
            <a:ext cx="18161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F2937"/>
                </a:solidFill>
                <a:latin typeface="Aptos"/>
              </a:rPr>
              <a:t>Improve effect-size estimation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BE66E2-A11A-5C46-8D93-F5A9705C45E5}"/>
              </a:ext>
            </a:extLst>
          </p:cNvPr>
          <p:cNvSpPr txBox="1"/>
          <p:nvPr/>
        </p:nvSpPr>
        <p:spPr>
          <a:xfrm>
            <a:off x="3657600" y="2806700"/>
            <a:ext cx="18161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66170"/>
                </a:solidFill>
                <a:latin typeface="Aptos"/>
              </a:rPr>
              <a:t>Reduce noise and improve precision around effect estimates.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2F1018-1EB2-AF40-B744-12DAA355C6FD}"/>
              </a:ext>
            </a:extLst>
          </p:cNvPr>
          <p:cNvSpPr/>
          <p:nvPr/>
        </p:nvSpPr>
        <p:spPr>
          <a:xfrm>
            <a:off x="6019800" y="1841500"/>
            <a:ext cx="22225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4E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F0E4A9-CFE7-2446-B41B-93F517F5F60F}"/>
              </a:ext>
            </a:extLst>
          </p:cNvPr>
          <p:cNvSpPr/>
          <p:nvPr/>
        </p:nvSpPr>
        <p:spPr>
          <a:xfrm>
            <a:off x="6223000" y="2070100"/>
            <a:ext cx="787400" cy="228600"/>
          </a:xfrm>
          <a:prstGeom prst="rect">
            <a:avLst/>
          </a:prstGeom>
          <a:solidFill>
            <a:srgbClr val="FF5A66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581787-1225-AC4B-94ED-355455943687}"/>
              </a:ext>
            </a:extLst>
          </p:cNvPr>
          <p:cNvSpPr txBox="1"/>
          <p:nvPr/>
        </p:nvSpPr>
        <p:spPr>
          <a:xfrm>
            <a:off x="6324600" y="2108200"/>
            <a:ext cx="5842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Aptos"/>
              </a:rPr>
              <a:t>APPLY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BE4B65-0BF6-F543-B07E-040A53FC3656}"/>
              </a:ext>
            </a:extLst>
          </p:cNvPr>
          <p:cNvSpPr txBox="1"/>
          <p:nvPr/>
        </p:nvSpPr>
        <p:spPr>
          <a:xfrm>
            <a:off x="6223000" y="2317538"/>
            <a:ext cx="18161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F2937"/>
                </a:solidFill>
                <a:latin typeface="Aptos"/>
              </a:rPr>
              <a:t>Personalize interpretation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C351B4-9371-5A42-B836-60665B87B44C}"/>
              </a:ext>
            </a:extLst>
          </p:cNvPr>
          <p:cNvSpPr txBox="1"/>
          <p:nvPr/>
        </p:nvSpPr>
        <p:spPr>
          <a:xfrm>
            <a:off x="6223000" y="2806700"/>
            <a:ext cx="18161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66170"/>
                </a:solidFill>
                <a:latin typeface="Aptos"/>
              </a:rPr>
              <a:t>Translate average trial effects to individual patients.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A6299-88B7-7B42-9E5C-4E622320B517}"/>
              </a:ext>
            </a:extLst>
          </p:cNvPr>
          <p:cNvSpPr/>
          <p:nvPr/>
        </p:nvSpPr>
        <p:spPr>
          <a:xfrm>
            <a:off x="3136900" y="2565400"/>
            <a:ext cx="292100" cy="50800"/>
          </a:xfrm>
          <a:prstGeom prst="rect">
            <a:avLst/>
          </a:prstGeom>
          <a:solidFill>
            <a:srgbClr val="DAD4E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CDB1E4-9A92-4043-A9F8-1FF19964FFA4}"/>
              </a:ext>
            </a:extLst>
          </p:cNvPr>
          <p:cNvSpPr/>
          <p:nvPr/>
        </p:nvSpPr>
        <p:spPr>
          <a:xfrm>
            <a:off x="5702300" y="2565400"/>
            <a:ext cx="292100" cy="50800"/>
          </a:xfrm>
          <a:prstGeom prst="rect">
            <a:avLst/>
          </a:prstGeom>
          <a:solidFill>
            <a:srgbClr val="DAD4E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BD2FB7-AD0E-CC47-AA8A-D0DDD16CFE23}"/>
              </a:ext>
            </a:extLst>
          </p:cNvPr>
          <p:cNvSpPr/>
          <p:nvPr/>
        </p:nvSpPr>
        <p:spPr>
          <a:xfrm>
            <a:off x="1193800" y="3873500"/>
            <a:ext cx="6731000" cy="609600"/>
          </a:xfrm>
          <a:prstGeom prst="rect">
            <a:avLst/>
          </a:prstGeom>
          <a:solidFill>
            <a:srgbClr val="F6F2FF"/>
          </a:solidFill>
          <a:ln w="12700">
            <a:solidFill>
              <a:srgbClr val="DAD4E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478961-A8F1-584E-93EC-5FD9624CBEC6}"/>
              </a:ext>
            </a:extLst>
          </p:cNvPr>
          <p:cNvSpPr txBox="1"/>
          <p:nvPr/>
        </p:nvSpPr>
        <p:spPr>
          <a:xfrm>
            <a:off x="1473200" y="4000500"/>
            <a:ext cx="1460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25145C"/>
                </a:solidFill>
                <a:latin typeface="Aptos"/>
              </a:rPr>
              <a:t>Appraisal lens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334F43-4FA9-544B-8072-2C8D2E6B3948}"/>
              </a:ext>
            </a:extLst>
          </p:cNvPr>
          <p:cNvSpPr txBox="1"/>
          <p:nvPr/>
        </p:nvSpPr>
        <p:spPr>
          <a:xfrm>
            <a:off x="2946400" y="4000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1F2937"/>
                </a:solidFill>
                <a:latin typeface="Aptos"/>
              </a:rPr>
              <a:t>Ask whether the model changes who is studied, how effects are estimated, or how results should be applied.</a:t>
            </a:r>
          </a:p>
        </p:txBody>
      </p:sp>
    </p:spTree>
    <p:extLst>
      <p:ext uri="{BB962C8B-B14F-4D97-AF65-F5344CB8AC3E}">
        <p14:creationId xmlns:p14="http://schemas.microsoft.com/office/powerpoint/2010/main" val="1985636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C9F335F0-924A-C342-9D60-F4FBFA7985E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11C4C5F-331C-9645-8CB6-F68339E0A8F2}"/>
              </a:ext>
            </a:extLst>
          </p:cNvPr>
          <p:cNvSpPr/>
          <p:nvPr/>
        </p:nvSpPr>
        <p:spPr>
          <a:xfrm>
            <a:off x="368300" y="330200"/>
            <a:ext cx="50800" cy="685800"/>
          </a:xfrm>
          <a:prstGeom prst="rect">
            <a:avLst/>
          </a:prstGeom>
          <a:solidFill>
            <a:srgbClr val="78B6D6"/>
          </a:solidFill>
          <a:ln w="0">
            <a:solidFill>
              <a:srgbClr val="78B6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7BB281C-E185-BF41-9AEB-A00F01EE05B9}"/>
              </a:ext>
            </a:extLst>
          </p:cNvPr>
          <p:cNvSpPr txBox="1"/>
          <p:nvPr/>
        </p:nvSpPr>
        <p:spPr>
          <a:xfrm>
            <a:off x="609600" y="304800"/>
            <a:ext cx="381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A00E2"/>
                </a:solidFill>
                <a:latin typeface="Arial"/>
                <a:cs typeface="Arial"/>
              </a:rPr>
              <a:t>ENRICH | TRIAL DESIGN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789B51-21FD-1D43-8D77-9FB76D28EE0F}"/>
              </a:ext>
            </a:extLst>
          </p:cNvPr>
          <p:cNvSpPr txBox="1"/>
          <p:nvPr/>
        </p:nvSpPr>
        <p:spPr>
          <a:xfrm>
            <a:off x="609600" y="508000"/>
            <a:ext cx="79375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85000" lnSpcReduction="20000"/>
          </a:bodyPr>
          <a:lstStyle/>
          <a:p>
            <a:pPr algn="l"/>
            <a:r>
              <a:rPr lang="en-US" sz="2400" b="1" dirty="0">
                <a:solidFill>
                  <a:srgbClr val="110057"/>
                </a:solidFill>
                <a:latin typeface="Arial"/>
                <a:cs typeface="Arial"/>
              </a:rPr>
              <a:t>Binary-endpoint trials often cannot see effects
that would still change care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CF3C442-0A13-D34E-A61F-FF6B8CCC59F5}"/>
              </a:ext>
            </a:extLst>
          </p:cNvPr>
          <p:cNvSpPr txBox="1"/>
          <p:nvPr/>
        </p:nvSpPr>
        <p:spPr>
          <a:xfrm>
            <a:off x="622300" y="1168400"/>
            <a:ext cx="787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5F6368"/>
                </a:solidFill>
                <a:latin typeface="Arial"/>
                <a:cs typeface="Arial"/>
              </a:rPr>
              <a:t>When plausible benefits are small, trial design must recover information through enrichment, better endpoints, or both.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CEEA589-1FE0-854F-9D4C-BD4323303EFB}"/>
              </a:ext>
            </a:extLst>
          </p:cNvPr>
          <p:cNvSpPr txBox="1"/>
          <p:nvPr/>
        </p:nvSpPr>
        <p:spPr>
          <a:xfrm>
            <a:off x="685800" y="1574800"/>
            <a:ext cx="2349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 dirty="0">
                <a:solidFill>
                  <a:srgbClr val="13005C"/>
                </a:solidFill>
                <a:latin typeface="Arial"/>
                <a:cs typeface="Arial"/>
              </a:rPr>
              <a:t>1  Mortality signal is narrow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4167443-A75A-974A-968A-C14BD0330CF3}"/>
              </a:ext>
            </a:extLst>
          </p:cNvPr>
          <p:cNvSpPr txBox="1"/>
          <p:nvPr/>
        </p:nvSpPr>
        <p:spPr>
          <a:xfrm>
            <a:off x="685800" y="2057400"/>
            <a:ext cx="2349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No mortality contrast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8A28CC43-229B-2946-96C7-D07C5DCE28FF}"/>
              </a:ext>
            </a:extLst>
          </p:cNvPr>
          <p:cNvSpPr/>
          <p:nvPr/>
        </p:nvSpPr>
        <p:spPr>
          <a:xfrm>
            <a:off x="685800" y="2362200"/>
            <a:ext cx="2260600" cy="279400"/>
          </a:xfrm>
          <a:prstGeom prst="roundRect">
            <a:avLst/>
          </a:prstGeom>
          <a:solidFill>
            <a:srgbClr val="E9F3F8"/>
          </a:solidFill>
          <a:ln w="7620">
            <a:solidFill>
              <a:srgbClr val="C7DE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6C43746-9ACB-E54A-86C6-740F52C590A7}"/>
              </a:ext>
            </a:extLst>
          </p:cNvPr>
          <p:cNvSpPr txBox="1"/>
          <p:nvPr/>
        </p:nvSpPr>
        <p:spPr>
          <a:xfrm>
            <a:off x="774700" y="2425700"/>
            <a:ext cx="20828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02124"/>
                </a:solidFill>
                <a:latin typeface="Arial"/>
                <a:cs typeface="Arial"/>
              </a:rPr>
              <a:t>Would live either way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2AD2E300-CBDE-304C-8B25-5DDE72EE27A2}"/>
              </a:ext>
            </a:extLst>
          </p:cNvPr>
          <p:cNvSpPr/>
          <p:nvPr/>
        </p:nvSpPr>
        <p:spPr>
          <a:xfrm>
            <a:off x="685800" y="2717800"/>
            <a:ext cx="2260600" cy="279400"/>
          </a:xfrm>
          <a:prstGeom prst="roundRect">
            <a:avLst/>
          </a:prstGeom>
          <a:solidFill>
            <a:srgbClr val="F1F1F5"/>
          </a:solidFill>
          <a:ln w="7620">
            <a:solidFill>
              <a:srgbClr val="D7D7E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61B141B-086E-924B-B3E0-8F1041809B18}"/>
              </a:ext>
            </a:extLst>
          </p:cNvPr>
          <p:cNvSpPr txBox="1"/>
          <p:nvPr/>
        </p:nvSpPr>
        <p:spPr>
          <a:xfrm>
            <a:off x="774700" y="2781300"/>
            <a:ext cx="20828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02124"/>
                </a:solidFill>
                <a:latin typeface="Arial"/>
                <a:cs typeface="Arial"/>
              </a:rPr>
              <a:t>Would die either way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00AFF79-5797-B448-AD8B-D96804DC4504}"/>
              </a:ext>
            </a:extLst>
          </p:cNvPr>
          <p:cNvSpPr/>
          <p:nvPr/>
        </p:nvSpPr>
        <p:spPr>
          <a:xfrm>
            <a:off x="685800" y="3130192"/>
            <a:ext cx="2260600" cy="381000"/>
          </a:xfrm>
          <a:prstGeom prst="roundRect">
            <a:avLst/>
          </a:prstGeom>
          <a:solidFill>
            <a:srgbClr val="FFF1E8"/>
          </a:solidFill>
          <a:ln w="10160">
            <a:solidFill>
              <a:srgbClr val="E7A17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9819AEC-9EEE-5A46-8D92-502CC9CDF21E}"/>
              </a:ext>
            </a:extLst>
          </p:cNvPr>
          <p:cNvSpPr txBox="1"/>
          <p:nvPr/>
        </p:nvSpPr>
        <p:spPr>
          <a:xfrm>
            <a:off x="812800" y="3111500"/>
            <a:ext cx="2006600" cy="266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C63D0F"/>
                </a:solidFill>
                <a:latin typeface="Arial"/>
                <a:cs typeface="Arial"/>
              </a:rPr>
              <a:t>Outcome changes because
of assignment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B07F982-099B-D44D-8B87-9AA78C3A5C78}"/>
              </a:ext>
            </a:extLst>
          </p:cNvPr>
          <p:cNvSpPr txBox="1"/>
          <p:nvPr/>
        </p:nvSpPr>
        <p:spPr>
          <a:xfrm>
            <a:off x="736600" y="38100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 dirty="0">
                <a:solidFill>
                  <a:srgbClr val="5F6368"/>
                </a:solidFill>
                <a:latin typeface="Arial"/>
                <a:cs typeface="Arial"/>
              </a:rPr>
              <a:t>The assignment-sensitive group is the signal.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0C2C93E-62B6-6646-B964-F8D8EB90AD17}"/>
              </a:ext>
            </a:extLst>
          </p:cNvPr>
          <p:cNvSpPr txBox="1"/>
          <p:nvPr/>
        </p:nvSpPr>
        <p:spPr>
          <a:xfrm>
            <a:off x="3429000" y="1574800"/>
            <a:ext cx="2667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 dirty="0">
                <a:solidFill>
                  <a:srgbClr val="13005C"/>
                </a:solidFill>
                <a:latin typeface="Arial"/>
                <a:cs typeface="Arial"/>
              </a:rPr>
              <a:t>2  Small effects need large trials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43DD82E-EE96-6A4E-8396-A7A0A9B1F69D}"/>
              </a:ext>
            </a:extLst>
          </p:cNvPr>
          <p:cNvSpPr txBox="1"/>
          <p:nvPr/>
        </p:nvSpPr>
        <p:spPr>
          <a:xfrm>
            <a:off x="3327400" y="2082800"/>
            <a:ext cx="2870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Illustrative: 50% mortality, 80% power.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C1E00B1-34E8-6D4F-87E9-1154D2657672}"/>
              </a:ext>
            </a:extLst>
          </p:cNvPr>
          <p:cNvSpPr/>
          <p:nvPr/>
        </p:nvSpPr>
        <p:spPr>
          <a:xfrm>
            <a:off x="3429000" y="2311400"/>
            <a:ext cx="2667000" cy="157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CE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BEF7220-954D-DC40-8926-D90C690914ED}"/>
              </a:ext>
            </a:extLst>
          </p:cNvPr>
          <p:cNvSpPr/>
          <p:nvPr/>
        </p:nvSpPr>
        <p:spPr>
          <a:xfrm>
            <a:off x="3429000" y="2311400"/>
            <a:ext cx="2667000" cy="330200"/>
          </a:xfrm>
          <a:prstGeom prst="rect">
            <a:avLst/>
          </a:prstGeom>
          <a:solidFill>
            <a:srgbClr val="F7F8FB"/>
          </a:solidFill>
          <a:ln w="7620">
            <a:solidFill>
              <a:srgbClr val="D8DCE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CC653D6-1F1F-F641-AED0-2A6BB2D4C587}"/>
              </a:ext>
            </a:extLst>
          </p:cNvPr>
          <p:cNvSpPr txBox="1"/>
          <p:nvPr/>
        </p:nvSpPr>
        <p:spPr>
          <a:xfrm>
            <a:off x="3556000" y="2374900"/>
            <a:ext cx="15240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5F6368"/>
                </a:solidFill>
                <a:latin typeface="Arial"/>
                <a:cs typeface="Arial"/>
              </a:rPr>
              <a:t>Absolute effect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A193893-DFF1-8640-940E-4C1AB9D091E8}"/>
              </a:ext>
            </a:extLst>
          </p:cNvPr>
          <p:cNvSpPr txBox="1"/>
          <p:nvPr/>
        </p:nvSpPr>
        <p:spPr>
          <a:xfrm>
            <a:off x="5080000" y="2374900"/>
            <a:ext cx="8890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5F6368"/>
                </a:solidFill>
                <a:latin typeface="Arial"/>
                <a:cs typeface="Arial"/>
              </a:rPr>
              <a:t>Approx. 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C8B6C2B-5092-5F4A-941F-ECDE38D63513}"/>
              </a:ext>
            </a:extLst>
          </p:cNvPr>
          <p:cNvSpPr txBox="1"/>
          <p:nvPr/>
        </p:nvSpPr>
        <p:spPr>
          <a:xfrm>
            <a:off x="3632200" y="2717800"/>
            <a:ext cx="88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202124"/>
                </a:solidFill>
                <a:latin typeface="Arial"/>
                <a:cs typeface="Arial"/>
              </a:rPr>
              <a:t>10% ARR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9BEFF8D-F577-3448-ACA1-049F2DE81DF8}"/>
              </a:ext>
            </a:extLst>
          </p:cNvPr>
          <p:cNvSpPr txBox="1"/>
          <p:nvPr/>
        </p:nvSpPr>
        <p:spPr>
          <a:xfrm>
            <a:off x="5118100" y="2717800"/>
            <a:ext cx="787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202124"/>
                </a:solidFill>
                <a:latin typeface="Arial"/>
                <a:cs typeface="Arial"/>
              </a:rPr>
              <a:t>~800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4097D58-F0B2-AA4F-AD45-A2FD9653A041}"/>
              </a:ext>
            </a:extLst>
          </p:cNvPr>
          <p:cNvSpPr/>
          <p:nvPr/>
        </p:nvSpPr>
        <p:spPr>
          <a:xfrm>
            <a:off x="3441700" y="2921000"/>
            <a:ext cx="2641600" cy="279400"/>
          </a:xfrm>
          <a:prstGeom prst="rect">
            <a:avLst/>
          </a:prstGeom>
          <a:solidFill>
            <a:srgbClr val="FBFBFD"/>
          </a:solidFill>
          <a:ln w="0">
            <a:solidFill>
              <a:srgbClr val="FBFBF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34C97F5-83C5-A14B-90B1-7F9CD3B8197E}"/>
              </a:ext>
            </a:extLst>
          </p:cNvPr>
          <p:cNvSpPr txBox="1"/>
          <p:nvPr/>
        </p:nvSpPr>
        <p:spPr>
          <a:xfrm>
            <a:off x="3632200" y="2984500"/>
            <a:ext cx="88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202124"/>
                </a:solidFill>
                <a:latin typeface="Arial"/>
                <a:cs typeface="Arial"/>
              </a:rPr>
              <a:t>5% ARR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4DA1DAC-7884-4A48-BDE3-0E3695DE97DD}"/>
              </a:ext>
            </a:extLst>
          </p:cNvPr>
          <p:cNvSpPr txBox="1"/>
          <p:nvPr/>
        </p:nvSpPr>
        <p:spPr>
          <a:xfrm>
            <a:off x="5118100" y="2984500"/>
            <a:ext cx="787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202124"/>
                </a:solidFill>
                <a:latin typeface="Arial"/>
                <a:cs typeface="Arial"/>
              </a:rPr>
              <a:t>~3,100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4E9EC54-1F05-A146-88E5-CCC5FB877F35}"/>
              </a:ext>
            </a:extLst>
          </p:cNvPr>
          <p:cNvSpPr txBox="1"/>
          <p:nvPr/>
        </p:nvSpPr>
        <p:spPr>
          <a:xfrm>
            <a:off x="3632200" y="3251200"/>
            <a:ext cx="88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C63D0F"/>
                </a:solidFill>
                <a:latin typeface="Arial"/>
                <a:cs typeface="Arial"/>
              </a:rPr>
              <a:t>2.5% ARR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B0DDC67-5745-594C-B7F6-204D46AE12B5}"/>
              </a:ext>
            </a:extLst>
          </p:cNvPr>
          <p:cNvSpPr txBox="1"/>
          <p:nvPr/>
        </p:nvSpPr>
        <p:spPr>
          <a:xfrm>
            <a:off x="5118100" y="3251200"/>
            <a:ext cx="787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C63D0F"/>
                </a:solidFill>
                <a:latin typeface="Arial"/>
                <a:cs typeface="Arial"/>
              </a:rPr>
              <a:t>~12,500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1F3F466-56DD-1F4D-B0D7-4F608CC64AAF}"/>
              </a:ext>
            </a:extLst>
          </p:cNvPr>
          <p:cNvSpPr/>
          <p:nvPr/>
        </p:nvSpPr>
        <p:spPr>
          <a:xfrm>
            <a:off x="3441700" y="3505200"/>
            <a:ext cx="2641600" cy="279400"/>
          </a:xfrm>
          <a:prstGeom prst="rect">
            <a:avLst/>
          </a:prstGeom>
          <a:solidFill>
            <a:srgbClr val="FBFBFD"/>
          </a:solidFill>
          <a:ln w="0">
            <a:solidFill>
              <a:srgbClr val="FBFBF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1DAC117-EBFC-5A44-AD7E-49D7908B5CEF}"/>
              </a:ext>
            </a:extLst>
          </p:cNvPr>
          <p:cNvSpPr txBox="1"/>
          <p:nvPr/>
        </p:nvSpPr>
        <p:spPr>
          <a:xfrm>
            <a:off x="3632200" y="3568700"/>
            <a:ext cx="88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C63D0F"/>
                </a:solidFill>
                <a:latin typeface="Arial"/>
                <a:cs typeface="Arial"/>
              </a:rPr>
              <a:t>1% ARR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04EED52-C9C2-F949-BA64-F28DE9BB0DD6}"/>
              </a:ext>
            </a:extLst>
          </p:cNvPr>
          <p:cNvSpPr txBox="1"/>
          <p:nvPr/>
        </p:nvSpPr>
        <p:spPr>
          <a:xfrm>
            <a:off x="5118100" y="3568700"/>
            <a:ext cx="787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C63D0F"/>
                </a:solidFill>
                <a:latin typeface="Arial"/>
                <a:cs typeface="Arial"/>
              </a:rPr>
              <a:t>~78,000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1C868E8-23C7-CD41-AA97-9F2116F8C651}"/>
              </a:ext>
            </a:extLst>
          </p:cNvPr>
          <p:cNvSpPr txBox="1"/>
          <p:nvPr/>
        </p:nvSpPr>
        <p:spPr>
          <a:xfrm>
            <a:off x="3441700" y="3962400"/>
            <a:ext cx="2641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13005C"/>
                </a:solidFill>
                <a:latin typeface="Arial"/>
                <a:cs typeface="Arial"/>
              </a:rPr>
              <a:t>Worthwhile effects can be smaller.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1CE7BEA-C71F-1D40-A23F-D65D1D84CFEF}"/>
              </a:ext>
            </a:extLst>
          </p:cNvPr>
          <p:cNvSpPr txBox="1"/>
          <p:nvPr/>
        </p:nvSpPr>
        <p:spPr>
          <a:xfrm>
            <a:off x="6540500" y="1574800"/>
            <a:ext cx="203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13005C"/>
                </a:solidFill>
                <a:latin typeface="Arial"/>
                <a:cs typeface="Arial"/>
              </a:rPr>
              <a:t>3  Recover information by design</a:t>
            </a: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8557A18B-05D2-2544-AC3F-2F1686F171D5}"/>
              </a:ext>
            </a:extLst>
          </p:cNvPr>
          <p:cNvSpPr/>
          <p:nvPr/>
        </p:nvSpPr>
        <p:spPr>
          <a:xfrm>
            <a:off x="6540500" y="2108200"/>
            <a:ext cx="1981200" cy="508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CE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A5F5077-4143-7542-A300-FE744A7A1709}"/>
              </a:ext>
            </a:extLst>
          </p:cNvPr>
          <p:cNvSpPr txBox="1"/>
          <p:nvPr/>
        </p:nvSpPr>
        <p:spPr>
          <a:xfrm>
            <a:off x="6642100" y="2159000"/>
            <a:ext cx="177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13005C"/>
                </a:solidFill>
                <a:latin typeface="Arial"/>
                <a:cs typeface="Arial"/>
              </a:rPr>
              <a:t>Risk enrichment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1AEA8A2-96AB-5B45-BCF5-EB75AF0B247A}"/>
              </a:ext>
            </a:extLst>
          </p:cNvPr>
          <p:cNvSpPr txBox="1"/>
          <p:nvPr/>
        </p:nvSpPr>
        <p:spPr>
          <a:xfrm>
            <a:off x="6642100" y="2362200"/>
            <a:ext cx="177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Enough baseline events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90DD508E-3649-4B4D-8079-A56B2BB42264}"/>
              </a:ext>
            </a:extLst>
          </p:cNvPr>
          <p:cNvSpPr/>
          <p:nvPr/>
        </p:nvSpPr>
        <p:spPr>
          <a:xfrm>
            <a:off x="6540500" y="2667000"/>
            <a:ext cx="1981200" cy="508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CE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54854AD-6523-F845-B482-A12EF541D1CC}"/>
              </a:ext>
            </a:extLst>
          </p:cNvPr>
          <p:cNvSpPr txBox="1"/>
          <p:nvPr/>
        </p:nvSpPr>
        <p:spPr>
          <a:xfrm>
            <a:off x="6642100" y="2717800"/>
            <a:ext cx="177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13005C"/>
                </a:solidFill>
                <a:latin typeface="Arial"/>
                <a:cs typeface="Arial"/>
              </a:rPr>
              <a:t>Cleaner case definition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82A0833-98FC-D649-80A7-1FBA339ACF2B}"/>
              </a:ext>
            </a:extLst>
          </p:cNvPr>
          <p:cNvSpPr txBox="1"/>
          <p:nvPr/>
        </p:nvSpPr>
        <p:spPr>
          <a:xfrm>
            <a:off x="6642100" y="2921000"/>
            <a:ext cx="177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Less heterogeneity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DD571B57-B510-F245-B85D-1C3AEC388F4B}"/>
              </a:ext>
            </a:extLst>
          </p:cNvPr>
          <p:cNvSpPr/>
          <p:nvPr/>
        </p:nvSpPr>
        <p:spPr>
          <a:xfrm>
            <a:off x="6540500" y="3225800"/>
            <a:ext cx="1981200" cy="508000"/>
          </a:xfrm>
          <a:prstGeom prst="roundRect">
            <a:avLst/>
          </a:prstGeom>
          <a:solidFill>
            <a:srgbClr val="F4F0FF"/>
          </a:solidFill>
          <a:ln w="7620">
            <a:solidFill>
              <a:srgbClr val="B7A4E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61B1EDE-74D2-D249-9A87-4C0F6425DDFE}"/>
              </a:ext>
            </a:extLst>
          </p:cNvPr>
          <p:cNvSpPr txBox="1"/>
          <p:nvPr/>
        </p:nvSpPr>
        <p:spPr>
          <a:xfrm>
            <a:off x="6642100" y="3276600"/>
            <a:ext cx="177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A00E8"/>
                </a:solidFill>
                <a:latin typeface="Arial"/>
                <a:cs typeface="Arial"/>
              </a:rPr>
              <a:t>Informative outcomes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093AA85-1F5E-7A46-A9F5-7002BC40CB03}"/>
              </a:ext>
            </a:extLst>
          </p:cNvPr>
          <p:cNvSpPr txBox="1"/>
          <p:nvPr/>
        </p:nvSpPr>
        <p:spPr>
          <a:xfrm>
            <a:off x="6642100" y="3479800"/>
            <a:ext cx="177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Trajectory (state-by-day)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929E3310-F1AD-064C-ACDB-362D06B6D318}"/>
              </a:ext>
            </a:extLst>
          </p:cNvPr>
          <p:cNvSpPr/>
          <p:nvPr/>
        </p:nvSpPr>
        <p:spPr>
          <a:xfrm>
            <a:off x="6540500" y="3784600"/>
            <a:ext cx="1981200" cy="508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CE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CD4291E-5DE3-C842-B0E5-940E0948BDCD}"/>
              </a:ext>
            </a:extLst>
          </p:cNvPr>
          <p:cNvSpPr txBox="1"/>
          <p:nvPr/>
        </p:nvSpPr>
        <p:spPr>
          <a:xfrm>
            <a:off x="6642100" y="3835400"/>
            <a:ext cx="177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13005C"/>
                </a:solidFill>
                <a:latin typeface="Arial"/>
                <a:cs typeface="Arial"/>
              </a:rPr>
              <a:t>Adjustment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40928CA-CCFA-3F41-B834-1A64D1820158}"/>
              </a:ext>
            </a:extLst>
          </p:cNvPr>
          <p:cNvSpPr txBox="1"/>
          <p:nvPr/>
        </p:nvSpPr>
        <p:spPr>
          <a:xfrm>
            <a:off x="6642100" y="4038600"/>
            <a:ext cx="177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Remove noise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2B6FCB24-3EE7-BA46-AC00-042CB59FD934}"/>
              </a:ext>
            </a:extLst>
          </p:cNvPr>
          <p:cNvSpPr/>
          <p:nvPr/>
        </p:nvSpPr>
        <p:spPr>
          <a:xfrm>
            <a:off x="660400" y="4343400"/>
            <a:ext cx="8001000" cy="355600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C7B8F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A9D5127-EE22-1F41-AC77-AD552664AB79}"/>
              </a:ext>
            </a:extLst>
          </p:cNvPr>
          <p:cNvSpPr txBox="1"/>
          <p:nvPr/>
        </p:nvSpPr>
        <p:spPr>
          <a:xfrm>
            <a:off x="800100" y="4419600"/>
            <a:ext cx="7721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A00E8"/>
                </a:solidFill>
                <a:latin typeface="Arial"/>
                <a:cs typeface="Arial"/>
              </a:rPr>
              <a:t>Better prediction concentrates measurement where the outcome is plausible, actionable, and learnable.</a:t>
            </a:r>
          </a:p>
        </p:txBody>
      </p:sp>
    </p:spTree>
    <p:extLst>
      <p:ext uri="{BB962C8B-B14F-4D97-AF65-F5344CB8AC3E}">
        <p14:creationId xmlns:p14="http://schemas.microsoft.com/office/powerpoint/2010/main" val="13383935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white_canvas">
            <a:extLst>
              <a:ext uri="{FF2B5EF4-FFF2-40B4-BE49-F238E27FC236}">
                <a16:creationId xmlns:a16="http://schemas.microsoft.com/office/drawing/2014/main" id="{A728FDA2-4B79-DB4C-9492-A1A99EBEDA6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6" name="left_cyan_rail">
            <a:extLst>
              <a:ext uri="{FF2B5EF4-FFF2-40B4-BE49-F238E27FC236}">
                <a16:creationId xmlns:a16="http://schemas.microsoft.com/office/drawing/2014/main" id="{D23605B9-4CF7-1642-85D9-D721AD8BD7DA}"/>
              </a:ext>
            </a:extLst>
          </p:cNvPr>
          <p:cNvSpPr/>
          <p:nvPr/>
        </p:nvSpPr>
        <p:spPr>
          <a:xfrm>
            <a:off x="355600" y="736600"/>
            <a:ext cx="50800" cy="3606800"/>
          </a:xfrm>
          <a:prstGeom prst="rect">
            <a:avLst/>
          </a:prstGeom>
          <a:solidFill>
            <a:srgbClr val="4A00E2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7" name="kicker">
            <a:extLst>
              <a:ext uri="{FF2B5EF4-FFF2-40B4-BE49-F238E27FC236}">
                <a16:creationId xmlns:a16="http://schemas.microsoft.com/office/drawing/2014/main" id="{E5B25CAE-3BDA-9648-9BFF-F55E0AD54CA2}"/>
              </a:ext>
            </a:extLst>
          </p:cNvPr>
          <p:cNvSpPr txBox="1"/>
          <p:nvPr/>
        </p:nvSpPr>
        <p:spPr>
          <a:xfrm>
            <a:off x="635000" y="381000"/>
            <a:ext cx="5969000" cy="228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4A00E2"/>
                </a:solidFill>
                <a:latin typeface="Arial"/>
                <a:cs typeface="Arial"/>
              </a:rPr>
              <a:t>ENRICH + ESTIMATE | RESIDUAL VARIATION</a:t>
            </a:r>
          </a:p>
        </p:txBody>
      </p:sp>
      <p:sp>
        <p:nvSpPr>
          <p:cNvPr id="88" name="title">
            <a:extLst>
              <a:ext uri="{FF2B5EF4-FFF2-40B4-BE49-F238E27FC236}">
                <a16:creationId xmlns:a16="http://schemas.microsoft.com/office/drawing/2014/main" id="{458BA5B6-03F2-5440-9E26-0094F7434520}"/>
              </a:ext>
            </a:extLst>
          </p:cNvPr>
          <p:cNvSpPr txBox="1"/>
          <p:nvPr/>
        </p:nvSpPr>
        <p:spPr>
          <a:xfrm>
            <a:off x="635000" y="691792"/>
            <a:ext cx="79375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 dirty="0">
                <a:solidFill>
                  <a:srgbClr val="1B0066"/>
                </a:solidFill>
                <a:latin typeface="Arial"/>
                <a:cs typeface="Arial"/>
              </a:rPr>
              <a:t>Baseline risk helps twice: enrich first, adjust after randomization</a:t>
            </a:r>
          </a:p>
        </p:txBody>
      </p:sp>
      <p:sp>
        <p:nvSpPr>
          <p:cNvPr id="90" name="card_body">
            <a:extLst>
              <a:ext uri="{FF2B5EF4-FFF2-40B4-BE49-F238E27FC236}">
                <a16:creationId xmlns:a16="http://schemas.microsoft.com/office/drawing/2014/main" id="{4AA790C1-085A-B740-974A-8089271552F8}"/>
              </a:ext>
            </a:extLst>
          </p:cNvPr>
          <p:cNvSpPr/>
          <p:nvPr/>
        </p:nvSpPr>
        <p:spPr>
          <a:xfrm>
            <a:off x="736600" y="1701800"/>
            <a:ext cx="3708400" cy="264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1" name="card_header">
            <a:extLst>
              <a:ext uri="{FF2B5EF4-FFF2-40B4-BE49-F238E27FC236}">
                <a16:creationId xmlns:a16="http://schemas.microsoft.com/office/drawing/2014/main" id="{466BA273-28EC-8445-A3AA-5C4C1653C4DB}"/>
              </a:ext>
            </a:extLst>
          </p:cNvPr>
          <p:cNvSpPr/>
          <p:nvPr/>
        </p:nvSpPr>
        <p:spPr>
          <a:xfrm>
            <a:off x="736600" y="1701800"/>
            <a:ext cx="3708400" cy="444500"/>
          </a:xfrm>
          <a:prstGeom prst="rect">
            <a:avLst/>
          </a:prstGeom>
          <a:solidFill>
            <a:srgbClr val="4B00D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2" name="card_header_text">
            <a:extLst>
              <a:ext uri="{FF2B5EF4-FFF2-40B4-BE49-F238E27FC236}">
                <a16:creationId xmlns:a16="http://schemas.microsoft.com/office/drawing/2014/main" id="{9E99B0F4-EA52-EF40-9762-0DA647235349}"/>
              </a:ext>
            </a:extLst>
          </p:cNvPr>
          <p:cNvSpPr txBox="1"/>
          <p:nvPr/>
        </p:nvSpPr>
        <p:spPr>
          <a:xfrm>
            <a:off x="1016000" y="1828800"/>
            <a:ext cx="3149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BEFORE RANDOMIZATION</a:t>
            </a:r>
          </a:p>
        </p:txBody>
      </p:sp>
      <p:sp>
        <p:nvSpPr>
          <p:cNvPr id="93" name="card_headline">
            <a:extLst>
              <a:ext uri="{FF2B5EF4-FFF2-40B4-BE49-F238E27FC236}">
                <a16:creationId xmlns:a16="http://schemas.microsoft.com/office/drawing/2014/main" id="{4F8E8657-6973-A742-B396-930F138CEECB}"/>
              </a:ext>
            </a:extLst>
          </p:cNvPr>
          <p:cNvSpPr txBox="1"/>
          <p:nvPr/>
        </p:nvSpPr>
        <p:spPr>
          <a:xfrm>
            <a:off x="1016000" y="2286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 dirty="0">
                <a:solidFill>
                  <a:srgbClr val="110057"/>
                </a:solidFill>
                <a:latin typeface="Arial"/>
                <a:cs typeface="Arial"/>
              </a:rPr>
              <a:t>Enrichment: choose who enters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F8333B5A-69FE-874B-A75F-E1AF30C6231E}"/>
              </a:ext>
            </a:extLst>
          </p:cNvPr>
          <p:cNvSpPr/>
          <p:nvPr/>
        </p:nvSpPr>
        <p:spPr>
          <a:xfrm>
            <a:off x="1041400" y="2692400"/>
            <a:ext cx="53340" cy="53340"/>
          </a:xfrm>
          <a:prstGeom prst="ellipse">
            <a:avLst/>
          </a:prstGeom>
          <a:solidFill>
            <a:srgbClr val="2AAAC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5" name="bullet_text">
            <a:extLst>
              <a:ext uri="{FF2B5EF4-FFF2-40B4-BE49-F238E27FC236}">
                <a16:creationId xmlns:a16="http://schemas.microsoft.com/office/drawing/2014/main" id="{D71DB7FA-19F2-654C-B069-194A035FFFE9}"/>
              </a:ext>
            </a:extLst>
          </p:cNvPr>
          <p:cNvSpPr txBox="1"/>
          <p:nvPr/>
        </p:nvSpPr>
        <p:spPr>
          <a:xfrm>
            <a:off x="1231900" y="2616200"/>
            <a:ext cx="31115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2A2340"/>
                </a:solidFill>
                <a:latin typeface="Arial"/>
                <a:cs typeface="Arial"/>
              </a:rPr>
              <a:t>Enough baseline risk for outcome capture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C0516F54-0D82-9E4F-ADF9-9FFC14C83A57}"/>
              </a:ext>
            </a:extLst>
          </p:cNvPr>
          <p:cNvSpPr/>
          <p:nvPr/>
        </p:nvSpPr>
        <p:spPr>
          <a:xfrm>
            <a:off x="1041400" y="3048000"/>
            <a:ext cx="53340" cy="53340"/>
          </a:xfrm>
          <a:prstGeom prst="ellipse">
            <a:avLst/>
          </a:prstGeom>
          <a:solidFill>
            <a:srgbClr val="2AAAC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7" name="bullet_text">
            <a:extLst>
              <a:ext uri="{FF2B5EF4-FFF2-40B4-BE49-F238E27FC236}">
                <a16:creationId xmlns:a16="http://schemas.microsoft.com/office/drawing/2014/main" id="{8D98B350-A315-074A-9FF4-5B0843FE2948}"/>
              </a:ext>
            </a:extLst>
          </p:cNvPr>
          <p:cNvSpPr txBox="1"/>
          <p:nvPr/>
        </p:nvSpPr>
        <p:spPr>
          <a:xfrm>
            <a:off x="1231900" y="2971800"/>
            <a:ext cx="31115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2A2340"/>
                </a:solidFill>
                <a:latin typeface="Arial"/>
                <a:cs typeface="Arial"/>
              </a:rPr>
              <a:t>Higher event yield and feasible operations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AD0AC8B7-F593-9D49-9A79-065C8E907F95}"/>
              </a:ext>
            </a:extLst>
          </p:cNvPr>
          <p:cNvSpPr/>
          <p:nvPr/>
        </p:nvSpPr>
        <p:spPr>
          <a:xfrm>
            <a:off x="1041400" y="3403600"/>
            <a:ext cx="53340" cy="53340"/>
          </a:xfrm>
          <a:prstGeom prst="ellipse">
            <a:avLst/>
          </a:prstGeom>
          <a:solidFill>
            <a:srgbClr val="2AAAC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9" name="bullet_text">
            <a:extLst>
              <a:ext uri="{FF2B5EF4-FFF2-40B4-BE49-F238E27FC236}">
                <a16:creationId xmlns:a16="http://schemas.microsoft.com/office/drawing/2014/main" id="{F1E00072-496B-9B4B-8775-CC2C2737458A}"/>
              </a:ext>
            </a:extLst>
          </p:cNvPr>
          <p:cNvSpPr txBox="1"/>
          <p:nvPr/>
        </p:nvSpPr>
        <p:spPr>
          <a:xfrm>
            <a:off x="1231900" y="3327400"/>
            <a:ext cx="31115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2A2340"/>
                </a:solidFill>
                <a:latin typeface="Arial"/>
                <a:cs typeface="Arial"/>
              </a:rPr>
              <a:t>Avoid broad cohorts with uninformative outcomes</a:t>
            </a:r>
          </a:p>
        </p:txBody>
      </p:sp>
      <p:sp>
        <p:nvSpPr>
          <p:cNvPr id="100" name="goal_strip">
            <a:extLst>
              <a:ext uri="{FF2B5EF4-FFF2-40B4-BE49-F238E27FC236}">
                <a16:creationId xmlns:a16="http://schemas.microsoft.com/office/drawing/2014/main" id="{399DDEAB-D06E-5042-A7BE-7ECB1501C3FD}"/>
              </a:ext>
            </a:extLst>
          </p:cNvPr>
          <p:cNvSpPr/>
          <p:nvPr/>
        </p:nvSpPr>
        <p:spPr>
          <a:xfrm>
            <a:off x="927100" y="3810000"/>
            <a:ext cx="3327400" cy="304800"/>
          </a:xfrm>
          <a:prstGeom prst="rect">
            <a:avLst/>
          </a:prstGeom>
          <a:solidFill>
            <a:srgbClr val="EAF8F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1" name="goal_text">
            <a:extLst>
              <a:ext uri="{FF2B5EF4-FFF2-40B4-BE49-F238E27FC236}">
                <a16:creationId xmlns:a16="http://schemas.microsoft.com/office/drawing/2014/main" id="{E586476E-2EBF-314F-94B0-6011023AB753}"/>
              </a:ext>
            </a:extLst>
          </p:cNvPr>
          <p:cNvSpPr txBox="1"/>
          <p:nvPr/>
        </p:nvSpPr>
        <p:spPr>
          <a:xfrm>
            <a:off x="1117600" y="3837826"/>
            <a:ext cx="2946400" cy="416674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A00E2"/>
                </a:solidFill>
                <a:latin typeface="Arial"/>
                <a:cs typeface="Arial"/>
              </a:rPr>
              <a:t>Goal: more signal</a:t>
            </a:r>
          </a:p>
        </p:txBody>
      </p:sp>
      <p:sp>
        <p:nvSpPr>
          <p:cNvPr id="102" name="card_body">
            <a:extLst>
              <a:ext uri="{FF2B5EF4-FFF2-40B4-BE49-F238E27FC236}">
                <a16:creationId xmlns:a16="http://schemas.microsoft.com/office/drawing/2014/main" id="{0C709CB4-450C-6B41-8584-8BC544AA30B9}"/>
              </a:ext>
            </a:extLst>
          </p:cNvPr>
          <p:cNvSpPr/>
          <p:nvPr/>
        </p:nvSpPr>
        <p:spPr>
          <a:xfrm>
            <a:off x="4699000" y="1701800"/>
            <a:ext cx="3708400" cy="264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3" name="card_header">
            <a:extLst>
              <a:ext uri="{FF2B5EF4-FFF2-40B4-BE49-F238E27FC236}">
                <a16:creationId xmlns:a16="http://schemas.microsoft.com/office/drawing/2014/main" id="{0BC8573B-E257-0544-8B59-45C6EA6C5F40}"/>
              </a:ext>
            </a:extLst>
          </p:cNvPr>
          <p:cNvSpPr/>
          <p:nvPr/>
        </p:nvSpPr>
        <p:spPr>
          <a:xfrm>
            <a:off x="4699000" y="1701800"/>
            <a:ext cx="3708400" cy="444500"/>
          </a:xfrm>
          <a:prstGeom prst="rect">
            <a:avLst/>
          </a:prstGeom>
          <a:solidFill>
            <a:srgbClr val="1B0066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4" name="card_header_text">
            <a:extLst>
              <a:ext uri="{FF2B5EF4-FFF2-40B4-BE49-F238E27FC236}">
                <a16:creationId xmlns:a16="http://schemas.microsoft.com/office/drawing/2014/main" id="{526A913B-5CFA-8646-B34E-405DDD4C37E8}"/>
              </a:ext>
            </a:extLst>
          </p:cNvPr>
          <p:cNvSpPr txBox="1"/>
          <p:nvPr/>
        </p:nvSpPr>
        <p:spPr>
          <a:xfrm>
            <a:off x="4978400" y="1828800"/>
            <a:ext cx="3149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AFTER RANDOMIZATION</a:t>
            </a:r>
          </a:p>
        </p:txBody>
      </p:sp>
      <p:sp>
        <p:nvSpPr>
          <p:cNvPr id="105" name="card_headline">
            <a:extLst>
              <a:ext uri="{FF2B5EF4-FFF2-40B4-BE49-F238E27FC236}">
                <a16:creationId xmlns:a16="http://schemas.microsoft.com/office/drawing/2014/main" id="{47582715-1450-3248-9A84-E79D69BC3039}"/>
              </a:ext>
            </a:extLst>
          </p:cNvPr>
          <p:cNvSpPr txBox="1"/>
          <p:nvPr/>
        </p:nvSpPr>
        <p:spPr>
          <a:xfrm>
            <a:off x="4978400" y="2286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 dirty="0">
                <a:solidFill>
                  <a:srgbClr val="110057"/>
                </a:solidFill>
                <a:latin typeface="Arial"/>
                <a:cs typeface="Arial"/>
              </a:rPr>
              <a:t>Adjustment: estimate precisely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A6C0FE1F-2482-5A44-8E5F-8E0F8B857F77}"/>
              </a:ext>
            </a:extLst>
          </p:cNvPr>
          <p:cNvSpPr/>
          <p:nvPr/>
        </p:nvSpPr>
        <p:spPr>
          <a:xfrm>
            <a:off x="5003800" y="2692400"/>
            <a:ext cx="53340" cy="53340"/>
          </a:xfrm>
          <a:prstGeom prst="ellipse">
            <a:avLst/>
          </a:prstGeom>
          <a:solidFill>
            <a:srgbClr val="2AAAC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7" name="bullet_text">
            <a:extLst>
              <a:ext uri="{FF2B5EF4-FFF2-40B4-BE49-F238E27FC236}">
                <a16:creationId xmlns:a16="http://schemas.microsoft.com/office/drawing/2014/main" id="{BBCA90F5-DE58-EF49-97CE-BD39B8F2177C}"/>
              </a:ext>
            </a:extLst>
          </p:cNvPr>
          <p:cNvSpPr txBox="1"/>
          <p:nvPr/>
        </p:nvSpPr>
        <p:spPr>
          <a:xfrm>
            <a:off x="5194300" y="2616200"/>
            <a:ext cx="31115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2A2340"/>
                </a:solidFill>
                <a:latin typeface="Arial"/>
                <a:cs typeface="Arial"/>
              </a:rPr>
              <a:t>Prespecify prognostic baseline covariates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684C823-F94E-F04B-8055-013A9497607A}"/>
              </a:ext>
            </a:extLst>
          </p:cNvPr>
          <p:cNvSpPr/>
          <p:nvPr/>
        </p:nvSpPr>
        <p:spPr>
          <a:xfrm>
            <a:off x="5003800" y="3048000"/>
            <a:ext cx="53340" cy="53340"/>
          </a:xfrm>
          <a:prstGeom prst="ellipse">
            <a:avLst/>
          </a:prstGeom>
          <a:solidFill>
            <a:srgbClr val="2AAAC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9" name="bullet_text">
            <a:extLst>
              <a:ext uri="{FF2B5EF4-FFF2-40B4-BE49-F238E27FC236}">
                <a16:creationId xmlns:a16="http://schemas.microsoft.com/office/drawing/2014/main" id="{4C9F5BA9-A794-B440-9305-7AC23B4A6033}"/>
              </a:ext>
            </a:extLst>
          </p:cNvPr>
          <p:cNvSpPr txBox="1"/>
          <p:nvPr/>
        </p:nvSpPr>
        <p:spPr>
          <a:xfrm>
            <a:off x="5194300" y="2971800"/>
            <a:ext cx="31115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2A2340"/>
                </a:solidFill>
                <a:latin typeface="Arial"/>
                <a:cs typeface="Arial"/>
              </a:rPr>
              <a:t>Explain predictable outcome variation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6A24D102-0199-BC48-9270-547C3D06E768}"/>
              </a:ext>
            </a:extLst>
          </p:cNvPr>
          <p:cNvSpPr/>
          <p:nvPr/>
        </p:nvSpPr>
        <p:spPr>
          <a:xfrm>
            <a:off x="5003800" y="3403600"/>
            <a:ext cx="53340" cy="53340"/>
          </a:xfrm>
          <a:prstGeom prst="ellipse">
            <a:avLst/>
          </a:prstGeom>
          <a:solidFill>
            <a:srgbClr val="2AAAC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1" name="bullet_text">
            <a:extLst>
              <a:ext uri="{FF2B5EF4-FFF2-40B4-BE49-F238E27FC236}">
                <a16:creationId xmlns:a16="http://schemas.microsoft.com/office/drawing/2014/main" id="{029E3289-C67E-274F-AC95-5CCC2EE28745}"/>
              </a:ext>
            </a:extLst>
          </p:cNvPr>
          <p:cNvSpPr txBox="1"/>
          <p:nvPr/>
        </p:nvSpPr>
        <p:spPr>
          <a:xfrm>
            <a:off x="5194300" y="3327400"/>
            <a:ext cx="31115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2A2340"/>
                </a:solidFill>
                <a:latin typeface="Arial"/>
                <a:cs typeface="Arial"/>
              </a:rPr>
              <a:t>Narrow intervals without changing randomization</a:t>
            </a:r>
          </a:p>
        </p:txBody>
      </p:sp>
      <p:sp>
        <p:nvSpPr>
          <p:cNvPr id="112" name="goal_strip">
            <a:extLst>
              <a:ext uri="{FF2B5EF4-FFF2-40B4-BE49-F238E27FC236}">
                <a16:creationId xmlns:a16="http://schemas.microsoft.com/office/drawing/2014/main" id="{826AA452-649E-3346-8FF8-21BD1EA4259D}"/>
              </a:ext>
            </a:extLst>
          </p:cNvPr>
          <p:cNvSpPr/>
          <p:nvPr/>
        </p:nvSpPr>
        <p:spPr>
          <a:xfrm>
            <a:off x="4889500" y="3810000"/>
            <a:ext cx="3327400" cy="324208"/>
          </a:xfrm>
          <a:prstGeom prst="rect">
            <a:avLst/>
          </a:prstGeom>
          <a:solidFill>
            <a:srgbClr val="F1EC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3" name="goal_text">
            <a:extLst>
              <a:ext uri="{FF2B5EF4-FFF2-40B4-BE49-F238E27FC236}">
                <a16:creationId xmlns:a16="http://schemas.microsoft.com/office/drawing/2014/main" id="{B43A5608-C535-6C4A-870B-E61F130AE18D}"/>
              </a:ext>
            </a:extLst>
          </p:cNvPr>
          <p:cNvSpPr txBox="1"/>
          <p:nvPr/>
        </p:nvSpPr>
        <p:spPr>
          <a:xfrm>
            <a:off x="5080000" y="3848100"/>
            <a:ext cx="29464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1B0066"/>
                </a:solidFill>
                <a:latin typeface="Arial"/>
                <a:cs typeface="Arial"/>
              </a:rPr>
              <a:t>Goal: less noise / residual variation</a:t>
            </a:r>
          </a:p>
        </p:txBody>
      </p:sp>
      <p:sp>
        <p:nvSpPr>
          <p:cNvPr id="117" name="source">
            <a:extLst>
              <a:ext uri="{FF2B5EF4-FFF2-40B4-BE49-F238E27FC236}">
                <a16:creationId xmlns:a16="http://schemas.microsoft.com/office/drawing/2014/main" id="{1FEEA38A-AF95-4B43-B776-24856A4A0209}"/>
              </a:ext>
            </a:extLst>
          </p:cNvPr>
          <p:cNvSpPr txBox="1"/>
          <p:nvPr/>
        </p:nvSpPr>
        <p:spPr>
          <a:xfrm>
            <a:off x="825500" y="4826000"/>
            <a:ext cx="75565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dirty="0">
                <a:solidFill>
                  <a:srgbClr val="8A829E"/>
                </a:solidFill>
                <a:latin typeface="Arial"/>
                <a:cs typeface="Arial"/>
              </a:rPr>
              <a:t>Source: Morris et al., Trials 2022 — prognostic covariate adjustment can improve precision.</a:t>
            </a:r>
          </a:p>
        </p:txBody>
      </p:sp>
    </p:spTree>
    <p:extLst>
      <p:ext uri="{BB962C8B-B14F-4D97-AF65-F5344CB8AC3E}">
        <p14:creationId xmlns:p14="http://schemas.microsoft.com/office/powerpoint/2010/main" val="28114869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anvas">
            <a:extLst>
              <a:ext uri="{FF2B5EF4-FFF2-40B4-BE49-F238E27FC236}">
                <a16:creationId xmlns:a16="http://schemas.microsoft.com/office/drawing/2014/main" id="{B570A5DC-C7F4-F449-8EF2-9B9866A1BCC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8" name="rail">
            <a:extLst>
              <a:ext uri="{FF2B5EF4-FFF2-40B4-BE49-F238E27FC236}">
                <a16:creationId xmlns:a16="http://schemas.microsoft.com/office/drawing/2014/main" id="{5A67AF3F-098C-F94A-83AC-FD019EF340D6}"/>
              </a:ext>
            </a:extLst>
          </p:cNvPr>
          <p:cNvSpPr/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5A00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9" name="kicker">
            <a:extLst>
              <a:ext uri="{FF2B5EF4-FFF2-40B4-BE49-F238E27FC236}">
                <a16:creationId xmlns:a16="http://schemas.microsoft.com/office/drawing/2014/main" id="{03D3F570-7EC8-304C-A5DE-058881BC904C}"/>
              </a:ext>
            </a:extLst>
          </p:cNvPr>
          <p:cNvSpPr txBox="1"/>
          <p:nvPr/>
        </p:nvSpPr>
        <p:spPr>
          <a:xfrm>
            <a:off x="609600" y="3048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A00E2"/>
                </a:solidFill>
                <a:latin typeface="Arial"/>
                <a:cs typeface="Arial"/>
              </a:rPr>
              <a:t>ESTIMATE | TEACHING FRAME</a:t>
            </a:r>
          </a:p>
        </p:txBody>
      </p:sp>
      <p:sp>
        <p:nvSpPr>
          <p:cNvPr id="50" name="title">
            <a:extLst>
              <a:ext uri="{FF2B5EF4-FFF2-40B4-BE49-F238E27FC236}">
                <a16:creationId xmlns:a16="http://schemas.microsoft.com/office/drawing/2014/main" id="{98B3C95E-DAFE-0B4F-9B2E-95559629E444}"/>
              </a:ext>
            </a:extLst>
          </p:cNvPr>
          <p:cNvSpPr txBox="1"/>
          <p:nvPr/>
        </p:nvSpPr>
        <p:spPr>
          <a:xfrm>
            <a:off x="609600" y="533400"/>
            <a:ext cx="787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110057"/>
                </a:solidFill>
                <a:latin typeface="Arial"/>
                <a:cs typeface="Arial"/>
              </a:rPr>
              <a:t>Adjustment removes predictable risk</a:t>
            </a:r>
          </a:p>
        </p:txBody>
      </p:sp>
      <p:sp>
        <p:nvSpPr>
          <p:cNvPr id="51" name="subtitle">
            <a:extLst>
              <a:ext uri="{FF2B5EF4-FFF2-40B4-BE49-F238E27FC236}">
                <a16:creationId xmlns:a16="http://schemas.microsoft.com/office/drawing/2014/main" id="{5443AC86-0C3D-4C4C-BC61-7F03CE291D79}"/>
              </a:ext>
            </a:extLst>
          </p:cNvPr>
          <p:cNvSpPr txBox="1"/>
          <p:nvPr/>
        </p:nvSpPr>
        <p:spPr>
          <a:xfrm>
            <a:off x="609600" y="965200"/>
            <a:ext cx="787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6B6478"/>
                </a:solidFill>
                <a:latin typeface="Arial"/>
                <a:cs typeface="Arial"/>
              </a:rPr>
              <a:t>Randomization preserves the contrast; prognostic covariates explain variation that would otherwise blur the treatment signal.</a:t>
            </a:r>
          </a:p>
        </p:txBody>
      </p:sp>
      <p:sp>
        <p:nvSpPr>
          <p:cNvPr id="52" name="decomp_label">
            <a:extLst>
              <a:ext uri="{FF2B5EF4-FFF2-40B4-BE49-F238E27FC236}">
                <a16:creationId xmlns:a16="http://schemas.microsoft.com/office/drawing/2014/main" id="{2E6AE7E0-0279-9040-9F49-7EF203D26CD2}"/>
              </a:ext>
            </a:extLst>
          </p:cNvPr>
          <p:cNvSpPr txBox="1"/>
          <p:nvPr/>
        </p:nvSpPr>
        <p:spPr>
          <a:xfrm>
            <a:off x="939800" y="1422400"/>
            <a:ext cx="660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6B6478"/>
                </a:solidFill>
                <a:latin typeface="Arial"/>
                <a:cs typeface="Arial"/>
              </a:rPr>
              <a:t>A decomposition to teach before the regression model</a:t>
            </a:r>
          </a:p>
        </p:txBody>
      </p:sp>
      <p:sp>
        <p:nvSpPr>
          <p:cNvPr id="53" name="eq1">
            <a:extLst>
              <a:ext uri="{FF2B5EF4-FFF2-40B4-BE49-F238E27FC236}">
                <a16:creationId xmlns:a16="http://schemas.microsoft.com/office/drawing/2014/main" id="{180E7AB3-E199-FF46-B1BD-D8AF49A36D51}"/>
              </a:ext>
            </a:extLst>
          </p:cNvPr>
          <p:cNvSpPr/>
          <p:nvPr/>
        </p:nvSpPr>
        <p:spPr>
          <a:xfrm>
            <a:off x="736600" y="1727200"/>
            <a:ext cx="1219200" cy="431800"/>
          </a:xfrm>
          <a:prstGeom prst="rect">
            <a:avLst/>
          </a:prstGeom>
          <a:solidFill>
            <a:srgbClr val="EEF1F5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16005A"/>
                </a:solidFill>
                <a:latin typeface="Arial"/>
                <a:cs typeface="Arial"/>
              </a:rPr>
              <a:t>Outcome</a:t>
            </a:r>
          </a:p>
        </p:txBody>
      </p:sp>
      <p:sp>
        <p:nvSpPr>
          <p:cNvPr id="54" name="eqeq">
            <a:extLst>
              <a:ext uri="{FF2B5EF4-FFF2-40B4-BE49-F238E27FC236}">
                <a16:creationId xmlns:a16="http://schemas.microsoft.com/office/drawing/2014/main" id="{852DAFEF-CD86-744A-AA6E-102375EA0A0D}"/>
              </a:ext>
            </a:extLst>
          </p:cNvPr>
          <p:cNvSpPr txBox="1"/>
          <p:nvPr/>
        </p:nvSpPr>
        <p:spPr>
          <a:xfrm>
            <a:off x="2044700" y="1816100"/>
            <a:ext cx="2286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6B6478"/>
                </a:solidFill>
                <a:latin typeface="Arial"/>
                <a:cs typeface="Arial"/>
              </a:rPr>
              <a:t>=</a:t>
            </a:r>
          </a:p>
        </p:txBody>
      </p:sp>
      <p:sp>
        <p:nvSpPr>
          <p:cNvPr id="55" name="eq2">
            <a:extLst>
              <a:ext uri="{FF2B5EF4-FFF2-40B4-BE49-F238E27FC236}">
                <a16:creationId xmlns:a16="http://schemas.microsoft.com/office/drawing/2014/main" id="{40B1CC06-3F36-B647-BB69-95DD5044E93F}"/>
              </a:ext>
            </a:extLst>
          </p:cNvPr>
          <p:cNvSpPr/>
          <p:nvPr/>
        </p:nvSpPr>
        <p:spPr>
          <a:xfrm>
            <a:off x="2336800" y="1727200"/>
            <a:ext cx="1651000" cy="533400"/>
          </a:xfrm>
          <a:prstGeom prst="rect">
            <a:avLst/>
          </a:prstGeom>
          <a:solidFill>
            <a:srgbClr val="FFE7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5A5F"/>
                </a:solidFill>
                <a:latin typeface="Arial"/>
                <a:cs typeface="Arial"/>
              </a:rPr>
              <a:t>treatment
signal</a:t>
            </a:r>
          </a:p>
        </p:txBody>
      </p:sp>
      <p:sp>
        <p:nvSpPr>
          <p:cNvPr id="56" name="eqp1">
            <a:extLst>
              <a:ext uri="{FF2B5EF4-FFF2-40B4-BE49-F238E27FC236}">
                <a16:creationId xmlns:a16="http://schemas.microsoft.com/office/drawing/2014/main" id="{6A0C3838-9B95-5741-BABC-7DC286ECE483}"/>
              </a:ext>
            </a:extLst>
          </p:cNvPr>
          <p:cNvSpPr txBox="1"/>
          <p:nvPr/>
        </p:nvSpPr>
        <p:spPr>
          <a:xfrm>
            <a:off x="4076700" y="1816100"/>
            <a:ext cx="2286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6B6478"/>
                </a:solidFill>
                <a:latin typeface="Arial"/>
                <a:cs typeface="Arial"/>
              </a:rPr>
              <a:t>+</a:t>
            </a:r>
          </a:p>
        </p:txBody>
      </p:sp>
      <p:sp>
        <p:nvSpPr>
          <p:cNvPr id="57" name="eq3">
            <a:extLst>
              <a:ext uri="{FF2B5EF4-FFF2-40B4-BE49-F238E27FC236}">
                <a16:creationId xmlns:a16="http://schemas.microsoft.com/office/drawing/2014/main" id="{769C8D44-BFA7-7D46-AA56-C44F4C8D4A28}"/>
              </a:ext>
            </a:extLst>
          </p:cNvPr>
          <p:cNvSpPr/>
          <p:nvPr/>
        </p:nvSpPr>
        <p:spPr>
          <a:xfrm>
            <a:off x="4356100" y="1727200"/>
            <a:ext cx="1879600" cy="533400"/>
          </a:xfrm>
          <a:prstGeom prst="rect">
            <a:avLst/>
          </a:prstGeom>
          <a:solidFill>
            <a:srgbClr val="F1EC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5A00FF"/>
                </a:solidFill>
                <a:latin typeface="Arial"/>
                <a:cs typeface="Arial"/>
              </a:rPr>
              <a:t>baseline risk
(predicted)</a:t>
            </a:r>
          </a:p>
        </p:txBody>
      </p:sp>
      <p:sp>
        <p:nvSpPr>
          <p:cNvPr id="58" name="eqp2">
            <a:extLst>
              <a:ext uri="{FF2B5EF4-FFF2-40B4-BE49-F238E27FC236}">
                <a16:creationId xmlns:a16="http://schemas.microsoft.com/office/drawing/2014/main" id="{7FFDA70E-960D-0849-BDF2-901788871E82}"/>
              </a:ext>
            </a:extLst>
          </p:cNvPr>
          <p:cNvSpPr txBox="1"/>
          <p:nvPr/>
        </p:nvSpPr>
        <p:spPr>
          <a:xfrm>
            <a:off x="6311900" y="1816100"/>
            <a:ext cx="2286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6B6478"/>
                </a:solidFill>
                <a:latin typeface="Arial"/>
                <a:cs typeface="Arial"/>
              </a:rPr>
              <a:t>+</a:t>
            </a:r>
          </a:p>
        </p:txBody>
      </p:sp>
      <p:sp>
        <p:nvSpPr>
          <p:cNvPr id="59" name="eq4">
            <a:extLst>
              <a:ext uri="{FF2B5EF4-FFF2-40B4-BE49-F238E27FC236}">
                <a16:creationId xmlns:a16="http://schemas.microsoft.com/office/drawing/2014/main" id="{06FC931E-E7C1-A74E-83B3-351711A716D8}"/>
              </a:ext>
            </a:extLst>
          </p:cNvPr>
          <p:cNvSpPr/>
          <p:nvPr/>
        </p:nvSpPr>
        <p:spPr>
          <a:xfrm>
            <a:off x="6591300" y="1727200"/>
            <a:ext cx="1651000" cy="533400"/>
          </a:xfrm>
          <a:prstGeom prst="rect">
            <a:avLst/>
          </a:prstGeom>
          <a:solidFill>
            <a:srgbClr val="EAF7F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2F8F9D"/>
                </a:solidFill>
                <a:latin typeface="Arial"/>
                <a:cs typeface="Arial"/>
              </a:rPr>
              <a:t>residual
variation</a:t>
            </a:r>
          </a:p>
        </p:txBody>
      </p:sp>
      <p:sp>
        <p:nvSpPr>
          <p:cNvPr id="60" name="step1_bg">
            <a:extLst>
              <a:ext uri="{FF2B5EF4-FFF2-40B4-BE49-F238E27FC236}">
                <a16:creationId xmlns:a16="http://schemas.microsoft.com/office/drawing/2014/main" id="{5DECA9C8-F17A-AA46-A631-3EFF59A37C6A}"/>
              </a:ext>
            </a:extLst>
          </p:cNvPr>
          <p:cNvSpPr/>
          <p:nvPr/>
        </p:nvSpPr>
        <p:spPr>
          <a:xfrm>
            <a:off x="736600" y="2540000"/>
            <a:ext cx="2413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1" name="step1_num">
            <a:extLst>
              <a:ext uri="{FF2B5EF4-FFF2-40B4-BE49-F238E27FC236}">
                <a16:creationId xmlns:a16="http://schemas.microsoft.com/office/drawing/2014/main" id="{B7C334BE-84DF-9A43-983E-3D2CB09D0159}"/>
              </a:ext>
            </a:extLst>
          </p:cNvPr>
          <p:cNvSpPr/>
          <p:nvPr/>
        </p:nvSpPr>
        <p:spPr>
          <a:xfrm>
            <a:off x="889000" y="2692400"/>
            <a:ext cx="254000" cy="254000"/>
          </a:xfrm>
          <a:prstGeom prst="ellipse">
            <a:avLst/>
          </a:prstGeom>
          <a:solidFill>
            <a:srgbClr val="5A00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2" name="step1_head">
            <a:extLst>
              <a:ext uri="{FF2B5EF4-FFF2-40B4-BE49-F238E27FC236}">
                <a16:creationId xmlns:a16="http://schemas.microsoft.com/office/drawing/2014/main" id="{DD2529CC-E5D0-8941-8E22-9CA557029D18}"/>
              </a:ext>
            </a:extLst>
          </p:cNvPr>
          <p:cNvSpPr txBox="1"/>
          <p:nvPr/>
        </p:nvSpPr>
        <p:spPr>
          <a:xfrm>
            <a:off x="1244600" y="26924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5A00FF"/>
                </a:solidFill>
                <a:latin typeface="Arial"/>
                <a:cs typeface="Arial"/>
              </a:rPr>
              <a:t>Keep randomization</a:t>
            </a:r>
          </a:p>
        </p:txBody>
      </p:sp>
      <p:sp>
        <p:nvSpPr>
          <p:cNvPr id="63" name="step1_body">
            <a:extLst>
              <a:ext uri="{FF2B5EF4-FFF2-40B4-BE49-F238E27FC236}">
                <a16:creationId xmlns:a16="http://schemas.microsoft.com/office/drawing/2014/main" id="{8FE4CD43-B6F3-E74C-982A-17130E24FAEF}"/>
              </a:ext>
            </a:extLst>
          </p:cNvPr>
          <p:cNvSpPr txBox="1"/>
          <p:nvPr/>
        </p:nvSpPr>
        <p:spPr>
          <a:xfrm>
            <a:off x="914400" y="3048000"/>
            <a:ext cx="20574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0">
                <a:solidFill>
                  <a:srgbClr val="2A2340"/>
                </a:solidFill>
                <a:latin typeface="Arial"/>
                <a:cs typeface="Arial"/>
              </a:rPr>
              <a:t>Treatment assignment remains independent of baseline risk.</a:t>
            </a:r>
          </a:p>
        </p:txBody>
      </p:sp>
      <p:sp>
        <p:nvSpPr>
          <p:cNvPr id="64" name="step2_bg">
            <a:extLst>
              <a:ext uri="{FF2B5EF4-FFF2-40B4-BE49-F238E27FC236}">
                <a16:creationId xmlns:a16="http://schemas.microsoft.com/office/drawing/2014/main" id="{C394A19B-FE2E-AE46-9EB7-40438E749E34}"/>
              </a:ext>
            </a:extLst>
          </p:cNvPr>
          <p:cNvSpPr/>
          <p:nvPr/>
        </p:nvSpPr>
        <p:spPr>
          <a:xfrm>
            <a:off x="3365500" y="2540000"/>
            <a:ext cx="2413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5" name="step2_num">
            <a:extLst>
              <a:ext uri="{FF2B5EF4-FFF2-40B4-BE49-F238E27FC236}">
                <a16:creationId xmlns:a16="http://schemas.microsoft.com/office/drawing/2014/main" id="{3D376137-3F52-2646-8C6E-51D2BFFDD191}"/>
              </a:ext>
            </a:extLst>
          </p:cNvPr>
          <p:cNvSpPr/>
          <p:nvPr/>
        </p:nvSpPr>
        <p:spPr>
          <a:xfrm>
            <a:off x="3517900" y="2692400"/>
            <a:ext cx="254000" cy="254000"/>
          </a:xfrm>
          <a:prstGeom prst="ellipse">
            <a:avLst/>
          </a:prstGeom>
          <a:solidFill>
            <a:srgbClr val="5A00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66" name="step2_head">
            <a:extLst>
              <a:ext uri="{FF2B5EF4-FFF2-40B4-BE49-F238E27FC236}">
                <a16:creationId xmlns:a16="http://schemas.microsoft.com/office/drawing/2014/main" id="{34072165-F258-5947-B37F-16C52A981157}"/>
              </a:ext>
            </a:extLst>
          </p:cNvPr>
          <p:cNvSpPr txBox="1"/>
          <p:nvPr/>
        </p:nvSpPr>
        <p:spPr>
          <a:xfrm>
            <a:off x="3873500" y="2692400"/>
            <a:ext cx="1981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5A00FF"/>
                </a:solidFill>
                <a:latin typeface="Arial"/>
                <a:cs typeface="Arial"/>
              </a:rPr>
              <a:t>Predict outcome</a:t>
            </a:r>
          </a:p>
        </p:txBody>
      </p:sp>
      <p:sp>
        <p:nvSpPr>
          <p:cNvPr id="67" name="step2_body">
            <a:extLst>
              <a:ext uri="{FF2B5EF4-FFF2-40B4-BE49-F238E27FC236}">
                <a16:creationId xmlns:a16="http://schemas.microsoft.com/office/drawing/2014/main" id="{105F7F02-6B2D-A048-A7D9-01E898A5C78E}"/>
              </a:ext>
            </a:extLst>
          </p:cNvPr>
          <p:cNvSpPr txBox="1"/>
          <p:nvPr/>
        </p:nvSpPr>
        <p:spPr>
          <a:xfrm>
            <a:off x="3543300" y="3048000"/>
            <a:ext cx="20574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0">
                <a:solidFill>
                  <a:srgbClr val="2A2340"/>
                </a:solidFill>
                <a:latin typeface="Arial"/>
                <a:cs typeface="Arial"/>
              </a:rPr>
              <a:t>Use only pre-randomization variables to estimate predictable risk.</a:t>
            </a:r>
          </a:p>
        </p:txBody>
      </p:sp>
      <p:sp>
        <p:nvSpPr>
          <p:cNvPr id="68" name="step3_bg">
            <a:extLst>
              <a:ext uri="{FF2B5EF4-FFF2-40B4-BE49-F238E27FC236}">
                <a16:creationId xmlns:a16="http://schemas.microsoft.com/office/drawing/2014/main" id="{8EEA27B6-6583-5145-8C9B-C08B48B3028B}"/>
              </a:ext>
            </a:extLst>
          </p:cNvPr>
          <p:cNvSpPr/>
          <p:nvPr/>
        </p:nvSpPr>
        <p:spPr>
          <a:xfrm>
            <a:off x="5994400" y="2540000"/>
            <a:ext cx="2413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9" name="step3_num">
            <a:extLst>
              <a:ext uri="{FF2B5EF4-FFF2-40B4-BE49-F238E27FC236}">
                <a16:creationId xmlns:a16="http://schemas.microsoft.com/office/drawing/2014/main" id="{0D174EF1-4F83-EB43-ACB4-D58CA9A4CF72}"/>
              </a:ext>
            </a:extLst>
          </p:cNvPr>
          <p:cNvSpPr/>
          <p:nvPr/>
        </p:nvSpPr>
        <p:spPr>
          <a:xfrm>
            <a:off x="6146800" y="2692400"/>
            <a:ext cx="254000" cy="254000"/>
          </a:xfrm>
          <a:prstGeom prst="ellipse">
            <a:avLst/>
          </a:prstGeom>
          <a:solidFill>
            <a:srgbClr val="5A00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70" name="step3_head">
            <a:extLst>
              <a:ext uri="{FF2B5EF4-FFF2-40B4-BE49-F238E27FC236}">
                <a16:creationId xmlns:a16="http://schemas.microsoft.com/office/drawing/2014/main" id="{CBBDA1F5-9640-F544-AC1B-BD3CA5167EFB}"/>
              </a:ext>
            </a:extLst>
          </p:cNvPr>
          <p:cNvSpPr txBox="1"/>
          <p:nvPr/>
        </p:nvSpPr>
        <p:spPr>
          <a:xfrm>
            <a:off x="6502400" y="26924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5A00FF"/>
                </a:solidFill>
                <a:latin typeface="Arial"/>
                <a:cs typeface="Arial"/>
              </a:rPr>
              <a:t>Compare residuals</a:t>
            </a:r>
          </a:p>
        </p:txBody>
      </p:sp>
      <p:sp>
        <p:nvSpPr>
          <p:cNvPr id="71" name="step3_body">
            <a:extLst>
              <a:ext uri="{FF2B5EF4-FFF2-40B4-BE49-F238E27FC236}">
                <a16:creationId xmlns:a16="http://schemas.microsoft.com/office/drawing/2014/main" id="{75AE2C6D-BB32-E84E-A498-A53E1FBE663A}"/>
              </a:ext>
            </a:extLst>
          </p:cNvPr>
          <p:cNvSpPr txBox="1"/>
          <p:nvPr/>
        </p:nvSpPr>
        <p:spPr>
          <a:xfrm>
            <a:off x="6172200" y="3048000"/>
            <a:ext cx="20574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0">
                <a:solidFill>
                  <a:srgbClr val="2A2340"/>
                </a:solidFill>
                <a:latin typeface="Arial"/>
                <a:cs typeface="Arial"/>
              </a:rPr>
              <a:t>Smaller residual variation means a smaller SE for the average effect.</a:t>
            </a:r>
          </a:p>
        </p:txBody>
      </p:sp>
      <p:sp>
        <p:nvSpPr>
          <p:cNvPr id="74" name="source">
            <a:extLst>
              <a:ext uri="{FF2B5EF4-FFF2-40B4-BE49-F238E27FC236}">
                <a16:creationId xmlns:a16="http://schemas.microsoft.com/office/drawing/2014/main" id="{A249EC09-0CE3-1745-A8FF-26E56EFD840D}"/>
              </a:ext>
            </a:extLst>
          </p:cNvPr>
          <p:cNvSpPr txBox="1"/>
          <p:nvPr/>
        </p:nvSpPr>
        <p:spPr>
          <a:xfrm>
            <a:off x="1016000" y="4749800"/>
            <a:ext cx="7112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6B6478"/>
                </a:solidFill>
                <a:latin typeface="Arial"/>
                <a:cs typeface="Arial"/>
              </a:rPr>
              <a:t>Source concept: prognostic covariate adjustment in randomized trials; Morris et al., Trials 2022.</a:t>
            </a:r>
          </a:p>
        </p:txBody>
      </p:sp>
    </p:spTree>
    <p:extLst>
      <p:ext uri="{BB962C8B-B14F-4D97-AF65-F5344CB8AC3E}">
        <p14:creationId xmlns:p14="http://schemas.microsoft.com/office/powerpoint/2010/main" val="13114967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anvas">
            <a:extLst>
              <a:ext uri="{FF2B5EF4-FFF2-40B4-BE49-F238E27FC236}">
                <a16:creationId xmlns:a16="http://schemas.microsoft.com/office/drawing/2014/main" id="{CD0B6977-2012-1D46-BD4E-FDD7C80A9D5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39" name="rail">
            <a:extLst>
              <a:ext uri="{FF2B5EF4-FFF2-40B4-BE49-F238E27FC236}">
                <a16:creationId xmlns:a16="http://schemas.microsoft.com/office/drawing/2014/main" id="{EE1887F4-E79E-BF49-A4F8-72F94327D8A5}"/>
              </a:ext>
            </a:extLst>
          </p:cNvPr>
          <p:cNvSpPr/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5A00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0" name="kicker">
            <a:extLst>
              <a:ext uri="{FF2B5EF4-FFF2-40B4-BE49-F238E27FC236}">
                <a16:creationId xmlns:a16="http://schemas.microsoft.com/office/drawing/2014/main" id="{5FFD1E8F-7BA2-874A-A5F0-033C253F2B4A}"/>
              </a:ext>
            </a:extLst>
          </p:cNvPr>
          <p:cNvSpPr txBox="1"/>
          <p:nvPr/>
        </p:nvSpPr>
        <p:spPr>
          <a:xfrm>
            <a:off x="609600" y="3048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5A00FF"/>
                </a:solidFill>
                <a:latin typeface="Arial"/>
                <a:cs typeface="Arial"/>
              </a:rPr>
              <a:t>ESTIMATE | R² TO SAMPLE SIZE</a:t>
            </a:r>
          </a:p>
        </p:txBody>
      </p:sp>
      <p:sp>
        <p:nvSpPr>
          <p:cNvPr id="41" name="title">
            <a:extLst>
              <a:ext uri="{FF2B5EF4-FFF2-40B4-BE49-F238E27FC236}">
                <a16:creationId xmlns:a16="http://schemas.microsoft.com/office/drawing/2014/main" id="{04EA6869-1A5C-8842-9A38-51E4EF074C7E}"/>
              </a:ext>
            </a:extLst>
          </p:cNvPr>
          <p:cNvSpPr txBox="1"/>
          <p:nvPr/>
        </p:nvSpPr>
        <p:spPr>
          <a:xfrm>
            <a:off x="609600" y="595044"/>
            <a:ext cx="7874000" cy="419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16005A"/>
                </a:solidFill>
                <a:latin typeface="Arial"/>
                <a:cs typeface="Arial"/>
              </a:rPr>
              <a:t>Prediction R² is a sample-size dividend</a:t>
            </a:r>
          </a:p>
        </p:txBody>
      </p:sp>
      <p:sp>
        <p:nvSpPr>
          <p:cNvPr id="42" name="subtitle">
            <a:extLst>
              <a:ext uri="{FF2B5EF4-FFF2-40B4-BE49-F238E27FC236}">
                <a16:creationId xmlns:a16="http://schemas.microsoft.com/office/drawing/2014/main" id="{AC2B60EF-30D7-5D4C-9027-196548B92D30}"/>
              </a:ext>
            </a:extLst>
          </p:cNvPr>
          <p:cNvSpPr txBox="1"/>
          <p:nvPr/>
        </p:nvSpPr>
        <p:spPr>
          <a:xfrm>
            <a:off x="609600" y="990600"/>
            <a:ext cx="787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dirty="0">
                <a:solidFill>
                  <a:srgbClr val="6B6478"/>
                </a:solidFill>
                <a:latin typeface="Arial"/>
                <a:cs typeface="Arial"/>
              </a:rPr>
              <a:t>If covariates explain outcome variation, residual variance shrinks and the same precision needs fewer participants.</a:t>
            </a:r>
          </a:p>
        </p:txBody>
      </p:sp>
      <p:sp>
        <p:nvSpPr>
          <p:cNvPr id="43" name="formula_panel">
            <a:extLst>
              <a:ext uri="{FF2B5EF4-FFF2-40B4-BE49-F238E27FC236}">
                <a16:creationId xmlns:a16="http://schemas.microsoft.com/office/drawing/2014/main" id="{FD47AB15-80A8-4042-8DFB-998AAA2B796D}"/>
              </a:ext>
            </a:extLst>
          </p:cNvPr>
          <p:cNvSpPr/>
          <p:nvPr/>
        </p:nvSpPr>
        <p:spPr>
          <a:xfrm>
            <a:off x="736599" y="1600200"/>
            <a:ext cx="2957193" cy="2552700"/>
          </a:xfrm>
          <a:prstGeom prst="rect">
            <a:avLst/>
          </a:prstGeom>
          <a:solidFill>
            <a:srgbClr val="F1EC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4" name="formula_head">
            <a:extLst>
              <a:ext uri="{FF2B5EF4-FFF2-40B4-BE49-F238E27FC236}">
                <a16:creationId xmlns:a16="http://schemas.microsoft.com/office/drawing/2014/main" id="{DB54216E-6BCD-8444-BB24-7B9F972EE08B}"/>
              </a:ext>
            </a:extLst>
          </p:cNvPr>
          <p:cNvSpPr txBox="1"/>
          <p:nvPr/>
        </p:nvSpPr>
        <p:spPr>
          <a:xfrm>
            <a:off x="965200" y="18288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5A00FF"/>
                </a:solidFill>
                <a:latin typeface="Arial"/>
                <a:cs typeface="Arial"/>
              </a:rPr>
              <a:t>Rule of thumb</a:t>
            </a:r>
          </a:p>
        </p:txBody>
      </p:sp>
      <p:sp>
        <p:nvSpPr>
          <p:cNvPr id="45" name="formula_main">
            <a:extLst>
              <a:ext uri="{FF2B5EF4-FFF2-40B4-BE49-F238E27FC236}">
                <a16:creationId xmlns:a16="http://schemas.microsoft.com/office/drawing/2014/main" id="{D45E6CEA-F563-7B42-A1BD-A16D1A1118D4}"/>
              </a:ext>
            </a:extLst>
          </p:cNvPr>
          <p:cNvSpPr txBox="1"/>
          <p:nvPr/>
        </p:nvSpPr>
        <p:spPr>
          <a:xfrm>
            <a:off x="965200" y="2159000"/>
            <a:ext cx="24638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16005A"/>
                </a:solidFill>
                <a:latin typeface="Arial"/>
                <a:cs typeface="Arial"/>
              </a:rPr>
              <a:t>n_adj  ≈  n_unadj × (1 − R²)</a:t>
            </a:r>
          </a:p>
        </p:txBody>
      </p:sp>
      <p:sp>
        <p:nvSpPr>
          <p:cNvPr id="46" name="formula_se">
            <a:extLst>
              <a:ext uri="{FF2B5EF4-FFF2-40B4-BE49-F238E27FC236}">
                <a16:creationId xmlns:a16="http://schemas.microsoft.com/office/drawing/2014/main" id="{07C9C61D-428C-4448-AEE1-F6AD305C410B}"/>
              </a:ext>
            </a:extLst>
          </p:cNvPr>
          <p:cNvSpPr txBox="1"/>
          <p:nvPr/>
        </p:nvSpPr>
        <p:spPr>
          <a:xfrm>
            <a:off x="965200" y="2603500"/>
            <a:ext cx="2489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6005A"/>
                </a:solidFill>
                <a:latin typeface="Arial"/>
                <a:cs typeface="Arial"/>
              </a:rPr>
              <a:t>SE multiplier  ≈  √(1 − R²)
Same-n information  ≈  1 / (1 − R²)</a:t>
            </a:r>
          </a:p>
        </p:txBody>
      </p:sp>
      <p:sp>
        <p:nvSpPr>
          <p:cNvPr id="47" name="formula_note_bg">
            <a:extLst>
              <a:ext uri="{FF2B5EF4-FFF2-40B4-BE49-F238E27FC236}">
                <a16:creationId xmlns:a16="http://schemas.microsoft.com/office/drawing/2014/main" id="{823375CC-42FF-454F-ACEC-BE323D57C5D7}"/>
              </a:ext>
            </a:extLst>
          </p:cNvPr>
          <p:cNvSpPr/>
          <p:nvPr/>
        </p:nvSpPr>
        <p:spPr>
          <a:xfrm>
            <a:off x="965200" y="3301999"/>
            <a:ext cx="2346325" cy="684373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8" name="formula_note">
            <a:extLst>
              <a:ext uri="{FF2B5EF4-FFF2-40B4-BE49-F238E27FC236}">
                <a16:creationId xmlns:a16="http://schemas.microsoft.com/office/drawing/2014/main" id="{A3DBDD24-8DF0-674D-B420-92751303CA7C}"/>
              </a:ext>
            </a:extLst>
          </p:cNvPr>
          <p:cNvSpPr txBox="1"/>
          <p:nvPr/>
        </p:nvSpPr>
        <p:spPr>
          <a:xfrm>
            <a:off x="1092200" y="3365500"/>
            <a:ext cx="2209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6B6478"/>
                </a:solidFill>
                <a:latin typeface="Arial"/>
                <a:cs typeface="Arial"/>
              </a:rPr>
              <a:t>R² = prognostic variation explained before randomization</a:t>
            </a:r>
          </a:p>
        </p:txBody>
      </p:sp>
      <p:sp>
        <p:nvSpPr>
          <p:cNvPr id="49" name="head_0">
            <a:extLst>
              <a:ext uri="{FF2B5EF4-FFF2-40B4-BE49-F238E27FC236}">
                <a16:creationId xmlns:a16="http://schemas.microsoft.com/office/drawing/2014/main" id="{FBF8CAA3-5C50-7F42-B438-8F711E177345}"/>
              </a:ext>
            </a:extLst>
          </p:cNvPr>
          <p:cNvSpPr/>
          <p:nvPr/>
        </p:nvSpPr>
        <p:spPr>
          <a:xfrm>
            <a:off x="4038600" y="1600200"/>
            <a:ext cx="736600" cy="355600"/>
          </a:xfrm>
          <a:prstGeom prst="rect">
            <a:avLst/>
          </a:prstGeom>
          <a:solidFill>
            <a:srgbClr val="5A00FF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0" name="head_t_0">
            <a:extLst>
              <a:ext uri="{FF2B5EF4-FFF2-40B4-BE49-F238E27FC236}">
                <a16:creationId xmlns:a16="http://schemas.microsoft.com/office/drawing/2014/main" id="{A33F3FC3-5D07-744C-921E-3C531B17C8DB}"/>
              </a:ext>
            </a:extLst>
          </p:cNvPr>
          <p:cNvSpPr txBox="1"/>
          <p:nvPr/>
        </p:nvSpPr>
        <p:spPr>
          <a:xfrm>
            <a:off x="4076700" y="1651000"/>
            <a:ext cx="660400" cy="266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Model
R²</a:t>
            </a:r>
          </a:p>
        </p:txBody>
      </p:sp>
      <p:sp>
        <p:nvSpPr>
          <p:cNvPr id="51" name="head_1">
            <a:extLst>
              <a:ext uri="{FF2B5EF4-FFF2-40B4-BE49-F238E27FC236}">
                <a16:creationId xmlns:a16="http://schemas.microsoft.com/office/drawing/2014/main" id="{AA945EA2-E841-EA40-9B85-646320A18AEC}"/>
              </a:ext>
            </a:extLst>
          </p:cNvPr>
          <p:cNvSpPr/>
          <p:nvPr/>
        </p:nvSpPr>
        <p:spPr>
          <a:xfrm>
            <a:off x="4775200" y="1600200"/>
            <a:ext cx="1320800" cy="355600"/>
          </a:xfrm>
          <a:prstGeom prst="rect">
            <a:avLst/>
          </a:prstGeom>
          <a:solidFill>
            <a:srgbClr val="5A00FF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2" name="head_t_1">
            <a:extLst>
              <a:ext uri="{FF2B5EF4-FFF2-40B4-BE49-F238E27FC236}">
                <a16:creationId xmlns:a16="http://schemas.microsoft.com/office/drawing/2014/main" id="{00C944F5-2B12-DF4E-94DC-12F173D1C0EA}"/>
              </a:ext>
            </a:extLst>
          </p:cNvPr>
          <p:cNvSpPr txBox="1"/>
          <p:nvPr/>
        </p:nvSpPr>
        <p:spPr>
          <a:xfrm>
            <a:off x="4813300" y="1651000"/>
            <a:ext cx="1244600" cy="266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N needed
if N=1,000</a:t>
            </a:r>
          </a:p>
        </p:txBody>
      </p:sp>
      <p:sp>
        <p:nvSpPr>
          <p:cNvPr id="53" name="head_2">
            <a:extLst>
              <a:ext uri="{FF2B5EF4-FFF2-40B4-BE49-F238E27FC236}">
                <a16:creationId xmlns:a16="http://schemas.microsoft.com/office/drawing/2014/main" id="{39352E2D-D7CA-4740-800D-DFD0D53277C0}"/>
              </a:ext>
            </a:extLst>
          </p:cNvPr>
          <p:cNvSpPr/>
          <p:nvPr/>
        </p:nvSpPr>
        <p:spPr>
          <a:xfrm>
            <a:off x="6096000" y="1600200"/>
            <a:ext cx="990600" cy="355600"/>
          </a:xfrm>
          <a:prstGeom prst="rect">
            <a:avLst/>
          </a:prstGeom>
          <a:solidFill>
            <a:srgbClr val="5A00FF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4" name="head_t_2">
            <a:extLst>
              <a:ext uri="{FF2B5EF4-FFF2-40B4-BE49-F238E27FC236}">
                <a16:creationId xmlns:a16="http://schemas.microsoft.com/office/drawing/2014/main" id="{BC01DC85-2117-A442-9233-FDE1DAC0158C}"/>
              </a:ext>
            </a:extLst>
          </p:cNvPr>
          <p:cNvSpPr txBox="1"/>
          <p:nvPr/>
        </p:nvSpPr>
        <p:spPr>
          <a:xfrm>
            <a:off x="6134100" y="1651000"/>
            <a:ext cx="914400" cy="266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N
saved</a:t>
            </a:r>
          </a:p>
        </p:txBody>
      </p:sp>
      <p:sp>
        <p:nvSpPr>
          <p:cNvPr id="55" name="head_3">
            <a:extLst>
              <a:ext uri="{FF2B5EF4-FFF2-40B4-BE49-F238E27FC236}">
                <a16:creationId xmlns:a16="http://schemas.microsoft.com/office/drawing/2014/main" id="{38D90FA2-0693-6D41-979A-B0F293171E1C}"/>
              </a:ext>
            </a:extLst>
          </p:cNvPr>
          <p:cNvSpPr/>
          <p:nvPr/>
        </p:nvSpPr>
        <p:spPr>
          <a:xfrm>
            <a:off x="7086600" y="1600200"/>
            <a:ext cx="1168400" cy="355600"/>
          </a:xfrm>
          <a:prstGeom prst="rect">
            <a:avLst/>
          </a:prstGeom>
          <a:solidFill>
            <a:srgbClr val="5A00FF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6" name="head_t_3">
            <a:extLst>
              <a:ext uri="{FF2B5EF4-FFF2-40B4-BE49-F238E27FC236}">
                <a16:creationId xmlns:a16="http://schemas.microsoft.com/office/drawing/2014/main" id="{0EEFF98C-6D33-3946-82A0-4855F6514CF1}"/>
              </a:ext>
            </a:extLst>
          </p:cNvPr>
          <p:cNvSpPr txBox="1"/>
          <p:nvPr/>
        </p:nvSpPr>
        <p:spPr>
          <a:xfrm>
            <a:off x="7124700" y="1651000"/>
            <a:ext cx="1092200" cy="266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Same-n
info</a:t>
            </a:r>
          </a:p>
        </p:txBody>
      </p:sp>
      <p:sp>
        <p:nvSpPr>
          <p:cNvPr id="57" name="rowbg_0">
            <a:extLst>
              <a:ext uri="{FF2B5EF4-FFF2-40B4-BE49-F238E27FC236}">
                <a16:creationId xmlns:a16="http://schemas.microsoft.com/office/drawing/2014/main" id="{518FABF3-1469-E441-9E9B-AA150DEBEF35}"/>
              </a:ext>
            </a:extLst>
          </p:cNvPr>
          <p:cNvSpPr/>
          <p:nvPr/>
        </p:nvSpPr>
        <p:spPr>
          <a:xfrm>
            <a:off x="4038600" y="1955800"/>
            <a:ext cx="4216400" cy="304800"/>
          </a:xfrm>
          <a:prstGeom prst="rect">
            <a:avLst/>
          </a:prstGeom>
          <a:solidFill>
            <a:srgbClr val="FBFCFF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8" name="v_0_0">
            <a:extLst>
              <a:ext uri="{FF2B5EF4-FFF2-40B4-BE49-F238E27FC236}">
                <a16:creationId xmlns:a16="http://schemas.microsoft.com/office/drawing/2014/main" id="{6CB67531-5339-514B-BB35-C0CDC72190BA}"/>
              </a:ext>
            </a:extLst>
          </p:cNvPr>
          <p:cNvSpPr/>
          <p:nvPr/>
        </p:nvSpPr>
        <p:spPr>
          <a:xfrm>
            <a:off x="4038600" y="19558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9" name="v_0_1">
            <a:extLst>
              <a:ext uri="{FF2B5EF4-FFF2-40B4-BE49-F238E27FC236}">
                <a16:creationId xmlns:a16="http://schemas.microsoft.com/office/drawing/2014/main" id="{588C66F2-5A4D-D047-82E9-2DE14ACAF280}"/>
              </a:ext>
            </a:extLst>
          </p:cNvPr>
          <p:cNvSpPr/>
          <p:nvPr/>
        </p:nvSpPr>
        <p:spPr>
          <a:xfrm>
            <a:off x="4775200" y="19558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0" name="v_0_2">
            <a:extLst>
              <a:ext uri="{FF2B5EF4-FFF2-40B4-BE49-F238E27FC236}">
                <a16:creationId xmlns:a16="http://schemas.microsoft.com/office/drawing/2014/main" id="{587344F8-C271-8D45-AC04-A7650B6D1A0B}"/>
              </a:ext>
            </a:extLst>
          </p:cNvPr>
          <p:cNvSpPr/>
          <p:nvPr/>
        </p:nvSpPr>
        <p:spPr>
          <a:xfrm>
            <a:off x="6096000" y="19558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1" name="v_0_3">
            <a:extLst>
              <a:ext uri="{FF2B5EF4-FFF2-40B4-BE49-F238E27FC236}">
                <a16:creationId xmlns:a16="http://schemas.microsoft.com/office/drawing/2014/main" id="{AE45D506-FAF9-1A4A-93DC-1983FBE17384}"/>
              </a:ext>
            </a:extLst>
          </p:cNvPr>
          <p:cNvSpPr/>
          <p:nvPr/>
        </p:nvSpPr>
        <p:spPr>
          <a:xfrm>
            <a:off x="7086600" y="19558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2" name="r2_0">
            <a:extLst>
              <a:ext uri="{FF2B5EF4-FFF2-40B4-BE49-F238E27FC236}">
                <a16:creationId xmlns:a16="http://schemas.microsoft.com/office/drawing/2014/main" id="{B6ECB151-55D4-1048-B2A4-369F1C5387A1}"/>
              </a:ext>
            </a:extLst>
          </p:cNvPr>
          <p:cNvSpPr txBox="1"/>
          <p:nvPr/>
        </p:nvSpPr>
        <p:spPr>
          <a:xfrm>
            <a:off x="4076700" y="2019300"/>
            <a:ext cx="660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5A"/>
                </a:solidFill>
                <a:latin typeface="Arial"/>
                <a:cs typeface="Arial"/>
              </a:rPr>
              <a:t>0.05</a:t>
            </a:r>
          </a:p>
        </p:txBody>
      </p:sp>
      <p:sp>
        <p:nvSpPr>
          <p:cNvPr id="63" name="barbg_0">
            <a:extLst>
              <a:ext uri="{FF2B5EF4-FFF2-40B4-BE49-F238E27FC236}">
                <a16:creationId xmlns:a16="http://schemas.microsoft.com/office/drawing/2014/main" id="{3FD6DCB7-661A-D84C-A70D-106E90D9040D}"/>
              </a:ext>
            </a:extLst>
          </p:cNvPr>
          <p:cNvSpPr/>
          <p:nvPr/>
        </p:nvSpPr>
        <p:spPr>
          <a:xfrm>
            <a:off x="4876800" y="2044700"/>
            <a:ext cx="1117600" cy="127000"/>
          </a:xfrm>
          <a:prstGeom prst="rect">
            <a:avLst/>
          </a:prstGeom>
          <a:solidFill>
            <a:srgbClr val="EFEAFB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4" name="bar_0">
            <a:extLst>
              <a:ext uri="{FF2B5EF4-FFF2-40B4-BE49-F238E27FC236}">
                <a16:creationId xmlns:a16="http://schemas.microsoft.com/office/drawing/2014/main" id="{B4740DD6-6EB0-BD47-A070-032FE7F29ADB}"/>
              </a:ext>
            </a:extLst>
          </p:cNvPr>
          <p:cNvSpPr/>
          <p:nvPr/>
        </p:nvSpPr>
        <p:spPr>
          <a:xfrm>
            <a:off x="4876800" y="2044700"/>
            <a:ext cx="1061720" cy="127000"/>
          </a:xfrm>
          <a:prstGeom prst="rect">
            <a:avLst/>
          </a:prstGeom>
          <a:solidFill>
            <a:srgbClr val="E3DA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5" name="n_0">
            <a:extLst>
              <a:ext uri="{FF2B5EF4-FFF2-40B4-BE49-F238E27FC236}">
                <a16:creationId xmlns:a16="http://schemas.microsoft.com/office/drawing/2014/main" id="{01A3AA68-0045-E543-B5B7-787BB0C094DF}"/>
              </a:ext>
            </a:extLst>
          </p:cNvPr>
          <p:cNvSpPr txBox="1"/>
          <p:nvPr/>
        </p:nvSpPr>
        <p:spPr>
          <a:xfrm>
            <a:off x="4826000" y="2019300"/>
            <a:ext cx="1219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5A"/>
                </a:solidFill>
                <a:latin typeface="Arial"/>
                <a:cs typeface="Arial"/>
              </a:rPr>
              <a:t>950</a:t>
            </a:r>
          </a:p>
        </p:txBody>
      </p:sp>
      <p:sp>
        <p:nvSpPr>
          <p:cNvPr id="66" name="save_0">
            <a:extLst>
              <a:ext uri="{FF2B5EF4-FFF2-40B4-BE49-F238E27FC236}">
                <a16:creationId xmlns:a16="http://schemas.microsoft.com/office/drawing/2014/main" id="{B4152A4D-A581-2A4E-8336-2DDD751CDAF0}"/>
              </a:ext>
            </a:extLst>
          </p:cNvPr>
          <p:cNvSpPr txBox="1"/>
          <p:nvPr/>
        </p:nvSpPr>
        <p:spPr>
          <a:xfrm>
            <a:off x="6146800" y="2019300"/>
            <a:ext cx="88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6005A"/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67" name="info_0">
            <a:extLst>
              <a:ext uri="{FF2B5EF4-FFF2-40B4-BE49-F238E27FC236}">
                <a16:creationId xmlns:a16="http://schemas.microsoft.com/office/drawing/2014/main" id="{AB623D39-4915-A845-9C81-3662559D21A7}"/>
              </a:ext>
            </a:extLst>
          </p:cNvPr>
          <p:cNvSpPr txBox="1"/>
          <p:nvPr/>
        </p:nvSpPr>
        <p:spPr>
          <a:xfrm>
            <a:off x="7137400" y="2019300"/>
            <a:ext cx="1066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5A00FF"/>
                </a:solidFill>
                <a:latin typeface="Arial"/>
                <a:cs typeface="Arial"/>
              </a:rPr>
              <a:t>1.05×</a:t>
            </a:r>
          </a:p>
        </p:txBody>
      </p:sp>
      <p:sp>
        <p:nvSpPr>
          <p:cNvPr id="68" name="rowbg_1">
            <a:extLst>
              <a:ext uri="{FF2B5EF4-FFF2-40B4-BE49-F238E27FC236}">
                <a16:creationId xmlns:a16="http://schemas.microsoft.com/office/drawing/2014/main" id="{75B91997-6B5A-DE4D-BAB8-330E6E380FAE}"/>
              </a:ext>
            </a:extLst>
          </p:cNvPr>
          <p:cNvSpPr/>
          <p:nvPr/>
        </p:nvSpPr>
        <p:spPr>
          <a:xfrm>
            <a:off x="4038600" y="2260600"/>
            <a:ext cx="4216400" cy="304800"/>
          </a:xfrm>
          <a:prstGeom prst="rect">
            <a:avLst/>
          </a:prstGeom>
          <a:solidFill>
            <a:srgbClr val="F3F5FA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9" name="v_1_0">
            <a:extLst>
              <a:ext uri="{FF2B5EF4-FFF2-40B4-BE49-F238E27FC236}">
                <a16:creationId xmlns:a16="http://schemas.microsoft.com/office/drawing/2014/main" id="{7CF91BE0-27D5-F343-A65C-0CA7DDE1BC36}"/>
              </a:ext>
            </a:extLst>
          </p:cNvPr>
          <p:cNvSpPr/>
          <p:nvPr/>
        </p:nvSpPr>
        <p:spPr>
          <a:xfrm>
            <a:off x="4038600" y="22606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70" name="v_1_1">
            <a:extLst>
              <a:ext uri="{FF2B5EF4-FFF2-40B4-BE49-F238E27FC236}">
                <a16:creationId xmlns:a16="http://schemas.microsoft.com/office/drawing/2014/main" id="{1574BEF3-80A8-264F-8A32-6F67980EDE32}"/>
              </a:ext>
            </a:extLst>
          </p:cNvPr>
          <p:cNvSpPr/>
          <p:nvPr/>
        </p:nvSpPr>
        <p:spPr>
          <a:xfrm>
            <a:off x="4775200" y="22606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71" name="v_1_2">
            <a:extLst>
              <a:ext uri="{FF2B5EF4-FFF2-40B4-BE49-F238E27FC236}">
                <a16:creationId xmlns:a16="http://schemas.microsoft.com/office/drawing/2014/main" id="{56EE88FD-B69A-144E-8C40-17626C4282AE}"/>
              </a:ext>
            </a:extLst>
          </p:cNvPr>
          <p:cNvSpPr/>
          <p:nvPr/>
        </p:nvSpPr>
        <p:spPr>
          <a:xfrm>
            <a:off x="6096000" y="22606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72" name="v_1_3">
            <a:extLst>
              <a:ext uri="{FF2B5EF4-FFF2-40B4-BE49-F238E27FC236}">
                <a16:creationId xmlns:a16="http://schemas.microsoft.com/office/drawing/2014/main" id="{1193B852-7E39-C545-BEF9-7F1D4C94479A}"/>
              </a:ext>
            </a:extLst>
          </p:cNvPr>
          <p:cNvSpPr/>
          <p:nvPr/>
        </p:nvSpPr>
        <p:spPr>
          <a:xfrm>
            <a:off x="7086600" y="22606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73" name="r2_1">
            <a:extLst>
              <a:ext uri="{FF2B5EF4-FFF2-40B4-BE49-F238E27FC236}">
                <a16:creationId xmlns:a16="http://schemas.microsoft.com/office/drawing/2014/main" id="{FA66DC2F-4B79-5B49-A89C-9FAB7E00EF47}"/>
              </a:ext>
            </a:extLst>
          </p:cNvPr>
          <p:cNvSpPr txBox="1"/>
          <p:nvPr/>
        </p:nvSpPr>
        <p:spPr>
          <a:xfrm>
            <a:off x="4076700" y="2324100"/>
            <a:ext cx="660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5A"/>
                </a:solidFill>
                <a:latin typeface="Arial"/>
                <a:cs typeface="Arial"/>
              </a:rPr>
              <a:t>0.10</a:t>
            </a:r>
          </a:p>
        </p:txBody>
      </p:sp>
      <p:sp>
        <p:nvSpPr>
          <p:cNvPr id="74" name="barbg_1">
            <a:extLst>
              <a:ext uri="{FF2B5EF4-FFF2-40B4-BE49-F238E27FC236}">
                <a16:creationId xmlns:a16="http://schemas.microsoft.com/office/drawing/2014/main" id="{23FAADC5-EA16-0042-B03A-90F6DE605B60}"/>
              </a:ext>
            </a:extLst>
          </p:cNvPr>
          <p:cNvSpPr/>
          <p:nvPr/>
        </p:nvSpPr>
        <p:spPr>
          <a:xfrm>
            <a:off x="4876800" y="2349500"/>
            <a:ext cx="1117600" cy="127000"/>
          </a:xfrm>
          <a:prstGeom prst="rect">
            <a:avLst/>
          </a:prstGeom>
          <a:solidFill>
            <a:srgbClr val="EFEAFB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75" name="bar_1">
            <a:extLst>
              <a:ext uri="{FF2B5EF4-FFF2-40B4-BE49-F238E27FC236}">
                <a16:creationId xmlns:a16="http://schemas.microsoft.com/office/drawing/2014/main" id="{776C9E84-E9ED-814E-8359-AE8760897CF7}"/>
              </a:ext>
            </a:extLst>
          </p:cNvPr>
          <p:cNvSpPr/>
          <p:nvPr/>
        </p:nvSpPr>
        <p:spPr>
          <a:xfrm>
            <a:off x="4876800" y="2349500"/>
            <a:ext cx="1005840" cy="127000"/>
          </a:xfrm>
          <a:prstGeom prst="rect">
            <a:avLst/>
          </a:prstGeom>
          <a:solidFill>
            <a:srgbClr val="E3DA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76" name="n_1">
            <a:extLst>
              <a:ext uri="{FF2B5EF4-FFF2-40B4-BE49-F238E27FC236}">
                <a16:creationId xmlns:a16="http://schemas.microsoft.com/office/drawing/2014/main" id="{F206EEE4-2AAF-D64C-850C-3BE19E80C54C}"/>
              </a:ext>
            </a:extLst>
          </p:cNvPr>
          <p:cNvSpPr txBox="1"/>
          <p:nvPr/>
        </p:nvSpPr>
        <p:spPr>
          <a:xfrm>
            <a:off x="4826000" y="2324100"/>
            <a:ext cx="1219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5A"/>
                </a:solidFill>
                <a:latin typeface="Arial"/>
                <a:cs typeface="Arial"/>
              </a:rPr>
              <a:t>900</a:t>
            </a:r>
          </a:p>
        </p:txBody>
      </p:sp>
      <p:sp>
        <p:nvSpPr>
          <p:cNvPr id="77" name="save_1">
            <a:extLst>
              <a:ext uri="{FF2B5EF4-FFF2-40B4-BE49-F238E27FC236}">
                <a16:creationId xmlns:a16="http://schemas.microsoft.com/office/drawing/2014/main" id="{624BE439-7D2C-3E42-95F7-3CF90E6B6BDE}"/>
              </a:ext>
            </a:extLst>
          </p:cNvPr>
          <p:cNvSpPr txBox="1"/>
          <p:nvPr/>
        </p:nvSpPr>
        <p:spPr>
          <a:xfrm>
            <a:off x="6146800" y="2324100"/>
            <a:ext cx="88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6005A"/>
                </a:solidFill>
                <a:latin typeface="Arial"/>
                <a:cs typeface="Arial"/>
              </a:rPr>
              <a:t>100</a:t>
            </a:r>
          </a:p>
        </p:txBody>
      </p:sp>
      <p:sp>
        <p:nvSpPr>
          <p:cNvPr id="78" name="info_1">
            <a:extLst>
              <a:ext uri="{FF2B5EF4-FFF2-40B4-BE49-F238E27FC236}">
                <a16:creationId xmlns:a16="http://schemas.microsoft.com/office/drawing/2014/main" id="{FAB16911-5907-2A43-AD3A-A4AE5A54AABD}"/>
              </a:ext>
            </a:extLst>
          </p:cNvPr>
          <p:cNvSpPr txBox="1"/>
          <p:nvPr/>
        </p:nvSpPr>
        <p:spPr>
          <a:xfrm>
            <a:off x="7137400" y="2324100"/>
            <a:ext cx="1066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5A00FF"/>
                </a:solidFill>
                <a:latin typeface="Arial"/>
                <a:cs typeface="Arial"/>
              </a:rPr>
              <a:t>1.11×</a:t>
            </a:r>
          </a:p>
        </p:txBody>
      </p:sp>
      <p:sp>
        <p:nvSpPr>
          <p:cNvPr id="79" name="rowbg_2">
            <a:extLst>
              <a:ext uri="{FF2B5EF4-FFF2-40B4-BE49-F238E27FC236}">
                <a16:creationId xmlns:a16="http://schemas.microsoft.com/office/drawing/2014/main" id="{593733EB-6BB5-9945-87F9-C1F8D2125C22}"/>
              </a:ext>
            </a:extLst>
          </p:cNvPr>
          <p:cNvSpPr/>
          <p:nvPr/>
        </p:nvSpPr>
        <p:spPr>
          <a:xfrm>
            <a:off x="4038600" y="2565400"/>
            <a:ext cx="4216400" cy="304800"/>
          </a:xfrm>
          <a:prstGeom prst="rect">
            <a:avLst/>
          </a:prstGeom>
          <a:solidFill>
            <a:srgbClr val="FBFCFF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0" name="v_2_0">
            <a:extLst>
              <a:ext uri="{FF2B5EF4-FFF2-40B4-BE49-F238E27FC236}">
                <a16:creationId xmlns:a16="http://schemas.microsoft.com/office/drawing/2014/main" id="{18E9B43C-68CF-1F4E-9208-84745DDABB66}"/>
              </a:ext>
            </a:extLst>
          </p:cNvPr>
          <p:cNvSpPr/>
          <p:nvPr/>
        </p:nvSpPr>
        <p:spPr>
          <a:xfrm>
            <a:off x="4038600" y="25654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1" name="v_2_1">
            <a:extLst>
              <a:ext uri="{FF2B5EF4-FFF2-40B4-BE49-F238E27FC236}">
                <a16:creationId xmlns:a16="http://schemas.microsoft.com/office/drawing/2014/main" id="{379931DB-C40F-9247-AF66-CB3434A21A4C}"/>
              </a:ext>
            </a:extLst>
          </p:cNvPr>
          <p:cNvSpPr/>
          <p:nvPr/>
        </p:nvSpPr>
        <p:spPr>
          <a:xfrm>
            <a:off x="4775200" y="25654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2" name="v_2_2">
            <a:extLst>
              <a:ext uri="{FF2B5EF4-FFF2-40B4-BE49-F238E27FC236}">
                <a16:creationId xmlns:a16="http://schemas.microsoft.com/office/drawing/2014/main" id="{AF15E25B-09A0-4B46-B1F8-C4898C87BEBC}"/>
              </a:ext>
            </a:extLst>
          </p:cNvPr>
          <p:cNvSpPr/>
          <p:nvPr/>
        </p:nvSpPr>
        <p:spPr>
          <a:xfrm>
            <a:off x="6096000" y="25654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3" name="v_2_3">
            <a:extLst>
              <a:ext uri="{FF2B5EF4-FFF2-40B4-BE49-F238E27FC236}">
                <a16:creationId xmlns:a16="http://schemas.microsoft.com/office/drawing/2014/main" id="{D5724CCE-9F2A-1A4F-9484-BFB8FDB25291}"/>
              </a:ext>
            </a:extLst>
          </p:cNvPr>
          <p:cNvSpPr/>
          <p:nvPr/>
        </p:nvSpPr>
        <p:spPr>
          <a:xfrm>
            <a:off x="7086600" y="25654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4" name="r2_2">
            <a:extLst>
              <a:ext uri="{FF2B5EF4-FFF2-40B4-BE49-F238E27FC236}">
                <a16:creationId xmlns:a16="http://schemas.microsoft.com/office/drawing/2014/main" id="{26221701-75D0-6F4B-BAC7-E1C591BE0996}"/>
              </a:ext>
            </a:extLst>
          </p:cNvPr>
          <p:cNvSpPr txBox="1"/>
          <p:nvPr/>
        </p:nvSpPr>
        <p:spPr>
          <a:xfrm>
            <a:off x="4076700" y="2628900"/>
            <a:ext cx="660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5A"/>
                </a:solidFill>
                <a:latin typeface="Arial"/>
                <a:cs typeface="Arial"/>
              </a:rPr>
              <a:t>0.20</a:t>
            </a:r>
          </a:p>
        </p:txBody>
      </p:sp>
      <p:sp>
        <p:nvSpPr>
          <p:cNvPr id="85" name="barbg_2">
            <a:extLst>
              <a:ext uri="{FF2B5EF4-FFF2-40B4-BE49-F238E27FC236}">
                <a16:creationId xmlns:a16="http://schemas.microsoft.com/office/drawing/2014/main" id="{493D36F0-76C4-D84E-809C-2CA0944158D1}"/>
              </a:ext>
            </a:extLst>
          </p:cNvPr>
          <p:cNvSpPr/>
          <p:nvPr/>
        </p:nvSpPr>
        <p:spPr>
          <a:xfrm>
            <a:off x="4876800" y="2654300"/>
            <a:ext cx="1117600" cy="127000"/>
          </a:xfrm>
          <a:prstGeom prst="rect">
            <a:avLst/>
          </a:prstGeom>
          <a:solidFill>
            <a:srgbClr val="EFEAFB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6" name="bar_2">
            <a:extLst>
              <a:ext uri="{FF2B5EF4-FFF2-40B4-BE49-F238E27FC236}">
                <a16:creationId xmlns:a16="http://schemas.microsoft.com/office/drawing/2014/main" id="{CDBCF671-B648-CF41-8589-61FC25DB5667}"/>
              </a:ext>
            </a:extLst>
          </p:cNvPr>
          <p:cNvSpPr/>
          <p:nvPr/>
        </p:nvSpPr>
        <p:spPr>
          <a:xfrm>
            <a:off x="4876800" y="2654300"/>
            <a:ext cx="894080" cy="127000"/>
          </a:xfrm>
          <a:prstGeom prst="rect">
            <a:avLst/>
          </a:prstGeom>
          <a:solidFill>
            <a:srgbClr val="E3DA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7" name="n_2">
            <a:extLst>
              <a:ext uri="{FF2B5EF4-FFF2-40B4-BE49-F238E27FC236}">
                <a16:creationId xmlns:a16="http://schemas.microsoft.com/office/drawing/2014/main" id="{5F896D08-3682-8348-8F37-DB3A12048347}"/>
              </a:ext>
            </a:extLst>
          </p:cNvPr>
          <p:cNvSpPr txBox="1"/>
          <p:nvPr/>
        </p:nvSpPr>
        <p:spPr>
          <a:xfrm>
            <a:off x="4826000" y="2628900"/>
            <a:ext cx="1219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5A"/>
                </a:solidFill>
                <a:latin typeface="Arial"/>
                <a:cs typeface="Arial"/>
              </a:rPr>
              <a:t>800</a:t>
            </a:r>
          </a:p>
        </p:txBody>
      </p:sp>
      <p:sp>
        <p:nvSpPr>
          <p:cNvPr id="88" name="save_2">
            <a:extLst>
              <a:ext uri="{FF2B5EF4-FFF2-40B4-BE49-F238E27FC236}">
                <a16:creationId xmlns:a16="http://schemas.microsoft.com/office/drawing/2014/main" id="{4C2E9154-283E-D444-ABF1-9A8333C7620F}"/>
              </a:ext>
            </a:extLst>
          </p:cNvPr>
          <p:cNvSpPr txBox="1"/>
          <p:nvPr/>
        </p:nvSpPr>
        <p:spPr>
          <a:xfrm>
            <a:off x="6146800" y="2628900"/>
            <a:ext cx="88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6005A"/>
                </a:solidFill>
                <a:latin typeface="Arial"/>
                <a:cs typeface="Arial"/>
              </a:rPr>
              <a:t>200</a:t>
            </a:r>
          </a:p>
        </p:txBody>
      </p:sp>
      <p:sp>
        <p:nvSpPr>
          <p:cNvPr id="89" name="info_2">
            <a:extLst>
              <a:ext uri="{FF2B5EF4-FFF2-40B4-BE49-F238E27FC236}">
                <a16:creationId xmlns:a16="http://schemas.microsoft.com/office/drawing/2014/main" id="{5621DD43-C45A-764F-BD1E-1EE3A76BA13B}"/>
              </a:ext>
            </a:extLst>
          </p:cNvPr>
          <p:cNvSpPr txBox="1"/>
          <p:nvPr/>
        </p:nvSpPr>
        <p:spPr>
          <a:xfrm>
            <a:off x="7137400" y="2628900"/>
            <a:ext cx="1066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5A00FF"/>
                </a:solidFill>
                <a:latin typeface="Arial"/>
                <a:cs typeface="Arial"/>
              </a:rPr>
              <a:t>1.25×</a:t>
            </a:r>
          </a:p>
        </p:txBody>
      </p:sp>
      <p:sp>
        <p:nvSpPr>
          <p:cNvPr id="90" name="rowbg_3">
            <a:extLst>
              <a:ext uri="{FF2B5EF4-FFF2-40B4-BE49-F238E27FC236}">
                <a16:creationId xmlns:a16="http://schemas.microsoft.com/office/drawing/2014/main" id="{1B11F943-4138-734A-A238-14980DFA831B}"/>
              </a:ext>
            </a:extLst>
          </p:cNvPr>
          <p:cNvSpPr/>
          <p:nvPr/>
        </p:nvSpPr>
        <p:spPr>
          <a:xfrm>
            <a:off x="4038600" y="2870200"/>
            <a:ext cx="4216400" cy="304800"/>
          </a:xfrm>
          <a:prstGeom prst="rect">
            <a:avLst/>
          </a:prstGeom>
          <a:solidFill>
            <a:srgbClr val="F3F5FA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1" name="v_3_0">
            <a:extLst>
              <a:ext uri="{FF2B5EF4-FFF2-40B4-BE49-F238E27FC236}">
                <a16:creationId xmlns:a16="http://schemas.microsoft.com/office/drawing/2014/main" id="{57382719-CC5E-1745-827F-B71DA324009E}"/>
              </a:ext>
            </a:extLst>
          </p:cNvPr>
          <p:cNvSpPr/>
          <p:nvPr/>
        </p:nvSpPr>
        <p:spPr>
          <a:xfrm>
            <a:off x="4038600" y="28702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2" name="v_3_1">
            <a:extLst>
              <a:ext uri="{FF2B5EF4-FFF2-40B4-BE49-F238E27FC236}">
                <a16:creationId xmlns:a16="http://schemas.microsoft.com/office/drawing/2014/main" id="{BDA50485-6CBD-E544-9C3C-B990D2C1F585}"/>
              </a:ext>
            </a:extLst>
          </p:cNvPr>
          <p:cNvSpPr/>
          <p:nvPr/>
        </p:nvSpPr>
        <p:spPr>
          <a:xfrm>
            <a:off x="4775200" y="28702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3" name="v_3_2">
            <a:extLst>
              <a:ext uri="{FF2B5EF4-FFF2-40B4-BE49-F238E27FC236}">
                <a16:creationId xmlns:a16="http://schemas.microsoft.com/office/drawing/2014/main" id="{CA363928-4738-EA4C-B71E-F42F5731CC3F}"/>
              </a:ext>
            </a:extLst>
          </p:cNvPr>
          <p:cNvSpPr/>
          <p:nvPr/>
        </p:nvSpPr>
        <p:spPr>
          <a:xfrm>
            <a:off x="6096000" y="28702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4" name="v_3_3">
            <a:extLst>
              <a:ext uri="{FF2B5EF4-FFF2-40B4-BE49-F238E27FC236}">
                <a16:creationId xmlns:a16="http://schemas.microsoft.com/office/drawing/2014/main" id="{DBF7E160-3D59-3744-A429-B672E954C45D}"/>
              </a:ext>
            </a:extLst>
          </p:cNvPr>
          <p:cNvSpPr/>
          <p:nvPr/>
        </p:nvSpPr>
        <p:spPr>
          <a:xfrm>
            <a:off x="7086600" y="28702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5" name="r2_3">
            <a:extLst>
              <a:ext uri="{FF2B5EF4-FFF2-40B4-BE49-F238E27FC236}">
                <a16:creationId xmlns:a16="http://schemas.microsoft.com/office/drawing/2014/main" id="{41D86DB6-0BE8-4244-A9E5-0382B96D759F}"/>
              </a:ext>
            </a:extLst>
          </p:cNvPr>
          <p:cNvSpPr txBox="1"/>
          <p:nvPr/>
        </p:nvSpPr>
        <p:spPr>
          <a:xfrm>
            <a:off x="4076700" y="2933700"/>
            <a:ext cx="660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5A"/>
                </a:solidFill>
                <a:latin typeface="Arial"/>
                <a:cs typeface="Arial"/>
              </a:rPr>
              <a:t>0.30</a:t>
            </a:r>
          </a:p>
        </p:txBody>
      </p:sp>
      <p:sp>
        <p:nvSpPr>
          <p:cNvPr id="96" name="barbg_3">
            <a:extLst>
              <a:ext uri="{FF2B5EF4-FFF2-40B4-BE49-F238E27FC236}">
                <a16:creationId xmlns:a16="http://schemas.microsoft.com/office/drawing/2014/main" id="{63255C95-3449-794E-82A9-5D84C5FEB0DB}"/>
              </a:ext>
            </a:extLst>
          </p:cNvPr>
          <p:cNvSpPr/>
          <p:nvPr/>
        </p:nvSpPr>
        <p:spPr>
          <a:xfrm>
            <a:off x="4876800" y="2959100"/>
            <a:ext cx="1117600" cy="127000"/>
          </a:xfrm>
          <a:prstGeom prst="rect">
            <a:avLst/>
          </a:prstGeom>
          <a:solidFill>
            <a:srgbClr val="EFEAFB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7" name="bar_3">
            <a:extLst>
              <a:ext uri="{FF2B5EF4-FFF2-40B4-BE49-F238E27FC236}">
                <a16:creationId xmlns:a16="http://schemas.microsoft.com/office/drawing/2014/main" id="{0A8BC7B8-CBE5-AA45-86C8-F54C93F37E97}"/>
              </a:ext>
            </a:extLst>
          </p:cNvPr>
          <p:cNvSpPr/>
          <p:nvPr/>
        </p:nvSpPr>
        <p:spPr>
          <a:xfrm>
            <a:off x="4876800" y="2959100"/>
            <a:ext cx="782319" cy="127000"/>
          </a:xfrm>
          <a:prstGeom prst="rect">
            <a:avLst/>
          </a:prstGeom>
          <a:solidFill>
            <a:srgbClr val="E3DA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8" name="n_3">
            <a:extLst>
              <a:ext uri="{FF2B5EF4-FFF2-40B4-BE49-F238E27FC236}">
                <a16:creationId xmlns:a16="http://schemas.microsoft.com/office/drawing/2014/main" id="{228AEC74-3D9A-4E4B-AEC4-31B13B58D31D}"/>
              </a:ext>
            </a:extLst>
          </p:cNvPr>
          <p:cNvSpPr txBox="1"/>
          <p:nvPr/>
        </p:nvSpPr>
        <p:spPr>
          <a:xfrm>
            <a:off x="4826000" y="2933700"/>
            <a:ext cx="1219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5A"/>
                </a:solidFill>
                <a:latin typeface="Arial"/>
                <a:cs typeface="Arial"/>
              </a:rPr>
              <a:t>700</a:t>
            </a:r>
          </a:p>
        </p:txBody>
      </p:sp>
      <p:sp>
        <p:nvSpPr>
          <p:cNvPr id="99" name="save_3">
            <a:extLst>
              <a:ext uri="{FF2B5EF4-FFF2-40B4-BE49-F238E27FC236}">
                <a16:creationId xmlns:a16="http://schemas.microsoft.com/office/drawing/2014/main" id="{C5D3B16D-63C7-4044-9D3E-A32DAA21AA0C}"/>
              </a:ext>
            </a:extLst>
          </p:cNvPr>
          <p:cNvSpPr txBox="1"/>
          <p:nvPr/>
        </p:nvSpPr>
        <p:spPr>
          <a:xfrm>
            <a:off x="6146800" y="2933700"/>
            <a:ext cx="88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6005A"/>
                </a:solidFill>
                <a:latin typeface="Arial"/>
                <a:cs typeface="Arial"/>
              </a:rPr>
              <a:t>300</a:t>
            </a:r>
          </a:p>
        </p:txBody>
      </p:sp>
      <p:sp>
        <p:nvSpPr>
          <p:cNvPr id="100" name="info_3">
            <a:extLst>
              <a:ext uri="{FF2B5EF4-FFF2-40B4-BE49-F238E27FC236}">
                <a16:creationId xmlns:a16="http://schemas.microsoft.com/office/drawing/2014/main" id="{A6605E06-110B-2944-86C0-D2B32AD8205B}"/>
              </a:ext>
            </a:extLst>
          </p:cNvPr>
          <p:cNvSpPr txBox="1"/>
          <p:nvPr/>
        </p:nvSpPr>
        <p:spPr>
          <a:xfrm>
            <a:off x="7137400" y="2933700"/>
            <a:ext cx="1066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5A00FF"/>
                </a:solidFill>
                <a:latin typeface="Arial"/>
                <a:cs typeface="Arial"/>
              </a:rPr>
              <a:t>1.43×</a:t>
            </a:r>
          </a:p>
        </p:txBody>
      </p:sp>
      <p:sp>
        <p:nvSpPr>
          <p:cNvPr id="101" name="rowbg_4">
            <a:extLst>
              <a:ext uri="{FF2B5EF4-FFF2-40B4-BE49-F238E27FC236}">
                <a16:creationId xmlns:a16="http://schemas.microsoft.com/office/drawing/2014/main" id="{11DF2BDE-8956-9E40-A83A-8961D4773FA0}"/>
              </a:ext>
            </a:extLst>
          </p:cNvPr>
          <p:cNvSpPr/>
          <p:nvPr/>
        </p:nvSpPr>
        <p:spPr>
          <a:xfrm>
            <a:off x="4038600" y="3175000"/>
            <a:ext cx="4216400" cy="304800"/>
          </a:xfrm>
          <a:prstGeom prst="rect">
            <a:avLst/>
          </a:prstGeom>
          <a:solidFill>
            <a:srgbClr val="FBFCFF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2" name="v_4_0">
            <a:extLst>
              <a:ext uri="{FF2B5EF4-FFF2-40B4-BE49-F238E27FC236}">
                <a16:creationId xmlns:a16="http://schemas.microsoft.com/office/drawing/2014/main" id="{99E7535D-F30E-3749-9644-0A44C9421008}"/>
              </a:ext>
            </a:extLst>
          </p:cNvPr>
          <p:cNvSpPr/>
          <p:nvPr/>
        </p:nvSpPr>
        <p:spPr>
          <a:xfrm>
            <a:off x="4038600" y="31750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3" name="v_4_1">
            <a:extLst>
              <a:ext uri="{FF2B5EF4-FFF2-40B4-BE49-F238E27FC236}">
                <a16:creationId xmlns:a16="http://schemas.microsoft.com/office/drawing/2014/main" id="{21ACF00D-992F-1547-BD4E-482EAF942D1B}"/>
              </a:ext>
            </a:extLst>
          </p:cNvPr>
          <p:cNvSpPr/>
          <p:nvPr/>
        </p:nvSpPr>
        <p:spPr>
          <a:xfrm>
            <a:off x="4775200" y="31750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4" name="v_4_2">
            <a:extLst>
              <a:ext uri="{FF2B5EF4-FFF2-40B4-BE49-F238E27FC236}">
                <a16:creationId xmlns:a16="http://schemas.microsoft.com/office/drawing/2014/main" id="{97CD63F8-A94E-9D42-82F5-F00F69843AB2}"/>
              </a:ext>
            </a:extLst>
          </p:cNvPr>
          <p:cNvSpPr/>
          <p:nvPr/>
        </p:nvSpPr>
        <p:spPr>
          <a:xfrm>
            <a:off x="6096000" y="31750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5" name="v_4_3">
            <a:extLst>
              <a:ext uri="{FF2B5EF4-FFF2-40B4-BE49-F238E27FC236}">
                <a16:creationId xmlns:a16="http://schemas.microsoft.com/office/drawing/2014/main" id="{959D7D52-61CD-954D-82C0-97C824FB7E3C}"/>
              </a:ext>
            </a:extLst>
          </p:cNvPr>
          <p:cNvSpPr/>
          <p:nvPr/>
        </p:nvSpPr>
        <p:spPr>
          <a:xfrm>
            <a:off x="7086600" y="31750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6" name="r2_4">
            <a:extLst>
              <a:ext uri="{FF2B5EF4-FFF2-40B4-BE49-F238E27FC236}">
                <a16:creationId xmlns:a16="http://schemas.microsoft.com/office/drawing/2014/main" id="{5CB55625-2AB0-E040-8165-9BA7946DF9AE}"/>
              </a:ext>
            </a:extLst>
          </p:cNvPr>
          <p:cNvSpPr txBox="1"/>
          <p:nvPr/>
        </p:nvSpPr>
        <p:spPr>
          <a:xfrm>
            <a:off x="4076700" y="3238500"/>
            <a:ext cx="660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5A"/>
                </a:solidFill>
                <a:latin typeface="Arial"/>
                <a:cs typeface="Arial"/>
              </a:rPr>
              <a:t>0.40</a:t>
            </a:r>
          </a:p>
        </p:txBody>
      </p:sp>
      <p:sp>
        <p:nvSpPr>
          <p:cNvPr id="107" name="barbg_4">
            <a:extLst>
              <a:ext uri="{FF2B5EF4-FFF2-40B4-BE49-F238E27FC236}">
                <a16:creationId xmlns:a16="http://schemas.microsoft.com/office/drawing/2014/main" id="{A2570160-363E-7A47-8BAA-CDE919C28A1A}"/>
              </a:ext>
            </a:extLst>
          </p:cNvPr>
          <p:cNvSpPr/>
          <p:nvPr/>
        </p:nvSpPr>
        <p:spPr>
          <a:xfrm>
            <a:off x="4876800" y="3263900"/>
            <a:ext cx="1117600" cy="127000"/>
          </a:xfrm>
          <a:prstGeom prst="rect">
            <a:avLst/>
          </a:prstGeom>
          <a:solidFill>
            <a:srgbClr val="EFEAFB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8" name="bar_4">
            <a:extLst>
              <a:ext uri="{FF2B5EF4-FFF2-40B4-BE49-F238E27FC236}">
                <a16:creationId xmlns:a16="http://schemas.microsoft.com/office/drawing/2014/main" id="{7875E60B-844B-C642-91C0-90257F5559C7}"/>
              </a:ext>
            </a:extLst>
          </p:cNvPr>
          <p:cNvSpPr/>
          <p:nvPr/>
        </p:nvSpPr>
        <p:spPr>
          <a:xfrm>
            <a:off x="4876800" y="3263900"/>
            <a:ext cx="670560" cy="127000"/>
          </a:xfrm>
          <a:prstGeom prst="rect">
            <a:avLst/>
          </a:prstGeom>
          <a:solidFill>
            <a:srgbClr val="E3DA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9" name="n_4">
            <a:extLst>
              <a:ext uri="{FF2B5EF4-FFF2-40B4-BE49-F238E27FC236}">
                <a16:creationId xmlns:a16="http://schemas.microsoft.com/office/drawing/2014/main" id="{A1479F57-8599-D04F-9691-2BB33330DF2A}"/>
              </a:ext>
            </a:extLst>
          </p:cNvPr>
          <p:cNvSpPr txBox="1"/>
          <p:nvPr/>
        </p:nvSpPr>
        <p:spPr>
          <a:xfrm>
            <a:off x="4826000" y="3238500"/>
            <a:ext cx="1219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5A"/>
                </a:solidFill>
                <a:latin typeface="Arial"/>
                <a:cs typeface="Arial"/>
              </a:rPr>
              <a:t>600</a:t>
            </a:r>
          </a:p>
        </p:txBody>
      </p:sp>
      <p:sp>
        <p:nvSpPr>
          <p:cNvPr id="110" name="save_4">
            <a:extLst>
              <a:ext uri="{FF2B5EF4-FFF2-40B4-BE49-F238E27FC236}">
                <a16:creationId xmlns:a16="http://schemas.microsoft.com/office/drawing/2014/main" id="{30ED0565-407B-6449-883B-8297F8C8D0C4}"/>
              </a:ext>
            </a:extLst>
          </p:cNvPr>
          <p:cNvSpPr txBox="1"/>
          <p:nvPr/>
        </p:nvSpPr>
        <p:spPr>
          <a:xfrm>
            <a:off x="6146800" y="3238500"/>
            <a:ext cx="88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6005A"/>
                </a:solidFill>
                <a:latin typeface="Arial"/>
                <a:cs typeface="Arial"/>
              </a:rPr>
              <a:t>400</a:t>
            </a:r>
          </a:p>
        </p:txBody>
      </p:sp>
      <p:sp>
        <p:nvSpPr>
          <p:cNvPr id="111" name="info_4">
            <a:extLst>
              <a:ext uri="{FF2B5EF4-FFF2-40B4-BE49-F238E27FC236}">
                <a16:creationId xmlns:a16="http://schemas.microsoft.com/office/drawing/2014/main" id="{FD47B26A-CB23-F14A-96D9-65B7E3615BBD}"/>
              </a:ext>
            </a:extLst>
          </p:cNvPr>
          <p:cNvSpPr txBox="1"/>
          <p:nvPr/>
        </p:nvSpPr>
        <p:spPr>
          <a:xfrm>
            <a:off x="7137400" y="3238500"/>
            <a:ext cx="1066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5A00FF"/>
                </a:solidFill>
                <a:latin typeface="Arial"/>
                <a:cs typeface="Arial"/>
              </a:rPr>
              <a:t>1.67×</a:t>
            </a:r>
          </a:p>
        </p:txBody>
      </p:sp>
      <p:sp>
        <p:nvSpPr>
          <p:cNvPr id="112" name="rowbg_5">
            <a:extLst>
              <a:ext uri="{FF2B5EF4-FFF2-40B4-BE49-F238E27FC236}">
                <a16:creationId xmlns:a16="http://schemas.microsoft.com/office/drawing/2014/main" id="{8A1156C0-330D-B949-AB00-023BC437A400}"/>
              </a:ext>
            </a:extLst>
          </p:cNvPr>
          <p:cNvSpPr/>
          <p:nvPr/>
        </p:nvSpPr>
        <p:spPr>
          <a:xfrm>
            <a:off x="4038600" y="3479800"/>
            <a:ext cx="4216400" cy="304800"/>
          </a:xfrm>
          <a:prstGeom prst="rect">
            <a:avLst/>
          </a:prstGeom>
          <a:solidFill>
            <a:srgbClr val="F3F5FA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3" name="v_5_0">
            <a:extLst>
              <a:ext uri="{FF2B5EF4-FFF2-40B4-BE49-F238E27FC236}">
                <a16:creationId xmlns:a16="http://schemas.microsoft.com/office/drawing/2014/main" id="{43D3F10C-5541-1943-B256-001634D5F6BB}"/>
              </a:ext>
            </a:extLst>
          </p:cNvPr>
          <p:cNvSpPr/>
          <p:nvPr/>
        </p:nvSpPr>
        <p:spPr>
          <a:xfrm>
            <a:off x="4038600" y="34798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4" name="v_5_1">
            <a:extLst>
              <a:ext uri="{FF2B5EF4-FFF2-40B4-BE49-F238E27FC236}">
                <a16:creationId xmlns:a16="http://schemas.microsoft.com/office/drawing/2014/main" id="{79ED2546-E24C-F94C-BFD1-97B021B17A7B}"/>
              </a:ext>
            </a:extLst>
          </p:cNvPr>
          <p:cNvSpPr/>
          <p:nvPr/>
        </p:nvSpPr>
        <p:spPr>
          <a:xfrm>
            <a:off x="4775200" y="34798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5" name="v_5_2">
            <a:extLst>
              <a:ext uri="{FF2B5EF4-FFF2-40B4-BE49-F238E27FC236}">
                <a16:creationId xmlns:a16="http://schemas.microsoft.com/office/drawing/2014/main" id="{D5AAB78D-F796-CA4D-8CD4-F5577954D508}"/>
              </a:ext>
            </a:extLst>
          </p:cNvPr>
          <p:cNvSpPr/>
          <p:nvPr/>
        </p:nvSpPr>
        <p:spPr>
          <a:xfrm>
            <a:off x="6096000" y="34798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6" name="v_5_3">
            <a:extLst>
              <a:ext uri="{FF2B5EF4-FFF2-40B4-BE49-F238E27FC236}">
                <a16:creationId xmlns:a16="http://schemas.microsoft.com/office/drawing/2014/main" id="{7A4CFD4D-32AB-0545-8912-F0478D499E43}"/>
              </a:ext>
            </a:extLst>
          </p:cNvPr>
          <p:cNvSpPr/>
          <p:nvPr/>
        </p:nvSpPr>
        <p:spPr>
          <a:xfrm>
            <a:off x="7086600" y="3479800"/>
            <a:ext cx="9525" cy="3048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7" name="r2_5">
            <a:extLst>
              <a:ext uri="{FF2B5EF4-FFF2-40B4-BE49-F238E27FC236}">
                <a16:creationId xmlns:a16="http://schemas.microsoft.com/office/drawing/2014/main" id="{4C2E15C9-9FB8-9B4D-B99D-49AADC1DA4C7}"/>
              </a:ext>
            </a:extLst>
          </p:cNvPr>
          <p:cNvSpPr txBox="1"/>
          <p:nvPr/>
        </p:nvSpPr>
        <p:spPr>
          <a:xfrm>
            <a:off x="4076700" y="3543300"/>
            <a:ext cx="660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5A"/>
                </a:solidFill>
                <a:latin typeface="Arial"/>
                <a:cs typeface="Arial"/>
              </a:rPr>
              <a:t>0.50</a:t>
            </a:r>
          </a:p>
        </p:txBody>
      </p:sp>
      <p:sp>
        <p:nvSpPr>
          <p:cNvPr id="118" name="barbg_5">
            <a:extLst>
              <a:ext uri="{FF2B5EF4-FFF2-40B4-BE49-F238E27FC236}">
                <a16:creationId xmlns:a16="http://schemas.microsoft.com/office/drawing/2014/main" id="{6C3C286B-1552-384B-B945-0D4F60148129}"/>
              </a:ext>
            </a:extLst>
          </p:cNvPr>
          <p:cNvSpPr/>
          <p:nvPr/>
        </p:nvSpPr>
        <p:spPr>
          <a:xfrm>
            <a:off x="4876800" y="3568700"/>
            <a:ext cx="1117600" cy="127000"/>
          </a:xfrm>
          <a:prstGeom prst="rect">
            <a:avLst/>
          </a:prstGeom>
          <a:solidFill>
            <a:srgbClr val="EFEAFB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9" name="bar_5">
            <a:extLst>
              <a:ext uri="{FF2B5EF4-FFF2-40B4-BE49-F238E27FC236}">
                <a16:creationId xmlns:a16="http://schemas.microsoft.com/office/drawing/2014/main" id="{7E41943B-9445-2342-B9CD-2D7513470D9C}"/>
              </a:ext>
            </a:extLst>
          </p:cNvPr>
          <p:cNvSpPr/>
          <p:nvPr/>
        </p:nvSpPr>
        <p:spPr>
          <a:xfrm>
            <a:off x="4876800" y="3568700"/>
            <a:ext cx="558800" cy="127000"/>
          </a:xfrm>
          <a:prstGeom prst="rect">
            <a:avLst/>
          </a:prstGeom>
          <a:solidFill>
            <a:srgbClr val="E3DA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0" name="n_5">
            <a:extLst>
              <a:ext uri="{FF2B5EF4-FFF2-40B4-BE49-F238E27FC236}">
                <a16:creationId xmlns:a16="http://schemas.microsoft.com/office/drawing/2014/main" id="{1ADA2FFA-060A-8447-965F-3FC7B00A845D}"/>
              </a:ext>
            </a:extLst>
          </p:cNvPr>
          <p:cNvSpPr txBox="1"/>
          <p:nvPr/>
        </p:nvSpPr>
        <p:spPr>
          <a:xfrm>
            <a:off x="4826000" y="3543300"/>
            <a:ext cx="1219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5A"/>
                </a:solidFill>
                <a:latin typeface="Arial"/>
                <a:cs typeface="Arial"/>
              </a:rPr>
              <a:t>500</a:t>
            </a:r>
          </a:p>
        </p:txBody>
      </p:sp>
      <p:sp>
        <p:nvSpPr>
          <p:cNvPr id="121" name="save_5">
            <a:extLst>
              <a:ext uri="{FF2B5EF4-FFF2-40B4-BE49-F238E27FC236}">
                <a16:creationId xmlns:a16="http://schemas.microsoft.com/office/drawing/2014/main" id="{1B0EA0F2-FE76-FE47-BF56-0152528BEFFD}"/>
              </a:ext>
            </a:extLst>
          </p:cNvPr>
          <p:cNvSpPr txBox="1"/>
          <p:nvPr/>
        </p:nvSpPr>
        <p:spPr>
          <a:xfrm>
            <a:off x="6146800" y="3543300"/>
            <a:ext cx="88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6005A"/>
                </a:solidFill>
                <a:latin typeface="Arial"/>
                <a:cs typeface="Arial"/>
              </a:rPr>
              <a:t>500</a:t>
            </a:r>
          </a:p>
        </p:txBody>
      </p:sp>
      <p:sp>
        <p:nvSpPr>
          <p:cNvPr id="122" name="info_5">
            <a:extLst>
              <a:ext uri="{FF2B5EF4-FFF2-40B4-BE49-F238E27FC236}">
                <a16:creationId xmlns:a16="http://schemas.microsoft.com/office/drawing/2014/main" id="{190721A3-E3D7-3341-AC4D-EF56ADD055B7}"/>
              </a:ext>
            </a:extLst>
          </p:cNvPr>
          <p:cNvSpPr txBox="1"/>
          <p:nvPr/>
        </p:nvSpPr>
        <p:spPr>
          <a:xfrm>
            <a:off x="7137400" y="3543300"/>
            <a:ext cx="1066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5A00FF"/>
                </a:solidFill>
                <a:latin typeface="Arial"/>
                <a:cs typeface="Arial"/>
              </a:rPr>
              <a:t>2.00×</a:t>
            </a:r>
          </a:p>
        </p:txBody>
      </p:sp>
      <p:sp>
        <p:nvSpPr>
          <p:cNvPr id="123" name="caption">
            <a:extLst>
              <a:ext uri="{FF2B5EF4-FFF2-40B4-BE49-F238E27FC236}">
                <a16:creationId xmlns:a16="http://schemas.microsoft.com/office/drawing/2014/main" id="{F939EEE8-0190-C94A-B48B-D781FB8B3E55}"/>
              </a:ext>
            </a:extLst>
          </p:cNvPr>
          <p:cNvSpPr txBox="1"/>
          <p:nvPr/>
        </p:nvSpPr>
        <p:spPr>
          <a:xfrm>
            <a:off x="4038600" y="3835400"/>
            <a:ext cx="4254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6B6478"/>
                </a:solidFill>
                <a:latin typeface="Arial"/>
                <a:cs typeface="Arial"/>
              </a:rPr>
              <a:t>Approximate gains from prognostic covariate adjustment</a:t>
            </a:r>
          </a:p>
        </p:txBody>
      </p:sp>
      <p:sp>
        <p:nvSpPr>
          <p:cNvPr id="124" name="takeaway_bg">
            <a:extLst>
              <a:ext uri="{FF2B5EF4-FFF2-40B4-BE49-F238E27FC236}">
                <a16:creationId xmlns:a16="http://schemas.microsoft.com/office/drawing/2014/main" id="{9A2C7CA6-AF94-C04C-8EA4-C426F3449767}"/>
              </a:ext>
            </a:extLst>
          </p:cNvPr>
          <p:cNvSpPr/>
          <p:nvPr/>
        </p:nvSpPr>
        <p:spPr>
          <a:xfrm>
            <a:off x="939800" y="4241800"/>
            <a:ext cx="7315200" cy="596900"/>
          </a:xfrm>
          <a:prstGeom prst="rect">
            <a:avLst/>
          </a:prstGeom>
          <a:solidFill>
            <a:srgbClr val="EAF7F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5" name="takeaway">
            <a:extLst>
              <a:ext uri="{FF2B5EF4-FFF2-40B4-BE49-F238E27FC236}">
                <a16:creationId xmlns:a16="http://schemas.microsoft.com/office/drawing/2014/main" id="{4C622732-93D5-0348-80D9-95B3947D3544}"/>
              </a:ext>
            </a:extLst>
          </p:cNvPr>
          <p:cNvSpPr txBox="1"/>
          <p:nvPr/>
        </p:nvSpPr>
        <p:spPr>
          <a:xfrm>
            <a:off x="1168400" y="4356100"/>
            <a:ext cx="6908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 dirty="0">
                <a:solidFill>
                  <a:srgbClr val="16005A"/>
                </a:solidFill>
                <a:latin typeface="Arial"/>
                <a:cs typeface="Arial"/>
              </a:rPr>
              <a:t>Example: R² = 0.20 means ~20% fewer participants for the same precision — or the same trial behaves like ~1.25× as much information.</a:t>
            </a:r>
          </a:p>
        </p:txBody>
      </p:sp>
      <p:sp>
        <p:nvSpPr>
          <p:cNvPr id="126" name="source">
            <a:extLst>
              <a:ext uri="{FF2B5EF4-FFF2-40B4-BE49-F238E27FC236}">
                <a16:creationId xmlns:a16="http://schemas.microsoft.com/office/drawing/2014/main" id="{E8235C25-8F3D-954B-8A58-C9E869E3C006}"/>
              </a:ext>
            </a:extLst>
          </p:cNvPr>
          <p:cNvSpPr txBox="1"/>
          <p:nvPr/>
        </p:nvSpPr>
        <p:spPr>
          <a:xfrm>
            <a:off x="838200" y="4876800"/>
            <a:ext cx="7620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6B6478"/>
                </a:solidFill>
                <a:latin typeface="Arial"/>
                <a:cs typeface="Arial"/>
              </a:rPr>
              <a:t>Most literal for continuous outcomes; use as planning intuition otherwise. Source: Morris et al., Trials 2022.</a:t>
            </a:r>
          </a:p>
        </p:txBody>
      </p:sp>
    </p:spTree>
    <p:extLst>
      <p:ext uri="{BB962C8B-B14F-4D97-AF65-F5344CB8AC3E}">
        <p14:creationId xmlns:p14="http://schemas.microsoft.com/office/powerpoint/2010/main" val="28141990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nvas">
            <a:extLst>
              <a:ext uri="{FF2B5EF4-FFF2-40B4-BE49-F238E27FC236}">
                <a16:creationId xmlns:a16="http://schemas.microsoft.com/office/drawing/2014/main" id="{AA757F46-80EC-BE4A-A7B1-5061356ED9A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" name="left_rail">
            <a:extLst>
              <a:ext uri="{FF2B5EF4-FFF2-40B4-BE49-F238E27FC236}">
                <a16:creationId xmlns:a16="http://schemas.microsoft.com/office/drawing/2014/main" id="{776CE155-8CBF-344A-BA13-E9876CF52E25}"/>
              </a:ext>
            </a:extLst>
          </p:cNvPr>
          <p:cNvSpPr/>
          <p:nvPr/>
        </p:nvSpPr>
        <p:spPr>
          <a:xfrm>
            <a:off x="368300" y="736600"/>
            <a:ext cx="57150" cy="3644900"/>
          </a:xfrm>
          <a:prstGeom prst="rect">
            <a:avLst/>
          </a:prstGeom>
          <a:solidFill>
            <a:srgbClr val="4F00E9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" name="kicker">
            <a:extLst>
              <a:ext uri="{FF2B5EF4-FFF2-40B4-BE49-F238E27FC236}">
                <a16:creationId xmlns:a16="http://schemas.microsoft.com/office/drawing/2014/main" id="{E00FC7D7-DFE8-F348-A9A2-F83D4A353591}"/>
              </a:ext>
            </a:extLst>
          </p:cNvPr>
          <p:cNvSpPr txBox="1"/>
          <p:nvPr/>
        </p:nvSpPr>
        <p:spPr>
          <a:xfrm>
            <a:off x="609600" y="330200"/>
            <a:ext cx="38100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A00E2"/>
                </a:solidFill>
                <a:latin typeface="Arial"/>
                <a:cs typeface="Arial"/>
              </a:rPr>
              <a:t>ACT | RISK-BASED TREATMENT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84EE5F82-F75E-9E48-B3BB-5FB3396A0766}"/>
              </a:ext>
            </a:extLst>
          </p:cNvPr>
          <p:cNvSpPr txBox="1"/>
          <p:nvPr/>
        </p:nvSpPr>
        <p:spPr>
          <a:xfrm>
            <a:off x="609600" y="584200"/>
            <a:ext cx="8064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 dirty="0">
                <a:solidFill>
                  <a:srgbClr val="110057"/>
                </a:solidFill>
                <a:latin typeface="Arial"/>
                <a:cs typeface="Arial"/>
              </a:rPr>
              <a:t>A single NNT hides the risk groups decisions need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5B492BCE-E9B7-954B-B9DE-EE1720863295}"/>
              </a:ext>
            </a:extLst>
          </p:cNvPr>
          <p:cNvSpPr txBox="1"/>
          <p:nvPr/>
        </p:nvSpPr>
        <p:spPr>
          <a:xfrm>
            <a:off x="609600" y="4800600"/>
            <a:ext cx="787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8A829E"/>
                </a:solidFill>
                <a:latin typeface="Arial"/>
                <a:cs typeface="Arial"/>
              </a:rPr>
              <a:t>Source concept: Kent 2023; PATH statement framing of heterogeneous treatment effects.</a:t>
            </a:r>
          </a:p>
        </p:txBody>
      </p:sp>
      <p:sp>
        <p:nvSpPr>
          <p:cNvPr id="15" name="trial_summary_bg">
            <a:extLst>
              <a:ext uri="{FF2B5EF4-FFF2-40B4-BE49-F238E27FC236}">
                <a16:creationId xmlns:a16="http://schemas.microsoft.com/office/drawing/2014/main" id="{E9C9731F-8C01-BB4C-8712-3C8F2DF7D9A4}"/>
              </a:ext>
            </a:extLst>
          </p:cNvPr>
          <p:cNvSpPr/>
          <p:nvPr/>
        </p:nvSpPr>
        <p:spPr>
          <a:xfrm>
            <a:off x="889000" y="1600200"/>
            <a:ext cx="2235200" cy="2032000"/>
          </a:xfrm>
          <a:prstGeom prst="rect">
            <a:avLst/>
          </a:prstGeom>
          <a:solidFill>
            <a:srgbClr val="F5F2FB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6" name="summary_label">
            <a:extLst>
              <a:ext uri="{FF2B5EF4-FFF2-40B4-BE49-F238E27FC236}">
                <a16:creationId xmlns:a16="http://schemas.microsoft.com/office/drawing/2014/main" id="{04E9AD2E-7428-684A-9D5F-0A5393AB056C}"/>
              </a:ext>
            </a:extLst>
          </p:cNvPr>
          <p:cNvSpPr txBox="1"/>
          <p:nvPr/>
        </p:nvSpPr>
        <p:spPr>
          <a:xfrm>
            <a:off x="1066800" y="1752600"/>
            <a:ext cx="2057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4F00E9"/>
                </a:solidFill>
                <a:latin typeface="Arial"/>
                <a:cs typeface="Arial"/>
              </a:rPr>
              <a:t>TRIAL-LEVEL SUMMARY</a:t>
            </a:r>
          </a:p>
        </p:txBody>
      </p:sp>
      <p:sp>
        <p:nvSpPr>
          <p:cNvPr id="17" name="arr_text">
            <a:extLst>
              <a:ext uri="{FF2B5EF4-FFF2-40B4-BE49-F238E27FC236}">
                <a16:creationId xmlns:a16="http://schemas.microsoft.com/office/drawing/2014/main" id="{5647D294-153A-F444-B94A-D653CCA9C08B}"/>
              </a:ext>
            </a:extLst>
          </p:cNvPr>
          <p:cNvSpPr txBox="1"/>
          <p:nvPr/>
        </p:nvSpPr>
        <p:spPr>
          <a:xfrm>
            <a:off x="1117600" y="2032000"/>
            <a:ext cx="177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16004B"/>
                </a:solidFill>
                <a:latin typeface="Arial"/>
                <a:cs typeface="Arial"/>
              </a:rPr>
              <a:t>ARR = 2%</a:t>
            </a:r>
          </a:p>
        </p:txBody>
      </p:sp>
      <p:sp>
        <p:nvSpPr>
          <p:cNvPr id="18" name="nnt_text">
            <a:extLst>
              <a:ext uri="{FF2B5EF4-FFF2-40B4-BE49-F238E27FC236}">
                <a16:creationId xmlns:a16="http://schemas.microsoft.com/office/drawing/2014/main" id="{3F34FDE2-1036-0F40-BBB1-CB5A036625FB}"/>
              </a:ext>
            </a:extLst>
          </p:cNvPr>
          <p:cNvSpPr txBox="1"/>
          <p:nvPr/>
        </p:nvSpPr>
        <p:spPr>
          <a:xfrm>
            <a:off x="1117600" y="2413000"/>
            <a:ext cx="177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4F00E9"/>
                </a:solidFill>
                <a:latin typeface="Arial"/>
                <a:cs typeface="Arial"/>
              </a:rPr>
              <a:t>NNT = 50</a:t>
            </a:r>
          </a:p>
        </p:txBody>
      </p:sp>
      <p:sp>
        <p:nvSpPr>
          <p:cNvPr id="19" name="cer_text">
            <a:extLst>
              <a:ext uri="{FF2B5EF4-FFF2-40B4-BE49-F238E27FC236}">
                <a16:creationId xmlns:a16="http://schemas.microsoft.com/office/drawing/2014/main" id="{04A8EC6E-D6FB-7A4A-9AD5-40E412F3A6A4}"/>
              </a:ext>
            </a:extLst>
          </p:cNvPr>
          <p:cNvSpPr txBox="1"/>
          <p:nvPr/>
        </p:nvSpPr>
        <p:spPr>
          <a:xfrm>
            <a:off x="1092200" y="2844800"/>
            <a:ext cx="18415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5B5277"/>
                </a:solidFill>
                <a:latin typeface="Arial"/>
                <a:cs typeface="Arial"/>
              </a:rPr>
              <a:t>Control 10% → treatment 8%</a:t>
            </a:r>
          </a:p>
        </p:txBody>
      </p:sp>
      <p:sp>
        <p:nvSpPr>
          <p:cNvPr id="20" name="division_label">
            <a:extLst>
              <a:ext uri="{FF2B5EF4-FFF2-40B4-BE49-F238E27FC236}">
                <a16:creationId xmlns:a16="http://schemas.microsoft.com/office/drawing/2014/main" id="{6D3D1A0B-AD77-DC4C-8C50-2328B653E1B8}"/>
              </a:ext>
            </a:extLst>
          </p:cNvPr>
          <p:cNvSpPr txBox="1"/>
          <p:nvPr/>
        </p:nvSpPr>
        <p:spPr>
          <a:xfrm>
            <a:off x="3632200" y="15240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16004B"/>
                </a:solidFill>
                <a:latin typeface="Arial"/>
                <a:cs typeface="Arial"/>
              </a:rPr>
              <a:t>What gets lost when the average becomes the answer</a:t>
            </a:r>
          </a:p>
        </p:txBody>
      </p:sp>
      <p:sp>
        <p:nvSpPr>
          <p:cNvPr id="21" name="row_0">
            <a:extLst>
              <a:ext uri="{FF2B5EF4-FFF2-40B4-BE49-F238E27FC236}">
                <a16:creationId xmlns:a16="http://schemas.microsoft.com/office/drawing/2014/main" id="{6E44E4F1-91E1-A34C-9363-F7A2B962E392}"/>
              </a:ext>
            </a:extLst>
          </p:cNvPr>
          <p:cNvSpPr/>
          <p:nvPr/>
        </p:nvSpPr>
        <p:spPr>
          <a:xfrm>
            <a:off x="3632200" y="1879600"/>
            <a:ext cx="4318000" cy="558800"/>
          </a:xfrm>
          <a:prstGeom prst="rect">
            <a:avLst/>
          </a:prstGeom>
          <a:solidFill>
            <a:srgbClr val="F8F7FC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22" name="risk_marker_0">
            <a:extLst>
              <a:ext uri="{FF2B5EF4-FFF2-40B4-BE49-F238E27FC236}">
                <a16:creationId xmlns:a16="http://schemas.microsoft.com/office/drawing/2014/main" id="{C179264F-DC69-FA4D-9F90-9E0417CA6D00}"/>
              </a:ext>
            </a:extLst>
          </p:cNvPr>
          <p:cNvSpPr/>
          <p:nvPr/>
        </p:nvSpPr>
        <p:spPr>
          <a:xfrm>
            <a:off x="3759200" y="2044700"/>
            <a:ext cx="114300" cy="228600"/>
          </a:xfrm>
          <a:prstGeom prst="rect">
            <a:avLst/>
          </a:prstGeom>
          <a:solidFill>
            <a:srgbClr val="CFC9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23" name="row_label_0">
            <a:extLst>
              <a:ext uri="{FF2B5EF4-FFF2-40B4-BE49-F238E27FC236}">
                <a16:creationId xmlns:a16="http://schemas.microsoft.com/office/drawing/2014/main" id="{1177786C-B6FA-B842-BB48-8EA1909EFC2A}"/>
              </a:ext>
            </a:extLst>
          </p:cNvPr>
          <p:cNvSpPr txBox="1"/>
          <p:nvPr/>
        </p:nvSpPr>
        <p:spPr>
          <a:xfrm>
            <a:off x="4064000" y="1943100"/>
            <a:ext cx="1905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16004B"/>
                </a:solidFill>
                <a:latin typeface="Arial"/>
                <a:cs typeface="Arial"/>
              </a:rPr>
              <a:t>Lower-risk patients</a:t>
            </a:r>
          </a:p>
        </p:txBody>
      </p:sp>
      <p:sp>
        <p:nvSpPr>
          <p:cNvPr id="24" name="row_text_0">
            <a:extLst>
              <a:ext uri="{FF2B5EF4-FFF2-40B4-BE49-F238E27FC236}">
                <a16:creationId xmlns:a16="http://schemas.microsoft.com/office/drawing/2014/main" id="{CD6B282A-B0CC-4549-8B2B-1F6CC7D4C031}"/>
              </a:ext>
            </a:extLst>
          </p:cNvPr>
          <p:cNvSpPr txBox="1"/>
          <p:nvPr/>
        </p:nvSpPr>
        <p:spPr>
          <a:xfrm>
            <a:off x="4064000" y="2159000"/>
            <a:ext cx="368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5B5277"/>
                </a:solidFill>
                <a:latin typeface="Arial"/>
                <a:cs typeface="Arial"/>
              </a:rPr>
              <a:t>relative effect → small absolute benefit</a:t>
            </a:r>
          </a:p>
        </p:txBody>
      </p:sp>
      <p:sp>
        <p:nvSpPr>
          <p:cNvPr id="25" name="row_1">
            <a:extLst>
              <a:ext uri="{FF2B5EF4-FFF2-40B4-BE49-F238E27FC236}">
                <a16:creationId xmlns:a16="http://schemas.microsoft.com/office/drawing/2014/main" id="{F63579C1-08DA-4744-970D-BDB29A17FCC4}"/>
              </a:ext>
            </a:extLst>
          </p:cNvPr>
          <p:cNvSpPr/>
          <p:nvPr/>
        </p:nvSpPr>
        <p:spPr>
          <a:xfrm>
            <a:off x="3632200" y="2514600"/>
            <a:ext cx="4318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26" name="risk_marker_1">
            <a:extLst>
              <a:ext uri="{FF2B5EF4-FFF2-40B4-BE49-F238E27FC236}">
                <a16:creationId xmlns:a16="http://schemas.microsoft.com/office/drawing/2014/main" id="{9F0695C9-2D0F-C342-BC4C-E32236B13A5E}"/>
              </a:ext>
            </a:extLst>
          </p:cNvPr>
          <p:cNvSpPr/>
          <p:nvPr/>
        </p:nvSpPr>
        <p:spPr>
          <a:xfrm>
            <a:off x="3759200" y="2679700"/>
            <a:ext cx="241300" cy="228600"/>
          </a:xfrm>
          <a:prstGeom prst="rect">
            <a:avLst/>
          </a:prstGeom>
          <a:solidFill>
            <a:srgbClr val="F28E2B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27" name="row_label_1">
            <a:extLst>
              <a:ext uri="{FF2B5EF4-FFF2-40B4-BE49-F238E27FC236}">
                <a16:creationId xmlns:a16="http://schemas.microsoft.com/office/drawing/2014/main" id="{75E50DAD-68D7-9840-8FA2-019B07BEB12C}"/>
              </a:ext>
            </a:extLst>
          </p:cNvPr>
          <p:cNvSpPr txBox="1"/>
          <p:nvPr/>
        </p:nvSpPr>
        <p:spPr>
          <a:xfrm>
            <a:off x="4064000" y="2578100"/>
            <a:ext cx="1905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16004B"/>
                </a:solidFill>
                <a:latin typeface="Arial"/>
                <a:cs typeface="Arial"/>
              </a:rPr>
              <a:t>Trial average</a:t>
            </a:r>
          </a:p>
        </p:txBody>
      </p:sp>
      <p:sp>
        <p:nvSpPr>
          <p:cNvPr id="28" name="row_text_1">
            <a:extLst>
              <a:ext uri="{FF2B5EF4-FFF2-40B4-BE49-F238E27FC236}">
                <a16:creationId xmlns:a16="http://schemas.microsoft.com/office/drawing/2014/main" id="{C7A31D38-12B5-D448-8AB7-078299E478A0}"/>
              </a:ext>
            </a:extLst>
          </p:cNvPr>
          <p:cNvSpPr txBox="1"/>
          <p:nvPr/>
        </p:nvSpPr>
        <p:spPr>
          <a:xfrm>
            <a:off x="4064000" y="2794000"/>
            <a:ext cx="368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5B5277"/>
                </a:solidFill>
                <a:latin typeface="Arial"/>
                <a:cs typeface="Arial"/>
              </a:rPr>
              <a:t>one ARR/NNT for the whole enrolled group</a:t>
            </a:r>
          </a:p>
        </p:txBody>
      </p:sp>
      <p:sp>
        <p:nvSpPr>
          <p:cNvPr id="29" name="row_2">
            <a:extLst>
              <a:ext uri="{FF2B5EF4-FFF2-40B4-BE49-F238E27FC236}">
                <a16:creationId xmlns:a16="http://schemas.microsoft.com/office/drawing/2014/main" id="{691DC579-2184-C845-B67D-5BDAC7E04F46}"/>
              </a:ext>
            </a:extLst>
          </p:cNvPr>
          <p:cNvSpPr/>
          <p:nvPr/>
        </p:nvSpPr>
        <p:spPr>
          <a:xfrm>
            <a:off x="3632200" y="3149600"/>
            <a:ext cx="4318000" cy="558800"/>
          </a:xfrm>
          <a:prstGeom prst="rect">
            <a:avLst/>
          </a:prstGeom>
          <a:solidFill>
            <a:srgbClr val="F8F7FC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30" name="risk_marker_2">
            <a:extLst>
              <a:ext uri="{FF2B5EF4-FFF2-40B4-BE49-F238E27FC236}">
                <a16:creationId xmlns:a16="http://schemas.microsoft.com/office/drawing/2014/main" id="{3452AC50-650D-7C48-A9C0-EB6CBC04286D}"/>
              </a:ext>
            </a:extLst>
          </p:cNvPr>
          <p:cNvSpPr/>
          <p:nvPr/>
        </p:nvSpPr>
        <p:spPr>
          <a:xfrm>
            <a:off x="3759200" y="3314700"/>
            <a:ext cx="368300" cy="228600"/>
          </a:xfrm>
          <a:prstGeom prst="rect">
            <a:avLst/>
          </a:prstGeom>
          <a:solidFill>
            <a:srgbClr val="11B7B6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31" name="row_label_2">
            <a:extLst>
              <a:ext uri="{FF2B5EF4-FFF2-40B4-BE49-F238E27FC236}">
                <a16:creationId xmlns:a16="http://schemas.microsoft.com/office/drawing/2014/main" id="{A5AFEF54-004D-A34B-87A6-E027323871E6}"/>
              </a:ext>
            </a:extLst>
          </p:cNvPr>
          <p:cNvSpPr txBox="1"/>
          <p:nvPr/>
        </p:nvSpPr>
        <p:spPr>
          <a:xfrm>
            <a:off x="4064000" y="3213100"/>
            <a:ext cx="1905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16004B"/>
                </a:solidFill>
                <a:latin typeface="Arial"/>
                <a:cs typeface="Arial"/>
              </a:rPr>
              <a:t>Higher-risk patients</a:t>
            </a:r>
          </a:p>
        </p:txBody>
      </p:sp>
      <p:sp>
        <p:nvSpPr>
          <p:cNvPr id="32" name="row_text_2">
            <a:extLst>
              <a:ext uri="{FF2B5EF4-FFF2-40B4-BE49-F238E27FC236}">
                <a16:creationId xmlns:a16="http://schemas.microsoft.com/office/drawing/2014/main" id="{971FE198-3E54-E748-AB0B-3BE3E0D1CA57}"/>
              </a:ext>
            </a:extLst>
          </p:cNvPr>
          <p:cNvSpPr txBox="1"/>
          <p:nvPr/>
        </p:nvSpPr>
        <p:spPr>
          <a:xfrm>
            <a:off x="4064000" y="3429000"/>
            <a:ext cx="368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5B5277"/>
                </a:solidFill>
                <a:latin typeface="Arial"/>
                <a:cs typeface="Arial"/>
              </a:rPr>
              <a:t>relative effect → large absolute benefit</a:t>
            </a:r>
          </a:p>
        </p:txBody>
      </p:sp>
      <p:sp>
        <p:nvSpPr>
          <p:cNvPr id="33" name="bottom_takeaway">
            <a:extLst>
              <a:ext uri="{FF2B5EF4-FFF2-40B4-BE49-F238E27FC236}">
                <a16:creationId xmlns:a16="http://schemas.microsoft.com/office/drawing/2014/main" id="{35E9BAC6-2546-1446-9C85-F911F5A6C63F}"/>
              </a:ext>
            </a:extLst>
          </p:cNvPr>
          <p:cNvSpPr/>
          <p:nvPr/>
        </p:nvSpPr>
        <p:spPr>
          <a:xfrm>
            <a:off x="889000" y="3908458"/>
            <a:ext cx="7061200" cy="600042"/>
          </a:xfrm>
          <a:prstGeom prst="rect">
            <a:avLst/>
          </a:prstGeom>
          <a:solidFill>
            <a:srgbClr val="FFF2F1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34" name="takeaway_text">
            <a:extLst>
              <a:ext uri="{FF2B5EF4-FFF2-40B4-BE49-F238E27FC236}">
                <a16:creationId xmlns:a16="http://schemas.microsoft.com/office/drawing/2014/main" id="{CB804F5B-7F59-8646-BE5F-BE61DC1EE91B}"/>
              </a:ext>
            </a:extLst>
          </p:cNvPr>
          <p:cNvSpPr txBox="1"/>
          <p:nvPr/>
        </p:nvSpPr>
        <p:spPr>
          <a:xfrm>
            <a:off x="1155700" y="3898900"/>
            <a:ext cx="647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FF5A5F"/>
                </a:solidFill>
                <a:latin typeface="Arial"/>
                <a:cs typeface="Arial"/>
              </a:rPr>
              <a:t>Averages are valid for groups. Personalization can come from risk-defined reference classes, not claimed person-level effects.</a:t>
            </a:r>
          </a:p>
        </p:txBody>
      </p:sp>
    </p:spTree>
    <p:extLst>
      <p:ext uri="{BB962C8B-B14F-4D97-AF65-F5344CB8AC3E}">
        <p14:creationId xmlns:p14="http://schemas.microsoft.com/office/powerpoint/2010/main" val="3231451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anvas">
            <a:extLst>
              <a:ext uri="{FF2B5EF4-FFF2-40B4-BE49-F238E27FC236}">
                <a16:creationId xmlns:a16="http://schemas.microsoft.com/office/drawing/2014/main" id="{B24E811B-CB37-0E45-88E6-886020B9B8D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2" name="left_rail">
            <a:extLst>
              <a:ext uri="{FF2B5EF4-FFF2-40B4-BE49-F238E27FC236}">
                <a16:creationId xmlns:a16="http://schemas.microsoft.com/office/drawing/2014/main" id="{EA01670F-72D8-1047-838F-E9028BED9367}"/>
              </a:ext>
            </a:extLst>
          </p:cNvPr>
          <p:cNvSpPr/>
          <p:nvPr/>
        </p:nvSpPr>
        <p:spPr>
          <a:xfrm>
            <a:off x="368300" y="736600"/>
            <a:ext cx="57150" cy="3644900"/>
          </a:xfrm>
          <a:prstGeom prst="rect">
            <a:avLst/>
          </a:prstGeom>
          <a:solidFill>
            <a:srgbClr val="4F00E9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3" name="kicker">
            <a:extLst>
              <a:ext uri="{FF2B5EF4-FFF2-40B4-BE49-F238E27FC236}">
                <a16:creationId xmlns:a16="http://schemas.microsoft.com/office/drawing/2014/main" id="{053AED22-741E-0648-AC79-C89867DFF662}"/>
              </a:ext>
            </a:extLst>
          </p:cNvPr>
          <p:cNvSpPr txBox="1"/>
          <p:nvPr/>
        </p:nvSpPr>
        <p:spPr>
          <a:xfrm>
            <a:off x="609600" y="355600"/>
            <a:ext cx="27940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A00E2"/>
                </a:solidFill>
                <a:latin typeface="Arial"/>
                <a:cs typeface="Arial"/>
              </a:rPr>
              <a:t>ACT | RISK-BASED TREATMENT</a:t>
            </a:r>
          </a:p>
        </p:txBody>
      </p:sp>
      <p:sp>
        <p:nvSpPr>
          <p:cNvPr id="44" name="title">
            <a:extLst>
              <a:ext uri="{FF2B5EF4-FFF2-40B4-BE49-F238E27FC236}">
                <a16:creationId xmlns:a16="http://schemas.microsoft.com/office/drawing/2014/main" id="{2C67AF98-7A4A-9B40-9891-40E6B33805AF}"/>
              </a:ext>
            </a:extLst>
          </p:cNvPr>
          <p:cNvSpPr txBox="1"/>
          <p:nvPr/>
        </p:nvSpPr>
        <p:spPr>
          <a:xfrm>
            <a:off x="609600" y="609600"/>
            <a:ext cx="8064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110057"/>
                </a:solidFill>
                <a:latin typeface="Arial"/>
                <a:cs typeface="Arial"/>
              </a:rPr>
              <a:t>Baseline risk turns one relative effect into different NNTs</a:t>
            </a:r>
          </a:p>
        </p:txBody>
      </p:sp>
      <p:sp>
        <p:nvSpPr>
          <p:cNvPr id="46" name="subtitle">
            <a:extLst>
              <a:ext uri="{FF2B5EF4-FFF2-40B4-BE49-F238E27FC236}">
                <a16:creationId xmlns:a16="http://schemas.microsoft.com/office/drawing/2014/main" id="{D69F4B55-0374-5043-936C-6473AFA6DFF0}"/>
              </a:ext>
            </a:extLst>
          </p:cNvPr>
          <p:cNvSpPr txBox="1"/>
          <p:nvPr/>
        </p:nvSpPr>
        <p:spPr>
          <a:xfrm>
            <a:off x="889000" y="1397000"/>
            <a:ext cx="762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0">
                <a:solidFill>
                  <a:srgbClr val="5F6B7A"/>
                </a:solidFill>
                <a:latin typeface="Arial"/>
                <a:cs typeface="Arial"/>
              </a:rPr>
              <a:t>If relative risk reduction is stable, absolute risk reduction still scales with baseline risk.</a:t>
            </a:r>
          </a:p>
        </p:txBody>
      </p:sp>
      <p:sp>
        <p:nvSpPr>
          <p:cNvPr id="47" name="hdr_0">
            <a:extLst>
              <a:ext uri="{FF2B5EF4-FFF2-40B4-BE49-F238E27FC236}">
                <a16:creationId xmlns:a16="http://schemas.microsoft.com/office/drawing/2014/main" id="{C9F2D5EA-2D88-2949-A5B4-66903089E07A}"/>
              </a:ext>
            </a:extLst>
          </p:cNvPr>
          <p:cNvSpPr/>
          <p:nvPr/>
        </p:nvSpPr>
        <p:spPr>
          <a:xfrm>
            <a:off x="914400" y="1714500"/>
            <a:ext cx="1625600" cy="431800"/>
          </a:xfrm>
          <a:prstGeom prst="rect">
            <a:avLst/>
          </a:prstGeom>
          <a:solidFill>
            <a:srgbClr val="4F00E9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8" name="hdr_text_0">
            <a:extLst>
              <a:ext uri="{FF2B5EF4-FFF2-40B4-BE49-F238E27FC236}">
                <a16:creationId xmlns:a16="http://schemas.microsoft.com/office/drawing/2014/main" id="{3D1A1E59-4CBA-7441-AEEC-939720248E41}"/>
              </a:ext>
            </a:extLst>
          </p:cNvPr>
          <p:cNvSpPr txBox="1"/>
          <p:nvPr/>
        </p:nvSpPr>
        <p:spPr>
          <a:xfrm>
            <a:off x="1003300" y="1841500"/>
            <a:ext cx="14478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Baseline risk</a:t>
            </a:r>
          </a:p>
        </p:txBody>
      </p:sp>
      <p:sp>
        <p:nvSpPr>
          <p:cNvPr id="49" name="hdr_1">
            <a:extLst>
              <a:ext uri="{FF2B5EF4-FFF2-40B4-BE49-F238E27FC236}">
                <a16:creationId xmlns:a16="http://schemas.microsoft.com/office/drawing/2014/main" id="{49BD74B3-DF5D-4449-964A-7793B1BFA11C}"/>
              </a:ext>
            </a:extLst>
          </p:cNvPr>
          <p:cNvSpPr/>
          <p:nvPr/>
        </p:nvSpPr>
        <p:spPr>
          <a:xfrm>
            <a:off x="2540000" y="1714500"/>
            <a:ext cx="1295400" cy="431800"/>
          </a:xfrm>
          <a:prstGeom prst="rect">
            <a:avLst/>
          </a:prstGeom>
          <a:solidFill>
            <a:srgbClr val="4F00E9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0" name="hdr_text_1">
            <a:extLst>
              <a:ext uri="{FF2B5EF4-FFF2-40B4-BE49-F238E27FC236}">
                <a16:creationId xmlns:a16="http://schemas.microsoft.com/office/drawing/2014/main" id="{6657581B-21AB-8E46-98A9-A5467DD36FF7}"/>
              </a:ext>
            </a:extLst>
          </p:cNvPr>
          <p:cNvSpPr txBox="1"/>
          <p:nvPr/>
        </p:nvSpPr>
        <p:spPr>
          <a:xfrm>
            <a:off x="2628900" y="1841500"/>
            <a:ext cx="11176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RR</a:t>
            </a:r>
          </a:p>
        </p:txBody>
      </p:sp>
      <p:sp>
        <p:nvSpPr>
          <p:cNvPr id="51" name="hdr_2">
            <a:extLst>
              <a:ext uri="{FF2B5EF4-FFF2-40B4-BE49-F238E27FC236}">
                <a16:creationId xmlns:a16="http://schemas.microsoft.com/office/drawing/2014/main" id="{AB8212FB-3605-5D49-98B9-B6813EC5EA63}"/>
              </a:ext>
            </a:extLst>
          </p:cNvPr>
          <p:cNvSpPr/>
          <p:nvPr/>
        </p:nvSpPr>
        <p:spPr>
          <a:xfrm>
            <a:off x="3835400" y="1714500"/>
            <a:ext cx="1524000" cy="431800"/>
          </a:xfrm>
          <a:prstGeom prst="rect">
            <a:avLst/>
          </a:prstGeom>
          <a:solidFill>
            <a:srgbClr val="4F00E9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2" name="hdr_text_2">
            <a:extLst>
              <a:ext uri="{FF2B5EF4-FFF2-40B4-BE49-F238E27FC236}">
                <a16:creationId xmlns:a16="http://schemas.microsoft.com/office/drawing/2014/main" id="{9B8B989D-665E-9C4E-9E1D-B10D22BF9AC1}"/>
              </a:ext>
            </a:extLst>
          </p:cNvPr>
          <p:cNvSpPr txBox="1"/>
          <p:nvPr/>
        </p:nvSpPr>
        <p:spPr>
          <a:xfrm>
            <a:off x="3924300" y="1841500"/>
            <a:ext cx="13462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Treatment risk</a:t>
            </a:r>
          </a:p>
        </p:txBody>
      </p:sp>
      <p:sp>
        <p:nvSpPr>
          <p:cNvPr id="53" name="hdr_3">
            <a:extLst>
              <a:ext uri="{FF2B5EF4-FFF2-40B4-BE49-F238E27FC236}">
                <a16:creationId xmlns:a16="http://schemas.microsoft.com/office/drawing/2014/main" id="{979DAC5C-10E3-B34D-8093-E59C2DBCD7A9}"/>
              </a:ext>
            </a:extLst>
          </p:cNvPr>
          <p:cNvSpPr/>
          <p:nvPr/>
        </p:nvSpPr>
        <p:spPr>
          <a:xfrm>
            <a:off x="5359400" y="1714500"/>
            <a:ext cx="1270000" cy="431800"/>
          </a:xfrm>
          <a:prstGeom prst="rect">
            <a:avLst/>
          </a:prstGeom>
          <a:solidFill>
            <a:srgbClr val="4F00E9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4" name="hdr_text_3">
            <a:extLst>
              <a:ext uri="{FF2B5EF4-FFF2-40B4-BE49-F238E27FC236}">
                <a16:creationId xmlns:a16="http://schemas.microsoft.com/office/drawing/2014/main" id="{A041EAF7-F36A-C747-96D3-C2AF1BDC65A5}"/>
              </a:ext>
            </a:extLst>
          </p:cNvPr>
          <p:cNvSpPr txBox="1"/>
          <p:nvPr/>
        </p:nvSpPr>
        <p:spPr>
          <a:xfrm>
            <a:off x="5448300" y="1841500"/>
            <a:ext cx="10922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ARR</a:t>
            </a:r>
          </a:p>
        </p:txBody>
      </p:sp>
      <p:sp>
        <p:nvSpPr>
          <p:cNvPr id="55" name="hdr_4">
            <a:extLst>
              <a:ext uri="{FF2B5EF4-FFF2-40B4-BE49-F238E27FC236}">
                <a16:creationId xmlns:a16="http://schemas.microsoft.com/office/drawing/2014/main" id="{3636F58D-76BE-E14B-885B-E276E1F6F584}"/>
              </a:ext>
            </a:extLst>
          </p:cNvPr>
          <p:cNvSpPr/>
          <p:nvPr/>
        </p:nvSpPr>
        <p:spPr>
          <a:xfrm>
            <a:off x="6629400" y="1714500"/>
            <a:ext cx="1168400" cy="431800"/>
          </a:xfrm>
          <a:prstGeom prst="rect">
            <a:avLst/>
          </a:prstGeom>
          <a:solidFill>
            <a:srgbClr val="4F00E9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6" name="hdr_text_4">
            <a:extLst>
              <a:ext uri="{FF2B5EF4-FFF2-40B4-BE49-F238E27FC236}">
                <a16:creationId xmlns:a16="http://schemas.microsoft.com/office/drawing/2014/main" id="{367CC4AD-477F-1A41-899A-8FDF3CBC8185}"/>
              </a:ext>
            </a:extLst>
          </p:cNvPr>
          <p:cNvSpPr txBox="1"/>
          <p:nvPr/>
        </p:nvSpPr>
        <p:spPr>
          <a:xfrm>
            <a:off x="6718300" y="1841500"/>
            <a:ext cx="9906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NNT</a:t>
            </a:r>
          </a:p>
        </p:txBody>
      </p:sp>
      <p:sp>
        <p:nvSpPr>
          <p:cNvPr id="57" name="cell_0_0">
            <a:extLst>
              <a:ext uri="{FF2B5EF4-FFF2-40B4-BE49-F238E27FC236}">
                <a16:creationId xmlns:a16="http://schemas.microsoft.com/office/drawing/2014/main" id="{900111AB-0869-1449-8DCC-0EDB6A7B557C}"/>
              </a:ext>
            </a:extLst>
          </p:cNvPr>
          <p:cNvSpPr/>
          <p:nvPr/>
        </p:nvSpPr>
        <p:spPr>
          <a:xfrm>
            <a:off x="914400" y="2146300"/>
            <a:ext cx="16256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8" name="cell_text_0_0">
            <a:extLst>
              <a:ext uri="{FF2B5EF4-FFF2-40B4-BE49-F238E27FC236}">
                <a16:creationId xmlns:a16="http://schemas.microsoft.com/office/drawing/2014/main" id="{77D33ACE-2DFC-344E-B515-F058B0E927A3}"/>
              </a:ext>
            </a:extLst>
          </p:cNvPr>
          <p:cNvSpPr txBox="1"/>
          <p:nvPr/>
        </p:nvSpPr>
        <p:spPr>
          <a:xfrm>
            <a:off x="1003300" y="2286000"/>
            <a:ext cx="14478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4B"/>
                </a:solidFill>
                <a:latin typeface="Arial"/>
                <a:cs typeface="Arial"/>
              </a:rPr>
              <a:t>2%</a:t>
            </a:r>
          </a:p>
        </p:txBody>
      </p:sp>
      <p:sp>
        <p:nvSpPr>
          <p:cNvPr id="59" name="cell_0_1">
            <a:extLst>
              <a:ext uri="{FF2B5EF4-FFF2-40B4-BE49-F238E27FC236}">
                <a16:creationId xmlns:a16="http://schemas.microsoft.com/office/drawing/2014/main" id="{592B95B4-6069-544E-A125-ED02DCE91088}"/>
              </a:ext>
            </a:extLst>
          </p:cNvPr>
          <p:cNvSpPr/>
          <p:nvPr/>
        </p:nvSpPr>
        <p:spPr>
          <a:xfrm>
            <a:off x="2540000" y="2146300"/>
            <a:ext cx="1295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0" name="cell_text_0_1">
            <a:extLst>
              <a:ext uri="{FF2B5EF4-FFF2-40B4-BE49-F238E27FC236}">
                <a16:creationId xmlns:a16="http://schemas.microsoft.com/office/drawing/2014/main" id="{2D58580C-4192-2348-B98D-D00ACCD5D6E7}"/>
              </a:ext>
            </a:extLst>
          </p:cNvPr>
          <p:cNvSpPr txBox="1"/>
          <p:nvPr/>
        </p:nvSpPr>
        <p:spPr>
          <a:xfrm>
            <a:off x="2628900" y="2286000"/>
            <a:ext cx="11176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6004B"/>
                </a:solidFill>
                <a:latin typeface="Arial"/>
                <a:cs typeface="Arial"/>
              </a:rPr>
              <a:t>0.80</a:t>
            </a:r>
          </a:p>
        </p:txBody>
      </p:sp>
      <p:sp>
        <p:nvSpPr>
          <p:cNvPr id="61" name="cell_0_2">
            <a:extLst>
              <a:ext uri="{FF2B5EF4-FFF2-40B4-BE49-F238E27FC236}">
                <a16:creationId xmlns:a16="http://schemas.microsoft.com/office/drawing/2014/main" id="{B87C6D9F-08F6-6C49-B72D-12C9A4AAC83A}"/>
              </a:ext>
            </a:extLst>
          </p:cNvPr>
          <p:cNvSpPr/>
          <p:nvPr/>
        </p:nvSpPr>
        <p:spPr>
          <a:xfrm>
            <a:off x="3835400" y="2146300"/>
            <a:ext cx="1524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2" name="cell_text_0_2">
            <a:extLst>
              <a:ext uri="{FF2B5EF4-FFF2-40B4-BE49-F238E27FC236}">
                <a16:creationId xmlns:a16="http://schemas.microsoft.com/office/drawing/2014/main" id="{24CFF808-C6AE-D646-8138-9D83124C3364}"/>
              </a:ext>
            </a:extLst>
          </p:cNvPr>
          <p:cNvSpPr txBox="1"/>
          <p:nvPr/>
        </p:nvSpPr>
        <p:spPr>
          <a:xfrm>
            <a:off x="3924300" y="2286000"/>
            <a:ext cx="13462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6004B"/>
                </a:solidFill>
                <a:latin typeface="Arial"/>
                <a:cs typeface="Arial"/>
              </a:rPr>
              <a:t>1.6%</a:t>
            </a:r>
          </a:p>
        </p:txBody>
      </p:sp>
      <p:sp>
        <p:nvSpPr>
          <p:cNvPr id="63" name="cell_0_3">
            <a:extLst>
              <a:ext uri="{FF2B5EF4-FFF2-40B4-BE49-F238E27FC236}">
                <a16:creationId xmlns:a16="http://schemas.microsoft.com/office/drawing/2014/main" id="{19D0093A-5203-804A-B542-1829E9EA7959}"/>
              </a:ext>
            </a:extLst>
          </p:cNvPr>
          <p:cNvSpPr/>
          <p:nvPr/>
        </p:nvSpPr>
        <p:spPr>
          <a:xfrm>
            <a:off x="5359400" y="2146300"/>
            <a:ext cx="1270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4" name="cell_text_0_3">
            <a:extLst>
              <a:ext uri="{FF2B5EF4-FFF2-40B4-BE49-F238E27FC236}">
                <a16:creationId xmlns:a16="http://schemas.microsoft.com/office/drawing/2014/main" id="{654165C1-2378-A64C-A8FA-101FB78A614A}"/>
              </a:ext>
            </a:extLst>
          </p:cNvPr>
          <p:cNvSpPr txBox="1"/>
          <p:nvPr/>
        </p:nvSpPr>
        <p:spPr>
          <a:xfrm>
            <a:off x="5448300" y="2286000"/>
            <a:ext cx="10922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4B"/>
                </a:solidFill>
                <a:latin typeface="Arial"/>
                <a:cs typeface="Arial"/>
              </a:rPr>
              <a:t>0.4%</a:t>
            </a:r>
          </a:p>
        </p:txBody>
      </p:sp>
      <p:sp>
        <p:nvSpPr>
          <p:cNvPr id="65" name="cell_0_4">
            <a:extLst>
              <a:ext uri="{FF2B5EF4-FFF2-40B4-BE49-F238E27FC236}">
                <a16:creationId xmlns:a16="http://schemas.microsoft.com/office/drawing/2014/main" id="{8AE0F589-3817-0541-8397-F9440C0AB389}"/>
              </a:ext>
            </a:extLst>
          </p:cNvPr>
          <p:cNvSpPr/>
          <p:nvPr/>
        </p:nvSpPr>
        <p:spPr>
          <a:xfrm>
            <a:off x="6629400" y="2146300"/>
            <a:ext cx="116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6" name="cell_text_0_4">
            <a:extLst>
              <a:ext uri="{FF2B5EF4-FFF2-40B4-BE49-F238E27FC236}">
                <a16:creationId xmlns:a16="http://schemas.microsoft.com/office/drawing/2014/main" id="{C8AA806C-838F-274E-8D45-34DAA2597BB5}"/>
              </a:ext>
            </a:extLst>
          </p:cNvPr>
          <p:cNvSpPr txBox="1"/>
          <p:nvPr/>
        </p:nvSpPr>
        <p:spPr>
          <a:xfrm>
            <a:off x="6718300" y="2286000"/>
            <a:ext cx="9906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4F00E9"/>
                </a:solidFill>
                <a:latin typeface="Arial"/>
                <a:cs typeface="Arial"/>
              </a:rPr>
              <a:t>250</a:t>
            </a:r>
          </a:p>
        </p:txBody>
      </p:sp>
      <p:sp>
        <p:nvSpPr>
          <p:cNvPr id="67" name="cell_1_0">
            <a:extLst>
              <a:ext uri="{FF2B5EF4-FFF2-40B4-BE49-F238E27FC236}">
                <a16:creationId xmlns:a16="http://schemas.microsoft.com/office/drawing/2014/main" id="{A54E73B9-1892-2A4B-9B29-07E78A6535BF}"/>
              </a:ext>
            </a:extLst>
          </p:cNvPr>
          <p:cNvSpPr/>
          <p:nvPr/>
        </p:nvSpPr>
        <p:spPr>
          <a:xfrm>
            <a:off x="914400" y="2628900"/>
            <a:ext cx="1625600" cy="482600"/>
          </a:xfrm>
          <a:prstGeom prst="rect">
            <a:avLst/>
          </a:prstGeom>
          <a:solidFill>
            <a:srgbClr val="F8F7FC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68" name="cell_text_1_0">
            <a:extLst>
              <a:ext uri="{FF2B5EF4-FFF2-40B4-BE49-F238E27FC236}">
                <a16:creationId xmlns:a16="http://schemas.microsoft.com/office/drawing/2014/main" id="{E4264F12-234F-394A-9DF5-09D91D680209}"/>
              </a:ext>
            </a:extLst>
          </p:cNvPr>
          <p:cNvSpPr txBox="1"/>
          <p:nvPr/>
        </p:nvSpPr>
        <p:spPr>
          <a:xfrm>
            <a:off x="1003300" y="2768600"/>
            <a:ext cx="14478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4B"/>
                </a:solidFill>
                <a:latin typeface="Arial"/>
                <a:cs typeface="Arial"/>
              </a:rPr>
              <a:t>20%</a:t>
            </a:r>
          </a:p>
        </p:txBody>
      </p:sp>
      <p:sp>
        <p:nvSpPr>
          <p:cNvPr id="69" name="cell_1_1">
            <a:extLst>
              <a:ext uri="{FF2B5EF4-FFF2-40B4-BE49-F238E27FC236}">
                <a16:creationId xmlns:a16="http://schemas.microsoft.com/office/drawing/2014/main" id="{846F4CA7-83DB-E44F-A657-E5C6A4001F62}"/>
              </a:ext>
            </a:extLst>
          </p:cNvPr>
          <p:cNvSpPr/>
          <p:nvPr/>
        </p:nvSpPr>
        <p:spPr>
          <a:xfrm>
            <a:off x="2540000" y="2628900"/>
            <a:ext cx="1295400" cy="482600"/>
          </a:xfrm>
          <a:prstGeom prst="rect">
            <a:avLst/>
          </a:prstGeom>
          <a:solidFill>
            <a:srgbClr val="F8F7FC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70" name="cell_text_1_1">
            <a:extLst>
              <a:ext uri="{FF2B5EF4-FFF2-40B4-BE49-F238E27FC236}">
                <a16:creationId xmlns:a16="http://schemas.microsoft.com/office/drawing/2014/main" id="{7F9E692F-3A97-BD48-A491-DCBEF9451B22}"/>
              </a:ext>
            </a:extLst>
          </p:cNvPr>
          <p:cNvSpPr txBox="1"/>
          <p:nvPr/>
        </p:nvSpPr>
        <p:spPr>
          <a:xfrm>
            <a:off x="2628900" y="2768600"/>
            <a:ext cx="11176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6004B"/>
                </a:solidFill>
                <a:latin typeface="Arial"/>
                <a:cs typeface="Arial"/>
              </a:rPr>
              <a:t>0.80</a:t>
            </a:r>
          </a:p>
        </p:txBody>
      </p:sp>
      <p:sp>
        <p:nvSpPr>
          <p:cNvPr id="71" name="cell_1_2">
            <a:extLst>
              <a:ext uri="{FF2B5EF4-FFF2-40B4-BE49-F238E27FC236}">
                <a16:creationId xmlns:a16="http://schemas.microsoft.com/office/drawing/2014/main" id="{23458B73-922D-D04F-938D-66B00BCD445F}"/>
              </a:ext>
            </a:extLst>
          </p:cNvPr>
          <p:cNvSpPr/>
          <p:nvPr/>
        </p:nvSpPr>
        <p:spPr>
          <a:xfrm>
            <a:off x="3835400" y="2628900"/>
            <a:ext cx="1524000" cy="482600"/>
          </a:xfrm>
          <a:prstGeom prst="rect">
            <a:avLst/>
          </a:prstGeom>
          <a:solidFill>
            <a:srgbClr val="F8F7FC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72" name="cell_text_1_2">
            <a:extLst>
              <a:ext uri="{FF2B5EF4-FFF2-40B4-BE49-F238E27FC236}">
                <a16:creationId xmlns:a16="http://schemas.microsoft.com/office/drawing/2014/main" id="{25C6DD8A-B427-4849-83E6-AC9141169773}"/>
              </a:ext>
            </a:extLst>
          </p:cNvPr>
          <p:cNvSpPr txBox="1"/>
          <p:nvPr/>
        </p:nvSpPr>
        <p:spPr>
          <a:xfrm>
            <a:off x="3924300" y="2768600"/>
            <a:ext cx="13462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6004B"/>
                </a:solidFill>
                <a:latin typeface="Arial"/>
                <a:cs typeface="Arial"/>
              </a:rPr>
              <a:t>16%</a:t>
            </a:r>
          </a:p>
        </p:txBody>
      </p:sp>
      <p:sp>
        <p:nvSpPr>
          <p:cNvPr id="73" name="cell_1_3">
            <a:extLst>
              <a:ext uri="{FF2B5EF4-FFF2-40B4-BE49-F238E27FC236}">
                <a16:creationId xmlns:a16="http://schemas.microsoft.com/office/drawing/2014/main" id="{116E9A94-EEAF-554B-96A1-228743AC346B}"/>
              </a:ext>
            </a:extLst>
          </p:cNvPr>
          <p:cNvSpPr/>
          <p:nvPr/>
        </p:nvSpPr>
        <p:spPr>
          <a:xfrm>
            <a:off x="5359400" y="2628900"/>
            <a:ext cx="1270000" cy="482600"/>
          </a:xfrm>
          <a:prstGeom prst="rect">
            <a:avLst/>
          </a:prstGeom>
          <a:solidFill>
            <a:srgbClr val="F8F7FC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74" name="cell_text_1_3">
            <a:extLst>
              <a:ext uri="{FF2B5EF4-FFF2-40B4-BE49-F238E27FC236}">
                <a16:creationId xmlns:a16="http://schemas.microsoft.com/office/drawing/2014/main" id="{51C805AD-2AFA-0D40-86CF-E1B600B4FEFD}"/>
              </a:ext>
            </a:extLst>
          </p:cNvPr>
          <p:cNvSpPr txBox="1"/>
          <p:nvPr/>
        </p:nvSpPr>
        <p:spPr>
          <a:xfrm>
            <a:off x="5448300" y="2768600"/>
            <a:ext cx="10922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4B"/>
                </a:solidFill>
                <a:latin typeface="Arial"/>
                <a:cs typeface="Arial"/>
              </a:rPr>
              <a:t>4%</a:t>
            </a:r>
          </a:p>
        </p:txBody>
      </p:sp>
      <p:sp>
        <p:nvSpPr>
          <p:cNvPr id="75" name="cell_1_4">
            <a:extLst>
              <a:ext uri="{FF2B5EF4-FFF2-40B4-BE49-F238E27FC236}">
                <a16:creationId xmlns:a16="http://schemas.microsoft.com/office/drawing/2014/main" id="{572ABDDA-BF42-5842-8625-32007B7AF872}"/>
              </a:ext>
            </a:extLst>
          </p:cNvPr>
          <p:cNvSpPr/>
          <p:nvPr/>
        </p:nvSpPr>
        <p:spPr>
          <a:xfrm>
            <a:off x="6629400" y="2628900"/>
            <a:ext cx="1168400" cy="482600"/>
          </a:xfrm>
          <a:prstGeom prst="rect">
            <a:avLst/>
          </a:prstGeom>
          <a:solidFill>
            <a:srgbClr val="F8F7FC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76" name="cell_text_1_4">
            <a:extLst>
              <a:ext uri="{FF2B5EF4-FFF2-40B4-BE49-F238E27FC236}">
                <a16:creationId xmlns:a16="http://schemas.microsoft.com/office/drawing/2014/main" id="{469DCDA3-666B-C642-A1B6-2F38F6469506}"/>
              </a:ext>
            </a:extLst>
          </p:cNvPr>
          <p:cNvSpPr txBox="1"/>
          <p:nvPr/>
        </p:nvSpPr>
        <p:spPr>
          <a:xfrm>
            <a:off x="6718300" y="2768600"/>
            <a:ext cx="9906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4F00E9"/>
                </a:solidFill>
                <a:latin typeface="Arial"/>
                <a:cs typeface="Arial"/>
              </a:rPr>
              <a:t>25</a:t>
            </a:r>
          </a:p>
        </p:txBody>
      </p:sp>
      <p:sp>
        <p:nvSpPr>
          <p:cNvPr id="77" name="cell_2_0">
            <a:extLst>
              <a:ext uri="{FF2B5EF4-FFF2-40B4-BE49-F238E27FC236}">
                <a16:creationId xmlns:a16="http://schemas.microsoft.com/office/drawing/2014/main" id="{24D609A4-BB65-FC47-A515-D0B399D91365}"/>
              </a:ext>
            </a:extLst>
          </p:cNvPr>
          <p:cNvSpPr/>
          <p:nvPr/>
        </p:nvSpPr>
        <p:spPr>
          <a:xfrm>
            <a:off x="914400" y="3111500"/>
            <a:ext cx="16256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78" name="cell_text_2_0">
            <a:extLst>
              <a:ext uri="{FF2B5EF4-FFF2-40B4-BE49-F238E27FC236}">
                <a16:creationId xmlns:a16="http://schemas.microsoft.com/office/drawing/2014/main" id="{457239B2-4AAF-934A-957D-98709E7B8545}"/>
              </a:ext>
            </a:extLst>
          </p:cNvPr>
          <p:cNvSpPr txBox="1"/>
          <p:nvPr/>
        </p:nvSpPr>
        <p:spPr>
          <a:xfrm>
            <a:off x="1003300" y="3251200"/>
            <a:ext cx="14478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4B"/>
                </a:solidFill>
                <a:latin typeface="Arial"/>
                <a:cs typeface="Arial"/>
              </a:rPr>
              <a:t>40%</a:t>
            </a:r>
          </a:p>
        </p:txBody>
      </p:sp>
      <p:sp>
        <p:nvSpPr>
          <p:cNvPr id="79" name="cell_2_1">
            <a:extLst>
              <a:ext uri="{FF2B5EF4-FFF2-40B4-BE49-F238E27FC236}">
                <a16:creationId xmlns:a16="http://schemas.microsoft.com/office/drawing/2014/main" id="{E5CBDCA8-81A7-3044-B330-CA45ACA40F84}"/>
              </a:ext>
            </a:extLst>
          </p:cNvPr>
          <p:cNvSpPr/>
          <p:nvPr/>
        </p:nvSpPr>
        <p:spPr>
          <a:xfrm>
            <a:off x="2540000" y="3111500"/>
            <a:ext cx="1295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0" name="cell_text_2_1">
            <a:extLst>
              <a:ext uri="{FF2B5EF4-FFF2-40B4-BE49-F238E27FC236}">
                <a16:creationId xmlns:a16="http://schemas.microsoft.com/office/drawing/2014/main" id="{AA0FD790-836E-9041-86A3-122F00998489}"/>
              </a:ext>
            </a:extLst>
          </p:cNvPr>
          <p:cNvSpPr txBox="1"/>
          <p:nvPr/>
        </p:nvSpPr>
        <p:spPr>
          <a:xfrm>
            <a:off x="2628900" y="3251200"/>
            <a:ext cx="11176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6004B"/>
                </a:solidFill>
                <a:latin typeface="Arial"/>
                <a:cs typeface="Arial"/>
              </a:rPr>
              <a:t>0.80</a:t>
            </a:r>
          </a:p>
        </p:txBody>
      </p:sp>
      <p:sp>
        <p:nvSpPr>
          <p:cNvPr id="81" name="cell_2_2">
            <a:extLst>
              <a:ext uri="{FF2B5EF4-FFF2-40B4-BE49-F238E27FC236}">
                <a16:creationId xmlns:a16="http://schemas.microsoft.com/office/drawing/2014/main" id="{F6868748-A14C-3E45-8A1E-3061F4981DBE}"/>
              </a:ext>
            </a:extLst>
          </p:cNvPr>
          <p:cNvSpPr/>
          <p:nvPr/>
        </p:nvSpPr>
        <p:spPr>
          <a:xfrm>
            <a:off x="3835400" y="3111500"/>
            <a:ext cx="1524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2" name="cell_text_2_2">
            <a:extLst>
              <a:ext uri="{FF2B5EF4-FFF2-40B4-BE49-F238E27FC236}">
                <a16:creationId xmlns:a16="http://schemas.microsoft.com/office/drawing/2014/main" id="{3ED3BD57-7BA4-B741-9AFC-54827766E287}"/>
              </a:ext>
            </a:extLst>
          </p:cNvPr>
          <p:cNvSpPr txBox="1"/>
          <p:nvPr/>
        </p:nvSpPr>
        <p:spPr>
          <a:xfrm>
            <a:off x="3924300" y="3251200"/>
            <a:ext cx="13462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6004B"/>
                </a:solidFill>
                <a:latin typeface="Arial"/>
                <a:cs typeface="Arial"/>
              </a:rPr>
              <a:t>32%</a:t>
            </a:r>
          </a:p>
        </p:txBody>
      </p:sp>
      <p:sp>
        <p:nvSpPr>
          <p:cNvPr id="83" name="cell_2_3">
            <a:extLst>
              <a:ext uri="{FF2B5EF4-FFF2-40B4-BE49-F238E27FC236}">
                <a16:creationId xmlns:a16="http://schemas.microsoft.com/office/drawing/2014/main" id="{F8F45ABA-FB36-F64A-B3C7-AB9E6EB05584}"/>
              </a:ext>
            </a:extLst>
          </p:cNvPr>
          <p:cNvSpPr/>
          <p:nvPr/>
        </p:nvSpPr>
        <p:spPr>
          <a:xfrm>
            <a:off x="5359400" y="3111500"/>
            <a:ext cx="1270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4" name="cell_text_2_3">
            <a:extLst>
              <a:ext uri="{FF2B5EF4-FFF2-40B4-BE49-F238E27FC236}">
                <a16:creationId xmlns:a16="http://schemas.microsoft.com/office/drawing/2014/main" id="{FE4FD08D-8E07-FE4D-B6E7-12FE4A9ABD0F}"/>
              </a:ext>
            </a:extLst>
          </p:cNvPr>
          <p:cNvSpPr txBox="1"/>
          <p:nvPr/>
        </p:nvSpPr>
        <p:spPr>
          <a:xfrm>
            <a:off x="5448300" y="3251200"/>
            <a:ext cx="10922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6004B"/>
                </a:solidFill>
                <a:latin typeface="Arial"/>
                <a:cs typeface="Arial"/>
              </a:rPr>
              <a:t>8%</a:t>
            </a:r>
          </a:p>
        </p:txBody>
      </p:sp>
      <p:sp>
        <p:nvSpPr>
          <p:cNvPr id="85" name="cell_2_4">
            <a:extLst>
              <a:ext uri="{FF2B5EF4-FFF2-40B4-BE49-F238E27FC236}">
                <a16:creationId xmlns:a16="http://schemas.microsoft.com/office/drawing/2014/main" id="{1D967DEE-71D3-864C-88B9-98ED6D9AC66F}"/>
              </a:ext>
            </a:extLst>
          </p:cNvPr>
          <p:cNvSpPr/>
          <p:nvPr/>
        </p:nvSpPr>
        <p:spPr>
          <a:xfrm>
            <a:off x="6629400" y="3111500"/>
            <a:ext cx="116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6" name="cell_text_2_4">
            <a:extLst>
              <a:ext uri="{FF2B5EF4-FFF2-40B4-BE49-F238E27FC236}">
                <a16:creationId xmlns:a16="http://schemas.microsoft.com/office/drawing/2014/main" id="{037CD8B3-458C-9946-8E1C-8EDD637CE23F}"/>
              </a:ext>
            </a:extLst>
          </p:cNvPr>
          <p:cNvSpPr txBox="1"/>
          <p:nvPr/>
        </p:nvSpPr>
        <p:spPr>
          <a:xfrm>
            <a:off x="6718300" y="3251200"/>
            <a:ext cx="9906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4F00E9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87" name="risk_curve_bg">
            <a:extLst>
              <a:ext uri="{FF2B5EF4-FFF2-40B4-BE49-F238E27FC236}">
                <a16:creationId xmlns:a16="http://schemas.microsoft.com/office/drawing/2014/main" id="{DEFB98DA-EB0D-5E4E-A3B0-075FFE74A996}"/>
              </a:ext>
            </a:extLst>
          </p:cNvPr>
          <p:cNvSpPr/>
          <p:nvPr/>
        </p:nvSpPr>
        <p:spPr>
          <a:xfrm>
            <a:off x="914400" y="3835400"/>
            <a:ext cx="7213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8" name="curve_title">
            <a:extLst>
              <a:ext uri="{FF2B5EF4-FFF2-40B4-BE49-F238E27FC236}">
                <a16:creationId xmlns:a16="http://schemas.microsoft.com/office/drawing/2014/main" id="{F10B5135-E2B7-1140-ADF5-4E49586DA90E}"/>
              </a:ext>
            </a:extLst>
          </p:cNvPr>
          <p:cNvSpPr txBox="1"/>
          <p:nvPr/>
        </p:nvSpPr>
        <p:spPr>
          <a:xfrm>
            <a:off x="1143000" y="3937000"/>
            <a:ext cx="2222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16004B"/>
                </a:solidFill>
                <a:latin typeface="Arial"/>
                <a:cs typeface="Arial"/>
              </a:rPr>
              <a:t>Baseline risk is distributed, not fixed</a:t>
            </a:r>
          </a:p>
        </p:txBody>
      </p:sp>
      <p:sp>
        <p:nvSpPr>
          <p:cNvPr id="89" name="riskbar_0">
            <a:extLst>
              <a:ext uri="{FF2B5EF4-FFF2-40B4-BE49-F238E27FC236}">
                <a16:creationId xmlns:a16="http://schemas.microsoft.com/office/drawing/2014/main" id="{77C362E8-2395-D046-99DB-B7128F69DBB4}"/>
              </a:ext>
            </a:extLst>
          </p:cNvPr>
          <p:cNvSpPr/>
          <p:nvPr/>
        </p:nvSpPr>
        <p:spPr>
          <a:xfrm>
            <a:off x="3429000" y="4267200"/>
            <a:ext cx="48260" cy="38100"/>
          </a:xfrm>
          <a:prstGeom prst="rect">
            <a:avLst/>
          </a:prstGeom>
          <a:solidFill>
            <a:srgbClr val="CFC9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0" name="riskbar_1">
            <a:extLst>
              <a:ext uri="{FF2B5EF4-FFF2-40B4-BE49-F238E27FC236}">
                <a16:creationId xmlns:a16="http://schemas.microsoft.com/office/drawing/2014/main" id="{D55C0C1C-7CCC-0243-904F-CF487F9C9F4A}"/>
              </a:ext>
            </a:extLst>
          </p:cNvPr>
          <p:cNvSpPr/>
          <p:nvPr/>
        </p:nvSpPr>
        <p:spPr>
          <a:xfrm>
            <a:off x="3495040" y="4267198"/>
            <a:ext cx="48260" cy="38101"/>
          </a:xfrm>
          <a:prstGeom prst="rect">
            <a:avLst/>
          </a:prstGeom>
          <a:solidFill>
            <a:srgbClr val="CFC9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1" name="riskbar_2">
            <a:extLst>
              <a:ext uri="{FF2B5EF4-FFF2-40B4-BE49-F238E27FC236}">
                <a16:creationId xmlns:a16="http://schemas.microsoft.com/office/drawing/2014/main" id="{D298A840-F725-1746-B03A-AB057169963C}"/>
              </a:ext>
            </a:extLst>
          </p:cNvPr>
          <p:cNvSpPr/>
          <p:nvPr/>
        </p:nvSpPr>
        <p:spPr>
          <a:xfrm>
            <a:off x="3561079" y="4267187"/>
            <a:ext cx="48260" cy="38112"/>
          </a:xfrm>
          <a:prstGeom prst="rect">
            <a:avLst/>
          </a:prstGeom>
          <a:solidFill>
            <a:srgbClr val="CFC9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2" name="riskbar_3">
            <a:extLst>
              <a:ext uri="{FF2B5EF4-FFF2-40B4-BE49-F238E27FC236}">
                <a16:creationId xmlns:a16="http://schemas.microsoft.com/office/drawing/2014/main" id="{AA003617-CD09-9542-A2D3-7CE3B607E58D}"/>
              </a:ext>
            </a:extLst>
          </p:cNvPr>
          <p:cNvSpPr/>
          <p:nvPr/>
        </p:nvSpPr>
        <p:spPr>
          <a:xfrm>
            <a:off x="3627120" y="4267153"/>
            <a:ext cx="48260" cy="38146"/>
          </a:xfrm>
          <a:prstGeom prst="rect">
            <a:avLst/>
          </a:prstGeom>
          <a:solidFill>
            <a:srgbClr val="CFC9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3" name="riskbar_4">
            <a:extLst>
              <a:ext uri="{FF2B5EF4-FFF2-40B4-BE49-F238E27FC236}">
                <a16:creationId xmlns:a16="http://schemas.microsoft.com/office/drawing/2014/main" id="{6CF627E2-4F14-5448-86CF-5CD4DCEA8F6F}"/>
              </a:ext>
            </a:extLst>
          </p:cNvPr>
          <p:cNvSpPr/>
          <p:nvPr/>
        </p:nvSpPr>
        <p:spPr>
          <a:xfrm>
            <a:off x="3693160" y="4267082"/>
            <a:ext cx="48260" cy="38217"/>
          </a:xfrm>
          <a:prstGeom prst="rect">
            <a:avLst/>
          </a:prstGeom>
          <a:solidFill>
            <a:srgbClr val="CFC9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4" name="riskbar_5">
            <a:extLst>
              <a:ext uri="{FF2B5EF4-FFF2-40B4-BE49-F238E27FC236}">
                <a16:creationId xmlns:a16="http://schemas.microsoft.com/office/drawing/2014/main" id="{56C08BEC-D6DE-8047-B5F3-B089BF6EE9D6}"/>
              </a:ext>
            </a:extLst>
          </p:cNvPr>
          <p:cNvSpPr/>
          <p:nvPr/>
        </p:nvSpPr>
        <p:spPr>
          <a:xfrm>
            <a:off x="3759200" y="4266959"/>
            <a:ext cx="48260" cy="38340"/>
          </a:xfrm>
          <a:prstGeom prst="rect">
            <a:avLst/>
          </a:prstGeom>
          <a:solidFill>
            <a:srgbClr val="CFC9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5" name="riskbar_6">
            <a:extLst>
              <a:ext uri="{FF2B5EF4-FFF2-40B4-BE49-F238E27FC236}">
                <a16:creationId xmlns:a16="http://schemas.microsoft.com/office/drawing/2014/main" id="{D4937496-6AF8-D24B-86DE-00AE73BBB6C1}"/>
              </a:ext>
            </a:extLst>
          </p:cNvPr>
          <p:cNvSpPr/>
          <p:nvPr/>
        </p:nvSpPr>
        <p:spPr>
          <a:xfrm>
            <a:off x="3825240" y="4266768"/>
            <a:ext cx="48260" cy="38531"/>
          </a:xfrm>
          <a:prstGeom prst="rect">
            <a:avLst/>
          </a:prstGeom>
          <a:solidFill>
            <a:srgbClr val="CFC9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6" name="riskbar_7">
            <a:extLst>
              <a:ext uri="{FF2B5EF4-FFF2-40B4-BE49-F238E27FC236}">
                <a16:creationId xmlns:a16="http://schemas.microsoft.com/office/drawing/2014/main" id="{DD37F8D8-793F-954E-88C0-77E1DA7D64FA}"/>
              </a:ext>
            </a:extLst>
          </p:cNvPr>
          <p:cNvSpPr/>
          <p:nvPr/>
        </p:nvSpPr>
        <p:spPr>
          <a:xfrm>
            <a:off x="3891279" y="4266493"/>
            <a:ext cx="48260" cy="38806"/>
          </a:xfrm>
          <a:prstGeom prst="rect">
            <a:avLst/>
          </a:prstGeom>
          <a:solidFill>
            <a:srgbClr val="CFC9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7" name="riskbar_8">
            <a:extLst>
              <a:ext uri="{FF2B5EF4-FFF2-40B4-BE49-F238E27FC236}">
                <a16:creationId xmlns:a16="http://schemas.microsoft.com/office/drawing/2014/main" id="{B70B72E1-D1CA-044A-AC83-63BD4749DD5F}"/>
              </a:ext>
            </a:extLst>
          </p:cNvPr>
          <p:cNvSpPr/>
          <p:nvPr/>
        </p:nvSpPr>
        <p:spPr>
          <a:xfrm>
            <a:off x="3957320" y="4266117"/>
            <a:ext cx="48260" cy="39182"/>
          </a:xfrm>
          <a:prstGeom prst="rect">
            <a:avLst/>
          </a:prstGeom>
          <a:solidFill>
            <a:srgbClr val="CFC9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8" name="riskbar_9">
            <a:extLst>
              <a:ext uri="{FF2B5EF4-FFF2-40B4-BE49-F238E27FC236}">
                <a16:creationId xmlns:a16="http://schemas.microsoft.com/office/drawing/2014/main" id="{9AD776BF-FDFB-ED40-A080-43FBB8CC2DAD}"/>
              </a:ext>
            </a:extLst>
          </p:cNvPr>
          <p:cNvSpPr/>
          <p:nvPr/>
        </p:nvSpPr>
        <p:spPr>
          <a:xfrm>
            <a:off x="4023360" y="4265621"/>
            <a:ext cx="48260" cy="39678"/>
          </a:xfrm>
          <a:prstGeom prst="rect">
            <a:avLst/>
          </a:prstGeom>
          <a:solidFill>
            <a:srgbClr val="CFC9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9" name="riskbar_10">
            <a:extLst>
              <a:ext uri="{FF2B5EF4-FFF2-40B4-BE49-F238E27FC236}">
                <a16:creationId xmlns:a16="http://schemas.microsoft.com/office/drawing/2014/main" id="{BC63AE8C-B229-A446-9510-6413F712D480}"/>
              </a:ext>
            </a:extLst>
          </p:cNvPr>
          <p:cNvSpPr/>
          <p:nvPr/>
        </p:nvSpPr>
        <p:spPr>
          <a:xfrm>
            <a:off x="4089400" y="4264988"/>
            <a:ext cx="48260" cy="40311"/>
          </a:xfrm>
          <a:prstGeom prst="rect">
            <a:avLst/>
          </a:prstGeom>
          <a:solidFill>
            <a:srgbClr val="CFC9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0" name="riskbar_11">
            <a:extLst>
              <a:ext uri="{FF2B5EF4-FFF2-40B4-BE49-F238E27FC236}">
                <a16:creationId xmlns:a16="http://schemas.microsoft.com/office/drawing/2014/main" id="{36C8ABCE-099E-384F-9026-484217D10553}"/>
              </a:ext>
            </a:extLst>
          </p:cNvPr>
          <p:cNvSpPr/>
          <p:nvPr/>
        </p:nvSpPr>
        <p:spPr>
          <a:xfrm>
            <a:off x="4155440" y="4264199"/>
            <a:ext cx="48260" cy="41100"/>
          </a:xfrm>
          <a:prstGeom prst="rect">
            <a:avLst/>
          </a:prstGeom>
          <a:solidFill>
            <a:srgbClr val="CFC9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1" name="riskbar_12">
            <a:extLst>
              <a:ext uri="{FF2B5EF4-FFF2-40B4-BE49-F238E27FC236}">
                <a16:creationId xmlns:a16="http://schemas.microsoft.com/office/drawing/2014/main" id="{36820C84-C51F-9E49-B147-6AD7373E5501}"/>
              </a:ext>
            </a:extLst>
          </p:cNvPr>
          <p:cNvSpPr/>
          <p:nvPr/>
        </p:nvSpPr>
        <p:spPr>
          <a:xfrm>
            <a:off x="4221480" y="4263236"/>
            <a:ext cx="48260" cy="42063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2" name="riskbar_13">
            <a:extLst>
              <a:ext uri="{FF2B5EF4-FFF2-40B4-BE49-F238E27FC236}">
                <a16:creationId xmlns:a16="http://schemas.microsoft.com/office/drawing/2014/main" id="{F3313105-36DD-4147-AB06-5898EB35AB49}"/>
              </a:ext>
            </a:extLst>
          </p:cNvPr>
          <p:cNvSpPr/>
          <p:nvPr/>
        </p:nvSpPr>
        <p:spPr>
          <a:xfrm>
            <a:off x="4287520" y="4262079"/>
            <a:ext cx="48260" cy="43220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3" name="riskbar_14">
            <a:extLst>
              <a:ext uri="{FF2B5EF4-FFF2-40B4-BE49-F238E27FC236}">
                <a16:creationId xmlns:a16="http://schemas.microsoft.com/office/drawing/2014/main" id="{44DCA5C5-EA13-9744-93EB-5A41F36D79C5}"/>
              </a:ext>
            </a:extLst>
          </p:cNvPr>
          <p:cNvSpPr/>
          <p:nvPr/>
        </p:nvSpPr>
        <p:spPr>
          <a:xfrm>
            <a:off x="4353560" y="4260708"/>
            <a:ext cx="48260" cy="44591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4" name="riskbar_15">
            <a:extLst>
              <a:ext uri="{FF2B5EF4-FFF2-40B4-BE49-F238E27FC236}">
                <a16:creationId xmlns:a16="http://schemas.microsoft.com/office/drawing/2014/main" id="{EA5A7AD8-42A7-9E45-9553-906A4007A538}"/>
              </a:ext>
            </a:extLst>
          </p:cNvPr>
          <p:cNvSpPr/>
          <p:nvPr/>
        </p:nvSpPr>
        <p:spPr>
          <a:xfrm>
            <a:off x="4419600" y="4259104"/>
            <a:ext cx="48260" cy="46195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5" name="riskbar_16">
            <a:extLst>
              <a:ext uri="{FF2B5EF4-FFF2-40B4-BE49-F238E27FC236}">
                <a16:creationId xmlns:a16="http://schemas.microsoft.com/office/drawing/2014/main" id="{EFC878A3-0460-E54E-A17C-076D0F2AA921}"/>
              </a:ext>
            </a:extLst>
          </p:cNvPr>
          <p:cNvSpPr/>
          <p:nvPr/>
        </p:nvSpPr>
        <p:spPr>
          <a:xfrm>
            <a:off x="4485640" y="4257247"/>
            <a:ext cx="48260" cy="48052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6" name="riskbar_17">
            <a:extLst>
              <a:ext uri="{FF2B5EF4-FFF2-40B4-BE49-F238E27FC236}">
                <a16:creationId xmlns:a16="http://schemas.microsoft.com/office/drawing/2014/main" id="{53834E0A-D30E-9045-A76A-E30326F1CFC3}"/>
              </a:ext>
            </a:extLst>
          </p:cNvPr>
          <p:cNvSpPr/>
          <p:nvPr/>
        </p:nvSpPr>
        <p:spPr>
          <a:xfrm>
            <a:off x="4551680" y="4255117"/>
            <a:ext cx="48260" cy="50182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7" name="riskbar_18">
            <a:extLst>
              <a:ext uri="{FF2B5EF4-FFF2-40B4-BE49-F238E27FC236}">
                <a16:creationId xmlns:a16="http://schemas.microsoft.com/office/drawing/2014/main" id="{49844694-4042-8845-8FB8-FE54E693EA1A}"/>
              </a:ext>
            </a:extLst>
          </p:cNvPr>
          <p:cNvSpPr/>
          <p:nvPr/>
        </p:nvSpPr>
        <p:spPr>
          <a:xfrm>
            <a:off x="4617720" y="4252692"/>
            <a:ext cx="48260" cy="52607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8" name="riskbar_19">
            <a:extLst>
              <a:ext uri="{FF2B5EF4-FFF2-40B4-BE49-F238E27FC236}">
                <a16:creationId xmlns:a16="http://schemas.microsoft.com/office/drawing/2014/main" id="{5EC44C57-DBD4-E240-A02E-E1662087D78D}"/>
              </a:ext>
            </a:extLst>
          </p:cNvPr>
          <p:cNvSpPr/>
          <p:nvPr/>
        </p:nvSpPr>
        <p:spPr>
          <a:xfrm>
            <a:off x="4683760" y="4249951"/>
            <a:ext cx="48260" cy="55348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9" name="riskbar_20">
            <a:extLst>
              <a:ext uri="{FF2B5EF4-FFF2-40B4-BE49-F238E27FC236}">
                <a16:creationId xmlns:a16="http://schemas.microsoft.com/office/drawing/2014/main" id="{B8EB4C2D-5D9B-4445-98BE-9A720A245B30}"/>
              </a:ext>
            </a:extLst>
          </p:cNvPr>
          <p:cNvSpPr/>
          <p:nvPr/>
        </p:nvSpPr>
        <p:spPr>
          <a:xfrm>
            <a:off x="4749800" y="4246875"/>
            <a:ext cx="48260" cy="58424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0" name="riskbar_21">
            <a:extLst>
              <a:ext uri="{FF2B5EF4-FFF2-40B4-BE49-F238E27FC236}">
                <a16:creationId xmlns:a16="http://schemas.microsoft.com/office/drawing/2014/main" id="{79949045-A153-9E4A-982D-B63B159E46F8}"/>
              </a:ext>
            </a:extLst>
          </p:cNvPr>
          <p:cNvSpPr/>
          <p:nvPr/>
        </p:nvSpPr>
        <p:spPr>
          <a:xfrm>
            <a:off x="4815840" y="4243440"/>
            <a:ext cx="48260" cy="61859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1" name="riskbar_22">
            <a:extLst>
              <a:ext uri="{FF2B5EF4-FFF2-40B4-BE49-F238E27FC236}">
                <a16:creationId xmlns:a16="http://schemas.microsoft.com/office/drawing/2014/main" id="{46A805F5-7E65-224D-B779-07343B2F8E5A}"/>
              </a:ext>
            </a:extLst>
          </p:cNvPr>
          <p:cNvSpPr/>
          <p:nvPr/>
        </p:nvSpPr>
        <p:spPr>
          <a:xfrm>
            <a:off x="4881880" y="4239627"/>
            <a:ext cx="48260" cy="65672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2" name="riskbar_23">
            <a:extLst>
              <a:ext uri="{FF2B5EF4-FFF2-40B4-BE49-F238E27FC236}">
                <a16:creationId xmlns:a16="http://schemas.microsoft.com/office/drawing/2014/main" id="{943FAB42-584D-4043-892B-DC93FD382CA7}"/>
              </a:ext>
            </a:extLst>
          </p:cNvPr>
          <p:cNvSpPr/>
          <p:nvPr/>
        </p:nvSpPr>
        <p:spPr>
          <a:xfrm>
            <a:off x="4947920" y="4235412"/>
            <a:ext cx="48260" cy="69887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3" name="riskbar_24">
            <a:extLst>
              <a:ext uri="{FF2B5EF4-FFF2-40B4-BE49-F238E27FC236}">
                <a16:creationId xmlns:a16="http://schemas.microsoft.com/office/drawing/2014/main" id="{2999931E-F3A9-9843-B967-1D81EAA49BE4}"/>
              </a:ext>
            </a:extLst>
          </p:cNvPr>
          <p:cNvSpPr/>
          <p:nvPr/>
        </p:nvSpPr>
        <p:spPr>
          <a:xfrm>
            <a:off x="5013960" y="4230774"/>
            <a:ext cx="48260" cy="74525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4" name="riskbar_25">
            <a:extLst>
              <a:ext uri="{FF2B5EF4-FFF2-40B4-BE49-F238E27FC236}">
                <a16:creationId xmlns:a16="http://schemas.microsoft.com/office/drawing/2014/main" id="{897D90EE-59FB-764F-B848-EB3A4371E802}"/>
              </a:ext>
            </a:extLst>
          </p:cNvPr>
          <p:cNvSpPr/>
          <p:nvPr/>
        </p:nvSpPr>
        <p:spPr>
          <a:xfrm>
            <a:off x="5080000" y="4225691"/>
            <a:ext cx="48260" cy="79608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5" name="riskbar_26">
            <a:extLst>
              <a:ext uri="{FF2B5EF4-FFF2-40B4-BE49-F238E27FC236}">
                <a16:creationId xmlns:a16="http://schemas.microsoft.com/office/drawing/2014/main" id="{08E6AA72-4403-E544-831D-6CE9311C2853}"/>
              </a:ext>
            </a:extLst>
          </p:cNvPr>
          <p:cNvSpPr/>
          <p:nvPr/>
        </p:nvSpPr>
        <p:spPr>
          <a:xfrm>
            <a:off x="5146040" y="4220140"/>
            <a:ext cx="48260" cy="85159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6" name="riskbar_27">
            <a:extLst>
              <a:ext uri="{FF2B5EF4-FFF2-40B4-BE49-F238E27FC236}">
                <a16:creationId xmlns:a16="http://schemas.microsoft.com/office/drawing/2014/main" id="{1285DE50-265E-374C-BA51-E1CC7F1775C9}"/>
              </a:ext>
            </a:extLst>
          </p:cNvPr>
          <p:cNvSpPr/>
          <p:nvPr/>
        </p:nvSpPr>
        <p:spPr>
          <a:xfrm>
            <a:off x="5212080" y="4214100"/>
            <a:ext cx="48260" cy="91199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7" name="riskbar_28">
            <a:extLst>
              <a:ext uri="{FF2B5EF4-FFF2-40B4-BE49-F238E27FC236}">
                <a16:creationId xmlns:a16="http://schemas.microsoft.com/office/drawing/2014/main" id="{804CBC29-AD2B-BB49-83E0-E2D29836DE8A}"/>
              </a:ext>
            </a:extLst>
          </p:cNvPr>
          <p:cNvSpPr/>
          <p:nvPr/>
        </p:nvSpPr>
        <p:spPr>
          <a:xfrm>
            <a:off x="5278120" y="4207546"/>
            <a:ext cx="48260" cy="97753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8" name="riskbar_29">
            <a:extLst>
              <a:ext uri="{FF2B5EF4-FFF2-40B4-BE49-F238E27FC236}">
                <a16:creationId xmlns:a16="http://schemas.microsoft.com/office/drawing/2014/main" id="{B1AEED77-EAD5-6042-AED6-4271DE39D5C7}"/>
              </a:ext>
            </a:extLst>
          </p:cNvPr>
          <p:cNvSpPr/>
          <p:nvPr/>
        </p:nvSpPr>
        <p:spPr>
          <a:xfrm>
            <a:off x="5344160" y="4200457"/>
            <a:ext cx="48260" cy="104842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9" name="riskbar_30">
            <a:extLst>
              <a:ext uri="{FF2B5EF4-FFF2-40B4-BE49-F238E27FC236}">
                <a16:creationId xmlns:a16="http://schemas.microsoft.com/office/drawing/2014/main" id="{A959186D-7BC0-B548-A6CD-009C85E8A482}"/>
              </a:ext>
            </a:extLst>
          </p:cNvPr>
          <p:cNvSpPr/>
          <p:nvPr/>
        </p:nvSpPr>
        <p:spPr>
          <a:xfrm>
            <a:off x="5410200" y="4192809"/>
            <a:ext cx="48260" cy="112490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0" name="riskbar_31">
            <a:extLst>
              <a:ext uri="{FF2B5EF4-FFF2-40B4-BE49-F238E27FC236}">
                <a16:creationId xmlns:a16="http://schemas.microsoft.com/office/drawing/2014/main" id="{54AF6E09-C221-6849-944C-EB51A62A33FA}"/>
              </a:ext>
            </a:extLst>
          </p:cNvPr>
          <p:cNvSpPr/>
          <p:nvPr/>
        </p:nvSpPr>
        <p:spPr>
          <a:xfrm>
            <a:off x="5476240" y="4184579"/>
            <a:ext cx="48260" cy="120720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1" name="riskbar_32">
            <a:extLst>
              <a:ext uri="{FF2B5EF4-FFF2-40B4-BE49-F238E27FC236}">
                <a16:creationId xmlns:a16="http://schemas.microsoft.com/office/drawing/2014/main" id="{F1976FD2-FA9B-0F45-B9C1-F3EE616187F0}"/>
              </a:ext>
            </a:extLst>
          </p:cNvPr>
          <p:cNvSpPr/>
          <p:nvPr/>
        </p:nvSpPr>
        <p:spPr>
          <a:xfrm>
            <a:off x="5542280" y="4175744"/>
            <a:ext cx="48260" cy="129555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2" name="riskbar_33">
            <a:extLst>
              <a:ext uri="{FF2B5EF4-FFF2-40B4-BE49-F238E27FC236}">
                <a16:creationId xmlns:a16="http://schemas.microsoft.com/office/drawing/2014/main" id="{EFDCA0EC-CB9C-F84D-93D4-7E83235DBA09}"/>
              </a:ext>
            </a:extLst>
          </p:cNvPr>
          <p:cNvSpPr/>
          <p:nvPr/>
        </p:nvSpPr>
        <p:spPr>
          <a:xfrm>
            <a:off x="5608320" y="4166280"/>
            <a:ext cx="48260" cy="139019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3" name="riskbar_34">
            <a:extLst>
              <a:ext uri="{FF2B5EF4-FFF2-40B4-BE49-F238E27FC236}">
                <a16:creationId xmlns:a16="http://schemas.microsoft.com/office/drawing/2014/main" id="{0A43FD73-AB12-0F4D-B764-CA999FDA17EB}"/>
              </a:ext>
            </a:extLst>
          </p:cNvPr>
          <p:cNvSpPr/>
          <p:nvPr/>
        </p:nvSpPr>
        <p:spPr>
          <a:xfrm>
            <a:off x="5674360" y="4156164"/>
            <a:ext cx="48260" cy="149135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4" name="riskbar_35">
            <a:extLst>
              <a:ext uri="{FF2B5EF4-FFF2-40B4-BE49-F238E27FC236}">
                <a16:creationId xmlns:a16="http://schemas.microsoft.com/office/drawing/2014/main" id="{5895889F-A6AC-9A42-9087-1224FFB71D9C}"/>
              </a:ext>
            </a:extLst>
          </p:cNvPr>
          <p:cNvSpPr/>
          <p:nvPr/>
        </p:nvSpPr>
        <p:spPr>
          <a:xfrm>
            <a:off x="5740400" y="4145372"/>
            <a:ext cx="48260" cy="159927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5" name="riskbar_36">
            <a:extLst>
              <a:ext uri="{FF2B5EF4-FFF2-40B4-BE49-F238E27FC236}">
                <a16:creationId xmlns:a16="http://schemas.microsoft.com/office/drawing/2014/main" id="{EB5B4EB4-6055-D74A-A317-BD3CCDD61DFE}"/>
              </a:ext>
            </a:extLst>
          </p:cNvPr>
          <p:cNvSpPr/>
          <p:nvPr/>
        </p:nvSpPr>
        <p:spPr>
          <a:xfrm>
            <a:off x="5806440" y="4133879"/>
            <a:ext cx="48260" cy="171420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6" name="riskbar_37">
            <a:extLst>
              <a:ext uri="{FF2B5EF4-FFF2-40B4-BE49-F238E27FC236}">
                <a16:creationId xmlns:a16="http://schemas.microsoft.com/office/drawing/2014/main" id="{CA628ABF-39D2-7A46-9357-7A2C0A2D26E8}"/>
              </a:ext>
            </a:extLst>
          </p:cNvPr>
          <p:cNvSpPr/>
          <p:nvPr/>
        </p:nvSpPr>
        <p:spPr>
          <a:xfrm>
            <a:off x="5872480" y="4121662"/>
            <a:ext cx="48260" cy="183637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7" name="riskbar_38">
            <a:extLst>
              <a:ext uri="{FF2B5EF4-FFF2-40B4-BE49-F238E27FC236}">
                <a16:creationId xmlns:a16="http://schemas.microsoft.com/office/drawing/2014/main" id="{56FECD12-0986-6446-9C3D-70A944F7EFBD}"/>
              </a:ext>
            </a:extLst>
          </p:cNvPr>
          <p:cNvSpPr/>
          <p:nvPr/>
        </p:nvSpPr>
        <p:spPr>
          <a:xfrm>
            <a:off x="5938520" y="4108697"/>
            <a:ext cx="48260" cy="196602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8" name="riskbar_39">
            <a:extLst>
              <a:ext uri="{FF2B5EF4-FFF2-40B4-BE49-F238E27FC236}">
                <a16:creationId xmlns:a16="http://schemas.microsoft.com/office/drawing/2014/main" id="{B10C1E2F-A609-744B-86A0-D18F2C62D672}"/>
              </a:ext>
            </a:extLst>
          </p:cNvPr>
          <p:cNvSpPr/>
          <p:nvPr/>
        </p:nvSpPr>
        <p:spPr>
          <a:xfrm>
            <a:off x="6004560" y="4094959"/>
            <a:ext cx="48260" cy="210340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9" name="riskbar_40">
            <a:extLst>
              <a:ext uri="{FF2B5EF4-FFF2-40B4-BE49-F238E27FC236}">
                <a16:creationId xmlns:a16="http://schemas.microsoft.com/office/drawing/2014/main" id="{C32B5651-63F0-5A4D-8BF4-DF5B6EEE8E5B}"/>
              </a:ext>
            </a:extLst>
          </p:cNvPr>
          <p:cNvSpPr/>
          <p:nvPr/>
        </p:nvSpPr>
        <p:spPr>
          <a:xfrm>
            <a:off x="6070600" y="4080423"/>
            <a:ext cx="48260" cy="224876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0" name="riskbar_41">
            <a:extLst>
              <a:ext uri="{FF2B5EF4-FFF2-40B4-BE49-F238E27FC236}">
                <a16:creationId xmlns:a16="http://schemas.microsoft.com/office/drawing/2014/main" id="{40F035B6-404A-6245-8528-1AE5B2B7E794}"/>
              </a:ext>
            </a:extLst>
          </p:cNvPr>
          <p:cNvSpPr/>
          <p:nvPr/>
        </p:nvSpPr>
        <p:spPr>
          <a:xfrm>
            <a:off x="6136640" y="4065066"/>
            <a:ext cx="48260" cy="240233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1" name="riskbar_42">
            <a:extLst>
              <a:ext uri="{FF2B5EF4-FFF2-40B4-BE49-F238E27FC236}">
                <a16:creationId xmlns:a16="http://schemas.microsoft.com/office/drawing/2014/main" id="{8F2482C6-189F-4849-9AF5-4F9036922013}"/>
              </a:ext>
            </a:extLst>
          </p:cNvPr>
          <p:cNvSpPr/>
          <p:nvPr/>
        </p:nvSpPr>
        <p:spPr>
          <a:xfrm>
            <a:off x="6202680" y="4048863"/>
            <a:ext cx="48260" cy="256436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2" name="riskbar_43">
            <a:extLst>
              <a:ext uri="{FF2B5EF4-FFF2-40B4-BE49-F238E27FC236}">
                <a16:creationId xmlns:a16="http://schemas.microsoft.com/office/drawing/2014/main" id="{1FD56824-37C1-DD4B-9CFD-3E5CBFD48D57}"/>
              </a:ext>
            </a:extLst>
          </p:cNvPr>
          <p:cNvSpPr/>
          <p:nvPr/>
        </p:nvSpPr>
        <p:spPr>
          <a:xfrm>
            <a:off x="6268720" y="4031788"/>
            <a:ext cx="48260" cy="273511"/>
          </a:xfrm>
          <a:prstGeom prst="rect">
            <a:avLst/>
          </a:prstGeom>
          <a:solidFill>
            <a:srgbClr val="B7B0CC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3" name="riskbar_44">
            <a:extLst>
              <a:ext uri="{FF2B5EF4-FFF2-40B4-BE49-F238E27FC236}">
                <a16:creationId xmlns:a16="http://schemas.microsoft.com/office/drawing/2014/main" id="{AAB95716-959E-9F45-98F1-DC702DC1948F}"/>
              </a:ext>
            </a:extLst>
          </p:cNvPr>
          <p:cNvSpPr/>
          <p:nvPr/>
        </p:nvSpPr>
        <p:spPr>
          <a:xfrm>
            <a:off x="6334760" y="4013816"/>
            <a:ext cx="48260" cy="291483"/>
          </a:xfrm>
          <a:prstGeom prst="rect">
            <a:avLst/>
          </a:prstGeom>
          <a:solidFill>
            <a:srgbClr val="11B7B6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4" name="riskbar_45">
            <a:extLst>
              <a:ext uri="{FF2B5EF4-FFF2-40B4-BE49-F238E27FC236}">
                <a16:creationId xmlns:a16="http://schemas.microsoft.com/office/drawing/2014/main" id="{9FAC763B-E58E-8C43-99DA-109E5AC97334}"/>
              </a:ext>
            </a:extLst>
          </p:cNvPr>
          <p:cNvSpPr/>
          <p:nvPr/>
        </p:nvSpPr>
        <p:spPr>
          <a:xfrm>
            <a:off x="6400800" y="3994924"/>
            <a:ext cx="48260" cy="310375"/>
          </a:xfrm>
          <a:prstGeom prst="rect">
            <a:avLst/>
          </a:prstGeom>
          <a:solidFill>
            <a:srgbClr val="11B7B6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5" name="riskbar_46">
            <a:extLst>
              <a:ext uri="{FF2B5EF4-FFF2-40B4-BE49-F238E27FC236}">
                <a16:creationId xmlns:a16="http://schemas.microsoft.com/office/drawing/2014/main" id="{31C281A0-261F-6A43-B637-7421051006AE}"/>
              </a:ext>
            </a:extLst>
          </p:cNvPr>
          <p:cNvSpPr/>
          <p:nvPr/>
        </p:nvSpPr>
        <p:spPr>
          <a:xfrm>
            <a:off x="6466840" y="3975084"/>
            <a:ext cx="48260" cy="330215"/>
          </a:xfrm>
          <a:prstGeom prst="rect">
            <a:avLst/>
          </a:prstGeom>
          <a:solidFill>
            <a:srgbClr val="11B7B6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6" name="riskbar_47">
            <a:extLst>
              <a:ext uri="{FF2B5EF4-FFF2-40B4-BE49-F238E27FC236}">
                <a16:creationId xmlns:a16="http://schemas.microsoft.com/office/drawing/2014/main" id="{0B7783F9-3ED4-7840-B536-343208E0CD9C}"/>
              </a:ext>
            </a:extLst>
          </p:cNvPr>
          <p:cNvSpPr/>
          <p:nvPr/>
        </p:nvSpPr>
        <p:spPr>
          <a:xfrm>
            <a:off x="6532880" y="3954273"/>
            <a:ext cx="48260" cy="351026"/>
          </a:xfrm>
          <a:prstGeom prst="rect">
            <a:avLst/>
          </a:prstGeom>
          <a:solidFill>
            <a:srgbClr val="11B7B6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7" name="riskbar_48">
            <a:extLst>
              <a:ext uri="{FF2B5EF4-FFF2-40B4-BE49-F238E27FC236}">
                <a16:creationId xmlns:a16="http://schemas.microsoft.com/office/drawing/2014/main" id="{FE598021-8733-B44B-894C-F522D8B3B20B}"/>
              </a:ext>
            </a:extLst>
          </p:cNvPr>
          <p:cNvSpPr/>
          <p:nvPr/>
        </p:nvSpPr>
        <p:spPr>
          <a:xfrm>
            <a:off x="6598920" y="3932465"/>
            <a:ext cx="48260" cy="372834"/>
          </a:xfrm>
          <a:prstGeom prst="rect">
            <a:avLst/>
          </a:prstGeom>
          <a:solidFill>
            <a:srgbClr val="11B7B6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8" name="riskbar_49">
            <a:extLst>
              <a:ext uri="{FF2B5EF4-FFF2-40B4-BE49-F238E27FC236}">
                <a16:creationId xmlns:a16="http://schemas.microsoft.com/office/drawing/2014/main" id="{161611BE-EC67-1948-A449-E6695E221BD0}"/>
              </a:ext>
            </a:extLst>
          </p:cNvPr>
          <p:cNvSpPr/>
          <p:nvPr/>
        </p:nvSpPr>
        <p:spPr>
          <a:xfrm>
            <a:off x="6664959" y="3909633"/>
            <a:ext cx="48260" cy="395666"/>
          </a:xfrm>
          <a:prstGeom prst="rect">
            <a:avLst/>
          </a:prstGeom>
          <a:solidFill>
            <a:srgbClr val="11B7B6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39" name="riskbar_50">
            <a:extLst>
              <a:ext uri="{FF2B5EF4-FFF2-40B4-BE49-F238E27FC236}">
                <a16:creationId xmlns:a16="http://schemas.microsoft.com/office/drawing/2014/main" id="{5242EB8A-32CF-CA49-B7C3-0C759C95A8F4}"/>
              </a:ext>
            </a:extLst>
          </p:cNvPr>
          <p:cNvSpPr/>
          <p:nvPr/>
        </p:nvSpPr>
        <p:spPr>
          <a:xfrm>
            <a:off x="6731000" y="3885753"/>
            <a:ext cx="48260" cy="419546"/>
          </a:xfrm>
          <a:prstGeom prst="rect">
            <a:avLst/>
          </a:prstGeom>
          <a:solidFill>
            <a:srgbClr val="11B7B6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40" name="riskbar_51">
            <a:extLst>
              <a:ext uri="{FF2B5EF4-FFF2-40B4-BE49-F238E27FC236}">
                <a16:creationId xmlns:a16="http://schemas.microsoft.com/office/drawing/2014/main" id="{1B0F5BED-9608-104C-891E-D385A4A98F02}"/>
              </a:ext>
            </a:extLst>
          </p:cNvPr>
          <p:cNvSpPr/>
          <p:nvPr/>
        </p:nvSpPr>
        <p:spPr>
          <a:xfrm>
            <a:off x="6797040" y="3860800"/>
            <a:ext cx="48260" cy="444500"/>
          </a:xfrm>
          <a:prstGeom prst="rect">
            <a:avLst/>
          </a:prstGeom>
          <a:solidFill>
            <a:srgbClr val="11B7B6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41" name="low_label">
            <a:extLst>
              <a:ext uri="{FF2B5EF4-FFF2-40B4-BE49-F238E27FC236}">
                <a16:creationId xmlns:a16="http://schemas.microsoft.com/office/drawing/2014/main" id="{0F08407B-64A6-284B-B1A9-67B4C252622D}"/>
              </a:ext>
            </a:extLst>
          </p:cNvPr>
          <p:cNvSpPr txBox="1"/>
          <p:nvPr/>
        </p:nvSpPr>
        <p:spPr>
          <a:xfrm>
            <a:off x="3327400" y="4381500"/>
            <a:ext cx="6350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5B5277"/>
                </a:solidFill>
                <a:latin typeface="Arial"/>
                <a:cs typeface="Arial"/>
              </a:rPr>
              <a:t>low risk</a:t>
            </a:r>
          </a:p>
        </p:txBody>
      </p:sp>
      <p:sp>
        <p:nvSpPr>
          <p:cNvPr id="142" name="high_label">
            <a:extLst>
              <a:ext uri="{FF2B5EF4-FFF2-40B4-BE49-F238E27FC236}">
                <a16:creationId xmlns:a16="http://schemas.microsoft.com/office/drawing/2014/main" id="{B47CCBA8-DDA4-DE4E-9058-7B406E2E81CB}"/>
              </a:ext>
            </a:extLst>
          </p:cNvPr>
          <p:cNvSpPr txBox="1"/>
          <p:nvPr/>
        </p:nvSpPr>
        <p:spPr>
          <a:xfrm>
            <a:off x="6388100" y="4381500"/>
            <a:ext cx="7366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1B7B6"/>
                </a:solidFill>
                <a:latin typeface="Arial"/>
                <a:cs typeface="Arial"/>
              </a:rPr>
              <a:t>high risk</a:t>
            </a:r>
          </a:p>
        </p:txBody>
      </p:sp>
      <p:sp>
        <p:nvSpPr>
          <p:cNvPr id="143" name="curve_note">
            <a:extLst>
              <a:ext uri="{FF2B5EF4-FFF2-40B4-BE49-F238E27FC236}">
                <a16:creationId xmlns:a16="http://schemas.microsoft.com/office/drawing/2014/main" id="{6BA08EB6-288E-8D4C-8DBA-093565A2EB5A}"/>
              </a:ext>
            </a:extLst>
          </p:cNvPr>
          <p:cNvSpPr txBox="1"/>
          <p:nvPr/>
        </p:nvSpPr>
        <p:spPr>
          <a:xfrm>
            <a:off x="1143000" y="4267200"/>
            <a:ext cx="2222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0">
                <a:solidFill>
                  <a:srgbClr val="5B5277"/>
                </a:solidFill>
                <a:latin typeface="Arial"/>
                <a:cs typeface="Arial"/>
              </a:rPr>
              <a:t>Uses multivariable baseline risk, not one subgroup at a time.</a:t>
            </a:r>
          </a:p>
        </p:txBody>
      </p:sp>
      <p:sp>
        <p:nvSpPr>
          <p:cNvPr id="144" name="takeaway_band">
            <a:extLst>
              <a:ext uri="{FF2B5EF4-FFF2-40B4-BE49-F238E27FC236}">
                <a16:creationId xmlns:a16="http://schemas.microsoft.com/office/drawing/2014/main" id="{F5E7FF22-C08A-A24E-BBCC-4061DF2C3B0D}"/>
              </a:ext>
            </a:extLst>
          </p:cNvPr>
          <p:cNvSpPr/>
          <p:nvPr/>
        </p:nvSpPr>
        <p:spPr>
          <a:xfrm>
            <a:off x="914400" y="4648200"/>
            <a:ext cx="7213600" cy="254000"/>
          </a:xfrm>
          <a:prstGeom prst="rect">
            <a:avLst/>
          </a:prstGeom>
          <a:solidFill>
            <a:srgbClr val="FFF2F1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45" name="takeaway">
            <a:extLst>
              <a:ext uri="{FF2B5EF4-FFF2-40B4-BE49-F238E27FC236}">
                <a16:creationId xmlns:a16="http://schemas.microsoft.com/office/drawing/2014/main" id="{FA763FD0-9118-CD46-B222-362E6FD3CCF6}"/>
              </a:ext>
            </a:extLst>
          </p:cNvPr>
          <p:cNvSpPr txBox="1"/>
          <p:nvPr/>
        </p:nvSpPr>
        <p:spPr>
          <a:xfrm>
            <a:off x="1193800" y="4711700"/>
            <a:ext cx="66294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FF5A5F"/>
                </a:solidFill>
                <a:latin typeface="Arial"/>
                <a:cs typeface="Arial"/>
              </a:rPr>
              <a:t>Risk-stratified ARR/NNT can change decisions without searching for responders.</a:t>
            </a:r>
          </a:p>
        </p:txBody>
      </p:sp>
    </p:spTree>
    <p:extLst>
      <p:ext uri="{BB962C8B-B14F-4D97-AF65-F5344CB8AC3E}">
        <p14:creationId xmlns:p14="http://schemas.microsoft.com/office/powerpoint/2010/main" val="20296606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anvas">
            <a:extLst>
              <a:ext uri="{FF2B5EF4-FFF2-40B4-BE49-F238E27FC236}">
                <a16:creationId xmlns:a16="http://schemas.microsoft.com/office/drawing/2014/main" id="{DAFFF3C5-325F-7948-B186-2377D6BF833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0" name="left_rail">
            <a:extLst>
              <a:ext uri="{FF2B5EF4-FFF2-40B4-BE49-F238E27FC236}">
                <a16:creationId xmlns:a16="http://schemas.microsoft.com/office/drawing/2014/main" id="{BAC048A0-C4AB-3A43-8ADA-44B49F910A4F}"/>
              </a:ext>
            </a:extLst>
          </p:cNvPr>
          <p:cNvSpPr/>
          <p:nvPr/>
        </p:nvSpPr>
        <p:spPr>
          <a:xfrm>
            <a:off x="368300" y="736600"/>
            <a:ext cx="57150" cy="3644900"/>
          </a:xfrm>
          <a:prstGeom prst="rect">
            <a:avLst/>
          </a:prstGeom>
          <a:solidFill>
            <a:srgbClr val="4F00E9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1" name="kicker">
            <a:extLst>
              <a:ext uri="{FF2B5EF4-FFF2-40B4-BE49-F238E27FC236}">
                <a16:creationId xmlns:a16="http://schemas.microsoft.com/office/drawing/2014/main" id="{B1BED709-E402-5A46-A966-18033BFB1CB6}"/>
              </a:ext>
            </a:extLst>
          </p:cNvPr>
          <p:cNvSpPr txBox="1"/>
          <p:nvPr/>
        </p:nvSpPr>
        <p:spPr>
          <a:xfrm>
            <a:off x="609600" y="355600"/>
            <a:ext cx="27940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A00E2"/>
                </a:solidFill>
                <a:latin typeface="Arial"/>
                <a:cs typeface="Arial"/>
              </a:rPr>
              <a:t>ACT | RISK-BASED TREATMENT</a:t>
            </a:r>
          </a:p>
        </p:txBody>
      </p:sp>
      <p:sp>
        <p:nvSpPr>
          <p:cNvPr id="82" name="title">
            <a:extLst>
              <a:ext uri="{FF2B5EF4-FFF2-40B4-BE49-F238E27FC236}">
                <a16:creationId xmlns:a16="http://schemas.microsoft.com/office/drawing/2014/main" id="{465AF204-E82A-B844-A339-6FC3A6DBFB94}"/>
              </a:ext>
            </a:extLst>
          </p:cNvPr>
          <p:cNvSpPr txBox="1"/>
          <p:nvPr/>
        </p:nvSpPr>
        <p:spPr>
          <a:xfrm>
            <a:off x="609600" y="609600"/>
            <a:ext cx="8064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110057"/>
                </a:solidFill>
                <a:latin typeface="Arial"/>
                <a:cs typeface="Arial"/>
              </a:rPr>
              <a:t>Risk targeting estimates conditional benefit</a:t>
            </a:r>
          </a:p>
        </p:txBody>
      </p:sp>
      <p:sp>
        <p:nvSpPr>
          <p:cNvPr id="83" name="source">
            <a:extLst>
              <a:ext uri="{FF2B5EF4-FFF2-40B4-BE49-F238E27FC236}">
                <a16:creationId xmlns:a16="http://schemas.microsoft.com/office/drawing/2014/main" id="{6E9E6FFE-FF28-734F-9418-4C0FE3209E88}"/>
              </a:ext>
            </a:extLst>
          </p:cNvPr>
          <p:cNvSpPr txBox="1"/>
          <p:nvPr/>
        </p:nvSpPr>
        <p:spPr>
          <a:xfrm>
            <a:off x="609600" y="4940300"/>
            <a:ext cx="7874000" cy="12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750">
                <a:solidFill>
                  <a:srgbClr val="5B5277"/>
                </a:solidFill>
                <a:latin typeface="Arial"/>
                <a:cs typeface="Arial"/>
              </a:rPr>
              <a:t>Source concept: Kent 2023; risk modeling vs effect modeling in predictive approaches to HTE.</a:t>
            </a:r>
          </a:p>
        </p:txBody>
      </p:sp>
      <p:sp>
        <p:nvSpPr>
          <p:cNvPr id="84" name="subtitle">
            <a:extLst>
              <a:ext uri="{FF2B5EF4-FFF2-40B4-BE49-F238E27FC236}">
                <a16:creationId xmlns:a16="http://schemas.microsoft.com/office/drawing/2014/main" id="{18706662-2D80-0D4F-AF2A-9E59C9EEB20B}"/>
              </a:ext>
            </a:extLst>
          </p:cNvPr>
          <p:cNvSpPr txBox="1"/>
          <p:nvPr/>
        </p:nvSpPr>
        <p:spPr>
          <a:xfrm>
            <a:off x="889000" y="1130300"/>
            <a:ext cx="7429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5B5277"/>
                </a:solidFill>
                <a:latin typeface="Arial"/>
                <a:cs typeface="Arial"/>
              </a:rPr>
              <a:t>Not “find the subgroup that responds”; estimate absolute benefit and compare it with burden, harms, and capacity.</a:t>
            </a:r>
          </a:p>
        </p:txBody>
      </p:sp>
      <p:sp>
        <p:nvSpPr>
          <p:cNvPr id="85" name="panel_0_bg">
            <a:extLst>
              <a:ext uri="{FF2B5EF4-FFF2-40B4-BE49-F238E27FC236}">
                <a16:creationId xmlns:a16="http://schemas.microsoft.com/office/drawing/2014/main" id="{CF770660-53D0-2049-A354-CB0B35E5CB2D}"/>
              </a:ext>
            </a:extLst>
          </p:cNvPr>
          <p:cNvSpPr/>
          <p:nvPr/>
        </p:nvSpPr>
        <p:spPr>
          <a:xfrm>
            <a:off x="914400" y="1701800"/>
            <a:ext cx="2197100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6" name="panel_title_0">
            <a:extLst>
              <a:ext uri="{FF2B5EF4-FFF2-40B4-BE49-F238E27FC236}">
                <a16:creationId xmlns:a16="http://schemas.microsoft.com/office/drawing/2014/main" id="{EE5FC3A4-9DC5-7247-87EF-0534676EE05C}"/>
              </a:ext>
            </a:extLst>
          </p:cNvPr>
          <p:cNvSpPr txBox="1"/>
          <p:nvPr/>
        </p:nvSpPr>
        <p:spPr>
          <a:xfrm>
            <a:off x="1066800" y="1841500"/>
            <a:ext cx="18923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50" b="1">
                <a:solidFill>
                  <a:srgbClr val="16004B"/>
                </a:solidFill>
                <a:latin typeface="Arial"/>
                <a:cs typeface="Arial"/>
              </a:rPr>
              <a:t>1. Predict baseline risk</a:t>
            </a:r>
          </a:p>
        </p:txBody>
      </p:sp>
      <p:sp>
        <p:nvSpPr>
          <p:cNvPr id="87" name="panel_body_0">
            <a:extLst>
              <a:ext uri="{FF2B5EF4-FFF2-40B4-BE49-F238E27FC236}">
                <a16:creationId xmlns:a16="http://schemas.microsoft.com/office/drawing/2014/main" id="{6D5573FF-F084-2C48-8E19-E232C3B20548}"/>
              </a:ext>
            </a:extLst>
          </p:cNvPr>
          <p:cNvSpPr txBox="1"/>
          <p:nvPr/>
        </p:nvSpPr>
        <p:spPr>
          <a:xfrm>
            <a:off x="1066800" y="2197100"/>
            <a:ext cx="18923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5B5277"/>
                </a:solidFill>
                <a:latin typeface="Arial"/>
                <a:cs typeface="Arial"/>
              </a:rPr>
              <a:t>Use pre-randomization variables to form a patient-centered reference class.</a:t>
            </a:r>
          </a:p>
        </p:txBody>
      </p:sp>
      <p:sp>
        <p:nvSpPr>
          <p:cNvPr id="88" name="panel_pill_0_fill">
            <a:extLst>
              <a:ext uri="{FF2B5EF4-FFF2-40B4-BE49-F238E27FC236}">
                <a16:creationId xmlns:a16="http://schemas.microsoft.com/office/drawing/2014/main" id="{DAD7CEDF-A254-0949-9FFB-99237E1193BE}"/>
              </a:ext>
            </a:extLst>
          </p:cNvPr>
          <p:cNvSpPr/>
          <p:nvPr/>
        </p:nvSpPr>
        <p:spPr>
          <a:xfrm>
            <a:off x="1066800" y="2679700"/>
            <a:ext cx="1892300" cy="190500"/>
          </a:xfrm>
          <a:prstGeom prst="rect">
            <a:avLst/>
          </a:prstGeom>
          <a:solidFill>
            <a:srgbClr val="E9E5F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89" name="panel_pill_0_text">
            <a:extLst>
              <a:ext uri="{FF2B5EF4-FFF2-40B4-BE49-F238E27FC236}">
                <a16:creationId xmlns:a16="http://schemas.microsoft.com/office/drawing/2014/main" id="{EDB7B358-4EBD-8C4D-AA50-7FEFD7A37028}"/>
              </a:ext>
            </a:extLst>
          </p:cNvPr>
          <p:cNvSpPr txBox="1"/>
          <p:nvPr/>
        </p:nvSpPr>
        <p:spPr>
          <a:xfrm>
            <a:off x="1117600" y="2717800"/>
            <a:ext cx="17907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4F00E9"/>
                </a:solidFill>
                <a:latin typeface="Arial"/>
                <a:cs typeface="Arial"/>
              </a:rPr>
              <a:t>not one-variable subgroups</a:t>
            </a:r>
          </a:p>
        </p:txBody>
      </p:sp>
      <p:sp>
        <p:nvSpPr>
          <p:cNvPr id="90" name="panel_1_bg">
            <a:extLst>
              <a:ext uri="{FF2B5EF4-FFF2-40B4-BE49-F238E27FC236}">
                <a16:creationId xmlns:a16="http://schemas.microsoft.com/office/drawing/2014/main" id="{DFC148A2-7361-BC40-AF92-B223F5D563C8}"/>
              </a:ext>
            </a:extLst>
          </p:cNvPr>
          <p:cNvSpPr/>
          <p:nvPr/>
        </p:nvSpPr>
        <p:spPr>
          <a:xfrm>
            <a:off x="3327400" y="1701800"/>
            <a:ext cx="2197100" cy="1295400"/>
          </a:xfrm>
          <a:prstGeom prst="rect">
            <a:avLst/>
          </a:prstGeom>
          <a:solidFill>
            <a:srgbClr val="F8F7FC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1" name="panel_title_1">
            <a:extLst>
              <a:ext uri="{FF2B5EF4-FFF2-40B4-BE49-F238E27FC236}">
                <a16:creationId xmlns:a16="http://schemas.microsoft.com/office/drawing/2014/main" id="{6C7F1F88-BE3E-354B-B489-EA6BA7B6EAF1}"/>
              </a:ext>
            </a:extLst>
          </p:cNvPr>
          <p:cNvSpPr txBox="1"/>
          <p:nvPr/>
        </p:nvSpPr>
        <p:spPr>
          <a:xfrm>
            <a:off x="3479800" y="1841500"/>
            <a:ext cx="18923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50" b="1">
                <a:solidFill>
                  <a:srgbClr val="16004B"/>
                </a:solidFill>
                <a:latin typeface="Arial"/>
                <a:cs typeface="Arial"/>
              </a:rPr>
              <a:t>2. Translate to ARR</a:t>
            </a:r>
          </a:p>
        </p:txBody>
      </p:sp>
      <p:sp>
        <p:nvSpPr>
          <p:cNvPr id="92" name="panel_body_1">
            <a:extLst>
              <a:ext uri="{FF2B5EF4-FFF2-40B4-BE49-F238E27FC236}">
                <a16:creationId xmlns:a16="http://schemas.microsoft.com/office/drawing/2014/main" id="{C14C50AE-5017-FC42-A3C2-D69F43F8EDC3}"/>
              </a:ext>
            </a:extLst>
          </p:cNvPr>
          <p:cNvSpPr txBox="1"/>
          <p:nvPr/>
        </p:nvSpPr>
        <p:spPr>
          <a:xfrm>
            <a:off x="3479800" y="2197100"/>
            <a:ext cx="18923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5B5277"/>
                </a:solidFill>
                <a:latin typeface="Arial"/>
                <a:cs typeface="Arial"/>
              </a:rPr>
              <a:t>Apply the trial effect on an interpretable scale; ARR and NNT vary with risk.</a:t>
            </a:r>
          </a:p>
        </p:txBody>
      </p:sp>
      <p:sp>
        <p:nvSpPr>
          <p:cNvPr id="93" name="panel_pill_1_fill">
            <a:extLst>
              <a:ext uri="{FF2B5EF4-FFF2-40B4-BE49-F238E27FC236}">
                <a16:creationId xmlns:a16="http://schemas.microsoft.com/office/drawing/2014/main" id="{FCEAAEC1-0753-5C40-9C32-6FC916F0171C}"/>
              </a:ext>
            </a:extLst>
          </p:cNvPr>
          <p:cNvSpPr/>
          <p:nvPr/>
        </p:nvSpPr>
        <p:spPr>
          <a:xfrm>
            <a:off x="3479800" y="2679700"/>
            <a:ext cx="1892300" cy="190500"/>
          </a:xfrm>
          <a:prstGeom prst="rect">
            <a:avLst/>
          </a:prstGeom>
          <a:solidFill>
            <a:srgbClr val="4F00E9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4" name="panel_pill_1_text">
            <a:extLst>
              <a:ext uri="{FF2B5EF4-FFF2-40B4-BE49-F238E27FC236}">
                <a16:creationId xmlns:a16="http://schemas.microsoft.com/office/drawing/2014/main" id="{4257B0CC-FE42-094E-80CA-93F837267C88}"/>
              </a:ext>
            </a:extLst>
          </p:cNvPr>
          <p:cNvSpPr txBox="1"/>
          <p:nvPr/>
        </p:nvSpPr>
        <p:spPr>
          <a:xfrm>
            <a:off x="3530600" y="2717800"/>
            <a:ext cx="17907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Arial"/>
                <a:cs typeface="Arial"/>
              </a:rPr>
              <a:t>absolute scale</a:t>
            </a:r>
          </a:p>
        </p:txBody>
      </p:sp>
      <p:sp>
        <p:nvSpPr>
          <p:cNvPr id="95" name="panel_2_bg">
            <a:extLst>
              <a:ext uri="{FF2B5EF4-FFF2-40B4-BE49-F238E27FC236}">
                <a16:creationId xmlns:a16="http://schemas.microsoft.com/office/drawing/2014/main" id="{877CA2EB-A1FF-B243-889D-A5763EDB4E1A}"/>
              </a:ext>
            </a:extLst>
          </p:cNvPr>
          <p:cNvSpPr/>
          <p:nvPr/>
        </p:nvSpPr>
        <p:spPr>
          <a:xfrm>
            <a:off x="5740400" y="1701800"/>
            <a:ext cx="2197100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6" name="panel_title_2">
            <a:extLst>
              <a:ext uri="{FF2B5EF4-FFF2-40B4-BE49-F238E27FC236}">
                <a16:creationId xmlns:a16="http://schemas.microsoft.com/office/drawing/2014/main" id="{616020E9-1FD4-7145-8A6E-3C2D550144E4}"/>
              </a:ext>
            </a:extLst>
          </p:cNvPr>
          <p:cNvSpPr txBox="1"/>
          <p:nvPr/>
        </p:nvSpPr>
        <p:spPr>
          <a:xfrm>
            <a:off x="5892800" y="1841500"/>
            <a:ext cx="18923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50" b="1">
                <a:solidFill>
                  <a:srgbClr val="16004B"/>
                </a:solidFill>
                <a:latin typeface="Arial"/>
                <a:cs typeface="Arial"/>
              </a:rPr>
              <a:t>3. Target when benefit exceeds burden</a:t>
            </a:r>
          </a:p>
        </p:txBody>
      </p:sp>
      <p:sp>
        <p:nvSpPr>
          <p:cNvPr id="97" name="panel_body_2">
            <a:extLst>
              <a:ext uri="{FF2B5EF4-FFF2-40B4-BE49-F238E27FC236}">
                <a16:creationId xmlns:a16="http://schemas.microsoft.com/office/drawing/2014/main" id="{CFB43E43-0977-5147-9891-9EC3C3018277}"/>
              </a:ext>
            </a:extLst>
          </p:cNvPr>
          <p:cNvSpPr txBox="1"/>
          <p:nvPr/>
        </p:nvSpPr>
        <p:spPr>
          <a:xfrm>
            <a:off x="5892800" y="2197100"/>
            <a:ext cx="18923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5B5277"/>
                </a:solidFill>
                <a:latin typeface="Arial"/>
                <a:cs typeface="Arial"/>
              </a:rPr>
              <a:t>Prioritize when expected benefit justifies workload, harms, and scarce capacity.</a:t>
            </a:r>
          </a:p>
        </p:txBody>
      </p:sp>
      <p:sp>
        <p:nvSpPr>
          <p:cNvPr id="98" name="panel_pill_2_fill">
            <a:extLst>
              <a:ext uri="{FF2B5EF4-FFF2-40B4-BE49-F238E27FC236}">
                <a16:creationId xmlns:a16="http://schemas.microsoft.com/office/drawing/2014/main" id="{53DCA9CC-3BA5-3343-90CA-200F5D2385F0}"/>
              </a:ext>
            </a:extLst>
          </p:cNvPr>
          <p:cNvSpPr/>
          <p:nvPr/>
        </p:nvSpPr>
        <p:spPr>
          <a:xfrm>
            <a:off x="5892800" y="2679700"/>
            <a:ext cx="1892300" cy="190500"/>
          </a:xfrm>
          <a:prstGeom prst="rect">
            <a:avLst/>
          </a:prstGeom>
          <a:solidFill>
            <a:srgbClr val="E9E5F7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99" name="panel_pill_2_text">
            <a:extLst>
              <a:ext uri="{FF2B5EF4-FFF2-40B4-BE49-F238E27FC236}">
                <a16:creationId xmlns:a16="http://schemas.microsoft.com/office/drawing/2014/main" id="{768D92D2-6991-614F-B46E-DA77CEC32BFE}"/>
              </a:ext>
            </a:extLst>
          </p:cNvPr>
          <p:cNvSpPr txBox="1"/>
          <p:nvPr/>
        </p:nvSpPr>
        <p:spPr>
          <a:xfrm>
            <a:off x="5943600" y="2717800"/>
            <a:ext cx="17907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4F00E9"/>
                </a:solidFill>
                <a:latin typeface="Arial"/>
                <a:cs typeface="Arial"/>
              </a:rPr>
              <a:t>decision threshold</a:t>
            </a:r>
          </a:p>
        </p:txBody>
      </p:sp>
      <p:sp>
        <p:nvSpPr>
          <p:cNvPr id="100" name="decision_head_0">
            <a:extLst>
              <a:ext uri="{FF2B5EF4-FFF2-40B4-BE49-F238E27FC236}">
                <a16:creationId xmlns:a16="http://schemas.microsoft.com/office/drawing/2014/main" id="{739C0092-4F60-2142-B3E6-33D0718CEE8D}"/>
              </a:ext>
            </a:extLst>
          </p:cNvPr>
          <p:cNvSpPr/>
          <p:nvPr/>
        </p:nvSpPr>
        <p:spPr>
          <a:xfrm>
            <a:off x="1168400" y="3263900"/>
            <a:ext cx="1397000" cy="304800"/>
          </a:xfrm>
          <a:prstGeom prst="rect">
            <a:avLst/>
          </a:prstGeom>
          <a:solidFill>
            <a:srgbClr val="4F00E9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1" name="decision_head_text_0">
            <a:extLst>
              <a:ext uri="{FF2B5EF4-FFF2-40B4-BE49-F238E27FC236}">
                <a16:creationId xmlns:a16="http://schemas.microsoft.com/office/drawing/2014/main" id="{B6722537-266A-D14E-84EA-7F8404D555DE}"/>
              </a:ext>
            </a:extLst>
          </p:cNvPr>
          <p:cNvSpPr txBox="1"/>
          <p:nvPr/>
        </p:nvSpPr>
        <p:spPr>
          <a:xfrm>
            <a:off x="1244600" y="3352800"/>
            <a:ext cx="1244600" cy="10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 b="1">
                <a:solidFill>
                  <a:srgbClr val="FFFFFF"/>
                </a:solidFill>
                <a:latin typeface="Arial"/>
                <a:cs typeface="Arial"/>
              </a:rPr>
              <a:t>Baseline risk</a:t>
            </a:r>
          </a:p>
        </p:txBody>
      </p:sp>
      <p:sp>
        <p:nvSpPr>
          <p:cNvPr id="102" name="decision_head_1">
            <a:extLst>
              <a:ext uri="{FF2B5EF4-FFF2-40B4-BE49-F238E27FC236}">
                <a16:creationId xmlns:a16="http://schemas.microsoft.com/office/drawing/2014/main" id="{9DBB3130-9DC4-1B4C-B253-C21EEFC1786C}"/>
              </a:ext>
            </a:extLst>
          </p:cNvPr>
          <p:cNvSpPr/>
          <p:nvPr/>
        </p:nvSpPr>
        <p:spPr>
          <a:xfrm>
            <a:off x="2565400" y="3263900"/>
            <a:ext cx="1905000" cy="304800"/>
          </a:xfrm>
          <a:prstGeom prst="rect">
            <a:avLst/>
          </a:prstGeom>
          <a:solidFill>
            <a:srgbClr val="4F00E9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3" name="decision_head_text_1">
            <a:extLst>
              <a:ext uri="{FF2B5EF4-FFF2-40B4-BE49-F238E27FC236}">
                <a16:creationId xmlns:a16="http://schemas.microsoft.com/office/drawing/2014/main" id="{2174E0DC-3CA2-7140-A1F5-64486FA164D8}"/>
              </a:ext>
            </a:extLst>
          </p:cNvPr>
          <p:cNvSpPr txBox="1"/>
          <p:nvPr/>
        </p:nvSpPr>
        <p:spPr>
          <a:xfrm>
            <a:off x="2641600" y="3352800"/>
            <a:ext cx="1752600" cy="10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 b="1">
                <a:solidFill>
                  <a:srgbClr val="FFFFFF"/>
                </a:solidFill>
                <a:latin typeface="Arial"/>
                <a:cs typeface="Arial"/>
              </a:rPr>
              <a:t>Expected ARR</a:t>
            </a:r>
          </a:p>
        </p:txBody>
      </p:sp>
      <p:sp>
        <p:nvSpPr>
          <p:cNvPr id="104" name="decision_head_2">
            <a:extLst>
              <a:ext uri="{FF2B5EF4-FFF2-40B4-BE49-F238E27FC236}">
                <a16:creationId xmlns:a16="http://schemas.microsoft.com/office/drawing/2014/main" id="{D96A6CC3-A35B-D84B-AD6D-C89FB038B488}"/>
              </a:ext>
            </a:extLst>
          </p:cNvPr>
          <p:cNvSpPr/>
          <p:nvPr/>
        </p:nvSpPr>
        <p:spPr>
          <a:xfrm>
            <a:off x="4470400" y="3263900"/>
            <a:ext cx="1905000" cy="304800"/>
          </a:xfrm>
          <a:prstGeom prst="rect">
            <a:avLst/>
          </a:prstGeom>
          <a:solidFill>
            <a:srgbClr val="4F00E9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5" name="decision_head_text_2">
            <a:extLst>
              <a:ext uri="{FF2B5EF4-FFF2-40B4-BE49-F238E27FC236}">
                <a16:creationId xmlns:a16="http://schemas.microsoft.com/office/drawing/2014/main" id="{956F4324-6437-0D4B-B643-BF83F9832568}"/>
              </a:ext>
            </a:extLst>
          </p:cNvPr>
          <p:cNvSpPr txBox="1"/>
          <p:nvPr/>
        </p:nvSpPr>
        <p:spPr>
          <a:xfrm>
            <a:off x="4546600" y="3352800"/>
            <a:ext cx="1752600" cy="10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 b="1">
                <a:solidFill>
                  <a:srgbClr val="FFFFFF"/>
                </a:solidFill>
                <a:latin typeface="Arial"/>
                <a:cs typeface="Arial"/>
              </a:rPr>
              <a:t>NNT implication</a:t>
            </a:r>
          </a:p>
        </p:txBody>
      </p:sp>
      <p:sp>
        <p:nvSpPr>
          <p:cNvPr id="106" name="decision_head_3">
            <a:extLst>
              <a:ext uri="{FF2B5EF4-FFF2-40B4-BE49-F238E27FC236}">
                <a16:creationId xmlns:a16="http://schemas.microsoft.com/office/drawing/2014/main" id="{F663D2F4-F5D7-FB4A-8C0C-9B652218E8AD}"/>
              </a:ext>
            </a:extLst>
          </p:cNvPr>
          <p:cNvSpPr/>
          <p:nvPr/>
        </p:nvSpPr>
        <p:spPr>
          <a:xfrm>
            <a:off x="6375400" y="3263900"/>
            <a:ext cx="1955800" cy="304800"/>
          </a:xfrm>
          <a:prstGeom prst="rect">
            <a:avLst/>
          </a:prstGeom>
          <a:solidFill>
            <a:srgbClr val="4F00E9"/>
          </a:solidFill>
          <a:ln w="127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7" name="decision_head_text_3">
            <a:extLst>
              <a:ext uri="{FF2B5EF4-FFF2-40B4-BE49-F238E27FC236}">
                <a16:creationId xmlns:a16="http://schemas.microsoft.com/office/drawing/2014/main" id="{80FFA559-3CBD-DD4C-B660-B72836A5FEBB}"/>
              </a:ext>
            </a:extLst>
          </p:cNvPr>
          <p:cNvSpPr txBox="1"/>
          <p:nvPr/>
        </p:nvSpPr>
        <p:spPr>
          <a:xfrm>
            <a:off x="6451600" y="3352800"/>
            <a:ext cx="1803400" cy="10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 b="1">
                <a:solidFill>
                  <a:srgbClr val="FFFFFF"/>
                </a:solidFill>
                <a:latin typeface="Arial"/>
                <a:cs typeface="Arial"/>
              </a:rPr>
              <a:t>Decision use</a:t>
            </a:r>
          </a:p>
        </p:txBody>
      </p:sp>
      <p:sp>
        <p:nvSpPr>
          <p:cNvPr id="108" name="decision_cell_0_0">
            <a:extLst>
              <a:ext uri="{FF2B5EF4-FFF2-40B4-BE49-F238E27FC236}">
                <a16:creationId xmlns:a16="http://schemas.microsoft.com/office/drawing/2014/main" id="{5310A5C3-13CF-874B-8341-2CC2E8DDC747}"/>
              </a:ext>
            </a:extLst>
          </p:cNvPr>
          <p:cNvSpPr/>
          <p:nvPr/>
        </p:nvSpPr>
        <p:spPr>
          <a:xfrm>
            <a:off x="1168400" y="3568700"/>
            <a:ext cx="13970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09" name="decision_cell_text_0_0">
            <a:extLst>
              <a:ext uri="{FF2B5EF4-FFF2-40B4-BE49-F238E27FC236}">
                <a16:creationId xmlns:a16="http://schemas.microsoft.com/office/drawing/2014/main" id="{AD8AC66B-0591-9248-B91C-412A271CEB25}"/>
              </a:ext>
            </a:extLst>
          </p:cNvPr>
          <p:cNvSpPr txBox="1"/>
          <p:nvPr/>
        </p:nvSpPr>
        <p:spPr>
          <a:xfrm>
            <a:off x="1244600" y="3657600"/>
            <a:ext cx="1244600" cy="10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16004B"/>
                </a:solidFill>
                <a:latin typeface="Arial"/>
                <a:cs typeface="Arial"/>
              </a:rPr>
              <a:t>Low</a:t>
            </a:r>
          </a:p>
        </p:txBody>
      </p:sp>
      <p:sp>
        <p:nvSpPr>
          <p:cNvPr id="110" name="decision_cell_0_1">
            <a:extLst>
              <a:ext uri="{FF2B5EF4-FFF2-40B4-BE49-F238E27FC236}">
                <a16:creationId xmlns:a16="http://schemas.microsoft.com/office/drawing/2014/main" id="{3A5E17D6-5BAF-B24D-A308-67C7BEF645A8}"/>
              </a:ext>
            </a:extLst>
          </p:cNvPr>
          <p:cNvSpPr/>
          <p:nvPr/>
        </p:nvSpPr>
        <p:spPr>
          <a:xfrm>
            <a:off x="2565400" y="3568700"/>
            <a:ext cx="19050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1" name="decision_cell_text_0_1">
            <a:extLst>
              <a:ext uri="{FF2B5EF4-FFF2-40B4-BE49-F238E27FC236}">
                <a16:creationId xmlns:a16="http://schemas.microsoft.com/office/drawing/2014/main" id="{73DD1CB6-561C-824A-B9D1-D512DE869D5D}"/>
              </a:ext>
            </a:extLst>
          </p:cNvPr>
          <p:cNvSpPr txBox="1"/>
          <p:nvPr/>
        </p:nvSpPr>
        <p:spPr>
          <a:xfrm>
            <a:off x="2641600" y="3657600"/>
            <a:ext cx="1752600" cy="10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16004B"/>
                </a:solidFill>
                <a:latin typeface="Arial"/>
                <a:cs typeface="Arial"/>
              </a:rPr>
              <a:t>small</a:t>
            </a:r>
          </a:p>
        </p:txBody>
      </p:sp>
      <p:sp>
        <p:nvSpPr>
          <p:cNvPr id="112" name="decision_cell_0_2">
            <a:extLst>
              <a:ext uri="{FF2B5EF4-FFF2-40B4-BE49-F238E27FC236}">
                <a16:creationId xmlns:a16="http://schemas.microsoft.com/office/drawing/2014/main" id="{D6D984F5-226C-F940-B98E-AEF191E3ECB9}"/>
              </a:ext>
            </a:extLst>
          </p:cNvPr>
          <p:cNvSpPr/>
          <p:nvPr/>
        </p:nvSpPr>
        <p:spPr>
          <a:xfrm>
            <a:off x="4470400" y="3568700"/>
            <a:ext cx="19050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3" name="decision_cell_text_0_2">
            <a:extLst>
              <a:ext uri="{FF2B5EF4-FFF2-40B4-BE49-F238E27FC236}">
                <a16:creationId xmlns:a16="http://schemas.microsoft.com/office/drawing/2014/main" id="{9270D2EC-F2D1-404D-922E-AA4CA8AB12AF}"/>
              </a:ext>
            </a:extLst>
          </p:cNvPr>
          <p:cNvSpPr txBox="1"/>
          <p:nvPr/>
        </p:nvSpPr>
        <p:spPr>
          <a:xfrm>
            <a:off x="4546600" y="3657600"/>
            <a:ext cx="1752600" cy="10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16004B"/>
                </a:solidFill>
                <a:latin typeface="Arial"/>
                <a:cs typeface="Arial"/>
              </a:rPr>
              <a:t>large NNT</a:t>
            </a:r>
          </a:p>
        </p:txBody>
      </p:sp>
      <p:sp>
        <p:nvSpPr>
          <p:cNvPr id="114" name="decision_cell_0_3">
            <a:extLst>
              <a:ext uri="{FF2B5EF4-FFF2-40B4-BE49-F238E27FC236}">
                <a16:creationId xmlns:a16="http://schemas.microsoft.com/office/drawing/2014/main" id="{8474CD5E-C1A3-8C46-858C-D36195A8C532}"/>
              </a:ext>
            </a:extLst>
          </p:cNvPr>
          <p:cNvSpPr/>
          <p:nvPr/>
        </p:nvSpPr>
        <p:spPr>
          <a:xfrm>
            <a:off x="6375400" y="3568700"/>
            <a:ext cx="19558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5" name="decision_cell_text_0_3">
            <a:extLst>
              <a:ext uri="{FF2B5EF4-FFF2-40B4-BE49-F238E27FC236}">
                <a16:creationId xmlns:a16="http://schemas.microsoft.com/office/drawing/2014/main" id="{9FB51D30-B269-2D46-805C-A2B27ED398C5}"/>
              </a:ext>
            </a:extLst>
          </p:cNvPr>
          <p:cNvSpPr txBox="1"/>
          <p:nvPr/>
        </p:nvSpPr>
        <p:spPr>
          <a:xfrm>
            <a:off x="6451600" y="3657600"/>
            <a:ext cx="1803400" cy="10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16004B"/>
                </a:solidFill>
                <a:latin typeface="Arial"/>
                <a:cs typeface="Arial"/>
              </a:rPr>
              <a:t>usually not first priority</a:t>
            </a:r>
          </a:p>
        </p:txBody>
      </p:sp>
      <p:sp>
        <p:nvSpPr>
          <p:cNvPr id="116" name="decision_cell_1_0">
            <a:extLst>
              <a:ext uri="{FF2B5EF4-FFF2-40B4-BE49-F238E27FC236}">
                <a16:creationId xmlns:a16="http://schemas.microsoft.com/office/drawing/2014/main" id="{EA32649F-B009-8845-A77B-FC086B6F8469}"/>
              </a:ext>
            </a:extLst>
          </p:cNvPr>
          <p:cNvSpPr/>
          <p:nvPr/>
        </p:nvSpPr>
        <p:spPr>
          <a:xfrm>
            <a:off x="1168400" y="3898900"/>
            <a:ext cx="1397000" cy="330200"/>
          </a:xfrm>
          <a:prstGeom prst="rect">
            <a:avLst/>
          </a:prstGeom>
          <a:solidFill>
            <a:srgbClr val="F8F7FC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7" name="decision_cell_text_1_0">
            <a:extLst>
              <a:ext uri="{FF2B5EF4-FFF2-40B4-BE49-F238E27FC236}">
                <a16:creationId xmlns:a16="http://schemas.microsoft.com/office/drawing/2014/main" id="{32DEA2C9-5CEE-F343-B3B8-2DEA3DDC277C}"/>
              </a:ext>
            </a:extLst>
          </p:cNvPr>
          <p:cNvSpPr txBox="1"/>
          <p:nvPr/>
        </p:nvSpPr>
        <p:spPr>
          <a:xfrm>
            <a:off x="1244600" y="3987800"/>
            <a:ext cx="1244600" cy="10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16004B"/>
                </a:solidFill>
                <a:latin typeface="Arial"/>
                <a:cs typeface="Arial"/>
              </a:rPr>
              <a:t>Middle / high</a:t>
            </a:r>
          </a:p>
        </p:txBody>
      </p:sp>
      <p:sp>
        <p:nvSpPr>
          <p:cNvPr id="118" name="decision_cell_1_1">
            <a:extLst>
              <a:ext uri="{FF2B5EF4-FFF2-40B4-BE49-F238E27FC236}">
                <a16:creationId xmlns:a16="http://schemas.microsoft.com/office/drawing/2014/main" id="{D543A584-5395-D04B-9D44-D692789D8703}"/>
              </a:ext>
            </a:extLst>
          </p:cNvPr>
          <p:cNvSpPr/>
          <p:nvPr/>
        </p:nvSpPr>
        <p:spPr>
          <a:xfrm>
            <a:off x="2565400" y="3898900"/>
            <a:ext cx="1905000" cy="330200"/>
          </a:xfrm>
          <a:prstGeom prst="rect">
            <a:avLst/>
          </a:prstGeom>
          <a:solidFill>
            <a:srgbClr val="F8F7FC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19" name="decision_cell_text_1_1">
            <a:extLst>
              <a:ext uri="{FF2B5EF4-FFF2-40B4-BE49-F238E27FC236}">
                <a16:creationId xmlns:a16="http://schemas.microsoft.com/office/drawing/2014/main" id="{29B6BCD4-EB93-2A46-8E01-EC212E6D87DC}"/>
              </a:ext>
            </a:extLst>
          </p:cNvPr>
          <p:cNvSpPr txBox="1"/>
          <p:nvPr/>
        </p:nvSpPr>
        <p:spPr>
          <a:xfrm>
            <a:off x="2641600" y="3987800"/>
            <a:ext cx="1752600" cy="10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16004B"/>
                </a:solidFill>
                <a:latin typeface="Arial"/>
                <a:cs typeface="Arial"/>
              </a:rPr>
              <a:t>larger</a:t>
            </a:r>
          </a:p>
        </p:txBody>
      </p:sp>
      <p:sp>
        <p:nvSpPr>
          <p:cNvPr id="120" name="decision_cell_1_2">
            <a:extLst>
              <a:ext uri="{FF2B5EF4-FFF2-40B4-BE49-F238E27FC236}">
                <a16:creationId xmlns:a16="http://schemas.microsoft.com/office/drawing/2014/main" id="{F972AA01-851E-A144-92C7-1F47AB3B01F8}"/>
              </a:ext>
            </a:extLst>
          </p:cNvPr>
          <p:cNvSpPr/>
          <p:nvPr/>
        </p:nvSpPr>
        <p:spPr>
          <a:xfrm>
            <a:off x="4470400" y="3898900"/>
            <a:ext cx="1905000" cy="330200"/>
          </a:xfrm>
          <a:prstGeom prst="rect">
            <a:avLst/>
          </a:prstGeom>
          <a:solidFill>
            <a:srgbClr val="F8F7FC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1" name="decision_cell_text_1_2">
            <a:extLst>
              <a:ext uri="{FF2B5EF4-FFF2-40B4-BE49-F238E27FC236}">
                <a16:creationId xmlns:a16="http://schemas.microsoft.com/office/drawing/2014/main" id="{8F6F5D0A-E721-964A-A719-0E1649320C91}"/>
              </a:ext>
            </a:extLst>
          </p:cNvPr>
          <p:cNvSpPr txBox="1"/>
          <p:nvPr/>
        </p:nvSpPr>
        <p:spPr>
          <a:xfrm>
            <a:off x="4546600" y="3987800"/>
            <a:ext cx="1752600" cy="10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16004B"/>
                </a:solidFill>
                <a:latin typeface="Arial"/>
                <a:cs typeface="Arial"/>
              </a:rPr>
              <a:t>lower NNT</a:t>
            </a:r>
          </a:p>
        </p:txBody>
      </p:sp>
      <p:sp>
        <p:nvSpPr>
          <p:cNvPr id="122" name="decision_cell_1_3">
            <a:extLst>
              <a:ext uri="{FF2B5EF4-FFF2-40B4-BE49-F238E27FC236}">
                <a16:creationId xmlns:a16="http://schemas.microsoft.com/office/drawing/2014/main" id="{B62CE9D0-2F92-C245-BE8F-59D49AA4B221}"/>
              </a:ext>
            </a:extLst>
          </p:cNvPr>
          <p:cNvSpPr/>
          <p:nvPr/>
        </p:nvSpPr>
        <p:spPr>
          <a:xfrm>
            <a:off x="6375400" y="3898900"/>
            <a:ext cx="1955800" cy="330200"/>
          </a:xfrm>
          <a:prstGeom prst="rect">
            <a:avLst/>
          </a:prstGeom>
          <a:solidFill>
            <a:srgbClr val="F8F7FC"/>
          </a:solidFill>
          <a:ln w="12700">
            <a:solidFill>
              <a:srgbClr val="D9D4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3" name="decision_cell_text_1_3">
            <a:extLst>
              <a:ext uri="{FF2B5EF4-FFF2-40B4-BE49-F238E27FC236}">
                <a16:creationId xmlns:a16="http://schemas.microsoft.com/office/drawing/2014/main" id="{0DC0F0FC-9CF3-7440-AC2B-9D8BA895F123}"/>
              </a:ext>
            </a:extLst>
          </p:cNvPr>
          <p:cNvSpPr txBox="1"/>
          <p:nvPr/>
        </p:nvSpPr>
        <p:spPr>
          <a:xfrm>
            <a:off x="6451600" y="3987800"/>
            <a:ext cx="1803400" cy="10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FF5A5F"/>
                </a:solidFill>
                <a:latin typeface="Arial"/>
                <a:cs typeface="Arial"/>
              </a:rPr>
              <a:t>target if burden/capacity fits</a:t>
            </a:r>
          </a:p>
        </p:txBody>
      </p:sp>
      <p:sp>
        <p:nvSpPr>
          <p:cNvPr id="124" name="guardrail_band">
            <a:extLst>
              <a:ext uri="{FF2B5EF4-FFF2-40B4-BE49-F238E27FC236}">
                <a16:creationId xmlns:a16="http://schemas.microsoft.com/office/drawing/2014/main" id="{8F1C5208-A1DF-CD40-821E-C215E7A4F36F}"/>
              </a:ext>
            </a:extLst>
          </p:cNvPr>
          <p:cNvSpPr/>
          <p:nvPr/>
        </p:nvSpPr>
        <p:spPr>
          <a:xfrm>
            <a:off x="914400" y="4368800"/>
            <a:ext cx="7213600" cy="355600"/>
          </a:xfrm>
          <a:prstGeom prst="rect">
            <a:avLst/>
          </a:prstGeom>
          <a:solidFill>
            <a:srgbClr val="FFF2F1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25" name="guardrail">
            <a:extLst>
              <a:ext uri="{FF2B5EF4-FFF2-40B4-BE49-F238E27FC236}">
                <a16:creationId xmlns:a16="http://schemas.microsoft.com/office/drawing/2014/main" id="{B1E6460B-6270-F84F-A432-4762DDB00334}"/>
              </a:ext>
            </a:extLst>
          </p:cNvPr>
          <p:cNvSpPr txBox="1"/>
          <p:nvPr/>
        </p:nvSpPr>
        <p:spPr>
          <a:xfrm>
            <a:off x="1181100" y="4470400"/>
            <a:ext cx="6705600" cy="12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 b="1" dirty="0">
                <a:solidFill>
                  <a:srgbClr val="FF5A5F"/>
                </a:solidFill>
                <a:latin typeface="Arial"/>
                <a:cs typeface="Arial"/>
              </a:rPr>
              <a:t>Conditional-on-risk estimates preserve randomization; differential-response models require strong priors, much larger samples, and validation.</a:t>
            </a:r>
          </a:p>
        </p:txBody>
      </p:sp>
    </p:spTree>
    <p:extLst>
      <p:ext uri="{BB962C8B-B14F-4D97-AF65-F5344CB8AC3E}">
        <p14:creationId xmlns:p14="http://schemas.microsoft.com/office/powerpoint/2010/main" val="13752305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nvas">
            <a:extLst>
              <a:ext uri="{FF2B5EF4-FFF2-40B4-BE49-F238E27FC236}">
                <a16:creationId xmlns:a16="http://schemas.microsoft.com/office/drawing/2014/main" id="{F8788790-BF38-F643-B724-D76B8AECAE3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6" name="left_rail">
            <a:extLst>
              <a:ext uri="{FF2B5EF4-FFF2-40B4-BE49-F238E27FC236}">
                <a16:creationId xmlns:a16="http://schemas.microsoft.com/office/drawing/2014/main" id="{EBBE8451-1E38-AE40-A2A3-86FAC22B21F8}"/>
              </a:ext>
            </a:extLst>
          </p:cNvPr>
          <p:cNvSpPr/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5B00F5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7" name="kicker">
            <a:extLst>
              <a:ext uri="{FF2B5EF4-FFF2-40B4-BE49-F238E27FC236}">
                <a16:creationId xmlns:a16="http://schemas.microsoft.com/office/drawing/2014/main" id="{8CA1766A-9B63-6C41-9195-20E2BEE551B7}"/>
              </a:ext>
            </a:extLst>
          </p:cNvPr>
          <p:cNvSpPr txBox="1"/>
          <p:nvPr/>
        </p:nvSpPr>
        <p:spPr>
          <a:xfrm>
            <a:off x="552450" y="304800"/>
            <a:ext cx="3937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A00E2"/>
                </a:solidFill>
                <a:latin typeface="Arial"/>
                <a:cs typeface="Arial"/>
              </a:rPr>
              <a:t>ACT | RISK-INFORMED ESTIMATES</a:t>
            </a: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66DA3F8B-CCBA-6949-AE02-1175B43DF2A9}"/>
              </a:ext>
            </a:extLst>
          </p:cNvPr>
          <p:cNvSpPr txBox="1"/>
          <p:nvPr/>
        </p:nvSpPr>
        <p:spPr>
          <a:xfrm>
            <a:off x="552450" y="495300"/>
            <a:ext cx="7937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110057"/>
                </a:solidFill>
                <a:latin typeface="Arial"/>
                <a:cs typeface="Arial"/>
              </a:rPr>
              <a:t>Personalizing strategies is much easier to do with a risk-based approach than it is with an individual treatment effect approach. </a:t>
            </a:r>
          </a:p>
        </p:txBody>
      </p:sp>
      <p:sp>
        <p:nvSpPr>
          <p:cNvPr id="19" name="left_panel_bg">
            <a:extLst>
              <a:ext uri="{FF2B5EF4-FFF2-40B4-BE49-F238E27FC236}">
                <a16:creationId xmlns:a16="http://schemas.microsoft.com/office/drawing/2014/main" id="{04C566D7-85B7-9F41-BCE6-3C7CDD428678}"/>
              </a:ext>
            </a:extLst>
          </p:cNvPr>
          <p:cNvSpPr/>
          <p:nvPr/>
        </p:nvSpPr>
        <p:spPr>
          <a:xfrm>
            <a:off x="698500" y="1295400"/>
            <a:ext cx="3619500" cy="2768600"/>
          </a:xfrm>
          <a:prstGeom prst="rect">
            <a:avLst/>
          </a:prstGeom>
          <a:solidFill>
            <a:srgbClr val="F0FBFA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20" name="right_panel_bg">
            <a:extLst>
              <a:ext uri="{FF2B5EF4-FFF2-40B4-BE49-F238E27FC236}">
                <a16:creationId xmlns:a16="http://schemas.microsoft.com/office/drawing/2014/main" id="{265FE54D-9DA3-0843-A7B6-0CDC6D431F5E}"/>
              </a:ext>
            </a:extLst>
          </p:cNvPr>
          <p:cNvSpPr/>
          <p:nvPr/>
        </p:nvSpPr>
        <p:spPr>
          <a:xfrm>
            <a:off x="4648200" y="1295400"/>
            <a:ext cx="3810000" cy="2768600"/>
          </a:xfrm>
          <a:prstGeom prst="rect">
            <a:avLst/>
          </a:prstGeom>
          <a:solidFill>
            <a:srgbClr val="F5F1FF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21" name="left_panel_heading">
            <a:extLst>
              <a:ext uri="{FF2B5EF4-FFF2-40B4-BE49-F238E27FC236}">
                <a16:creationId xmlns:a16="http://schemas.microsoft.com/office/drawing/2014/main" id="{3CAE9B56-D0EA-B949-BD3C-DFF45776A98E}"/>
              </a:ext>
            </a:extLst>
          </p:cNvPr>
          <p:cNvSpPr txBox="1"/>
          <p:nvPr/>
        </p:nvSpPr>
        <p:spPr>
          <a:xfrm>
            <a:off x="876300" y="1473200"/>
            <a:ext cx="2984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5B00F5"/>
                </a:solidFill>
                <a:latin typeface="Arial"/>
                <a:cs typeface="Arial"/>
              </a:rPr>
              <a:t>Individual treatment effect</a:t>
            </a:r>
          </a:p>
        </p:txBody>
      </p:sp>
      <p:sp>
        <p:nvSpPr>
          <p:cNvPr id="22" name="left_formula">
            <a:extLst>
              <a:ext uri="{FF2B5EF4-FFF2-40B4-BE49-F238E27FC236}">
                <a16:creationId xmlns:a16="http://schemas.microsoft.com/office/drawing/2014/main" id="{FF8B92A5-DD2F-9B4E-A4A4-FBDB2FA317E5}"/>
              </a:ext>
            </a:extLst>
          </p:cNvPr>
          <p:cNvSpPr txBox="1"/>
          <p:nvPr/>
        </p:nvSpPr>
        <p:spPr>
          <a:xfrm>
            <a:off x="876300" y="1803400"/>
            <a:ext cx="3175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300" b="1">
                <a:solidFill>
                  <a:srgbClr val="5B00F5"/>
                </a:solidFill>
                <a:latin typeface="Arial"/>
                <a:cs typeface="Arial"/>
              </a:rPr>
              <a:t>Y(1) − Y(0)</a:t>
            </a:r>
          </a:p>
        </p:txBody>
      </p:sp>
      <p:sp>
        <p:nvSpPr>
          <p:cNvPr id="23" name="left_subtitle">
            <a:extLst>
              <a:ext uri="{FF2B5EF4-FFF2-40B4-BE49-F238E27FC236}">
                <a16:creationId xmlns:a16="http://schemas.microsoft.com/office/drawing/2014/main" id="{3C6B9BAB-4D9F-024B-A947-93E1C2EDC41C}"/>
              </a:ext>
            </a:extLst>
          </p:cNvPr>
          <p:cNvSpPr txBox="1"/>
          <p:nvPr/>
        </p:nvSpPr>
        <p:spPr>
          <a:xfrm>
            <a:off x="952500" y="22098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057"/>
                </a:solidFill>
                <a:latin typeface="Arial"/>
                <a:cs typeface="Arial"/>
              </a:rPr>
              <a:t>Only one potential outcome is observed.</a:t>
            </a:r>
          </a:p>
        </p:txBody>
      </p:sp>
      <p:sp>
        <p:nvSpPr>
          <p:cNvPr id="24" name="observed_card_bg">
            <a:extLst>
              <a:ext uri="{FF2B5EF4-FFF2-40B4-BE49-F238E27FC236}">
                <a16:creationId xmlns:a16="http://schemas.microsoft.com/office/drawing/2014/main" id="{60AC34EC-3F26-F44B-B299-1099C09E7AC3}"/>
              </a:ext>
            </a:extLst>
          </p:cNvPr>
          <p:cNvSpPr/>
          <p:nvPr/>
        </p:nvSpPr>
        <p:spPr>
          <a:xfrm>
            <a:off x="939800" y="2514600"/>
            <a:ext cx="1422400" cy="635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25" name="missing_card_bg">
            <a:extLst>
              <a:ext uri="{FF2B5EF4-FFF2-40B4-BE49-F238E27FC236}">
                <a16:creationId xmlns:a16="http://schemas.microsoft.com/office/drawing/2014/main" id="{07B1B1F1-7071-7348-823C-5E9C7100C9E2}"/>
              </a:ext>
            </a:extLst>
          </p:cNvPr>
          <p:cNvSpPr/>
          <p:nvPr/>
        </p:nvSpPr>
        <p:spPr>
          <a:xfrm>
            <a:off x="2590800" y="2514600"/>
            <a:ext cx="1422400" cy="635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26" name="observed_label">
            <a:extLst>
              <a:ext uri="{FF2B5EF4-FFF2-40B4-BE49-F238E27FC236}">
                <a16:creationId xmlns:a16="http://schemas.microsoft.com/office/drawing/2014/main" id="{6354E5AF-A253-424D-8BCB-B7EF7F5D995E}"/>
              </a:ext>
            </a:extLst>
          </p:cNvPr>
          <p:cNvSpPr txBox="1"/>
          <p:nvPr/>
        </p:nvSpPr>
        <p:spPr>
          <a:xfrm>
            <a:off x="1066800" y="2616200"/>
            <a:ext cx="1168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5B00F5"/>
                </a:solidFill>
                <a:latin typeface="Arial"/>
                <a:cs typeface="Arial"/>
              </a:rPr>
              <a:t>Observed</a:t>
            </a:r>
          </a:p>
        </p:txBody>
      </p:sp>
      <p:sp>
        <p:nvSpPr>
          <p:cNvPr id="27" name="observed_text">
            <a:extLst>
              <a:ext uri="{FF2B5EF4-FFF2-40B4-BE49-F238E27FC236}">
                <a16:creationId xmlns:a16="http://schemas.microsoft.com/office/drawing/2014/main" id="{D7757FBC-3C04-D54E-8F80-5D454880EA9B}"/>
              </a:ext>
            </a:extLst>
          </p:cNvPr>
          <p:cNvSpPr txBox="1"/>
          <p:nvPr/>
        </p:nvSpPr>
        <p:spPr>
          <a:xfrm>
            <a:off x="1066800" y="2819400"/>
            <a:ext cx="1168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160057"/>
                </a:solidFill>
                <a:latin typeface="Arial"/>
                <a:cs typeface="Arial"/>
              </a:rPr>
              <a:t>assigned path</a:t>
            </a:r>
          </a:p>
        </p:txBody>
      </p:sp>
      <p:sp>
        <p:nvSpPr>
          <p:cNvPr id="28" name="missing_label">
            <a:extLst>
              <a:ext uri="{FF2B5EF4-FFF2-40B4-BE49-F238E27FC236}">
                <a16:creationId xmlns:a16="http://schemas.microsoft.com/office/drawing/2014/main" id="{7AE0BDD9-B36D-5949-A8FC-331443B1528D}"/>
              </a:ext>
            </a:extLst>
          </p:cNvPr>
          <p:cNvSpPr txBox="1"/>
          <p:nvPr/>
        </p:nvSpPr>
        <p:spPr>
          <a:xfrm>
            <a:off x="2717800" y="2616200"/>
            <a:ext cx="1168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5A5F"/>
                </a:solidFill>
                <a:latin typeface="Arial"/>
                <a:cs typeface="Arial"/>
              </a:rPr>
              <a:t>Missing</a:t>
            </a:r>
          </a:p>
        </p:txBody>
      </p:sp>
      <p:sp>
        <p:nvSpPr>
          <p:cNvPr id="29" name="missing_text">
            <a:extLst>
              <a:ext uri="{FF2B5EF4-FFF2-40B4-BE49-F238E27FC236}">
                <a16:creationId xmlns:a16="http://schemas.microsoft.com/office/drawing/2014/main" id="{38A06486-A350-9B44-B916-727AF7CFD688}"/>
              </a:ext>
            </a:extLst>
          </p:cNvPr>
          <p:cNvSpPr txBox="1"/>
          <p:nvPr/>
        </p:nvSpPr>
        <p:spPr>
          <a:xfrm>
            <a:off x="2717800" y="2819400"/>
            <a:ext cx="1168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160057"/>
                </a:solidFill>
                <a:latin typeface="Arial"/>
                <a:cs typeface="Arial"/>
              </a:rPr>
              <a:t>counterfactual</a:t>
            </a:r>
          </a:p>
        </p:txBody>
      </p:sp>
      <p:sp>
        <p:nvSpPr>
          <p:cNvPr id="30" name="left_warning">
            <a:extLst>
              <a:ext uri="{FF2B5EF4-FFF2-40B4-BE49-F238E27FC236}">
                <a16:creationId xmlns:a16="http://schemas.microsoft.com/office/drawing/2014/main" id="{2F11ED3D-AA39-3848-B7D1-FDA4115646F1}"/>
              </a:ext>
            </a:extLst>
          </p:cNvPr>
          <p:cNvSpPr txBox="1"/>
          <p:nvPr/>
        </p:nvSpPr>
        <p:spPr>
          <a:xfrm>
            <a:off x="965200" y="3327400"/>
            <a:ext cx="3022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04A02"/>
                </a:solidFill>
                <a:latin typeface="Arial"/>
                <a:cs typeface="Arial"/>
              </a:rPr>
              <a:t>Individual effects remain unobserved—even in an RCT.</a:t>
            </a:r>
          </a:p>
        </p:txBody>
      </p:sp>
      <p:sp>
        <p:nvSpPr>
          <p:cNvPr id="31" name="right_panel_heading">
            <a:extLst>
              <a:ext uri="{FF2B5EF4-FFF2-40B4-BE49-F238E27FC236}">
                <a16:creationId xmlns:a16="http://schemas.microsoft.com/office/drawing/2014/main" id="{A9FBDC34-96AA-CF41-9473-E7EE366DDC07}"/>
              </a:ext>
            </a:extLst>
          </p:cNvPr>
          <p:cNvSpPr txBox="1"/>
          <p:nvPr/>
        </p:nvSpPr>
        <p:spPr>
          <a:xfrm>
            <a:off x="4838700" y="1473200"/>
            <a:ext cx="3175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5B00F5"/>
                </a:solidFill>
                <a:latin typeface="Arial"/>
                <a:cs typeface="Arial"/>
              </a:rPr>
              <a:t>Reference-class treatment effect</a:t>
            </a:r>
          </a:p>
        </p:txBody>
      </p:sp>
      <p:sp>
        <p:nvSpPr>
          <p:cNvPr id="32" name="right_formula">
            <a:extLst>
              <a:ext uri="{FF2B5EF4-FFF2-40B4-BE49-F238E27FC236}">
                <a16:creationId xmlns:a16="http://schemas.microsoft.com/office/drawing/2014/main" id="{72E799F4-8531-4443-BD2B-0B6992B116B3}"/>
              </a:ext>
            </a:extLst>
          </p:cNvPr>
          <p:cNvSpPr txBox="1"/>
          <p:nvPr/>
        </p:nvSpPr>
        <p:spPr>
          <a:xfrm>
            <a:off x="4927600" y="1778000"/>
            <a:ext cx="3225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l-GR" sz="1300" b="1">
                <a:solidFill>
                  <a:srgbClr val="5B00F5"/>
                </a:solidFill>
                <a:latin typeface="Arial"/>
                <a:cs typeface="Arial"/>
              </a:rPr>
              <a:t>τ(</a:t>
            </a:r>
            <a:r>
              <a:rPr lang="en-US" sz="1300" b="1">
                <a:solidFill>
                  <a:srgbClr val="5B00F5"/>
                </a:solidFill>
                <a:latin typeface="Arial"/>
                <a:cs typeface="Arial"/>
              </a:rPr>
              <a:t>x) = E[Y(1) − Y(0) | X = x]</a:t>
            </a:r>
          </a:p>
        </p:txBody>
      </p:sp>
      <p:sp>
        <p:nvSpPr>
          <p:cNvPr id="33" name="right_formula2">
            <a:extLst>
              <a:ext uri="{FF2B5EF4-FFF2-40B4-BE49-F238E27FC236}">
                <a16:creationId xmlns:a16="http://schemas.microsoft.com/office/drawing/2014/main" id="{F8A1EBEC-03F5-7D4C-BD64-70B6DDBD6FF0}"/>
              </a:ext>
            </a:extLst>
          </p:cNvPr>
          <p:cNvSpPr txBox="1"/>
          <p:nvPr/>
        </p:nvSpPr>
        <p:spPr>
          <a:xfrm>
            <a:off x="4927600" y="2108200"/>
            <a:ext cx="32258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5E5573"/>
                </a:solidFill>
                <a:latin typeface="Arial"/>
                <a:cs typeface="Arial"/>
              </a:rPr>
              <a:t>= risk under control − risk under treatment</a:t>
            </a:r>
          </a:p>
        </p:txBody>
      </p:sp>
      <p:sp>
        <p:nvSpPr>
          <p:cNvPr id="34" name="right_divider">
            <a:extLst>
              <a:ext uri="{FF2B5EF4-FFF2-40B4-BE49-F238E27FC236}">
                <a16:creationId xmlns:a16="http://schemas.microsoft.com/office/drawing/2014/main" id="{25B9E1F6-10C4-BA4C-9963-177B8A7B48A9}"/>
              </a:ext>
            </a:extLst>
          </p:cNvPr>
          <p:cNvSpPr/>
          <p:nvPr/>
        </p:nvSpPr>
        <p:spPr>
          <a:xfrm>
            <a:off x="4953000" y="2362200"/>
            <a:ext cx="3175000" cy="15240"/>
          </a:xfrm>
          <a:prstGeom prst="rect">
            <a:avLst/>
          </a:prstGeom>
          <a:solidFill>
            <a:srgbClr val="D9D3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35" name="step_1_circle_proxy">
            <a:extLst>
              <a:ext uri="{FF2B5EF4-FFF2-40B4-BE49-F238E27FC236}">
                <a16:creationId xmlns:a16="http://schemas.microsoft.com/office/drawing/2014/main" id="{01558AE3-A56D-074A-B9DF-3364B0E00CF3}"/>
              </a:ext>
            </a:extLst>
          </p:cNvPr>
          <p:cNvSpPr/>
          <p:nvPr/>
        </p:nvSpPr>
        <p:spPr>
          <a:xfrm>
            <a:off x="4902200" y="2489200"/>
            <a:ext cx="190500" cy="190500"/>
          </a:xfrm>
          <a:prstGeom prst="rect">
            <a:avLst/>
          </a:prstGeom>
          <a:solidFill>
            <a:srgbClr val="5B00F5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36" name="step_1_num">
            <a:extLst>
              <a:ext uri="{FF2B5EF4-FFF2-40B4-BE49-F238E27FC236}">
                <a16:creationId xmlns:a16="http://schemas.microsoft.com/office/drawing/2014/main" id="{CB2CD7D4-FAF1-0D49-88E8-0894E5B2B48F}"/>
              </a:ext>
            </a:extLst>
          </p:cNvPr>
          <p:cNvSpPr txBox="1"/>
          <p:nvPr/>
        </p:nvSpPr>
        <p:spPr>
          <a:xfrm>
            <a:off x="4902200" y="2514600"/>
            <a:ext cx="190500" cy="12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7" name="step_1_head">
            <a:extLst>
              <a:ext uri="{FF2B5EF4-FFF2-40B4-BE49-F238E27FC236}">
                <a16:creationId xmlns:a16="http://schemas.microsoft.com/office/drawing/2014/main" id="{5317FA95-948D-7247-997F-2C69BEADC461}"/>
              </a:ext>
            </a:extLst>
          </p:cNvPr>
          <p:cNvSpPr txBox="1"/>
          <p:nvPr/>
        </p:nvSpPr>
        <p:spPr>
          <a:xfrm>
            <a:off x="5168900" y="2489200"/>
            <a:ext cx="29210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160057"/>
                </a:solidFill>
                <a:latin typeface="Arial"/>
                <a:cs typeface="Arial"/>
              </a:rPr>
              <a:t>Define the reference class</a:t>
            </a:r>
          </a:p>
        </p:txBody>
      </p:sp>
      <p:sp>
        <p:nvSpPr>
          <p:cNvPr id="38" name="step_1_body">
            <a:extLst>
              <a:ext uri="{FF2B5EF4-FFF2-40B4-BE49-F238E27FC236}">
                <a16:creationId xmlns:a16="http://schemas.microsoft.com/office/drawing/2014/main" id="{92AD6DF8-52F7-1B40-8F42-B41BABD7ABBB}"/>
              </a:ext>
            </a:extLst>
          </p:cNvPr>
          <p:cNvSpPr txBox="1"/>
          <p:nvPr/>
        </p:nvSpPr>
        <p:spPr>
          <a:xfrm>
            <a:off x="5168900" y="2654300"/>
            <a:ext cx="294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5E5573"/>
                </a:solidFill>
                <a:latin typeface="Arial"/>
                <a:cs typeface="Arial"/>
              </a:rPr>
              <a:t>Baseline variables/model, before effects.</a:t>
            </a:r>
          </a:p>
        </p:txBody>
      </p:sp>
      <p:sp>
        <p:nvSpPr>
          <p:cNvPr id="39" name="step_2_circle_proxy">
            <a:extLst>
              <a:ext uri="{FF2B5EF4-FFF2-40B4-BE49-F238E27FC236}">
                <a16:creationId xmlns:a16="http://schemas.microsoft.com/office/drawing/2014/main" id="{C546CD15-40B7-0243-919C-525A408E26A6}"/>
              </a:ext>
            </a:extLst>
          </p:cNvPr>
          <p:cNvSpPr/>
          <p:nvPr/>
        </p:nvSpPr>
        <p:spPr>
          <a:xfrm>
            <a:off x="4902200" y="2971800"/>
            <a:ext cx="190500" cy="190500"/>
          </a:xfrm>
          <a:prstGeom prst="rect">
            <a:avLst/>
          </a:prstGeom>
          <a:solidFill>
            <a:srgbClr val="5B00F5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0" name="step_2_num">
            <a:extLst>
              <a:ext uri="{FF2B5EF4-FFF2-40B4-BE49-F238E27FC236}">
                <a16:creationId xmlns:a16="http://schemas.microsoft.com/office/drawing/2014/main" id="{EE604F78-11CD-F64C-AE18-744EDE526951}"/>
              </a:ext>
            </a:extLst>
          </p:cNvPr>
          <p:cNvSpPr txBox="1"/>
          <p:nvPr/>
        </p:nvSpPr>
        <p:spPr>
          <a:xfrm>
            <a:off x="4902200" y="2997200"/>
            <a:ext cx="190500" cy="12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1" name="step_2_head">
            <a:extLst>
              <a:ext uri="{FF2B5EF4-FFF2-40B4-BE49-F238E27FC236}">
                <a16:creationId xmlns:a16="http://schemas.microsoft.com/office/drawing/2014/main" id="{0D150FE4-06FE-2D43-BFE4-5EAD8980A6E6}"/>
              </a:ext>
            </a:extLst>
          </p:cNvPr>
          <p:cNvSpPr txBox="1"/>
          <p:nvPr/>
        </p:nvSpPr>
        <p:spPr>
          <a:xfrm>
            <a:off x="5168900" y="2971800"/>
            <a:ext cx="29210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160057"/>
                </a:solidFill>
                <a:latin typeface="Arial"/>
                <a:cs typeface="Arial"/>
              </a:rPr>
              <a:t>Preserve randomization</a:t>
            </a:r>
          </a:p>
        </p:txBody>
      </p:sp>
      <p:sp>
        <p:nvSpPr>
          <p:cNvPr id="42" name="step_2_body">
            <a:extLst>
              <a:ext uri="{FF2B5EF4-FFF2-40B4-BE49-F238E27FC236}">
                <a16:creationId xmlns:a16="http://schemas.microsoft.com/office/drawing/2014/main" id="{1B16842A-ABA9-4744-9EF6-DE97E0D73141}"/>
              </a:ext>
            </a:extLst>
          </p:cNvPr>
          <p:cNvSpPr txBox="1"/>
          <p:nvPr/>
        </p:nvSpPr>
        <p:spPr>
          <a:xfrm>
            <a:off x="5168900" y="3136900"/>
            <a:ext cx="294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5E5573"/>
                </a:solidFill>
                <a:latin typeface="Arial"/>
                <a:cs typeface="Arial"/>
              </a:rPr>
              <a:t>Randomization holds within the class.</a:t>
            </a:r>
          </a:p>
        </p:txBody>
      </p:sp>
      <p:sp>
        <p:nvSpPr>
          <p:cNvPr id="43" name="step_3_circle_proxy">
            <a:extLst>
              <a:ext uri="{FF2B5EF4-FFF2-40B4-BE49-F238E27FC236}">
                <a16:creationId xmlns:a16="http://schemas.microsoft.com/office/drawing/2014/main" id="{35AEF12D-EB11-D242-B811-27F2AD8FB059}"/>
              </a:ext>
            </a:extLst>
          </p:cNvPr>
          <p:cNvSpPr/>
          <p:nvPr/>
        </p:nvSpPr>
        <p:spPr>
          <a:xfrm>
            <a:off x="4902200" y="3454400"/>
            <a:ext cx="190500" cy="190500"/>
          </a:xfrm>
          <a:prstGeom prst="rect">
            <a:avLst/>
          </a:prstGeom>
          <a:solidFill>
            <a:srgbClr val="5B00F5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4" name="step_3_num">
            <a:extLst>
              <a:ext uri="{FF2B5EF4-FFF2-40B4-BE49-F238E27FC236}">
                <a16:creationId xmlns:a16="http://schemas.microsoft.com/office/drawing/2014/main" id="{3790D004-0337-1C42-88A9-0E6861761F48}"/>
              </a:ext>
            </a:extLst>
          </p:cNvPr>
          <p:cNvSpPr txBox="1"/>
          <p:nvPr/>
        </p:nvSpPr>
        <p:spPr>
          <a:xfrm>
            <a:off x="4902200" y="3479800"/>
            <a:ext cx="190500" cy="12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45" name="step_3_head">
            <a:extLst>
              <a:ext uri="{FF2B5EF4-FFF2-40B4-BE49-F238E27FC236}">
                <a16:creationId xmlns:a16="http://schemas.microsoft.com/office/drawing/2014/main" id="{56F8585D-0ECC-9143-B944-E5660E7FE814}"/>
              </a:ext>
            </a:extLst>
          </p:cNvPr>
          <p:cNvSpPr txBox="1"/>
          <p:nvPr/>
        </p:nvSpPr>
        <p:spPr>
          <a:xfrm>
            <a:off x="5168900" y="3454400"/>
            <a:ext cx="29210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160057"/>
                </a:solidFill>
                <a:latin typeface="Arial"/>
                <a:cs typeface="Arial"/>
              </a:rPr>
              <a:t>Report ARR / NNT by risk</a:t>
            </a:r>
          </a:p>
        </p:txBody>
      </p:sp>
      <p:sp>
        <p:nvSpPr>
          <p:cNvPr id="46" name="step_3_body">
            <a:extLst>
              <a:ext uri="{FF2B5EF4-FFF2-40B4-BE49-F238E27FC236}">
                <a16:creationId xmlns:a16="http://schemas.microsoft.com/office/drawing/2014/main" id="{48A68E2E-3EA5-8749-AA09-5F48C0BBA4DF}"/>
              </a:ext>
            </a:extLst>
          </p:cNvPr>
          <p:cNvSpPr txBox="1"/>
          <p:nvPr/>
        </p:nvSpPr>
        <p:spPr>
          <a:xfrm>
            <a:off x="5168900" y="3619500"/>
            <a:ext cx="294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5E5573"/>
                </a:solidFill>
                <a:latin typeface="Arial"/>
                <a:cs typeface="Arial"/>
              </a:rPr>
              <a:t>Event-rate differences; no counterfactual.</a:t>
            </a:r>
          </a:p>
        </p:txBody>
      </p:sp>
      <p:sp>
        <p:nvSpPr>
          <p:cNvPr id="47" name="takeaway_band">
            <a:extLst>
              <a:ext uri="{FF2B5EF4-FFF2-40B4-BE49-F238E27FC236}">
                <a16:creationId xmlns:a16="http://schemas.microsoft.com/office/drawing/2014/main" id="{34039726-317B-DB4D-8E2B-74DCF2F1E2F1}"/>
              </a:ext>
            </a:extLst>
          </p:cNvPr>
          <p:cNvSpPr/>
          <p:nvPr/>
        </p:nvSpPr>
        <p:spPr>
          <a:xfrm>
            <a:off x="850900" y="4267200"/>
            <a:ext cx="7493000" cy="406400"/>
          </a:xfrm>
          <a:prstGeom prst="rect">
            <a:avLst/>
          </a:prstGeom>
          <a:solidFill>
            <a:srgbClr val="EFE8FF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8" name="takeaway_text">
            <a:extLst>
              <a:ext uri="{FF2B5EF4-FFF2-40B4-BE49-F238E27FC236}">
                <a16:creationId xmlns:a16="http://schemas.microsoft.com/office/drawing/2014/main" id="{230CC664-0D06-924C-8C46-25426B60B306}"/>
              </a:ext>
            </a:extLst>
          </p:cNvPr>
          <p:cNvSpPr txBox="1"/>
          <p:nvPr/>
        </p:nvSpPr>
        <p:spPr>
          <a:xfrm>
            <a:off x="990600" y="4356100"/>
            <a:ext cx="7213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D04A02"/>
                </a:solidFill>
                <a:latin typeface="Arial"/>
                <a:cs typeface="Arial"/>
              </a:rPr>
              <a:t>CATE is a randomized average for a risk-defined reference class—not a directly observed patient-level effect.</a:t>
            </a:r>
          </a:p>
        </p:txBody>
      </p:sp>
      <p:sp>
        <p:nvSpPr>
          <p:cNvPr id="49" name="source_note">
            <a:extLst>
              <a:ext uri="{FF2B5EF4-FFF2-40B4-BE49-F238E27FC236}">
                <a16:creationId xmlns:a16="http://schemas.microsoft.com/office/drawing/2014/main" id="{EF6A01D6-7043-DF46-B1B0-9CA646131432}"/>
              </a:ext>
            </a:extLst>
          </p:cNvPr>
          <p:cNvSpPr txBox="1"/>
          <p:nvPr/>
        </p:nvSpPr>
        <p:spPr>
          <a:xfrm>
            <a:off x="552450" y="4902200"/>
            <a:ext cx="81280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5E5573"/>
                </a:solidFill>
                <a:latin typeface="Arial"/>
                <a:cs typeface="Arial"/>
              </a:rPr>
              <a:t>Source: PATH Statement (Kent et al., Ann Intern Med 2020).</a:t>
            </a:r>
          </a:p>
        </p:txBody>
      </p:sp>
    </p:spTree>
    <p:extLst>
      <p:ext uri="{BB962C8B-B14F-4D97-AF65-F5344CB8AC3E}">
        <p14:creationId xmlns:p14="http://schemas.microsoft.com/office/powerpoint/2010/main" val="36050977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nvas">
            <a:extLst>
              <a:ext uri="{FF2B5EF4-FFF2-40B4-BE49-F238E27FC236}">
                <a16:creationId xmlns:a16="http://schemas.microsoft.com/office/drawing/2014/main" id="{AD6F148E-CFBD-9A48-BEE8-104245E503D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5" name="left_rail">
            <a:extLst>
              <a:ext uri="{FF2B5EF4-FFF2-40B4-BE49-F238E27FC236}">
                <a16:creationId xmlns:a16="http://schemas.microsoft.com/office/drawing/2014/main" id="{FB4CF751-D696-FD4D-A129-39EDB80AED42}"/>
              </a:ext>
            </a:extLst>
          </p:cNvPr>
          <p:cNvSpPr/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5B00F5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6" name="kicker">
            <a:extLst>
              <a:ext uri="{FF2B5EF4-FFF2-40B4-BE49-F238E27FC236}">
                <a16:creationId xmlns:a16="http://schemas.microsoft.com/office/drawing/2014/main" id="{30246DAC-C4D7-6B4C-88E3-D8A1FB89F667}"/>
              </a:ext>
            </a:extLst>
          </p:cNvPr>
          <p:cNvSpPr txBox="1"/>
          <p:nvPr/>
        </p:nvSpPr>
        <p:spPr>
          <a:xfrm>
            <a:off x="552450" y="304800"/>
            <a:ext cx="3810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A00E2"/>
                </a:solidFill>
                <a:latin typeface="Arial"/>
                <a:cs typeface="Arial"/>
              </a:rPr>
              <a:t>ACT | RISK FIRST</a:t>
            </a: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AC1E38C0-86EA-684A-80BF-B92AD3DC905D}"/>
              </a:ext>
            </a:extLst>
          </p:cNvPr>
          <p:cNvSpPr txBox="1"/>
          <p:nvPr/>
        </p:nvSpPr>
        <p:spPr>
          <a:xfrm>
            <a:off x="552450" y="495300"/>
            <a:ext cx="7937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sz="2400" b="1">
                <a:solidFill>
                  <a:srgbClr val="110057"/>
                </a:solidFill>
                <a:latin typeface="Arial"/>
                <a:cs typeface="Arial"/>
              </a:rPr>
              <a:t>Differential response needs far more power than risk stratification</a:t>
            </a:r>
          </a:p>
        </p:txBody>
      </p:sp>
      <p:sp>
        <p:nvSpPr>
          <p:cNvPr id="18" name="risk_panel_bg">
            <a:extLst>
              <a:ext uri="{FF2B5EF4-FFF2-40B4-BE49-F238E27FC236}">
                <a16:creationId xmlns:a16="http://schemas.microsoft.com/office/drawing/2014/main" id="{70E8F85A-6CCA-F645-B65E-CFEDDEA0FD4A}"/>
              </a:ext>
            </a:extLst>
          </p:cNvPr>
          <p:cNvSpPr/>
          <p:nvPr/>
        </p:nvSpPr>
        <p:spPr>
          <a:xfrm>
            <a:off x="698500" y="1282700"/>
            <a:ext cx="3810000" cy="2921000"/>
          </a:xfrm>
          <a:prstGeom prst="rect">
            <a:avLst/>
          </a:prstGeom>
          <a:solidFill>
            <a:srgbClr val="F0FBFA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19" name="effect_panel_bg">
            <a:extLst>
              <a:ext uri="{FF2B5EF4-FFF2-40B4-BE49-F238E27FC236}">
                <a16:creationId xmlns:a16="http://schemas.microsoft.com/office/drawing/2014/main" id="{9A56F3F7-585F-9047-BEAB-0C36F98651D5}"/>
              </a:ext>
            </a:extLst>
          </p:cNvPr>
          <p:cNvSpPr/>
          <p:nvPr/>
        </p:nvSpPr>
        <p:spPr>
          <a:xfrm>
            <a:off x="4699000" y="1282700"/>
            <a:ext cx="3810000" cy="2921000"/>
          </a:xfrm>
          <a:prstGeom prst="rect">
            <a:avLst/>
          </a:prstGeom>
          <a:solidFill>
            <a:srgbClr val="F5F1FF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20" name="risk_heading">
            <a:extLst>
              <a:ext uri="{FF2B5EF4-FFF2-40B4-BE49-F238E27FC236}">
                <a16:creationId xmlns:a16="http://schemas.microsoft.com/office/drawing/2014/main" id="{8B9FF80A-A3E8-124A-8A41-086D32FD9381}"/>
              </a:ext>
            </a:extLst>
          </p:cNvPr>
          <p:cNvSpPr txBox="1"/>
          <p:nvPr/>
        </p:nvSpPr>
        <p:spPr>
          <a:xfrm>
            <a:off x="914400" y="1473200"/>
            <a:ext cx="3111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5B00F5"/>
                </a:solidFill>
                <a:latin typeface="Arial"/>
                <a:cs typeface="Arial"/>
              </a:rPr>
              <a:t>Risk modeling</a:t>
            </a:r>
          </a:p>
        </p:txBody>
      </p:sp>
      <p:sp>
        <p:nvSpPr>
          <p:cNvPr id="21" name="risk_formula">
            <a:extLst>
              <a:ext uri="{FF2B5EF4-FFF2-40B4-BE49-F238E27FC236}">
                <a16:creationId xmlns:a16="http://schemas.microsoft.com/office/drawing/2014/main" id="{25E44ECA-5FF3-BC46-9AD6-71A3C11E34C0}"/>
              </a:ext>
            </a:extLst>
          </p:cNvPr>
          <p:cNvSpPr txBox="1"/>
          <p:nvPr/>
        </p:nvSpPr>
        <p:spPr>
          <a:xfrm>
            <a:off x="914400" y="18034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160057"/>
                </a:solidFill>
                <a:latin typeface="Arial"/>
                <a:cs typeface="Arial"/>
              </a:rPr>
              <a:t>risk = f(X)   — blinded to treatment</a:t>
            </a:r>
          </a:p>
        </p:txBody>
      </p:sp>
      <p:sp>
        <p:nvSpPr>
          <p:cNvPr id="22" name="risk_body">
            <a:extLst>
              <a:ext uri="{FF2B5EF4-FFF2-40B4-BE49-F238E27FC236}">
                <a16:creationId xmlns:a16="http://schemas.microsoft.com/office/drawing/2014/main" id="{DBAF7190-6082-B44F-B9EE-15BD3C1B2853}"/>
              </a:ext>
            </a:extLst>
          </p:cNvPr>
          <p:cNvSpPr txBox="1"/>
          <p:nvPr/>
        </p:nvSpPr>
        <p:spPr>
          <a:xfrm>
            <a:off x="914400" y="2108200"/>
            <a:ext cx="3175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5E5573"/>
                </a:solidFill>
                <a:latin typeface="Arial"/>
                <a:cs typeface="Arial"/>
              </a:rPr>
              <a:t>Define baseline risk before examining treatment effects; within each stratum, randomization still supports treated-versus-control comparisons.</a:t>
            </a:r>
          </a:p>
        </p:txBody>
      </p:sp>
      <p:sp>
        <p:nvSpPr>
          <p:cNvPr id="23" name="risk_divider">
            <a:extLst>
              <a:ext uri="{FF2B5EF4-FFF2-40B4-BE49-F238E27FC236}">
                <a16:creationId xmlns:a16="http://schemas.microsoft.com/office/drawing/2014/main" id="{E001BC2A-2D3A-0C48-BC2D-316925DD0160}"/>
              </a:ext>
            </a:extLst>
          </p:cNvPr>
          <p:cNvSpPr/>
          <p:nvPr/>
        </p:nvSpPr>
        <p:spPr>
          <a:xfrm>
            <a:off x="914400" y="2628900"/>
            <a:ext cx="3149600" cy="15240"/>
          </a:xfrm>
          <a:prstGeom prst="rect">
            <a:avLst/>
          </a:prstGeom>
          <a:solidFill>
            <a:srgbClr val="D9D3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24" name="risk_table_header1">
            <a:extLst>
              <a:ext uri="{FF2B5EF4-FFF2-40B4-BE49-F238E27FC236}">
                <a16:creationId xmlns:a16="http://schemas.microsoft.com/office/drawing/2014/main" id="{DC0F01A0-E031-B847-99FD-B420344AB46D}"/>
              </a:ext>
            </a:extLst>
          </p:cNvPr>
          <p:cNvSpPr txBox="1"/>
          <p:nvPr/>
        </p:nvSpPr>
        <p:spPr>
          <a:xfrm>
            <a:off x="990600" y="2781300"/>
            <a:ext cx="889000" cy="12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5E5573"/>
                </a:solidFill>
                <a:latin typeface="Arial"/>
                <a:cs typeface="Arial"/>
              </a:rPr>
              <a:t>baseline risk</a:t>
            </a:r>
          </a:p>
        </p:txBody>
      </p:sp>
      <p:sp>
        <p:nvSpPr>
          <p:cNvPr id="25" name="risk_table_header2">
            <a:extLst>
              <a:ext uri="{FF2B5EF4-FFF2-40B4-BE49-F238E27FC236}">
                <a16:creationId xmlns:a16="http://schemas.microsoft.com/office/drawing/2014/main" id="{187C4366-274F-6340-8D9F-5E764CC86FA8}"/>
              </a:ext>
            </a:extLst>
          </p:cNvPr>
          <p:cNvSpPr txBox="1"/>
          <p:nvPr/>
        </p:nvSpPr>
        <p:spPr>
          <a:xfrm>
            <a:off x="2006600" y="2781300"/>
            <a:ext cx="889000" cy="12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5E5573"/>
                </a:solidFill>
                <a:latin typeface="Arial"/>
                <a:cs typeface="Arial"/>
              </a:rPr>
              <a:t>if RR = 0.80</a:t>
            </a:r>
          </a:p>
        </p:txBody>
      </p:sp>
      <p:sp>
        <p:nvSpPr>
          <p:cNvPr id="26" name="risk_table_header3">
            <a:extLst>
              <a:ext uri="{FF2B5EF4-FFF2-40B4-BE49-F238E27FC236}">
                <a16:creationId xmlns:a16="http://schemas.microsoft.com/office/drawing/2014/main" id="{30E473AE-32DB-994F-8380-B0D1722687F3}"/>
              </a:ext>
            </a:extLst>
          </p:cNvPr>
          <p:cNvSpPr txBox="1"/>
          <p:nvPr/>
        </p:nvSpPr>
        <p:spPr>
          <a:xfrm>
            <a:off x="3022600" y="2781300"/>
            <a:ext cx="698500" cy="12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5E5573"/>
                </a:solidFill>
                <a:latin typeface="Arial"/>
                <a:cs typeface="Arial"/>
              </a:rPr>
              <a:t>NNT</a:t>
            </a:r>
          </a:p>
        </p:txBody>
      </p:sp>
      <p:sp>
        <p:nvSpPr>
          <p:cNvPr id="27" name="risk_row_0_bg">
            <a:extLst>
              <a:ext uri="{FF2B5EF4-FFF2-40B4-BE49-F238E27FC236}">
                <a16:creationId xmlns:a16="http://schemas.microsoft.com/office/drawing/2014/main" id="{3494948B-B1A2-B641-9061-A8ECDA239A8F}"/>
              </a:ext>
            </a:extLst>
          </p:cNvPr>
          <p:cNvSpPr/>
          <p:nvPr/>
        </p:nvSpPr>
        <p:spPr>
          <a:xfrm>
            <a:off x="965200" y="3022600"/>
            <a:ext cx="2857500" cy="2794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28" name="risk_r0_c1">
            <a:extLst>
              <a:ext uri="{FF2B5EF4-FFF2-40B4-BE49-F238E27FC236}">
                <a16:creationId xmlns:a16="http://schemas.microsoft.com/office/drawing/2014/main" id="{AEDAAC9E-7358-4B44-BF4B-A94D9496144F}"/>
              </a:ext>
            </a:extLst>
          </p:cNvPr>
          <p:cNvSpPr txBox="1"/>
          <p:nvPr/>
        </p:nvSpPr>
        <p:spPr>
          <a:xfrm>
            <a:off x="1041400" y="3086100"/>
            <a:ext cx="7620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160057"/>
                </a:solidFill>
                <a:latin typeface="Arial"/>
                <a:cs typeface="Arial"/>
              </a:rPr>
              <a:t>5%</a:t>
            </a:r>
          </a:p>
        </p:txBody>
      </p:sp>
      <p:sp>
        <p:nvSpPr>
          <p:cNvPr id="29" name="risk_r0_c2">
            <a:extLst>
              <a:ext uri="{FF2B5EF4-FFF2-40B4-BE49-F238E27FC236}">
                <a16:creationId xmlns:a16="http://schemas.microsoft.com/office/drawing/2014/main" id="{630083BE-EBD5-9542-987D-D105E78E956A}"/>
              </a:ext>
            </a:extLst>
          </p:cNvPr>
          <p:cNvSpPr txBox="1"/>
          <p:nvPr/>
        </p:nvSpPr>
        <p:spPr>
          <a:xfrm>
            <a:off x="2032000" y="3086100"/>
            <a:ext cx="8382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057"/>
                </a:solidFill>
                <a:latin typeface="Arial"/>
                <a:cs typeface="Arial"/>
              </a:rPr>
              <a:t>ARR 1%</a:t>
            </a:r>
          </a:p>
        </p:txBody>
      </p:sp>
      <p:sp>
        <p:nvSpPr>
          <p:cNvPr id="30" name="risk_r0_c3">
            <a:extLst>
              <a:ext uri="{FF2B5EF4-FFF2-40B4-BE49-F238E27FC236}">
                <a16:creationId xmlns:a16="http://schemas.microsoft.com/office/drawing/2014/main" id="{F51BE472-0393-9C45-A8C2-AE40E6721B99}"/>
              </a:ext>
            </a:extLst>
          </p:cNvPr>
          <p:cNvSpPr txBox="1"/>
          <p:nvPr/>
        </p:nvSpPr>
        <p:spPr>
          <a:xfrm>
            <a:off x="3048000" y="3086100"/>
            <a:ext cx="6350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5B00F5"/>
                </a:solidFill>
                <a:latin typeface="Arial"/>
                <a:cs typeface="Arial"/>
              </a:rPr>
              <a:t>100</a:t>
            </a:r>
          </a:p>
        </p:txBody>
      </p:sp>
      <p:sp>
        <p:nvSpPr>
          <p:cNvPr id="31" name="risk_row_1_bg">
            <a:extLst>
              <a:ext uri="{FF2B5EF4-FFF2-40B4-BE49-F238E27FC236}">
                <a16:creationId xmlns:a16="http://schemas.microsoft.com/office/drawing/2014/main" id="{F56B466F-3B5B-0940-9B5A-32FE2110584D}"/>
              </a:ext>
            </a:extLst>
          </p:cNvPr>
          <p:cNvSpPr/>
          <p:nvPr/>
        </p:nvSpPr>
        <p:spPr>
          <a:xfrm>
            <a:off x="965200" y="3378200"/>
            <a:ext cx="2857500" cy="2794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32" name="risk_r1_c1">
            <a:extLst>
              <a:ext uri="{FF2B5EF4-FFF2-40B4-BE49-F238E27FC236}">
                <a16:creationId xmlns:a16="http://schemas.microsoft.com/office/drawing/2014/main" id="{A9692C25-DFA1-8545-9E80-044B2F8F878E}"/>
              </a:ext>
            </a:extLst>
          </p:cNvPr>
          <p:cNvSpPr txBox="1"/>
          <p:nvPr/>
        </p:nvSpPr>
        <p:spPr>
          <a:xfrm>
            <a:off x="1041400" y="3441700"/>
            <a:ext cx="7620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160057"/>
                </a:solidFill>
                <a:latin typeface="Arial"/>
                <a:cs typeface="Arial"/>
              </a:rPr>
              <a:t>25%</a:t>
            </a:r>
          </a:p>
        </p:txBody>
      </p:sp>
      <p:sp>
        <p:nvSpPr>
          <p:cNvPr id="33" name="risk_r1_c2">
            <a:extLst>
              <a:ext uri="{FF2B5EF4-FFF2-40B4-BE49-F238E27FC236}">
                <a16:creationId xmlns:a16="http://schemas.microsoft.com/office/drawing/2014/main" id="{FBF82BA3-8FF4-C847-A3B3-68E75270FB0E}"/>
              </a:ext>
            </a:extLst>
          </p:cNvPr>
          <p:cNvSpPr txBox="1"/>
          <p:nvPr/>
        </p:nvSpPr>
        <p:spPr>
          <a:xfrm>
            <a:off x="2032000" y="3441700"/>
            <a:ext cx="8382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057"/>
                </a:solidFill>
                <a:latin typeface="Arial"/>
                <a:cs typeface="Arial"/>
              </a:rPr>
              <a:t>ARR 5%</a:t>
            </a:r>
          </a:p>
        </p:txBody>
      </p:sp>
      <p:sp>
        <p:nvSpPr>
          <p:cNvPr id="34" name="risk_r1_c3">
            <a:extLst>
              <a:ext uri="{FF2B5EF4-FFF2-40B4-BE49-F238E27FC236}">
                <a16:creationId xmlns:a16="http://schemas.microsoft.com/office/drawing/2014/main" id="{7EBA5208-5139-6F4D-AB55-5E0F55B45785}"/>
              </a:ext>
            </a:extLst>
          </p:cNvPr>
          <p:cNvSpPr txBox="1"/>
          <p:nvPr/>
        </p:nvSpPr>
        <p:spPr>
          <a:xfrm>
            <a:off x="3048000" y="3441700"/>
            <a:ext cx="6350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5B00F5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35" name="risk_pill_bg">
            <a:extLst>
              <a:ext uri="{FF2B5EF4-FFF2-40B4-BE49-F238E27FC236}">
                <a16:creationId xmlns:a16="http://schemas.microsoft.com/office/drawing/2014/main" id="{D180E730-2C31-0641-8121-15C0A097B1A3}"/>
              </a:ext>
            </a:extLst>
          </p:cNvPr>
          <p:cNvSpPr/>
          <p:nvPr/>
        </p:nvSpPr>
        <p:spPr>
          <a:xfrm>
            <a:off x="1270000" y="3822700"/>
            <a:ext cx="2159000" cy="215900"/>
          </a:xfrm>
          <a:prstGeom prst="rect">
            <a:avLst/>
          </a:prstGeom>
          <a:solidFill>
            <a:srgbClr val="E5F7F6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36" name="risk_pill">
            <a:extLst>
              <a:ext uri="{FF2B5EF4-FFF2-40B4-BE49-F238E27FC236}">
                <a16:creationId xmlns:a16="http://schemas.microsoft.com/office/drawing/2014/main" id="{D4FE65EF-4EC5-8343-8F47-65A1A761688F}"/>
              </a:ext>
            </a:extLst>
          </p:cNvPr>
          <p:cNvSpPr txBox="1"/>
          <p:nvPr/>
        </p:nvSpPr>
        <p:spPr>
          <a:xfrm>
            <a:off x="1320800" y="3848100"/>
            <a:ext cx="20574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5B00F5"/>
                </a:solidFill>
                <a:latin typeface="Arial"/>
                <a:cs typeface="Arial"/>
              </a:rPr>
              <a:t>easy arithmetic on the absolute scale</a:t>
            </a:r>
          </a:p>
        </p:txBody>
      </p:sp>
      <p:sp>
        <p:nvSpPr>
          <p:cNvPr id="37" name="effect_heading">
            <a:extLst>
              <a:ext uri="{FF2B5EF4-FFF2-40B4-BE49-F238E27FC236}">
                <a16:creationId xmlns:a16="http://schemas.microsoft.com/office/drawing/2014/main" id="{5B145029-19E8-9B46-BFF4-955467BF8FAD}"/>
              </a:ext>
            </a:extLst>
          </p:cNvPr>
          <p:cNvSpPr txBox="1"/>
          <p:nvPr/>
        </p:nvSpPr>
        <p:spPr>
          <a:xfrm>
            <a:off x="4914900" y="1473200"/>
            <a:ext cx="3111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5A5F"/>
                </a:solidFill>
                <a:latin typeface="Arial"/>
                <a:cs typeface="Arial"/>
              </a:rPr>
              <a:t>Effect modeling</a:t>
            </a:r>
          </a:p>
        </p:txBody>
      </p:sp>
      <p:sp>
        <p:nvSpPr>
          <p:cNvPr id="38" name="effect_formula">
            <a:extLst>
              <a:ext uri="{FF2B5EF4-FFF2-40B4-BE49-F238E27FC236}">
                <a16:creationId xmlns:a16="http://schemas.microsoft.com/office/drawing/2014/main" id="{08022552-541E-7849-8032-D413A81F5218}"/>
              </a:ext>
            </a:extLst>
          </p:cNvPr>
          <p:cNvSpPr txBox="1"/>
          <p:nvPr/>
        </p:nvSpPr>
        <p:spPr>
          <a:xfrm>
            <a:off x="4914900" y="1803400"/>
            <a:ext cx="3111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160057"/>
                </a:solidFill>
                <a:latin typeface="Arial"/>
                <a:cs typeface="Arial"/>
              </a:rPr>
              <a:t>risk = f(X + Tx + X×Tx)</a:t>
            </a:r>
          </a:p>
        </p:txBody>
      </p:sp>
      <p:sp>
        <p:nvSpPr>
          <p:cNvPr id="39" name="effect_body">
            <a:extLst>
              <a:ext uri="{FF2B5EF4-FFF2-40B4-BE49-F238E27FC236}">
                <a16:creationId xmlns:a16="http://schemas.microsoft.com/office/drawing/2014/main" id="{48B1AC4A-51B7-584F-A1A0-431B930BAD1F}"/>
              </a:ext>
            </a:extLst>
          </p:cNvPr>
          <p:cNvSpPr txBox="1"/>
          <p:nvPr/>
        </p:nvSpPr>
        <p:spPr>
          <a:xfrm>
            <a:off x="4914900" y="2108200"/>
            <a:ext cx="3175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5E5573"/>
                </a:solidFill>
                <a:latin typeface="Arial"/>
                <a:cs typeface="Arial"/>
              </a:rPr>
              <a:t>Estimate which covariates modify the treatment effect—an interaction problem with low power, multiplicity, and false-discovery risk.</a:t>
            </a:r>
          </a:p>
        </p:txBody>
      </p:sp>
      <p:sp>
        <p:nvSpPr>
          <p:cNvPr id="40" name="effect_divider">
            <a:extLst>
              <a:ext uri="{FF2B5EF4-FFF2-40B4-BE49-F238E27FC236}">
                <a16:creationId xmlns:a16="http://schemas.microsoft.com/office/drawing/2014/main" id="{DBF98087-8EC7-904C-9FF2-2430DF249D79}"/>
              </a:ext>
            </a:extLst>
          </p:cNvPr>
          <p:cNvSpPr/>
          <p:nvPr/>
        </p:nvSpPr>
        <p:spPr>
          <a:xfrm>
            <a:off x="4914900" y="2628900"/>
            <a:ext cx="3149600" cy="15240"/>
          </a:xfrm>
          <a:prstGeom prst="rect">
            <a:avLst/>
          </a:prstGeom>
          <a:solidFill>
            <a:srgbClr val="D9D3E8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1" name="power_row1">
            <a:extLst>
              <a:ext uri="{FF2B5EF4-FFF2-40B4-BE49-F238E27FC236}">
                <a16:creationId xmlns:a16="http://schemas.microsoft.com/office/drawing/2014/main" id="{ADE8967E-DBE0-5741-A042-719C7E996F1E}"/>
              </a:ext>
            </a:extLst>
          </p:cNvPr>
          <p:cNvSpPr/>
          <p:nvPr/>
        </p:nvSpPr>
        <p:spPr>
          <a:xfrm>
            <a:off x="4978400" y="2794000"/>
            <a:ext cx="2857500" cy="3048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2" name="power1_label">
            <a:extLst>
              <a:ext uri="{FF2B5EF4-FFF2-40B4-BE49-F238E27FC236}">
                <a16:creationId xmlns:a16="http://schemas.microsoft.com/office/drawing/2014/main" id="{BB9C4839-8B26-D74A-8DD8-2E0E32166714}"/>
              </a:ext>
            </a:extLst>
          </p:cNvPr>
          <p:cNvSpPr txBox="1"/>
          <p:nvPr/>
        </p:nvSpPr>
        <p:spPr>
          <a:xfrm>
            <a:off x="5092700" y="2870200"/>
            <a:ext cx="10795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5E5573"/>
                </a:solidFill>
                <a:latin typeface="Arial"/>
                <a:cs typeface="Arial"/>
              </a:rPr>
              <a:t>overall effect</a:t>
            </a:r>
          </a:p>
        </p:txBody>
      </p:sp>
      <p:sp>
        <p:nvSpPr>
          <p:cNvPr id="43" name="power1_val">
            <a:extLst>
              <a:ext uri="{FF2B5EF4-FFF2-40B4-BE49-F238E27FC236}">
                <a16:creationId xmlns:a16="http://schemas.microsoft.com/office/drawing/2014/main" id="{D10070C1-EAF3-574C-A4F2-D579DFC490E6}"/>
              </a:ext>
            </a:extLst>
          </p:cNvPr>
          <p:cNvSpPr txBox="1"/>
          <p:nvPr/>
        </p:nvSpPr>
        <p:spPr>
          <a:xfrm>
            <a:off x="7010400" y="2844800"/>
            <a:ext cx="5080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5B00F5"/>
                </a:solidFill>
                <a:latin typeface="Arial"/>
                <a:cs typeface="Arial"/>
              </a:rPr>
              <a:t>N</a:t>
            </a:r>
          </a:p>
        </p:txBody>
      </p:sp>
      <p:sp>
        <p:nvSpPr>
          <p:cNvPr id="44" name="power_row2">
            <a:extLst>
              <a:ext uri="{FF2B5EF4-FFF2-40B4-BE49-F238E27FC236}">
                <a16:creationId xmlns:a16="http://schemas.microsoft.com/office/drawing/2014/main" id="{FFED9044-004C-A24D-9E3C-0589A030C51F}"/>
              </a:ext>
            </a:extLst>
          </p:cNvPr>
          <p:cNvSpPr/>
          <p:nvPr/>
        </p:nvSpPr>
        <p:spPr>
          <a:xfrm>
            <a:off x="4978400" y="3162300"/>
            <a:ext cx="2857500" cy="3048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5" name="power2_label">
            <a:extLst>
              <a:ext uri="{FF2B5EF4-FFF2-40B4-BE49-F238E27FC236}">
                <a16:creationId xmlns:a16="http://schemas.microsoft.com/office/drawing/2014/main" id="{28F3160F-AB55-4B44-B618-A62CCBDA170E}"/>
              </a:ext>
            </a:extLst>
          </p:cNvPr>
          <p:cNvSpPr txBox="1"/>
          <p:nvPr/>
        </p:nvSpPr>
        <p:spPr>
          <a:xfrm>
            <a:off x="5092700" y="3238500"/>
            <a:ext cx="14605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5E5573"/>
                </a:solidFill>
                <a:latin typeface="Arial"/>
                <a:cs typeface="Arial"/>
              </a:rPr>
              <a:t>one balanced</a:t>
            </a:r>
          </a:p>
        </p:txBody>
      </p:sp>
      <p:sp>
        <p:nvSpPr>
          <p:cNvPr id="46" name="power2_val">
            <a:extLst>
              <a:ext uri="{FF2B5EF4-FFF2-40B4-BE49-F238E27FC236}">
                <a16:creationId xmlns:a16="http://schemas.microsoft.com/office/drawing/2014/main" id="{8B3FE36B-00E8-0649-A082-2D1AA085FDC3}"/>
              </a:ext>
            </a:extLst>
          </p:cNvPr>
          <p:cNvSpPr txBox="1"/>
          <p:nvPr/>
        </p:nvSpPr>
        <p:spPr>
          <a:xfrm>
            <a:off x="6794500" y="3213100"/>
            <a:ext cx="8890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D04A02"/>
                </a:solidFill>
                <a:latin typeface="Arial"/>
                <a:cs typeface="Arial"/>
              </a:rPr>
              <a:t>≈4× N</a:t>
            </a:r>
          </a:p>
        </p:txBody>
      </p:sp>
      <p:sp>
        <p:nvSpPr>
          <p:cNvPr id="47" name="power_row3">
            <a:extLst>
              <a:ext uri="{FF2B5EF4-FFF2-40B4-BE49-F238E27FC236}">
                <a16:creationId xmlns:a16="http://schemas.microsoft.com/office/drawing/2014/main" id="{8D193ED6-F7EB-9649-9644-8CE41BF5AC46}"/>
              </a:ext>
            </a:extLst>
          </p:cNvPr>
          <p:cNvSpPr/>
          <p:nvPr/>
        </p:nvSpPr>
        <p:spPr>
          <a:xfrm>
            <a:off x="4978400" y="3530600"/>
            <a:ext cx="2857500" cy="3048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48" name="power3_label">
            <a:extLst>
              <a:ext uri="{FF2B5EF4-FFF2-40B4-BE49-F238E27FC236}">
                <a16:creationId xmlns:a16="http://schemas.microsoft.com/office/drawing/2014/main" id="{7D61AAE9-D99B-6A46-A6F1-3A27C0B1C66B}"/>
              </a:ext>
            </a:extLst>
          </p:cNvPr>
          <p:cNvSpPr txBox="1"/>
          <p:nvPr/>
        </p:nvSpPr>
        <p:spPr>
          <a:xfrm>
            <a:off x="5092700" y="3606800"/>
            <a:ext cx="15240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5E5573"/>
                </a:solidFill>
                <a:latin typeface="Arial"/>
                <a:cs typeface="Arial"/>
              </a:rPr>
              <a:t>20% subgroup</a:t>
            </a:r>
          </a:p>
        </p:txBody>
      </p:sp>
      <p:sp>
        <p:nvSpPr>
          <p:cNvPr id="49" name="power3_val">
            <a:extLst>
              <a:ext uri="{FF2B5EF4-FFF2-40B4-BE49-F238E27FC236}">
                <a16:creationId xmlns:a16="http://schemas.microsoft.com/office/drawing/2014/main" id="{C4F3AEB7-56D4-824F-8837-33F66D0BD78E}"/>
              </a:ext>
            </a:extLst>
          </p:cNvPr>
          <p:cNvSpPr txBox="1"/>
          <p:nvPr/>
        </p:nvSpPr>
        <p:spPr>
          <a:xfrm>
            <a:off x="6794500" y="3581400"/>
            <a:ext cx="8890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D04A02"/>
                </a:solidFill>
                <a:latin typeface="Arial"/>
                <a:cs typeface="Arial"/>
              </a:rPr>
              <a:t>≈10× N</a:t>
            </a:r>
          </a:p>
        </p:txBody>
      </p:sp>
      <p:sp>
        <p:nvSpPr>
          <p:cNvPr id="50" name="effect_warning">
            <a:extLst>
              <a:ext uri="{FF2B5EF4-FFF2-40B4-BE49-F238E27FC236}">
                <a16:creationId xmlns:a16="http://schemas.microsoft.com/office/drawing/2014/main" id="{0200999E-40DE-4B41-9C7B-81096D787605}"/>
              </a:ext>
            </a:extLst>
          </p:cNvPr>
          <p:cNvSpPr txBox="1"/>
          <p:nvPr/>
        </p:nvSpPr>
        <p:spPr>
          <a:xfrm>
            <a:off x="5054600" y="3987800"/>
            <a:ext cx="27305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04A02"/>
                </a:solidFill>
                <a:latin typeface="Arial"/>
                <a:cs typeface="Arial"/>
              </a:rPr>
              <a:t>Interactions multiply tests, sample-size needs, and validation burden.</a:t>
            </a:r>
          </a:p>
        </p:txBody>
      </p:sp>
      <p:sp>
        <p:nvSpPr>
          <p:cNvPr id="51" name="takeaway_band">
            <a:extLst>
              <a:ext uri="{FF2B5EF4-FFF2-40B4-BE49-F238E27FC236}">
                <a16:creationId xmlns:a16="http://schemas.microsoft.com/office/drawing/2014/main" id="{6CAFF1CC-455C-0141-A01D-56A99C916DC2}"/>
              </a:ext>
            </a:extLst>
          </p:cNvPr>
          <p:cNvSpPr/>
          <p:nvPr/>
        </p:nvSpPr>
        <p:spPr>
          <a:xfrm>
            <a:off x="812800" y="4343400"/>
            <a:ext cx="7620000" cy="431800"/>
          </a:xfrm>
          <a:prstGeom prst="rect">
            <a:avLst/>
          </a:prstGeom>
          <a:solidFill>
            <a:srgbClr val="EFE8FF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600">
              <a:latin typeface="Arial"/>
              <a:cs typeface="Arial"/>
            </a:endParaRPr>
          </a:p>
        </p:txBody>
      </p:sp>
      <p:sp>
        <p:nvSpPr>
          <p:cNvPr id="52" name="takeaway_text">
            <a:extLst>
              <a:ext uri="{FF2B5EF4-FFF2-40B4-BE49-F238E27FC236}">
                <a16:creationId xmlns:a16="http://schemas.microsoft.com/office/drawing/2014/main" id="{4C51CDEB-28C0-FB40-8770-0290FBC9ABC4}"/>
              </a:ext>
            </a:extLst>
          </p:cNvPr>
          <p:cNvSpPr txBox="1"/>
          <p:nvPr/>
        </p:nvSpPr>
        <p:spPr>
          <a:xfrm>
            <a:off x="990600" y="4419600"/>
            <a:ext cx="723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D04A02"/>
                </a:solidFill>
                <a:latin typeface="Arial"/>
                <a:cs typeface="Arial"/>
              </a:rPr>
              <a:t>Start with conditional-on-risk estimates; </a:t>
            </a:r>
            <a:r>
              <a:rPr lang="en-US" sz="1200" b="1" dirty="0" err="1">
                <a:solidFill>
                  <a:srgbClr val="D04A02"/>
                </a:solidFill>
                <a:latin typeface="Arial"/>
                <a:cs typeface="Arial"/>
              </a:rPr>
              <a:t>Treatment×covariate</a:t>
            </a:r>
            <a:r>
              <a:rPr lang="en-US" sz="1200" b="1" dirty="0">
                <a:solidFill>
                  <a:srgbClr val="D04A02"/>
                </a:solidFill>
                <a:latin typeface="Arial"/>
                <a:cs typeface="Arial"/>
              </a:rPr>
              <a:t> interactions only with strong priors or very large pooled data.</a:t>
            </a:r>
          </a:p>
        </p:txBody>
      </p:sp>
      <p:sp>
        <p:nvSpPr>
          <p:cNvPr id="53" name="source_note">
            <a:extLst>
              <a:ext uri="{FF2B5EF4-FFF2-40B4-BE49-F238E27FC236}">
                <a16:creationId xmlns:a16="http://schemas.microsoft.com/office/drawing/2014/main" id="{437513A5-5C4E-EE4F-A335-AFC82310C898}"/>
              </a:ext>
            </a:extLst>
          </p:cNvPr>
          <p:cNvSpPr txBox="1"/>
          <p:nvPr/>
        </p:nvSpPr>
        <p:spPr>
          <a:xfrm>
            <a:off x="552450" y="4927600"/>
            <a:ext cx="81280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5E5573"/>
                </a:solidFill>
                <a:latin typeface="Arial"/>
                <a:cs typeface="Arial"/>
              </a:rPr>
              <a:t>Source: PATH Statement; Kent et al., Ann Intern Med 2020.</a:t>
            </a:r>
          </a:p>
        </p:txBody>
      </p:sp>
    </p:spTree>
    <p:extLst>
      <p:ext uri="{BB962C8B-B14F-4D97-AF65-F5344CB8AC3E}">
        <p14:creationId xmlns:p14="http://schemas.microsoft.com/office/powerpoint/2010/main" val="22506705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51EC000-1E49-466B-BEA1-9F4BD4C167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203415-8631-4D45-B864-E15895074ECB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1CF30B-EE7D-4EB8-B173-C5662BF75D5F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1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1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CLOSING | PATH</a:t>
            </a:r>
            <a:endParaRPr sz="1100" b="1">
              <a:solidFill>
                <a:srgbClr val="4A00E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6476A7-C17C-4204-8E6C-155A264709ED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24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Risk-first prediction is the practical path</a:t>
            </a:r>
            <a:endParaRPr sz="2400" b="1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630CED-BB5B-406F-9A8E-DFEF9B6D5475}"/>
              </a:ext>
            </a:extLst>
          </p:cNvPr>
          <p:cNvSpPr>
            <a:spLocks noGrp="1"/>
          </p:cNvSpPr>
          <p:nvPr/>
        </p:nvSpPr>
        <p:spPr>
          <a:xfrm>
            <a:off x="876300" y="1143000"/>
            <a:ext cx="3238500" cy="1250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FCF467-448C-4622-A5BA-68637F85A2DC}"/>
              </a:ext>
            </a:extLst>
          </p:cNvPr>
          <p:cNvSpPr>
            <a:spLocks noGrp="1"/>
          </p:cNvSpPr>
          <p:nvPr/>
        </p:nvSpPr>
        <p:spPr>
          <a:xfrm>
            <a:off x="876300" y="1143000"/>
            <a:ext cx="66675" cy="1047750"/>
          </a:xfrm>
          <a:prstGeom prst="rect">
            <a:avLst/>
          </a:prstGeom>
          <a:solidFill>
            <a:srgbClr val="FF5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E53280-B219-4EA1-A4E0-E271BEC7B27B}"/>
              </a:ext>
            </a:extLst>
          </p:cNvPr>
          <p:cNvSpPr>
            <a:spLocks noGrp="1"/>
          </p:cNvSpPr>
          <p:nvPr/>
        </p:nvSpPr>
        <p:spPr>
          <a:xfrm>
            <a:off x="1123950" y="1314450"/>
            <a:ext cx="165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122" b="1">
                <a:solidFill>
                  <a:srgbClr val="FF5D55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5D55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443DB2-84E2-4553-A65C-6821B4E4BDA1}"/>
              </a:ext>
            </a:extLst>
          </p:cNvPr>
          <p:cNvSpPr>
            <a:spLocks noGrp="1"/>
          </p:cNvSpPr>
          <p:nvPr/>
        </p:nvSpPr>
        <p:spPr>
          <a:xfrm>
            <a:off x="1123950" y="1514475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964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Act earlier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6407F5-B3D2-4944-A537-8C17452AAEC5}"/>
              </a:ext>
            </a:extLst>
          </p:cNvPr>
          <p:cNvSpPr>
            <a:spLocks noGrp="1"/>
          </p:cNvSpPr>
          <p:nvPr/>
        </p:nvSpPr>
        <p:spPr>
          <a:xfrm>
            <a:off x="1123950" y="1809750"/>
            <a:ext cx="2743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defRPr sz="1310" b="0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600" dirty="0">
                <a:solidFill>
                  <a:srgbClr val="4A4170"/>
                </a:solidFill>
                <a:latin typeface="Arial"/>
                <a:ea typeface="Arial"/>
                <a:cs typeface="Arial"/>
              </a:rPr>
              <a:t>Target scarce attention</a:t>
            </a:r>
            <a:endParaRPr sz="1600" dirty="0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3E9D03-BFB1-492D-84FB-927D89B6C51A}"/>
              </a:ext>
            </a:extLst>
          </p:cNvPr>
          <p:cNvSpPr>
            <a:spLocks noGrp="1"/>
          </p:cNvSpPr>
          <p:nvPr/>
        </p:nvSpPr>
        <p:spPr>
          <a:xfrm>
            <a:off x="4762500" y="1143000"/>
            <a:ext cx="32385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10EE7F-4262-4E08-B6C6-DBCF735F4BFD}"/>
              </a:ext>
            </a:extLst>
          </p:cNvPr>
          <p:cNvSpPr>
            <a:spLocks noGrp="1"/>
          </p:cNvSpPr>
          <p:nvPr/>
        </p:nvSpPr>
        <p:spPr>
          <a:xfrm>
            <a:off x="4762500" y="1143000"/>
            <a:ext cx="66675" cy="10477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132147-DBEA-419C-BE4B-3669B7383B28}"/>
              </a:ext>
            </a:extLst>
          </p:cNvPr>
          <p:cNvSpPr>
            <a:spLocks noGrp="1"/>
          </p:cNvSpPr>
          <p:nvPr/>
        </p:nvSpPr>
        <p:spPr>
          <a:xfrm>
            <a:off x="5010150" y="1314450"/>
            <a:ext cx="165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122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LABEL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98F2D9-9E5C-4BE2-A01A-2000C30A81EC}"/>
              </a:ext>
            </a:extLst>
          </p:cNvPr>
          <p:cNvSpPr>
            <a:spLocks noGrp="1"/>
          </p:cNvSpPr>
          <p:nvPr/>
        </p:nvSpPr>
        <p:spPr>
          <a:xfrm>
            <a:off x="5010150" y="1514475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964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Label better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EADE88-ADC1-41F1-B7F3-7A1AF1A1BAB4}"/>
              </a:ext>
            </a:extLst>
          </p:cNvPr>
          <p:cNvSpPr>
            <a:spLocks noGrp="1"/>
          </p:cNvSpPr>
          <p:nvPr/>
        </p:nvSpPr>
        <p:spPr>
          <a:xfrm>
            <a:off x="5010150" y="1809750"/>
            <a:ext cx="2743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defRPr sz="1310" b="0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4A4170"/>
                </a:solidFill>
                <a:latin typeface="Arial"/>
                <a:ea typeface="Arial"/>
                <a:cs typeface="Arial"/>
              </a:rPr>
              <a:t>Build risk-defined reference classes</a:t>
            </a:r>
            <a:endParaRPr sz="1600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94A0B2-BFD6-4D3D-B23E-0610BD954848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3238500" cy="1308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8CD342-A451-432D-9635-F26988BCF725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66675" cy="1047750"/>
          </a:xfrm>
          <a:prstGeom prst="rect">
            <a:avLst/>
          </a:prstGeom>
          <a:solidFill>
            <a:srgbClr val="7CAF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73141E-53CD-4BF8-88C3-FEC58FBDAC70}"/>
              </a:ext>
            </a:extLst>
          </p:cNvPr>
          <p:cNvSpPr>
            <a:spLocks noGrp="1"/>
          </p:cNvSpPr>
          <p:nvPr/>
        </p:nvSpPr>
        <p:spPr>
          <a:xfrm>
            <a:off x="1123950" y="2647950"/>
            <a:ext cx="165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122" b="1">
                <a:solidFill>
                  <a:srgbClr val="7CAFD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7CAFD0"/>
                </a:solidFill>
                <a:latin typeface="Arial"/>
                <a:ea typeface="Arial"/>
                <a:cs typeface="Arial"/>
              </a:rPr>
              <a:t>ENRICH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21D68E-A6FE-4617-B859-8209C6F649B2}"/>
              </a:ext>
            </a:extLst>
          </p:cNvPr>
          <p:cNvSpPr>
            <a:spLocks noGrp="1"/>
          </p:cNvSpPr>
          <p:nvPr/>
        </p:nvSpPr>
        <p:spPr>
          <a:xfrm>
            <a:off x="1123950" y="2847975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964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Enrich trials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85CC66-3868-44D7-A1C9-1CB46BC23C1E}"/>
              </a:ext>
            </a:extLst>
          </p:cNvPr>
          <p:cNvSpPr>
            <a:spLocks noGrp="1"/>
          </p:cNvSpPr>
          <p:nvPr/>
        </p:nvSpPr>
        <p:spPr>
          <a:xfrm>
            <a:off x="1123950" y="3143250"/>
            <a:ext cx="2743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defRPr sz="1310" b="0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600" dirty="0">
                <a:solidFill>
                  <a:srgbClr val="4A4170"/>
                </a:solidFill>
                <a:latin typeface="Arial"/>
                <a:ea typeface="Arial"/>
                <a:cs typeface="Arial"/>
              </a:rPr>
              <a:t>Select patients where events are plausible</a:t>
            </a:r>
            <a:endParaRPr sz="1600" dirty="0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FF7F9B-4F37-40FC-99E2-AD985B512977}"/>
              </a:ext>
            </a:extLst>
          </p:cNvPr>
          <p:cNvSpPr>
            <a:spLocks noGrp="1"/>
          </p:cNvSpPr>
          <p:nvPr/>
        </p:nvSpPr>
        <p:spPr>
          <a:xfrm>
            <a:off x="4762500" y="2476500"/>
            <a:ext cx="3238500" cy="1308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81AF4D-8313-4847-8270-BA053B8FA59A}"/>
              </a:ext>
            </a:extLst>
          </p:cNvPr>
          <p:cNvSpPr>
            <a:spLocks noGrp="1"/>
          </p:cNvSpPr>
          <p:nvPr/>
        </p:nvSpPr>
        <p:spPr>
          <a:xfrm>
            <a:off x="4762500" y="2476500"/>
            <a:ext cx="66675" cy="10477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766876-4712-4A43-BB8C-7E079206C0BA}"/>
              </a:ext>
            </a:extLst>
          </p:cNvPr>
          <p:cNvSpPr>
            <a:spLocks noGrp="1"/>
          </p:cNvSpPr>
          <p:nvPr/>
        </p:nvSpPr>
        <p:spPr>
          <a:xfrm>
            <a:off x="5010150" y="2647950"/>
            <a:ext cx="165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122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ESTIMATE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56F0AF-BDD4-41C4-92EC-FE22405FEBF8}"/>
              </a:ext>
            </a:extLst>
          </p:cNvPr>
          <p:cNvSpPr>
            <a:spLocks noGrp="1"/>
          </p:cNvSpPr>
          <p:nvPr/>
        </p:nvSpPr>
        <p:spPr>
          <a:xfrm>
            <a:off x="5010150" y="2847975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964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Estimate precisely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91A241-8D3A-48C0-84B9-032CBB99F621}"/>
              </a:ext>
            </a:extLst>
          </p:cNvPr>
          <p:cNvSpPr>
            <a:spLocks noGrp="1"/>
          </p:cNvSpPr>
          <p:nvPr/>
        </p:nvSpPr>
        <p:spPr>
          <a:xfrm>
            <a:off x="5010150" y="3143250"/>
            <a:ext cx="2743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defRPr sz="1310" b="0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4A4170"/>
                </a:solidFill>
                <a:latin typeface="Arial"/>
                <a:ea typeface="Arial"/>
                <a:cs typeface="Arial"/>
              </a:rPr>
              <a:t>Preserve randomization; reduce noise</a:t>
            </a:r>
            <a:endParaRPr sz="1600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659FCD-9E6B-4702-8B5D-7B687D8DFABE}"/>
              </a:ext>
            </a:extLst>
          </p:cNvPr>
          <p:cNvSpPr>
            <a:spLocks noGrp="1"/>
          </p:cNvSpPr>
          <p:nvPr/>
        </p:nvSpPr>
        <p:spPr>
          <a:xfrm>
            <a:off x="1143000" y="3784600"/>
            <a:ext cx="685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ctr">
              <a:defRPr sz="159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 b="1" dirty="0">
                <a:solidFill>
                  <a:srgbClr val="E85B00"/>
                </a:solidFill>
                <a:latin typeface="Arial"/>
                <a:ea typeface="Arial"/>
                <a:cs typeface="Arial"/>
              </a:rPr>
              <a:t>Personalize with risk-defined averages; reserve </a:t>
            </a:r>
            <a:r>
              <a:rPr lang="en-US" sz="1600" b="1" dirty="0" err="1">
                <a:solidFill>
                  <a:srgbClr val="E85B00"/>
                </a:solidFill>
                <a:latin typeface="Arial"/>
                <a:ea typeface="Arial"/>
                <a:cs typeface="Arial"/>
              </a:rPr>
              <a:t>treatment×covariate</a:t>
            </a:r>
            <a:r>
              <a:rPr lang="en-US" sz="1600" b="1" dirty="0">
                <a:solidFill>
                  <a:srgbClr val="E85B00"/>
                </a:solidFill>
                <a:latin typeface="Arial"/>
                <a:ea typeface="Arial"/>
                <a:cs typeface="Arial"/>
              </a:rPr>
              <a:t> response models for high-power, high-prior settings.</a:t>
            </a:r>
            <a:endParaRPr sz="1600" b="1" dirty="0">
              <a:solidFill>
                <a:srgbClr val="E85B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AC87F2-42FA-4552-8906-C956FB3D6D54}"/>
              </a:ext>
            </a:extLst>
          </p:cNvPr>
          <p:cNvSpPr>
            <a:spLocks noGrp="1"/>
          </p:cNvSpPr>
          <p:nvPr/>
        </p:nvSpPr>
        <p:spPr>
          <a:xfrm>
            <a:off x="2381250" y="47244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000" b="0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4A4170"/>
                </a:solidFill>
                <a:latin typeface="Arial"/>
                <a:ea typeface="Arial"/>
                <a:cs typeface="Arial"/>
              </a:rPr>
              <a:t>Brian W. Locke, MD, MSCI  |  </a:t>
            </a:r>
            <a:r>
              <a:rPr sz="1600" b="0" dirty="0" err="1">
                <a:solidFill>
                  <a:srgbClr val="4A4170"/>
                </a:solidFill>
                <a:latin typeface="Arial"/>
                <a:ea typeface="Arial"/>
                <a:cs typeface="Arial"/>
              </a:rPr>
              <a:t>brian.locke@imail.org</a:t>
            </a:r>
            <a:endParaRPr sz="1600" b="0" dirty="0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2046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39F4A6-759C-4F46-8BA4-B88055A128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2C6142-7E87-4912-91DD-66871AFBB912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026B50-328D-4374-8753-8B6823A29185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1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1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REFERENCES</a:t>
            </a:r>
            <a:endParaRPr sz="1100" b="1">
              <a:solidFill>
                <a:srgbClr val="4A00E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816043-1363-42B4-8415-62A9E934D5D5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2400" b="1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Key citations</a:t>
            </a:r>
            <a:endParaRPr sz="2400" b="1" dirty="0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5F1C08-D8C2-4C99-B20A-40C3D7591FDB}"/>
              </a:ext>
            </a:extLst>
          </p:cNvPr>
          <p:cNvSpPr>
            <a:spLocks noGrp="1"/>
          </p:cNvSpPr>
          <p:nvPr/>
        </p:nvSpPr>
        <p:spPr>
          <a:xfrm>
            <a:off x="952500" y="1219200"/>
            <a:ext cx="3238500" cy="3581400"/>
          </a:xfrm>
          <a:prstGeom prst="rect">
            <a:avLst/>
          </a:prstGeom>
          <a:solidFill>
            <a:srgbClr val="EEF7F6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321744-FF46-409E-BDBC-6354026AA576}"/>
              </a:ext>
            </a:extLst>
          </p:cNvPr>
          <p:cNvSpPr>
            <a:spLocks noGrp="1"/>
          </p:cNvSpPr>
          <p:nvPr/>
        </p:nvSpPr>
        <p:spPr>
          <a:xfrm>
            <a:off x="1066800" y="1320800"/>
            <a:ext cx="3009900" cy="337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 anchorCtr="0">
            <a:noAutofit/>
          </a:bodyPr>
          <a:lstStyle/>
          <a:p>
            <a:pPr algn="l"/>
            <a:r>
              <a:rPr lang="en-US" sz="95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1. Kent DM, Paulus JK, van Klaveren D, et al. The PATH Statement. Ann Intern Med. 2020;172:35-45.</a:t>
            </a:r>
          </a:p>
          <a:p>
            <a:pPr algn="l"/>
            <a:endParaRPr lang="en-US" sz="400"/>
          </a:p>
          <a:p>
            <a:pPr algn="l"/>
            <a:r>
              <a:rPr lang="en-US" sz="95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2. Kent DM, van Klaveren D, Paulus JK, et al. PATH Statement: explanation and elaboration. Ann Intern Med. 2020;172:W1-W25.</a:t>
            </a:r>
          </a:p>
          <a:p>
            <a:pPr algn="l"/>
            <a:endParaRPr lang="en-US" sz="400"/>
          </a:p>
          <a:p>
            <a:pPr algn="l"/>
            <a:r>
              <a:rPr lang="en-US" sz="95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3. Kent DM, Steyerberg E, van Klaveren D. Personalized evidence-based medicine. BMJ. 2018;363:k4245.</a:t>
            </a:r>
          </a:p>
          <a:p>
            <a:pPr algn="l"/>
            <a:endParaRPr lang="en-US" sz="400"/>
          </a:p>
          <a:p>
            <a:pPr algn="l"/>
            <a:r>
              <a:rPr lang="en-US" sz="95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4. Kent DM, Hayward RA. Need for risk stratification. JAMA. 2007;298:1209-1212.</a:t>
            </a:r>
          </a:p>
          <a:p>
            <a:pPr algn="l"/>
            <a:endParaRPr lang="en-US" sz="400"/>
          </a:p>
          <a:p>
            <a:pPr algn="l"/>
            <a:r>
              <a:rPr lang="en-US" sz="95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5. Kent DM, Nelson J, Dahabreh IJ, et al. Risk and treatment effect heterogeneity: 32 trials. Int J Epidemiol. 2016;45:2075-2088.</a:t>
            </a:r>
          </a:p>
          <a:p>
            <a:pPr algn="l"/>
            <a:endParaRPr lang="en-US" sz="400"/>
          </a:p>
          <a:p>
            <a:pPr algn="l"/>
            <a:r>
              <a:rPr lang="en-US" sz="95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6. van Klaveren D, Balan TA, Steyerberg EW, et al. Interaction models overestimated HTE. J Clin Epidemiol. 2019;114:72-83.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1BCB4C-25C6-42BC-B92D-BA6E339BE777}"/>
              </a:ext>
            </a:extLst>
          </p:cNvPr>
          <p:cNvSpPr>
            <a:spLocks noGrp="1"/>
          </p:cNvSpPr>
          <p:nvPr/>
        </p:nvSpPr>
        <p:spPr>
          <a:xfrm>
            <a:off x="4476750" y="1219200"/>
            <a:ext cx="3238500" cy="3581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571EDC-F2D7-44E0-8F56-D3EE7643003B}"/>
              </a:ext>
            </a:extLst>
          </p:cNvPr>
          <p:cNvSpPr>
            <a:spLocks noGrp="1"/>
          </p:cNvSpPr>
          <p:nvPr/>
        </p:nvSpPr>
        <p:spPr>
          <a:xfrm>
            <a:off x="4591050" y="1320800"/>
            <a:ext cx="3009900" cy="337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 anchorCtr="0">
            <a:noAutofit/>
          </a:bodyPr>
          <a:lstStyle/>
          <a:p>
            <a:pPr algn="l"/>
            <a:r>
              <a:rPr lang="en-US" sz="95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7. Sussman JB, Kent DM, Nelson JP, et al. DPP risk-based treatment reanalysis. BMJ. 2015;350:h454.</a:t>
            </a:r>
          </a:p>
          <a:p>
            <a:pPr algn="l"/>
            <a:endParaRPr lang="en-US" sz="400"/>
          </a:p>
          <a:p>
            <a:pPr algn="l"/>
            <a:r>
              <a:rPr lang="en-US" sz="95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8. Fox KA, Poole-Wilson P, Clayton TC, et al. RITA-3 5-year outcomes. Lancet. 2005;366:914-920.</a:t>
            </a:r>
          </a:p>
          <a:p>
            <a:pPr algn="l"/>
            <a:endParaRPr lang="en-US" sz="400"/>
          </a:p>
          <a:p>
            <a:pPr algn="l"/>
            <a:r>
              <a:rPr lang="en-US" sz="95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9. Stegenga J. Care and Cure: An Introduction to the Philosophy of Medicine. Univ of Chicago Press; 2018.</a:t>
            </a:r>
          </a:p>
          <a:p>
            <a:pPr algn="l"/>
            <a:endParaRPr lang="en-US" sz="400"/>
          </a:p>
          <a:p>
            <a:pPr algn="l"/>
            <a:r>
              <a:rPr lang="en-US" sz="95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10. Doust J, Vandvik PO, Qaseem A, et al. Guidance for modifying disease definitions. JAMA Intern Med. 2017;177:1020-1025.</a:t>
            </a:r>
          </a:p>
          <a:p>
            <a:pPr algn="l"/>
            <a:endParaRPr lang="en-US" sz="400"/>
          </a:p>
          <a:p>
            <a:pPr algn="l"/>
            <a:r>
              <a:rPr lang="en-US" sz="95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11. Ranieri VM, et al. Acute respiratory distress syndrome definitions. Am J Respir Crit Care Med. 2022;205:1247-1259.</a:t>
            </a:r>
          </a:p>
          <a:p>
            <a:pPr algn="l"/>
            <a:endParaRPr lang="en-US" sz="400"/>
          </a:p>
          <a:p>
            <a:pPr algn="l"/>
            <a:r>
              <a:rPr lang="en-US" sz="95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12. Carrell DS, et al. Phenotyping from clinical text. J Am Med Inform Assoc. 2025.</a:t>
            </a:r>
          </a:p>
          <a:p>
            <a:pPr algn="l"/>
            <a:endParaRPr lang="en-US" sz="400"/>
          </a:p>
          <a:p>
            <a:pPr algn="l"/>
            <a:r>
              <a:rPr lang="en-US" sz="950" b="0" dirty="0">
                <a:solidFill>
                  <a:srgbClr val="110057"/>
                </a:solidFill>
                <a:latin typeface="Arial"/>
                <a:ea typeface="Arial"/>
                <a:cs typeface="Arial"/>
              </a:rPr>
              <a:t>13. Finkelstein A, Zhou A, Taubman S, Doyle J. Health care hotspotting — a randomized, controlled trial. N Engl J Med. 2020;382:152-162.</a:t>
            </a:r>
          </a:p>
        </p:txBody>
      </p:sp>
    </p:spTree>
    <p:extLst>
      <p:ext uri="{BB962C8B-B14F-4D97-AF65-F5344CB8AC3E}">
        <p14:creationId xmlns:p14="http://schemas.microsoft.com/office/powerpoint/2010/main" val="38335946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51EC000-1E49-466B-BEA1-9F4BD4C167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203415-8631-4D45-B864-E15895074ECB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1CF30B-EE7D-4EB8-B173-C5662BF75D5F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1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1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THANK YOU</a:t>
            </a:r>
            <a:endParaRPr sz="1100" b="1">
              <a:solidFill>
                <a:srgbClr val="4A00E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6476A7-C17C-4204-8E6C-155A264709ED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24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Thank you</a:t>
            </a:r>
            <a:endParaRPr sz="2400" b="1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AC87F2-42FA-4552-8906-C956FB3D6D54}"/>
              </a:ext>
            </a:extLst>
          </p:cNvPr>
          <p:cNvSpPr>
            <a:spLocks noGrp="1"/>
          </p:cNvSpPr>
          <p:nvPr/>
        </p:nvSpPr>
        <p:spPr>
          <a:xfrm>
            <a:off x="2266950" y="36195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000" b="0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600" dirty="0">
                <a:solidFill>
                  <a:srgbClr val="4A4170"/>
                </a:solidFill>
                <a:latin typeface="Arial"/>
                <a:ea typeface="Arial"/>
                <a:cs typeface="Arial"/>
              </a:rPr>
              <a:t>Brian W. Locke, MD, MSCI  |  </a:t>
            </a:r>
            <a:r>
              <a:rPr lang="en-US" sz="1600" dirty="0" err="1">
                <a:solidFill>
                  <a:srgbClr val="4A4170"/>
                </a:solidFill>
                <a:latin typeface="Arial"/>
                <a:ea typeface="Arial"/>
                <a:cs typeface="Arial"/>
              </a:rPr>
              <a:t>brian.locke@imail.org</a:t>
            </a:r>
            <a:endParaRPr sz="1600" dirty="0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BP_thanks_question">
            <a:extLst>
              <a:ext uri="{FF2B5EF4-FFF2-40B4-BE49-F238E27FC236}">
                <a16:creationId xmlns:a16="http://schemas.microsoft.com/office/drawing/2014/main" id="{150EC786-9A2D-4B4C-828C-DE0594FB62EA}"/>
              </a:ext>
            </a:extLst>
          </p:cNvPr>
          <p:cNvSpPr txBox="1"/>
          <p:nvPr/>
        </p:nvSpPr>
        <p:spPr>
          <a:xfrm>
            <a:off x="1143000" y="1968500"/>
            <a:ext cx="685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600" b="1">
                <a:solidFill>
                  <a:srgbClr val="4A00E2"/>
                </a:solidFill>
                <a:latin typeface="Arial"/>
                <a:cs typeface="Arial"/>
              </a:rPr>
              <a:t>Questions and discussion</a:t>
            </a:r>
          </a:p>
        </p:txBody>
      </p:sp>
      <p:sp>
        <p:nvSpPr>
          <p:cNvPr id="31" name="BP_thanks_thread">
            <a:extLst>
              <a:ext uri="{FF2B5EF4-FFF2-40B4-BE49-F238E27FC236}">
                <a16:creationId xmlns:a16="http://schemas.microsoft.com/office/drawing/2014/main" id="{09640ABC-169B-D04B-AD72-46A8A16B9359}"/>
              </a:ext>
            </a:extLst>
          </p:cNvPr>
          <p:cNvSpPr txBox="1"/>
          <p:nvPr/>
        </p:nvSpPr>
        <p:spPr>
          <a:xfrm>
            <a:off x="1549400" y="2768600"/>
            <a:ext cx="6045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4A4170"/>
                </a:solidFill>
                <a:latin typeface="Arial"/>
                <a:cs typeface="Arial"/>
              </a:rPr>
              <a:t>Key thread: use prediction to define better risk-based decisions—not to overclaim observed individual treatment effects.</a:t>
            </a:r>
          </a:p>
        </p:txBody>
      </p:sp>
    </p:spTree>
    <p:extLst>
      <p:ext uri="{BB962C8B-B14F-4D97-AF65-F5344CB8AC3E}">
        <p14:creationId xmlns:p14="http://schemas.microsoft.com/office/powerpoint/2010/main" val="40996596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39F4A6-759C-4F46-8BA4-B88055A128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2C6142-7E87-4912-91DD-66871AFBB912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026B50-328D-4374-8753-8B6823A29185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1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1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APPENDIX A1</a:t>
            </a:r>
            <a:endParaRPr sz="1100" b="1">
              <a:solidFill>
                <a:srgbClr val="4A00E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816043-1363-42B4-8415-62A9E934D5D5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24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A1. PATH vocabulary for risk-first personalization</a:t>
            </a:r>
            <a:endParaRPr sz="2400" b="1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1DCB5-2573-4484-BD22-F2757C4FC1E4}"/>
              </a:ext>
            </a:extLst>
          </p:cNvPr>
          <p:cNvSpPr>
            <a:spLocks noGrp="1"/>
          </p:cNvSpPr>
          <p:nvPr/>
        </p:nvSpPr>
        <p:spPr>
          <a:xfrm>
            <a:off x="552450" y="4876800"/>
            <a:ext cx="609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defRPr sz="1000" b="0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4A4170"/>
                </a:solidFill>
                <a:latin typeface="Arial"/>
                <a:ea typeface="Arial"/>
                <a:cs typeface="Arial"/>
              </a:rPr>
              <a:t>PATH Statement; Kent et al., Ann Intern Med 2020</a:t>
            </a:r>
            <a:endParaRPr sz="1600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E2BD8C-9C8F-404A-9F9A-A41419CEEE96}"/>
              </a:ext>
            </a:extLst>
          </p:cNvPr>
          <p:cNvSpPr>
            <a:spLocks noGrp="1"/>
          </p:cNvSpPr>
          <p:nvPr/>
        </p:nvSpPr>
        <p:spPr>
          <a:xfrm>
            <a:off x="7277100" y="4876800"/>
            <a:ext cx="1314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r">
              <a:defRPr sz="1000" b="0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4A4170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5F1C08-D8C2-4C99-B20A-40C3D7591FDB}"/>
              </a:ext>
            </a:extLst>
          </p:cNvPr>
          <p:cNvSpPr>
            <a:spLocks noGrp="1"/>
          </p:cNvSpPr>
          <p:nvPr/>
        </p:nvSpPr>
        <p:spPr>
          <a:xfrm>
            <a:off x="952500" y="1333500"/>
            <a:ext cx="2857500" cy="1028700"/>
          </a:xfrm>
          <a:prstGeom prst="rect">
            <a:avLst/>
          </a:prstGeom>
          <a:solidFill>
            <a:srgbClr val="EEF7F6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321744-FF46-409E-BDBC-6354026AA576}"/>
              </a:ext>
            </a:extLst>
          </p:cNvPr>
          <p:cNvSpPr>
            <a:spLocks noGrp="1"/>
          </p:cNvSpPr>
          <p:nvPr/>
        </p:nvSpPr>
        <p:spPr>
          <a:xfrm>
            <a:off x="1066800" y="1422400"/>
            <a:ext cx="2628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defRPr sz="1496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110057"/>
                </a:solidFill>
                <a:latin typeface="Arial"/>
                <a:ea typeface="Arial"/>
                <a:cs typeface="Arial"/>
              </a:rPr>
              <a:t>Keep the terms separate: outcome risk, treatment effect, and clinical utility.</a:t>
            </a:r>
            <a:endParaRPr sz="1600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1BCB4C-25C6-42BC-B92D-BA6E339BE777}"/>
              </a:ext>
            </a:extLst>
          </p:cNvPr>
          <p:cNvSpPr>
            <a:spLocks noGrp="1"/>
          </p:cNvSpPr>
          <p:nvPr/>
        </p:nvSpPr>
        <p:spPr>
          <a:xfrm>
            <a:off x="4286250" y="1333500"/>
            <a:ext cx="3429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571EDC-F2D7-44E0-8F56-D3EE7643003B}"/>
              </a:ext>
            </a:extLst>
          </p:cNvPr>
          <p:cNvSpPr>
            <a:spLocks noGrp="1"/>
          </p:cNvSpPr>
          <p:nvPr/>
        </p:nvSpPr>
        <p:spPr>
          <a:xfrm>
            <a:off x="4400550" y="1422400"/>
            <a:ext cx="3200400" cy="1866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defRPr sz="1496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110057"/>
                </a:solidFill>
                <a:latin typeface="Arial"/>
                <a:ea typeface="Arial"/>
                <a:cs typeface="Arial"/>
              </a:rPr>
              <a:t>HTE = variation in treatment effects on a chosen scale.
Clinically important HTE is usually judged on absolute risk difference.
CATE/reference-class effect = average effect conditional on covariates, not a directly observed person-level effect.</a:t>
            </a:r>
            <a:endParaRPr sz="1600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98946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A0378DF-766D-4763-8241-B1DBAD9939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351396-262F-441C-8788-60444BCA874E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515BF3-0194-4C05-A0C6-6D64EC1C7F01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1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1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APPENDIX A3</a:t>
            </a:r>
            <a:endParaRPr sz="1100" b="1">
              <a:solidFill>
                <a:srgbClr val="4A00E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11B196-F234-46E1-A6E8-58123A72EFCC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24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A3. Absolute benefit is the decision scale</a:t>
            </a:r>
            <a:endParaRPr sz="2400" b="1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29FD88-AF71-4DC6-B835-2450B67ED50B}"/>
              </a:ext>
            </a:extLst>
          </p:cNvPr>
          <p:cNvSpPr>
            <a:spLocks noGrp="1"/>
          </p:cNvSpPr>
          <p:nvPr/>
        </p:nvSpPr>
        <p:spPr>
          <a:xfrm>
            <a:off x="552450" y="4876800"/>
            <a:ext cx="609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defRPr sz="1000" b="0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4A4170"/>
                </a:solidFill>
                <a:latin typeface="Arial"/>
                <a:ea typeface="Arial"/>
                <a:cs typeface="Arial"/>
              </a:rPr>
              <a:t>PATH Statement explanation and elaboration; Figures 1–4</a:t>
            </a:r>
            <a:endParaRPr sz="1600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5203B1-23F2-432A-BB96-390F7AB4C55D}"/>
              </a:ext>
            </a:extLst>
          </p:cNvPr>
          <p:cNvSpPr>
            <a:spLocks noGrp="1"/>
          </p:cNvSpPr>
          <p:nvPr/>
        </p:nvSpPr>
        <p:spPr>
          <a:xfrm>
            <a:off x="7277100" y="4876800"/>
            <a:ext cx="1314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r">
              <a:defRPr sz="1000" b="0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4A4170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2C64E8-C9AB-4327-8789-2DFB77C35057}"/>
              </a:ext>
            </a:extLst>
          </p:cNvPr>
          <p:cNvSpPr>
            <a:spLocks noGrp="1"/>
          </p:cNvSpPr>
          <p:nvPr/>
        </p:nvSpPr>
        <p:spPr>
          <a:xfrm>
            <a:off x="952500" y="1333500"/>
            <a:ext cx="2857500" cy="1028700"/>
          </a:xfrm>
          <a:prstGeom prst="rect">
            <a:avLst/>
          </a:prstGeom>
          <a:solidFill>
            <a:srgbClr val="EEF7F6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444C2D-0FC0-44F0-87AD-A15154A48123}"/>
              </a:ext>
            </a:extLst>
          </p:cNvPr>
          <p:cNvSpPr>
            <a:spLocks noGrp="1"/>
          </p:cNvSpPr>
          <p:nvPr/>
        </p:nvSpPr>
        <p:spPr>
          <a:xfrm>
            <a:off x="1066800" y="1422400"/>
            <a:ext cx="2628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defRPr sz="1496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110057"/>
                </a:solidFill>
                <a:latin typeface="Arial"/>
                <a:ea typeface="Arial"/>
                <a:cs typeface="Arial"/>
              </a:rPr>
              <a:t>Stable relative effects can still create clinically important differences in ARR/NNT.</a:t>
            </a:r>
            <a:endParaRPr sz="1600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26FFE2-488D-47B4-90EF-2F2A0D4AE420}"/>
              </a:ext>
            </a:extLst>
          </p:cNvPr>
          <p:cNvSpPr>
            <a:spLocks noGrp="1"/>
          </p:cNvSpPr>
          <p:nvPr/>
        </p:nvSpPr>
        <p:spPr>
          <a:xfrm>
            <a:off x="4286250" y="1333500"/>
            <a:ext cx="3429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52C904-22B4-464A-A4D1-CF682F263747}"/>
              </a:ext>
            </a:extLst>
          </p:cNvPr>
          <p:cNvSpPr>
            <a:spLocks noGrp="1"/>
          </p:cNvSpPr>
          <p:nvPr/>
        </p:nvSpPr>
        <p:spPr>
          <a:xfrm>
            <a:off x="4400550" y="1422400"/>
            <a:ext cx="3200400" cy="1866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defRPr sz="1496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110057"/>
                </a:solidFill>
                <a:latin typeface="Arial"/>
                <a:ea typeface="Arial"/>
                <a:cs typeface="Arial"/>
              </a:rPr>
              <a:t>Report outcome rates, relative effects, and absolute risk reduction across risk strata.
Show treatment-related harms within each stratum.
Decision thresholds depend on treatment burden and patient values.</a:t>
            </a:r>
            <a:endParaRPr sz="1600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43779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FEAC31B-0103-4292-982A-961FFD7575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54B9F7-44AD-4105-A305-19F26E982E48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E50EF1-FD3A-4E38-A7F8-B9FA75E5C6F5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1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1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APPENDIX A5</a:t>
            </a:r>
            <a:endParaRPr sz="1100" b="1">
              <a:solidFill>
                <a:srgbClr val="4A00E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14A94C-9DD0-4E14-B51A-2EBECF5DB592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rmAutofit fontScale="92500"/>
          </a:bodyPr>
          <a:lstStyle/>
          <a:p>
            <a:pPr algn="l">
              <a:defRPr sz="24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24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A5. Conditional-on-risk estimates preserve randomization</a:t>
            </a:r>
            <a:endParaRPr sz="2400" b="1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CA294B-768A-4023-89C7-E6E3F447F454}"/>
              </a:ext>
            </a:extLst>
          </p:cNvPr>
          <p:cNvSpPr>
            <a:spLocks noGrp="1"/>
          </p:cNvSpPr>
          <p:nvPr/>
        </p:nvSpPr>
        <p:spPr>
          <a:xfrm>
            <a:off x="552450" y="4876800"/>
            <a:ext cx="609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defRPr sz="1000" b="0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4A4170"/>
                </a:solidFill>
                <a:latin typeface="Arial"/>
                <a:ea typeface="Arial"/>
                <a:cs typeface="Arial"/>
              </a:rPr>
              <a:t>PATH risk-modeling strategy; conditional-on-risk reference classes</a:t>
            </a:r>
            <a:endParaRPr sz="1600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FBCC24-FD4E-46D5-89E1-D2D3A5523CFF}"/>
              </a:ext>
            </a:extLst>
          </p:cNvPr>
          <p:cNvSpPr>
            <a:spLocks noGrp="1"/>
          </p:cNvSpPr>
          <p:nvPr/>
        </p:nvSpPr>
        <p:spPr>
          <a:xfrm>
            <a:off x="7277100" y="4876800"/>
            <a:ext cx="1314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r">
              <a:defRPr sz="1000" b="0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4A4170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4BC8-B877-45A5-A1CA-975FBE63A536}"/>
              </a:ext>
            </a:extLst>
          </p:cNvPr>
          <p:cNvSpPr>
            <a:spLocks noGrp="1"/>
          </p:cNvSpPr>
          <p:nvPr/>
        </p:nvSpPr>
        <p:spPr>
          <a:xfrm>
            <a:off x="952500" y="1333500"/>
            <a:ext cx="2857500" cy="1028700"/>
          </a:xfrm>
          <a:prstGeom prst="rect">
            <a:avLst/>
          </a:prstGeom>
          <a:solidFill>
            <a:srgbClr val="EEF7F6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1D9FB9-9215-44A5-9532-4052F4EEFB1D}"/>
              </a:ext>
            </a:extLst>
          </p:cNvPr>
          <p:cNvSpPr>
            <a:spLocks noGrp="1"/>
          </p:cNvSpPr>
          <p:nvPr/>
        </p:nvSpPr>
        <p:spPr>
          <a:xfrm>
            <a:off x="1066800" y="1422400"/>
            <a:ext cx="2628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defRPr sz="1496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110057"/>
                </a:solidFill>
                <a:latin typeface="Arial"/>
                <a:ea typeface="Arial"/>
                <a:cs typeface="Arial"/>
              </a:rPr>
              <a:t>Risk strata are defined before examining treatment effects.</a:t>
            </a:r>
            <a:endParaRPr sz="1600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405EC0-353B-4B8E-9D75-B0758CC325D9}"/>
              </a:ext>
            </a:extLst>
          </p:cNvPr>
          <p:cNvSpPr>
            <a:spLocks noGrp="1"/>
          </p:cNvSpPr>
          <p:nvPr/>
        </p:nvSpPr>
        <p:spPr>
          <a:xfrm>
            <a:off x="4286250" y="1333500"/>
            <a:ext cx="3429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07F8DA-924C-449D-92E3-587F490562AE}"/>
              </a:ext>
            </a:extLst>
          </p:cNvPr>
          <p:cNvSpPr>
            <a:spLocks noGrp="1"/>
          </p:cNvSpPr>
          <p:nvPr/>
        </p:nvSpPr>
        <p:spPr>
          <a:xfrm>
            <a:off x="4400550" y="1422400"/>
            <a:ext cx="3200400" cy="1866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defRPr sz="1216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110057"/>
                </a:solidFill>
                <a:latin typeface="Arial"/>
                <a:ea typeface="Arial"/>
                <a:cs typeface="Arial"/>
              </a:rPr>
              <a:t>Use pre-randomization variables or a prespecified risk model.
Within each stratum, randomization still supports treated-versus-control comparisons.
This gives rigorous, patient-centered reference-class estimates.</a:t>
            </a:r>
            <a:endParaRPr sz="1600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29843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04A1F30-B884-44E9-A96F-781E9F0F0F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497AAC-8A75-46FB-9D88-86EC2AC55711}"/>
              </a:ext>
            </a:extLst>
          </p:cNvPr>
          <p:cNvSpPr>
            <a:spLocks noGrp="1"/>
          </p:cNvSpPr>
          <p:nvPr/>
        </p:nvSpPr>
        <p:spPr>
          <a:xfrm>
            <a:off x="361950" y="742950"/>
            <a:ext cx="57150" cy="3638550"/>
          </a:xfrm>
          <a:prstGeom prst="rect">
            <a:avLst/>
          </a:prstGeom>
          <a:solidFill>
            <a:srgbClr val="4A0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266DD9-978A-4C5B-9B89-94BD0AECD079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100" b="1">
                <a:solidFill>
                  <a:srgbClr val="4A00E2"/>
                </a:solidFill>
                <a:latin typeface="Arial"/>
                <a:ea typeface="Arial"/>
                <a:cs typeface="Arial"/>
              </a:defRPr>
            </a:pPr>
            <a:r>
              <a:rPr lang="en-US" sz="1100" b="1">
                <a:solidFill>
                  <a:srgbClr val="4A00E2"/>
                </a:solidFill>
                <a:latin typeface="Arial"/>
                <a:ea typeface="Arial"/>
                <a:cs typeface="Arial"/>
              </a:rPr>
              <a:t>APPENDIX A6</a:t>
            </a:r>
            <a:endParaRPr sz="1100" b="1">
              <a:solidFill>
                <a:srgbClr val="4A00E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33549A-8933-4612-9534-ADE431518EFF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24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A6. Reporting checklist for PATH-aligned analyses</a:t>
            </a:r>
            <a:endParaRPr sz="2400" b="1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45F1F5-0550-49AE-BE81-5CBA683AE5D1}"/>
              </a:ext>
            </a:extLst>
          </p:cNvPr>
          <p:cNvSpPr>
            <a:spLocks noGrp="1"/>
          </p:cNvSpPr>
          <p:nvPr/>
        </p:nvSpPr>
        <p:spPr>
          <a:xfrm>
            <a:off x="552450" y="4876800"/>
            <a:ext cx="609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defRPr sz="1000" b="0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4A4170"/>
                </a:solidFill>
                <a:latin typeface="Arial"/>
                <a:ea typeface="Arial"/>
                <a:cs typeface="Arial"/>
              </a:rPr>
              <a:t>PATH consensus guidance on applying and reporting risk models</a:t>
            </a:r>
            <a:endParaRPr sz="1600">
              <a:solidFill>
                <a:srgbClr val="4A41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D28A59-00BE-47BE-B738-4E0C3CBCA6C0}"/>
              </a:ext>
            </a:extLst>
          </p:cNvPr>
          <p:cNvSpPr>
            <a:spLocks noGrp="1"/>
          </p:cNvSpPr>
          <p:nvPr/>
        </p:nvSpPr>
        <p:spPr>
          <a:xfrm>
            <a:off x="7277100" y="4876800"/>
            <a:ext cx="1314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r">
              <a:defRPr sz="1000" b="0">
                <a:solidFill>
                  <a:srgbClr val="4A417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4A4170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F2E35E-3165-4581-8A30-6EA8B1ACC14A}"/>
              </a:ext>
            </a:extLst>
          </p:cNvPr>
          <p:cNvSpPr>
            <a:spLocks noGrp="1"/>
          </p:cNvSpPr>
          <p:nvPr/>
        </p:nvSpPr>
        <p:spPr>
          <a:xfrm>
            <a:off x="952500" y="1333500"/>
            <a:ext cx="2857500" cy="1028700"/>
          </a:xfrm>
          <a:prstGeom prst="rect">
            <a:avLst/>
          </a:prstGeom>
          <a:solidFill>
            <a:srgbClr val="EEF7F6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D5B2F1-D5D4-402C-9110-67FF05FCBEB4}"/>
              </a:ext>
            </a:extLst>
          </p:cNvPr>
          <p:cNvSpPr>
            <a:spLocks noGrp="1"/>
          </p:cNvSpPr>
          <p:nvPr/>
        </p:nvSpPr>
        <p:spPr>
          <a:xfrm>
            <a:off x="1066800" y="1422400"/>
            <a:ext cx="2628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defRPr sz="1496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110057"/>
                </a:solidFill>
                <a:latin typeface="Arial"/>
                <a:ea typeface="Arial"/>
                <a:cs typeface="Arial"/>
              </a:rPr>
              <a:t>A risk-first analysis should be readable as a decision analysis.</a:t>
            </a:r>
            <a:endParaRPr sz="1600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11E45F-A29C-448F-93D5-7E84A79CFDE5}"/>
              </a:ext>
            </a:extLst>
          </p:cNvPr>
          <p:cNvSpPr>
            <a:spLocks noGrp="1"/>
          </p:cNvSpPr>
          <p:nvPr/>
        </p:nvSpPr>
        <p:spPr>
          <a:xfrm>
            <a:off x="4286250" y="1333500"/>
            <a:ext cx="3429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 sz="1600"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4EC067-9CB7-4041-A941-46B8140CBA3C}"/>
              </a:ext>
            </a:extLst>
          </p:cNvPr>
          <p:cNvSpPr>
            <a:spLocks noGrp="1"/>
          </p:cNvSpPr>
          <p:nvPr/>
        </p:nvSpPr>
        <p:spPr>
          <a:xfrm>
            <a:off x="4400550" y="1422400"/>
            <a:ext cx="3200400" cy="1866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defRPr sz="1496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lang="en-US" sz="1600">
                <a:solidFill>
                  <a:srgbClr val="110057"/>
                </a:solidFill>
                <a:latin typeface="Arial"/>
                <a:ea typeface="Arial"/>
                <a:cs typeface="Arial"/>
              </a:rPr>
              <a:t>1. Show the risk distribution.
2. Report discrimination/calibration.
3. Show ARR, RR, and NNT by stratum.
4. Include treatment-related harms.
5. Translate to threshold or decision impact.</a:t>
            </a:r>
            <a:endParaRPr sz="1600">
              <a:solidFill>
                <a:srgbClr val="11005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0265088"/>
      </p:ext>
    </p:extLst>
  </p:cSld>
  <p:clrMapOvr>
    <a:masterClrMapping/>
  </p:clrMapOvr>
</p:sld>
</file>

<file path=ppt/theme/theme1.xml><?xml version="1.0" encoding="utf-8"?>
<a:theme xmlns:a="http://schemas.openxmlformats.org/drawingml/2006/main" name="IH Colors">
  <a:themeElements>
    <a:clrScheme name="IH Colors">
      <a:dk1>
        <a:srgbClr val="110057"/>
      </a:dk1>
      <a:lt1>
        <a:srgbClr val="F7F5F9"/>
      </a:lt1>
      <a:dk2>
        <a:srgbClr val="4A00E2"/>
      </a:dk2>
      <a:lt2>
        <a:srgbClr val="FFFFFF"/>
      </a:lt2>
      <a:accent1>
        <a:srgbClr val="110057"/>
      </a:accent1>
      <a:accent2>
        <a:srgbClr val="4A00E2"/>
      </a:accent2>
      <a:accent3>
        <a:srgbClr val="FF0044"/>
      </a:accent3>
      <a:accent4>
        <a:srgbClr val="7CAFD0"/>
      </a:accent4>
      <a:accent5>
        <a:srgbClr val="FF5D55"/>
      </a:accent5>
      <a:accent6>
        <a:srgbClr val="FFBCB9"/>
      </a:accent6>
      <a:hlink>
        <a:srgbClr val="110057"/>
      </a:hlink>
      <a:folHlink>
        <a:srgbClr val="4A00E2"/>
      </a:folHlink>
    </a:clrScheme>
    <a:fontScheme name="IH Offic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IH Color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IH Colors">
  <a:themeElements>
    <a:clrScheme name="IH Colors">
      <a:dk1>
        <a:srgbClr val="110057"/>
      </a:dk1>
      <a:lt1>
        <a:srgbClr val="F7F5F9"/>
      </a:lt1>
      <a:dk2>
        <a:srgbClr val="4A00E2"/>
      </a:dk2>
      <a:lt2>
        <a:srgbClr val="FFFFFF"/>
      </a:lt2>
      <a:accent1>
        <a:srgbClr val="110057"/>
      </a:accent1>
      <a:accent2>
        <a:srgbClr val="4A00E2"/>
      </a:accent2>
      <a:accent3>
        <a:srgbClr val="FF0044"/>
      </a:accent3>
      <a:accent4>
        <a:srgbClr val="7CAFD0"/>
      </a:accent4>
      <a:accent5>
        <a:srgbClr val="FF5D55"/>
      </a:accent5>
      <a:accent6>
        <a:srgbClr val="FFBCB9"/>
      </a:accent6>
      <a:hlink>
        <a:srgbClr val="110057"/>
      </a:hlink>
      <a:folHlink>
        <a:srgbClr val="4A00E2"/>
      </a:folHlink>
    </a:clrScheme>
    <a:fontScheme name="IH Offic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IH Color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8C4627A-8DE7-174C-9894-E8B548ED389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d628948-d51d-4147-a765-75e62f7a3c40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2EB1C7-DCCB-8147-9D4E-82F4D86EBE03}">
  <we:reference id="wa200010215" version="2.0.0.0" store="en-US" storeType="OMEX"/>
  <we:alternateReferences>
    <we:reference id="WA200010215" version="2.0.0.0" store="WA20001021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1969</TotalTime>
  <Words>7028</Words>
  <Application>Microsoft Macintosh PowerPoint</Application>
  <DocSecurity>0</DocSecurity>
  <PresentationFormat>On-screen Show (16:9)</PresentationFormat>
  <Paragraphs>885</Paragraphs>
  <Slides>50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Aptos</vt:lpstr>
      <vt:lpstr>Arial</vt:lpstr>
      <vt:lpstr>IH Colors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Brian Locke</cp:lastModifiedBy>
  <cp:revision>15</cp:revision>
  <dcterms:created xsi:type="dcterms:W3CDTF">2026-05-31T21:47:22Z</dcterms:created>
  <dcterms:modified xsi:type="dcterms:W3CDTF">2026-06-02T07:30:47Z</dcterms:modified>
</cp:coreProperties>
</file>