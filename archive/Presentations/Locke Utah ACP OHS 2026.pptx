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42"/>
  </p:notesMasterIdLst>
  <p:sldIdLst>
    <p:sldId id="786" r:id="rId2"/>
    <p:sldId id="766" r:id="rId3"/>
    <p:sldId id="775" r:id="rId4"/>
    <p:sldId id="791" r:id="rId5"/>
    <p:sldId id="796" r:id="rId6"/>
    <p:sldId id="730" r:id="rId7"/>
    <p:sldId id="806" r:id="rId8"/>
    <p:sldId id="808" r:id="rId9"/>
    <p:sldId id="500" r:id="rId10"/>
    <p:sldId id="813" r:id="rId11"/>
    <p:sldId id="748" r:id="rId12"/>
    <p:sldId id="793" r:id="rId13"/>
    <p:sldId id="816" r:id="rId14"/>
    <p:sldId id="732" r:id="rId15"/>
    <p:sldId id="819" r:id="rId16"/>
    <p:sldId id="262" r:id="rId17"/>
    <p:sldId id="264" r:id="rId18"/>
    <p:sldId id="693" r:id="rId19"/>
    <p:sldId id="697" r:id="rId20"/>
    <p:sldId id="749" r:id="rId21"/>
    <p:sldId id="784" r:id="rId22"/>
    <p:sldId id="750" r:id="rId23"/>
    <p:sldId id="699" r:id="rId24"/>
    <p:sldId id="700" r:id="rId25"/>
    <p:sldId id="702" r:id="rId26"/>
    <p:sldId id="754" r:id="rId27"/>
    <p:sldId id="739" r:id="rId28"/>
    <p:sldId id="695" r:id="rId29"/>
    <p:sldId id="741" r:id="rId30"/>
    <p:sldId id="742" r:id="rId31"/>
    <p:sldId id="707" r:id="rId32"/>
    <p:sldId id="708" r:id="rId33"/>
    <p:sldId id="712" r:id="rId34"/>
    <p:sldId id="744" r:id="rId35"/>
    <p:sldId id="736" r:id="rId36"/>
    <p:sldId id="746" r:id="rId37"/>
    <p:sldId id="752" r:id="rId38"/>
    <p:sldId id="781" r:id="rId39"/>
    <p:sldId id="782" r:id="rId40"/>
    <p:sldId id="780"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48"/>
    <p:restoredTop sz="80272"/>
  </p:normalViewPr>
  <p:slideViewPr>
    <p:cSldViewPr snapToGrid="0">
      <p:cViewPr varScale="1">
        <p:scale>
          <a:sx n="101" d="100"/>
          <a:sy n="101" d="100"/>
        </p:scale>
        <p:origin x="131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3" Type="http://schemas.openxmlformats.org/officeDocument/2006/relationships/oleObject" Target="file:////Users/reblocke/Box/Residency%20Personal%20Files/Scholarly%20Work/Locke%20Research%20Projects/Presentations%20and%20Articles/Graphs%20for%20Hypercapnia-Hypoxemia.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r>
              <a:rPr lang="en-US" sz="2400"/>
              <a:t>PaCO2</a:t>
            </a:r>
            <a:r>
              <a:rPr lang="en-US" sz="2400" baseline="0"/>
              <a:t> at which hypoxemia apparent with normal A-a gradient by age</a:t>
            </a:r>
            <a:endParaRPr lang="en-US" sz="2400"/>
          </a:p>
        </c:rich>
      </c:tx>
      <c:overlay val="0"/>
      <c:spPr>
        <a:noFill/>
        <a:ln>
          <a:noFill/>
        </a:ln>
        <a:effectLst/>
      </c:spPr>
      <c:txPr>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v>PaCO2 at 4500 ft</c:v>
          </c:tx>
          <c:spPr>
            <a:ln w="28575" cap="rnd">
              <a:solidFill>
                <a:schemeClr val="accent1"/>
              </a:solidFill>
              <a:round/>
            </a:ln>
            <a:effectLst/>
          </c:spPr>
          <c:marker>
            <c:symbol val="none"/>
          </c:marker>
          <c:cat>
            <c:numRef>
              <c:f>Sheet1!$A$2:$A$10</c:f>
              <c:numCache>
                <c:formatCode>General</c:formatCode>
                <c:ptCount val="9"/>
                <c:pt idx="0">
                  <c:v>10</c:v>
                </c:pt>
                <c:pt idx="1">
                  <c:v>20</c:v>
                </c:pt>
                <c:pt idx="2">
                  <c:v>30</c:v>
                </c:pt>
                <c:pt idx="3">
                  <c:v>40</c:v>
                </c:pt>
                <c:pt idx="4">
                  <c:v>50</c:v>
                </c:pt>
                <c:pt idx="5">
                  <c:v>60</c:v>
                </c:pt>
                <c:pt idx="6">
                  <c:v>70</c:v>
                </c:pt>
                <c:pt idx="7">
                  <c:v>80</c:v>
                </c:pt>
                <c:pt idx="8">
                  <c:v>90</c:v>
                </c:pt>
              </c:numCache>
            </c:numRef>
          </c:cat>
          <c:val>
            <c:numRef>
              <c:f>Sheet1!$B$2:$B$10</c:f>
              <c:numCache>
                <c:formatCode>General</c:formatCode>
                <c:ptCount val="9"/>
                <c:pt idx="0">
                  <c:v>56.27</c:v>
                </c:pt>
                <c:pt idx="1">
                  <c:v>54.370000000000005</c:v>
                </c:pt>
                <c:pt idx="2">
                  <c:v>52.47</c:v>
                </c:pt>
                <c:pt idx="3">
                  <c:v>50.57</c:v>
                </c:pt>
                <c:pt idx="4">
                  <c:v>48.67</c:v>
                </c:pt>
                <c:pt idx="5">
                  <c:v>46.77</c:v>
                </c:pt>
                <c:pt idx="6">
                  <c:v>44.870000000000005</c:v>
                </c:pt>
                <c:pt idx="7">
                  <c:v>42.97</c:v>
                </c:pt>
                <c:pt idx="8">
                  <c:v>41.07</c:v>
                </c:pt>
              </c:numCache>
            </c:numRef>
          </c:val>
          <c:smooth val="0"/>
          <c:extLst>
            <c:ext xmlns:c16="http://schemas.microsoft.com/office/drawing/2014/chart" uri="{C3380CC4-5D6E-409C-BE32-E72D297353CC}">
              <c16:uniqueId val="{00000000-5FB2-8C46-A36E-F5F5A482529F}"/>
            </c:ext>
          </c:extLst>
        </c:ser>
        <c:ser>
          <c:idx val="1"/>
          <c:order val="1"/>
          <c:tx>
            <c:v>PaCO2 at Sea Level</c:v>
          </c:tx>
          <c:spPr>
            <a:ln w="28575" cap="rnd">
              <a:solidFill>
                <a:schemeClr val="accent2"/>
              </a:solidFill>
              <a:round/>
            </a:ln>
            <a:effectLst/>
          </c:spPr>
          <c:marker>
            <c:symbol val="none"/>
          </c:marker>
          <c:cat>
            <c:numRef>
              <c:f>Sheet1!$A$2:$A$10</c:f>
              <c:numCache>
                <c:formatCode>General</c:formatCode>
                <c:ptCount val="9"/>
                <c:pt idx="0">
                  <c:v>10</c:v>
                </c:pt>
                <c:pt idx="1">
                  <c:v>20</c:v>
                </c:pt>
                <c:pt idx="2">
                  <c:v>30</c:v>
                </c:pt>
                <c:pt idx="3">
                  <c:v>40</c:v>
                </c:pt>
                <c:pt idx="4">
                  <c:v>50</c:v>
                </c:pt>
                <c:pt idx="5">
                  <c:v>60</c:v>
                </c:pt>
                <c:pt idx="6">
                  <c:v>70</c:v>
                </c:pt>
                <c:pt idx="7">
                  <c:v>80</c:v>
                </c:pt>
                <c:pt idx="8">
                  <c:v>90</c:v>
                </c:pt>
              </c:numCache>
            </c:numRef>
          </c:cat>
          <c:val>
            <c:numRef>
              <c:f>Sheet1!$C$2:$C$10</c:f>
              <c:numCache>
                <c:formatCode>General</c:formatCode>
                <c:ptCount val="9"/>
                <c:pt idx="0">
                  <c:v>74.05</c:v>
                </c:pt>
                <c:pt idx="1">
                  <c:v>72.150000000000006</c:v>
                </c:pt>
                <c:pt idx="2">
                  <c:v>70.25</c:v>
                </c:pt>
                <c:pt idx="3">
                  <c:v>68.350000000000009</c:v>
                </c:pt>
                <c:pt idx="4">
                  <c:v>66.45</c:v>
                </c:pt>
                <c:pt idx="5">
                  <c:v>64.55</c:v>
                </c:pt>
                <c:pt idx="6">
                  <c:v>62.650000000000006</c:v>
                </c:pt>
                <c:pt idx="7">
                  <c:v>60.75</c:v>
                </c:pt>
                <c:pt idx="8">
                  <c:v>58.85</c:v>
                </c:pt>
              </c:numCache>
            </c:numRef>
          </c:val>
          <c:smooth val="0"/>
          <c:extLst>
            <c:ext xmlns:c16="http://schemas.microsoft.com/office/drawing/2014/chart" uri="{C3380CC4-5D6E-409C-BE32-E72D297353CC}">
              <c16:uniqueId val="{00000001-5FB2-8C46-A36E-F5F5A482529F}"/>
            </c:ext>
          </c:extLst>
        </c:ser>
        <c:dLbls>
          <c:showLegendKey val="0"/>
          <c:showVal val="0"/>
          <c:showCatName val="0"/>
          <c:showSerName val="0"/>
          <c:showPercent val="0"/>
          <c:showBubbleSize val="0"/>
        </c:dLbls>
        <c:smooth val="0"/>
        <c:axId val="70877135"/>
        <c:axId val="66826063"/>
      </c:lineChart>
      <c:catAx>
        <c:axId val="70877135"/>
        <c:scaling>
          <c:orientation val="minMax"/>
        </c:scaling>
        <c:delete val="0"/>
        <c:axPos val="b"/>
        <c:title>
          <c:tx>
            <c:rich>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sz="1800"/>
                  <a:t>Age (y)</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66826063"/>
        <c:crosses val="autoZero"/>
        <c:auto val="1"/>
        <c:lblAlgn val="ctr"/>
        <c:lblOffset val="100"/>
        <c:noMultiLvlLbl val="0"/>
      </c:catAx>
      <c:valAx>
        <c:axId val="6682606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800" dirty="0"/>
                  <a:t>PaCO2</a:t>
                </a:r>
                <a:r>
                  <a:rPr lang="en-US" sz="1800" baseline="0" dirty="0"/>
                  <a:t> that will result in hypoxemia (mmHg)</a:t>
                </a:r>
                <a:endParaRPr lang="en-US" sz="1800" dirty="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7087713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43F77F-9A3C-E740-9DB0-E9D6C9A5452C}" type="datetimeFigureOut">
              <a:rPr lang="en-US" smtClean="0"/>
              <a:t>3/13/26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4F0C85-FC02-4C4E-8B1A-6BB950A69184}" type="slidenum">
              <a:rPr lang="en-US" smtClean="0"/>
              <a:t>‹#›</a:t>
            </a:fld>
            <a:endParaRPr lang="en-US"/>
          </a:p>
        </p:txBody>
      </p:sp>
    </p:spTree>
    <p:extLst>
      <p:ext uri="{BB962C8B-B14F-4D97-AF65-F5344CB8AC3E}">
        <p14:creationId xmlns:p14="http://schemas.microsoft.com/office/powerpoint/2010/main" val="4071300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journals.physiology.org/doi/full/10.1152/japplphysiol.00809.2003#REF92"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Transcript of the talk: (dictated, forgive errors)</a:t>
            </a:r>
          </a:p>
          <a:p>
            <a:endParaRPr lang="en-US" dirty="0"/>
          </a:p>
          <a:p>
            <a:r>
              <a:rPr lang="en-US" dirty="0"/>
              <a:t>My name is Brian Locke. I’m an assistant professor working in the Shock Trauma ICU and the Schmidt Chest Clinic, and today I’m giving an update on hypercapnic respiratory failure. I have a conflict of interest with a local startup doing machine learning unrelated to this talk. I want to acknowledge support from the American Thoracic Society, the NIH, and our Pulmonary and Critical Care Medicine seed grant, and to thank the Utah Population Database and its funders. For those following along in </a:t>
            </a:r>
            <a:r>
              <a:rPr lang="en-US" dirty="0" err="1"/>
              <a:t>NotebookLM</a:t>
            </a:r>
            <a:r>
              <a:rPr lang="en-US" dirty="0"/>
              <a:t>, Google’s large language model environment, I’ve uploaded key literature so you can query or review the synthesized notes while we go.</a:t>
            </a:r>
          </a:p>
          <a:p>
            <a:br>
              <a:rPr lang="en-US" dirty="0"/>
            </a:br>
            <a:endParaRPr lang="en-US" dirty="0"/>
          </a:p>
          <a:p>
            <a:r>
              <a:rPr lang="en-US" dirty="0"/>
              <a:t>I’ll start with background and the current state of hypercapnic respiratory failure, move to what we’re doing clinically and in research, and end with new CMS national coverage determinations for respiratory assist devices and home mechanical ventilators—changes most private payers will soon mirror—so we can discuss how to qualify patients for devices.</a:t>
            </a:r>
          </a:p>
          <a:p>
            <a:br>
              <a:rPr lang="en-US" dirty="0"/>
            </a:br>
            <a:endParaRPr lang="en-US" dirty="0"/>
          </a:p>
          <a:p>
            <a:r>
              <a:rPr lang="en-US" dirty="0"/>
              <a:t>First, definitions. Hypercapnic respiratory failure is a syndrome—the pattern of signs and symptoms that accompany a CO₂ level that is too high—reflecting failed homeostasis: an imbalance between tissue CO₂ production and alveolar ventilation that allows </a:t>
            </a:r>
            <a:r>
              <a:rPr lang="en-US" dirty="0" err="1"/>
              <a:t>PaCO</a:t>
            </a:r>
            <a:r>
              <a:rPr lang="en-US" dirty="0"/>
              <a:t>₂ to rise. Hypercapnia itself is a finding defined against the distribution of normal values. Because “normal” shifts with altitude, the threshold for abnormality is lower here than at sea level; using 41–42 mmHg in Salt Lake City is appropriate. Payers don’t adjust coverage criteria for elevation, which may not matter for borderline cases clinically, but it matters for how we interpret a clinic </a:t>
            </a:r>
            <a:r>
              <a:rPr lang="en-US" dirty="0" err="1"/>
              <a:t>PaCO</a:t>
            </a:r>
            <a:r>
              <a:rPr lang="en-US" dirty="0"/>
              <a:t>₂ of 43–44 mmHg locally—that’s abnormal. Although one might imagine adding criteria (for example, excluding cases where elevated </a:t>
            </a:r>
            <a:r>
              <a:rPr lang="en-US" dirty="0" err="1"/>
              <a:t>PaCO</a:t>
            </a:r>
            <a:r>
              <a:rPr lang="en-US" dirty="0"/>
              <a:t>₂ is a proportional response to metabolic alkalosis—what I’d call “respiratory success”), </a:t>
            </a:r>
            <a:r>
              <a:rPr lang="en-US" dirty="0" err="1"/>
              <a:t>TriNetX</a:t>
            </a:r>
            <a:r>
              <a:rPr lang="en-US" dirty="0"/>
              <a:t> data suggest isolated, compensatory hypercapnia is rare. In practice, the syndrome is defined by a high CO₂.</a:t>
            </a:r>
          </a:p>
          <a:p>
            <a:br>
              <a:rPr lang="en-US" dirty="0"/>
            </a:br>
            <a:endParaRPr lang="en-US" dirty="0"/>
          </a:p>
          <a:p>
            <a:r>
              <a:rPr lang="en-US" dirty="0"/>
              <a:t>I prefer the term ventilatory failure because homeostasis can fail without overt hypercapnia when the physiologic context calls for a lower </a:t>
            </a:r>
            <a:r>
              <a:rPr lang="en-US" dirty="0" err="1"/>
              <a:t>PaCO</a:t>
            </a:r>
            <a:r>
              <a:rPr lang="en-US" dirty="0"/>
              <a:t>₂. The framework I use is supply versus demand: can the patient sustain the ventilation the situation requires? Demand depends on three variables: the dead-space fraction (the portion of each breath wasted for CO₂ exchange), tissue CO₂ production, and the target </a:t>
            </a:r>
            <a:r>
              <a:rPr lang="en-US" dirty="0" err="1"/>
              <a:t>PaCO</a:t>
            </a:r>
            <a:r>
              <a:rPr lang="en-US" dirty="0"/>
              <a:t>₂ appropriate to the situation. If dead space increases, required ventilation rises. If CO₂ production rises, required ventilation rises proportionally. If the target </a:t>
            </a:r>
            <a:r>
              <a:rPr lang="en-US" dirty="0" err="1"/>
              <a:t>PaCO</a:t>
            </a:r>
            <a:r>
              <a:rPr lang="en-US" dirty="0"/>
              <a:t>₂ is lower, required ventilation climbs nonlinearly.</a:t>
            </a:r>
          </a:p>
          <a:p>
            <a:br>
              <a:rPr lang="en-US" dirty="0"/>
            </a:br>
            <a:endParaRPr lang="en-US" dirty="0"/>
          </a:p>
          <a:p>
            <a:r>
              <a:rPr lang="en-US" dirty="0"/>
              <a:t>Supply—the maximal sustainable ventilation—depends on respiratory muscle capacity and mechanical advantage, the stability of respiratory control, and the loads on the system. Loads include resistive loads (like breathing through a straw), elastic loads (inflating a stiff lung or chest wall), and, in many acute settings, threshold and inertial loads. Opioids and sleep alter control stability; COPD with hyperinflation, neuromuscular disease, and pleural or chest wall disease alter mechanics. Patients whose chronic loads push them close to their sustainable limit have little physiologic reserve. Think of a person with COPD whose FEV₁ is well under a liter: a small increase in demand can precipitate failure. Those are the patients who need close attention, as highlighted by prior work in this area.</a:t>
            </a:r>
          </a:p>
          <a:p>
            <a:br>
              <a:rPr lang="en-US" dirty="0"/>
            </a:br>
            <a:endParaRPr lang="en-US" dirty="0"/>
          </a:p>
          <a:p>
            <a:r>
              <a:rPr lang="en-US" dirty="0"/>
              <a:t>It’s worth dwelling on the goal </a:t>
            </a:r>
            <a:r>
              <a:rPr lang="en-US" dirty="0" err="1"/>
              <a:t>PaCO</a:t>
            </a:r>
            <a:r>
              <a:rPr lang="en-US" dirty="0"/>
              <a:t>₂. Mathematically, a higher </a:t>
            </a:r>
            <a:r>
              <a:rPr lang="en-US" dirty="0" err="1"/>
              <a:t>PaCO</a:t>
            </a:r>
            <a:r>
              <a:rPr lang="en-US" dirty="0"/>
              <a:t>₂ target lowers required ventilation, which can seem counterintuitive. Elevated CO₂ signals a response to some underlying stress, but from a mechanics standpoint, higher alveolar CO₂ allows each exhaled breath to carry a higher CO₂ concentration, reducing the total ventilation needed to maintain steady state. That’s the rationale for permissive hypercapnia in lung-protective ventilation: allowing </a:t>
            </a:r>
            <a:r>
              <a:rPr lang="en-US" dirty="0" err="1"/>
              <a:t>PaCO</a:t>
            </a:r>
            <a:r>
              <a:rPr lang="en-US" dirty="0"/>
              <a:t>₂ to rise lets us reduce ventilatory pressures. Evidence from ECMO cohorts and from patients with kidney injury suggests that for a given CO₂ rise, lack of metabolic compensation portends worse outcomes in ARDS, partly reflecting multi-organ failure and partly the ongoing mechanical stress on lungs. This raises a question: if higher </a:t>
            </a:r>
            <a:r>
              <a:rPr lang="en-US" dirty="0" err="1"/>
              <a:t>PaCO</a:t>
            </a:r>
            <a:r>
              <a:rPr lang="en-US" dirty="0"/>
              <a:t>₂ lowers ventilatory work and pH can be maintained at any </a:t>
            </a:r>
            <a:r>
              <a:rPr lang="en-US" dirty="0" err="1"/>
              <a:t>PaCO</a:t>
            </a:r>
            <a:r>
              <a:rPr lang="en-US" dirty="0"/>
              <a:t>₂ with sufficient bicarbonate, why isn’t the set point much higher—why not a </a:t>
            </a:r>
            <a:r>
              <a:rPr lang="en-US" dirty="0" err="1"/>
              <a:t>PaCO</a:t>
            </a:r>
            <a:r>
              <a:rPr lang="en-US" dirty="0"/>
              <a:t>₂ of 90 with a bicarbonate of 45? The answer likely lies in oxygen. By the alveolar gas equation, CO₂ “occupies space” that would otherwise contribute to alveolar oxygen; at room air (</a:t>
            </a:r>
            <a:r>
              <a:rPr lang="en-US" dirty="0" err="1"/>
              <a:t>FiO</a:t>
            </a:r>
            <a:r>
              <a:rPr lang="en-US" dirty="0"/>
              <a:t>₂ 0.21), a higher </a:t>
            </a:r>
            <a:r>
              <a:rPr lang="en-US" dirty="0" err="1"/>
              <a:t>PaCO</a:t>
            </a:r>
            <a:r>
              <a:rPr lang="en-US" dirty="0"/>
              <a:t>₂ erodes the oxygenation buffer. The transition from acute to chronic hypercapnia seems to involve a control-system calculation that balances the effort of breathing against the cost of reduced oxygen margin. In chronic respiratory failure, the old “can’t breathe/won’t breathe” dichotomy doesn’t help.</a:t>
            </a:r>
          </a:p>
          <a:p>
            <a:br>
              <a:rPr lang="en-US" dirty="0"/>
            </a:br>
            <a:endParaRPr lang="en-US" dirty="0"/>
          </a:p>
          <a:p>
            <a:r>
              <a:rPr lang="en-US" dirty="0"/>
              <a:t>Severe hypercapnia as a survivable state is relatively new in medicine. Before supplemental oxygen, significant hypercapnia generally meant death. Only about 75 years ago did clinicians begin to recognize and treat it. Hannah Wunsch’s The Autumn Ghost recounts how, during the early polio epidemics, somnolence and unresponsiveness were attributed to encephalitis (“</a:t>
            </a:r>
            <a:r>
              <a:rPr lang="en-US" dirty="0" err="1"/>
              <a:t>cerebrelia</a:t>
            </a:r>
            <a:r>
              <a:rPr lang="en-US" dirty="0"/>
              <a:t>”) until clinicians provided manual positive-pressure breaths and patients woke up—revealing CO₂ retention as the true cause and inaugurating modern critical care.</a:t>
            </a:r>
          </a:p>
          <a:p>
            <a:br>
              <a:rPr lang="en-US" dirty="0"/>
            </a:br>
            <a:endParaRPr lang="en-US" dirty="0"/>
          </a:p>
          <a:p>
            <a:r>
              <a:rPr lang="en-US" dirty="0"/>
              <a:t>I argue that hypercapnic respiratory failure management is a large, solvable, and neglected problem. On scale: an Australian study in the Blue Journal estimated a population-standardized period prevalence of </a:t>
            </a:r>
            <a:r>
              <a:rPr lang="en-US" dirty="0" err="1"/>
              <a:t>PaCO</a:t>
            </a:r>
            <a:r>
              <a:rPr lang="en-US" dirty="0"/>
              <a:t>₂ ≥45 mmHg (excluding iatrogenic causes) of 150 per 100,000 person-years—higher than decompensated cirrhosis in the United States, which is roughly 100 per 100,000. A limitation is that not every patient with hypercapnia gets a blood gas, so ascertainment is imperfect. The only study I know that checked blood gases without clinical indication—a 2005 Denver VA study of consecutive admissions with BMI ≥35—found elevation-adjusted hypercapnia in about a third of patients, with only about one in ten recognized clinically.</a:t>
            </a:r>
          </a:p>
          <a:p>
            <a:br>
              <a:rPr lang="en-US" dirty="0"/>
            </a:br>
            <a:endParaRPr lang="en-US" dirty="0"/>
          </a:p>
          <a:p>
            <a:r>
              <a:rPr lang="en-US" dirty="0"/>
              <a:t>Our group used the Utah Population Database to estimate pre‑COVID yearly period prevalence of ICD codes for hypercapnic respiratory failure in Utah; there were about 4,000–5,000 codes per year across five primary codes, which normalizes to roughly 150 per 100,000—again, in that same ballpark. </a:t>
            </a:r>
            <a:r>
              <a:rPr lang="en-US" dirty="0" err="1"/>
              <a:t>TriNetX</a:t>
            </a:r>
            <a:r>
              <a:rPr lang="en-US" dirty="0"/>
              <a:t> analyses help interpret this: among patients with hypercapnia on blood gas, about a third in the ED and about 40% in inpatient settings receive an ICD code for hypercapnic respiratory failure, suggesting code-based counts may underestimate the true burden by up to a factor of three.</a:t>
            </a:r>
          </a:p>
          <a:p>
            <a:br>
              <a:rPr lang="en-US" dirty="0"/>
            </a:br>
            <a:endParaRPr lang="en-US" dirty="0"/>
          </a:p>
          <a:p>
            <a:r>
              <a:rPr lang="en-US" dirty="0"/>
              <a:t>Outcomes are concerning across etiologies. A single-center study from Vermont of inpatients with an ICD code for hypercapnic respiratory failure showed a 30‑day readmission rate of about 25%, similar to heart failure and higher than myocardial infarction, with two-thirds readmitted for recurrent hypercapnia. In the Michigan health system, even compensated hypercapnia on blood gas was associated with increased mortality; a </a:t>
            </a:r>
            <a:r>
              <a:rPr lang="en-US" dirty="0" err="1"/>
              <a:t>PaCO</a:t>
            </a:r>
            <a:r>
              <a:rPr lang="en-US" dirty="0"/>
              <a:t>₂ in the 50–65 mmHg range carried a risk roughly comparable to decompensated cirrhosis, with higher </a:t>
            </a:r>
            <a:r>
              <a:rPr lang="en-US" dirty="0" err="1"/>
              <a:t>PaCO</a:t>
            </a:r>
            <a:r>
              <a:rPr lang="en-US" dirty="0"/>
              <a:t>₂ worse and milder elevations somewhat better. In </a:t>
            </a:r>
            <a:r>
              <a:rPr lang="en-US" dirty="0" err="1"/>
              <a:t>TriNetX</a:t>
            </a:r>
            <a:r>
              <a:rPr lang="en-US" dirty="0"/>
              <a:t> data, among about 30,000 patients with hypercapnic respiratory failure codes (mean age ~65), two‑month mortality was 20% and climbed to about 30% by nine months.</a:t>
            </a:r>
          </a:p>
          <a:p>
            <a:br>
              <a:rPr lang="en-US" dirty="0"/>
            </a:br>
            <a:endParaRPr lang="en-US" dirty="0"/>
          </a:p>
          <a:p>
            <a:r>
              <a:rPr lang="en-US" dirty="0"/>
              <a:t>These patients are also expensive to care for. Office of Inspector General reports document dramatic growth in use of home mechanical ventilators and noninvasive respiratory assist devices beginning around 2013, with more than a hundred‑fold increases relative to 2009 baselines. Comprehensive cost estimates are lacking, which is why one of our first seed‑grant projects is an economic analysis linking Intermountain Health records to Select Health claims. We call this AIM‑HIGH (Artificial Intelligence for Modifiable Health Indicators in Groups with High Needs), starting with hypercapnic respiratory failure and extending to other high‑utilization conditions, using machine learning to identify patients at risk and intervene.</a:t>
            </a:r>
          </a:p>
          <a:p>
            <a:br>
              <a:rPr lang="en-US" dirty="0"/>
            </a:br>
            <a:endParaRPr lang="en-US" dirty="0"/>
          </a:p>
          <a:p>
            <a:r>
              <a:rPr lang="en-US" dirty="0"/>
              <a:t>Therapeutic options exist, although the evidence base is uneven. Guidelines for obesity hypoventilation recommend treatment despite surprisingly low levels of evidence. There are randomized trials in neuromuscular weakness (and in cystic fibrosis, though not discussed today), and there is a dozen‑plus trials of long‑term noninvasive ventilation in chronic stable hypercapnic respiratory failure that are generally supportive when done appropriately. It is not all NIV. Weight‑loss interventions matter for the sleep‑disordered breathing component of hypercapnia. The FDA has approved </a:t>
            </a:r>
            <a:r>
              <a:rPr lang="en-US" dirty="0" err="1"/>
              <a:t>tirzepatide</a:t>
            </a:r>
            <a:r>
              <a:rPr lang="en-US" dirty="0"/>
              <a:t> for obstructive sleep apnea, and our meta‑analysis shows a dose‑dependent improvement in OSA with both surgical and medical weight loss. Although we don’t yet know the exact fraction of hypercapnia attributable to sleep apnea, several cohorts that systematically tested ICU survivors of hypercapnic respiratory failure found that the majority had moderate to severe OSA. Even outside strict OHS definitions, sleep apnea likely plays a substantial causal role that we systematically miss without testing.</a:t>
            </a:r>
          </a:p>
          <a:p>
            <a:br>
              <a:rPr lang="en-US" dirty="0"/>
            </a:br>
            <a:endParaRPr lang="en-US" dirty="0"/>
          </a:p>
          <a:p>
            <a:r>
              <a:rPr lang="en-US" dirty="0"/>
              <a:t>These needs have prompted a movement to formalize a subspecialty in chronic respiratory failure. An </a:t>
            </a:r>
            <a:r>
              <a:rPr lang="en-US" dirty="0" err="1"/>
              <a:t>AnnalsATS</a:t>
            </a:r>
            <a:r>
              <a:rPr lang="en-US" dirty="0"/>
              <a:t> piece last year makes the case: roughly 300 clinicians nationwide specialize in managing chronic respiratory failure—far too few for current needs—and care requires both device expertise and structured processes around DME ordering and respiratory therapy support. Subspecialty designation could solidify a research paradigm and allow us to advocate for structural changes.</a:t>
            </a:r>
          </a:p>
          <a:p>
            <a:br>
              <a:rPr lang="en-US" dirty="0"/>
            </a:br>
            <a:endParaRPr lang="en-US" dirty="0"/>
          </a:p>
          <a:p>
            <a:r>
              <a:rPr lang="en-US" dirty="0"/>
              <a:t>Two evidence gaps hinder effective care. First, real patients usually have multiple contributing causes for hypercapnia, but most trials target single‑cause cohorts. Trials of hypercapnic COPD often enroll patients with average BMIs around 25 and exclude comorbid sleep apnea; the definition of OHS, in turn, excludes patients with even modest contributions from heart failure or COPD. What should we do for someone with COPD, heart failure, and sleep‑disordered breathing? The evidence rarely applies cleanly, so we extrapolate. Second, the evidence presupposes a definitive diagnosis, whereas in practice hypercapnic respiratory failure often precedes the diagnosis of the causative condition. Patients are admitted without prior spirometry, sleep testing, or sometimes even an established outpatient relationship; they’re stabilized and discharged; testing is ordered but often not completed; and care transitions create opportunities to fall through the cracks.</a:t>
            </a:r>
          </a:p>
          <a:p>
            <a:br>
              <a:rPr lang="en-US" dirty="0"/>
            </a:br>
            <a:endParaRPr lang="en-US" dirty="0"/>
          </a:p>
          <a:p>
            <a:r>
              <a:rPr lang="en-US" dirty="0"/>
              <a:t>We examined statewide testing patterns using the Utah Population Database and the All‑Payer Claims Database (covering ~90% of commercially insured patients and ~70% of other care from 2015–2019). Among patients with inpatient or ED encounters coded for hypercapnic respiratory failure, roughly two‑thirds had an echocardiogram in the five years before the index event, but only about one in three had spirometry and about one in five had sleep testing. In the year after the event—including the index hospitalization—about half received an echocardiogram, but only ~one in eight had spirometry and ~one in ten had sleep testing. These figures likely underestimate testing only slightly (e.g., in‑migrants), and they underscore a system‑level gap. Our CO₂‑PATH cohort (Post‑Acute Trajectories of Hypercapnia) is designed to define the denominator rigorously, follow trajectories after discharge, benchmark testing and outcomes across the state, and, crucially, help distinguish frailty markers from ventilatory targets that can alter risk.</a:t>
            </a:r>
          </a:p>
          <a:p>
            <a:br>
              <a:rPr lang="en-US" dirty="0"/>
            </a:br>
            <a:endParaRPr lang="en-US" dirty="0"/>
          </a:p>
          <a:p>
            <a:r>
              <a:rPr lang="en-US" dirty="0"/>
              <a:t>The usual post‑discharge workflow helps explain low completion rates. An inpatient team prescribes a home mechanical ventilator; the DME company receives the order and sends a respiratory therapist to set up equipment and educate the family; referrals go to PDNs and to pulmonary clinic; PFTs are typically ordered before the pulmonary visit; sleep referrals are placed and often misunderstood by patients who presented with daytime dyspnea. Many steps occur before any specialist discussion, and each step can derail. This argues for two parallel efforts: measure how the system is performing now (CO₂‑PATH) and move toward risk‑based referrals and early empiric management when indicated.</a:t>
            </a:r>
          </a:p>
          <a:p>
            <a:br>
              <a:rPr lang="en-US" dirty="0"/>
            </a:br>
            <a:endParaRPr lang="en-US" dirty="0"/>
          </a:p>
          <a:p>
            <a:r>
              <a:rPr lang="en-US" dirty="0"/>
              <a:t>Based on ICD counts, I estimate 5,000–6,000 hypercapnic respiratory failure cases present to acute care or ED settings within Intermountain annually. Not all require specialty care—some are transient, iatrogenic, or manageable in primary or general pulmonary care—but we need to identify the subset at high risk of readmission if we don’t intervene. AIM‑HIGH, which links Intermountain clinical data with Select Health claims, is designed to stratify that risk and target resources.</a:t>
            </a:r>
          </a:p>
          <a:p>
            <a:br>
              <a:rPr lang="en-US" dirty="0"/>
            </a:br>
            <a:endParaRPr lang="en-US" dirty="0"/>
          </a:p>
          <a:p>
            <a:r>
              <a:rPr lang="en-US" dirty="0"/>
              <a:t>In the Schmidt Clinic, I spend most of my time managing chronic respiratory failure. Our three main referral streams are high‑risk post‑discharge patients via the pulmonary disease navigators (Claire Davies and Megan Hepworth), internal referrals for potential NIV starts, and a neuromuscular clinic. We don’t have an ALS center at Intermountain, so those patients go to the university, but other neuromuscular patients come to our clinic. We could accept more referrals from PM&amp;R, post‑acute facilities, and patients initially triaged to sleep clinics for suspected OHS who are ultimately determined not to have a primary sleep‑breathing disorder. Much of this care can be handled remotely. Device downloads provide rich information; paired with video visits, we can deliver high‑fidelity care and potentially expand our geographic reach.</a:t>
            </a:r>
          </a:p>
          <a:p>
            <a:br>
              <a:rPr lang="en-US" dirty="0"/>
            </a:br>
            <a:endParaRPr lang="en-US" dirty="0"/>
          </a:p>
          <a:p>
            <a:r>
              <a:rPr lang="en-US" dirty="0"/>
              <a:t>To close, I want to clarify device categories and the new coverage rules. “Respiratory assist device” is a term coined when CPAP for sleep apnea and hospital ventilators had distinct roles; CMS wanted to avoid paying for home ventilators for the entire sleep apnea population. The community adopted “RAD” to signal that these were not ventilators. The technology has matured: modern RADs can do bilevel, backup rates, and volume‑assured pressure support (volume‑targeted pressure support). Some capabilities still require a home mechanical ventilator, such as AVAPS‑AE (volume assurance with adjustable EPAP) and other advanced modes used in severe disease. RADs typically cap maximum inspiratory pressures around 30 cm H₂O, which sounds high until you recall that contemporary COPD NIV trials have mean IPAPs in the mid‑20s and about a quarter of patients above 30. RAD settings can be changed remotely; HMV settings generally cannot. RADs are capped‑rental and eventually owned by the patient; HMVs fall under frequent‑and‑substantial‑servicing rental and include bundled respiratory therapy support.</a:t>
            </a:r>
          </a:p>
          <a:p>
            <a:br>
              <a:rPr lang="en-US" dirty="0"/>
            </a:br>
            <a:endParaRPr lang="en-US" dirty="0"/>
          </a:p>
          <a:p>
            <a:r>
              <a:rPr lang="en-US" dirty="0"/>
              <a:t>Historically, RAD qualification pathways were fragmented (restrictive thoracic disorders, hypercapnic COPD, hypoventilation), with requirements that often didn’t match the indication—for example, obligate nocturnal hypoxemia in COPD candidates. CMS recently approved a new national coverage determination. Neuromuscular criteria are unchanged: a qualifying diagnosis plus either hypercapnia, nocturnal hypoxemia, or spirometry criteria. The COPD bucket is now effectively “all chronic respiratory failure,” which is confusing but pragmatic. There are two paths: outpatient and discharge. The outpatient path doesn’t require PFTs; it does require stable daytime </a:t>
            </a:r>
            <a:r>
              <a:rPr lang="en-US" dirty="0" err="1"/>
              <a:t>PaCO</a:t>
            </a:r>
            <a:r>
              <a:rPr lang="en-US" dirty="0"/>
              <a:t>₂ ≥52 mmHg and a determination that sleep apnea isn’t the sole cause (not necessarily proven by polysomnography or nocturnal oximetry). The discharge path requires full RAD settings documented within 24 hours of discharge and a clinical judgment that the device is needed to avoid symptoms or rapid CO₂ rise. Both paths now include re‑qualification every six months, including average use of at least five hours per 24 hours and documented improvement in CO₂, exacerbations, or symptoms—which will increase clinic volume and require workflow adjustments.</a:t>
            </a:r>
          </a:p>
          <a:p>
            <a:br>
              <a:rPr lang="en-US" dirty="0"/>
            </a:br>
            <a:endParaRPr lang="en-US" dirty="0"/>
          </a:p>
          <a:p>
            <a:r>
              <a:rPr lang="en-US" dirty="0"/>
              <a:t>HMV previously had an easier bar: a qualifying condition plus a statement that interruption of support would quickly lead to serious harm or death. That disparity helped drive HMV use upward, not always because patients needed ventilators, but because RAD qualification was onerous. Under the updated rules, neuromuscular indications for HMV are unchanged. For non‑neuromuscular chronic respiratory failure, the outpatient path now requires meeting RAD criteria plus at least one additional need (an advanced mode, higher IPAP requirements, or failure of RAD), and in our setting, oxygen needs above roughly 36% (about 4 L/min) can also support the case when combined with one of those criteria. The discharge path hinges on documented inpatient use of the HMV within 24 hours and capabilities that exceed what a RAD can provide, with full settings documented. Ongoing follow‑up requirements align with those for RADs.</a:t>
            </a:r>
          </a:p>
          <a:p>
            <a:br>
              <a:rPr lang="en-US" dirty="0"/>
            </a:br>
            <a:endParaRPr lang="en-US" dirty="0"/>
          </a:p>
          <a:p>
            <a:r>
              <a:rPr lang="en-US" dirty="0"/>
              <a:t>If you’re interested in collaborating on hypercapnia research, have ideas about referrals, or want to discuss specific patients, please reach out in the EHR (soon via Epic) or by email. This is a team effort: our pulmonary disease navigators, Claire Davies and Megan Hepworth, do a tremendous amount of the day‑to‑day work, and our research partners span Intermountain, Select Health, the University of Utah, and UC Davis. I’m happy to take questions.</a:t>
            </a:r>
          </a:p>
          <a:p>
            <a:endParaRPr lang="en-US" dirty="0"/>
          </a:p>
        </p:txBody>
      </p:sp>
      <p:sp>
        <p:nvSpPr>
          <p:cNvPr id="4" name="Slide Number Placeholder 3"/>
          <p:cNvSpPr>
            <a:spLocks noGrp="1"/>
          </p:cNvSpPr>
          <p:nvPr>
            <p:ph type="sldNum" sz="quarter" idx="5"/>
          </p:nvPr>
        </p:nvSpPr>
        <p:spPr/>
        <p:txBody>
          <a:bodyPr/>
          <a:lstStyle/>
          <a:p>
            <a:fld id="{D9F161F6-7AD5-774A-B12A-C32F3626F083}" type="slidenum">
              <a:rPr lang="en-US" smtClean="0"/>
              <a:t>1</a:t>
            </a:fld>
            <a:endParaRPr lang="en-US"/>
          </a:p>
        </p:txBody>
      </p:sp>
    </p:spTree>
    <p:extLst>
      <p:ext uri="{BB962C8B-B14F-4D97-AF65-F5344CB8AC3E}">
        <p14:creationId xmlns:p14="http://schemas.microsoft.com/office/powerpoint/2010/main" val="32736449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5</a:t>
            </a:fld>
            <a:endParaRPr lang="en-US"/>
          </a:p>
        </p:txBody>
      </p:sp>
    </p:spTree>
    <p:extLst>
      <p:ext uri="{BB962C8B-B14F-4D97-AF65-F5344CB8AC3E}">
        <p14:creationId xmlns:p14="http://schemas.microsoft.com/office/powerpoint/2010/main" val="3879130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MOC Question: </a:t>
            </a:r>
          </a:p>
          <a:p>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In a 65-year-old patient with normally functioning lungs (assume a normal A–a gradient of 10 mmHg) who is breathing room air (FiO2 0.21) at Salt Lake City elevation (~4,000 ft; standard barometric pressure 656 mmHg. Using the simplified alveolar gas equation with PH2O 47 mmHg and respiratory quotient (RQ) 0.8), to what approximate PaCO2 would it need to rise before SpO2 is expected to drop below 90% (generally occurs when PaO2 is ~60 mmHg)? </a:t>
            </a:r>
          </a:p>
          <a:p>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A. 45 mmHg</a:t>
            </a:r>
          </a:p>
          <a:p>
            <a:r>
              <a:rPr lang="en-US" sz="1200" b="0" i="0" kern="1200" dirty="0">
                <a:solidFill>
                  <a:schemeClr val="tx1"/>
                </a:solidFill>
                <a:effectLst/>
                <a:latin typeface="+mn-lt"/>
                <a:ea typeface="+mn-ea"/>
                <a:cs typeface="+mn-cs"/>
              </a:rPr>
              <a:t>B. 55 mmHg</a:t>
            </a:r>
          </a:p>
          <a:p>
            <a:r>
              <a:rPr lang="en-US" sz="1200" b="0" i="0" kern="1200" dirty="0">
                <a:solidFill>
                  <a:schemeClr val="tx1"/>
                </a:solidFill>
                <a:effectLst/>
                <a:latin typeface="+mn-lt"/>
                <a:ea typeface="+mn-ea"/>
                <a:cs typeface="+mn-cs"/>
              </a:rPr>
              <a:t>C. 65 mmHg</a:t>
            </a:r>
          </a:p>
          <a:p>
            <a:r>
              <a:rPr lang="en-US" sz="1200" b="0" i="0" kern="1200" dirty="0">
                <a:solidFill>
                  <a:schemeClr val="tx1"/>
                </a:solidFill>
                <a:effectLst/>
                <a:latin typeface="+mn-lt"/>
                <a:ea typeface="+mn-ea"/>
                <a:cs typeface="+mn-cs"/>
              </a:rPr>
              <a:t>D. 75 mmHg</a:t>
            </a:r>
          </a:p>
          <a:p>
            <a:r>
              <a:rPr lang="en-US" sz="1200" b="0" i="0" kern="1200" dirty="0">
                <a:solidFill>
                  <a:schemeClr val="tx1"/>
                </a:solidFill>
                <a:effectLst/>
                <a:latin typeface="+mn-lt"/>
                <a:ea typeface="+mn-ea"/>
                <a:cs typeface="+mn-cs"/>
              </a:rPr>
              <a:t>E. 85 mmHg</a:t>
            </a:r>
          </a:p>
          <a:p>
            <a:r>
              <a:rPr lang="en-US" sz="1200" b="0" i="0" kern="1200" dirty="0">
                <a:solidFill>
                  <a:schemeClr val="tx1"/>
                </a:solidFill>
                <a:effectLst/>
                <a:latin typeface="+mn-lt"/>
                <a:ea typeface="+mn-ea"/>
                <a:cs typeface="+mn-cs"/>
              </a:rPr>
              <a:t>Correct answer: A. 45 mmHg</a:t>
            </a:r>
          </a:p>
          <a:p>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Rationale (with the math)</a:t>
            </a:r>
          </a:p>
          <a:p>
            <a:r>
              <a:rPr lang="en-US" sz="1200" b="0" i="0" kern="1200" dirty="0">
                <a:solidFill>
                  <a:schemeClr val="tx1"/>
                </a:solidFill>
                <a:effectLst/>
                <a:latin typeface="+mn-lt"/>
                <a:ea typeface="+mn-ea"/>
                <a:cs typeface="+mn-cs"/>
              </a:rPr>
              <a:t>Link SpO2 threshold to PaO2 threshold</a:t>
            </a:r>
          </a:p>
          <a:p>
            <a:r>
              <a:rPr lang="en-US" sz="1200" b="0" i="0" kern="1200" dirty="0">
                <a:solidFill>
                  <a:schemeClr val="tx1"/>
                </a:solidFill>
                <a:effectLst/>
                <a:latin typeface="+mn-lt"/>
                <a:ea typeface="+mn-ea"/>
                <a:cs typeface="+mn-cs"/>
              </a:rPr>
              <a:t>An SpO2 of ~90% corresponds to a PaO2 of ~60 mmHg on the standard oxyhemoglobin dissociation curve.  </a:t>
            </a:r>
          </a:p>
          <a:p>
            <a:r>
              <a:rPr lang="en-US" sz="1200" b="0" i="0" kern="1200" dirty="0">
                <a:solidFill>
                  <a:schemeClr val="tx1"/>
                </a:solidFill>
                <a:effectLst/>
                <a:latin typeface="+mn-lt"/>
                <a:ea typeface="+mn-ea"/>
                <a:cs typeface="+mn-cs"/>
              </a:rPr>
              <a:t>At 4,000 feet, standard barometric pressure is ≈ 656 mmHg</a:t>
            </a:r>
          </a:p>
          <a:p>
            <a:r>
              <a:rPr lang="en-US" sz="1200" b="0" i="0" kern="1200" dirty="0">
                <a:solidFill>
                  <a:schemeClr val="tx1"/>
                </a:solidFill>
                <a:effectLst/>
                <a:latin typeface="+mn-lt"/>
                <a:ea typeface="+mn-ea"/>
                <a:cs typeface="+mn-cs"/>
              </a:rPr>
              <a:t>Calculate inspired (humidified) oxygen partial pressure (PiO2)</a:t>
            </a:r>
          </a:p>
          <a:p>
            <a:r>
              <a:rPr lang="en-US" sz="1200" b="0" i="0" kern="1200" dirty="0">
                <a:solidFill>
                  <a:schemeClr val="tx1"/>
                </a:solidFill>
                <a:effectLst/>
                <a:latin typeface="+mn-lt"/>
                <a:ea typeface="+mn-ea"/>
                <a:cs typeface="+mn-cs"/>
              </a:rPr>
              <a:t>PiO2 = FiO2 × (Pb − PH2O)</a:t>
            </a:r>
          </a:p>
          <a:p>
            <a:r>
              <a:rPr lang="en-US" sz="1200" b="0" i="0" kern="1200" dirty="0">
                <a:solidFill>
                  <a:schemeClr val="tx1"/>
                </a:solidFill>
                <a:effectLst/>
                <a:latin typeface="+mn-lt"/>
                <a:ea typeface="+mn-ea"/>
                <a:cs typeface="+mn-cs"/>
              </a:rPr>
              <a:t>PiO2 = 0.21 × (656 − 47)</a:t>
            </a:r>
          </a:p>
          <a:p>
            <a:r>
              <a:rPr lang="en-US" sz="1200" b="0" i="0" kern="1200" dirty="0">
                <a:solidFill>
                  <a:schemeClr val="tx1"/>
                </a:solidFill>
                <a:effectLst/>
                <a:latin typeface="+mn-lt"/>
                <a:ea typeface="+mn-ea"/>
                <a:cs typeface="+mn-cs"/>
              </a:rPr>
              <a:t>PiO2 = 0.21 × 609</a:t>
            </a:r>
          </a:p>
          <a:p>
            <a:r>
              <a:rPr lang="en-US" sz="1200" b="0" i="0" kern="1200" dirty="0">
                <a:solidFill>
                  <a:schemeClr val="tx1"/>
                </a:solidFill>
                <a:effectLst/>
                <a:latin typeface="+mn-lt"/>
                <a:ea typeface="+mn-ea"/>
                <a:cs typeface="+mn-cs"/>
              </a:rPr>
              <a:t>PiO2 ≈ 128 mmHg</a:t>
            </a:r>
          </a:p>
          <a:p>
            <a:r>
              <a:rPr lang="en-US" sz="1200" b="0" i="0" kern="1200" dirty="0">
                <a:solidFill>
                  <a:schemeClr val="tx1"/>
                </a:solidFill>
                <a:effectLst/>
                <a:latin typeface="+mn-lt"/>
                <a:ea typeface="+mn-ea"/>
                <a:cs typeface="+mn-cs"/>
              </a:rPr>
              <a:t>Use the simplified alveolar gas equation (normal lungs: PaCO2 ≈ PACO2)</a:t>
            </a:r>
          </a:p>
          <a:p>
            <a:r>
              <a:rPr lang="en-US" sz="1200" b="0" i="0" kern="1200" dirty="0">
                <a:solidFill>
                  <a:schemeClr val="tx1"/>
                </a:solidFill>
                <a:effectLst/>
                <a:latin typeface="+mn-lt"/>
                <a:ea typeface="+mn-ea"/>
                <a:cs typeface="+mn-cs"/>
              </a:rPr>
              <a:t>PAO2 = FiO2 × (Pb − PH2O) − (PaCO2 / RQ)  </a:t>
            </a:r>
          </a:p>
          <a:p>
            <a:r>
              <a:rPr lang="en-US" sz="1200" b="0" i="0" kern="1200" dirty="0">
                <a:solidFill>
                  <a:schemeClr val="tx1"/>
                </a:solidFill>
                <a:effectLst/>
                <a:latin typeface="+mn-lt"/>
                <a:ea typeface="+mn-ea"/>
                <a:cs typeface="+mn-cs"/>
              </a:rPr>
              <a:t>So, at this altitude on room air:</a:t>
            </a:r>
          </a:p>
          <a:p>
            <a:r>
              <a:rPr lang="en-US" sz="1200" b="0" i="0" kern="1200" dirty="0">
                <a:solidFill>
                  <a:schemeClr val="tx1"/>
                </a:solidFill>
                <a:effectLst/>
                <a:latin typeface="+mn-lt"/>
                <a:ea typeface="+mn-ea"/>
                <a:cs typeface="+mn-cs"/>
              </a:rPr>
              <a:t>PAO2 ≈ 128 − (PaCO2 / 0.8)</a:t>
            </a:r>
          </a:p>
          <a:p>
            <a:r>
              <a:rPr lang="en-US" sz="1200" b="0" i="0" kern="1200" dirty="0">
                <a:solidFill>
                  <a:schemeClr val="tx1"/>
                </a:solidFill>
                <a:effectLst/>
                <a:latin typeface="+mn-lt"/>
                <a:ea typeface="+mn-ea"/>
                <a:cs typeface="+mn-cs"/>
              </a:rPr>
              <a:t>PAO2 ≈ 128 − 1.25 × PaCO2</a:t>
            </a:r>
          </a:p>
          <a:p>
            <a:r>
              <a:rPr lang="en-US" sz="1200" b="0" i="0" kern="1200" dirty="0">
                <a:solidFill>
                  <a:schemeClr val="tx1"/>
                </a:solidFill>
                <a:effectLst/>
                <a:latin typeface="+mn-lt"/>
                <a:ea typeface="+mn-ea"/>
                <a:cs typeface="+mn-cs"/>
              </a:rPr>
              <a:t>Convert PaO2 target (60 mmHg) into an alveolar (PAO2) target using the assumed normal A–a gradient</a:t>
            </a:r>
          </a:p>
          <a:p>
            <a:r>
              <a:rPr lang="en-US" sz="1200" b="0" i="0" kern="1200" dirty="0">
                <a:solidFill>
                  <a:schemeClr val="tx1"/>
                </a:solidFill>
                <a:effectLst/>
                <a:latin typeface="+mn-lt"/>
                <a:ea typeface="+mn-ea"/>
                <a:cs typeface="+mn-cs"/>
              </a:rPr>
              <a:t>PaO2 = PAO2 − (A–a)</a:t>
            </a:r>
          </a:p>
          <a:p>
            <a:r>
              <a:rPr lang="en-US" sz="1200" b="0" i="0" kern="1200" dirty="0">
                <a:solidFill>
                  <a:schemeClr val="tx1"/>
                </a:solidFill>
                <a:effectLst/>
                <a:latin typeface="+mn-lt"/>
                <a:ea typeface="+mn-ea"/>
                <a:cs typeface="+mn-cs"/>
              </a:rPr>
              <a:t>60 = PAO2 − 10</a:t>
            </a:r>
          </a:p>
          <a:p>
            <a:r>
              <a:rPr lang="en-US" sz="1200" b="0" i="0" kern="1200" dirty="0">
                <a:solidFill>
                  <a:schemeClr val="tx1"/>
                </a:solidFill>
                <a:effectLst/>
                <a:latin typeface="+mn-lt"/>
                <a:ea typeface="+mn-ea"/>
                <a:cs typeface="+mn-cs"/>
              </a:rPr>
              <a:t>Therefore, PAO2 ≈ 70 mmHg</a:t>
            </a:r>
          </a:p>
          <a:p>
            <a:r>
              <a:rPr lang="en-US" sz="1200" b="0" i="0" kern="1200" dirty="0">
                <a:solidFill>
                  <a:schemeClr val="tx1"/>
                </a:solidFill>
                <a:effectLst/>
                <a:latin typeface="+mn-lt"/>
                <a:ea typeface="+mn-ea"/>
                <a:cs typeface="+mn-cs"/>
              </a:rPr>
              <a:t>Solve for PaCO2 at the point where PAO2 ≈ 70 mmHg</a:t>
            </a:r>
          </a:p>
          <a:p>
            <a:r>
              <a:rPr lang="en-US" sz="1200" b="0" i="0" kern="1200" dirty="0">
                <a:solidFill>
                  <a:schemeClr val="tx1"/>
                </a:solidFill>
                <a:effectLst/>
                <a:latin typeface="+mn-lt"/>
                <a:ea typeface="+mn-ea"/>
                <a:cs typeface="+mn-cs"/>
              </a:rPr>
              <a:t>70 = 128 − (PaCO2 / 0.8)</a:t>
            </a:r>
          </a:p>
          <a:p>
            <a:r>
              <a:rPr lang="en-US" sz="1200" b="0" i="0" kern="1200" dirty="0">
                <a:solidFill>
                  <a:schemeClr val="tx1"/>
                </a:solidFill>
                <a:effectLst/>
                <a:latin typeface="+mn-lt"/>
                <a:ea typeface="+mn-ea"/>
                <a:cs typeface="+mn-cs"/>
              </a:rPr>
              <a:t>PaCO2 / 0.8 = 128 − 70 = 58</a:t>
            </a:r>
          </a:p>
          <a:p>
            <a:r>
              <a:rPr lang="en-US" sz="1200" b="0" i="0" kern="1200" dirty="0">
                <a:solidFill>
                  <a:schemeClr val="tx1"/>
                </a:solidFill>
                <a:effectLst/>
                <a:latin typeface="+mn-lt"/>
                <a:ea typeface="+mn-ea"/>
                <a:cs typeface="+mn-cs"/>
              </a:rPr>
              <a:t>PaCO2 = 58 × 0.8 = 46.4 mmHg</a:t>
            </a:r>
          </a:p>
          <a:p>
            <a:r>
              <a:rPr lang="en-US" sz="1200" b="0" i="0" kern="1200" dirty="0">
                <a:solidFill>
                  <a:schemeClr val="tx1"/>
                </a:solidFill>
                <a:effectLst/>
                <a:latin typeface="+mn-lt"/>
                <a:ea typeface="+mn-ea"/>
                <a:cs typeface="+mn-cs"/>
              </a:rPr>
              <a:t>Conclusion: PaCO2 would need to rise to ~46 mmHg for SpO2 to be expected to fall below 90%, given the stated assumptions. At our elevation, even mild elevations in PaCO2 lead to hypoxemia, regardless whether additional lung pathology is present.</a:t>
            </a:r>
          </a:p>
          <a:p>
            <a:r>
              <a:rPr lang="en-US" sz="1200" b="0" i="0" kern="1200" dirty="0">
                <a:solidFill>
                  <a:schemeClr val="tx1"/>
                </a:solidFill>
                <a:effectLst/>
                <a:latin typeface="+mn-lt"/>
                <a:ea typeface="+mn-ea"/>
                <a:cs typeface="+mn-cs"/>
              </a:rPr>
              <a:t>References</a:t>
            </a:r>
          </a:p>
          <a:p>
            <a:r>
              <a:rPr lang="en-US" sz="1200" b="0" i="0" kern="1200" dirty="0">
                <a:solidFill>
                  <a:schemeClr val="tx1"/>
                </a:solidFill>
                <a:effectLst/>
                <a:latin typeface="+mn-lt"/>
                <a:ea typeface="+mn-ea"/>
                <a:cs typeface="+mn-cs"/>
              </a:rPr>
              <a:t>Hendrix JM, Burns B. Alveolar Gas Equation. </a:t>
            </a:r>
            <a:r>
              <a:rPr lang="en-US" sz="1200" b="0" i="0" kern="1200" dirty="0" err="1">
                <a:solidFill>
                  <a:schemeClr val="tx1"/>
                </a:solidFill>
                <a:effectLst/>
                <a:latin typeface="+mn-lt"/>
                <a:ea typeface="+mn-ea"/>
                <a:cs typeface="+mn-cs"/>
              </a:rPr>
              <a:t>StatPearls</a:t>
            </a:r>
            <a:r>
              <a:rPr lang="en-US" sz="1200" b="0" i="0" kern="1200" dirty="0">
                <a:solidFill>
                  <a:schemeClr val="tx1"/>
                </a:solidFill>
                <a:effectLst/>
                <a:latin typeface="+mn-lt"/>
                <a:ea typeface="+mn-ea"/>
                <a:cs typeface="+mn-cs"/>
              </a:rPr>
              <a:t> [Internet]. Updated Sep 11, 2024.</a:t>
            </a:r>
          </a:p>
          <a:p>
            <a:r>
              <a:rPr lang="en-US" sz="1200" b="0" i="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7</a:t>
            </a:fld>
            <a:endParaRPr lang="en-US"/>
          </a:p>
        </p:txBody>
      </p:sp>
    </p:spTree>
    <p:extLst>
      <p:ext uri="{BB962C8B-B14F-4D97-AF65-F5344CB8AC3E}">
        <p14:creationId xmlns:p14="http://schemas.microsoft.com/office/powerpoint/2010/main" val="2173571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also makes sense why these people might be so frail and prone to readmission… as your PaCO2 goes up, your buffer goes down. In fact, that’s probably why we’re evolved to hyperventilate with altitude. – called </a:t>
            </a:r>
            <a:r>
              <a:rPr lang="en-US" sz="1200" b="0" i="0" kern="1200" dirty="0">
                <a:solidFill>
                  <a:schemeClr val="tx1"/>
                </a:solidFill>
                <a:effectLst/>
                <a:latin typeface="+mn-lt"/>
                <a:ea typeface="+mn-ea"/>
                <a:cs typeface="+mn-cs"/>
              </a:rPr>
              <a:t>referred to as “ventilatory acclimatization” (</a:t>
            </a:r>
            <a:r>
              <a:rPr lang="en-US" sz="1200" b="0" i="0" u="none" strike="noStrike" kern="1200" dirty="0">
                <a:solidFill>
                  <a:schemeClr val="tx1"/>
                </a:solidFill>
                <a:effectLst/>
                <a:latin typeface="+mn-lt"/>
                <a:ea typeface="+mn-ea"/>
                <a:cs typeface="+mn-cs"/>
                <a:hlinkClick r:id="rId3"/>
              </a:rPr>
              <a:t>92</a:t>
            </a:r>
            <a:r>
              <a:rPr lang="en-US" sz="1200" b="0" i="0" kern="1200" dirty="0">
                <a:solidFill>
                  <a:schemeClr val="tx1"/>
                </a:solidFill>
                <a:effectLst/>
                <a:latin typeface="+mn-lt"/>
                <a:ea typeface="+mn-ea"/>
                <a:cs typeface="+mn-cs"/>
              </a:rPr>
              <a:t>).</a:t>
            </a:r>
          </a:p>
          <a:p>
            <a:endParaRPr lang="en-US" dirty="0"/>
          </a:p>
          <a:p>
            <a:pPr marL="285750" indent="-285750">
              <a:buFont typeface="Arial" panose="020B0604020202020204" pitchFamily="34" charset="0"/>
              <a:buChar char="•"/>
            </a:pPr>
            <a:r>
              <a:rPr lang="en-US" dirty="0"/>
              <a:t>SpO2 &lt;90% catches people’s attention</a:t>
            </a:r>
          </a:p>
          <a:p>
            <a:pPr marL="285750" indent="-285750">
              <a:buFont typeface="Arial" panose="020B0604020202020204" pitchFamily="34" charset="0"/>
              <a:buChar char="•"/>
            </a:pPr>
            <a:r>
              <a:rPr lang="en-US" dirty="0"/>
              <a:t>Corresponds to a PaO2 of ~55 mmHg (depending exactly on the individual’s oxygen hemoglobin dissociation curve. </a:t>
            </a:r>
          </a:p>
          <a:p>
            <a:pPr marL="285750" indent="-285750">
              <a:buFont typeface="Arial" panose="020B0604020202020204" pitchFamily="34" charset="0"/>
              <a:buChar char="•"/>
            </a:pPr>
            <a:r>
              <a:rPr lang="en-US" dirty="0"/>
              <a:t>Normal A-a gradient? 4 + (0.25 * Age) </a:t>
            </a:r>
          </a:p>
          <a:p>
            <a:pPr marL="742950" lvl="1" indent="-285750">
              <a:buFont typeface="Arial" panose="020B0604020202020204" pitchFamily="34" charset="0"/>
              <a:buChar char="•"/>
            </a:pPr>
            <a:r>
              <a:rPr lang="en-US" dirty="0"/>
              <a:t>Critical PAO2 = paO2 + (Normal A-a gradient)</a:t>
            </a:r>
          </a:p>
          <a:p>
            <a:pPr marL="742950" lvl="1" indent="-285750">
              <a:buFont typeface="Arial" panose="020B0604020202020204" pitchFamily="34" charset="0"/>
              <a:buChar char="•"/>
            </a:pPr>
            <a:r>
              <a:rPr lang="en-US" dirty="0"/>
              <a:t>Critical PAO2 = 51 + 0.25 * Age</a:t>
            </a:r>
          </a:p>
          <a:p>
            <a:pPr marL="742950" lvl="1" indent="-285750">
              <a:buFont typeface="Arial" panose="020B0604020202020204" pitchFamily="34" charset="0"/>
              <a:buChar char="•"/>
            </a:pPr>
            <a:endParaRPr lang="en-US" dirty="0"/>
          </a:p>
          <a:p>
            <a:r>
              <a:rPr lang="en-US" sz="1200" dirty="0"/>
              <a:t>PA</a:t>
            </a:r>
            <a:r>
              <a:rPr lang="en-US" sz="1200" baseline="-25000" dirty="0"/>
              <a:t>O2</a:t>
            </a:r>
            <a:r>
              <a:rPr lang="en-US" sz="1200" dirty="0"/>
              <a:t> = (</a:t>
            </a:r>
            <a:r>
              <a:rPr lang="en-US" sz="1200" dirty="0" err="1"/>
              <a:t>P</a:t>
            </a:r>
            <a:r>
              <a:rPr lang="en-US" sz="1200" baseline="-25000" dirty="0" err="1"/>
              <a:t>atm</a:t>
            </a:r>
            <a:r>
              <a:rPr lang="en-US" sz="1200" dirty="0"/>
              <a:t> – P</a:t>
            </a:r>
            <a:r>
              <a:rPr lang="en-US" sz="1200" baseline="-25000" dirty="0"/>
              <a:t>H2O</a:t>
            </a:r>
            <a:r>
              <a:rPr lang="en-US" sz="1200" dirty="0"/>
              <a:t>) * Fi</a:t>
            </a:r>
            <a:r>
              <a:rPr lang="en-US" sz="1200" baseline="-25000" dirty="0"/>
              <a:t>O2</a:t>
            </a:r>
            <a:r>
              <a:rPr lang="en-US" sz="1200" dirty="0"/>
              <a:t> – (Pa</a:t>
            </a:r>
            <a:r>
              <a:rPr lang="en-US" sz="1200" baseline="-25000" dirty="0"/>
              <a:t>CO2</a:t>
            </a:r>
            <a:r>
              <a:rPr lang="en-US" sz="1200" dirty="0"/>
              <a:t> / RQ) + Fi</a:t>
            </a:r>
            <a:r>
              <a:rPr lang="en-US" sz="1200" baseline="-25000" dirty="0"/>
              <a:t>O2</a:t>
            </a:r>
            <a:r>
              <a:rPr lang="en-US" sz="1200" dirty="0"/>
              <a:t> * Pa</a:t>
            </a:r>
            <a:r>
              <a:rPr lang="en-US" sz="1200" baseline="-25000" dirty="0"/>
              <a:t>CO2</a:t>
            </a:r>
            <a:r>
              <a:rPr lang="en-US" sz="1200" dirty="0"/>
              <a:t> * (1-RQ)/RQ</a:t>
            </a:r>
          </a:p>
          <a:p>
            <a:r>
              <a:rPr lang="en-US" sz="1200" dirty="0"/>
              <a:t>PA</a:t>
            </a:r>
            <a:r>
              <a:rPr lang="en-US" sz="1200" baseline="-25000" dirty="0"/>
              <a:t>O2</a:t>
            </a:r>
            <a:r>
              <a:rPr lang="en-US" sz="1200" dirty="0"/>
              <a:t> = (650 – 47) * 0.21 – (Pa</a:t>
            </a:r>
            <a:r>
              <a:rPr lang="en-US" sz="1200" baseline="-25000" dirty="0"/>
              <a:t>CO2</a:t>
            </a:r>
            <a:r>
              <a:rPr lang="en-US" sz="1200" dirty="0"/>
              <a:t> / 0.8) + 0.21 * Pa</a:t>
            </a:r>
            <a:r>
              <a:rPr lang="en-US" sz="1200" baseline="-25000" dirty="0"/>
              <a:t>CO2</a:t>
            </a:r>
            <a:r>
              <a:rPr lang="en-US" sz="1200" dirty="0"/>
              <a:t> * (1-0.8)/0.8</a:t>
            </a:r>
          </a:p>
          <a:p>
            <a:r>
              <a:rPr lang="en-US" sz="1200" dirty="0"/>
              <a:t>PA</a:t>
            </a:r>
            <a:r>
              <a:rPr lang="en-US" sz="1200" baseline="-25000" dirty="0"/>
              <a:t>O2</a:t>
            </a:r>
            <a:r>
              <a:rPr lang="en-US" sz="1200" dirty="0"/>
              <a:t> = 126.63 – (Pa</a:t>
            </a:r>
            <a:r>
              <a:rPr lang="en-US" sz="1200" baseline="-25000" dirty="0"/>
              <a:t>CO2</a:t>
            </a:r>
            <a:r>
              <a:rPr lang="en-US" sz="1200" dirty="0"/>
              <a:t> / 0.8) + 0.05 * Pa</a:t>
            </a:r>
            <a:r>
              <a:rPr lang="en-US" sz="1200" baseline="-25000" dirty="0"/>
              <a:t>CO2</a:t>
            </a:r>
          </a:p>
          <a:p>
            <a:r>
              <a:rPr lang="en-US" sz="1200" dirty="0"/>
              <a:t>PA</a:t>
            </a:r>
            <a:r>
              <a:rPr lang="en-US" sz="1200" baseline="-25000" dirty="0"/>
              <a:t>O2</a:t>
            </a:r>
            <a:r>
              <a:rPr lang="en-US" sz="1200" dirty="0"/>
              <a:t> = 126.63 – 1.3 * Pa</a:t>
            </a:r>
            <a:r>
              <a:rPr lang="en-US" sz="1200" baseline="-25000" dirty="0"/>
              <a:t>CO2</a:t>
            </a:r>
          </a:p>
          <a:p>
            <a:pPr marL="742950" lvl="1" indent="-285750">
              <a:buFont typeface="Arial" panose="020B0604020202020204" pitchFamily="34" charset="0"/>
              <a:buChar char="•"/>
            </a:pPr>
            <a:endParaRPr lang="en-US" dirty="0"/>
          </a:p>
          <a:p>
            <a:r>
              <a:rPr lang="en-US" b="1" dirty="0"/>
              <a:t>At 4500 ft: </a:t>
            </a:r>
          </a:p>
          <a:p>
            <a:r>
              <a:rPr lang="en-US" b="1" dirty="0"/>
              <a:t>PaCO2 = 58.17 - 0.19 * Age</a:t>
            </a:r>
          </a:p>
          <a:p>
            <a:endParaRPr lang="en-US" b="1" dirty="0"/>
          </a:p>
          <a:p>
            <a:r>
              <a:rPr lang="en-US" b="1" dirty="0"/>
              <a:t>At seal Level: </a:t>
            </a:r>
          </a:p>
          <a:p>
            <a:r>
              <a:rPr lang="en-US" b="1" dirty="0"/>
              <a:t>PaCO2 = 75.95 – 0.19 * Age</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5"/>
          </p:nvPr>
        </p:nvSpPr>
        <p:spPr/>
        <p:txBody>
          <a:bodyPr/>
          <a:lstStyle/>
          <a:p>
            <a:fld id="{7403EE7C-1652-A945-8822-E1AE5A6DA30F}" type="slidenum">
              <a:rPr lang="en-US" smtClean="0"/>
              <a:t>9</a:t>
            </a:fld>
            <a:endParaRPr lang="en-US"/>
          </a:p>
        </p:txBody>
      </p:sp>
    </p:spTree>
    <p:extLst>
      <p:ext uri="{BB962C8B-B14F-4D97-AF65-F5344CB8AC3E}">
        <p14:creationId xmlns:p14="http://schemas.microsoft.com/office/powerpoint/2010/main" val="19739737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u="none" kern="1200" dirty="0">
                <a:solidFill>
                  <a:schemeClr val="tx1"/>
                </a:solidFill>
                <a:effectLst/>
                <a:latin typeface="+mn-lt"/>
                <a:ea typeface="+mn-ea"/>
                <a:cs typeface="+mn-cs"/>
              </a:rPr>
              <a:t>Nation-wide &lt;1% of hypercapnia is “hypercapnic respiratory success” per </a:t>
            </a:r>
            <a:r>
              <a:rPr lang="en-US" sz="1200" u="none" kern="1200" dirty="0" err="1">
                <a:solidFill>
                  <a:schemeClr val="tx1"/>
                </a:solidFill>
                <a:effectLst/>
                <a:latin typeface="+mn-lt"/>
                <a:ea typeface="+mn-ea"/>
                <a:cs typeface="+mn-cs"/>
              </a:rPr>
              <a:t>trinetx</a:t>
            </a:r>
            <a:r>
              <a:rPr lang="en-US" sz="1200" u="none" kern="1200" dirty="0">
                <a:solidFill>
                  <a:schemeClr val="tx1"/>
                </a:solidFill>
                <a:effectLst/>
                <a:latin typeface="+mn-lt"/>
                <a:ea typeface="+mn-ea"/>
                <a:cs typeface="+mn-cs"/>
              </a:rPr>
              <a:t> data</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11</a:t>
            </a:fld>
            <a:endParaRPr lang="en-US"/>
          </a:p>
        </p:txBody>
      </p:sp>
    </p:spTree>
    <p:extLst>
      <p:ext uri="{BB962C8B-B14F-4D97-AF65-F5344CB8AC3E}">
        <p14:creationId xmlns:p14="http://schemas.microsoft.com/office/powerpoint/2010/main" val="7013728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F4F0C85-FC02-4C4E-8B1A-6BB950A69184}" type="slidenum">
              <a:rPr lang="en-US" smtClean="0"/>
              <a:t>13</a:t>
            </a:fld>
            <a:endParaRPr lang="en-US"/>
          </a:p>
        </p:txBody>
      </p:sp>
    </p:spTree>
    <p:extLst>
      <p:ext uri="{BB962C8B-B14F-4D97-AF65-F5344CB8AC3E}">
        <p14:creationId xmlns:p14="http://schemas.microsoft.com/office/powerpoint/2010/main" val="21129145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u="sng" kern="1200" dirty="0">
                <a:solidFill>
                  <a:schemeClr val="tx1"/>
                </a:solidFill>
                <a:effectLst/>
                <a:latin typeface="+mn-lt"/>
                <a:ea typeface="+mn-ea"/>
                <a:cs typeface="+mn-cs"/>
              </a:rPr>
              <a:t>How common is hypercapnic respiratory failure?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Chung et al estimate -</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16</a:t>
            </a:fld>
            <a:endParaRPr lang="en-US"/>
          </a:p>
        </p:txBody>
      </p:sp>
    </p:spTree>
    <p:extLst>
      <p:ext uri="{BB962C8B-B14F-4D97-AF65-F5344CB8AC3E}">
        <p14:creationId xmlns:p14="http://schemas.microsoft.com/office/powerpoint/2010/main" val="6051993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u="sng" kern="1200" dirty="0">
                <a:solidFill>
                  <a:schemeClr val="tx1"/>
                </a:solidFill>
                <a:effectLst/>
                <a:latin typeface="+mn-lt"/>
                <a:ea typeface="+mn-ea"/>
                <a:cs typeface="+mn-cs"/>
              </a:rPr>
              <a:t>What are the consequences of having hypercapnic respiratory failure? </a:t>
            </a:r>
            <a:endParaRPr lang="en-US" sz="1200" kern="1200" dirty="0">
              <a:solidFill>
                <a:schemeClr val="tx1"/>
              </a:solidFill>
              <a:effectLst/>
              <a:latin typeface="+mn-lt"/>
              <a:ea typeface="+mn-ea"/>
              <a:cs typeface="+mn-cs"/>
            </a:endParaRPr>
          </a:p>
          <a:p>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17</a:t>
            </a:fld>
            <a:endParaRPr lang="en-US"/>
          </a:p>
        </p:txBody>
      </p:sp>
    </p:spTree>
    <p:extLst>
      <p:ext uri="{BB962C8B-B14F-4D97-AF65-F5344CB8AC3E}">
        <p14:creationId xmlns:p14="http://schemas.microsoft.com/office/powerpoint/2010/main" val="13433831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D1DCE-ABE6-F683-F504-F77802768C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EF973D-96EB-FD63-BC61-517D5F4023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D05344-503A-DF9B-0EBE-3DB966FA2C14}"/>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2356D85D-AF4E-E4F3-0036-9406490C3155}"/>
              </a:ext>
            </a:extLst>
          </p:cNvPr>
          <p:cNvSpPr>
            <a:spLocks noGrp="1"/>
          </p:cNvSpPr>
          <p:nvPr>
            <p:ph type="sldNum" sz="quarter" idx="5"/>
          </p:nvPr>
        </p:nvSpPr>
        <p:spPr/>
        <p:txBody>
          <a:bodyPr/>
          <a:lstStyle/>
          <a:p>
            <a:fld id="{7F4F0C85-FC02-4C4E-8B1A-6BB950A69184}" type="slidenum">
              <a:rPr lang="en-US" smtClean="0"/>
              <a:t>18</a:t>
            </a:fld>
            <a:endParaRPr lang="en-US"/>
          </a:p>
        </p:txBody>
      </p:sp>
    </p:spTree>
    <p:extLst>
      <p:ext uri="{BB962C8B-B14F-4D97-AF65-F5344CB8AC3E}">
        <p14:creationId xmlns:p14="http://schemas.microsoft.com/office/powerpoint/2010/main" val="459515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2A410-7DB1-3C7B-32C5-25DF13BEFE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6FACDD-C79D-A0AB-D2F0-C40B0AB6D7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D475CC-D618-5362-075F-BF3C9D5367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4C8AF4-7D06-4D82-A69E-8A4BB731D30D}"/>
              </a:ext>
            </a:extLst>
          </p:cNvPr>
          <p:cNvSpPr>
            <a:spLocks noGrp="1"/>
          </p:cNvSpPr>
          <p:nvPr>
            <p:ph type="sldNum" sz="quarter" idx="5"/>
          </p:nvPr>
        </p:nvSpPr>
        <p:spPr/>
        <p:txBody>
          <a:bodyPr/>
          <a:lstStyle/>
          <a:p>
            <a:fld id="{7F4F0C85-FC02-4C4E-8B1A-6BB950A69184}" type="slidenum">
              <a:rPr lang="en-US" smtClean="0"/>
              <a:t>19</a:t>
            </a:fld>
            <a:endParaRPr lang="en-US"/>
          </a:p>
        </p:txBody>
      </p:sp>
    </p:spTree>
    <p:extLst>
      <p:ext uri="{BB962C8B-B14F-4D97-AF65-F5344CB8AC3E}">
        <p14:creationId xmlns:p14="http://schemas.microsoft.com/office/powerpoint/2010/main" val="2187405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grant-making schema: </a:t>
            </a:r>
          </a:p>
          <a:p>
            <a:pPr marL="171450" indent="-171450">
              <a:buFontTx/>
              <a:buChar char="-"/>
            </a:pPr>
            <a:r>
              <a:rPr lang="en-US" dirty="0"/>
              <a:t>How big is the problem</a:t>
            </a:r>
          </a:p>
          <a:p>
            <a:pPr marL="171450" indent="-171450">
              <a:buFontTx/>
              <a:buChar char="-"/>
            </a:pPr>
            <a:r>
              <a:rPr lang="en-US" dirty="0"/>
              <a:t>How solvable is it? </a:t>
            </a:r>
          </a:p>
          <a:p>
            <a:pPr marL="171450" indent="-171450">
              <a:buFontTx/>
              <a:buChar char="-"/>
            </a:pPr>
            <a:r>
              <a:rPr lang="en-US" dirty="0"/>
              <a:t>How many people are working to solve it?  (</a:t>
            </a:r>
            <a:r>
              <a:rPr lang="en-US" dirty="0" err="1"/>
              <a:t>ie</a:t>
            </a:r>
            <a:r>
              <a:rPr lang="en-US" dirty="0"/>
              <a:t> if we spend a bit more resources on this problem, will it make a difference?)</a:t>
            </a:r>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20</a:t>
            </a:fld>
            <a:endParaRPr lang="en-US"/>
          </a:p>
        </p:txBody>
      </p:sp>
    </p:spTree>
    <p:extLst>
      <p:ext uri="{BB962C8B-B14F-4D97-AF65-F5344CB8AC3E}">
        <p14:creationId xmlns:p14="http://schemas.microsoft.com/office/powerpoint/2010/main" val="35721193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E131E-07F3-5664-79C0-FDB531D95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595914-BACB-DBC9-2EEC-E9A62FF68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7C25D0-3E9B-15BC-C3E2-B326440FDDA4}"/>
              </a:ext>
            </a:extLst>
          </p:cNvPr>
          <p:cNvSpPr>
            <a:spLocks noGrp="1"/>
          </p:cNvSpPr>
          <p:nvPr>
            <p:ph type="body" idx="1"/>
          </p:nvPr>
        </p:nvSpPr>
        <p:spPr/>
        <p:txBody>
          <a:bodyPr/>
          <a:lstStyle/>
          <a:p>
            <a:pPr marL="171450" indent="-171450">
              <a:buFontTx/>
              <a:buChar char="-"/>
            </a:pPr>
            <a:endParaRPr lang="en-US" dirty="0"/>
          </a:p>
        </p:txBody>
      </p:sp>
      <p:sp>
        <p:nvSpPr>
          <p:cNvPr id="4" name="Slide Number Placeholder 3">
            <a:extLst>
              <a:ext uri="{FF2B5EF4-FFF2-40B4-BE49-F238E27FC236}">
                <a16:creationId xmlns:a16="http://schemas.microsoft.com/office/drawing/2014/main" id="{5FBBA1CA-A056-27F6-9D71-C9F9F6B2D3DF}"/>
              </a:ext>
            </a:extLst>
          </p:cNvPr>
          <p:cNvSpPr>
            <a:spLocks noGrp="1"/>
          </p:cNvSpPr>
          <p:nvPr>
            <p:ph type="sldNum" sz="quarter" idx="5"/>
          </p:nvPr>
        </p:nvSpPr>
        <p:spPr/>
        <p:txBody>
          <a:bodyPr/>
          <a:lstStyle/>
          <a:p>
            <a:fld id="{7F4F0C85-FC02-4C4E-8B1A-6BB950A69184}" type="slidenum">
              <a:rPr lang="en-US" smtClean="0"/>
              <a:t>22</a:t>
            </a:fld>
            <a:endParaRPr lang="en-US"/>
          </a:p>
        </p:txBody>
      </p:sp>
    </p:spTree>
    <p:extLst>
      <p:ext uri="{BB962C8B-B14F-4D97-AF65-F5344CB8AC3E}">
        <p14:creationId xmlns:p14="http://schemas.microsoft.com/office/powerpoint/2010/main" val="20425201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23</a:t>
            </a:fld>
            <a:endParaRPr lang="en-US"/>
          </a:p>
        </p:txBody>
      </p:sp>
    </p:spTree>
    <p:extLst>
      <p:ext uri="{BB962C8B-B14F-4D97-AF65-F5344CB8AC3E}">
        <p14:creationId xmlns:p14="http://schemas.microsoft.com/office/powerpoint/2010/main" val="24025202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24</a:t>
            </a:fld>
            <a:endParaRPr lang="en-US"/>
          </a:p>
        </p:txBody>
      </p:sp>
    </p:spTree>
    <p:extLst>
      <p:ext uri="{BB962C8B-B14F-4D97-AF65-F5344CB8AC3E}">
        <p14:creationId xmlns:p14="http://schemas.microsoft.com/office/powerpoint/2010/main" val="25462402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Hege makes the point about opiates – open question how much of a population impact this has on CHRONIC respiratory failure – for e.g. https://</a:t>
            </a:r>
            <a:r>
              <a:rPr lang="en-US" dirty="0" err="1"/>
              <a:t>pmc.ncbi.nlm.nih.gov</a:t>
            </a:r>
            <a:r>
              <a:rPr lang="en-US" dirty="0"/>
              <a:t>/articles/PMC10503117/ suggests not so much. </a:t>
            </a:r>
          </a:p>
          <a:p>
            <a:r>
              <a:rPr lang="en-US" dirty="0"/>
              <a:t>We are looking at this in the CO2-PATH cohort.</a:t>
            </a:r>
          </a:p>
        </p:txBody>
      </p:sp>
      <p:sp>
        <p:nvSpPr>
          <p:cNvPr id="4" name="Slide Number Placeholder 3"/>
          <p:cNvSpPr>
            <a:spLocks noGrp="1"/>
          </p:cNvSpPr>
          <p:nvPr>
            <p:ph type="sldNum" sz="quarter" idx="5"/>
          </p:nvPr>
        </p:nvSpPr>
        <p:spPr/>
        <p:txBody>
          <a:bodyPr/>
          <a:lstStyle/>
          <a:p>
            <a:fld id="{7F4F0C85-FC02-4C4E-8B1A-6BB950A69184}" type="slidenum">
              <a:rPr lang="en-US" smtClean="0"/>
              <a:t>26</a:t>
            </a:fld>
            <a:endParaRPr lang="en-US"/>
          </a:p>
        </p:txBody>
      </p:sp>
    </p:spTree>
    <p:extLst>
      <p:ext uri="{BB962C8B-B14F-4D97-AF65-F5344CB8AC3E}">
        <p14:creationId xmlns:p14="http://schemas.microsoft.com/office/powerpoint/2010/main" val="31088599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Each breath with a higher PaCO2 will contain more CO2 particles -&gt; more efficient ventilation with higher blood CO2.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Ventilation is metabolically expensive- why not operate at a higher set point?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Hint: what is the evolutionary advantage of the goal PaCO</a:t>
            </a:r>
            <a:r>
              <a:rPr lang="en-US" sz="1200" baseline="-25000" dirty="0"/>
              <a:t>2</a:t>
            </a:r>
            <a:r>
              <a:rPr lang="en-US" sz="1200" dirty="0"/>
              <a:t> being lower in SLC (~33 mmHg) than sea level? </a:t>
            </a:r>
            <a:endParaRPr lang="en-US" dirty="0"/>
          </a:p>
          <a:p>
            <a:r>
              <a:rPr lang="en-US" sz="1200" dirty="0"/>
              <a:t>Consider: why does permissive hypercapnia work? (higher VE VCO2)</a:t>
            </a:r>
          </a:p>
          <a:p>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mere existence of chronic hypercapnic respiratory failure tells you its not immediately fatal.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Chronic can occur if: The ventilatory control system has decided to tolerate a higher PaCO2, either because the feedback mechanisms aren’t working (opiates) or it’s suboptimal to try to defend the CO2 level (</a:t>
            </a:r>
            <a:r>
              <a:rPr lang="en-US" sz="1200" kern="1200" dirty="0" err="1">
                <a:solidFill>
                  <a:schemeClr val="tx1"/>
                </a:solidFill>
                <a:effectLst/>
                <a:latin typeface="+mn-lt"/>
                <a:ea typeface="+mn-ea"/>
                <a:cs typeface="+mn-cs"/>
              </a:rPr>
              <a:t>ie</a:t>
            </a:r>
            <a:r>
              <a:rPr lang="en-US" sz="1200" kern="1200" dirty="0">
                <a:solidFill>
                  <a:schemeClr val="tx1"/>
                </a:solidFill>
                <a:effectLst/>
                <a:latin typeface="+mn-lt"/>
                <a:ea typeface="+mn-ea"/>
                <a:cs typeface="+mn-cs"/>
              </a:rPr>
              <a:t>. metabolically expensive – severe COPD or OHS)</a:t>
            </a:r>
          </a:p>
          <a:p>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28</a:t>
            </a:fld>
            <a:endParaRPr lang="en-US"/>
          </a:p>
        </p:txBody>
      </p:sp>
    </p:spTree>
    <p:extLst>
      <p:ext uri="{BB962C8B-B14F-4D97-AF65-F5344CB8AC3E}">
        <p14:creationId xmlns:p14="http://schemas.microsoft.com/office/powerpoint/2010/main" val="41880590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 invented for Sleep Apnea </a:t>
            </a:r>
            <a:r>
              <a:rPr lang="en-US" dirty="0">
                <a:latin typeface="Calibri" panose="020F0502020204030204" pitchFamily="34" charset="0"/>
                <a:cs typeface="Calibri" panose="020F0502020204030204" pitchFamily="34" charset="0"/>
              </a:rPr>
              <a:t>→ CMS worried: $ for all OSA to get home vents? Rebranded BPAP as “Respiratory Assist Device”  to assure that not everyone going to need a ventilator. </a:t>
            </a:r>
          </a:p>
          <a:p>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E0465/E0466/E0467</a:t>
            </a: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31</a:t>
            </a:fld>
            <a:endParaRPr lang="en-US"/>
          </a:p>
        </p:txBody>
      </p:sp>
    </p:spTree>
    <p:extLst>
      <p:ext uri="{BB962C8B-B14F-4D97-AF65-F5344CB8AC3E}">
        <p14:creationId xmlns:p14="http://schemas.microsoft.com/office/powerpoint/2010/main" val="406331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Use of a noninvasive ventilator in the home setting may be considered medically necessary when both of the following criteria are met (A. and B.):</a:t>
            </a:r>
          </a:p>
          <a:p>
            <a:r>
              <a:rPr lang="en-US" sz="1200" kern="1200" dirty="0">
                <a:solidFill>
                  <a:schemeClr val="tx1"/>
                </a:solidFill>
                <a:effectLst/>
                <a:latin typeface="+mn-lt"/>
                <a:ea typeface="+mn-ea"/>
                <a:cs typeface="+mn-cs"/>
              </a:rPr>
              <a:t>A. The device is being requested to treat any of the following</a:t>
            </a:r>
          </a:p>
          <a:p>
            <a:r>
              <a:rPr lang="en-US" sz="1200" kern="1200" dirty="0">
                <a:solidFill>
                  <a:schemeClr val="tx1"/>
                </a:solidFill>
                <a:effectLst/>
                <a:latin typeface="+mn-lt"/>
                <a:ea typeface="+mn-ea"/>
                <a:cs typeface="+mn-cs"/>
              </a:rPr>
              <a:t>Indications:</a:t>
            </a:r>
          </a:p>
          <a:p>
            <a:r>
              <a:rPr lang="en-US" sz="1200" kern="1200" dirty="0">
                <a:solidFill>
                  <a:schemeClr val="tx1"/>
                </a:solidFill>
                <a:effectLst/>
                <a:latin typeface="+mn-lt"/>
                <a:ea typeface="+mn-ea"/>
                <a:cs typeface="+mn-cs"/>
              </a:rPr>
              <a:t>1. Neuromuscular disease</a:t>
            </a:r>
          </a:p>
          <a:p>
            <a:r>
              <a:rPr lang="en-US" sz="1200" kern="1200" dirty="0">
                <a:solidFill>
                  <a:schemeClr val="tx1"/>
                </a:solidFill>
                <a:effectLst/>
                <a:latin typeface="+mn-lt"/>
                <a:ea typeface="+mn-ea"/>
                <a:cs typeface="+mn-cs"/>
              </a:rPr>
              <a:t>* 2. Thoracic restrictive disease</a:t>
            </a:r>
          </a:p>
          <a:p>
            <a:r>
              <a:rPr lang="en-US" sz="1200" kern="1200" dirty="0">
                <a:solidFill>
                  <a:schemeClr val="tx1"/>
                </a:solidFill>
                <a:effectLst/>
                <a:latin typeface="+mn-lt"/>
                <a:ea typeface="+mn-ea"/>
                <a:cs typeface="+mn-cs"/>
              </a:rPr>
              <a:t>3. Chronic respiratory failure consequent to chronic obstructive pulmonary disease.</a:t>
            </a:r>
          </a:p>
          <a:p>
            <a:r>
              <a:rPr lang="en-US" sz="1200" kern="1200" dirty="0">
                <a:solidFill>
                  <a:schemeClr val="tx1"/>
                </a:solidFill>
                <a:effectLst/>
                <a:latin typeface="+mn-lt"/>
                <a:ea typeface="+mn-ea"/>
                <a:cs typeface="+mn-cs"/>
              </a:rPr>
              <a:t>B. There is sufficient documentation in the medical record to support the condition is life-threatening where interruption of respiratory support would quickly lead to serious harm or death.</a:t>
            </a:r>
          </a:p>
          <a:p>
            <a:r>
              <a:rPr lang="en-US" sz="1200" kern="1200" dirty="0">
                <a:solidFill>
                  <a:schemeClr val="tx1"/>
                </a:solidFill>
                <a:effectLst/>
                <a:latin typeface="+mn-lt"/>
                <a:ea typeface="+mn-ea"/>
                <a:cs typeface="+mn-cs"/>
              </a:rPr>
              <a:t>Il. Use of a noninvasive ventilator in the home setting is considered not medically necessary when Criterion I. is not met, including but not limited to the following situations:</a:t>
            </a:r>
          </a:p>
          <a:p>
            <a:r>
              <a:rPr lang="en-US" sz="1200" kern="1200" dirty="0">
                <a:solidFill>
                  <a:schemeClr val="tx1"/>
                </a:solidFill>
                <a:effectLst/>
                <a:latin typeface="+mn-lt"/>
                <a:ea typeface="+mn-ea"/>
                <a:cs typeface="+mn-cs"/>
              </a:rPr>
              <a:t>﻿﻿﻿The patient's condition is such that treatment may be adequately provided by a bilevel positive airway pressure device</a:t>
            </a:r>
          </a:p>
          <a:p>
            <a:r>
              <a:rPr lang="en-US" sz="1200" kern="1200" dirty="0">
                <a:solidFill>
                  <a:schemeClr val="tx1"/>
                </a:solidFill>
                <a:effectLst/>
                <a:latin typeface="+mn-lt"/>
                <a:ea typeface="+mn-ea"/>
                <a:cs typeface="+mn-cs"/>
              </a:rPr>
              <a:t>﻿﻿﻿Severity of the patient's condition is not severe and life-threatening.</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There are no definitions for these medical conditions (Unlike the RAD criterion)</a:t>
            </a:r>
          </a:p>
          <a:p>
            <a:r>
              <a:rPr lang="en-US" sz="1200" kern="1200" dirty="0">
                <a:solidFill>
                  <a:schemeClr val="tx1"/>
                </a:solidFill>
                <a:effectLst/>
                <a:latin typeface="+mn-lt"/>
                <a:ea typeface="+mn-ea"/>
                <a:cs typeface="+mn-cs"/>
              </a:rPr>
              <a:t>﻿﻿"Adequately provided by bilevel" is not defined in the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E0466 NCD</a:t>
            </a:r>
          </a:p>
          <a:p>
            <a:r>
              <a:rPr lang="en-US" sz="1200" kern="1200" dirty="0">
                <a:solidFill>
                  <a:schemeClr val="tx1"/>
                </a:solidFill>
                <a:effectLst/>
                <a:latin typeface="+mn-lt"/>
                <a:ea typeface="+mn-ea"/>
                <a:cs typeface="+mn-cs"/>
              </a:rPr>
              <a:t>• • ﻿﻿"Life threatening interruption" is not defined in the E0466</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NCD</a:t>
            </a:r>
          </a:p>
          <a:p>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33</a:t>
            </a:fld>
            <a:endParaRPr lang="en-US"/>
          </a:p>
        </p:txBody>
      </p:sp>
    </p:spTree>
    <p:extLst>
      <p:ext uri="{BB962C8B-B14F-4D97-AF65-F5344CB8AC3E}">
        <p14:creationId xmlns:p14="http://schemas.microsoft.com/office/powerpoint/2010/main" val="39002283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4F0C85-FC02-4C4E-8B1A-6BB950A69184}" type="slidenum">
              <a:rPr lang="en-US" smtClean="0"/>
              <a:t>40</a:t>
            </a:fld>
            <a:endParaRPr lang="en-US"/>
          </a:p>
        </p:txBody>
      </p:sp>
    </p:spTree>
    <p:extLst>
      <p:ext uri="{BB962C8B-B14F-4D97-AF65-F5344CB8AC3E}">
        <p14:creationId xmlns:p14="http://schemas.microsoft.com/office/powerpoint/2010/main" val="4179313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C5348-91FF-6C2E-FEC2-A4D06ACC1E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B4C7B7-E89F-F4F0-807C-64BC84E7B2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E20536-36D8-4517-7CBA-D1D1FE79AA6A}"/>
              </a:ext>
            </a:extLst>
          </p:cNvPr>
          <p:cNvSpPr>
            <a:spLocks noGrp="1"/>
          </p:cNvSpPr>
          <p:nvPr>
            <p:ph type="dt" sz="half" idx="10"/>
          </p:nvPr>
        </p:nvSpPr>
        <p:spPr/>
        <p:txBody>
          <a:bodyPr/>
          <a:lstStyle/>
          <a:p>
            <a:fld id="{7B5031F0-EA56-3740-A29C-52740243DB2E}" type="datetimeFigureOut">
              <a:rPr lang="en-US" smtClean="0"/>
              <a:t>3/13/26</a:t>
            </a:fld>
            <a:endParaRPr lang="en-US"/>
          </a:p>
        </p:txBody>
      </p:sp>
      <p:sp>
        <p:nvSpPr>
          <p:cNvPr id="5" name="Footer Placeholder 4">
            <a:extLst>
              <a:ext uri="{FF2B5EF4-FFF2-40B4-BE49-F238E27FC236}">
                <a16:creationId xmlns:a16="http://schemas.microsoft.com/office/drawing/2014/main" id="{4F267A02-C6E7-9718-CF81-08A1D9DC46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37E473-F494-4E27-99C0-34A7224EE648}"/>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2350701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13E5E-87FF-669F-CD7D-0F9A0A4C2F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CE7506-158E-D90F-7C22-96F88463A9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684CAD-4E34-35ED-7479-C217BC4CF424}"/>
              </a:ext>
            </a:extLst>
          </p:cNvPr>
          <p:cNvSpPr>
            <a:spLocks noGrp="1"/>
          </p:cNvSpPr>
          <p:nvPr>
            <p:ph type="dt" sz="half" idx="10"/>
          </p:nvPr>
        </p:nvSpPr>
        <p:spPr/>
        <p:txBody>
          <a:bodyPr/>
          <a:lstStyle/>
          <a:p>
            <a:fld id="{7B5031F0-EA56-3740-A29C-52740243DB2E}" type="datetimeFigureOut">
              <a:rPr lang="en-US" smtClean="0"/>
              <a:t>3/13/26</a:t>
            </a:fld>
            <a:endParaRPr lang="en-US"/>
          </a:p>
        </p:txBody>
      </p:sp>
      <p:sp>
        <p:nvSpPr>
          <p:cNvPr id="5" name="Footer Placeholder 4">
            <a:extLst>
              <a:ext uri="{FF2B5EF4-FFF2-40B4-BE49-F238E27FC236}">
                <a16:creationId xmlns:a16="http://schemas.microsoft.com/office/drawing/2014/main" id="{2B966E64-638E-9908-DD52-847A5E599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7DB6E3-CBDC-35EC-8B7A-D382270FFEC9}"/>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819637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3CA8F-2DCA-3843-87D9-545D32C71B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F607785-68F3-8D14-0473-201C157326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55D7C5-69EB-BDF0-68F0-47385ECEAB14}"/>
              </a:ext>
            </a:extLst>
          </p:cNvPr>
          <p:cNvSpPr>
            <a:spLocks noGrp="1"/>
          </p:cNvSpPr>
          <p:nvPr>
            <p:ph type="dt" sz="half" idx="10"/>
          </p:nvPr>
        </p:nvSpPr>
        <p:spPr/>
        <p:txBody>
          <a:bodyPr/>
          <a:lstStyle/>
          <a:p>
            <a:fld id="{7B5031F0-EA56-3740-A29C-52740243DB2E}" type="datetimeFigureOut">
              <a:rPr lang="en-US" smtClean="0"/>
              <a:t>3/13/26</a:t>
            </a:fld>
            <a:endParaRPr lang="en-US"/>
          </a:p>
        </p:txBody>
      </p:sp>
      <p:sp>
        <p:nvSpPr>
          <p:cNvPr id="5" name="Footer Placeholder 4">
            <a:extLst>
              <a:ext uri="{FF2B5EF4-FFF2-40B4-BE49-F238E27FC236}">
                <a16:creationId xmlns:a16="http://schemas.microsoft.com/office/drawing/2014/main" id="{BF497610-B8EB-655B-702E-90BCB36339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1E839B-7B8A-171C-C48E-D074C316E5A0}"/>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30906726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08C8A-4833-A169-AE97-84765B12E1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BEA08F-D104-669A-DBAA-8E18E5DB2E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ACF25B-E93F-8B3E-B55A-CA6BBD038D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89BAB2-09BD-B5F3-C781-0CAA8B93B47C}"/>
              </a:ext>
            </a:extLst>
          </p:cNvPr>
          <p:cNvSpPr>
            <a:spLocks noGrp="1"/>
          </p:cNvSpPr>
          <p:nvPr>
            <p:ph type="dt" sz="half" idx="10"/>
          </p:nvPr>
        </p:nvSpPr>
        <p:spPr/>
        <p:txBody>
          <a:bodyPr/>
          <a:lstStyle/>
          <a:p>
            <a:fld id="{7B5031F0-EA56-3740-A29C-52740243DB2E}" type="datetimeFigureOut">
              <a:rPr lang="en-US" smtClean="0"/>
              <a:t>3/13/26</a:t>
            </a:fld>
            <a:endParaRPr lang="en-US"/>
          </a:p>
        </p:txBody>
      </p:sp>
      <p:sp>
        <p:nvSpPr>
          <p:cNvPr id="6" name="Footer Placeholder 5">
            <a:extLst>
              <a:ext uri="{FF2B5EF4-FFF2-40B4-BE49-F238E27FC236}">
                <a16:creationId xmlns:a16="http://schemas.microsoft.com/office/drawing/2014/main" id="{CA08199A-76A8-F9C6-3CBE-B94069C3F2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1A505F-DB9A-56C6-47D9-C7C21031B5FB}"/>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2842664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B3D23-41D5-4BC3-1858-46F186F566D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0242BC-6CBD-BA1B-73EB-DEB6236102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39DD13-1EC5-8FA5-A585-795E20FA2F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717523-1C91-FF9F-3E5E-D9E9CB5478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840271-BC78-7113-442B-7E800D70D8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CC412E-37C1-6F23-B888-5A5550A87767}"/>
              </a:ext>
            </a:extLst>
          </p:cNvPr>
          <p:cNvSpPr>
            <a:spLocks noGrp="1"/>
          </p:cNvSpPr>
          <p:nvPr>
            <p:ph type="dt" sz="half" idx="10"/>
          </p:nvPr>
        </p:nvSpPr>
        <p:spPr/>
        <p:txBody>
          <a:bodyPr/>
          <a:lstStyle/>
          <a:p>
            <a:fld id="{7B5031F0-EA56-3740-A29C-52740243DB2E}" type="datetimeFigureOut">
              <a:rPr lang="en-US" smtClean="0"/>
              <a:t>3/13/26</a:t>
            </a:fld>
            <a:endParaRPr lang="en-US"/>
          </a:p>
        </p:txBody>
      </p:sp>
      <p:sp>
        <p:nvSpPr>
          <p:cNvPr id="8" name="Footer Placeholder 7">
            <a:extLst>
              <a:ext uri="{FF2B5EF4-FFF2-40B4-BE49-F238E27FC236}">
                <a16:creationId xmlns:a16="http://schemas.microsoft.com/office/drawing/2014/main" id="{7C1DAEB4-7FA6-4763-9630-004C576D8E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95CA12-92B0-C366-F5FF-87CC247FDD27}"/>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2522635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A9CA6-8559-C196-DB12-F8D9FD6B72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718351-13AC-869F-69B6-05626F93C1C5}"/>
              </a:ext>
            </a:extLst>
          </p:cNvPr>
          <p:cNvSpPr>
            <a:spLocks noGrp="1"/>
          </p:cNvSpPr>
          <p:nvPr>
            <p:ph type="dt" sz="half" idx="10"/>
          </p:nvPr>
        </p:nvSpPr>
        <p:spPr/>
        <p:txBody>
          <a:bodyPr/>
          <a:lstStyle/>
          <a:p>
            <a:fld id="{7B5031F0-EA56-3740-A29C-52740243DB2E}" type="datetimeFigureOut">
              <a:rPr lang="en-US" smtClean="0"/>
              <a:t>3/13/26</a:t>
            </a:fld>
            <a:endParaRPr lang="en-US"/>
          </a:p>
        </p:txBody>
      </p:sp>
      <p:sp>
        <p:nvSpPr>
          <p:cNvPr id="4" name="Footer Placeholder 3">
            <a:extLst>
              <a:ext uri="{FF2B5EF4-FFF2-40B4-BE49-F238E27FC236}">
                <a16:creationId xmlns:a16="http://schemas.microsoft.com/office/drawing/2014/main" id="{FF2CF895-E559-CFE5-9F05-C3205D79951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15669C-783B-D7DC-4E0B-3238F9B4513F}"/>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529910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819D8A-437A-6967-C3A8-3C65A63AD2BC}"/>
              </a:ext>
            </a:extLst>
          </p:cNvPr>
          <p:cNvSpPr>
            <a:spLocks noGrp="1"/>
          </p:cNvSpPr>
          <p:nvPr>
            <p:ph type="dt" sz="half" idx="10"/>
          </p:nvPr>
        </p:nvSpPr>
        <p:spPr/>
        <p:txBody>
          <a:bodyPr/>
          <a:lstStyle/>
          <a:p>
            <a:fld id="{7B5031F0-EA56-3740-A29C-52740243DB2E}" type="datetimeFigureOut">
              <a:rPr lang="en-US" smtClean="0"/>
              <a:t>3/13/26</a:t>
            </a:fld>
            <a:endParaRPr lang="en-US"/>
          </a:p>
        </p:txBody>
      </p:sp>
      <p:sp>
        <p:nvSpPr>
          <p:cNvPr id="3" name="Footer Placeholder 2">
            <a:extLst>
              <a:ext uri="{FF2B5EF4-FFF2-40B4-BE49-F238E27FC236}">
                <a16:creationId xmlns:a16="http://schemas.microsoft.com/office/drawing/2014/main" id="{0FFD7AEE-C060-E81C-9B7F-7EDD5875ED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DD60FF4-0997-396D-873D-8FFA0B244D8D}"/>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2125784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3E8D0-4D60-7EEF-DEC9-2EEC152F97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5D59E60-6E29-3269-21E1-2AE5E3D11E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641270-F766-A002-ACE7-A288947BAA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E1C9E1-8F22-FAFC-D736-D36D59F582F1}"/>
              </a:ext>
            </a:extLst>
          </p:cNvPr>
          <p:cNvSpPr>
            <a:spLocks noGrp="1"/>
          </p:cNvSpPr>
          <p:nvPr>
            <p:ph type="dt" sz="half" idx="10"/>
          </p:nvPr>
        </p:nvSpPr>
        <p:spPr/>
        <p:txBody>
          <a:bodyPr/>
          <a:lstStyle/>
          <a:p>
            <a:fld id="{7B5031F0-EA56-3740-A29C-52740243DB2E}" type="datetimeFigureOut">
              <a:rPr lang="en-US" smtClean="0"/>
              <a:t>3/13/26</a:t>
            </a:fld>
            <a:endParaRPr lang="en-US"/>
          </a:p>
        </p:txBody>
      </p:sp>
      <p:sp>
        <p:nvSpPr>
          <p:cNvPr id="6" name="Footer Placeholder 5">
            <a:extLst>
              <a:ext uri="{FF2B5EF4-FFF2-40B4-BE49-F238E27FC236}">
                <a16:creationId xmlns:a16="http://schemas.microsoft.com/office/drawing/2014/main" id="{9E2AEB03-65A7-A691-B57C-3451711970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AD322C-18A9-E0B2-C2FF-BA0E732822BB}"/>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1740777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6C4D6-197F-000C-6AC9-EDD71C72D4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237D2BF-B6D9-F30C-3103-DE6BE2FE90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9384A07-3318-090A-7317-30B9E5A242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AFF879-3FFD-ACB5-B7E1-99E787256AF8}"/>
              </a:ext>
            </a:extLst>
          </p:cNvPr>
          <p:cNvSpPr>
            <a:spLocks noGrp="1"/>
          </p:cNvSpPr>
          <p:nvPr>
            <p:ph type="dt" sz="half" idx="10"/>
          </p:nvPr>
        </p:nvSpPr>
        <p:spPr/>
        <p:txBody>
          <a:bodyPr/>
          <a:lstStyle/>
          <a:p>
            <a:fld id="{7B5031F0-EA56-3740-A29C-52740243DB2E}" type="datetimeFigureOut">
              <a:rPr lang="en-US" smtClean="0"/>
              <a:t>3/13/26</a:t>
            </a:fld>
            <a:endParaRPr lang="en-US"/>
          </a:p>
        </p:txBody>
      </p:sp>
      <p:sp>
        <p:nvSpPr>
          <p:cNvPr id="6" name="Footer Placeholder 5">
            <a:extLst>
              <a:ext uri="{FF2B5EF4-FFF2-40B4-BE49-F238E27FC236}">
                <a16:creationId xmlns:a16="http://schemas.microsoft.com/office/drawing/2014/main" id="{7002E427-0147-39DA-E6F9-C401377B3E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C63E81-1FD0-4C8F-1567-D4F8698F3AA2}"/>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331107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B687-78D0-E8C2-CAF9-D106A47E7FC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1FB3F2-A480-DE47-AF7D-5AC821EC76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CA20EC-5A59-1252-989C-E16961F7EEED}"/>
              </a:ext>
            </a:extLst>
          </p:cNvPr>
          <p:cNvSpPr>
            <a:spLocks noGrp="1"/>
          </p:cNvSpPr>
          <p:nvPr>
            <p:ph type="dt" sz="half" idx="10"/>
          </p:nvPr>
        </p:nvSpPr>
        <p:spPr/>
        <p:txBody>
          <a:bodyPr/>
          <a:lstStyle/>
          <a:p>
            <a:fld id="{7B5031F0-EA56-3740-A29C-52740243DB2E}" type="datetimeFigureOut">
              <a:rPr lang="en-US" smtClean="0"/>
              <a:t>3/13/26</a:t>
            </a:fld>
            <a:endParaRPr lang="en-US"/>
          </a:p>
        </p:txBody>
      </p:sp>
      <p:sp>
        <p:nvSpPr>
          <p:cNvPr id="5" name="Footer Placeholder 4">
            <a:extLst>
              <a:ext uri="{FF2B5EF4-FFF2-40B4-BE49-F238E27FC236}">
                <a16:creationId xmlns:a16="http://schemas.microsoft.com/office/drawing/2014/main" id="{F6715AE4-305A-141F-EAFB-6FAACDE4D0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55F7FE-1B7B-B2FA-ABC0-D2723703092A}"/>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3735542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C9CA5E-75F2-933A-DB7F-33148E920B7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33FD5A6-F9DB-4951-59AC-E2DB6D4512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652A90-B6B6-9B79-25C0-073FD7053DAF}"/>
              </a:ext>
            </a:extLst>
          </p:cNvPr>
          <p:cNvSpPr>
            <a:spLocks noGrp="1"/>
          </p:cNvSpPr>
          <p:nvPr>
            <p:ph type="dt" sz="half" idx="10"/>
          </p:nvPr>
        </p:nvSpPr>
        <p:spPr/>
        <p:txBody>
          <a:bodyPr/>
          <a:lstStyle/>
          <a:p>
            <a:fld id="{7B5031F0-EA56-3740-A29C-52740243DB2E}" type="datetimeFigureOut">
              <a:rPr lang="en-US" smtClean="0"/>
              <a:t>3/13/26</a:t>
            </a:fld>
            <a:endParaRPr lang="en-US"/>
          </a:p>
        </p:txBody>
      </p:sp>
      <p:sp>
        <p:nvSpPr>
          <p:cNvPr id="5" name="Footer Placeholder 4">
            <a:extLst>
              <a:ext uri="{FF2B5EF4-FFF2-40B4-BE49-F238E27FC236}">
                <a16:creationId xmlns:a16="http://schemas.microsoft.com/office/drawing/2014/main" id="{D35A74F2-473E-18FD-136F-19EC4C2F46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9115F1-5F18-09D3-DDC8-6A4F8376EFDC}"/>
              </a:ext>
            </a:extLst>
          </p:cNvPr>
          <p:cNvSpPr>
            <a:spLocks noGrp="1"/>
          </p:cNvSpPr>
          <p:nvPr>
            <p:ph type="sldNum" sz="quarter" idx="12"/>
          </p:nvPr>
        </p:nvSpPr>
        <p:spPr/>
        <p:txBody>
          <a:bodyPr/>
          <a:lstStyle/>
          <a:p>
            <a:fld id="{5E3790D0-B9BD-1747-B3D5-7F13B94238DC}" type="slidenum">
              <a:rPr lang="en-US" smtClean="0"/>
              <a:t>‹#›</a:t>
            </a:fld>
            <a:endParaRPr lang="en-US"/>
          </a:p>
        </p:txBody>
      </p:sp>
    </p:spTree>
    <p:extLst>
      <p:ext uri="{BB962C8B-B14F-4D97-AF65-F5344CB8AC3E}">
        <p14:creationId xmlns:p14="http://schemas.microsoft.com/office/powerpoint/2010/main" val="3587467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9"/>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4D145F-B434-8F43-2809-AE977E4D2E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5F45D8-71D2-87F1-506E-3E629AF96C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77E5F3-CFBD-0583-3550-1C624EDFC0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5031F0-EA56-3740-A29C-52740243DB2E}" type="datetimeFigureOut">
              <a:rPr lang="en-US" smtClean="0"/>
              <a:t>3/13/26</a:t>
            </a:fld>
            <a:endParaRPr lang="en-US"/>
          </a:p>
        </p:txBody>
      </p:sp>
      <p:sp>
        <p:nvSpPr>
          <p:cNvPr id="5" name="Footer Placeholder 4">
            <a:extLst>
              <a:ext uri="{FF2B5EF4-FFF2-40B4-BE49-F238E27FC236}">
                <a16:creationId xmlns:a16="http://schemas.microsoft.com/office/drawing/2014/main" id="{CD3542C5-C1D2-E987-DA18-3467DE5222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DE4A7B8-F248-2A95-60D5-0FBFBE5704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E3790D0-B9BD-1747-B3D5-7F13B94238DC}" type="slidenum">
              <a:rPr lang="en-US" smtClean="0"/>
              <a:t>‹#›</a:t>
            </a:fld>
            <a:endParaRPr lang="en-US"/>
          </a:p>
        </p:txBody>
      </p:sp>
      <p:sp>
        <p:nvSpPr>
          <p:cNvPr id="100" name="IH Top Accent"/>
          <p:cNvSpPr/>
          <p:nvPr userDrawn="1"/>
        </p:nvSpPr>
        <p:spPr>
          <a:xfrm>
            <a:off x="0" y="0"/>
            <a:ext cx="182880" cy="6858000"/>
          </a:xfrm>
          <a:prstGeom prst="rect">
            <a:avLst/>
          </a:prstGeom>
          <a:gradFill>
            <a:gsLst>
              <a:gs pos="0">
                <a:srgbClr val="110057"/>
              </a:gs>
              <a:gs pos="50000">
                <a:srgbClr val="4A00E2"/>
              </a:gs>
              <a:gs pos="100000">
                <a:srgbClr val="FF0044"/>
              </a:gs>
            </a:gsLst>
            <a:lin ang="5400000" scaled="1"/>
          </a:gradFill>
          <a:ln>
            <a:noFill/>
          </a:ln>
        </p:spPr>
        <p:txBody>
          <a:bodyPr/>
          <a:lstStyle/>
          <a:p>
            <a:endParaRPr lang="en-US"/>
          </a:p>
        </p:txBody>
      </p:sp>
      <p:sp>
        <p:nvSpPr>
          <p:cNvPr id="101" name="IH Accent Bar"/>
          <p:cNvSpPr/>
          <p:nvPr userDrawn="1"/>
        </p:nvSpPr>
        <p:spPr>
          <a:xfrm>
            <a:off x="0" y="6662100"/>
            <a:ext cx="12192000" cy="91440"/>
          </a:xfrm>
          <a:prstGeom prst="rect">
            <a:avLst/>
          </a:prstGeom>
          <a:solidFill>
            <a:srgbClr val="4A00E2"/>
          </a:solidFill>
          <a:ln>
            <a:noFill/>
          </a:ln>
        </p:spPr>
        <p:txBody>
          <a:bodyPr/>
          <a:lstStyle/>
          <a:p>
            <a:endParaRPr lang="en-US"/>
          </a:p>
        </p:txBody>
      </p:sp>
      <p:sp>
        <p:nvSpPr>
          <p:cNvPr id="102" name="Accent Bar"/>
          <p:cNvSpPr/>
          <p:nvPr/>
        </p:nvSpPr>
        <p:spPr>
          <a:xfrm>
            <a:off x="0" y="6705600"/>
            <a:ext cx="12192000" cy="152400"/>
          </a:xfrm>
          <a:prstGeom prst="rect">
            <a:avLst/>
          </a:prstGeom>
          <a:solidFill>
            <a:srgbClr val="0D7377"/>
          </a:solidFill>
          <a:ln>
            <a:noFill/>
          </a:ln>
        </p:spPr>
        <p:txBody>
          <a:bodyPr/>
          <a:lstStyle/>
          <a:p>
            <a:endParaRPr lang="en-US"/>
          </a:p>
        </p:txBody>
      </p:sp>
      <p:sp>
        <p:nvSpPr>
          <p:cNvPr id="103" name="Top Accent"/>
          <p:cNvSpPr/>
          <p:nvPr/>
        </p:nvSpPr>
        <p:spPr>
          <a:xfrm>
            <a:off x="457200" y="1371600"/>
            <a:ext cx="101600" cy="27432"/>
          </a:xfrm>
          <a:prstGeom prst="rect">
            <a:avLst/>
          </a:prstGeom>
          <a:solidFill>
            <a:srgbClr val="0D7377"/>
          </a:solidFill>
          <a:ln>
            <a:noFill/>
          </a:ln>
        </p:spPr>
        <p:txBody>
          <a:bodyPr/>
          <a:lstStyle/>
          <a:p>
            <a:endParaRPr lang="en-US"/>
          </a:p>
        </p:txBody>
      </p:sp>
    </p:spTree>
    <p:extLst>
      <p:ext uri="{BB962C8B-B14F-4D97-AF65-F5344CB8AC3E}">
        <p14:creationId xmlns:p14="http://schemas.microsoft.com/office/powerpoint/2010/main" val="51633268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rgbClr val="110057"/>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10057"/>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10057"/>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10057"/>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10057"/>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10057"/>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110057"/>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110057"/>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110057"/>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110057"/>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tiff"/></Relationships>
</file>

<file path=ppt/slides/_rels/slide1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 Id="rId9" Type="http://schemas.openxmlformats.org/officeDocument/2006/relationships/image" Target="../media/image24.svg"/></Relationships>
</file>

<file path=ppt/slides/_rels/slide25.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7.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svg"/><Relationship Id="rId7"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0057">
            <a:alpha val="100000"/>
          </a:srgbClr>
        </a:solidFill>
        <a:effectLst/>
      </p:bgPr>
    </p:bg>
    <p:spTree>
      <p:nvGrpSpPr>
        <p:cNvPr id="1" name=""/>
        <p:cNvGrpSpPr/>
        <p:nvPr/>
      </p:nvGrpSpPr>
      <p:grpSpPr>
        <a:xfrm>
          <a:off x="0" y="0"/>
          <a:ext cx="0" cy="0"/>
          <a:chOff x="0" y="0"/>
          <a:chExt cx="0" cy="0"/>
        </a:xfrm>
      </p:grpSpPr>
      <p:sp>
        <p:nvSpPr>
          <p:cNvPr id="2" name="Donut 1">
            <a:extLst>
              <a:ext uri="{FF2B5EF4-FFF2-40B4-BE49-F238E27FC236}">
                <a16:creationId xmlns:a16="http://schemas.microsoft.com/office/drawing/2014/main" id="{405DBE29-A1DA-044D-A8FE-376A430CFC0C}"/>
              </a:ext>
            </a:extLst>
          </p:cNvPr>
          <p:cNvSpPr/>
          <p:nvPr/>
        </p:nvSpPr>
        <p:spPr>
          <a:xfrm>
            <a:off x="6502400" y="1549400"/>
            <a:ext cx="2616200" cy="2616200"/>
          </a:xfrm>
          <a:prstGeom prst="donut">
            <a:avLst/>
          </a:prstGeom>
          <a:solidFill>
            <a:srgbClr val="3D006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chemeClr val="tx1"/>
              </a:solidFill>
            </a:endParaRPr>
          </a:p>
        </p:txBody>
      </p:sp>
      <p:sp>
        <p:nvSpPr>
          <p:cNvPr id="8" name="Rectangle 7">
            <a:extLst>
              <a:ext uri="{FF2B5EF4-FFF2-40B4-BE49-F238E27FC236}">
                <a16:creationId xmlns:a16="http://schemas.microsoft.com/office/drawing/2014/main" id="{0D7C7E54-13A1-E948-AC0F-7311E4319B16}"/>
              </a:ext>
            </a:extLst>
          </p:cNvPr>
          <p:cNvSpPr/>
          <p:nvPr/>
        </p:nvSpPr>
        <p:spPr>
          <a:xfrm>
            <a:off x="711200" y="3746500"/>
            <a:ext cx="2286000" cy="38100"/>
          </a:xfrm>
          <a:prstGeom prst="rect">
            <a:avLst/>
          </a:prstGeom>
          <a:solidFill>
            <a:srgbClr val="FBAE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ounded Rectangle 8">
            <a:extLst>
              <a:ext uri="{FF2B5EF4-FFF2-40B4-BE49-F238E27FC236}">
                <a16:creationId xmlns:a16="http://schemas.microsoft.com/office/drawing/2014/main" id="{279C7261-7ADB-D742-9376-DC9FFA640E95}"/>
              </a:ext>
            </a:extLst>
          </p:cNvPr>
          <p:cNvSpPr/>
          <p:nvPr/>
        </p:nvSpPr>
        <p:spPr>
          <a:xfrm>
            <a:off x="711200" y="533400"/>
            <a:ext cx="2222500" cy="508000"/>
          </a:xfrm>
          <a:prstGeom prst="roundRect">
            <a:avLst/>
          </a:prstGeom>
          <a:solidFill>
            <a:srgbClr val="FBAE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110057"/>
                </a:solidFill>
                <a:latin typeface="Arial"/>
                <a:cs typeface="Arial"/>
              </a:rPr>
              <a:t>UTAH ACP 2026</a:t>
            </a:r>
          </a:p>
        </p:txBody>
      </p:sp>
      <p:sp>
        <p:nvSpPr>
          <p:cNvPr id="10" name="TextBox 9">
            <a:extLst>
              <a:ext uri="{FF2B5EF4-FFF2-40B4-BE49-F238E27FC236}">
                <a16:creationId xmlns:a16="http://schemas.microsoft.com/office/drawing/2014/main" id="{8B44A054-AFE2-FD44-9653-471FD6E0D8FE}"/>
              </a:ext>
            </a:extLst>
          </p:cNvPr>
          <p:cNvSpPr txBox="1"/>
          <p:nvPr/>
        </p:nvSpPr>
        <p:spPr>
          <a:xfrm>
            <a:off x="3149600" y="596900"/>
            <a:ext cx="2540000" cy="381000"/>
          </a:xfrm>
          <a:prstGeom prst="rect">
            <a:avLst/>
          </a:prstGeom>
          <a:noFill/>
        </p:spPr>
        <p:txBody>
          <a:bodyPr vertOverflow="overflow" vert="horz" wrap="square" rtlCol="0" anchor="t">
            <a:spAutoFit/>
          </a:bodyPr>
          <a:lstStyle/>
          <a:p>
            <a:pPr marL="0" indent="0">
              <a:buNone/>
            </a:pPr>
            <a:r>
              <a:rPr lang="en-US" sz="1400" dirty="0">
                <a:solidFill>
                  <a:srgbClr val="F7F5F9"/>
                </a:solidFill>
                <a:latin typeface="Arial"/>
              </a:rPr>
              <a:t>March 12, 2026</a:t>
            </a:r>
          </a:p>
        </p:txBody>
      </p:sp>
      <p:sp>
        <p:nvSpPr>
          <p:cNvPr id="11" name="TextBox 10">
            <a:extLst>
              <a:ext uri="{FF2B5EF4-FFF2-40B4-BE49-F238E27FC236}">
                <a16:creationId xmlns:a16="http://schemas.microsoft.com/office/drawing/2014/main" id="{19501550-A79C-6645-B3FA-40836A4D4485}"/>
              </a:ext>
            </a:extLst>
          </p:cNvPr>
          <p:cNvSpPr txBox="1"/>
          <p:nvPr/>
        </p:nvSpPr>
        <p:spPr>
          <a:xfrm>
            <a:off x="711200" y="1371600"/>
            <a:ext cx="6350000" cy="2286000"/>
          </a:xfrm>
          <a:prstGeom prst="rect">
            <a:avLst/>
          </a:prstGeom>
          <a:noFill/>
        </p:spPr>
        <p:txBody>
          <a:bodyPr vertOverflow="overflow" vert="horz" wrap="square" rtlCol="0" anchor="t">
            <a:noAutofit/>
          </a:bodyPr>
          <a:lstStyle/>
          <a:p>
            <a:pPr algn="l"/>
            <a:r>
              <a:rPr lang="en-US" sz="4000" b="1">
                <a:solidFill>
                  <a:srgbClr val="FFFFFF"/>
                </a:solidFill>
                <a:latin typeface="Arial"/>
                <a:cs typeface="Arial"/>
              </a:rPr>
              <a:t>Obesity-Related
Respiratory Failure</a:t>
            </a:r>
          </a:p>
        </p:txBody>
      </p:sp>
      <p:sp>
        <p:nvSpPr>
          <p:cNvPr id="12" name="TextBox 11">
            <a:extLst>
              <a:ext uri="{FF2B5EF4-FFF2-40B4-BE49-F238E27FC236}">
                <a16:creationId xmlns:a16="http://schemas.microsoft.com/office/drawing/2014/main" id="{AC770022-7282-2647-BEFE-3E4175C1921D}"/>
              </a:ext>
            </a:extLst>
          </p:cNvPr>
          <p:cNvSpPr txBox="1"/>
          <p:nvPr/>
        </p:nvSpPr>
        <p:spPr>
          <a:xfrm>
            <a:off x="711200" y="3835400"/>
            <a:ext cx="6350000" cy="457200"/>
          </a:xfrm>
          <a:prstGeom prst="rect">
            <a:avLst/>
          </a:prstGeom>
          <a:noFill/>
        </p:spPr>
        <p:txBody>
          <a:bodyPr vertOverflow="overflow" vert="horz" wrap="square" rtlCol="0" anchor="t">
            <a:spAutoFit/>
          </a:bodyPr>
          <a:lstStyle/>
          <a:p>
            <a:pPr algn="l"/>
            <a:r>
              <a:rPr lang="en-US" sz="1600" i="1">
                <a:solidFill>
                  <a:srgbClr val="FBAE40"/>
                </a:solidFill>
                <a:latin typeface="Arial"/>
                <a:cs typeface="Arial"/>
              </a:rPr>
              <a:t>What it is, who has it, &amp; why the discharge is so hard</a:t>
            </a:r>
          </a:p>
        </p:txBody>
      </p:sp>
      <p:sp>
        <p:nvSpPr>
          <p:cNvPr id="13" name="TextBox 12">
            <a:extLst>
              <a:ext uri="{FF2B5EF4-FFF2-40B4-BE49-F238E27FC236}">
                <a16:creationId xmlns:a16="http://schemas.microsoft.com/office/drawing/2014/main" id="{4BC751BC-7BF1-7042-A67A-41FFD870C960}"/>
              </a:ext>
            </a:extLst>
          </p:cNvPr>
          <p:cNvSpPr txBox="1"/>
          <p:nvPr/>
        </p:nvSpPr>
        <p:spPr>
          <a:xfrm>
            <a:off x="711200" y="4318000"/>
            <a:ext cx="6477000" cy="2413000"/>
          </a:xfrm>
          <a:prstGeom prst="rect">
            <a:avLst/>
          </a:prstGeom>
          <a:noFill/>
        </p:spPr>
        <p:txBody>
          <a:bodyPr vertOverflow="overflow" vert="horz" wrap="square" rtlCol="0" anchor="t">
            <a:noAutofit/>
          </a:bodyPr>
          <a:lstStyle/>
          <a:p>
            <a:pPr marL="0" indent="0">
              <a:lnSpc>
                <a:spcPts val="2200"/>
              </a:lnSpc>
              <a:spcAft>
                <a:spcPts val="200"/>
              </a:spcAft>
              <a:buNone/>
            </a:pPr>
            <a:r>
              <a:rPr lang="en-US" sz="1800" b="1" dirty="0">
                <a:solidFill>
                  <a:srgbClr val="FFFFFF"/>
                </a:solidFill>
                <a:latin typeface="Arial"/>
              </a:rPr>
              <a:t>Brian W Locke MD MSCI</a:t>
            </a:r>
          </a:p>
          <a:p>
            <a:pPr marL="0" indent="0">
              <a:lnSpc>
                <a:spcPts val="1600"/>
              </a:lnSpc>
              <a:spcAft>
                <a:spcPts val="400"/>
              </a:spcAft>
              <a:buNone/>
            </a:pPr>
            <a:r>
              <a:rPr lang="en-US" sz="1300" dirty="0">
                <a:solidFill>
                  <a:srgbClr val="F7F5F9"/>
                </a:solidFill>
                <a:latin typeface="Arial"/>
              </a:rPr>
              <a:t>Pulmonary &amp; Critical Care Medicine, Intermountain Medical Center</a:t>
            </a:r>
          </a:p>
          <a:p>
            <a:pPr marL="0" indent="0">
              <a:lnSpc>
                <a:spcPts val="1500"/>
              </a:lnSpc>
              <a:spcAft>
                <a:spcPts val="200"/>
              </a:spcAft>
              <a:buNone/>
            </a:pPr>
            <a:r>
              <a:rPr lang="en-US" sz="1100" b="1" dirty="0">
                <a:solidFill>
                  <a:srgbClr val="FBAE40"/>
                </a:solidFill>
                <a:latin typeface="Arial"/>
              </a:rPr>
              <a:t>COI:</a:t>
            </a:r>
            <a:r>
              <a:rPr lang="en-US" sz="1100" dirty="0">
                <a:solidFill>
                  <a:srgbClr val="F7F5F9"/>
                </a:solidFill>
                <a:latin typeface="Arial"/>
              </a:rPr>
              <a:t>  Mountain Biometrics (automated data harmonization) — unrelated to this work</a:t>
            </a:r>
          </a:p>
          <a:p>
            <a:pPr marL="0" indent="0">
              <a:lnSpc>
                <a:spcPts val="1500"/>
              </a:lnSpc>
              <a:spcAft>
                <a:spcPts val="100"/>
              </a:spcAft>
              <a:buNone/>
            </a:pPr>
            <a:r>
              <a:rPr lang="en-US" sz="1100" b="1" dirty="0">
                <a:solidFill>
                  <a:srgbClr val="FBAE40"/>
                </a:solidFill>
                <a:latin typeface="Arial"/>
              </a:rPr>
              <a:t>Funding:</a:t>
            </a:r>
          </a:p>
          <a:p>
            <a:pPr marL="171450" indent="-171450">
              <a:lnSpc>
                <a:spcPts val="1400"/>
              </a:lnSpc>
              <a:buFont typeface="Arial"/>
              <a:buChar char="•"/>
            </a:pPr>
            <a:r>
              <a:rPr lang="en-US" sz="1000" dirty="0">
                <a:solidFill>
                  <a:srgbClr val="F7F5F9"/>
                </a:solidFill>
                <a:latin typeface="Arial"/>
              </a:rPr>
              <a:t>ATS Academic Sleep Pulmonary Integrated Research/Clinical Fellowship (ASPIRE)</a:t>
            </a:r>
          </a:p>
          <a:p>
            <a:pPr marL="171450" indent="-171450">
              <a:lnSpc>
                <a:spcPts val="1400"/>
              </a:lnSpc>
              <a:buFont typeface="Arial"/>
              <a:buChar char="•"/>
            </a:pPr>
            <a:r>
              <a:rPr lang="en-US" sz="1000" dirty="0">
                <a:solidFill>
                  <a:srgbClr val="F7F5F9"/>
                </a:solidFill>
                <a:latin typeface="Arial"/>
              </a:rPr>
              <a:t>NIH NHLBI T32 — University of Utah PCCM</a:t>
            </a:r>
          </a:p>
          <a:p>
            <a:pPr marL="171450" indent="-171450">
              <a:lnSpc>
                <a:spcPts val="1400"/>
              </a:lnSpc>
              <a:buFont typeface="Arial"/>
              <a:buChar char="•"/>
            </a:pPr>
            <a:r>
              <a:rPr lang="en-US" sz="1000" dirty="0">
                <a:solidFill>
                  <a:srgbClr val="F7F5F9"/>
                </a:solidFill>
                <a:latin typeface="Arial"/>
              </a:rPr>
              <a:t>Intermountain PCCM Seed Grant: FUND-Hypercapnia</a:t>
            </a:r>
          </a:p>
          <a:p>
            <a:pPr marL="171450" indent="-171450">
              <a:lnSpc>
                <a:spcPts val="1400"/>
              </a:lnSpc>
              <a:buFont typeface="Arial"/>
              <a:buChar char="•"/>
            </a:pPr>
            <a:r>
              <a:rPr lang="en-US" sz="1000" dirty="0">
                <a:solidFill>
                  <a:srgbClr val="F7F5F9"/>
                </a:solidFill>
                <a:latin typeface="Arial"/>
              </a:rPr>
              <a:t>Utah Population Database via HCI &amp; HCI Cancer Center Support Grant P30 CA2014</a:t>
            </a:r>
          </a:p>
        </p:txBody>
      </p:sp>
      <p:sp>
        <p:nvSpPr>
          <p:cNvPr id="17" name="Shape 16">
            <a:extLst>
              <a:ext uri="{FF2B5EF4-FFF2-40B4-BE49-F238E27FC236}">
                <a16:creationId xmlns:a16="http://schemas.microsoft.com/office/drawing/2014/main" id="{E123EB56-01D2-7248-B525-FB86F3454652}"/>
              </a:ext>
            </a:extLst>
          </p:cNvPr>
          <p:cNvSpPr/>
          <p:nvPr/>
        </p:nvSpPr>
        <p:spPr>
          <a:xfrm>
            <a:off x="6731000" y="1778000"/>
            <a:ext cx="2159000" cy="2159000"/>
          </a:xfrm>
          <a:prstGeom prst="gear9">
            <a:avLst/>
          </a:prstGeom>
          <a:solidFill>
            <a:srgbClr val="7CAF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Arial"/>
                <a:cs typeface="Arial"/>
              </a:rPr>
              <a:t>Pulmonary</a:t>
            </a:r>
          </a:p>
        </p:txBody>
      </p:sp>
      <p:sp>
        <p:nvSpPr>
          <p:cNvPr id="18" name="Shape 17">
            <a:extLst>
              <a:ext uri="{FF2B5EF4-FFF2-40B4-BE49-F238E27FC236}">
                <a16:creationId xmlns:a16="http://schemas.microsoft.com/office/drawing/2014/main" id="{8CC55C0C-946C-E54C-B3E3-6D17B40CC6D7}"/>
              </a:ext>
            </a:extLst>
          </p:cNvPr>
          <p:cNvSpPr/>
          <p:nvPr/>
        </p:nvSpPr>
        <p:spPr>
          <a:xfrm>
            <a:off x="8255000" y="1778000"/>
            <a:ext cx="2159000" cy="2159000"/>
          </a:xfrm>
          <a:prstGeom prst="gear9">
            <a:avLst/>
          </a:prstGeom>
          <a:solidFill>
            <a:srgbClr val="FF5D5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Arial"/>
                <a:cs typeface="Arial"/>
              </a:rPr>
              <a:t>Circulation</a:t>
            </a:r>
          </a:p>
        </p:txBody>
      </p:sp>
      <p:sp>
        <p:nvSpPr>
          <p:cNvPr id="19" name="Shape 18">
            <a:extLst>
              <a:ext uri="{FF2B5EF4-FFF2-40B4-BE49-F238E27FC236}">
                <a16:creationId xmlns:a16="http://schemas.microsoft.com/office/drawing/2014/main" id="{8C3D288B-F4B9-464B-9908-B691E7E79F7E}"/>
              </a:ext>
            </a:extLst>
          </p:cNvPr>
          <p:cNvSpPr/>
          <p:nvPr/>
        </p:nvSpPr>
        <p:spPr>
          <a:xfrm>
            <a:off x="9779000" y="1778000"/>
            <a:ext cx="2159000" cy="2159000"/>
          </a:xfrm>
          <a:prstGeom prst="gear6">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Arial"/>
                <a:cs typeface="Arial"/>
              </a:rPr>
              <a:t>Muscle</a:t>
            </a:r>
          </a:p>
        </p:txBody>
      </p:sp>
      <p:sp>
        <p:nvSpPr>
          <p:cNvPr id="20" name="TextBox 19">
            <a:extLst>
              <a:ext uri="{FF2B5EF4-FFF2-40B4-BE49-F238E27FC236}">
                <a16:creationId xmlns:a16="http://schemas.microsoft.com/office/drawing/2014/main" id="{89A4FAF8-B2D4-1C4E-B3AC-07E5E0B708EC}"/>
              </a:ext>
            </a:extLst>
          </p:cNvPr>
          <p:cNvSpPr txBox="1"/>
          <p:nvPr/>
        </p:nvSpPr>
        <p:spPr>
          <a:xfrm>
            <a:off x="8255000" y="1371600"/>
            <a:ext cx="1524000" cy="355600"/>
          </a:xfrm>
          <a:prstGeom prst="rect">
            <a:avLst/>
          </a:prstGeom>
          <a:noFill/>
        </p:spPr>
        <p:txBody>
          <a:bodyPr vertOverflow="overflow" vert="horz" wrap="square" rtlCol="0" anchor="t">
            <a:noAutofit/>
          </a:bodyPr>
          <a:lstStyle/>
          <a:p>
            <a:pPr algn="ctr">
              <a:buNone/>
            </a:pPr>
            <a:r>
              <a:rPr lang="en-US" sz="1600" dirty="0">
                <a:solidFill>
                  <a:srgbClr val="7CAFD0"/>
                </a:solidFill>
                <a:latin typeface="Arial"/>
              </a:rPr>
              <a:t>O</a:t>
            </a:r>
            <a:r>
              <a:rPr lang="en-US" sz="1600" baseline="-25000" dirty="0">
                <a:solidFill>
                  <a:srgbClr val="7CAFD0"/>
                </a:solidFill>
                <a:latin typeface="Arial"/>
              </a:rPr>
              <a:t>2</a:t>
            </a:r>
            <a:r>
              <a:rPr lang="en-US" sz="1600" dirty="0">
                <a:solidFill>
                  <a:srgbClr val="7CAFD0"/>
                </a:solidFill>
                <a:latin typeface="Arial"/>
              </a:rPr>
              <a:t> →</a:t>
            </a:r>
          </a:p>
        </p:txBody>
      </p:sp>
      <p:sp>
        <p:nvSpPr>
          <p:cNvPr id="21" name="TextBox 20">
            <a:extLst>
              <a:ext uri="{FF2B5EF4-FFF2-40B4-BE49-F238E27FC236}">
                <a16:creationId xmlns:a16="http://schemas.microsoft.com/office/drawing/2014/main" id="{733335E3-B1A5-BC48-B661-E685018EF33A}"/>
              </a:ext>
            </a:extLst>
          </p:cNvPr>
          <p:cNvSpPr txBox="1"/>
          <p:nvPr/>
        </p:nvSpPr>
        <p:spPr>
          <a:xfrm>
            <a:off x="8001000" y="4038600"/>
            <a:ext cx="2032000" cy="355600"/>
          </a:xfrm>
          <a:prstGeom prst="rect">
            <a:avLst/>
          </a:prstGeom>
          <a:noFill/>
        </p:spPr>
        <p:txBody>
          <a:bodyPr vertOverflow="overflow" vert="horz" wrap="square" rtlCol="0" anchor="t">
            <a:noAutofit/>
          </a:bodyPr>
          <a:lstStyle/>
          <a:p>
            <a:pPr algn="ctr">
              <a:buNone/>
            </a:pPr>
            <a:r>
              <a:rPr lang="en-US" sz="1600" dirty="0">
                <a:solidFill>
                  <a:srgbClr val="FF5D55"/>
                </a:solidFill>
                <a:latin typeface="Arial"/>
              </a:rPr>
              <a:t>← CO</a:t>
            </a:r>
            <a:r>
              <a:rPr lang="en-US" sz="1600" baseline="-25000" dirty="0">
                <a:solidFill>
                  <a:srgbClr val="FF5D55"/>
                </a:solidFill>
                <a:latin typeface="Arial"/>
              </a:rPr>
              <a:t>2</a:t>
            </a:r>
            <a:r>
              <a:rPr lang="en-US" sz="1600" dirty="0">
                <a:solidFill>
                  <a:srgbClr val="FF5D55"/>
                </a:solidFill>
                <a:latin typeface="Arial"/>
              </a:rPr>
              <a:t> buildup</a:t>
            </a:r>
          </a:p>
        </p:txBody>
      </p:sp>
      <p:sp>
        <p:nvSpPr>
          <p:cNvPr id="22" name="TextBox 21">
            <a:extLst>
              <a:ext uri="{FF2B5EF4-FFF2-40B4-BE49-F238E27FC236}">
                <a16:creationId xmlns:a16="http://schemas.microsoft.com/office/drawing/2014/main" id="{C9993DB4-DD86-B34D-997D-92819E4B458C}"/>
              </a:ext>
            </a:extLst>
          </p:cNvPr>
          <p:cNvSpPr txBox="1"/>
          <p:nvPr/>
        </p:nvSpPr>
        <p:spPr>
          <a:xfrm>
            <a:off x="8001000" y="4381500"/>
            <a:ext cx="2540000" cy="279400"/>
          </a:xfrm>
          <a:prstGeom prst="rect">
            <a:avLst/>
          </a:prstGeom>
          <a:noFill/>
        </p:spPr>
        <p:txBody>
          <a:bodyPr vertOverflow="overflow" vert="horz" wrap="square" rtlCol="0" anchor="t">
            <a:spAutoFit/>
          </a:bodyPr>
          <a:lstStyle/>
          <a:p>
            <a:pPr algn="l"/>
            <a:r>
              <a:rPr lang="en-US" sz="900" i="1">
                <a:solidFill>
                  <a:srgbClr val="FBAE40"/>
                </a:solidFill>
                <a:latin typeface="Arial"/>
                <a:cs typeface="Arial"/>
              </a:rPr>
              <a:t>adapted from Wasserman et al.</a:t>
            </a:r>
          </a:p>
        </p:txBody>
      </p:sp>
      <p:sp>
        <p:nvSpPr>
          <p:cNvPr id="7" name="Rectangle 6">
            <a:extLst>
              <a:ext uri="{FF2B5EF4-FFF2-40B4-BE49-F238E27FC236}">
                <a16:creationId xmlns:a16="http://schemas.microsoft.com/office/drawing/2014/main" id="{8C6F2588-1EA6-2045-93B8-B7FD7ADC5EBA}"/>
              </a:ext>
            </a:extLst>
          </p:cNvPr>
          <p:cNvSpPr/>
          <p:nvPr/>
        </p:nvSpPr>
        <p:spPr>
          <a:xfrm>
            <a:off x="0" y="0"/>
            <a:ext cx="101600" cy="6858000"/>
          </a:xfrm>
          <a:prstGeom prst="rect">
            <a:avLst/>
          </a:prstGeom>
          <a:solidFill>
            <a:srgbClr val="FBAE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189157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19A27-8BD6-E9B6-821B-F6E6FD00F6C4}"/>
              </a:ext>
            </a:extLst>
          </p:cNvPr>
          <p:cNvSpPr>
            <a:spLocks noGrp="1"/>
          </p:cNvSpPr>
          <p:nvPr>
            <p:ph type="title"/>
          </p:nvPr>
        </p:nvSpPr>
        <p:spPr/>
        <p:txBody>
          <a:bodyPr anchor="t">
            <a:normAutofit/>
          </a:bodyPr>
          <a:lstStyle/>
          <a:p>
            <a:r>
              <a:rPr lang="en-US" sz="3200" dirty="0">
                <a:solidFill>
                  <a:srgbClr val="110057"/>
                </a:solidFill>
                <a:latin typeface="Arial"/>
                <a:cs typeface="Arial"/>
              </a:rPr>
              <a:t>Learning Objectives</a:t>
            </a:r>
          </a:p>
        </p:txBody>
      </p:sp>
      <p:sp>
        <p:nvSpPr>
          <p:cNvPr id="3" name="Content Placeholder 2">
            <a:extLst>
              <a:ext uri="{FF2B5EF4-FFF2-40B4-BE49-F238E27FC236}">
                <a16:creationId xmlns:a16="http://schemas.microsoft.com/office/drawing/2014/main" id="{4DF3D24B-AFA2-AB6C-59F8-6A280102CEDA}"/>
              </a:ext>
            </a:extLst>
          </p:cNvPr>
          <p:cNvSpPr>
            <a:spLocks noGrp="1"/>
          </p:cNvSpPr>
          <p:nvPr>
            <p:ph idx="1"/>
          </p:nvPr>
        </p:nvSpPr>
        <p:spPr/>
        <p:txBody>
          <a:bodyPr/>
          <a:lstStyle/>
          <a:p>
            <a:endParaRPr lang="en-US"/>
          </a:p>
        </p:txBody>
      </p:sp>
      <p:graphicFrame>
        <p:nvGraphicFramePr>
          <p:cNvPr id="5" name="Table 4">
            <a:extLst>
              <a:ext uri="{FF2B5EF4-FFF2-40B4-BE49-F238E27FC236}">
                <a16:creationId xmlns:a16="http://schemas.microsoft.com/office/drawing/2014/main" id="{C71E7C7A-C3E4-2C4B-AAB0-6A1F6DFBFB96}"/>
              </a:ext>
            </a:extLst>
          </p:cNvPr>
          <p:cNvGraphicFramePr>
            <a:graphicFrameLocks noGrp="1"/>
          </p:cNvGraphicFramePr>
          <p:nvPr>
            <p:extLst>
              <p:ext uri="{D42A27DB-BD31-4B8C-83A1-F6EECF244321}">
                <p14:modId xmlns:p14="http://schemas.microsoft.com/office/powerpoint/2010/main" val="3605132248"/>
              </p:ext>
            </p:extLst>
          </p:nvPr>
        </p:nvGraphicFramePr>
        <p:xfrm>
          <a:off x="838200" y="1524000"/>
          <a:ext cx="10515600" cy="447040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996659140"/>
                    </a:ext>
                  </a:extLst>
                </a:gridCol>
                <a:gridCol w="9753600">
                  <a:extLst>
                    <a:ext uri="{9D8B030D-6E8A-4147-A177-3AD203B41FA5}">
                      <a16:colId xmlns:a16="http://schemas.microsoft.com/office/drawing/2014/main" val="3763406882"/>
                    </a:ext>
                  </a:extLst>
                </a:gridCol>
              </a:tblGrid>
              <a:tr h="1117600">
                <a:tc>
                  <a:txBody>
                    <a:bodyPr/>
                    <a:lstStyle/>
                    <a:p>
                      <a:pPr algn="ctr"/>
                      <a:r>
                        <a:rPr lang="en-US" sz="2200" b="1">
                          <a:solidFill>
                            <a:srgbClr val="FFFFFF"/>
                          </a:solidFill>
                          <a:latin typeface="Arial"/>
                          <a:cs typeface="Arial"/>
                        </a:rPr>
                        <a:t>01</a:t>
                      </a:r>
                    </a:p>
                  </a:txBody>
                  <a:tcPr anchor="ctr">
                    <a:solidFill>
                      <a:srgbClr val="110057"/>
                    </a:solidFill>
                  </a:tcPr>
                </a:tc>
                <a:tc>
                  <a:txBody>
                    <a:bodyPr/>
                    <a:lstStyle/>
                    <a:p>
                      <a:r>
                        <a:rPr lang="en-US" sz="1600" b="0">
                          <a:solidFill>
                            <a:srgbClr val="110057"/>
                          </a:solidFill>
                          <a:latin typeface="Arial"/>
                          <a:cs typeface="Arial"/>
                        </a:rPr>
                        <a:t>Define obesity hypoventilation syndrome and explain why "obesity-related respiratory failure" may be a more useful clinical framework</a:t>
                      </a:r>
                    </a:p>
                  </a:txBody>
                  <a:tcPr anchor="ctr">
                    <a:solidFill>
                      <a:srgbClr val="FFFFFF"/>
                    </a:solidFill>
                  </a:tcPr>
                </a:tc>
                <a:extLst>
                  <a:ext uri="{0D108BD9-81ED-4DB2-BD59-A6C34878D82A}">
                    <a16:rowId xmlns:a16="http://schemas.microsoft.com/office/drawing/2014/main" val="3900796696"/>
                  </a:ext>
                </a:extLst>
              </a:tr>
              <a:tr h="1117600">
                <a:tc>
                  <a:txBody>
                    <a:bodyPr/>
                    <a:lstStyle/>
                    <a:p>
                      <a:pPr algn="ctr"/>
                      <a:r>
                        <a:rPr lang="en-US" sz="2200" b="1">
                          <a:solidFill>
                            <a:srgbClr val="FFFFFF"/>
                          </a:solidFill>
                          <a:latin typeface="Arial"/>
                          <a:cs typeface="Arial"/>
                        </a:rPr>
                        <a:t>02</a:t>
                      </a:r>
                    </a:p>
                  </a:txBody>
                  <a:tcPr anchor="ctr">
                    <a:solidFill>
                      <a:srgbClr val="110057"/>
                    </a:solidFill>
                  </a:tcPr>
                </a:tc>
                <a:tc>
                  <a:txBody>
                    <a:bodyPr/>
                    <a:lstStyle/>
                    <a:p>
                      <a:r>
                        <a:rPr lang="en-US" sz="1600" b="0">
                          <a:solidFill>
                            <a:srgbClr val="110057"/>
                          </a:solidFill>
                          <a:latin typeface="Arial"/>
                          <a:cs typeface="Arial"/>
                        </a:rPr>
                        <a:t>Identify patients at risk for obesity-related respiratory failure — including common misdiagnoses</a:t>
                      </a:r>
                    </a:p>
                  </a:txBody>
                  <a:tcPr anchor="ctr">
                    <a:solidFill>
                      <a:srgbClr val="F7F5F9"/>
                    </a:solidFill>
                  </a:tcPr>
                </a:tc>
                <a:extLst>
                  <a:ext uri="{0D108BD9-81ED-4DB2-BD59-A6C34878D82A}">
                    <a16:rowId xmlns:a16="http://schemas.microsoft.com/office/drawing/2014/main" val="2750414466"/>
                  </a:ext>
                </a:extLst>
              </a:tr>
              <a:tr h="1117600">
                <a:tc>
                  <a:txBody>
                    <a:bodyPr/>
                    <a:lstStyle/>
                    <a:p>
                      <a:pPr algn="ctr"/>
                      <a:r>
                        <a:rPr lang="en-US" sz="2200" b="1">
                          <a:solidFill>
                            <a:srgbClr val="FFFFFF"/>
                          </a:solidFill>
                          <a:latin typeface="Arial"/>
                          <a:cs typeface="Arial"/>
                        </a:rPr>
                        <a:t>03</a:t>
                      </a:r>
                    </a:p>
                  </a:txBody>
                  <a:tcPr anchor="ctr">
                    <a:solidFill>
                      <a:srgbClr val="110057"/>
                    </a:solidFill>
                  </a:tcPr>
                </a:tc>
                <a:tc>
                  <a:txBody>
                    <a:bodyPr/>
                    <a:lstStyle/>
                    <a:p>
                      <a:r>
                        <a:rPr lang="en-US" sz="1600" b="0">
                          <a:solidFill>
                            <a:srgbClr val="110057"/>
                          </a:solidFill>
                          <a:latin typeface="Arial"/>
                          <a:cs typeface="Arial"/>
                        </a:rPr>
                        <a:t>Explain why discharging patients on BPAP is so difficult — including the historical and regulatory origins of device categories, qualification pathways, and payment structure</a:t>
                      </a:r>
                    </a:p>
                  </a:txBody>
                  <a:tcPr anchor="ctr">
                    <a:solidFill>
                      <a:srgbClr val="FFFFFF"/>
                    </a:solidFill>
                  </a:tcPr>
                </a:tc>
                <a:extLst>
                  <a:ext uri="{0D108BD9-81ED-4DB2-BD59-A6C34878D82A}">
                    <a16:rowId xmlns:a16="http://schemas.microsoft.com/office/drawing/2014/main" val="947864387"/>
                  </a:ext>
                </a:extLst>
              </a:tr>
              <a:tr h="1117600">
                <a:tc>
                  <a:txBody>
                    <a:bodyPr/>
                    <a:lstStyle/>
                    <a:p>
                      <a:pPr algn="ctr"/>
                      <a:r>
                        <a:rPr lang="en-US" sz="2200" b="1">
                          <a:solidFill>
                            <a:srgbClr val="FFFFFF"/>
                          </a:solidFill>
                          <a:latin typeface="Arial"/>
                          <a:cs typeface="Arial"/>
                        </a:rPr>
                        <a:t>04</a:t>
                      </a:r>
                    </a:p>
                  </a:txBody>
                  <a:tcPr anchor="ctr">
                    <a:solidFill>
                      <a:srgbClr val="110057"/>
                    </a:solidFill>
                  </a:tcPr>
                </a:tc>
                <a:tc>
                  <a:txBody>
                    <a:bodyPr/>
                    <a:lstStyle/>
                    <a:p>
                      <a:r>
                        <a:rPr lang="en-US" sz="1600" b="0">
                          <a:solidFill>
                            <a:srgbClr val="110057"/>
                          </a:solidFill>
                          <a:latin typeface="Arial"/>
                          <a:cs typeface="Arial"/>
                        </a:rPr>
                        <a:t>Discuss the emerging role of GLP-1 receptor agonists in obesity-related respiratory failure</a:t>
                      </a:r>
                    </a:p>
                  </a:txBody>
                  <a:tcPr anchor="ctr">
                    <a:solidFill>
                      <a:srgbClr val="F7F5F9"/>
                    </a:solidFill>
                  </a:tcPr>
                </a:tc>
                <a:extLst>
                  <a:ext uri="{0D108BD9-81ED-4DB2-BD59-A6C34878D82A}">
                    <a16:rowId xmlns:a16="http://schemas.microsoft.com/office/drawing/2014/main" val="4061326245"/>
                  </a:ext>
                </a:extLst>
              </a:tr>
            </a:tbl>
          </a:graphicData>
        </a:graphic>
      </p:graphicFrame>
    </p:spTree>
    <p:extLst>
      <p:ext uri="{BB962C8B-B14F-4D97-AF65-F5344CB8AC3E}">
        <p14:creationId xmlns:p14="http://schemas.microsoft.com/office/powerpoint/2010/main" val="3185294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F53A0-8E29-0378-9368-E1BD248CC56A}"/>
              </a:ext>
            </a:extLst>
          </p:cNvPr>
          <p:cNvSpPr>
            <a:spLocks noGrp="1"/>
          </p:cNvSpPr>
          <p:nvPr>
            <p:ph type="title"/>
          </p:nvPr>
        </p:nvSpPr>
        <p:spPr/>
        <p:txBody>
          <a:bodyPr>
            <a:normAutofit/>
          </a:bodyPr>
          <a:lstStyle/>
          <a:p>
            <a:r>
              <a:rPr lang="en-US" sz="3200">
                <a:solidFill>
                  <a:srgbClr val="110057"/>
                </a:solidFill>
                <a:latin typeface="Arial"/>
                <a:cs typeface="Arial"/>
              </a:rPr>
              <a:t>Obesity Hypoventilation Syndrome (OHS)</a:t>
            </a:r>
          </a:p>
        </p:txBody>
      </p:sp>
      <p:sp>
        <p:nvSpPr>
          <p:cNvPr id="3" name="Content Placeholder 2">
            <a:extLst>
              <a:ext uri="{FF2B5EF4-FFF2-40B4-BE49-F238E27FC236}">
                <a16:creationId xmlns:a16="http://schemas.microsoft.com/office/drawing/2014/main" id="{E4DA9D86-93AE-A440-A982-4709BD2A9F0B}"/>
              </a:ext>
            </a:extLst>
          </p:cNvPr>
          <p:cNvSpPr>
            <a:spLocks noGrp="1"/>
          </p:cNvSpPr>
          <p:nvPr>
            <p:ph idx="1"/>
          </p:nvPr>
        </p:nvSpPr>
        <p:spPr/>
        <p:txBody>
          <a:bodyPr>
            <a:normAutofit/>
          </a:bodyPr>
          <a:lstStyle/>
          <a:p>
            <a:pPr marL="0" indent="0">
              <a:buNone/>
            </a:pPr>
            <a:r>
              <a:rPr lang="en-US" sz="2200" b="1" dirty="0">
                <a:solidFill>
                  <a:srgbClr val="110057"/>
                </a:solidFill>
                <a:latin typeface="Arial"/>
                <a:cs typeface="Arial"/>
              </a:rPr>
              <a:t>Definition requires ALL of:</a:t>
            </a:r>
          </a:p>
          <a:p>
            <a:r>
              <a:rPr lang="en-US" sz="2200" dirty="0">
                <a:solidFill>
                  <a:srgbClr val="110057"/>
                </a:solidFill>
                <a:latin typeface="Arial"/>
                <a:cs typeface="Arial"/>
              </a:rPr>
              <a:t>Obesity (BMI ≥ 30 kg/m²)</a:t>
            </a:r>
          </a:p>
          <a:p>
            <a:r>
              <a:rPr lang="en-US" sz="2200" dirty="0">
                <a:solidFill>
                  <a:srgbClr val="110057"/>
                </a:solidFill>
                <a:latin typeface="Arial"/>
                <a:cs typeface="Arial"/>
              </a:rPr>
              <a:t>Daytime hypercapnia (PaCO</a:t>
            </a:r>
            <a:r>
              <a:rPr lang="en-US" sz="2200" baseline="-25000" dirty="0">
                <a:solidFill>
                  <a:srgbClr val="110057"/>
                </a:solidFill>
                <a:latin typeface="Arial"/>
                <a:cs typeface="Arial"/>
              </a:rPr>
              <a:t>2</a:t>
            </a:r>
            <a:r>
              <a:rPr lang="en-US" sz="2200" dirty="0">
                <a:solidFill>
                  <a:srgbClr val="110057"/>
                </a:solidFill>
                <a:latin typeface="Arial"/>
                <a:cs typeface="Arial"/>
              </a:rPr>
              <a:t> ≥ 45 mmHg at sea level)</a:t>
            </a:r>
          </a:p>
          <a:p>
            <a:r>
              <a:rPr lang="en-US" sz="2200" dirty="0">
                <a:solidFill>
                  <a:srgbClr val="FF5D55"/>
                </a:solidFill>
                <a:latin typeface="Arial"/>
                <a:cs typeface="Arial"/>
              </a:rPr>
              <a:t>Sleep-disordered breathing (OSA or sleep hypoventilation)</a:t>
            </a:r>
          </a:p>
          <a:p>
            <a:r>
              <a:rPr lang="en-US" sz="2200" dirty="0">
                <a:solidFill>
                  <a:srgbClr val="FF5D55"/>
                </a:solidFill>
                <a:latin typeface="Arial"/>
                <a:cs typeface="Arial"/>
              </a:rPr>
              <a:t>Exclusion of other causes of hypoventilation</a:t>
            </a:r>
          </a:p>
          <a:p>
            <a:pPr marL="0" indent="0">
              <a:buNone/>
            </a:pPr>
            <a:endParaRPr lang="en-US" sz="1200" dirty="0">
              <a:latin typeface="Arial"/>
              <a:cs typeface="Arial"/>
            </a:endParaRPr>
          </a:p>
          <a:p>
            <a:pPr marL="0" indent="0">
              <a:buNone/>
            </a:pPr>
            <a:r>
              <a:rPr lang="en-US" sz="2200" dirty="0">
                <a:solidFill>
                  <a:srgbClr val="110057"/>
                </a:solidFill>
                <a:latin typeface="Arial"/>
                <a:cs typeface="Arial"/>
              </a:rPr>
              <a:t>Those last two criteria are the problem...</a:t>
            </a:r>
          </a:p>
        </p:txBody>
      </p:sp>
      <p:sp>
        <p:nvSpPr>
          <p:cNvPr id="5" name="Rectangle 4">
            <a:extLst>
              <a:ext uri="{FF2B5EF4-FFF2-40B4-BE49-F238E27FC236}">
                <a16:creationId xmlns:a16="http://schemas.microsoft.com/office/drawing/2014/main" id="{4E7F10E9-8CBD-284B-AF00-F10B7D3AEDBC}"/>
              </a:ext>
            </a:extLst>
          </p:cNvPr>
          <p:cNvSpPr/>
          <p:nvPr/>
        </p:nvSpPr>
        <p:spPr>
          <a:xfrm>
            <a:off x="838200" y="1689100"/>
            <a:ext cx="1524000" cy="38100"/>
          </a:xfrm>
          <a:prstGeom prst="rect">
            <a:avLst/>
          </a:prstGeom>
          <a:solidFill>
            <a:srgbClr val="FBAE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855055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45832-FF42-99F6-8A16-EF4EDCAF94D3}"/>
              </a:ext>
            </a:extLst>
          </p:cNvPr>
          <p:cNvSpPr>
            <a:spLocks noGrp="1"/>
          </p:cNvSpPr>
          <p:nvPr>
            <p:ph type="title"/>
          </p:nvPr>
        </p:nvSpPr>
        <p:spPr>
          <a:xfrm>
            <a:off x="508000" y="355600"/>
            <a:ext cx="11303000" cy="571500"/>
          </a:xfrm>
        </p:spPr>
        <p:txBody>
          <a:bodyPr>
            <a:noAutofit/>
          </a:bodyPr>
          <a:lstStyle/>
          <a:p>
            <a:pPr>
              <a:buNone/>
            </a:pPr>
            <a:r>
              <a:rPr lang="en-US" sz="2800" b="1" dirty="0">
                <a:solidFill>
                  <a:srgbClr val="110057"/>
                </a:solidFill>
                <a:latin typeface="Arial"/>
                <a:cs typeface="Arial"/>
              </a:rPr>
              <a:t>Requirement of Sleep Disordered Breathing?</a:t>
            </a:r>
          </a:p>
        </p:txBody>
      </p:sp>
      <p:sp>
        <p:nvSpPr>
          <p:cNvPr id="3" name="Content Placeholder 2">
            <a:extLst>
              <a:ext uri="{FF2B5EF4-FFF2-40B4-BE49-F238E27FC236}">
                <a16:creationId xmlns:a16="http://schemas.microsoft.com/office/drawing/2014/main" id="{26473EA6-0CC7-D3CA-530C-98778316775F}"/>
              </a:ext>
            </a:extLst>
          </p:cNvPr>
          <p:cNvSpPr>
            <a:spLocks noGrp="1"/>
          </p:cNvSpPr>
          <p:nvPr>
            <p:ph idx="1"/>
          </p:nvPr>
        </p:nvSpPr>
        <p:spPr>
          <a:xfrm>
            <a:off x="508000" y="1270000"/>
            <a:ext cx="5334000" cy="4445000"/>
          </a:xfrm>
        </p:spPr>
        <p:txBody>
          <a:bodyPr>
            <a:noAutofit/>
          </a:bodyPr>
          <a:lstStyle/>
          <a:p>
            <a:pPr marL="0" indent="0">
              <a:lnSpc>
                <a:spcPct val="110000"/>
              </a:lnSpc>
              <a:spcBef>
                <a:spcPts val="0"/>
              </a:spcBef>
              <a:spcAft>
                <a:spcPts val="600"/>
              </a:spcAft>
              <a:buNone/>
            </a:pPr>
            <a:r>
              <a:rPr lang="en-US" sz="1800" dirty="0">
                <a:solidFill>
                  <a:srgbClr val="110057"/>
                </a:solidFill>
                <a:latin typeface="Arial"/>
                <a:cs typeface="Arial"/>
              </a:rPr>
              <a:t>Either OSA or Sleep Hypoventilation (10 cmH</a:t>
            </a:r>
            <a:r>
              <a:rPr lang="en-US" sz="1800" baseline="-25000" dirty="0">
                <a:solidFill>
                  <a:srgbClr val="110057"/>
                </a:solidFill>
                <a:latin typeface="Arial"/>
                <a:cs typeface="Arial"/>
              </a:rPr>
              <a:t>2</a:t>
            </a:r>
            <a:r>
              <a:rPr lang="en-US" sz="1800" dirty="0">
                <a:solidFill>
                  <a:srgbClr val="110057"/>
                </a:solidFill>
                <a:latin typeface="Arial"/>
                <a:cs typeface="Arial"/>
              </a:rPr>
              <a:t>O rise of nocturnal CO</a:t>
            </a:r>
            <a:r>
              <a:rPr lang="en-US" sz="1800" baseline="-25000" dirty="0">
                <a:solidFill>
                  <a:srgbClr val="110057"/>
                </a:solidFill>
                <a:latin typeface="Arial"/>
                <a:cs typeface="Arial"/>
              </a:rPr>
              <a:t>2</a:t>
            </a:r>
            <a:r>
              <a:rPr lang="en-US" sz="1800" dirty="0">
                <a:solidFill>
                  <a:srgbClr val="110057"/>
                </a:solidFill>
                <a:latin typeface="Arial"/>
                <a:cs typeface="Arial"/>
              </a:rPr>
              <a:t> over 55 mmHg)</a:t>
            </a:r>
          </a:p>
          <a:p>
            <a:pPr marL="0" indent="0">
              <a:lnSpc>
                <a:spcPct val="110000"/>
              </a:lnSpc>
              <a:spcBef>
                <a:spcPts val="800"/>
              </a:spcBef>
              <a:spcAft>
                <a:spcPts val="400"/>
              </a:spcAft>
              <a:buNone/>
            </a:pPr>
            <a:r>
              <a:rPr lang="en-US" sz="1800" b="1" dirty="0">
                <a:solidFill>
                  <a:srgbClr val="4A00E2"/>
                </a:solidFill>
                <a:latin typeface="Arial"/>
                <a:cs typeface="Arial"/>
              </a:rPr>
              <a:t>Does it matter?</a:t>
            </a:r>
            <a:r>
              <a:rPr lang="en-US" sz="1800" dirty="0">
                <a:solidFill>
                  <a:srgbClr val="110057"/>
                </a:solidFill>
                <a:latin typeface="Arial"/>
                <a:cs typeface="Arial"/>
              </a:rPr>
              <a:t>  No</a:t>
            </a:r>
          </a:p>
          <a:p>
            <a:pPr marL="0" indent="0">
              <a:lnSpc>
                <a:spcPct val="110000"/>
              </a:lnSpc>
              <a:spcBef>
                <a:spcPts val="800"/>
              </a:spcBef>
              <a:spcAft>
                <a:spcPts val="0"/>
              </a:spcAft>
              <a:buNone/>
            </a:pPr>
            <a:r>
              <a:rPr lang="en-US" sz="1600" i="1" dirty="0">
                <a:solidFill>
                  <a:srgbClr val="4A00E2"/>
                </a:solidFill>
                <a:latin typeface="Arial"/>
                <a:cs typeface="Arial"/>
              </a:rPr>
              <a:t>If hypothetically, someone w/ BMI has an AHI of 4 and nocturnal CO</a:t>
            </a:r>
            <a:r>
              <a:rPr lang="en-US" sz="1600" i="1" baseline="-25000" dirty="0">
                <a:solidFill>
                  <a:srgbClr val="4A00E2"/>
                </a:solidFill>
                <a:latin typeface="Arial"/>
                <a:cs typeface="Arial"/>
              </a:rPr>
              <a:t>2</a:t>
            </a:r>
            <a:r>
              <a:rPr lang="en-US" sz="1600" i="1" dirty="0">
                <a:solidFill>
                  <a:srgbClr val="4A00E2"/>
                </a:solidFill>
                <a:latin typeface="Arial"/>
                <a:cs typeface="Arial"/>
              </a:rPr>
              <a:t> of 52 and daytime of 47… would they not have OHS?</a:t>
            </a:r>
          </a:p>
        </p:txBody>
      </p:sp>
      <p:pic>
        <p:nvPicPr>
          <p:cNvPr id="4" name="Picture 3">
            <a:extLst>
              <a:ext uri="{FF2B5EF4-FFF2-40B4-BE49-F238E27FC236}">
                <a16:creationId xmlns:a16="http://schemas.microsoft.com/office/drawing/2014/main" id="{F5B36F5F-2915-F3C7-0450-6A884AA72230}"/>
              </a:ext>
            </a:extLst>
          </p:cNvPr>
          <p:cNvPicPr>
            <a:picLocks noChangeAspect="1"/>
          </p:cNvPicPr>
          <p:nvPr/>
        </p:nvPicPr>
        <p:blipFill>
          <a:blip r:embed="rId2"/>
          <a:stretch>
            <a:fillRect/>
          </a:stretch>
        </p:blipFill>
        <p:spPr>
          <a:xfrm>
            <a:off x="6324600" y="1270000"/>
            <a:ext cx="5461000" cy="3492500"/>
          </a:xfrm>
          <a:prstGeom prst="rect">
            <a:avLst/>
          </a:prstGeom>
        </p:spPr>
      </p:pic>
      <p:sp>
        <p:nvSpPr>
          <p:cNvPr id="5" name="Content Placeholder 2">
            <a:extLst>
              <a:ext uri="{FF2B5EF4-FFF2-40B4-BE49-F238E27FC236}">
                <a16:creationId xmlns:a16="http://schemas.microsoft.com/office/drawing/2014/main" id="{BCA81919-5180-CCAC-CF81-5AB921807A5A}"/>
              </a:ext>
            </a:extLst>
          </p:cNvPr>
          <p:cNvSpPr txBox="1">
            <a:spLocks/>
          </p:cNvSpPr>
          <p:nvPr/>
        </p:nvSpPr>
        <p:spPr>
          <a:xfrm>
            <a:off x="6324600" y="4864100"/>
            <a:ext cx="5461000" cy="101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10057"/>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10057"/>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10057"/>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10057"/>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10057"/>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110057"/>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110057"/>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110057"/>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110057"/>
                </a:solidFill>
                <a:latin typeface="+mn-lt"/>
                <a:ea typeface="+mn-ea"/>
                <a:cs typeface="+mn-cs"/>
              </a:defRPr>
            </a:lvl9pPr>
          </a:lstStyle>
          <a:p>
            <a:pPr marL="0" indent="0">
              <a:spcBef>
                <a:spcPts val="0"/>
              </a:spcBef>
              <a:spcAft>
                <a:spcPts val="200"/>
              </a:spcAft>
              <a:buNone/>
            </a:pPr>
            <a:r>
              <a:rPr lang="en-US" sz="1600" b="1" dirty="0">
                <a:solidFill>
                  <a:srgbClr val="110057"/>
                </a:solidFill>
                <a:latin typeface="Arial"/>
                <a:cs typeface="Arial"/>
              </a:rPr>
              <a:t>How OSA Contributes to Hypercapnia</a:t>
            </a:r>
          </a:p>
          <a:p>
            <a:pPr marL="0" indent="0">
              <a:spcBef>
                <a:spcPts val="0"/>
              </a:spcBef>
              <a:buNone/>
            </a:pPr>
            <a:r>
              <a:rPr lang="en-US" sz="1400" i="1" dirty="0">
                <a:solidFill>
                  <a:srgbClr val="4A00E2"/>
                </a:solidFill>
                <a:latin typeface="Arial"/>
                <a:cs typeface="Arial"/>
              </a:rPr>
              <a:t>Berger et al, J Appl Physiol 88:257-264 (2000)</a:t>
            </a:r>
          </a:p>
        </p:txBody>
      </p:sp>
      <p:sp>
        <p:nvSpPr>
          <p:cNvPr id="6" name="Rectangle 5">
            <a:extLst>
              <a:ext uri="{FF2B5EF4-FFF2-40B4-BE49-F238E27FC236}">
                <a16:creationId xmlns:a16="http://schemas.microsoft.com/office/drawing/2014/main" id="{168CDFF0-A2CB-444B-A776-1402214A2312}"/>
              </a:ext>
            </a:extLst>
          </p:cNvPr>
          <p:cNvSpPr/>
          <p:nvPr/>
        </p:nvSpPr>
        <p:spPr>
          <a:xfrm>
            <a:off x="508000" y="990600"/>
            <a:ext cx="762000" cy="50800"/>
          </a:xfrm>
          <a:prstGeom prst="rect">
            <a:avLst/>
          </a:prstGeom>
          <a:solidFill>
            <a:srgbClr val="0D737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EAF4BB9C-F30D-004C-BCC7-7AD943744E5A}"/>
              </a:ext>
            </a:extLst>
          </p:cNvPr>
          <p:cNvSpPr/>
          <p:nvPr/>
        </p:nvSpPr>
        <p:spPr>
          <a:xfrm>
            <a:off x="6045200" y="1270000"/>
            <a:ext cx="19050" cy="4699000"/>
          </a:xfrm>
          <a:prstGeom prst="rect">
            <a:avLst/>
          </a:prstGeom>
          <a:solidFill>
            <a:srgbClr val="D0C8E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658257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5F9">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0704AE-A77C-C149-B47D-8577CC7CDAB8}"/>
              </a:ext>
            </a:extLst>
          </p:cNvPr>
          <p:cNvSpPr txBox="1"/>
          <p:nvPr/>
        </p:nvSpPr>
        <p:spPr>
          <a:xfrm>
            <a:off x="508000" y="279400"/>
            <a:ext cx="11176000" cy="533400"/>
          </a:xfrm>
          <a:prstGeom prst="rect">
            <a:avLst/>
          </a:prstGeom>
          <a:noFill/>
        </p:spPr>
        <p:txBody>
          <a:bodyPr vertOverflow="overflow" vert="horz" wrap="square" rtlCol="0" anchor="t">
            <a:noAutofit/>
          </a:bodyPr>
          <a:lstStyle/>
          <a:p>
            <a:pPr algn="l"/>
            <a:r>
              <a:rPr lang="en-US" sz="2400" b="1">
                <a:solidFill>
                  <a:srgbClr val="110057"/>
                </a:solidFill>
                <a:latin typeface="Arial"/>
                <a:cs typeface="Arial"/>
              </a:rPr>
              <a:t>Exclusion of Other Causes Is Problematic</a:t>
            </a:r>
          </a:p>
        </p:txBody>
      </p:sp>
      <p:sp>
        <p:nvSpPr>
          <p:cNvPr id="3" name="Rectangle 2">
            <a:extLst>
              <a:ext uri="{FF2B5EF4-FFF2-40B4-BE49-F238E27FC236}">
                <a16:creationId xmlns:a16="http://schemas.microsoft.com/office/drawing/2014/main" id="{ABA060DF-C8D7-C348-AB53-38F02CDD7560}"/>
              </a:ext>
            </a:extLst>
          </p:cNvPr>
          <p:cNvSpPr/>
          <p:nvPr/>
        </p:nvSpPr>
        <p:spPr>
          <a:xfrm>
            <a:off x="508000" y="863600"/>
            <a:ext cx="762000" cy="38100"/>
          </a:xfrm>
          <a:prstGeom prst="rect">
            <a:avLst/>
          </a:prstGeom>
          <a:solidFill>
            <a:srgbClr val="0D737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6BF8E54C-1E05-6547-834E-AF23DEDAA3BC}"/>
              </a:ext>
            </a:extLst>
          </p:cNvPr>
          <p:cNvSpPr txBox="1"/>
          <p:nvPr/>
        </p:nvSpPr>
        <p:spPr>
          <a:xfrm>
            <a:off x="508000" y="1041400"/>
            <a:ext cx="5588000" cy="279400"/>
          </a:xfrm>
          <a:prstGeom prst="rect">
            <a:avLst/>
          </a:prstGeom>
          <a:noFill/>
        </p:spPr>
        <p:txBody>
          <a:bodyPr vertOverflow="overflow" vert="horz" wrap="square" rtlCol="0" anchor="t">
            <a:noAutofit/>
          </a:bodyPr>
          <a:lstStyle/>
          <a:p>
            <a:pPr algn="l"/>
            <a:r>
              <a:rPr lang="en-US" sz="1400" b="1">
                <a:solidFill>
                  <a:srgbClr val="4A00E2"/>
                </a:solidFill>
                <a:latin typeface="Arial"/>
                <a:cs typeface="Arial"/>
              </a:rPr>
              <a:t>Person at Timepoint A:</a:t>
            </a:r>
          </a:p>
        </p:txBody>
      </p:sp>
      <p:sp>
        <p:nvSpPr>
          <p:cNvPr id="5" name="TextBox 4">
            <a:extLst>
              <a:ext uri="{FF2B5EF4-FFF2-40B4-BE49-F238E27FC236}">
                <a16:creationId xmlns:a16="http://schemas.microsoft.com/office/drawing/2014/main" id="{3CBF369B-C1F7-1B4D-BF3F-8B648145450F}"/>
              </a:ext>
            </a:extLst>
          </p:cNvPr>
          <p:cNvSpPr txBox="1"/>
          <p:nvPr/>
        </p:nvSpPr>
        <p:spPr>
          <a:xfrm>
            <a:off x="508000" y="1320800"/>
            <a:ext cx="5588000" cy="279400"/>
          </a:xfrm>
          <a:prstGeom prst="rect">
            <a:avLst/>
          </a:prstGeom>
          <a:noFill/>
        </p:spPr>
        <p:txBody>
          <a:bodyPr vertOverflow="overflow" vert="horz" wrap="square" rtlCol="0" anchor="t">
            <a:noAutofit/>
          </a:bodyPr>
          <a:lstStyle/>
          <a:p>
            <a:pPr algn="l"/>
            <a:r>
              <a:rPr lang="en-US" sz="1400">
                <a:solidFill>
                  <a:srgbClr val="110057"/>
                </a:solidFill>
                <a:latin typeface="Arial"/>
                <a:cs typeface="Arial"/>
              </a:rPr>
              <a:t>BMI 40, AHI 15, ABG 7.45/50 (pCO₂)</a:t>
            </a:r>
          </a:p>
        </p:txBody>
      </p:sp>
      <p:sp>
        <p:nvSpPr>
          <p:cNvPr id="6" name="TextBox 5">
            <a:extLst>
              <a:ext uri="{FF2B5EF4-FFF2-40B4-BE49-F238E27FC236}">
                <a16:creationId xmlns:a16="http://schemas.microsoft.com/office/drawing/2014/main" id="{151AA8F0-9F1F-D648-BD11-326B67F05E8F}"/>
              </a:ext>
            </a:extLst>
          </p:cNvPr>
          <p:cNvSpPr txBox="1"/>
          <p:nvPr/>
        </p:nvSpPr>
        <p:spPr>
          <a:xfrm>
            <a:off x="508000" y="1727200"/>
            <a:ext cx="5588000" cy="279400"/>
          </a:xfrm>
          <a:prstGeom prst="rect">
            <a:avLst/>
          </a:prstGeom>
          <a:noFill/>
        </p:spPr>
        <p:txBody>
          <a:bodyPr vertOverflow="overflow" vert="horz" wrap="square" rtlCol="0" anchor="t">
            <a:noAutofit/>
          </a:bodyPr>
          <a:lstStyle/>
          <a:p>
            <a:pPr algn="l"/>
            <a:r>
              <a:rPr lang="en-US" sz="1400" b="1">
                <a:solidFill>
                  <a:srgbClr val="4A00E2"/>
                </a:solidFill>
                <a:latin typeface="Arial"/>
                <a:cs typeface="Arial"/>
              </a:rPr>
              <a:t>Person at Timepoint B:</a:t>
            </a:r>
          </a:p>
        </p:txBody>
      </p:sp>
      <p:sp>
        <p:nvSpPr>
          <p:cNvPr id="7" name="TextBox 6">
            <a:extLst>
              <a:ext uri="{FF2B5EF4-FFF2-40B4-BE49-F238E27FC236}">
                <a16:creationId xmlns:a16="http://schemas.microsoft.com/office/drawing/2014/main" id="{5AA11A3A-7D3D-D34F-98CB-23D6039BAA54}"/>
              </a:ext>
            </a:extLst>
          </p:cNvPr>
          <p:cNvSpPr txBox="1"/>
          <p:nvPr/>
        </p:nvSpPr>
        <p:spPr>
          <a:xfrm>
            <a:off x="508000" y="2006600"/>
            <a:ext cx="5588000" cy="279400"/>
          </a:xfrm>
          <a:prstGeom prst="rect">
            <a:avLst/>
          </a:prstGeom>
          <a:noFill/>
        </p:spPr>
        <p:txBody>
          <a:bodyPr vertOverflow="overflow" vert="horz" wrap="square" rtlCol="0" anchor="t">
            <a:noAutofit/>
          </a:bodyPr>
          <a:lstStyle/>
          <a:p>
            <a:pPr algn="l"/>
            <a:r>
              <a:rPr lang="en-US" sz="1400">
                <a:solidFill>
                  <a:srgbClr val="110057"/>
                </a:solidFill>
                <a:latin typeface="Arial"/>
                <a:cs typeface="Arial"/>
              </a:rPr>
              <a:t>Same values + H₂FPEF score suggesting HFpEF</a:t>
            </a:r>
          </a:p>
        </p:txBody>
      </p:sp>
      <p:sp>
        <p:nvSpPr>
          <p:cNvPr id="8" name="TextBox 7">
            <a:extLst>
              <a:ext uri="{FF2B5EF4-FFF2-40B4-BE49-F238E27FC236}">
                <a16:creationId xmlns:a16="http://schemas.microsoft.com/office/drawing/2014/main" id="{98CB32F8-EB5B-7F4F-8694-5D1485472A2B}"/>
              </a:ext>
            </a:extLst>
          </p:cNvPr>
          <p:cNvSpPr txBox="1"/>
          <p:nvPr/>
        </p:nvSpPr>
        <p:spPr>
          <a:xfrm>
            <a:off x="508000" y="2451100"/>
            <a:ext cx="5588000" cy="330200"/>
          </a:xfrm>
          <a:prstGeom prst="rect">
            <a:avLst/>
          </a:prstGeom>
          <a:noFill/>
        </p:spPr>
        <p:txBody>
          <a:bodyPr vertOverflow="overflow" vert="horz" wrap="square" rtlCol="0" anchor="t">
            <a:noAutofit/>
          </a:bodyPr>
          <a:lstStyle/>
          <a:p>
            <a:pPr algn="l"/>
            <a:r>
              <a:rPr lang="en-US" sz="1600" b="1" i="1">
                <a:solidFill>
                  <a:srgbClr val="FF0044"/>
                </a:solidFill>
                <a:latin typeface="Arial"/>
                <a:cs typeface="Arial"/>
              </a:rPr>
              <a:t>Did we just cure their OHS?</a:t>
            </a:r>
          </a:p>
        </p:txBody>
      </p:sp>
      <p:sp>
        <p:nvSpPr>
          <p:cNvPr id="9" name="TextBox 8">
            <a:extLst>
              <a:ext uri="{FF2B5EF4-FFF2-40B4-BE49-F238E27FC236}">
                <a16:creationId xmlns:a16="http://schemas.microsoft.com/office/drawing/2014/main" id="{5AA28CF5-AA19-824A-9E26-F803CC9A4FB9}"/>
              </a:ext>
            </a:extLst>
          </p:cNvPr>
          <p:cNvSpPr txBox="1"/>
          <p:nvPr/>
        </p:nvSpPr>
        <p:spPr>
          <a:xfrm>
            <a:off x="508000" y="2870200"/>
            <a:ext cx="5588000" cy="1079500"/>
          </a:xfrm>
          <a:prstGeom prst="rect">
            <a:avLst/>
          </a:prstGeom>
          <a:noFill/>
        </p:spPr>
        <p:txBody>
          <a:bodyPr vertOverflow="overflow" vert="horz" wrap="square" rtlCol="0" anchor="t">
            <a:noAutofit/>
          </a:bodyPr>
          <a:lstStyle/>
          <a:p>
            <a:pPr algn="l"/>
            <a:r>
              <a:rPr lang="en-US" sz="1400">
                <a:solidFill>
                  <a:srgbClr val="110057"/>
                </a:solidFill>
                <a:latin typeface="Arial"/>
                <a:cs typeface="Arial"/>
              </a:rPr>
              <a:t>Obviously not — operationalize this as "Is obesity having a substantial causal contribution to this patient’s hypercapnia?", not the exclusion of other causes.</a:t>
            </a:r>
          </a:p>
        </p:txBody>
      </p:sp>
      <p:sp>
        <p:nvSpPr>
          <p:cNvPr id="10" name="Rectangle 9">
            <a:extLst>
              <a:ext uri="{FF2B5EF4-FFF2-40B4-BE49-F238E27FC236}">
                <a16:creationId xmlns:a16="http://schemas.microsoft.com/office/drawing/2014/main" id="{275A3AF0-A5ED-4546-AEAD-BA9CD3872094}"/>
              </a:ext>
            </a:extLst>
          </p:cNvPr>
          <p:cNvSpPr/>
          <p:nvPr/>
        </p:nvSpPr>
        <p:spPr>
          <a:xfrm>
            <a:off x="6223000" y="952500"/>
            <a:ext cx="19050" cy="5080000"/>
          </a:xfrm>
          <a:prstGeom prst="rect">
            <a:avLst/>
          </a:prstGeom>
          <a:solidFill>
            <a:srgbClr val="D0C8E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32BE7C97-1845-0142-B620-B2A61E844D67}"/>
              </a:ext>
            </a:extLst>
          </p:cNvPr>
          <p:cNvSpPr txBox="1"/>
          <p:nvPr/>
        </p:nvSpPr>
        <p:spPr>
          <a:xfrm>
            <a:off x="6477000" y="952500"/>
            <a:ext cx="5334000" cy="355600"/>
          </a:xfrm>
          <a:prstGeom prst="rect">
            <a:avLst/>
          </a:prstGeom>
          <a:noFill/>
        </p:spPr>
        <p:txBody>
          <a:bodyPr vertOverflow="overflow" vert="horz" wrap="square" rtlCol="0" anchor="t">
            <a:noAutofit/>
          </a:bodyPr>
          <a:lstStyle/>
          <a:p>
            <a:pPr algn="l"/>
            <a:r>
              <a:rPr lang="en-US" b="1">
                <a:solidFill>
                  <a:srgbClr val="110057"/>
                </a:solidFill>
                <a:latin typeface="Arial"/>
                <a:cs typeface="Arial"/>
              </a:rPr>
              <a:t>Multi-Causal Model</a:t>
            </a:r>
          </a:p>
        </p:txBody>
      </p:sp>
      <p:sp>
        <p:nvSpPr>
          <p:cNvPr id="12" name="Oval 11">
            <a:extLst>
              <a:ext uri="{FF2B5EF4-FFF2-40B4-BE49-F238E27FC236}">
                <a16:creationId xmlns:a16="http://schemas.microsoft.com/office/drawing/2014/main" id="{3B586919-4D4F-EE45-A745-C8160572644F}"/>
              </a:ext>
            </a:extLst>
          </p:cNvPr>
          <p:cNvSpPr/>
          <p:nvPr/>
        </p:nvSpPr>
        <p:spPr>
          <a:xfrm>
            <a:off x="6477000" y="1397000"/>
            <a:ext cx="5207000" cy="2540000"/>
          </a:xfrm>
          <a:prstGeom prst="ellipse">
            <a:avLst/>
          </a:prstGeom>
          <a:solidFill>
            <a:srgbClr val="F7F5F9"/>
          </a:solidFill>
          <a:ln w="25400" cap="flat" cmpd="sng" algn="ctr">
            <a:solidFill>
              <a:srgbClr val="11005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chorCtr="0">
            <a:noAutofit/>
          </a:bodyPr>
          <a:lstStyle/>
          <a:p>
            <a:pPr algn="l"/>
            <a:r>
              <a:rPr lang="en-US" sz="1400" dirty="0">
                <a:solidFill>
                  <a:srgbClr val="110057"/>
                </a:solidFill>
                <a:latin typeface="Arial"/>
                <a:cs typeface="Arial"/>
              </a:rPr>
              <a:t>All Recognized Cases
(inc. multifactorial)</a:t>
            </a:r>
          </a:p>
        </p:txBody>
      </p:sp>
      <p:sp>
        <p:nvSpPr>
          <p:cNvPr id="13" name="Oval 12">
            <a:extLst>
              <a:ext uri="{FF2B5EF4-FFF2-40B4-BE49-F238E27FC236}">
                <a16:creationId xmlns:a16="http://schemas.microsoft.com/office/drawing/2014/main" id="{03827C73-9C3C-0240-8E05-1EBF89EA85CD}"/>
              </a:ext>
            </a:extLst>
          </p:cNvPr>
          <p:cNvSpPr/>
          <p:nvPr/>
        </p:nvSpPr>
        <p:spPr>
          <a:xfrm>
            <a:off x="7439025" y="2413000"/>
            <a:ext cx="1397000" cy="889000"/>
          </a:xfrm>
          <a:prstGeom prst="ellipse">
            <a:avLst/>
          </a:prstGeom>
          <a:solidFill>
            <a:srgbClr val="7CAF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dirty="0">
                <a:solidFill>
                  <a:srgbClr val="FFFFFF"/>
                </a:solidFill>
                <a:latin typeface="Arial"/>
                <a:cs typeface="Arial"/>
              </a:rPr>
              <a:t>COPD</a:t>
            </a:r>
          </a:p>
        </p:txBody>
      </p:sp>
      <p:sp>
        <p:nvSpPr>
          <p:cNvPr id="14" name="Oval 13">
            <a:extLst>
              <a:ext uri="{FF2B5EF4-FFF2-40B4-BE49-F238E27FC236}">
                <a16:creationId xmlns:a16="http://schemas.microsoft.com/office/drawing/2014/main" id="{615540BE-79CA-7649-9063-9B50D77DD03B}"/>
              </a:ext>
            </a:extLst>
          </p:cNvPr>
          <p:cNvSpPr/>
          <p:nvPr/>
        </p:nvSpPr>
        <p:spPr>
          <a:xfrm>
            <a:off x="9588500" y="2413000"/>
            <a:ext cx="1651000" cy="952500"/>
          </a:xfrm>
          <a:prstGeom prst="ellipse">
            <a:avLst/>
          </a:prstGeom>
          <a:solidFill>
            <a:srgbClr val="FF004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dirty="0">
                <a:solidFill>
                  <a:srgbClr val="FFFFFF"/>
                </a:solidFill>
                <a:latin typeface="Arial"/>
                <a:cs typeface="Arial"/>
              </a:rPr>
              <a:t>Obesity
</a:t>
            </a:r>
            <a:r>
              <a:rPr lang="en-US" sz="1400" b="1" dirty="0" err="1">
                <a:solidFill>
                  <a:srgbClr val="FFFFFF"/>
                </a:solidFill>
                <a:latin typeface="Arial"/>
                <a:cs typeface="Arial"/>
              </a:rPr>
              <a:t>Hypovent</a:t>
            </a:r>
            <a:r>
              <a:rPr lang="en-US" sz="1400" b="1" dirty="0">
                <a:solidFill>
                  <a:srgbClr val="FFFFFF"/>
                </a:solidFill>
                <a:latin typeface="Arial"/>
                <a:cs typeface="Arial"/>
              </a:rPr>
              <a:t>.</a:t>
            </a:r>
          </a:p>
        </p:txBody>
      </p:sp>
      <p:sp>
        <p:nvSpPr>
          <p:cNvPr id="15" name="Oval 14">
            <a:extLst>
              <a:ext uri="{FF2B5EF4-FFF2-40B4-BE49-F238E27FC236}">
                <a16:creationId xmlns:a16="http://schemas.microsoft.com/office/drawing/2014/main" id="{5DFC163F-5EB2-E040-BD8D-233A6F0A21D3}"/>
              </a:ext>
            </a:extLst>
          </p:cNvPr>
          <p:cNvSpPr/>
          <p:nvPr/>
        </p:nvSpPr>
        <p:spPr>
          <a:xfrm>
            <a:off x="8255000" y="3238500"/>
            <a:ext cx="1016000" cy="635000"/>
          </a:xfrm>
          <a:prstGeom prst="ellipse">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Arial"/>
                <a:cs typeface="Arial"/>
              </a:rPr>
              <a:t>ALS</a:t>
            </a:r>
          </a:p>
        </p:txBody>
      </p:sp>
      <p:sp>
        <p:nvSpPr>
          <p:cNvPr id="16" name="TextBox 15">
            <a:extLst>
              <a:ext uri="{FF2B5EF4-FFF2-40B4-BE49-F238E27FC236}">
                <a16:creationId xmlns:a16="http://schemas.microsoft.com/office/drawing/2014/main" id="{7D217A7C-C435-8343-B6CE-B09C13893510}"/>
              </a:ext>
            </a:extLst>
          </p:cNvPr>
          <p:cNvSpPr txBox="1"/>
          <p:nvPr/>
        </p:nvSpPr>
        <p:spPr>
          <a:xfrm>
            <a:off x="8890000" y="2374900"/>
            <a:ext cx="762000" cy="381000"/>
          </a:xfrm>
          <a:prstGeom prst="rect">
            <a:avLst/>
          </a:prstGeom>
          <a:noFill/>
        </p:spPr>
        <p:txBody>
          <a:bodyPr vertOverflow="overflow" vert="horz" wrap="square" rtlCol="0" anchor="t">
            <a:noAutofit/>
          </a:bodyPr>
          <a:lstStyle/>
          <a:p>
            <a:pPr algn="l"/>
            <a:r>
              <a:rPr lang="en-US" sz="2000" b="1" dirty="0">
                <a:solidFill>
                  <a:srgbClr val="FF0044"/>
                </a:solidFill>
                <a:latin typeface="Arial"/>
                <a:cs typeface="Arial"/>
              </a:rPr>
              <a:t>???</a:t>
            </a:r>
          </a:p>
        </p:txBody>
      </p:sp>
      <p:sp>
        <p:nvSpPr>
          <p:cNvPr id="17" name="TextBox 16">
            <a:extLst>
              <a:ext uri="{FF2B5EF4-FFF2-40B4-BE49-F238E27FC236}">
                <a16:creationId xmlns:a16="http://schemas.microsoft.com/office/drawing/2014/main" id="{8FCA4963-2988-8F4D-AABB-C28DD761F8B4}"/>
              </a:ext>
            </a:extLst>
          </p:cNvPr>
          <p:cNvSpPr txBox="1"/>
          <p:nvPr/>
        </p:nvSpPr>
        <p:spPr>
          <a:xfrm>
            <a:off x="6477000" y="4318000"/>
            <a:ext cx="5334000" cy="304800"/>
          </a:xfrm>
          <a:prstGeom prst="rect">
            <a:avLst/>
          </a:prstGeom>
          <a:noFill/>
        </p:spPr>
        <p:txBody>
          <a:bodyPr vertOverflow="overflow" vert="horz" wrap="square" rtlCol="0" anchor="t">
            <a:noAutofit/>
          </a:bodyPr>
          <a:lstStyle/>
          <a:p>
            <a:pPr algn="l"/>
            <a:r>
              <a:rPr lang="en-US" sz="1400" b="1">
                <a:solidFill>
                  <a:srgbClr val="110057"/>
                </a:solidFill>
                <a:latin typeface="Arial"/>
                <a:cs typeface="Arial"/>
              </a:rPr>
              <a:t>Disease contributions overlap &amp; vary</a:t>
            </a:r>
          </a:p>
        </p:txBody>
      </p:sp>
      <p:sp>
        <p:nvSpPr>
          <p:cNvPr id="18" name="TextBox 17">
            <a:extLst>
              <a:ext uri="{FF2B5EF4-FFF2-40B4-BE49-F238E27FC236}">
                <a16:creationId xmlns:a16="http://schemas.microsoft.com/office/drawing/2014/main" id="{27164B40-798E-8844-B2F6-42505877314E}"/>
              </a:ext>
            </a:extLst>
          </p:cNvPr>
          <p:cNvSpPr txBox="1"/>
          <p:nvPr/>
        </p:nvSpPr>
        <p:spPr>
          <a:xfrm>
            <a:off x="6477000" y="4699000"/>
            <a:ext cx="1016000" cy="254000"/>
          </a:xfrm>
          <a:prstGeom prst="rect">
            <a:avLst/>
          </a:prstGeom>
          <a:noFill/>
        </p:spPr>
        <p:txBody>
          <a:bodyPr vertOverflow="overflow" vert="horz" wrap="square" rtlCol="0" anchor="t">
            <a:noAutofit/>
          </a:bodyPr>
          <a:lstStyle/>
          <a:p>
            <a:pPr algn="l"/>
            <a:r>
              <a:rPr lang="en-US" sz="1400">
                <a:solidFill>
                  <a:srgbClr val="110057"/>
                </a:solidFill>
                <a:latin typeface="Arial"/>
                <a:cs typeface="Arial"/>
              </a:rPr>
              <a:t>Patient A</a:t>
            </a:r>
          </a:p>
        </p:txBody>
      </p:sp>
      <p:sp>
        <p:nvSpPr>
          <p:cNvPr id="19" name="Rectangle 18">
            <a:extLst>
              <a:ext uri="{FF2B5EF4-FFF2-40B4-BE49-F238E27FC236}">
                <a16:creationId xmlns:a16="http://schemas.microsoft.com/office/drawing/2014/main" id="{714EB8DD-0C23-064C-903D-DB09F2F22DCF}"/>
              </a:ext>
            </a:extLst>
          </p:cNvPr>
          <p:cNvSpPr/>
          <p:nvPr/>
        </p:nvSpPr>
        <p:spPr>
          <a:xfrm>
            <a:off x="7620000" y="4699000"/>
            <a:ext cx="2794000" cy="254000"/>
          </a:xfrm>
          <a:prstGeom prst="rect">
            <a:avLst/>
          </a:prstGeom>
          <a:solidFill>
            <a:srgbClr val="FF004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ectangle 19">
            <a:extLst>
              <a:ext uri="{FF2B5EF4-FFF2-40B4-BE49-F238E27FC236}">
                <a16:creationId xmlns:a16="http://schemas.microsoft.com/office/drawing/2014/main" id="{14C6FB06-4F5D-3B41-A0E3-804EB5BCF663}"/>
              </a:ext>
            </a:extLst>
          </p:cNvPr>
          <p:cNvSpPr/>
          <p:nvPr/>
        </p:nvSpPr>
        <p:spPr>
          <a:xfrm>
            <a:off x="10414000" y="4699000"/>
            <a:ext cx="762000" cy="254000"/>
          </a:xfrm>
          <a:prstGeom prst="rect">
            <a:avLst/>
          </a:prstGeom>
          <a:solidFill>
            <a:srgbClr val="7CAF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20">
            <a:extLst>
              <a:ext uri="{FF2B5EF4-FFF2-40B4-BE49-F238E27FC236}">
                <a16:creationId xmlns:a16="http://schemas.microsoft.com/office/drawing/2014/main" id="{3035071C-43E0-554D-8578-53E778021182}"/>
              </a:ext>
            </a:extLst>
          </p:cNvPr>
          <p:cNvSpPr/>
          <p:nvPr/>
        </p:nvSpPr>
        <p:spPr>
          <a:xfrm>
            <a:off x="11176000" y="4699000"/>
            <a:ext cx="508000" cy="254000"/>
          </a:xfrm>
          <a:prstGeom prst="rect">
            <a:avLst/>
          </a:prstGeom>
          <a:solidFill>
            <a:srgbClr val="D0C8E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F5A95082-D36A-5049-838B-480B2406BFDC}"/>
              </a:ext>
            </a:extLst>
          </p:cNvPr>
          <p:cNvSpPr txBox="1"/>
          <p:nvPr/>
        </p:nvSpPr>
        <p:spPr>
          <a:xfrm>
            <a:off x="6477000" y="5054600"/>
            <a:ext cx="1016000" cy="254000"/>
          </a:xfrm>
          <a:prstGeom prst="rect">
            <a:avLst/>
          </a:prstGeom>
          <a:noFill/>
        </p:spPr>
        <p:txBody>
          <a:bodyPr vertOverflow="overflow" vert="horz" wrap="square" rtlCol="0" anchor="t">
            <a:noAutofit/>
          </a:bodyPr>
          <a:lstStyle/>
          <a:p>
            <a:pPr algn="l"/>
            <a:r>
              <a:rPr lang="en-US" sz="1400">
                <a:solidFill>
                  <a:srgbClr val="110057"/>
                </a:solidFill>
                <a:latin typeface="Arial"/>
                <a:cs typeface="Arial"/>
              </a:rPr>
              <a:t>Patient B</a:t>
            </a:r>
          </a:p>
        </p:txBody>
      </p:sp>
      <p:sp>
        <p:nvSpPr>
          <p:cNvPr id="23" name="Rectangle 22">
            <a:extLst>
              <a:ext uri="{FF2B5EF4-FFF2-40B4-BE49-F238E27FC236}">
                <a16:creationId xmlns:a16="http://schemas.microsoft.com/office/drawing/2014/main" id="{556CFAF2-241C-EF48-8F93-B6CDDA34C96A}"/>
              </a:ext>
            </a:extLst>
          </p:cNvPr>
          <p:cNvSpPr/>
          <p:nvPr/>
        </p:nvSpPr>
        <p:spPr>
          <a:xfrm>
            <a:off x="7620000" y="5054600"/>
            <a:ext cx="1270000" cy="254000"/>
          </a:xfrm>
          <a:prstGeom prst="rect">
            <a:avLst/>
          </a:prstGeom>
          <a:solidFill>
            <a:srgbClr val="FF004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7FEFD1B3-23FB-4E46-B4A7-F6871888ED7D}"/>
              </a:ext>
            </a:extLst>
          </p:cNvPr>
          <p:cNvSpPr/>
          <p:nvPr/>
        </p:nvSpPr>
        <p:spPr>
          <a:xfrm>
            <a:off x="8890000" y="5054600"/>
            <a:ext cx="1651000" cy="254000"/>
          </a:xfrm>
          <a:prstGeom prst="rect">
            <a:avLst/>
          </a:prstGeom>
          <a:solidFill>
            <a:srgbClr val="7CAFD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Rectangle 24">
            <a:extLst>
              <a:ext uri="{FF2B5EF4-FFF2-40B4-BE49-F238E27FC236}">
                <a16:creationId xmlns:a16="http://schemas.microsoft.com/office/drawing/2014/main" id="{0D67273C-1A1B-C64B-80B6-9EA57555F242}"/>
              </a:ext>
            </a:extLst>
          </p:cNvPr>
          <p:cNvSpPr/>
          <p:nvPr/>
        </p:nvSpPr>
        <p:spPr>
          <a:xfrm>
            <a:off x="10541000" y="5054600"/>
            <a:ext cx="762000" cy="254000"/>
          </a:xfrm>
          <a:prstGeom prst="rect">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Rectangle 25">
            <a:extLst>
              <a:ext uri="{FF2B5EF4-FFF2-40B4-BE49-F238E27FC236}">
                <a16:creationId xmlns:a16="http://schemas.microsoft.com/office/drawing/2014/main" id="{A7EB5023-BD24-8D4C-8903-AFE74DF50519}"/>
              </a:ext>
            </a:extLst>
          </p:cNvPr>
          <p:cNvSpPr/>
          <p:nvPr/>
        </p:nvSpPr>
        <p:spPr>
          <a:xfrm>
            <a:off x="11303000" y="5054600"/>
            <a:ext cx="381000" cy="254000"/>
          </a:xfrm>
          <a:prstGeom prst="rect">
            <a:avLst/>
          </a:prstGeom>
          <a:solidFill>
            <a:srgbClr val="D0C8E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TextBox 26">
            <a:extLst>
              <a:ext uri="{FF2B5EF4-FFF2-40B4-BE49-F238E27FC236}">
                <a16:creationId xmlns:a16="http://schemas.microsoft.com/office/drawing/2014/main" id="{8373DCDE-77D4-5F42-9EC9-DEBC3AA53485}"/>
              </a:ext>
            </a:extLst>
          </p:cNvPr>
          <p:cNvSpPr txBox="1"/>
          <p:nvPr/>
        </p:nvSpPr>
        <p:spPr>
          <a:xfrm>
            <a:off x="7620000" y="5359400"/>
            <a:ext cx="4064000" cy="254000"/>
          </a:xfrm>
          <a:prstGeom prst="rect">
            <a:avLst/>
          </a:prstGeom>
          <a:noFill/>
        </p:spPr>
        <p:txBody>
          <a:bodyPr vertOverflow="overflow" vert="horz" wrap="square" rtlCol="0" anchor="t">
            <a:noAutofit/>
          </a:bodyPr>
          <a:lstStyle/>
          <a:p>
            <a:pPr>
              <a:buNone/>
            </a:pPr>
            <a:r>
              <a:rPr lang="en-US" sz="1100" dirty="0">
                <a:solidFill>
                  <a:srgbClr val="FF0044"/>
                </a:solidFill>
                <a:latin typeface="Arial"/>
              </a:rPr>
              <a:t>■ </a:t>
            </a:r>
            <a:r>
              <a:rPr lang="en-US" sz="1100" dirty="0">
                <a:solidFill>
                  <a:srgbClr val="110057"/>
                </a:solidFill>
                <a:latin typeface="Arial"/>
              </a:rPr>
              <a:t>Obesity   </a:t>
            </a:r>
            <a:r>
              <a:rPr lang="en-US" sz="1100" dirty="0">
                <a:solidFill>
                  <a:srgbClr val="7CAFD0"/>
                </a:solidFill>
                <a:latin typeface="Arial"/>
              </a:rPr>
              <a:t>■ </a:t>
            </a:r>
            <a:r>
              <a:rPr lang="en-US" sz="1100" dirty="0">
                <a:solidFill>
                  <a:srgbClr val="110057"/>
                </a:solidFill>
                <a:latin typeface="Arial"/>
              </a:rPr>
              <a:t>COPD   </a:t>
            </a:r>
            <a:r>
              <a:rPr lang="en-US" sz="1100" dirty="0">
                <a:solidFill>
                  <a:srgbClr val="4A00E2"/>
                </a:solidFill>
                <a:latin typeface="Arial"/>
              </a:rPr>
              <a:t>■ </a:t>
            </a:r>
            <a:r>
              <a:rPr lang="en-US" sz="1100" dirty="0">
                <a:solidFill>
                  <a:srgbClr val="110057"/>
                </a:solidFill>
                <a:latin typeface="Arial"/>
              </a:rPr>
              <a:t>HFpEF   </a:t>
            </a:r>
            <a:r>
              <a:rPr lang="en-US" sz="1100" dirty="0">
                <a:solidFill>
                  <a:srgbClr val="D0C8E0"/>
                </a:solidFill>
                <a:latin typeface="Arial"/>
              </a:rPr>
              <a:t>■ </a:t>
            </a:r>
            <a:r>
              <a:rPr lang="en-US" sz="1100" dirty="0">
                <a:solidFill>
                  <a:srgbClr val="110057"/>
                </a:solidFill>
                <a:latin typeface="Arial"/>
              </a:rPr>
              <a:t>Other</a:t>
            </a:r>
          </a:p>
        </p:txBody>
      </p:sp>
      <p:sp>
        <p:nvSpPr>
          <p:cNvPr id="28" name="Rounded Rectangle 27">
            <a:extLst>
              <a:ext uri="{FF2B5EF4-FFF2-40B4-BE49-F238E27FC236}">
                <a16:creationId xmlns:a16="http://schemas.microsoft.com/office/drawing/2014/main" id="{82B0C302-AD8F-7A4A-BCD3-1A0FFB4EFE09}"/>
              </a:ext>
            </a:extLst>
          </p:cNvPr>
          <p:cNvSpPr/>
          <p:nvPr/>
        </p:nvSpPr>
        <p:spPr>
          <a:xfrm>
            <a:off x="508000" y="5715000"/>
            <a:ext cx="11176000" cy="406400"/>
          </a:xfrm>
          <a:prstGeom prst="roundRect">
            <a:avLst/>
          </a:prstGeom>
          <a:solidFill>
            <a:srgbClr val="1100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Arial"/>
                <a:cs typeface="Arial"/>
              </a:rPr>
              <a:t>Key: Obesity is a causal contributor — not defined by exclusion of other causes</a:t>
            </a:r>
          </a:p>
        </p:txBody>
      </p:sp>
      <p:sp>
        <p:nvSpPr>
          <p:cNvPr id="29" name="Oval 28">
            <a:extLst>
              <a:ext uri="{FF2B5EF4-FFF2-40B4-BE49-F238E27FC236}">
                <a16:creationId xmlns:a16="http://schemas.microsoft.com/office/drawing/2014/main" id="{7346C727-5CF9-A3BE-5955-B207AF2ECE26}"/>
              </a:ext>
            </a:extLst>
          </p:cNvPr>
          <p:cNvSpPr/>
          <p:nvPr/>
        </p:nvSpPr>
        <p:spPr>
          <a:xfrm>
            <a:off x="8483600" y="1689100"/>
            <a:ext cx="2819400" cy="1898650"/>
          </a:xfrm>
          <a:prstGeom prst="ellipse">
            <a:avLst/>
          </a:prstGeom>
          <a:noFill/>
          <a:ln w="25400" cap="flat" cmpd="sng" algn="ctr">
            <a:solidFill>
              <a:srgbClr val="110057"/>
            </a:solidFill>
            <a:prstDash val="dash"/>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chorCtr="0">
            <a:noAutofit/>
          </a:bodyPr>
          <a:lstStyle/>
          <a:p>
            <a:pPr algn="l"/>
            <a:endParaRPr lang="en-US" sz="1400" dirty="0">
              <a:solidFill>
                <a:srgbClr val="110057"/>
              </a:solidFill>
              <a:latin typeface="Arial"/>
              <a:cs typeface="Arial"/>
            </a:endParaRPr>
          </a:p>
        </p:txBody>
      </p:sp>
    </p:spTree>
    <p:extLst>
      <p:ext uri="{BB962C8B-B14F-4D97-AF65-F5344CB8AC3E}">
        <p14:creationId xmlns:p14="http://schemas.microsoft.com/office/powerpoint/2010/main" val="3443312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48E580-A13F-614B-8B8D-4F34E72C1D30}"/>
              </a:ext>
            </a:extLst>
          </p:cNvPr>
          <p:cNvSpPr/>
          <p:nvPr/>
        </p:nvSpPr>
        <p:spPr>
          <a:xfrm>
            <a:off x="0" y="0"/>
            <a:ext cx="12192000" cy="6858000"/>
          </a:xfrm>
          <a:prstGeom prst="rect">
            <a:avLst/>
          </a:prstGeom>
          <a:solidFill>
            <a:srgbClr val="1100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5B62E621-43A2-DB49-A858-320FACFEFE9B}"/>
              </a:ext>
            </a:extLst>
          </p:cNvPr>
          <p:cNvSpPr txBox="1"/>
          <p:nvPr/>
        </p:nvSpPr>
        <p:spPr>
          <a:xfrm>
            <a:off x="762000" y="1968500"/>
            <a:ext cx="10668000" cy="571500"/>
          </a:xfrm>
          <a:prstGeom prst="rect">
            <a:avLst/>
          </a:prstGeom>
          <a:noFill/>
        </p:spPr>
        <p:txBody>
          <a:bodyPr vertOverflow="overflow" vert="horz" wrap="square" rtlCol="0" anchor="t">
            <a:noAutofit/>
          </a:bodyPr>
          <a:lstStyle/>
          <a:p>
            <a:pPr algn="l"/>
            <a:r>
              <a:rPr lang="en-US" sz="2400" i="1">
                <a:solidFill>
                  <a:srgbClr val="7CAFD0"/>
                </a:solidFill>
                <a:latin typeface="Arial"/>
                <a:cs typeface="Arial"/>
              </a:rPr>
              <a:t>A more useful mental model:</a:t>
            </a:r>
          </a:p>
        </p:txBody>
      </p:sp>
      <p:sp>
        <p:nvSpPr>
          <p:cNvPr id="5" name="Rectangle 4">
            <a:extLst>
              <a:ext uri="{FF2B5EF4-FFF2-40B4-BE49-F238E27FC236}">
                <a16:creationId xmlns:a16="http://schemas.microsoft.com/office/drawing/2014/main" id="{A9096819-1CBD-5340-AEDA-6A939192BBBE}"/>
              </a:ext>
            </a:extLst>
          </p:cNvPr>
          <p:cNvSpPr/>
          <p:nvPr/>
        </p:nvSpPr>
        <p:spPr>
          <a:xfrm>
            <a:off x="762000" y="2641600"/>
            <a:ext cx="1016000" cy="50800"/>
          </a:xfrm>
          <a:prstGeom prst="rect">
            <a:avLst/>
          </a:prstGeom>
          <a:solidFill>
            <a:srgbClr val="FF004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7EE7E4D0-5F67-7445-BA3E-11FFCB154562}"/>
              </a:ext>
            </a:extLst>
          </p:cNvPr>
          <p:cNvSpPr txBox="1"/>
          <p:nvPr/>
        </p:nvSpPr>
        <p:spPr>
          <a:xfrm>
            <a:off x="762000" y="2895600"/>
            <a:ext cx="8890000" cy="1714500"/>
          </a:xfrm>
          <a:prstGeom prst="rect">
            <a:avLst/>
          </a:prstGeom>
          <a:noFill/>
        </p:spPr>
        <p:txBody>
          <a:bodyPr vertOverflow="overflow" vert="horz" wrap="square" rtlCol="0" anchor="t">
            <a:noAutofit/>
          </a:bodyPr>
          <a:lstStyle/>
          <a:p>
            <a:pPr algn="l"/>
            <a:r>
              <a:rPr lang="en-US" sz="4800" b="1">
                <a:solidFill>
                  <a:srgbClr val="FFFFFF"/>
                </a:solidFill>
                <a:latin typeface="Arial"/>
                <a:cs typeface="Arial"/>
              </a:rPr>
              <a:t>"Obesity-Related
Respiratory Failure"</a:t>
            </a:r>
          </a:p>
        </p:txBody>
      </p:sp>
      <p:sp>
        <p:nvSpPr>
          <p:cNvPr id="7" name="Rectangle 6">
            <a:extLst>
              <a:ext uri="{FF2B5EF4-FFF2-40B4-BE49-F238E27FC236}">
                <a16:creationId xmlns:a16="http://schemas.microsoft.com/office/drawing/2014/main" id="{442F8E9C-80C6-924A-B206-A19E8A64226A}"/>
              </a:ext>
            </a:extLst>
          </p:cNvPr>
          <p:cNvSpPr/>
          <p:nvPr/>
        </p:nvSpPr>
        <p:spPr>
          <a:xfrm>
            <a:off x="762000" y="4800600"/>
            <a:ext cx="10668000" cy="12700"/>
          </a:xfrm>
          <a:prstGeom prst="rect">
            <a:avLst/>
          </a:prstGeom>
          <a:solidFill>
            <a:srgbClr val="4A00E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2387553E-5D31-3A44-8A69-B7926EF869B9}"/>
              </a:ext>
            </a:extLst>
          </p:cNvPr>
          <p:cNvSpPr txBox="1"/>
          <p:nvPr/>
        </p:nvSpPr>
        <p:spPr>
          <a:xfrm>
            <a:off x="762000" y="5054600"/>
            <a:ext cx="6223000" cy="1016000"/>
          </a:xfrm>
          <a:prstGeom prst="rect">
            <a:avLst/>
          </a:prstGeom>
          <a:noFill/>
        </p:spPr>
        <p:txBody>
          <a:bodyPr vertOverflow="overflow" vert="horz" wrap="square" rtlCol="0" anchor="t">
            <a:noAutofit/>
          </a:bodyPr>
          <a:lstStyle/>
          <a:p>
            <a:pPr algn="l"/>
            <a:r>
              <a:rPr lang="en-US">
                <a:solidFill>
                  <a:srgbClr val="FFD6D3"/>
                </a:solidFill>
                <a:latin typeface="Arial"/>
                <a:cs typeface="Arial"/>
              </a:rPr>
              <a:t>Obesity is a primary driver of the respiratory failure, regardless of comorbidities</a:t>
            </a:r>
          </a:p>
        </p:txBody>
      </p:sp>
      <p:sp>
        <p:nvSpPr>
          <p:cNvPr id="9" name="Right Arrow 8">
            <a:extLst>
              <a:ext uri="{FF2B5EF4-FFF2-40B4-BE49-F238E27FC236}">
                <a16:creationId xmlns:a16="http://schemas.microsoft.com/office/drawing/2014/main" id="{DC1F4215-86AA-8847-8661-9CEA7F28EF18}"/>
              </a:ext>
            </a:extLst>
          </p:cNvPr>
          <p:cNvSpPr/>
          <p:nvPr/>
        </p:nvSpPr>
        <p:spPr>
          <a:xfrm>
            <a:off x="7239000" y="5384800"/>
            <a:ext cx="635000" cy="355600"/>
          </a:xfrm>
          <a:prstGeom prst="rightArrow">
            <a:avLst/>
          </a:prstGeom>
          <a:solidFill>
            <a:srgbClr val="FF004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425BCB6F-A30F-C94A-AB8B-CFC3302C2AA2}"/>
              </a:ext>
            </a:extLst>
          </p:cNvPr>
          <p:cNvSpPr txBox="1"/>
          <p:nvPr/>
        </p:nvSpPr>
        <p:spPr>
          <a:xfrm>
            <a:off x="8128000" y="5054600"/>
            <a:ext cx="3429000" cy="1016000"/>
          </a:xfrm>
          <a:prstGeom prst="rect">
            <a:avLst/>
          </a:prstGeom>
          <a:noFill/>
        </p:spPr>
        <p:txBody>
          <a:bodyPr vertOverflow="overflow" vert="horz" wrap="square" rtlCol="0" anchor="t">
            <a:noAutofit/>
          </a:bodyPr>
          <a:lstStyle/>
          <a:p>
            <a:pPr algn="l"/>
            <a:r>
              <a:rPr lang="en-US" sz="2000" b="1">
                <a:solidFill>
                  <a:srgbClr val="FFFFFF"/>
                </a:solidFill>
                <a:latin typeface="Arial"/>
                <a:cs typeface="Arial"/>
              </a:rPr>
              <a:t>Better management
implications</a:t>
            </a:r>
          </a:p>
        </p:txBody>
      </p:sp>
    </p:spTree>
    <p:extLst>
      <p:ext uri="{BB962C8B-B14F-4D97-AF65-F5344CB8AC3E}">
        <p14:creationId xmlns:p14="http://schemas.microsoft.com/office/powerpoint/2010/main" val="1585567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5F9">
            <a:alpha val="100000"/>
          </a:srgb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0FD6C98-4CB0-0F41-BC5B-34A6A2083E9B}"/>
              </a:ext>
            </a:extLst>
          </p:cNvPr>
          <p:cNvSpPr txBox="1"/>
          <p:nvPr/>
        </p:nvSpPr>
        <p:spPr>
          <a:xfrm>
            <a:off x="508000" y="254000"/>
            <a:ext cx="11176000" cy="482600"/>
          </a:xfrm>
          <a:prstGeom prst="rect">
            <a:avLst/>
          </a:prstGeom>
          <a:noFill/>
        </p:spPr>
        <p:txBody>
          <a:bodyPr vertOverflow="overflow" vert="horz" wrap="square" rtlCol="0" anchor="t">
            <a:noAutofit/>
          </a:bodyPr>
          <a:lstStyle/>
          <a:p>
            <a:pPr algn="l"/>
            <a:r>
              <a:rPr lang="en-US" sz="2600" b="1">
                <a:solidFill>
                  <a:srgbClr val="110057"/>
                </a:solidFill>
                <a:latin typeface="Arial"/>
                <a:cs typeface="Arial"/>
              </a:rPr>
              <a:t>MOC Question</a:t>
            </a:r>
          </a:p>
        </p:txBody>
      </p:sp>
      <p:sp>
        <p:nvSpPr>
          <p:cNvPr id="6" name="Rectangle 5">
            <a:extLst>
              <a:ext uri="{FF2B5EF4-FFF2-40B4-BE49-F238E27FC236}">
                <a16:creationId xmlns:a16="http://schemas.microsoft.com/office/drawing/2014/main" id="{59E364C5-D14B-1C4E-ADAE-638CCD19C11B}"/>
              </a:ext>
            </a:extLst>
          </p:cNvPr>
          <p:cNvSpPr/>
          <p:nvPr/>
        </p:nvSpPr>
        <p:spPr>
          <a:xfrm>
            <a:off x="508000" y="762000"/>
            <a:ext cx="762000" cy="38100"/>
          </a:xfrm>
          <a:prstGeom prst="rect">
            <a:avLst/>
          </a:prstGeom>
          <a:solidFill>
            <a:srgbClr val="0D737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ounded Rectangle 6">
            <a:extLst>
              <a:ext uri="{FF2B5EF4-FFF2-40B4-BE49-F238E27FC236}">
                <a16:creationId xmlns:a16="http://schemas.microsoft.com/office/drawing/2014/main" id="{2EE54F2B-542B-EC45-8EE2-CFDA1FAF1E65}"/>
              </a:ext>
            </a:extLst>
          </p:cNvPr>
          <p:cNvSpPr/>
          <p:nvPr/>
        </p:nvSpPr>
        <p:spPr>
          <a:xfrm>
            <a:off x="508000" y="914400"/>
            <a:ext cx="11176000" cy="2095500"/>
          </a:xfrm>
          <a:prstGeom prst="roundRect">
            <a:avLst/>
          </a:prstGeom>
          <a:solidFill>
            <a:srgbClr val="EEEAF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0516ACD3-18F3-DD42-AD0A-74B736E188A4}"/>
              </a:ext>
            </a:extLst>
          </p:cNvPr>
          <p:cNvSpPr txBox="1"/>
          <p:nvPr/>
        </p:nvSpPr>
        <p:spPr>
          <a:xfrm>
            <a:off x="698500" y="1016000"/>
            <a:ext cx="10795000" cy="1905000"/>
          </a:xfrm>
          <a:prstGeom prst="rect">
            <a:avLst/>
          </a:prstGeom>
          <a:noFill/>
        </p:spPr>
        <p:txBody>
          <a:bodyPr vertOverflow="overflow" vert="horz" wrap="square" rtlCol="0" anchor="t">
            <a:noAutofit/>
          </a:bodyPr>
          <a:lstStyle/>
          <a:p>
            <a:pPr>
              <a:buNone/>
            </a:pPr>
            <a:r>
              <a:rPr lang="en-US" sz="1400" dirty="0">
                <a:solidFill>
                  <a:srgbClr val="110057"/>
                </a:solidFill>
                <a:latin typeface="Arial"/>
              </a:rPr>
              <a:t>In a 65-year-old patient with </a:t>
            </a:r>
            <a:r>
              <a:rPr lang="en-US" sz="1400" b="1" dirty="0">
                <a:solidFill>
                  <a:srgbClr val="110057"/>
                </a:solidFill>
                <a:latin typeface="Arial"/>
              </a:rPr>
              <a:t>normally functioning lungs</a:t>
            </a:r>
            <a:r>
              <a:rPr lang="en-US" sz="1400" dirty="0">
                <a:solidFill>
                  <a:srgbClr val="110057"/>
                </a:solidFill>
                <a:latin typeface="Arial"/>
              </a:rPr>
              <a:t> (normal A–a gradient of 10 mmHg) breathing </a:t>
            </a:r>
            <a:r>
              <a:rPr lang="en-US" sz="1400" b="1" dirty="0">
                <a:solidFill>
                  <a:srgbClr val="110057"/>
                </a:solidFill>
                <a:latin typeface="Arial"/>
              </a:rPr>
              <a:t>room air</a:t>
            </a:r>
            <a:r>
              <a:rPr lang="en-US" sz="1400" dirty="0">
                <a:solidFill>
                  <a:srgbClr val="110057"/>
                </a:solidFill>
                <a:latin typeface="Arial"/>
              </a:rPr>
              <a:t> (FiO</a:t>
            </a:r>
            <a:r>
              <a:rPr lang="en-US" sz="1400" baseline="-25000" dirty="0">
                <a:solidFill>
                  <a:srgbClr val="110057"/>
                </a:solidFill>
                <a:latin typeface="Arial"/>
              </a:rPr>
              <a:t>2</a:t>
            </a:r>
            <a:r>
              <a:rPr lang="en-US" sz="1400" dirty="0">
                <a:solidFill>
                  <a:srgbClr val="110057"/>
                </a:solidFill>
                <a:latin typeface="Arial"/>
              </a:rPr>
              <a:t> 0.21) at </a:t>
            </a:r>
            <a:r>
              <a:rPr lang="en-US" sz="1400" b="1" dirty="0">
                <a:solidFill>
                  <a:srgbClr val="110057"/>
                </a:solidFill>
                <a:latin typeface="Arial"/>
              </a:rPr>
              <a:t>Salt Lake City elevation</a:t>
            </a:r>
            <a:r>
              <a:rPr lang="en-US" sz="1400" dirty="0">
                <a:solidFill>
                  <a:srgbClr val="110057"/>
                </a:solidFill>
                <a:latin typeface="Arial"/>
              </a:rPr>
              <a:t> (~4,000 ft; P</a:t>
            </a:r>
            <a:r>
              <a:rPr lang="en-US" sz="1400" baseline="-25000" dirty="0">
                <a:solidFill>
                  <a:srgbClr val="110057"/>
                </a:solidFill>
                <a:latin typeface="Arial"/>
              </a:rPr>
              <a:t>b</a:t>
            </a:r>
            <a:r>
              <a:rPr lang="en-US" sz="1400" dirty="0">
                <a:solidFill>
                  <a:srgbClr val="110057"/>
                </a:solidFill>
                <a:latin typeface="Arial"/>
              </a:rPr>
              <a:t> 656 mmHg), using the simplified alveolar gas equation (PH</a:t>
            </a:r>
            <a:r>
              <a:rPr lang="en-US" sz="1400" baseline="-25000" dirty="0">
                <a:solidFill>
                  <a:srgbClr val="110057"/>
                </a:solidFill>
                <a:latin typeface="Arial"/>
              </a:rPr>
              <a:t>2</a:t>
            </a:r>
            <a:r>
              <a:rPr lang="en-US" sz="1400" dirty="0">
                <a:solidFill>
                  <a:srgbClr val="110057"/>
                </a:solidFill>
                <a:latin typeface="Arial"/>
              </a:rPr>
              <a:t>O 47 mmHg, RQ 0.8):</a:t>
            </a:r>
          </a:p>
          <a:p>
            <a:pPr>
              <a:buNone/>
            </a:pPr>
            <a:r>
              <a:rPr lang="en-US" sz="1500" b="1" i="1" dirty="0">
                <a:solidFill>
                  <a:srgbClr val="4A00E2"/>
                </a:solidFill>
                <a:latin typeface="Arial"/>
              </a:rPr>
              <a:t>To what approximate PaCO</a:t>
            </a:r>
            <a:r>
              <a:rPr lang="en-US" sz="1500" b="1" i="1" baseline="-25000" dirty="0">
                <a:solidFill>
                  <a:srgbClr val="4A00E2"/>
                </a:solidFill>
                <a:latin typeface="Arial"/>
              </a:rPr>
              <a:t>2</a:t>
            </a:r>
            <a:r>
              <a:rPr lang="en-US" sz="1500" b="1" i="1" dirty="0">
                <a:solidFill>
                  <a:srgbClr val="4A00E2"/>
                </a:solidFill>
                <a:latin typeface="Arial"/>
              </a:rPr>
              <a:t> would it need to rise before SpO</a:t>
            </a:r>
            <a:r>
              <a:rPr lang="en-US" sz="1500" b="1" i="1" baseline="-25000" dirty="0">
                <a:solidFill>
                  <a:srgbClr val="4A00E2"/>
                </a:solidFill>
                <a:latin typeface="Arial"/>
              </a:rPr>
              <a:t>2</a:t>
            </a:r>
            <a:r>
              <a:rPr lang="en-US" sz="1500" b="1" i="1" dirty="0">
                <a:solidFill>
                  <a:srgbClr val="4A00E2"/>
                </a:solidFill>
                <a:latin typeface="Arial"/>
              </a:rPr>
              <a:t> drops below 90% (PaO</a:t>
            </a:r>
            <a:r>
              <a:rPr lang="en-US" sz="1500" b="1" i="1" baseline="-25000" dirty="0">
                <a:solidFill>
                  <a:srgbClr val="4A00E2"/>
                </a:solidFill>
                <a:latin typeface="Arial"/>
              </a:rPr>
              <a:t>2</a:t>
            </a:r>
            <a:r>
              <a:rPr lang="en-US" sz="1500" b="1" i="1" dirty="0">
                <a:solidFill>
                  <a:srgbClr val="4A00E2"/>
                </a:solidFill>
                <a:latin typeface="Arial"/>
              </a:rPr>
              <a:t> ~60 mmHg)?</a:t>
            </a:r>
          </a:p>
        </p:txBody>
      </p:sp>
      <p:sp>
        <p:nvSpPr>
          <p:cNvPr id="2" name="Rounded Rectangle 1">
            <a:extLst>
              <a:ext uri="{FF2B5EF4-FFF2-40B4-BE49-F238E27FC236}">
                <a16:creationId xmlns:a16="http://schemas.microsoft.com/office/drawing/2014/main" id="{AB5D7BD4-3A75-994B-BB6F-7E95C9B539F3}"/>
              </a:ext>
            </a:extLst>
          </p:cNvPr>
          <p:cNvSpPr/>
          <p:nvPr/>
        </p:nvSpPr>
        <p:spPr>
          <a:xfrm>
            <a:off x="762000" y="3238500"/>
            <a:ext cx="5080000" cy="533400"/>
          </a:xfrm>
          <a:prstGeom prst="roundRect">
            <a:avLst/>
          </a:prstGeom>
          <a:solidFill>
            <a:srgbClr val="FFFFFF"/>
          </a:solidFill>
          <a:ln w="12700" cap="flat" cmpd="sng" algn="ctr">
            <a:solidFill>
              <a:srgbClr val="D0C8E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solidFill>
                  <a:srgbClr val="110057"/>
                </a:solidFill>
                <a:latin typeface="Arial"/>
                <a:cs typeface="Arial"/>
              </a:rPr>
              <a:t>A.  45 mmHg</a:t>
            </a:r>
          </a:p>
        </p:txBody>
      </p:sp>
      <p:sp>
        <p:nvSpPr>
          <p:cNvPr id="3" name="Rounded Rectangle 2">
            <a:extLst>
              <a:ext uri="{FF2B5EF4-FFF2-40B4-BE49-F238E27FC236}">
                <a16:creationId xmlns:a16="http://schemas.microsoft.com/office/drawing/2014/main" id="{15F94BF5-7FDE-734F-B241-077E52A89465}"/>
              </a:ext>
            </a:extLst>
          </p:cNvPr>
          <p:cNvSpPr/>
          <p:nvPr/>
        </p:nvSpPr>
        <p:spPr>
          <a:xfrm>
            <a:off x="6350000" y="3238500"/>
            <a:ext cx="5080000" cy="533400"/>
          </a:xfrm>
          <a:prstGeom prst="roundRect">
            <a:avLst/>
          </a:prstGeom>
          <a:solidFill>
            <a:srgbClr val="FFFFFF"/>
          </a:solidFill>
          <a:ln w="12700" cap="flat" cmpd="sng" algn="ctr">
            <a:solidFill>
              <a:srgbClr val="D0C8E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solidFill>
                  <a:srgbClr val="110057"/>
                </a:solidFill>
                <a:latin typeface="Arial"/>
                <a:cs typeface="Arial"/>
              </a:rPr>
              <a:t>B.  55 mmHg</a:t>
            </a:r>
          </a:p>
        </p:txBody>
      </p:sp>
      <p:sp>
        <p:nvSpPr>
          <p:cNvPr id="4" name="Rounded Rectangle 3">
            <a:extLst>
              <a:ext uri="{FF2B5EF4-FFF2-40B4-BE49-F238E27FC236}">
                <a16:creationId xmlns:a16="http://schemas.microsoft.com/office/drawing/2014/main" id="{0A614D22-F6F7-6642-ACD2-1BE380BB70CE}"/>
              </a:ext>
            </a:extLst>
          </p:cNvPr>
          <p:cNvSpPr/>
          <p:nvPr/>
        </p:nvSpPr>
        <p:spPr>
          <a:xfrm>
            <a:off x="762000" y="3937000"/>
            <a:ext cx="5080000" cy="533400"/>
          </a:xfrm>
          <a:prstGeom prst="roundRect">
            <a:avLst/>
          </a:prstGeom>
          <a:solidFill>
            <a:srgbClr val="FFFFFF"/>
          </a:solidFill>
          <a:ln w="12700" cap="flat" cmpd="sng" algn="ctr">
            <a:solidFill>
              <a:srgbClr val="D0C8E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solidFill>
                  <a:srgbClr val="110057"/>
                </a:solidFill>
                <a:latin typeface="Arial"/>
                <a:cs typeface="Arial"/>
              </a:rPr>
              <a:t>C.  65 mmHg</a:t>
            </a:r>
          </a:p>
        </p:txBody>
      </p:sp>
      <p:sp>
        <p:nvSpPr>
          <p:cNvPr id="9" name="Rounded Rectangle 8">
            <a:extLst>
              <a:ext uri="{FF2B5EF4-FFF2-40B4-BE49-F238E27FC236}">
                <a16:creationId xmlns:a16="http://schemas.microsoft.com/office/drawing/2014/main" id="{C0294F4F-6D5C-4848-82A6-5D10555545B3}"/>
              </a:ext>
            </a:extLst>
          </p:cNvPr>
          <p:cNvSpPr/>
          <p:nvPr/>
        </p:nvSpPr>
        <p:spPr>
          <a:xfrm>
            <a:off x="6350000" y="3937000"/>
            <a:ext cx="5080000" cy="533400"/>
          </a:xfrm>
          <a:prstGeom prst="roundRect">
            <a:avLst/>
          </a:prstGeom>
          <a:solidFill>
            <a:srgbClr val="FFFFFF"/>
          </a:solidFill>
          <a:ln w="12700" cap="flat" cmpd="sng" algn="ctr">
            <a:solidFill>
              <a:srgbClr val="D0C8E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solidFill>
                  <a:srgbClr val="110057"/>
                </a:solidFill>
                <a:latin typeface="Arial"/>
                <a:cs typeface="Arial"/>
              </a:rPr>
              <a:t>D.  75 mmHg</a:t>
            </a:r>
          </a:p>
        </p:txBody>
      </p:sp>
      <p:sp>
        <p:nvSpPr>
          <p:cNvPr id="10" name="Rounded Rectangle 9">
            <a:extLst>
              <a:ext uri="{FF2B5EF4-FFF2-40B4-BE49-F238E27FC236}">
                <a16:creationId xmlns:a16="http://schemas.microsoft.com/office/drawing/2014/main" id="{EF34B22A-595B-F34F-9161-3362006B8E9B}"/>
              </a:ext>
            </a:extLst>
          </p:cNvPr>
          <p:cNvSpPr/>
          <p:nvPr/>
        </p:nvSpPr>
        <p:spPr>
          <a:xfrm>
            <a:off x="762000" y="4635500"/>
            <a:ext cx="5080000" cy="533400"/>
          </a:xfrm>
          <a:prstGeom prst="roundRect">
            <a:avLst/>
          </a:prstGeom>
          <a:solidFill>
            <a:srgbClr val="FFFFFF"/>
          </a:solidFill>
          <a:ln w="12700" cap="flat" cmpd="sng" algn="ctr">
            <a:solidFill>
              <a:srgbClr val="D0C8E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solidFill>
                  <a:srgbClr val="110057"/>
                </a:solidFill>
                <a:latin typeface="Arial"/>
                <a:cs typeface="Arial"/>
              </a:rPr>
              <a:t>E.  85 mmHg</a:t>
            </a:r>
          </a:p>
        </p:txBody>
      </p:sp>
      <p:sp>
        <p:nvSpPr>
          <p:cNvPr id="11" name="Rounded Rectangle 10">
            <a:extLst>
              <a:ext uri="{FF2B5EF4-FFF2-40B4-BE49-F238E27FC236}">
                <a16:creationId xmlns:a16="http://schemas.microsoft.com/office/drawing/2014/main" id="{970AB020-61A6-5946-975E-289B2785374F}"/>
              </a:ext>
            </a:extLst>
          </p:cNvPr>
          <p:cNvSpPr/>
          <p:nvPr/>
        </p:nvSpPr>
        <p:spPr>
          <a:xfrm>
            <a:off x="508000" y="5562600"/>
            <a:ext cx="11176000" cy="533400"/>
          </a:xfrm>
          <a:prstGeom prst="roundRect">
            <a:avLst/>
          </a:prstGeom>
          <a:solidFill>
            <a:srgbClr val="1100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CFFA402C-CB7E-A24F-B3E1-34B59ABB751C}"/>
              </a:ext>
            </a:extLst>
          </p:cNvPr>
          <p:cNvSpPr txBox="1"/>
          <p:nvPr/>
        </p:nvSpPr>
        <p:spPr>
          <a:xfrm>
            <a:off x="698500" y="5613400"/>
            <a:ext cx="10795000" cy="431800"/>
          </a:xfrm>
          <a:prstGeom prst="rect">
            <a:avLst/>
          </a:prstGeom>
          <a:noFill/>
        </p:spPr>
        <p:txBody>
          <a:bodyPr vertOverflow="overflow" vert="horz" wrap="square" rtlCol="0" anchor="t">
            <a:noAutofit/>
          </a:bodyPr>
          <a:lstStyle/>
          <a:p>
            <a:pPr algn="ctr">
              <a:buNone/>
            </a:pPr>
            <a:r>
              <a:rPr lang="en-US" sz="1400" dirty="0">
                <a:solidFill>
                  <a:srgbClr val="D0C8E0"/>
                </a:solidFill>
                <a:latin typeface="Arial"/>
              </a:rPr>
              <a:t>Recall:  P</a:t>
            </a:r>
            <a:r>
              <a:rPr lang="en-US" sz="1400" baseline="-25000" dirty="0">
                <a:solidFill>
                  <a:srgbClr val="D0C8E0"/>
                </a:solidFill>
                <a:latin typeface="Arial"/>
              </a:rPr>
              <a:t>A</a:t>
            </a:r>
            <a:r>
              <a:rPr lang="en-US" sz="1400" dirty="0">
                <a:solidFill>
                  <a:srgbClr val="D0C8E0"/>
                </a:solidFill>
                <a:latin typeface="Arial"/>
              </a:rPr>
              <a:t>O</a:t>
            </a:r>
            <a:r>
              <a:rPr lang="en-US" sz="1400" baseline="-25000" dirty="0">
                <a:solidFill>
                  <a:srgbClr val="D0C8E0"/>
                </a:solidFill>
                <a:latin typeface="Arial"/>
              </a:rPr>
              <a:t>2</a:t>
            </a:r>
            <a:r>
              <a:rPr lang="en-US" sz="1400" dirty="0">
                <a:solidFill>
                  <a:srgbClr val="D0C8E0"/>
                </a:solidFill>
                <a:latin typeface="Arial"/>
              </a:rPr>
              <a:t> = FiO</a:t>
            </a:r>
            <a:r>
              <a:rPr lang="en-US" sz="1400" baseline="-25000" dirty="0">
                <a:solidFill>
                  <a:srgbClr val="D0C8E0"/>
                </a:solidFill>
                <a:latin typeface="Arial"/>
              </a:rPr>
              <a:t>2</a:t>
            </a:r>
            <a:r>
              <a:rPr lang="en-US" sz="1400" dirty="0">
                <a:solidFill>
                  <a:srgbClr val="D0C8E0"/>
                </a:solidFill>
                <a:latin typeface="Arial"/>
              </a:rPr>
              <a:t> × (P</a:t>
            </a:r>
            <a:r>
              <a:rPr lang="en-US" sz="1400" baseline="-25000" dirty="0">
                <a:solidFill>
                  <a:srgbClr val="D0C8E0"/>
                </a:solidFill>
                <a:latin typeface="Arial"/>
              </a:rPr>
              <a:t>b</a:t>
            </a:r>
            <a:r>
              <a:rPr lang="en-US" sz="1400" dirty="0">
                <a:solidFill>
                  <a:srgbClr val="D0C8E0"/>
                </a:solidFill>
                <a:latin typeface="Arial"/>
              </a:rPr>
              <a:t> − PH</a:t>
            </a:r>
            <a:r>
              <a:rPr lang="en-US" sz="1400" baseline="-25000" dirty="0">
                <a:solidFill>
                  <a:srgbClr val="D0C8E0"/>
                </a:solidFill>
                <a:latin typeface="Arial"/>
              </a:rPr>
              <a:t>2</a:t>
            </a:r>
            <a:r>
              <a:rPr lang="en-US" sz="1400" dirty="0">
                <a:solidFill>
                  <a:srgbClr val="D0C8E0"/>
                </a:solidFill>
                <a:latin typeface="Arial"/>
              </a:rPr>
              <a:t>O) − (PaCO</a:t>
            </a:r>
            <a:r>
              <a:rPr lang="en-US" sz="1400" baseline="-25000" dirty="0">
                <a:solidFill>
                  <a:srgbClr val="D0C8E0"/>
                </a:solidFill>
                <a:latin typeface="Arial"/>
              </a:rPr>
              <a:t>2</a:t>
            </a:r>
            <a:r>
              <a:rPr lang="en-US" sz="1400" dirty="0">
                <a:solidFill>
                  <a:srgbClr val="D0C8E0"/>
                </a:solidFill>
                <a:latin typeface="Arial"/>
              </a:rPr>
              <a:t> / RQ)       O</a:t>
            </a:r>
            <a:r>
              <a:rPr lang="en-US" sz="1400" baseline="-25000" dirty="0">
                <a:solidFill>
                  <a:srgbClr val="D0C8E0"/>
                </a:solidFill>
                <a:latin typeface="Arial"/>
              </a:rPr>
              <a:t>2</a:t>
            </a:r>
            <a:r>
              <a:rPr lang="en-US" sz="1400" dirty="0">
                <a:solidFill>
                  <a:srgbClr val="D0C8E0"/>
                </a:solidFill>
                <a:latin typeface="Arial"/>
              </a:rPr>
              <a:t> is </a:t>
            </a:r>
            <a:r>
              <a:rPr lang="en-US" sz="1400" b="1" dirty="0">
                <a:solidFill>
                  <a:srgbClr val="FFFFFF"/>
                </a:solidFill>
                <a:latin typeface="Arial"/>
              </a:rPr>
              <a:t>17.8 mmHg lower</a:t>
            </a:r>
            <a:r>
              <a:rPr lang="en-US" sz="1400" dirty="0">
                <a:solidFill>
                  <a:srgbClr val="D0C8E0"/>
                </a:solidFill>
                <a:latin typeface="Arial"/>
              </a:rPr>
              <a:t> at 4,500 ft</a:t>
            </a:r>
          </a:p>
        </p:txBody>
      </p:sp>
    </p:spTree>
    <p:extLst>
      <p:ext uri="{BB962C8B-B14F-4D97-AF65-F5344CB8AC3E}">
        <p14:creationId xmlns:p14="http://schemas.microsoft.com/office/powerpoint/2010/main" val="2311990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5F9">
            <a:alpha val="100000"/>
          </a:srgbClr>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5D38C34-7FC9-364B-BEA9-593DA19BCCCA}"/>
              </a:ext>
            </a:extLst>
          </p:cNvPr>
          <p:cNvSpPr txBox="1"/>
          <p:nvPr/>
        </p:nvSpPr>
        <p:spPr>
          <a:xfrm>
            <a:off x="508000" y="228600"/>
            <a:ext cx="6985000" cy="457200"/>
          </a:xfrm>
          <a:prstGeom prst="rect">
            <a:avLst/>
          </a:prstGeom>
          <a:noFill/>
        </p:spPr>
        <p:txBody>
          <a:bodyPr vertOverflow="overflow" vert="horz" wrap="square" rtlCol="0" anchor="t">
            <a:noAutofit/>
          </a:bodyPr>
          <a:lstStyle/>
          <a:p>
            <a:pPr algn="l"/>
            <a:r>
              <a:rPr lang="en-US" sz="2200" b="1">
                <a:solidFill>
                  <a:srgbClr val="110057"/>
                </a:solidFill>
                <a:latin typeface="Arial"/>
                <a:cs typeface="Arial"/>
              </a:rPr>
              <a:t>Answer: A. ~45 mmHg</a:t>
            </a:r>
          </a:p>
        </p:txBody>
      </p:sp>
      <p:sp>
        <p:nvSpPr>
          <p:cNvPr id="7" name="Rounded Rectangle 6">
            <a:extLst>
              <a:ext uri="{FF2B5EF4-FFF2-40B4-BE49-F238E27FC236}">
                <a16:creationId xmlns:a16="http://schemas.microsoft.com/office/drawing/2014/main" id="{CAF40359-107E-0A4A-8042-98B28D3E88FE}"/>
              </a:ext>
            </a:extLst>
          </p:cNvPr>
          <p:cNvSpPr/>
          <p:nvPr/>
        </p:nvSpPr>
        <p:spPr>
          <a:xfrm>
            <a:off x="8890000" y="228600"/>
            <a:ext cx="2794000" cy="406400"/>
          </a:xfrm>
          <a:prstGeom prst="roundRect">
            <a:avLst/>
          </a:prstGeom>
          <a:solidFill>
            <a:srgbClr val="0D737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Arial"/>
                <a:cs typeface="Arial"/>
              </a:rPr>
              <a:t>✓  Correct: A. 45 mmHg</a:t>
            </a:r>
          </a:p>
        </p:txBody>
      </p:sp>
      <p:sp>
        <p:nvSpPr>
          <p:cNvPr id="8" name="Rectangle 7">
            <a:extLst>
              <a:ext uri="{FF2B5EF4-FFF2-40B4-BE49-F238E27FC236}">
                <a16:creationId xmlns:a16="http://schemas.microsoft.com/office/drawing/2014/main" id="{88CC13EB-DB26-CB42-B34B-DFA62345C9BC}"/>
              </a:ext>
            </a:extLst>
          </p:cNvPr>
          <p:cNvSpPr/>
          <p:nvPr/>
        </p:nvSpPr>
        <p:spPr>
          <a:xfrm>
            <a:off x="508000" y="711200"/>
            <a:ext cx="762000" cy="38100"/>
          </a:xfrm>
          <a:prstGeom prst="rect">
            <a:avLst/>
          </a:prstGeom>
          <a:solidFill>
            <a:srgbClr val="0D737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DE612EF4-E2AD-1A45-9481-168F5F6927E2}"/>
              </a:ext>
            </a:extLst>
          </p:cNvPr>
          <p:cNvSpPr txBox="1"/>
          <p:nvPr/>
        </p:nvSpPr>
        <p:spPr>
          <a:xfrm>
            <a:off x="508000" y="825500"/>
            <a:ext cx="11176000" cy="1400383"/>
          </a:xfrm>
          <a:prstGeom prst="rect">
            <a:avLst/>
          </a:prstGeom>
          <a:noFill/>
        </p:spPr>
        <p:txBody>
          <a:bodyPr vertOverflow="overflow" vert="horz" wrap="square" rtlCol="0" anchor="t">
            <a:noAutofit/>
          </a:bodyPr>
          <a:lstStyle/>
          <a:p>
            <a:pPr>
              <a:buNone/>
            </a:pPr>
            <a:r>
              <a:rPr lang="en-US" sz="1400" b="1" dirty="0">
                <a:solidFill>
                  <a:srgbClr val="4A00E2"/>
                </a:solidFill>
                <a:latin typeface="Arial"/>
              </a:rPr>
              <a:t>1  SpO</a:t>
            </a:r>
            <a:r>
              <a:rPr lang="en-US" sz="1400" b="1" baseline="-25000" dirty="0">
                <a:solidFill>
                  <a:srgbClr val="4A00E2"/>
                </a:solidFill>
                <a:latin typeface="Arial"/>
              </a:rPr>
              <a:t>2</a:t>
            </a:r>
            <a:r>
              <a:rPr lang="en-US" sz="1400" b="1" dirty="0">
                <a:solidFill>
                  <a:srgbClr val="4A00E2"/>
                </a:solidFill>
                <a:latin typeface="Arial"/>
              </a:rPr>
              <a:t> → PaO</a:t>
            </a:r>
            <a:r>
              <a:rPr lang="en-US" sz="1400" b="1" baseline="-25000" dirty="0">
                <a:solidFill>
                  <a:srgbClr val="4A00E2"/>
                </a:solidFill>
                <a:latin typeface="Arial"/>
              </a:rPr>
              <a:t>2</a:t>
            </a:r>
            <a:r>
              <a:rPr lang="en-US" sz="1400" b="1" dirty="0">
                <a:solidFill>
                  <a:srgbClr val="4A00E2"/>
                </a:solidFill>
                <a:latin typeface="Arial"/>
              </a:rPr>
              <a:t> threshold       </a:t>
            </a:r>
            <a:r>
              <a:rPr lang="en-US" sz="1400" dirty="0">
                <a:solidFill>
                  <a:srgbClr val="110057"/>
                </a:solidFill>
                <a:latin typeface="Arial"/>
              </a:rPr>
              <a:t>SpO</a:t>
            </a:r>
            <a:r>
              <a:rPr lang="en-US" sz="1400" baseline="-25000" dirty="0">
                <a:solidFill>
                  <a:srgbClr val="110057"/>
                </a:solidFill>
                <a:latin typeface="Arial"/>
              </a:rPr>
              <a:t>2</a:t>
            </a:r>
            <a:r>
              <a:rPr lang="en-US" sz="1400" dirty="0">
                <a:solidFill>
                  <a:srgbClr val="110057"/>
                </a:solidFill>
                <a:latin typeface="Arial"/>
              </a:rPr>
              <a:t> ~90% ≈ PaO</a:t>
            </a:r>
            <a:r>
              <a:rPr lang="en-US" sz="1400" baseline="-25000" dirty="0">
                <a:solidFill>
                  <a:srgbClr val="110057"/>
                </a:solidFill>
                <a:latin typeface="Arial"/>
              </a:rPr>
              <a:t>2</a:t>
            </a:r>
            <a:r>
              <a:rPr lang="en-US" sz="1400" dirty="0">
                <a:solidFill>
                  <a:srgbClr val="110057"/>
                </a:solidFill>
                <a:latin typeface="Arial"/>
              </a:rPr>
              <a:t> ~60 mmHg (oxyhemoglobin dissociation curve)</a:t>
            </a:r>
          </a:p>
          <a:p>
            <a:pPr>
              <a:buNone/>
            </a:pPr>
            <a:r>
              <a:rPr lang="en-US" sz="1400" b="1" dirty="0">
                <a:solidFill>
                  <a:srgbClr val="4A00E2"/>
                </a:solidFill>
                <a:latin typeface="Arial"/>
              </a:rPr>
              <a:t>2  PiO</a:t>
            </a:r>
            <a:r>
              <a:rPr lang="en-US" sz="1400" b="1" baseline="-25000" dirty="0">
                <a:solidFill>
                  <a:srgbClr val="4A00E2"/>
                </a:solidFill>
                <a:latin typeface="Arial"/>
              </a:rPr>
              <a:t>2</a:t>
            </a:r>
            <a:r>
              <a:rPr lang="en-US" sz="1400" b="1" dirty="0">
                <a:solidFill>
                  <a:srgbClr val="4A00E2"/>
                </a:solidFill>
                <a:latin typeface="Arial"/>
              </a:rPr>
              <a:t> at altitude                   </a:t>
            </a:r>
            <a:r>
              <a:rPr lang="en-US" sz="1400" dirty="0">
                <a:solidFill>
                  <a:srgbClr val="110057"/>
                </a:solidFill>
                <a:latin typeface="Arial"/>
              </a:rPr>
              <a:t>PiO</a:t>
            </a:r>
            <a:r>
              <a:rPr lang="en-US" sz="1400" baseline="-25000" dirty="0">
                <a:solidFill>
                  <a:srgbClr val="110057"/>
                </a:solidFill>
                <a:latin typeface="Arial"/>
              </a:rPr>
              <a:t>2</a:t>
            </a:r>
            <a:r>
              <a:rPr lang="en-US" sz="1400" dirty="0">
                <a:solidFill>
                  <a:srgbClr val="110057"/>
                </a:solidFill>
                <a:latin typeface="Arial"/>
              </a:rPr>
              <a:t> = 0.21 × (656 − 47) = 0.21 × 609 = </a:t>
            </a:r>
            <a:r>
              <a:rPr lang="en-US" sz="1400" b="1" dirty="0">
                <a:solidFill>
                  <a:srgbClr val="FF0044"/>
                </a:solidFill>
                <a:latin typeface="Arial"/>
              </a:rPr>
              <a:t>128 mmHg</a:t>
            </a:r>
          </a:p>
          <a:p>
            <a:pPr>
              <a:buNone/>
            </a:pPr>
            <a:r>
              <a:rPr lang="en-US" sz="1400" b="1" dirty="0">
                <a:solidFill>
                  <a:srgbClr val="4A00E2"/>
                </a:solidFill>
                <a:latin typeface="Arial"/>
              </a:rPr>
              <a:t>3  Alveolar gas equation      </a:t>
            </a:r>
            <a:r>
              <a:rPr lang="en-US" sz="1400" dirty="0">
                <a:solidFill>
                  <a:srgbClr val="110057"/>
                </a:solidFill>
                <a:latin typeface="Arial"/>
              </a:rPr>
              <a:t>PAO</a:t>
            </a:r>
            <a:r>
              <a:rPr lang="en-US" sz="1400" baseline="-25000" dirty="0">
                <a:solidFill>
                  <a:srgbClr val="110057"/>
                </a:solidFill>
                <a:latin typeface="Arial"/>
              </a:rPr>
              <a:t>2</a:t>
            </a:r>
            <a:r>
              <a:rPr lang="en-US" sz="1400" dirty="0">
                <a:solidFill>
                  <a:srgbClr val="110057"/>
                </a:solidFill>
                <a:latin typeface="Arial"/>
              </a:rPr>
              <a:t> = 128 − 1.25 × PaCO</a:t>
            </a:r>
            <a:r>
              <a:rPr lang="en-US" sz="1400" baseline="-25000" dirty="0">
                <a:solidFill>
                  <a:srgbClr val="110057"/>
                </a:solidFill>
                <a:latin typeface="Arial"/>
              </a:rPr>
              <a:t>2</a:t>
            </a:r>
          </a:p>
          <a:p>
            <a:pPr marL="228600">
              <a:buNone/>
            </a:pPr>
            <a:r>
              <a:rPr lang="en-US" sz="1400" dirty="0">
                <a:solidFill>
                  <a:srgbClr val="110057"/>
                </a:solidFill>
                <a:latin typeface="Arial"/>
              </a:rPr>
              <a:t>Target: PaO</a:t>
            </a:r>
            <a:r>
              <a:rPr lang="en-US" sz="1400" baseline="-25000" dirty="0">
                <a:solidFill>
                  <a:srgbClr val="110057"/>
                </a:solidFill>
                <a:latin typeface="Arial"/>
              </a:rPr>
              <a:t>2</a:t>
            </a:r>
            <a:r>
              <a:rPr lang="en-US" sz="1400" dirty="0">
                <a:solidFill>
                  <a:srgbClr val="110057"/>
                </a:solidFill>
                <a:latin typeface="Arial"/>
              </a:rPr>
              <a:t> = PAO</a:t>
            </a:r>
            <a:r>
              <a:rPr lang="en-US" sz="1400" baseline="-25000" dirty="0">
                <a:solidFill>
                  <a:srgbClr val="110057"/>
                </a:solidFill>
                <a:latin typeface="Arial"/>
              </a:rPr>
              <a:t>2</a:t>
            </a:r>
            <a:r>
              <a:rPr lang="en-US" sz="1400" dirty="0">
                <a:solidFill>
                  <a:srgbClr val="110057"/>
                </a:solidFill>
                <a:latin typeface="Arial"/>
              </a:rPr>
              <a:t> − 10 = 60 → </a:t>
            </a:r>
            <a:r>
              <a:rPr lang="en-US" sz="1400" b="1" dirty="0">
                <a:solidFill>
                  <a:srgbClr val="FF0044"/>
                </a:solidFill>
                <a:latin typeface="Arial"/>
              </a:rPr>
              <a:t>PAO</a:t>
            </a:r>
            <a:r>
              <a:rPr lang="en-US" sz="1400" b="1" baseline="-25000" dirty="0">
                <a:solidFill>
                  <a:srgbClr val="FF0044"/>
                </a:solidFill>
                <a:latin typeface="Arial"/>
              </a:rPr>
              <a:t>2</a:t>
            </a:r>
            <a:r>
              <a:rPr lang="en-US" sz="1400" b="1" dirty="0">
                <a:solidFill>
                  <a:srgbClr val="FF0044"/>
                </a:solidFill>
                <a:latin typeface="Arial"/>
              </a:rPr>
              <a:t> = 70 mmHg</a:t>
            </a:r>
          </a:p>
          <a:p>
            <a:pPr>
              <a:buNone/>
            </a:pPr>
            <a:r>
              <a:rPr lang="en-US" sz="1400" b="1" dirty="0">
                <a:solidFill>
                  <a:srgbClr val="4A00E2"/>
                </a:solidFill>
                <a:latin typeface="Arial"/>
              </a:rPr>
              <a:t>4  Solve for PaCO</a:t>
            </a:r>
            <a:r>
              <a:rPr lang="en-US" sz="1400" b="1" baseline="-25000" dirty="0">
                <a:solidFill>
                  <a:srgbClr val="4A00E2"/>
                </a:solidFill>
                <a:latin typeface="Arial"/>
              </a:rPr>
              <a:t>2</a:t>
            </a:r>
            <a:r>
              <a:rPr lang="en-US" sz="1400" b="1" dirty="0">
                <a:solidFill>
                  <a:srgbClr val="4A00E2"/>
                </a:solidFill>
                <a:latin typeface="Arial"/>
              </a:rPr>
              <a:t>                        </a:t>
            </a:r>
            <a:r>
              <a:rPr lang="en-US" sz="1400" dirty="0">
                <a:solidFill>
                  <a:srgbClr val="110057"/>
                </a:solidFill>
                <a:latin typeface="Arial"/>
              </a:rPr>
              <a:t>70 = 128 − (PaCO</a:t>
            </a:r>
            <a:r>
              <a:rPr lang="en-US" sz="1400" baseline="-25000" dirty="0">
                <a:solidFill>
                  <a:srgbClr val="110057"/>
                </a:solidFill>
                <a:latin typeface="Arial"/>
              </a:rPr>
              <a:t>2</a:t>
            </a:r>
            <a:r>
              <a:rPr lang="en-US" sz="1400" dirty="0">
                <a:solidFill>
                  <a:srgbClr val="110057"/>
                </a:solidFill>
                <a:latin typeface="Arial"/>
              </a:rPr>
              <a:t> / 0.8)</a:t>
            </a:r>
          </a:p>
          <a:p>
            <a:pPr marL="228600">
              <a:buNone/>
            </a:pPr>
            <a:r>
              <a:rPr lang="en-US" sz="1400" dirty="0">
                <a:solidFill>
                  <a:srgbClr val="110057"/>
                </a:solidFill>
                <a:latin typeface="Arial"/>
              </a:rPr>
              <a:t>PaCO</a:t>
            </a:r>
            <a:r>
              <a:rPr lang="en-US" sz="1400" baseline="-25000" dirty="0">
                <a:solidFill>
                  <a:srgbClr val="110057"/>
                </a:solidFill>
                <a:latin typeface="Arial"/>
              </a:rPr>
              <a:t>2</a:t>
            </a:r>
            <a:r>
              <a:rPr lang="en-US" sz="1400" dirty="0">
                <a:solidFill>
                  <a:srgbClr val="110057"/>
                </a:solidFill>
                <a:latin typeface="Arial"/>
              </a:rPr>
              <a:t> / 0.8 = 58  →  </a:t>
            </a:r>
            <a:r>
              <a:rPr lang="en-US" sz="1500" b="1" dirty="0">
                <a:solidFill>
                  <a:srgbClr val="FF0044"/>
                </a:solidFill>
                <a:latin typeface="Arial"/>
              </a:rPr>
              <a:t>PaCO</a:t>
            </a:r>
            <a:r>
              <a:rPr lang="en-US" sz="1500" b="1" baseline="-25000" dirty="0">
                <a:solidFill>
                  <a:srgbClr val="FF0044"/>
                </a:solidFill>
                <a:latin typeface="Arial"/>
              </a:rPr>
              <a:t>2</a:t>
            </a:r>
            <a:r>
              <a:rPr lang="en-US" sz="1500" b="1" dirty="0">
                <a:solidFill>
                  <a:srgbClr val="FF0044"/>
                </a:solidFill>
                <a:latin typeface="Arial"/>
              </a:rPr>
              <a:t> = 46.4 mmHg  ≈  ~46 mmHg</a:t>
            </a:r>
          </a:p>
        </p:txBody>
      </p:sp>
      <p:sp>
        <p:nvSpPr>
          <p:cNvPr id="2" name="Rounded Rectangle 1">
            <a:extLst>
              <a:ext uri="{FF2B5EF4-FFF2-40B4-BE49-F238E27FC236}">
                <a16:creationId xmlns:a16="http://schemas.microsoft.com/office/drawing/2014/main" id="{2CCB6C37-3932-5441-8F30-2F8E0AD2564C}"/>
              </a:ext>
            </a:extLst>
          </p:cNvPr>
          <p:cNvSpPr/>
          <p:nvPr/>
        </p:nvSpPr>
        <p:spPr>
          <a:xfrm>
            <a:off x="508000" y="2378283"/>
            <a:ext cx="11176000" cy="1397000"/>
          </a:xfrm>
          <a:prstGeom prst="roundRect">
            <a:avLst/>
          </a:prstGeom>
          <a:solidFill>
            <a:srgbClr val="1100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80DA7436-B4B0-DD41-9321-E2C858762AE0}"/>
              </a:ext>
            </a:extLst>
          </p:cNvPr>
          <p:cNvSpPr txBox="1"/>
          <p:nvPr/>
        </p:nvSpPr>
        <p:spPr>
          <a:xfrm>
            <a:off x="698500" y="2441783"/>
            <a:ext cx="10795000" cy="1270000"/>
          </a:xfrm>
          <a:prstGeom prst="rect">
            <a:avLst/>
          </a:prstGeom>
          <a:noFill/>
        </p:spPr>
        <p:txBody>
          <a:bodyPr vertOverflow="overflow" vert="horz" wrap="square" rtlCol="0" anchor="t">
            <a:noAutofit/>
          </a:bodyPr>
          <a:lstStyle/>
          <a:p>
            <a:pPr>
              <a:buNone/>
            </a:pPr>
            <a:r>
              <a:rPr lang="en-US" sz="1400" b="1" dirty="0">
                <a:solidFill>
                  <a:srgbClr val="FFFFFF"/>
                </a:solidFill>
                <a:latin typeface="Arial"/>
              </a:rPr>
              <a:t>Clinical takeaway:</a:t>
            </a:r>
            <a:r>
              <a:rPr lang="en-US" sz="1400" dirty="0">
                <a:solidFill>
                  <a:srgbClr val="D0C8E0"/>
                </a:solidFill>
                <a:latin typeface="Arial"/>
              </a:rPr>
              <a:t>  At our elevation, even </a:t>
            </a:r>
            <a:r>
              <a:rPr lang="en-US" sz="1400" b="1" dirty="0">
                <a:solidFill>
                  <a:srgbClr val="FF0044"/>
                </a:solidFill>
                <a:latin typeface="Arial"/>
              </a:rPr>
              <a:t>mild elevations</a:t>
            </a:r>
            <a:r>
              <a:rPr lang="en-US" sz="1400" dirty="0">
                <a:solidFill>
                  <a:srgbClr val="D0C8E0"/>
                </a:solidFill>
                <a:latin typeface="Arial"/>
              </a:rPr>
              <a:t> in PaCO</a:t>
            </a:r>
            <a:r>
              <a:rPr lang="en-US" sz="1400" baseline="-25000" dirty="0">
                <a:solidFill>
                  <a:srgbClr val="D0C8E0"/>
                </a:solidFill>
                <a:latin typeface="Arial"/>
              </a:rPr>
              <a:t>2</a:t>
            </a:r>
            <a:r>
              <a:rPr lang="en-US" sz="1400" dirty="0">
                <a:solidFill>
                  <a:srgbClr val="D0C8E0"/>
                </a:solidFill>
                <a:latin typeface="Arial"/>
              </a:rPr>
              <a:t> lead to hypoxemia — regardless of additional lung pathology.</a:t>
            </a:r>
          </a:p>
          <a:p>
            <a:pPr>
              <a:buNone/>
            </a:pPr>
            <a:r>
              <a:rPr lang="en-US" sz="1400" dirty="0">
                <a:solidFill>
                  <a:srgbClr val="D0C8E0"/>
                </a:solidFill>
                <a:latin typeface="Arial"/>
              </a:rPr>
              <a:t>Normal PaCO</a:t>
            </a:r>
            <a:r>
              <a:rPr lang="en-US" sz="1400" baseline="-25000" dirty="0">
                <a:solidFill>
                  <a:srgbClr val="D0C8E0"/>
                </a:solidFill>
                <a:latin typeface="Arial"/>
              </a:rPr>
              <a:t>2</a:t>
            </a:r>
            <a:r>
              <a:rPr lang="en-US" sz="1400" dirty="0">
                <a:solidFill>
                  <a:srgbClr val="D0C8E0"/>
                </a:solidFill>
                <a:latin typeface="Arial"/>
              </a:rPr>
              <a:t> of 40 mmHg sits just 6 mmHg below the 46 mmHg threshold — minimal safety margin at altitude.</a:t>
            </a:r>
          </a:p>
          <a:p>
            <a:pPr algn="r">
              <a:buNone/>
            </a:pPr>
            <a:r>
              <a:rPr lang="en-US" sz="1100" i="1" dirty="0">
                <a:solidFill>
                  <a:srgbClr val="8070A0"/>
                </a:solidFill>
                <a:latin typeface="Arial"/>
              </a:rPr>
              <a:t>Ref: Hendrix JM, Burns B. Alveolar Gas Equation. StatPearls. Updated Sep 11, 2024.</a:t>
            </a:r>
          </a:p>
        </p:txBody>
      </p:sp>
    </p:spTree>
    <p:extLst>
      <p:ext uri="{BB962C8B-B14F-4D97-AF65-F5344CB8AC3E}">
        <p14:creationId xmlns:p14="http://schemas.microsoft.com/office/powerpoint/2010/main" val="2491162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0B2A734-93B2-836E-C4CB-71BD5B1B02E7}"/>
              </a:ext>
            </a:extLst>
          </p:cNvPr>
          <p:cNvGrpSpPr/>
          <p:nvPr/>
        </p:nvGrpSpPr>
        <p:grpSpPr>
          <a:xfrm>
            <a:off x="3009901" y="2345016"/>
            <a:ext cx="8877298" cy="4278205"/>
            <a:chOff x="501048" y="378940"/>
            <a:chExt cx="11386151" cy="6244281"/>
          </a:xfrm>
        </p:grpSpPr>
        <p:graphicFrame>
          <p:nvGraphicFramePr>
            <p:cNvPr id="4" name="Chart 3">
              <a:extLst>
                <a:ext uri="{FF2B5EF4-FFF2-40B4-BE49-F238E27FC236}">
                  <a16:creationId xmlns:a16="http://schemas.microsoft.com/office/drawing/2014/main" id="{57D2B7BE-0FC9-3344-AE58-83AD42304BBF}"/>
                </a:ext>
              </a:extLst>
            </p:cNvPr>
            <p:cNvGraphicFramePr>
              <a:graphicFrameLocks/>
            </p:cNvGraphicFramePr>
            <p:nvPr/>
          </p:nvGraphicFramePr>
          <p:xfrm>
            <a:off x="501048" y="378940"/>
            <a:ext cx="11386151" cy="6244281"/>
          </p:xfrm>
          <a:graphic>
            <a:graphicData uri="http://schemas.openxmlformats.org/drawingml/2006/chart">
              <c:chart xmlns:c="http://schemas.openxmlformats.org/drawingml/2006/chart" xmlns:r="http://schemas.openxmlformats.org/officeDocument/2006/relationships" r:id="rId3"/>
            </a:graphicData>
          </a:graphic>
        </p:graphicFrame>
        <p:cxnSp>
          <p:nvCxnSpPr>
            <p:cNvPr id="3" name="Straight Connector 2">
              <a:extLst>
                <a:ext uri="{FF2B5EF4-FFF2-40B4-BE49-F238E27FC236}">
                  <a16:creationId xmlns:a16="http://schemas.microsoft.com/office/drawing/2014/main" id="{6C092EFC-AFD0-8549-A8FC-13B4E80D8E5C}"/>
                </a:ext>
              </a:extLst>
            </p:cNvPr>
            <p:cNvCxnSpPr>
              <a:cxnSpLocks/>
            </p:cNvCxnSpPr>
            <p:nvPr/>
          </p:nvCxnSpPr>
          <p:spPr>
            <a:xfrm>
              <a:off x="1425388" y="3075797"/>
              <a:ext cx="8027894" cy="0"/>
            </a:xfrm>
            <a:prstGeom prst="line">
              <a:avLst/>
            </a:prstGeom>
            <a:ln w="123825">
              <a:solidFill>
                <a:srgbClr val="FF0000">
                  <a:alpha val="50000"/>
                </a:srgbClr>
              </a:solidFill>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3D3431E3-DD42-86D1-9E1A-98306ED1EA28}"/>
              </a:ext>
            </a:extLst>
          </p:cNvPr>
          <p:cNvSpPr txBox="1"/>
          <p:nvPr/>
        </p:nvSpPr>
        <p:spPr>
          <a:xfrm>
            <a:off x="1435100" y="1556186"/>
            <a:ext cx="9550399" cy="461665"/>
          </a:xfrm>
          <a:prstGeom prst="rect">
            <a:avLst/>
          </a:prstGeom>
          <a:noFill/>
        </p:spPr>
        <p:txBody>
          <a:bodyPr wrap="square">
            <a:spAutoFit/>
          </a:bodyPr>
          <a:lstStyle/>
          <a:p>
            <a:r>
              <a:rPr lang="en-US" sz="2400" dirty="0"/>
              <a:t>P</a:t>
            </a:r>
            <a:r>
              <a:rPr lang="en-US" sz="2400" baseline="-25000" dirty="0"/>
              <a:t>A</a:t>
            </a:r>
            <a:r>
              <a:rPr lang="en-US" sz="2400" dirty="0"/>
              <a:t>O</a:t>
            </a:r>
            <a:r>
              <a:rPr lang="en-US" sz="2400" baseline="-25000" dirty="0"/>
              <a:t>2</a:t>
            </a:r>
            <a:r>
              <a:rPr lang="en-US" sz="2400" dirty="0"/>
              <a:t> = FiO</a:t>
            </a:r>
            <a:r>
              <a:rPr lang="en-US" sz="2400" baseline="-25000" dirty="0"/>
              <a:t>2</a:t>
            </a:r>
            <a:r>
              <a:rPr lang="en-US" sz="2400" dirty="0"/>
              <a:t> (</a:t>
            </a:r>
            <a:r>
              <a:rPr lang="en-US" sz="2400" b="1" i="1" dirty="0"/>
              <a:t>P</a:t>
            </a:r>
            <a:r>
              <a:rPr lang="en-US" sz="2400" b="1" i="1" baseline="-25000" dirty="0"/>
              <a:t>B</a:t>
            </a:r>
            <a:r>
              <a:rPr lang="en-US" sz="2400" dirty="0"/>
              <a:t>-47)—(</a:t>
            </a:r>
            <a:r>
              <a:rPr lang="en-US" sz="2400" b="1" dirty="0"/>
              <a:t>PaCO</a:t>
            </a:r>
            <a:r>
              <a:rPr lang="en-US" sz="2400" b="1" baseline="-25000" dirty="0"/>
              <a:t>2</a:t>
            </a:r>
            <a:r>
              <a:rPr lang="en-US" sz="2400" dirty="0"/>
              <a:t>/</a:t>
            </a:r>
            <a:r>
              <a:rPr lang="en-US" sz="2400" i="1" dirty="0"/>
              <a:t>R)</a:t>
            </a:r>
            <a:r>
              <a:rPr lang="en-US" sz="2400" dirty="0"/>
              <a:t>    </a:t>
            </a:r>
            <a:r>
              <a:rPr lang="en-US" sz="2400" dirty="0">
                <a:sym typeface="Wingdings" pitchFamily="2" charset="2"/>
              </a:rPr>
              <a:t> O</a:t>
            </a:r>
            <a:r>
              <a:rPr lang="en-US" sz="2400" baseline="-25000" dirty="0">
                <a:sym typeface="Wingdings" pitchFamily="2" charset="2"/>
              </a:rPr>
              <a:t>2</a:t>
            </a:r>
            <a:r>
              <a:rPr lang="en-US" sz="2400" dirty="0">
                <a:sym typeface="Wingdings" pitchFamily="2" charset="2"/>
              </a:rPr>
              <a:t> 17.8 mmHg lower at 4500ft</a:t>
            </a:r>
            <a:endParaRPr lang="en-US" sz="2400" dirty="0"/>
          </a:p>
        </p:txBody>
      </p:sp>
      <p:sp>
        <p:nvSpPr>
          <p:cNvPr id="7" name="Title 1">
            <a:extLst>
              <a:ext uri="{FF2B5EF4-FFF2-40B4-BE49-F238E27FC236}">
                <a16:creationId xmlns:a16="http://schemas.microsoft.com/office/drawing/2014/main" id="{C7B14BE4-E361-8BD3-1480-FB6517A6F95F}"/>
              </a:ext>
            </a:extLst>
          </p:cNvPr>
          <p:cNvSpPr>
            <a:spLocks noGrp="1"/>
          </p:cNvSpPr>
          <p:nvPr>
            <p:ph type="title"/>
          </p:nvPr>
        </p:nvSpPr>
        <p:spPr>
          <a:xfrm>
            <a:off x="838200" y="365125"/>
            <a:ext cx="10515600" cy="1325563"/>
          </a:xfrm>
        </p:spPr>
        <p:txBody>
          <a:bodyPr/>
          <a:lstStyle/>
          <a:p>
            <a:r>
              <a:rPr lang="en-US" dirty="0"/>
              <a:t>Hypercapnia in SLC</a:t>
            </a:r>
          </a:p>
        </p:txBody>
      </p:sp>
      <p:sp>
        <p:nvSpPr>
          <p:cNvPr id="8" name="TextBox 7">
            <a:extLst>
              <a:ext uri="{FF2B5EF4-FFF2-40B4-BE49-F238E27FC236}">
                <a16:creationId xmlns:a16="http://schemas.microsoft.com/office/drawing/2014/main" id="{B168D7EC-15F2-E405-EF49-F3480CAD706A}"/>
              </a:ext>
            </a:extLst>
          </p:cNvPr>
          <p:cNvSpPr txBox="1"/>
          <p:nvPr/>
        </p:nvSpPr>
        <p:spPr>
          <a:xfrm>
            <a:off x="406401" y="3708947"/>
            <a:ext cx="2057399" cy="2031325"/>
          </a:xfrm>
          <a:prstGeom prst="rect">
            <a:avLst/>
          </a:prstGeom>
          <a:noFill/>
        </p:spPr>
        <p:txBody>
          <a:bodyPr wrap="square" rtlCol="0">
            <a:spAutoFit/>
          </a:bodyPr>
          <a:lstStyle/>
          <a:p>
            <a:r>
              <a:rPr lang="en-US" dirty="0"/>
              <a:t>SpO2 is routinely obtained in clinical practice, PaCO2 (or TcCO2) is not</a:t>
            </a:r>
          </a:p>
          <a:p>
            <a:endParaRPr lang="en-US" dirty="0"/>
          </a:p>
          <a:p>
            <a:r>
              <a:rPr lang="en-US" dirty="0"/>
              <a:t>SLC </a:t>
            </a:r>
            <a:r>
              <a:rPr lang="en-US" dirty="0">
                <a:sym typeface="Wingdings" pitchFamily="2" charset="2"/>
              </a:rPr>
              <a:t></a:t>
            </a:r>
            <a:r>
              <a:rPr lang="en-US" dirty="0"/>
              <a:t> earlier identification</a:t>
            </a:r>
          </a:p>
        </p:txBody>
      </p:sp>
    </p:spTree>
    <p:extLst>
      <p:ext uri="{BB962C8B-B14F-4D97-AF65-F5344CB8AC3E}">
        <p14:creationId xmlns:p14="http://schemas.microsoft.com/office/powerpoint/2010/main" val="2117086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10057">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02F236-CA52-974E-857A-8951D7CFA0CF}"/>
              </a:ext>
            </a:extLst>
          </p:cNvPr>
          <p:cNvSpPr txBox="1"/>
          <p:nvPr/>
        </p:nvSpPr>
        <p:spPr>
          <a:xfrm>
            <a:off x="762000" y="1016000"/>
            <a:ext cx="2540000" cy="381000"/>
          </a:xfrm>
          <a:prstGeom prst="rect">
            <a:avLst/>
          </a:prstGeom>
          <a:noFill/>
        </p:spPr>
        <p:txBody>
          <a:bodyPr vertOverflow="overflow" vert="horz" wrap="square" rtlCol="0" anchor="t">
            <a:noAutofit/>
          </a:bodyPr>
          <a:lstStyle/>
          <a:p>
            <a:pPr algn="l"/>
            <a:r>
              <a:rPr lang="en-US" sz="1400" b="1">
                <a:solidFill>
                  <a:srgbClr val="0D7377"/>
                </a:solidFill>
                <a:latin typeface="Arial"/>
                <a:cs typeface="Arial"/>
              </a:rPr>
              <a:t>DIAGNOSIS</a:t>
            </a:r>
          </a:p>
        </p:txBody>
      </p:sp>
      <p:sp>
        <p:nvSpPr>
          <p:cNvPr id="3" name="Rectangle 2">
            <a:extLst>
              <a:ext uri="{FF2B5EF4-FFF2-40B4-BE49-F238E27FC236}">
                <a16:creationId xmlns:a16="http://schemas.microsoft.com/office/drawing/2014/main" id="{7218646C-D0F0-6B42-B712-68982F91A328}"/>
              </a:ext>
            </a:extLst>
          </p:cNvPr>
          <p:cNvSpPr/>
          <p:nvPr/>
        </p:nvSpPr>
        <p:spPr>
          <a:xfrm>
            <a:off x="762000" y="1498600"/>
            <a:ext cx="1016000" cy="38100"/>
          </a:xfrm>
          <a:prstGeom prst="rect">
            <a:avLst/>
          </a:prstGeom>
          <a:solidFill>
            <a:srgbClr val="FF004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154FC06F-FFAC-124F-A3C0-B20571FECDA8}"/>
              </a:ext>
            </a:extLst>
          </p:cNvPr>
          <p:cNvSpPr txBox="1"/>
          <p:nvPr/>
        </p:nvSpPr>
        <p:spPr>
          <a:xfrm>
            <a:off x="762000" y="1778000"/>
            <a:ext cx="10668000" cy="1651000"/>
          </a:xfrm>
          <a:prstGeom prst="rect">
            <a:avLst/>
          </a:prstGeom>
          <a:noFill/>
        </p:spPr>
        <p:txBody>
          <a:bodyPr vertOverflow="overflow" vert="horz" wrap="square" rtlCol="0" anchor="t">
            <a:noAutofit/>
          </a:bodyPr>
          <a:lstStyle/>
          <a:p>
            <a:pPr>
              <a:buNone/>
            </a:pPr>
            <a:r>
              <a:rPr lang="en-US" sz="4000" dirty="0">
                <a:solidFill>
                  <a:srgbClr val="FFFFFF"/>
                </a:solidFill>
                <a:latin typeface="Arial"/>
              </a:rPr>
              <a:t>Don’t </a:t>
            </a:r>
            <a:r>
              <a:rPr lang="en-US" sz="4000" b="1" dirty="0">
                <a:solidFill>
                  <a:srgbClr val="FF0044"/>
                </a:solidFill>
                <a:latin typeface="Arial"/>
              </a:rPr>
              <a:t>Miss</a:t>
            </a:r>
            <a:r>
              <a:rPr lang="en-US" sz="4000" dirty="0">
                <a:solidFill>
                  <a:srgbClr val="FFFFFF"/>
                </a:solidFill>
                <a:latin typeface="Arial"/>
              </a:rPr>
              <a:t> It,</a:t>
            </a:r>
          </a:p>
          <a:p>
            <a:pPr>
              <a:buNone/>
            </a:pPr>
            <a:r>
              <a:rPr lang="en-US" sz="4000" dirty="0">
                <a:solidFill>
                  <a:srgbClr val="FFFFFF"/>
                </a:solidFill>
                <a:latin typeface="Arial"/>
              </a:rPr>
              <a:t>Don’t </a:t>
            </a:r>
            <a:r>
              <a:rPr lang="en-US" sz="4000" b="1" dirty="0">
                <a:solidFill>
                  <a:srgbClr val="FF0044"/>
                </a:solidFill>
                <a:latin typeface="Arial"/>
              </a:rPr>
              <a:t>Misattribute</a:t>
            </a:r>
            <a:r>
              <a:rPr lang="en-US" sz="4000" dirty="0">
                <a:solidFill>
                  <a:srgbClr val="FFFFFF"/>
                </a:solidFill>
                <a:latin typeface="Arial"/>
              </a:rPr>
              <a:t> It</a:t>
            </a:r>
          </a:p>
        </p:txBody>
      </p:sp>
      <p:sp>
        <p:nvSpPr>
          <p:cNvPr id="5" name="TextBox 4">
            <a:extLst>
              <a:ext uri="{FF2B5EF4-FFF2-40B4-BE49-F238E27FC236}">
                <a16:creationId xmlns:a16="http://schemas.microsoft.com/office/drawing/2014/main" id="{66B47533-A66F-694C-B40A-C54F5F4DC88E}"/>
              </a:ext>
            </a:extLst>
          </p:cNvPr>
          <p:cNvSpPr txBox="1"/>
          <p:nvPr/>
        </p:nvSpPr>
        <p:spPr>
          <a:xfrm>
            <a:off x="762000" y="3937000"/>
            <a:ext cx="10668000" cy="1524000"/>
          </a:xfrm>
          <a:prstGeom prst="rect">
            <a:avLst/>
          </a:prstGeom>
          <a:noFill/>
        </p:spPr>
        <p:txBody>
          <a:bodyPr vertOverflow="overflow" vert="horz" wrap="square" rtlCol="0" anchor="t">
            <a:noAutofit/>
          </a:bodyPr>
          <a:lstStyle/>
          <a:p>
            <a:pPr>
              <a:buNone/>
            </a:pPr>
            <a:r>
              <a:rPr lang="en-US" sz="1800" b="1" dirty="0">
                <a:solidFill>
                  <a:srgbClr val="0D7377"/>
                </a:solidFill>
                <a:latin typeface="Arial"/>
              </a:rPr>
              <a:t>1 </a:t>
            </a:r>
            <a:r>
              <a:rPr lang="en-US" sz="1800" dirty="0">
                <a:solidFill>
                  <a:srgbClr val="D0C8E0"/>
                </a:solidFill>
                <a:latin typeface="Arial"/>
              </a:rPr>
              <a:t>  Hypercapnia hides behind hypoxemia — especially at our elevation</a:t>
            </a:r>
          </a:p>
          <a:p>
            <a:pPr>
              <a:buNone/>
            </a:pPr>
            <a:r>
              <a:rPr lang="en-US" sz="1800" b="1" dirty="0">
                <a:solidFill>
                  <a:srgbClr val="0D7377"/>
                </a:solidFill>
                <a:latin typeface="Arial"/>
              </a:rPr>
              <a:t>2 </a:t>
            </a:r>
            <a:r>
              <a:rPr lang="en-US" sz="1800" dirty="0">
                <a:solidFill>
                  <a:srgbClr val="D0C8E0"/>
                </a:solidFill>
                <a:latin typeface="Arial"/>
              </a:rPr>
              <a:t>  “COPD” and “asthma” labels are often wrong — verify before you trust</a:t>
            </a:r>
          </a:p>
        </p:txBody>
      </p:sp>
    </p:spTree>
    <p:extLst>
      <p:ext uri="{BB962C8B-B14F-4D97-AF65-F5344CB8AC3E}">
        <p14:creationId xmlns:p14="http://schemas.microsoft.com/office/powerpoint/2010/main" val="254501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B96EC-2F6D-B68D-0846-D17C649D59E9}"/>
              </a:ext>
            </a:extLst>
          </p:cNvPr>
          <p:cNvSpPr>
            <a:spLocks noGrp="1"/>
          </p:cNvSpPr>
          <p:nvPr>
            <p:ph type="title"/>
          </p:nvPr>
        </p:nvSpPr>
        <p:spPr/>
        <p:txBody>
          <a:bodyPr>
            <a:normAutofit/>
          </a:bodyPr>
          <a:lstStyle/>
          <a:p>
            <a:r>
              <a:rPr lang="en-US" sz="3200">
                <a:solidFill>
                  <a:srgbClr val="110057"/>
                </a:solidFill>
                <a:latin typeface="Arial"/>
                <a:cs typeface="Arial"/>
              </a:rPr>
              <a:t>What Is Hypercapnic Respiratory Failure?</a:t>
            </a:r>
          </a:p>
        </p:txBody>
      </p:sp>
      <p:sp>
        <p:nvSpPr>
          <p:cNvPr id="3" name="Content Placeholder 2">
            <a:extLst>
              <a:ext uri="{FF2B5EF4-FFF2-40B4-BE49-F238E27FC236}">
                <a16:creationId xmlns:a16="http://schemas.microsoft.com/office/drawing/2014/main" id="{1F831E1A-EDAD-F0F9-2CBA-0BDD940B7500}"/>
              </a:ext>
            </a:extLst>
          </p:cNvPr>
          <p:cNvSpPr>
            <a:spLocks noGrp="1"/>
          </p:cNvSpPr>
          <p:nvPr>
            <p:ph idx="1"/>
          </p:nvPr>
        </p:nvSpPr>
        <p:spPr/>
        <p:txBody>
          <a:bodyPr>
            <a:normAutofit fontScale="92500" lnSpcReduction="10000"/>
          </a:bodyPr>
          <a:lstStyle/>
          <a:p>
            <a:pPr marL="0" indent="0">
              <a:buNone/>
            </a:pPr>
            <a:r>
              <a:rPr lang="en-US" sz="2200" b="1" dirty="0">
                <a:latin typeface="Arial"/>
                <a:cs typeface="Arial"/>
              </a:rPr>
              <a:t>Hypercapnia</a:t>
            </a:r>
            <a:r>
              <a:rPr lang="en-US" sz="2200" dirty="0">
                <a:latin typeface="Arial"/>
                <a:cs typeface="Arial"/>
              </a:rPr>
              <a:t> = PaCO</a:t>
            </a:r>
            <a:r>
              <a:rPr lang="en-US" sz="2200" baseline="-25000" dirty="0">
                <a:latin typeface="Arial"/>
                <a:cs typeface="Arial"/>
              </a:rPr>
              <a:t>2</a:t>
            </a:r>
            <a:r>
              <a:rPr lang="en-US" sz="2200" dirty="0">
                <a:latin typeface="Arial"/>
                <a:cs typeface="Arial"/>
              </a:rPr>
              <a:t> above expected range</a:t>
            </a:r>
          </a:p>
          <a:p>
            <a:r>
              <a:rPr lang="en-US" sz="2200" dirty="0">
                <a:latin typeface="Arial"/>
                <a:cs typeface="Arial"/>
              </a:rPr>
              <a:t>≥ 45 mmHg at sea level</a:t>
            </a:r>
          </a:p>
          <a:p>
            <a:r>
              <a:rPr lang="en-US" sz="2200" dirty="0">
                <a:latin typeface="Arial"/>
                <a:cs typeface="Arial"/>
              </a:rPr>
              <a:t>≥ 41–42 mmHg in Salt Lake City (elevation matters! Insurers don’t know this though)</a:t>
            </a:r>
          </a:p>
          <a:p>
            <a:pPr marL="0" indent="0">
              <a:buNone/>
            </a:pPr>
            <a:endParaRPr lang="en-US" sz="1400" dirty="0">
              <a:latin typeface="Arial"/>
              <a:cs typeface="Arial"/>
            </a:endParaRPr>
          </a:p>
          <a:p>
            <a:pPr marL="0" indent="0">
              <a:buNone/>
            </a:pPr>
            <a:r>
              <a:rPr lang="en-US" sz="2200" b="1" dirty="0">
                <a:latin typeface="Arial"/>
                <a:cs typeface="Arial"/>
              </a:rPr>
              <a:t>Respiratory failure</a:t>
            </a:r>
            <a:r>
              <a:rPr lang="en-US" sz="2200" dirty="0">
                <a:latin typeface="Arial"/>
                <a:cs typeface="Arial"/>
              </a:rPr>
              <a:t> = failed homeostasis, not just a lab value</a:t>
            </a:r>
          </a:p>
          <a:p>
            <a:r>
              <a:rPr lang="en-US" sz="2200" dirty="0">
                <a:latin typeface="Arial"/>
                <a:cs typeface="Arial"/>
              </a:rPr>
              <a:t>Not explained by metabolic alkalosis (that's respiratory </a:t>
            </a:r>
            <a:r>
              <a:rPr lang="en-US" sz="2200" i="1" dirty="0">
                <a:latin typeface="Arial"/>
                <a:cs typeface="Arial"/>
              </a:rPr>
              <a:t>compensation</a:t>
            </a:r>
            <a:r>
              <a:rPr lang="en-US" sz="2200" dirty="0">
                <a:latin typeface="Arial"/>
                <a:cs typeface="Arial"/>
              </a:rPr>
              <a:t>, not failure)</a:t>
            </a:r>
          </a:p>
          <a:p>
            <a:pPr marL="0" indent="0">
              <a:buNone/>
            </a:pPr>
            <a:endParaRPr lang="en-US" sz="1400" dirty="0">
              <a:latin typeface="Arial"/>
              <a:cs typeface="Arial"/>
            </a:endParaRPr>
          </a:p>
          <a:p>
            <a:pPr marL="0" indent="0">
              <a:buNone/>
            </a:pPr>
            <a:r>
              <a:rPr lang="en-US" sz="2200" b="1" dirty="0">
                <a:latin typeface="Arial"/>
                <a:cs typeface="Arial"/>
              </a:rPr>
              <a:t>Key clinical point:</a:t>
            </a:r>
          </a:p>
          <a:p>
            <a:pPr marL="0" indent="0">
              <a:buNone/>
            </a:pPr>
            <a:r>
              <a:rPr lang="en-US" sz="2200" dirty="0">
                <a:latin typeface="Arial"/>
                <a:cs typeface="Arial"/>
              </a:rPr>
              <a:t>At our elevation, hypercapnia often presents as </a:t>
            </a:r>
            <a:r>
              <a:rPr lang="en-US" sz="2200" b="1" dirty="0">
                <a:latin typeface="Arial"/>
                <a:cs typeface="Arial"/>
              </a:rPr>
              <a:t>hypoxemia even with a normal A-a gradient</a:t>
            </a:r>
          </a:p>
          <a:p>
            <a:pPr marL="0" indent="0">
              <a:buNone/>
            </a:pPr>
            <a:r>
              <a:rPr lang="en-US" sz="2200" dirty="0">
                <a:latin typeface="Arial"/>
                <a:cs typeface="Arial"/>
              </a:rPr>
              <a:t>Someone severely hypercapnic will not be on room air at our elevation</a:t>
            </a:r>
          </a:p>
          <a:p>
            <a:pPr marL="0" indent="0">
              <a:buNone/>
            </a:pPr>
            <a:r>
              <a:rPr lang="en-US" sz="2200" dirty="0">
                <a:latin typeface="Arial"/>
                <a:cs typeface="Arial"/>
              </a:rPr>
              <a:t>Obesity → atelectasis → shunting → can produce significant hypoxemia in decompensation</a:t>
            </a:r>
          </a:p>
        </p:txBody>
      </p:sp>
      <p:sp>
        <p:nvSpPr>
          <p:cNvPr id="5" name="Rectangle 4">
            <a:extLst>
              <a:ext uri="{FF2B5EF4-FFF2-40B4-BE49-F238E27FC236}">
                <a16:creationId xmlns:a16="http://schemas.microsoft.com/office/drawing/2014/main" id="{67868893-1AF9-E541-A80A-150294909FC2}"/>
              </a:ext>
            </a:extLst>
          </p:cNvPr>
          <p:cNvSpPr/>
          <p:nvPr/>
        </p:nvSpPr>
        <p:spPr>
          <a:xfrm>
            <a:off x="838200" y="1689100"/>
            <a:ext cx="1524000" cy="38100"/>
          </a:xfrm>
          <a:prstGeom prst="rect">
            <a:avLst/>
          </a:prstGeom>
          <a:solidFill>
            <a:srgbClr val="FBAE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966687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59F75-7B28-CF29-A795-AEB96034A8FB}"/>
              </a:ext>
            </a:extLst>
          </p:cNvPr>
          <p:cNvSpPr>
            <a:spLocks noGrp="1"/>
          </p:cNvSpPr>
          <p:nvPr>
            <p:ph type="title"/>
          </p:nvPr>
        </p:nvSpPr>
        <p:spPr/>
        <p:txBody>
          <a:bodyPr/>
          <a:lstStyle/>
          <a:p>
            <a:r>
              <a:rPr lang="en-US" dirty="0"/>
              <a:t>However, it’s often not just hypercapnia</a:t>
            </a:r>
          </a:p>
        </p:txBody>
      </p:sp>
      <p:sp>
        <p:nvSpPr>
          <p:cNvPr id="3" name="Content Placeholder 2">
            <a:extLst>
              <a:ext uri="{FF2B5EF4-FFF2-40B4-BE49-F238E27FC236}">
                <a16:creationId xmlns:a16="http://schemas.microsoft.com/office/drawing/2014/main" id="{010ECCD4-0FFD-5FEF-F67A-003328FF66F6}"/>
              </a:ext>
            </a:extLst>
          </p:cNvPr>
          <p:cNvSpPr>
            <a:spLocks noGrp="1"/>
          </p:cNvSpPr>
          <p:nvPr>
            <p:ph idx="1"/>
          </p:nvPr>
        </p:nvSpPr>
        <p:spPr/>
        <p:txBody>
          <a:bodyPr/>
          <a:lstStyle/>
          <a:p>
            <a:r>
              <a:rPr lang="en-US" dirty="0"/>
              <a:t>LLL (and RLL) CXR atelectasis is very common amongst obese patients – almost looks normal but can shunt a lot of blood, especially when there is abdominal adiposity</a:t>
            </a:r>
          </a:p>
        </p:txBody>
      </p:sp>
      <p:pic>
        <p:nvPicPr>
          <p:cNvPr id="1026" name="Picture 2">
            <a:extLst>
              <a:ext uri="{FF2B5EF4-FFF2-40B4-BE49-F238E27FC236}">
                <a16:creationId xmlns:a16="http://schemas.microsoft.com/office/drawing/2014/main" id="{7113FB95-F6FC-44CE-02D0-21AF5A2615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1360657"/>
            <a:ext cx="6844145" cy="5132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5657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10057">
            <a:alpha val="100000"/>
          </a:srgb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2481FE0-EE95-AA4C-9324-0CE3BF15B172}"/>
              </a:ext>
            </a:extLst>
          </p:cNvPr>
          <p:cNvSpPr txBox="1"/>
          <p:nvPr/>
        </p:nvSpPr>
        <p:spPr>
          <a:xfrm>
            <a:off x="762000" y="1270000"/>
            <a:ext cx="5080000" cy="381000"/>
          </a:xfrm>
          <a:prstGeom prst="rect">
            <a:avLst/>
          </a:prstGeom>
          <a:noFill/>
        </p:spPr>
        <p:txBody>
          <a:bodyPr vertOverflow="overflow" vert="horz" wrap="square" rtlCol="0" anchor="t">
            <a:noAutofit/>
          </a:bodyPr>
          <a:lstStyle/>
          <a:p>
            <a:pPr algn="l"/>
            <a:r>
              <a:rPr lang="en-US" sz="1400" b="1">
                <a:solidFill>
                  <a:srgbClr val="0D7377"/>
                </a:solidFill>
                <a:latin typeface="Arial"/>
                <a:cs typeface="Arial"/>
              </a:rPr>
              <a:t>DIAGNOSIS  ›  Goal 2</a:t>
            </a:r>
          </a:p>
        </p:txBody>
      </p:sp>
      <p:sp>
        <p:nvSpPr>
          <p:cNvPr id="5" name="Rectangle 4">
            <a:extLst>
              <a:ext uri="{FF2B5EF4-FFF2-40B4-BE49-F238E27FC236}">
                <a16:creationId xmlns:a16="http://schemas.microsoft.com/office/drawing/2014/main" id="{2D870888-5D45-394C-8F27-D1A6D6DFF965}"/>
              </a:ext>
            </a:extLst>
          </p:cNvPr>
          <p:cNvSpPr/>
          <p:nvPr/>
        </p:nvSpPr>
        <p:spPr>
          <a:xfrm>
            <a:off x="762000" y="1752600"/>
            <a:ext cx="1016000" cy="38100"/>
          </a:xfrm>
          <a:prstGeom prst="rect">
            <a:avLst/>
          </a:prstGeom>
          <a:solidFill>
            <a:srgbClr val="FF004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5A0627EC-DA8D-FD4E-8AF6-B6AF73B41BC6}"/>
              </a:ext>
            </a:extLst>
          </p:cNvPr>
          <p:cNvSpPr txBox="1"/>
          <p:nvPr/>
        </p:nvSpPr>
        <p:spPr>
          <a:xfrm>
            <a:off x="762000" y="2032000"/>
            <a:ext cx="10668000" cy="1270000"/>
          </a:xfrm>
          <a:prstGeom prst="rect">
            <a:avLst/>
          </a:prstGeom>
          <a:noFill/>
        </p:spPr>
        <p:txBody>
          <a:bodyPr vertOverflow="overflow" vert="horz" wrap="square" rtlCol="0" anchor="t">
            <a:noAutofit/>
          </a:bodyPr>
          <a:lstStyle/>
          <a:p>
            <a:pPr>
              <a:buNone/>
            </a:pPr>
            <a:r>
              <a:rPr lang="en-US" sz="3600" dirty="0">
                <a:solidFill>
                  <a:srgbClr val="FFFFFF"/>
                </a:solidFill>
                <a:latin typeface="Arial"/>
              </a:rPr>
              <a:t>Don’t </a:t>
            </a:r>
            <a:r>
              <a:rPr lang="en-US" sz="3600" b="1" dirty="0">
                <a:solidFill>
                  <a:srgbClr val="FF0044"/>
                </a:solidFill>
                <a:latin typeface="Arial"/>
              </a:rPr>
              <a:t>Misattribute</a:t>
            </a:r>
            <a:r>
              <a:rPr lang="en-US" sz="3600" dirty="0">
                <a:solidFill>
                  <a:srgbClr val="FFFFFF"/>
                </a:solidFill>
                <a:latin typeface="Arial"/>
              </a:rPr>
              <a:t> Hypercapnia</a:t>
            </a:r>
          </a:p>
        </p:txBody>
      </p:sp>
      <p:sp>
        <p:nvSpPr>
          <p:cNvPr id="7" name="TextBox 6">
            <a:extLst>
              <a:ext uri="{FF2B5EF4-FFF2-40B4-BE49-F238E27FC236}">
                <a16:creationId xmlns:a16="http://schemas.microsoft.com/office/drawing/2014/main" id="{9406D016-0BAB-A747-BD5A-83C44A5A1BAB}"/>
              </a:ext>
            </a:extLst>
          </p:cNvPr>
          <p:cNvSpPr txBox="1"/>
          <p:nvPr/>
        </p:nvSpPr>
        <p:spPr>
          <a:xfrm>
            <a:off x="762000" y="3683000"/>
            <a:ext cx="10668000" cy="1016000"/>
          </a:xfrm>
          <a:prstGeom prst="rect">
            <a:avLst/>
          </a:prstGeom>
          <a:noFill/>
        </p:spPr>
        <p:txBody>
          <a:bodyPr vertOverflow="overflow" vert="horz" wrap="square" rtlCol="0" anchor="t">
            <a:noAutofit/>
          </a:bodyPr>
          <a:lstStyle/>
          <a:p>
            <a:pPr>
              <a:buNone/>
            </a:pPr>
            <a:r>
              <a:rPr lang="en-US" sz="1800" dirty="0">
                <a:solidFill>
                  <a:srgbClr val="D0C8E0"/>
                </a:solidFill>
                <a:latin typeface="Arial"/>
              </a:rPr>
              <a:t>Missed diagnoses of “COPD” and “asthma” are common.</a:t>
            </a:r>
          </a:p>
          <a:p>
            <a:pPr>
              <a:buNone/>
            </a:pPr>
            <a:r>
              <a:rPr lang="en-US" sz="1800" dirty="0">
                <a:solidFill>
                  <a:srgbClr val="D0C8E0"/>
                </a:solidFill>
                <a:latin typeface="Arial"/>
              </a:rPr>
              <a:t>Most pre-existing diagnoses are inaccurate — only trust what you can </a:t>
            </a:r>
            <a:r>
              <a:rPr lang="en-US" sz="1800" b="1" dirty="0">
                <a:solidFill>
                  <a:srgbClr val="FFFFFF"/>
                </a:solidFill>
                <a:latin typeface="Arial"/>
              </a:rPr>
              <a:t>verify</a:t>
            </a:r>
            <a:r>
              <a:rPr lang="en-US" sz="1800" dirty="0">
                <a:solidFill>
                  <a:srgbClr val="D0C8E0"/>
                </a:solidFill>
                <a:latin typeface="Arial"/>
              </a:rPr>
              <a:t>.</a:t>
            </a:r>
          </a:p>
        </p:txBody>
      </p:sp>
      <p:sp>
        <p:nvSpPr>
          <p:cNvPr id="8" name="TextBox 7">
            <a:extLst>
              <a:ext uri="{FF2B5EF4-FFF2-40B4-BE49-F238E27FC236}">
                <a16:creationId xmlns:a16="http://schemas.microsoft.com/office/drawing/2014/main" id="{408FD6E5-8058-4748-8C2A-C07022DFFCCD}"/>
              </a:ext>
            </a:extLst>
          </p:cNvPr>
          <p:cNvSpPr txBox="1"/>
          <p:nvPr/>
        </p:nvSpPr>
        <p:spPr>
          <a:xfrm>
            <a:off x="762000" y="5080000"/>
            <a:ext cx="7620000" cy="762000"/>
          </a:xfrm>
          <a:prstGeom prst="rect">
            <a:avLst/>
          </a:prstGeom>
          <a:noFill/>
        </p:spPr>
        <p:txBody>
          <a:bodyPr vertOverflow="overflow" vert="horz" wrap="square" rtlCol="0" anchor="t">
            <a:noAutofit/>
          </a:bodyPr>
          <a:lstStyle/>
          <a:p>
            <a:pPr>
              <a:buNone/>
            </a:pPr>
            <a:r>
              <a:rPr lang="en-US" sz="1400" dirty="0">
                <a:solidFill>
                  <a:srgbClr val="0D7377"/>
                </a:solidFill>
                <a:latin typeface="Arial"/>
              </a:rPr>
              <a:t>✓  Goal 1: Don’t miss hypercapnia</a:t>
            </a:r>
          </a:p>
        </p:txBody>
      </p:sp>
    </p:spTree>
    <p:extLst>
      <p:ext uri="{BB962C8B-B14F-4D97-AF65-F5344CB8AC3E}">
        <p14:creationId xmlns:p14="http://schemas.microsoft.com/office/powerpoint/2010/main" val="22095765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7499E-3E48-7639-74A1-466336548C1F}"/>
              </a:ext>
            </a:extLst>
          </p:cNvPr>
          <p:cNvSpPr>
            <a:spLocks noGrp="1"/>
          </p:cNvSpPr>
          <p:nvPr>
            <p:ph type="title"/>
          </p:nvPr>
        </p:nvSpPr>
        <p:spPr/>
        <p:txBody>
          <a:bodyPr>
            <a:normAutofit/>
          </a:bodyPr>
          <a:lstStyle/>
          <a:p>
            <a:r>
              <a:rPr lang="en-US" sz="3200">
                <a:solidFill>
                  <a:srgbClr val="110057"/>
                </a:solidFill>
                <a:latin typeface="Arial"/>
                <a:cs typeface="Arial"/>
              </a:rPr>
              <a:t>Misdiagnosis Pitfalls in Obese Patients</a:t>
            </a:r>
          </a:p>
        </p:txBody>
      </p:sp>
      <p:sp>
        <p:nvSpPr>
          <p:cNvPr id="3" name="Content Placeholder 2">
            <a:extLst>
              <a:ext uri="{FF2B5EF4-FFF2-40B4-BE49-F238E27FC236}">
                <a16:creationId xmlns:a16="http://schemas.microsoft.com/office/drawing/2014/main" id="{CCF0D0AB-A0D4-0BC5-2B19-F41F3AC26002}"/>
              </a:ext>
            </a:extLst>
          </p:cNvPr>
          <p:cNvSpPr>
            <a:spLocks noGrp="1"/>
          </p:cNvSpPr>
          <p:nvPr>
            <p:ph idx="1"/>
          </p:nvPr>
        </p:nvSpPr>
        <p:spPr/>
        <p:txBody>
          <a:bodyPr>
            <a:normAutofit/>
          </a:bodyPr>
          <a:lstStyle/>
          <a:p>
            <a:pPr marL="0" indent="0">
              <a:buNone/>
            </a:pPr>
            <a:r>
              <a:rPr lang="en-US" sz="2200" b="1" dirty="0">
                <a:latin typeface="Arial"/>
                <a:cs typeface="Arial"/>
              </a:rPr>
              <a:t>"Asthma" in the obese patient</a:t>
            </a:r>
          </a:p>
          <a:p>
            <a:r>
              <a:rPr lang="en-US" sz="2000" dirty="0">
                <a:latin typeface="Arial"/>
                <a:cs typeface="Arial"/>
              </a:rPr>
              <a:t>Dyspnea + wheeze + obesity ≠ asthma</a:t>
            </a:r>
          </a:p>
          <a:p>
            <a:r>
              <a:rPr lang="en-US" sz="2000" dirty="0">
                <a:latin typeface="Arial"/>
                <a:cs typeface="Arial"/>
              </a:rPr>
              <a:t>Many never had PFTs — β-agonists and steroids prescribed empirically</a:t>
            </a:r>
          </a:p>
          <a:p>
            <a:r>
              <a:rPr lang="en-US" sz="2000" dirty="0">
                <a:latin typeface="Arial"/>
                <a:cs typeface="Arial"/>
              </a:rPr>
              <a:t>Steroids → weight gain → worsened respiratory failure</a:t>
            </a:r>
          </a:p>
          <a:p>
            <a:pPr marL="0" indent="0">
              <a:buNone/>
            </a:pPr>
            <a:endParaRPr lang="en-US" sz="1400" dirty="0">
              <a:latin typeface="Arial"/>
              <a:cs typeface="Arial"/>
            </a:endParaRPr>
          </a:p>
          <a:p>
            <a:pPr marL="0" indent="0">
              <a:buNone/>
            </a:pPr>
            <a:r>
              <a:rPr lang="en-US" sz="2200" b="1" dirty="0">
                <a:latin typeface="Arial"/>
                <a:cs typeface="Arial"/>
              </a:rPr>
              <a:t>"COPD" in the obese patient</a:t>
            </a:r>
          </a:p>
          <a:p>
            <a:r>
              <a:rPr lang="en-US" sz="2000" dirty="0">
                <a:latin typeface="Arial"/>
                <a:cs typeface="Arial"/>
              </a:rPr>
              <a:t>Low FEV1 in obesity ≠ obstruction — often restriction from body habitus</a:t>
            </a:r>
          </a:p>
          <a:p>
            <a:r>
              <a:rPr lang="en-US" sz="2000" dirty="0">
                <a:latin typeface="Arial"/>
                <a:cs typeface="Arial"/>
              </a:rPr>
              <a:t>FEV1/FVC ratio may be preserved or elevated</a:t>
            </a:r>
          </a:p>
          <a:p>
            <a:r>
              <a:rPr lang="en-US" sz="2000" dirty="0">
                <a:latin typeface="Arial"/>
                <a:cs typeface="Arial"/>
              </a:rPr>
              <a:t>Labeled "COPD" → unnecessary inhalers, missed sleep eval</a:t>
            </a:r>
          </a:p>
        </p:txBody>
      </p:sp>
      <p:sp>
        <p:nvSpPr>
          <p:cNvPr id="5" name="Rectangle 4">
            <a:extLst>
              <a:ext uri="{FF2B5EF4-FFF2-40B4-BE49-F238E27FC236}">
                <a16:creationId xmlns:a16="http://schemas.microsoft.com/office/drawing/2014/main" id="{E6ED4955-D15D-F948-B47C-48B20323DC5F}"/>
              </a:ext>
            </a:extLst>
          </p:cNvPr>
          <p:cNvSpPr/>
          <p:nvPr/>
        </p:nvSpPr>
        <p:spPr>
          <a:xfrm>
            <a:off x="838200" y="1689100"/>
            <a:ext cx="1524000" cy="38100"/>
          </a:xfrm>
          <a:prstGeom prst="rect">
            <a:avLst/>
          </a:prstGeom>
          <a:solidFill>
            <a:srgbClr val="FBAE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429175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10057">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E2E9DB-F98D-534F-9FAB-EEAE78DA6FA6}"/>
              </a:ext>
            </a:extLst>
          </p:cNvPr>
          <p:cNvSpPr txBox="1"/>
          <p:nvPr/>
        </p:nvSpPr>
        <p:spPr>
          <a:xfrm>
            <a:off x="762000" y="762000"/>
            <a:ext cx="5080000" cy="381000"/>
          </a:xfrm>
          <a:prstGeom prst="rect">
            <a:avLst/>
          </a:prstGeom>
          <a:noFill/>
        </p:spPr>
        <p:txBody>
          <a:bodyPr vertOverflow="overflow" vert="horz" wrap="square" rtlCol="0" anchor="t">
            <a:noAutofit/>
          </a:bodyPr>
          <a:lstStyle/>
          <a:p>
            <a:pPr algn="l"/>
            <a:r>
              <a:rPr lang="en-US" sz="1400" b="1">
                <a:solidFill>
                  <a:srgbClr val="0D7377"/>
                </a:solidFill>
                <a:latin typeface="Arial"/>
                <a:cs typeface="Arial"/>
              </a:rPr>
              <a:t>DIAGNOSIS  ›  Recap</a:t>
            </a:r>
          </a:p>
        </p:txBody>
      </p:sp>
      <p:sp>
        <p:nvSpPr>
          <p:cNvPr id="3" name="Rectangle 2">
            <a:extLst>
              <a:ext uri="{FF2B5EF4-FFF2-40B4-BE49-F238E27FC236}">
                <a16:creationId xmlns:a16="http://schemas.microsoft.com/office/drawing/2014/main" id="{2D0AA241-74FE-1744-8B63-C18D313DE6C3}"/>
              </a:ext>
            </a:extLst>
          </p:cNvPr>
          <p:cNvSpPr/>
          <p:nvPr/>
        </p:nvSpPr>
        <p:spPr>
          <a:xfrm>
            <a:off x="762000" y="1244600"/>
            <a:ext cx="1016000" cy="38100"/>
          </a:xfrm>
          <a:prstGeom prst="rect">
            <a:avLst/>
          </a:prstGeom>
          <a:solidFill>
            <a:srgbClr val="FF004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474C78F1-5D77-7545-8425-E3B099E19608}"/>
              </a:ext>
            </a:extLst>
          </p:cNvPr>
          <p:cNvSpPr txBox="1"/>
          <p:nvPr/>
        </p:nvSpPr>
        <p:spPr>
          <a:xfrm>
            <a:off x="762000" y="1524000"/>
            <a:ext cx="10668000" cy="2540000"/>
          </a:xfrm>
          <a:prstGeom prst="rect">
            <a:avLst/>
          </a:prstGeom>
          <a:noFill/>
        </p:spPr>
        <p:txBody>
          <a:bodyPr vertOverflow="overflow" vert="horz" wrap="square" rtlCol="0" anchor="t">
            <a:noAutofit/>
          </a:bodyPr>
          <a:lstStyle/>
          <a:p>
            <a:pPr>
              <a:buNone/>
            </a:pPr>
            <a:r>
              <a:rPr lang="en-US" sz="2400" b="1" dirty="0">
                <a:solidFill>
                  <a:srgbClr val="0D7377"/>
                </a:solidFill>
                <a:latin typeface="Arial"/>
              </a:rPr>
              <a:t>✓</a:t>
            </a:r>
            <a:r>
              <a:rPr lang="en-US" sz="2400" dirty="0">
                <a:solidFill>
                  <a:srgbClr val="FFFFFF"/>
                </a:solidFill>
                <a:latin typeface="Arial"/>
              </a:rPr>
              <a:t>  Don’t </a:t>
            </a:r>
            <a:r>
              <a:rPr lang="en-US" sz="2400" b="1" dirty="0">
                <a:solidFill>
                  <a:srgbClr val="FF0044"/>
                </a:solidFill>
                <a:latin typeface="Arial"/>
              </a:rPr>
              <a:t>miss</a:t>
            </a:r>
            <a:r>
              <a:rPr lang="en-US" sz="2400" dirty="0">
                <a:solidFill>
                  <a:srgbClr val="FFFFFF"/>
                </a:solidFill>
                <a:latin typeface="Arial"/>
              </a:rPr>
              <a:t> hypercapnia</a:t>
            </a:r>
          </a:p>
          <a:p>
            <a:pPr marL="342900">
              <a:buNone/>
            </a:pPr>
            <a:r>
              <a:rPr lang="en-US" sz="1500" dirty="0">
                <a:solidFill>
                  <a:srgbClr val="D0C8E0"/>
                </a:solidFill>
                <a:latin typeface="Arial"/>
              </a:rPr>
              <a:t>At SLC elevation, even mild PaCO</a:t>
            </a:r>
            <a:r>
              <a:rPr lang="en-US" sz="1500" baseline="-25000" dirty="0">
                <a:solidFill>
                  <a:srgbClr val="D0C8E0"/>
                </a:solidFill>
                <a:latin typeface="Arial"/>
              </a:rPr>
              <a:t>2</a:t>
            </a:r>
            <a:r>
              <a:rPr lang="en-US" sz="1500" dirty="0">
                <a:solidFill>
                  <a:srgbClr val="D0C8E0"/>
                </a:solidFill>
                <a:latin typeface="Arial"/>
              </a:rPr>
              <a:t> elevation → hypoxemia. Atelectasis adds shunting on top.</a:t>
            </a:r>
          </a:p>
          <a:p>
            <a:pPr>
              <a:buNone/>
            </a:pPr>
            <a:r>
              <a:rPr lang="en-US" sz="2400" b="1" dirty="0">
                <a:solidFill>
                  <a:srgbClr val="0D7377"/>
                </a:solidFill>
                <a:latin typeface="Arial"/>
              </a:rPr>
              <a:t>✓</a:t>
            </a:r>
            <a:r>
              <a:rPr lang="en-US" sz="2400" dirty="0">
                <a:solidFill>
                  <a:srgbClr val="FFFFFF"/>
                </a:solidFill>
                <a:latin typeface="Arial"/>
              </a:rPr>
              <a:t>  Don’t </a:t>
            </a:r>
            <a:r>
              <a:rPr lang="en-US" sz="2400" b="1" dirty="0">
                <a:solidFill>
                  <a:srgbClr val="FF0044"/>
                </a:solidFill>
                <a:latin typeface="Arial"/>
              </a:rPr>
              <a:t>misattribute</a:t>
            </a:r>
            <a:r>
              <a:rPr lang="en-US" sz="2400" dirty="0">
                <a:solidFill>
                  <a:srgbClr val="FFFFFF"/>
                </a:solidFill>
                <a:latin typeface="Arial"/>
              </a:rPr>
              <a:t> hypercapnia</a:t>
            </a:r>
          </a:p>
          <a:p>
            <a:pPr marL="342900">
              <a:buNone/>
            </a:pPr>
            <a:r>
              <a:rPr lang="en-US" sz="1500" dirty="0">
                <a:solidFill>
                  <a:srgbClr val="D0C8E0"/>
                </a:solidFill>
                <a:latin typeface="Arial"/>
              </a:rPr>
              <a:t>“COPD” and “asthma” labels in obese patients are often wrong. Verify with PFTs, not empiric treatment.</a:t>
            </a:r>
          </a:p>
        </p:txBody>
      </p:sp>
      <p:sp>
        <p:nvSpPr>
          <p:cNvPr id="5" name="TextBox 4">
            <a:extLst>
              <a:ext uri="{FF2B5EF4-FFF2-40B4-BE49-F238E27FC236}">
                <a16:creationId xmlns:a16="http://schemas.microsoft.com/office/drawing/2014/main" id="{416A7268-8AF6-C943-B02F-76D3C1C9382F}"/>
              </a:ext>
            </a:extLst>
          </p:cNvPr>
          <p:cNvSpPr txBox="1"/>
          <p:nvPr/>
        </p:nvSpPr>
        <p:spPr>
          <a:xfrm>
            <a:off x="762000" y="4699000"/>
            <a:ext cx="10668000" cy="1016000"/>
          </a:xfrm>
          <a:prstGeom prst="rect">
            <a:avLst/>
          </a:prstGeom>
          <a:noFill/>
        </p:spPr>
        <p:txBody>
          <a:bodyPr vertOverflow="overflow" vert="horz" wrap="square" rtlCol="0" anchor="t">
            <a:noAutofit/>
          </a:bodyPr>
          <a:lstStyle/>
          <a:p>
            <a:pPr>
              <a:buNone/>
            </a:pPr>
            <a:r>
              <a:rPr lang="en-US" sz="1800" dirty="0">
                <a:solidFill>
                  <a:srgbClr val="D0C8E0"/>
                </a:solidFill>
                <a:latin typeface="Arial"/>
              </a:rPr>
              <a:t>Next: How common is it, and what can we do about it?</a:t>
            </a:r>
          </a:p>
        </p:txBody>
      </p:sp>
    </p:spTree>
    <p:extLst>
      <p:ext uri="{BB962C8B-B14F-4D97-AF65-F5344CB8AC3E}">
        <p14:creationId xmlns:p14="http://schemas.microsoft.com/office/powerpoint/2010/main" val="2608833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182E9-E588-0E8D-77EF-A26FCB8B7A00}"/>
              </a:ext>
            </a:extLst>
          </p:cNvPr>
          <p:cNvSpPr>
            <a:spLocks noGrp="1"/>
          </p:cNvSpPr>
          <p:nvPr>
            <p:ph type="title"/>
          </p:nvPr>
        </p:nvSpPr>
        <p:spPr/>
        <p:txBody>
          <a:bodyPr>
            <a:normAutofit/>
          </a:bodyPr>
          <a:lstStyle/>
          <a:p>
            <a:r>
              <a:rPr lang="en-US" sz="3200" dirty="0">
                <a:solidFill>
                  <a:srgbClr val="110057"/>
                </a:solidFill>
                <a:latin typeface="Arial"/>
                <a:cs typeface="Arial"/>
              </a:rPr>
              <a:t>Hypercapnic Respiratory Failure is </a:t>
            </a:r>
            <a:r>
              <a:rPr lang="en-US" sz="3200" b="1" dirty="0">
                <a:solidFill>
                  <a:srgbClr val="110057"/>
                </a:solidFill>
                <a:latin typeface="Arial"/>
                <a:cs typeface="Arial"/>
              </a:rPr>
              <a:t>Common</a:t>
            </a:r>
          </a:p>
        </p:txBody>
      </p:sp>
      <p:sp>
        <p:nvSpPr>
          <p:cNvPr id="3" name="Content Placeholder 2">
            <a:extLst>
              <a:ext uri="{FF2B5EF4-FFF2-40B4-BE49-F238E27FC236}">
                <a16:creationId xmlns:a16="http://schemas.microsoft.com/office/drawing/2014/main" id="{8FFD6B9D-EE40-4DC2-8E78-F6C413F291D1}"/>
              </a:ext>
            </a:extLst>
          </p:cNvPr>
          <p:cNvSpPr>
            <a:spLocks noGrp="1"/>
          </p:cNvSpPr>
          <p:nvPr>
            <p:ph idx="1"/>
          </p:nvPr>
        </p:nvSpPr>
        <p:spPr/>
        <p:txBody>
          <a:bodyPr/>
          <a:lstStyle/>
          <a:p>
            <a:endParaRPr lang="en-US"/>
          </a:p>
        </p:txBody>
      </p:sp>
      <p:grpSp>
        <p:nvGrpSpPr>
          <p:cNvPr id="4" name="Group 3">
            <a:extLst>
              <a:ext uri="{FF2B5EF4-FFF2-40B4-BE49-F238E27FC236}">
                <a16:creationId xmlns:a16="http://schemas.microsoft.com/office/drawing/2014/main" id="{5BF550E8-9520-4A3A-F2EE-7588154AF83B}"/>
              </a:ext>
            </a:extLst>
          </p:cNvPr>
          <p:cNvGrpSpPr/>
          <p:nvPr/>
        </p:nvGrpSpPr>
        <p:grpSpPr>
          <a:xfrm>
            <a:off x="852947" y="1824079"/>
            <a:ext cx="6116601" cy="1988372"/>
            <a:chOff x="749300" y="1557716"/>
            <a:chExt cx="4902200" cy="1593597"/>
          </a:xfrm>
        </p:grpSpPr>
        <p:sp>
          <p:nvSpPr>
            <p:cNvPr id="5" name="Rectangle 4">
              <a:extLst>
                <a:ext uri="{FF2B5EF4-FFF2-40B4-BE49-F238E27FC236}">
                  <a16:creationId xmlns:a16="http://schemas.microsoft.com/office/drawing/2014/main" id="{43F31EB6-4978-DBAE-26DF-FB95C5F37610}"/>
                </a:ext>
              </a:extLst>
            </p:cNvPr>
            <p:cNvSpPr/>
            <p:nvPr/>
          </p:nvSpPr>
          <p:spPr>
            <a:xfrm>
              <a:off x="838200" y="2643625"/>
              <a:ext cx="4813300" cy="3595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ED4E74F1-2633-58E0-4847-A28BEE4265E2}"/>
                </a:ext>
              </a:extLst>
            </p:cNvPr>
            <p:cNvGrpSpPr/>
            <p:nvPr/>
          </p:nvGrpSpPr>
          <p:grpSpPr>
            <a:xfrm>
              <a:off x="749300" y="1557716"/>
              <a:ext cx="4749800" cy="1593597"/>
              <a:chOff x="361121" y="1542787"/>
              <a:chExt cx="7779579" cy="2610113"/>
            </a:xfrm>
          </p:grpSpPr>
          <p:pic>
            <p:nvPicPr>
              <p:cNvPr id="7" name="Picture 6">
                <a:extLst>
                  <a:ext uri="{FF2B5EF4-FFF2-40B4-BE49-F238E27FC236}">
                    <a16:creationId xmlns:a16="http://schemas.microsoft.com/office/drawing/2014/main" id="{95207B05-ECFA-E51A-6478-E5B9C80A5574}"/>
                  </a:ext>
                </a:extLst>
              </p:cNvPr>
              <p:cNvPicPr>
                <a:picLocks noChangeAspect="1"/>
              </p:cNvPicPr>
              <p:nvPr/>
            </p:nvPicPr>
            <p:blipFill>
              <a:blip r:embed="rId3"/>
              <a:stretch>
                <a:fillRect/>
              </a:stretch>
            </p:blipFill>
            <p:spPr>
              <a:xfrm>
                <a:off x="361121" y="1542787"/>
                <a:ext cx="7672620" cy="2533913"/>
              </a:xfrm>
              <a:prstGeom prst="rect">
                <a:avLst/>
              </a:prstGeom>
            </p:spPr>
          </p:pic>
          <p:sp>
            <p:nvSpPr>
              <p:cNvPr id="8" name="Rectangle 7">
                <a:extLst>
                  <a:ext uri="{FF2B5EF4-FFF2-40B4-BE49-F238E27FC236}">
                    <a16:creationId xmlns:a16="http://schemas.microsoft.com/office/drawing/2014/main" id="{435E38D6-A287-35BD-C611-95BB9C3ED29E}"/>
                  </a:ext>
                </a:extLst>
              </p:cNvPr>
              <p:cNvSpPr/>
              <p:nvPr/>
            </p:nvSpPr>
            <p:spPr>
              <a:xfrm>
                <a:off x="7594600" y="2425700"/>
                <a:ext cx="546100" cy="1727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9" name="Content Placeholder 2">
            <a:extLst>
              <a:ext uri="{FF2B5EF4-FFF2-40B4-BE49-F238E27FC236}">
                <a16:creationId xmlns:a16="http://schemas.microsoft.com/office/drawing/2014/main" id="{580E9E31-45BA-1B60-C604-1B2921CB82BD}"/>
              </a:ext>
            </a:extLst>
          </p:cNvPr>
          <p:cNvSpPr txBox="1">
            <a:spLocks/>
          </p:cNvSpPr>
          <p:nvPr/>
        </p:nvSpPr>
        <p:spPr>
          <a:xfrm>
            <a:off x="1176117" y="3827199"/>
            <a:ext cx="4929016" cy="26734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latin typeface="Arial"/>
                <a:cs typeface="Arial"/>
              </a:rPr>
              <a:t>Population-standardized period prevalence of PaCO</a:t>
            </a:r>
            <a:r>
              <a:rPr lang="en-US" sz="2200" baseline="-25000" dirty="0">
                <a:latin typeface="Arial"/>
                <a:cs typeface="Arial"/>
              </a:rPr>
              <a:t>2</a:t>
            </a:r>
            <a:r>
              <a:rPr lang="en-US" sz="2200" dirty="0">
                <a:latin typeface="Arial"/>
                <a:cs typeface="Arial"/>
              </a:rPr>
              <a:t> ≥ 45 mmHg (excluding iatrogenic causes): </a:t>
            </a:r>
          </a:p>
          <a:p>
            <a:pPr marL="0" indent="0">
              <a:buFont typeface="Arial" panose="020B0604020202020204" pitchFamily="34" charset="0"/>
              <a:buNone/>
            </a:pPr>
            <a:r>
              <a:rPr lang="en-US" sz="2200" b="1" dirty="0">
                <a:latin typeface="Arial"/>
                <a:cs typeface="Arial"/>
              </a:rPr>
              <a:t>150* per 100,000 person/year</a:t>
            </a:r>
          </a:p>
          <a:p>
            <a:r>
              <a:rPr lang="en-US" sz="2200" dirty="0">
                <a:latin typeface="Arial"/>
                <a:cs typeface="Arial"/>
              </a:rPr>
              <a:t>Reference: Decompensated Cirrhosis </a:t>
            </a:r>
            <a:r>
              <a:rPr lang="en-US" sz="2200" dirty="0">
                <a:solidFill>
                  <a:srgbClr val="212121"/>
                </a:solidFill>
                <a:latin typeface="Arial"/>
                <a:cs typeface="Arial"/>
              </a:rPr>
              <a:t>94.9 (US, 2017) per 100,000 person-year</a:t>
            </a:r>
            <a:endParaRPr lang="en-US" sz="2200" dirty="0">
              <a:latin typeface="Arial"/>
              <a:cs typeface="Arial"/>
            </a:endParaRPr>
          </a:p>
          <a:p>
            <a:pPr marL="0" indent="0">
              <a:buFont typeface="Arial" panose="020B0604020202020204" pitchFamily="34" charset="0"/>
              <a:buNone/>
            </a:pPr>
            <a:endParaRPr lang="en-US" sz="2200" b="1" dirty="0">
              <a:latin typeface="Arial"/>
              <a:cs typeface="Arial"/>
            </a:endParaRPr>
          </a:p>
        </p:txBody>
      </p:sp>
      <p:pic>
        <p:nvPicPr>
          <p:cNvPr id="17" name="Picture 16">
            <a:extLst>
              <a:ext uri="{FF2B5EF4-FFF2-40B4-BE49-F238E27FC236}">
                <a16:creationId xmlns:a16="http://schemas.microsoft.com/office/drawing/2014/main" id="{9433D329-B92F-F455-B802-3964859B8008}"/>
              </a:ext>
            </a:extLst>
          </p:cNvPr>
          <p:cNvPicPr>
            <a:picLocks noChangeAspect="1"/>
          </p:cNvPicPr>
          <p:nvPr/>
        </p:nvPicPr>
        <p:blipFill>
          <a:blip r:embed="rId4"/>
          <a:stretch>
            <a:fillRect/>
          </a:stretch>
        </p:blipFill>
        <p:spPr>
          <a:xfrm>
            <a:off x="6436853" y="1907099"/>
            <a:ext cx="4684495" cy="4315489"/>
          </a:xfrm>
          <a:prstGeom prst="rect">
            <a:avLst/>
          </a:prstGeom>
        </p:spPr>
      </p:pic>
    </p:spTree>
    <p:extLst>
      <p:ext uri="{BB962C8B-B14F-4D97-AF65-F5344CB8AC3E}">
        <p14:creationId xmlns:p14="http://schemas.microsoft.com/office/powerpoint/2010/main" val="24052317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D0F2B6-553C-0A5E-B99D-F673EDA9E20E}"/>
              </a:ext>
            </a:extLst>
          </p:cNvPr>
          <p:cNvPicPr>
            <a:picLocks noChangeAspect="1"/>
          </p:cNvPicPr>
          <p:nvPr/>
        </p:nvPicPr>
        <p:blipFill>
          <a:blip r:embed="rId3"/>
          <a:stretch>
            <a:fillRect/>
          </a:stretch>
        </p:blipFill>
        <p:spPr>
          <a:xfrm>
            <a:off x="7264663" y="1886631"/>
            <a:ext cx="4797060" cy="3807408"/>
          </a:xfrm>
          <a:prstGeom prst="rect">
            <a:avLst/>
          </a:prstGeom>
        </p:spPr>
      </p:pic>
      <p:sp>
        <p:nvSpPr>
          <p:cNvPr id="2" name="Title 1">
            <a:extLst>
              <a:ext uri="{FF2B5EF4-FFF2-40B4-BE49-F238E27FC236}">
                <a16:creationId xmlns:a16="http://schemas.microsoft.com/office/drawing/2014/main" id="{830B5FD0-6820-89F8-C529-42FF1EC85D93}"/>
              </a:ext>
            </a:extLst>
          </p:cNvPr>
          <p:cNvSpPr>
            <a:spLocks noGrp="1"/>
          </p:cNvSpPr>
          <p:nvPr>
            <p:ph type="title"/>
          </p:nvPr>
        </p:nvSpPr>
        <p:spPr/>
        <p:txBody>
          <a:bodyPr>
            <a:noAutofit/>
          </a:bodyPr>
          <a:lstStyle/>
          <a:p>
            <a:br>
              <a:rPr lang="en-US" sz="3200" dirty="0">
                <a:solidFill>
                  <a:srgbClr val="110057"/>
                </a:solidFill>
                <a:latin typeface="Arial"/>
                <a:cs typeface="Arial"/>
              </a:rPr>
            </a:br>
            <a:r>
              <a:rPr lang="en-US" sz="3200" dirty="0">
                <a:solidFill>
                  <a:srgbClr val="110057"/>
                </a:solidFill>
                <a:latin typeface="Arial"/>
                <a:cs typeface="Arial"/>
              </a:rPr>
              <a:t>Hypercapnic Respiratory Failure is </a:t>
            </a:r>
            <a:r>
              <a:rPr lang="en-US" sz="3200" b="1" dirty="0">
                <a:solidFill>
                  <a:srgbClr val="110057"/>
                </a:solidFill>
                <a:latin typeface="Arial"/>
                <a:cs typeface="Arial"/>
              </a:rPr>
              <a:t>Prognostically Important</a:t>
            </a:r>
            <a:br>
              <a:rPr lang="en-US" sz="3200" dirty="0">
                <a:solidFill>
                  <a:srgbClr val="110057"/>
                </a:solidFill>
                <a:latin typeface="Arial"/>
                <a:cs typeface="Arial"/>
              </a:rPr>
            </a:br>
            <a:endParaRPr lang="en-US" sz="3200" dirty="0">
              <a:solidFill>
                <a:srgbClr val="110057"/>
              </a:solidFill>
              <a:latin typeface="Arial"/>
              <a:cs typeface="Arial"/>
            </a:endParaRPr>
          </a:p>
        </p:txBody>
      </p:sp>
      <p:sp>
        <p:nvSpPr>
          <p:cNvPr id="3" name="Content Placeholder 2">
            <a:extLst>
              <a:ext uri="{FF2B5EF4-FFF2-40B4-BE49-F238E27FC236}">
                <a16:creationId xmlns:a16="http://schemas.microsoft.com/office/drawing/2014/main" id="{22F66FDF-AB54-44D5-A334-3AD46EC74E2C}"/>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3099AB22-140D-F390-B284-36A62694F5B2}"/>
              </a:ext>
            </a:extLst>
          </p:cNvPr>
          <p:cNvPicPr>
            <a:picLocks noChangeAspect="1"/>
          </p:cNvPicPr>
          <p:nvPr/>
        </p:nvPicPr>
        <p:blipFill rotWithShape="1">
          <a:blip r:embed="rId4"/>
          <a:srcRect b="16898"/>
          <a:stretch/>
        </p:blipFill>
        <p:spPr>
          <a:xfrm>
            <a:off x="660143" y="1871784"/>
            <a:ext cx="6244276" cy="1918551"/>
          </a:xfrm>
          <a:prstGeom prst="rect">
            <a:avLst/>
          </a:prstGeom>
        </p:spPr>
      </p:pic>
      <p:sp>
        <p:nvSpPr>
          <p:cNvPr id="5" name="Content Placeholder 2">
            <a:extLst>
              <a:ext uri="{FF2B5EF4-FFF2-40B4-BE49-F238E27FC236}">
                <a16:creationId xmlns:a16="http://schemas.microsoft.com/office/drawing/2014/main" id="{7B78C5F4-1518-62BC-1F63-10AA9A50FEEB}"/>
              </a:ext>
            </a:extLst>
          </p:cNvPr>
          <p:cNvSpPr txBox="1">
            <a:spLocks/>
          </p:cNvSpPr>
          <p:nvPr/>
        </p:nvSpPr>
        <p:spPr>
          <a:xfrm>
            <a:off x="439994" y="4295100"/>
            <a:ext cx="6464425" cy="177539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latin typeface="Arial"/>
                <a:cs typeface="Arial"/>
              </a:rPr>
              <a:t>Inpatient ICD code for Hypercapnic Respiratory Failure @ U of VT</a:t>
            </a:r>
          </a:p>
          <a:p>
            <a:r>
              <a:rPr lang="en-US" sz="2200" b="1" dirty="0">
                <a:latin typeface="Arial"/>
                <a:cs typeface="Arial"/>
              </a:rPr>
              <a:t>23% 30d readmission rate</a:t>
            </a:r>
          </a:p>
          <a:p>
            <a:pPr lvl="1"/>
            <a:r>
              <a:rPr lang="en-US" sz="2200" dirty="0">
                <a:latin typeface="Arial"/>
                <a:cs typeface="Arial"/>
              </a:rPr>
              <a:t>Same as CHF, more than MI</a:t>
            </a:r>
          </a:p>
          <a:p>
            <a:pPr lvl="1"/>
            <a:r>
              <a:rPr lang="en-US" sz="2200" dirty="0">
                <a:latin typeface="Arial"/>
                <a:cs typeface="Arial"/>
              </a:rPr>
              <a:t>Usually (66%) with recurrent hypercapnia</a:t>
            </a:r>
          </a:p>
        </p:txBody>
      </p:sp>
    </p:spTree>
    <p:extLst>
      <p:ext uri="{BB962C8B-B14F-4D97-AF65-F5344CB8AC3E}">
        <p14:creationId xmlns:p14="http://schemas.microsoft.com/office/powerpoint/2010/main" val="32541434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6EF26-D4D1-CD23-D1BE-B1D0C13B78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5A4827-DEDA-6C24-9913-3F761CA42593}"/>
              </a:ext>
            </a:extLst>
          </p:cNvPr>
          <p:cNvSpPr>
            <a:spLocks noGrp="1"/>
          </p:cNvSpPr>
          <p:nvPr>
            <p:ph type="title"/>
          </p:nvPr>
        </p:nvSpPr>
        <p:spPr/>
        <p:txBody>
          <a:bodyPr>
            <a:noAutofit/>
          </a:bodyPr>
          <a:lstStyle/>
          <a:p>
            <a:br>
              <a:rPr lang="en-US" sz="3200" dirty="0">
                <a:solidFill>
                  <a:srgbClr val="110057"/>
                </a:solidFill>
                <a:latin typeface="Arial"/>
                <a:cs typeface="Arial"/>
              </a:rPr>
            </a:br>
            <a:r>
              <a:rPr lang="en-US" sz="3200" dirty="0">
                <a:solidFill>
                  <a:srgbClr val="110057"/>
                </a:solidFill>
                <a:latin typeface="Arial"/>
                <a:cs typeface="Arial"/>
              </a:rPr>
              <a:t>Therapeutic options exist: </a:t>
            </a:r>
            <a:br>
              <a:rPr lang="en-US" sz="3200" dirty="0">
                <a:solidFill>
                  <a:srgbClr val="110057"/>
                </a:solidFill>
                <a:latin typeface="Arial"/>
                <a:cs typeface="Arial"/>
              </a:rPr>
            </a:br>
            <a:endParaRPr lang="en-US" sz="3200" dirty="0">
              <a:solidFill>
                <a:srgbClr val="110057"/>
              </a:solidFill>
              <a:latin typeface="Arial"/>
              <a:cs typeface="Arial"/>
            </a:endParaRPr>
          </a:p>
        </p:txBody>
      </p:sp>
      <p:sp>
        <p:nvSpPr>
          <p:cNvPr id="4" name="Content Placeholder 3">
            <a:extLst>
              <a:ext uri="{FF2B5EF4-FFF2-40B4-BE49-F238E27FC236}">
                <a16:creationId xmlns:a16="http://schemas.microsoft.com/office/drawing/2014/main" id="{1F1D4B90-78D8-788D-E3E7-C92A3C1A891A}"/>
              </a:ext>
            </a:extLst>
          </p:cNvPr>
          <p:cNvSpPr>
            <a:spLocks noGrp="1"/>
          </p:cNvSpPr>
          <p:nvPr>
            <p:ph idx="1"/>
          </p:nvPr>
        </p:nvSpPr>
        <p:spPr/>
        <p:txBody>
          <a:bodyPr/>
          <a:lstStyle/>
          <a:p>
            <a:endParaRPr lang="en-US"/>
          </a:p>
        </p:txBody>
      </p:sp>
      <p:pic>
        <p:nvPicPr>
          <p:cNvPr id="3" name="Picture 2">
            <a:extLst>
              <a:ext uri="{FF2B5EF4-FFF2-40B4-BE49-F238E27FC236}">
                <a16:creationId xmlns:a16="http://schemas.microsoft.com/office/drawing/2014/main" id="{E7AE4D37-335B-E410-7DE2-F81ED3F4FA35}"/>
              </a:ext>
            </a:extLst>
          </p:cNvPr>
          <p:cNvPicPr>
            <a:picLocks noChangeAspect="1"/>
          </p:cNvPicPr>
          <p:nvPr/>
        </p:nvPicPr>
        <p:blipFill>
          <a:blip r:embed="rId3"/>
          <a:stretch>
            <a:fillRect/>
          </a:stretch>
        </p:blipFill>
        <p:spPr>
          <a:xfrm>
            <a:off x="200438" y="3429000"/>
            <a:ext cx="6781800" cy="1739900"/>
          </a:xfrm>
          <a:prstGeom prst="rect">
            <a:avLst/>
          </a:prstGeom>
        </p:spPr>
      </p:pic>
      <p:pic>
        <p:nvPicPr>
          <p:cNvPr id="10" name="Picture 9">
            <a:extLst>
              <a:ext uri="{FF2B5EF4-FFF2-40B4-BE49-F238E27FC236}">
                <a16:creationId xmlns:a16="http://schemas.microsoft.com/office/drawing/2014/main" id="{3F679C0D-ACB2-1446-DAB4-FABC1DDC7456}"/>
              </a:ext>
            </a:extLst>
          </p:cNvPr>
          <p:cNvPicPr>
            <a:picLocks noChangeAspect="1"/>
          </p:cNvPicPr>
          <p:nvPr/>
        </p:nvPicPr>
        <p:blipFill>
          <a:blip r:embed="rId4"/>
          <a:stretch>
            <a:fillRect/>
          </a:stretch>
        </p:blipFill>
        <p:spPr>
          <a:xfrm>
            <a:off x="7093501" y="3559002"/>
            <a:ext cx="4816049" cy="1211780"/>
          </a:xfrm>
          <a:prstGeom prst="rect">
            <a:avLst/>
          </a:prstGeom>
        </p:spPr>
      </p:pic>
      <p:pic>
        <p:nvPicPr>
          <p:cNvPr id="11" name="Picture 10">
            <a:extLst>
              <a:ext uri="{FF2B5EF4-FFF2-40B4-BE49-F238E27FC236}">
                <a16:creationId xmlns:a16="http://schemas.microsoft.com/office/drawing/2014/main" id="{61A9465D-3AE5-FB85-307C-C044F413F93B}"/>
              </a:ext>
            </a:extLst>
          </p:cNvPr>
          <p:cNvPicPr>
            <a:picLocks noChangeAspect="1"/>
          </p:cNvPicPr>
          <p:nvPr/>
        </p:nvPicPr>
        <p:blipFill>
          <a:blip r:embed="rId5"/>
          <a:stretch>
            <a:fillRect/>
          </a:stretch>
        </p:blipFill>
        <p:spPr>
          <a:xfrm>
            <a:off x="173934" y="5317097"/>
            <a:ext cx="7772400" cy="1077724"/>
          </a:xfrm>
          <a:prstGeom prst="rect">
            <a:avLst/>
          </a:prstGeom>
        </p:spPr>
      </p:pic>
      <p:pic>
        <p:nvPicPr>
          <p:cNvPr id="12" name="Picture 11">
            <a:extLst>
              <a:ext uri="{FF2B5EF4-FFF2-40B4-BE49-F238E27FC236}">
                <a16:creationId xmlns:a16="http://schemas.microsoft.com/office/drawing/2014/main" id="{B6B7BEA8-9680-748D-6D15-36B05B7A303F}"/>
              </a:ext>
            </a:extLst>
          </p:cNvPr>
          <p:cNvPicPr>
            <a:picLocks noChangeAspect="1"/>
          </p:cNvPicPr>
          <p:nvPr/>
        </p:nvPicPr>
        <p:blipFill>
          <a:blip r:embed="rId6"/>
          <a:stretch>
            <a:fillRect/>
          </a:stretch>
        </p:blipFill>
        <p:spPr>
          <a:xfrm>
            <a:off x="7919830" y="5442339"/>
            <a:ext cx="3632200" cy="1041400"/>
          </a:xfrm>
          <a:prstGeom prst="rect">
            <a:avLst/>
          </a:prstGeom>
        </p:spPr>
      </p:pic>
      <p:pic>
        <p:nvPicPr>
          <p:cNvPr id="13" name="Picture 12">
            <a:extLst>
              <a:ext uri="{FF2B5EF4-FFF2-40B4-BE49-F238E27FC236}">
                <a16:creationId xmlns:a16="http://schemas.microsoft.com/office/drawing/2014/main" id="{294AD0D3-D790-BE5C-A6FF-E6E441EC4B19}"/>
              </a:ext>
            </a:extLst>
          </p:cNvPr>
          <p:cNvPicPr>
            <a:picLocks noChangeAspect="1"/>
          </p:cNvPicPr>
          <p:nvPr/>
        </p:nvPicPr>
        <p:blipFill>
          <a:blip r:embed="rId7"/>
          <a:stretch>
            <a:fillRect/>
          </a:stretch>
        </p:blipFill>
        <p:spPr>
          <a:xfrm>
            <a:off x="221974" y="1692029"/>
            <a:ext cx="7772400" cy="693481"/>
          </a:xfrm>
          <a:prstGeom prst="rect">
            <a:avLst/>
          </a:prstGeom>
        </p:spPr>
      </p:pic>
      <p:pic>
        <p:nvPicPr>
          <p:cNvPr id="14" name="Picture 13">
            <a:extLst>
              <a:ext uri="{FF2B5EF4-FFF2-40B4-BE49-F238E27FC236}">
                <a16:creationId xmlns:a16="http://schemas.microsoft.com/office/drawing/2014/main" id="{C53BC480-1399-7E30-0866-898A187541E6}"/>
              </a:ext>
            </a:extLst>
          </p:cNvPr>
          <p:cNvPicPr>
            <a:picLocks noChangeAspect="1"/>
          </p:cNvPicPr>
          <p:nvPr/>
        </p:nvPicPr>
        <p:blipFill>
          <a:blip r:embed="rId8"/>
          <a:stretch>
            <a:fillRect/>
          </a:stretch>
        </p:blipFill>
        <p:spPr>
          <a:xfrm>
            <a:off x="1963529" y="2362244"/>
            <a:ext cx="9847835" cy="1066755"/>
          </a:xfrm>
          <a:prstGeom prst="rect">
            <a:avLst/>
          </a:prstGeom>
        </p:spPr>
      </p:pic>
    </p:spTree>
    <p:extLst>
      <p:ext uri="{BB962C8B-B14F-4D97-AF65-F5344CB8AC3E}">
        <p14:creationId xmlns:p14="http://schemas.microsoft.com/office/powerpoint/2010/main" val="2698292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29E27-F18E-5D0F-4DDF-2AE7D57E25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41FC8-5AC6-253F-1E47-159847B1AF02}"/>
              </a:ext>
            </a:extLst>
          </p:cNvPr>
          <p:cNvSpPr>
            <a:spLocks noGrp="1"/>
          </p:cNvSpPr>
          <p:nvPr>
            <p:ph type="title"/>
          </p:nvPr>
        </p:nvSpPr>
        <p:spPr/>
        <p:txBody>
          <a:bodyPr>
            <a:noAutofit/>
          </a:bodyPr>
          <a:lstStyle/>
          <a:p>
            <a:br>
              <a:rPr lang="en-US" sz="3200" dirty="0">
                <a:solidFill>
                  <a:srgbClr val="110057"/>
                </a:solidFill>
                <a:latin typeface="Arial"/>
                <a:cs typeface="Arial"/>
              </a:rPr>
            </a:br>
            <a:r>
              <a:rPr lang="en-US" sz="3200" dirty="0">
                <a:solidFill>
                  <a:srgbClr val="110057"/>
                </a:solidFill>
                <a:latin typeface="Arial"/>
                <a:cs typeface="Arial"/>
              </a:rPr>
              <a:t>Therapeutic options exist: </a:t>
            </a:r>
            <a:br>
              <a:rPr lang="en-US" sz="3200" dirty="0">
                <a:solidFill>
                  <a:srgbClr val="110057"/>
                </a:solidFill>
                <a:latin typeface="Arial"/>
                <a:cs typeface="Arial"/>
              </a:rPr>
            </a:br>
            <a:endParaRPr lang="en-US" sz="3200" dirty="0">
              <a:solidFill>
                <a:srgbClr val="110057"/>
              </a:solidFill>
              <a:latin typeface="Arial"/>
              <a:cs typeface="Arial"/>
            </a:endParaRPr>
          </a:p>
        </p:txBody>
      </p:sp>
      <p:sp>
        <p:nvSpPr>
          <p:cNvPr id="3" name="Content Placeholder 2">
            <a:extLst>
              <a:ext uri="{FF2B5EF4-FFF2-40B4-BE49-F238E27FC236}">
                <a16:creationId xmlns:a16="http://schemas.microsoft.com/office/drawing/2014/main" id="{083FCC7F-95A3-6B24-F4AF-88BBB8C55086}"/>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8B1848D1-7A08-005A-DBDA-CBBAD7235771}"/>
              </a:ext>
            </a:extLst>
          </p:cNvPr>
          <p:cNvPicPr>
            <a:picLocks noChangeAspect="1"/>
          </p:cNvPicPr>
          <p:nvPr/>
        </p:nvPicPr>
        <p:blipFill>
          <a:blip r:embed="rId3"/>
          <a:stretch>
            <a:fillRect/>
          </a:stretch>
        </p:blipFill>
        <p:spPr>
          <a:xfrm>
            <a:off x="162232" y="1334535"/>
            <a:ext cx="5018801" cy="2222019"/>
          </a:xfrm>
          <a:prstGeom prst="rect">
            <a:avLst/>
          </a:prstGeom>
        </p:spPr>
      </p:pic>
      <p:pic>
        <p:nvPicPr>
          <p:cNvPr id="5" name="Picture 4">
            <a:extLst>
              <a:ext uri="{FF2B5EF4-FFF2-40B4-BE49-F238E27FC236}">
                <a16:creationId xmlns:a16="http://schemas.microsoft.com/office/drawing/2014/main" id="{21332680-673C-1ED9-0BC6-D09C5AA553F6}"/>
              </a:ext>
            </a:extLst>
          </p:cNvPr>
          <p:cNvPicPr>
            <a:picLocks noChangeAspect="1"/>
          </p:cNvPicPr>
          <p:nvPr/>
        </p:nvPicPr>
        <p:blipFill>
          <a:blip r:embed="rId4"/>
          <a:stretch>
            <a:fillRect/>
          </a:stretch>
        </p:blipFill>
        <p:spPr>
          <a:xfrm>
            <a:off x="947107" y="3429000"/>
            <a:ext cx="5628220" cy="3292475"/>
          </a:xfrm>
          <a:prstGeom prst="rect">
            <a:avLst/>
          </a:prstGeom>
        </p:spPr>
      </p:pic>
      <p:pic>
        <p:nvPicPr>
          <p:cNvPr id="6" name="Picture 5">
            <a:extLst>
              <a:ext uri="{FF2B5EF4-FFF2-40B4-BE49-F238E27FC236}">
                <a16:creationId xmlns:a16="http://schemas.microsoft.com/office/drawing/2014/main" id="{25DBF827-8A61-5FCB-13BD-B6176D247FC2}"/>
              </a:ext>
            </a:extLst>
          </p:cNvPr>
          <p:cNvPicPr>
            <a:picLocks noChangeAspect="1"/>
          </p:cNvPicPr>
          <p:nvPr/>
        </p:nvPicPr>
        <p:blipFill>
          <a:blip r:embed="rId5"/>
          <a:stretch>
            <a:fillRect/>
          </a:stretch>
        </p:blipFill>
        <p:spPr>
          <a:xfrm>
            <a:off x="6701406" y="1116193"/>
            <a:ext cx="4800874" cy="1325563"/>
          </a:xfrm>
          <a:prstGeom prst="rect">
            <a:avLst/>
          </a:prstGeom>
        </p:spPr>
      </p:pic>
      <p:sp>
        <p:nvSpPr>
          <p:cNvPr id="7" name="TextBox 6">
            <a:extLst>
              <a:ext uri="{FF2B5EF4-FFF2-40B4-BE49-F238E27FC236}">
                <a16:creationId xmlns:a16="http://schemas.microsoft.com/office/drawing/2014/main" id="{F884455E-13DE-911E-6DC5-64BB994A4826}"/>
              </a:ext>
            </a:extLst>
          </p:cNvPr>
          <p:cNvSpPr txBox="1"/>
          <p:nvPr/>
        </p:nvSpPr>
        <p:spPr>
          <a:xfrm>
            <a:off x="6747389" y="4395019"/>
            <a:ext cx="5302044" cy="2123658"/>
          </a:xfrm>
          <a:prstGeom prst="rect">
            <a:avLst/>
          </a:prstGeom>
          <a:noFill/>
        </p:spPr>
        <p:txBody>
          <a:bodyPr wrap="square" rtlCol="0">
            <a:spAutoFit/>
          </a:bodyPr>
          <a:lstStyle/>
          <a:p>
            <a:r>
              <a:rPr lang="en-US" sz="2200" dirty="0">
                <a:latin typeface="Arial"/>
                <a:cs typeface="Arial"/>
              </a:rPr>
              <a:t>Overall, OSA is identified in ICU patients with hypercapnic respiratory failure at a roughly 5-fold higher rate </a:t>
            </a:r>
            <a:r>
              <a:rPr lang="en-US" sz="2200" b="1" dirty="0">
                <a:latin typeface="Arial"/>
                <a:cs typeface="Arial"/>
              </a:rPr>
              <a:t>(63%–88% [4 studies])</a:t>
            </a:r>
            <a:r>
              <a:rPr lang="en-US" sz="2200" dirty="0">
                <a:latin typeface="Arial"/>
                <a:cs typeface="Arial"/>
              </a:rPr>
              <a:t> when sleep testing is performed compared to when clinicians’ assessment</a:t>
            </a:r>
          </a:p>
          <a:p>
            <a:r>
              <a:rPr lang="en-US" sz="2200" dirty="0">
                <a:latin typeface="Arial"/>
                <a:cs typeface="Arial"/>
              </a:rPr>
              <a:t>of the cause is used (12%, 1 study).</a:t>
            </a:r>
          </a:p>
        </p:txBody>
      </p:sp>
      <p:pic>
        <p:nvPicPr>
          <p:cNvPr id="8" name="Picture 7">
            <a:extLst>
              <a:ext uri="{FF2B5EF4-FFF2-40B4-BE49-F238E27FC236}">
                <a16:creationId xmlns:a16="http://schemas.microsoft.com/office/drawing/2014/main" id="{EF20F560-702A-9854-CC09-4FEAEFED95EB}"/>
              </a:ext>
            </a:extLst>
          </p:cNvPr>
          <p:cNvPicPr>
            <a:picLocks noChangeAspect="1"/>
          </p:cNvPicPr>
          <p:nvPr/>
        </p:nvPicPr>
        <p:blipFill>
          <a:blip r:embed="rId6"/>
          <a:stretch>
            <a:fillRect/>
          </a:stretch>
        </p:blipFill>
        <p:spPr>
          <a:xfrm>
            <a:off x="6268064" y="2751907"/>
            <a:ext cx="5302045" cy="1446670"/>
          </a:xfrm>
          <a:prstGeom prst="rect">
            <a:avLst/>
          </a:prstGeom>
        </p:spPr>
      </p:pic>
    </p:spTree>
    <p:extLst>
      <p:ext uri="{BB962C8B-B14F-4D97-AF65-F5344CB8AC3E}">
        <p14:creationId xmlns:p14="http://schemas.microsoft.com/office/powerpoint/2010/main" val="3070747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8065B-EA31-69F4-8715-25B8057C0FFE}"/>
              </a:ext>
            </a:extLst>
          </p:cNvPr>
          <p:cNvSpPr>
            <a:spLocks noGrp="1"/>
          </p:cNvSpPr>
          <p:nvPr>
            <p:ph type="title"/>
          </p:nvPr>
        </p:nvSpPr>
        <p:spPr/>
        <p:txBody>
          <a:bodyPr vert="horz" lIns="91440" tIns="45720" rIns="91440" bIns="45720" rtlCol="0" anchor="b">
            <a:normAutofit fontScale="90000"/>
          </a:bodyPr>
          <a:lstStyle/>
          <a:p>
            <a:r>
              <a:rPr lang="en-US" sz="7400" dirty="0">
                <a:solidFill>
                  <a:srgbClr val="FFFFFF"/>
                </a:solidFill>
                <a:latin typeface="Arial"/>
                <a:cs typeface="Arial"/>
              </a:rPr>
              <a:t>Obesity-related respiratory failure is </a:t>
            </a:r>
            <a:r>
              <a:rPr lang="en-US" sz="7400" b="1" dirty="0">
                <a:solidFill>
                  <a:srgbClr val="FFFFFF"/>
                </a:solidFill>
                <a:latin typeface="Arial"/>
                <a:cs typeface="Arial"/>
              </a:rPr>
              <a:t>common, deadly, </a:t>
            </a:r>
            <a:r>
              <a:rPr lang="en-US" sz="7400" dirty="0">
                <a:solidFill>
                  <a:srgbClr val="FFFFFF"/>
                </a:solidFill>
                <a:latin typeface="Arial"/>
                <a:cs typeface="Arial"/>
              </a:rPr>
              <a:t>&amp; </a:t>
            </a:r>
            <a:r>
              <a:rPr lang="en-US" sz="7400" b="1" dirty="0">
                <a:solidFill>
                  <a:srgbClr val="FFFFFF"/>
                </a:solidFill>
                <a:latin typeface="Arial"/>
                <a:cs typeface="Arial"/>
              </a:rPr>
              <a:t>under-recognized</a:t>
            </a:r>
          </a:p>
        </p:txBody>
      </p:sp>
      <p:sp>
        <p:nvSpPr>
          <p:cNvPr id="3" name="Content Placeholder 2">
            <a:extLst>
              <a:ext uri="{FF2B5EF4-FFF2-40B4-BE49-F238E27FC236}">
                <a16:creationId xmlns:a16="http://schemas.microsoft.com/office/drawing/2014/main" id="{1D2491BA-3379-4523-BF5E-597D3681D45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34963959"/>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394AE-0E48-E498-9D9D-39E14C83A0DA}"/>
              </a:ext>
            </a:extLst>
          </p:cNvPr>
          <p:cNvSpPr>
            <a:spLocks noGrp="1"/>
          </p:cNvSpPr>
          <p:nvPr>
            <p:ph type="title"/>
          </p:nvPr>
        </p:nvSpPr>
        <p:spPr/>
        <p:txBody>
          <a:bodyPr>
            <a:normAutofit/>
          </a:bodyPr>
          <a:lstStyle/>
          <a:p>
            <a:r>
              <a:rPr lang="en-US" sz="3200">
                <a:latin typeface="Arial"/>
                <a:cs typeface="Arial"/>
              </a:rPr>
              <a:t>How to Spot It: Clinical Screening Pearls</a:t>
            </a:r>
          </a:p>
        </p:txBody>
      </p:sp>
      <p:sp>
        <p:nvSpPr>
          <p:cNvPr id="3" name="Content Placeholder 2">
            <a:extLst>
              <a:ext uri="{FF2B5EF4-FFF2-40B4-BE49-F238E27FC236}">
                <a16:creationId xmlns:a16="http://schemas.microsoft.com/office/drawing/2014/main" id="{7A03A798-3CA4-42F8-DA29-A30FC39F3601}"/>
              </a:ext>
            </a:extLst>
          </p:cNvPr>
          <p:cNvSpPr>
            <a:spLocks noGrp="1"/>
          </p:cNvSpPr>
          <p:nvPr>
            <p:ph idx="1"/>
          </p:nvPr>
        </p:nvSpPr>
        <p:spPr/>
        <p:txBody>
          <a:bodyPr>
            <a:spAutoFit/>
          </a:bodyPr>
          <a:lstStyle/>
          <a:p>
            <a:pPr marL="0" indent="0">
              <a:buNone/>
            </a:pPr>
            <a:r>
              <a:rPr lang="en-US" sz="2200" b="1" dirty="0">
                <a:solidFill>
                  <a:srgbClr val="110057"/>
                </a:solidFill>
                <a:latin typeface="Arial"/>
                <a:cs typeface="Arial"/>
              </a:rPr>
              <a:t>Red flags that should trigger workup</a:t>
            </a:r>
          </a:p>
          <a:p>
            <a:r>
              <a:rPr lang="en-US" sz="2000" dirty="0">
                <a:latin typeface="Arial"/>
                <a:cs typeface="Arial"/>
              </a:rPr>
              <a:t>Unexplained hypoxemia in an obese patient</a:t>
            </a:r>
          </a:p>
          <a:p>
            <a:r>
              <a:rPr lang="en-US" sz="2000" dirty="0">
                <a:latin typeface="Arial"/>
                <a:cs typeface="Arial"/>
              </a:rPr>
              <a:t>Elevated serum bicarbonate (HCO</a:t>
            </a:r>
            <a:r>
              <a:rPr lang="en-US" sz="2000" baseline="-25000" dirty="0">
                <a:latin typeface="Arial"/>
                <a:cs typeface="Arial"/>
              </a:rPr>
              <a:t>3</a:t>
            </a:r>
            <a:r>
              <a:rPr lang="en-US" sz="2000" dirty="0">
                <a:latin typeface="Arial"/>
                <a:cs typeface="Arial"/>
              </a:rPr>
              <a:t>) — suggests chronic CO</a:t>
            </a:r>
            <a:r>
              <a:rPr lang="en-US" sz="2000" baseline="-25000" dirty="0">
                <a:latin typeface="Arial"/>
                <a:cs typeface="Arial"/>
              </a:rPr>
              <a:t>2</a:t>
            </a:r>
            <a:r>
              <a:rPr lang="en-US" sz="2000" dirty="0">
                <a:latin typeface="Arial"/>
                <a:cs typeface="Arial"/>
              </a:rPr>
              <a:t> retention</a:t>
            </a:r>
          </a:p>
          <a:p>
            <a:r>
              <a:rPr lang="en-US" sz="2000" dirty="0">
                <a:latin typeface="Arial"/>
                <a:cs typeface="Arial"/>
              </a:rPr>
              <a:t>Recurrent “COPD exacerbations” without true obstruction on PFTs</a:t>
            </a:r>
          </a:p>
          <a:p>
            <a:pPr marL="0" indent="0">
              <a:buNone/>
            </a:pPr>
            <a:endParaRPr lang="en-US" sz="1200" dirty="0">
              <a:latin typeface="Arial"/>
              <a:cs typeface="Arial"/>
            </a:endParaRPr>
          </a:p>
          <a:p>
            <a:pPr marL="0" indent="0">
              <a:buNone/>
            </a:pPr>
            <a:r>
              <a:rPr lang="en-US" sz="2200" b="1" dirty="0">
                <a:solidFill>
                  <a:srgbClr val="110057"/>
                </a:solidFill>
                <a:latin typeface="Arial"/>
                <a:cs typeface="Arial"/>
              </a:rPr>
              <a:t>Clinical approach</a:t>
            </a:r>
          </a:p>
          <a:p>
            <a:r>
              <a:rPr lang="en-US" sz="2000" dirty="0">
                <a:latin typeface="Arial"/>
                <a:cs typeface="Arial"/>
              </a:rPr>
              <a:t>Obtain an ABG — confirm hypercapnia</a:t>
            </a:r>
          </a:p>
          <a:p>
            <a:r>
              <a:rPr lang="en-US" sz="2000" dirty="0">
                <a:latin typeface="Arial"/>
                <a:cs typeface="Arial"/>
              </a:rPr>
              <a:t>Skeptically evaluate for “explanatory” causes (true COPD, NMD, chest wall disease)</a:t>
            </a:r>
          </a:p>
          <a:p>
            <a:r>
              <a:rPr lang="en-US" sz="2000" dirty="0">
                <a:latin typeface="Arial"/>
                <a:cs typeface="Arial"/>
              </a:rPr>
              <a:t>Many patients have </a:t>
            </a:r>
            <a:r>
              <a:rPr lang="en-US" sz="2000" b="1" dirty="0">
                <a:latin typeface="Arial"/>
                <a:cs typeface="Arial"/>
              </a:rPr>
              <a:t>multiple contributing conditions</a:t>
            </a:r>
            <a:r>
              <a:rPr lang="en-US" sz="2000" dirty="0">
                <a:latin typeface="Arial"/>
                <a:cs typeface="Arial"/>
              </a:rPr>
              <a:t> — obesity is usually one of them</a:t>
            </a:r>
          </a:p>
        </p:txBody>
      </p:sp>
      <p:sp>
        <p:nvSpPr>
          <p:cNvPr id="4" name="Rectangle 3">
            <a:extLst>
              <a:ext uri="{FF2B5EF4-FFF2-40B4-BE49-F238E27FC236}">
                <a16:creationId xmlns:a16="http://schemas.microsoft.com/office/drawing/2014/main" id="{A410CEEF-31D2-CE41-9060-6C4717A7B315}"/>
              </a:ext>
            </a:extLst>
          </p:cNvPr>
          <p:cNvSpPr/>
          <p:nvPr/>
        </p:nvSpPr>
        <p:spPr>
          <a:xfrm>
            <a:off x="838200" y="1689100"/>
            <a:ext cx="1524000" cy="38100"/>
          </a:xfrm>
          <a:prstGeom prst="rect">
            <a:avLst/>
          </a:prstGeom>
          <a:solidFill>
            <a:srgbClr val="FBAE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6002213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662CD0-1534-4C4A-BE4C-7152393E32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2DE3B4-BC36-698C-E574-2222DBB1E206}"/>
              </a:ext>
            </a:extLst>
          </p:cNvPr>
          <p:cNvSpPr>
            <a:spLocks noGrp="1"/>
          </p:cNvSpPr>
          <p:nvPr>
            <p:ph type="title"/>
          </p:nvPr>
        </p:nvSpPr>
        <p:spPr/>
        <p:txBody>
          <a:bodyPr vert="horz" lIns="91440" tIns="45720" rIns="91440" bIns="45720" rtlCol="0" anchor="b">
            <a:normAutofit fontScale="90000"/>
          </a:bodyPr>
          <a:lstStyle/>
          <a:p>
            <a:r>
              <a:rPr lang="en-US" sz="7400" b="1" dirty="0">
                <a:solidFill>
                  <a:srgbClr val="FFFFFF"/>
                </a:solidFill>
                <a:latin typeface="Arial"/>
                <a:cs typeface="Arial"/>
              </a:rPr>
              <a:t>Why is the discharge with BPAP so hard?</a:t>
            </a:r>
          </a:p>
        </p:txBody>
      </p:sp>
      <p:sp>
        <p:nvSpPr>
          <p:cNvPr id="3" name="Content Placeholder 2">
            <a:extLst>
              <a:ext uri="{FF2B5EF4-FFF2-40B4-BE49-F238E27FC236}">
                <a16:creationId xmlns:a16="http://schemas.microsoft.com/office/drawing/2014/main" id="{A64C7A29-923B-67F5-205E-0F67F6308E2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815536335"/>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437B3-3A54-88CE-4AE3-195B95F3FE60}"/>
              </a:ext>
            </a:extLst>
          </p:cNvPr>
          <p:cNvSpPr>
            <a:spLocks noGrp="1"/>
          </p:cNvSpPr>
          <p:nvPr>
            <p:ph type="title"/>
          </p:nvPr>
        </p:nvSpPr>
        <p:spPr/>
        <p:txBody>
          <a:bodyPr>
            <a:normAutofit/>
          </a:bodyPr>
          <a:lstStyle/>
          <a:p>
            <a:r>
              <a:rPr lang="en-US" sz="3200" dirty="0">
                <a:solidFill>
                  <a:srgbClr val="110057"/>
                </a:solidFill>
                <a:latin typeface="Arial"/>
                <a:cs typeface="Arial"/>
              </a:rPr>
              <a:t>Two problems: </a:t>
            </a:r>
          </a:p>
        </p:txBody>
      </p:sp>
      <p:sp>
        <p:nvSpPr>
          <p:cNvPr id="3" name="Content Placeholder 2">
            <a:extLst>
              <a:ext uri="{FF2B5EF4-FFF2-40B4-BE49-F238E27FC236}">
                <a16:creationId xmlns:a16="http://schemas.microsoft.com/office/drawing/2014/main" id="{3D7FDE4F-B799-2921-0008-FECF4FEACBB2}"/>
              </a:ext>
            </a:extLst>
          </p:cNvPr>
          <p:cNvSpPr>
            <a:spLocks noGrp="1"/>
          </p:cNvSpPr>
          <p:nvPr>
            <p:ph idx="1"/>
          </p:nvPr>
        </p:nvSpPr>
        <p:spPr/>
        <p:txBody>
          <a:bodyPr>
            <a:normAutofit/>
          </a:bodyPr>
          <a:lstStyle/>
          <a:p>
            <a:pPr marL="0" indent="0">
              <a:buNone/>
            </a:pPr>
            <a:r>
              <a:rPr lang="en-US" sz="2200" dirty="0">
                <a:latin typeface="Arial"/>
                <a:cs typeface="Arial"/>
              </a:rPr>
              <a:t>1. Patients in real life often have </a:t>
            </a:r>
            <a:r>
              <a:rPr lang="en-US" sz="2200" b="1" dirty="0">
                <a:latin typeface="Arial"/>
                <a:cs typeface="Arial"/>
              </a:rPr>
              <a:t>multiple contributing causes </a:t>
            </a:r>
            <a:r>
              <a:rPr lang="en-US" sz="2200" dirty="0">
                <a:latin typeface="Arial"/>
                <a:cs typeface="Arial"/>
              </a:rPr>
              <a:t>for their hypercapnia  </a:t>
            </a:r>
          </a:p>
        </p:txBody>
      </p:sp>
      <p:sp>
        <p:nvSpPr>
          <p:cNvPr id="4" name="Oval 3">
            <a:extLst>
              <a:ext uri="{FF2B5EF4-FFF2-40B4-BE49-F238E27FC236}">
                <a16:creationId xmlns:a16="http://schemas.microsoft.com/office/drawing/2014/main" id="{C99EE6C2-4E0C-F63C-FEC2-1C211DB1989F}"/>
              </a:ext>
            </a:extLst>
          </p:cNvPr>
          <p:cNvSpPr/>
          <p:nvPr/>
        </p:nvSpPr>
        <p:spPr>
          <a:xfrm>
            <a:off x="290304" y="3086964"/>
            <a:ext cx="6097685" cy="2638945"/>
          </a:xfrm>
          <a:prstGeom prst="ellipse">
            <a:avLst/>
          </a:prstGeom>
          <a:noFill/>
          <a:ln w="76200">
            <a:solidFill>
              <a:schemeClr val="bg2">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a:cs typeface="Arial"/>
              </a:rPr>
              <a:t>All Recognized Cases</a:t>
            </a:r>
          </a:p>
          <a:p>
            <a:pPr algn="ctr"/>
            <a:r>
              <a:rPr lang="en-US" dirty="0">
                <a:solidFill>
                  <a:schemeClr val="tx1"/>
                </a:solidFill>
                <a:latin typeface="Arial"/>
                <a:cs typeface="Arial"/>
              </a:rPr>
              <a:t>(Multifactorial Causes,</a:t>
            </a:r>
          </a:p>
          <a:p>
            <a:pPr algn="ctr"/>
            <a:r>
              <a:rPr lang="en-US" dirty="0">
                <a:solidFill>
                  <a:schemeClr val="tx1"/>
                </a:solidFill>
                <a:latin typeface="Arial"/>
                <a:cs typeface="Arial"/>
              </a:rPr>
              <a:t>Relapsing-Recurrent)</a:t>
            </a:r>
          </a:p>
        </p:txBody>
      </p:sp>
      <p:sp>
        <p:nvSpPr>
          <p:cNvPr id="5" name="TextBox 4">
            <a:extLst>
              <a:ext uri="{FF2B5EF4-FFF2-40B4-BE49-F238E27FC236}">
                <a16:creationId xmlns:a16="http://schemas.microsoft.com/office/drawing/2014/main" id="{00A7EB73-AC71-95CB-954B-E60B2138FEC8}"/>
              </a:ext>
            </a:extLst>
          </p:cNvPr>
          <p:cNvSpPr txBox="1"/>
          <p:nvPr/>
        </p:nvSpPr>
        <p:spPr>
          <a:xfrm>
            <a:off x="2419261" y="3228099"/>
            <a:ext cx="919885" cy="646331"/>
          </a:xfrm>
          <a:prstGeom prst="rect">
            <a:avLst/>
          </a:prstGeom>
          <a:noFill/>
        </p:spPr>
        <p:txBody>
          <a:bodyPr wrap="square" rtlCol="0">
            <a:spAutoFit/>
          </a:bodyPr>
          <a:lstStyle/>
          <a:p>
            <a:r>
              <a:rPr lang="en-US" sz="3600" b="1" dirty="0">
                <a:solidFill>
                  <a:srgbClr val="C00000"/>
                </a:solidFill>
                <a:latin typeface="Arial"/>
                <a:cs typeface="Arial"/>
              </a:rPr>
              <a:t>???</a:t>
            </a:r>
          </a:p>
        </p:txBody>
      </p:sp>
      <p:sp>
        <p:nvSpPr>
          <p:cNvPr id="6" name="Oval 5">
            <a:extLst>
              <a:ext uri="{FF2B5EF4-FFF2-40B4-BE49-F238E27FC236}">
                <a16:creationId xmlns:a16="http://schemas.microsoft.com/office/drawing/2014/main" id="{F51282DD-D102-DD79-3386-825C771C46C9}"/>
              </a:ext>
            </a:extLst>
          </p:cNvPr>
          <p:cNvSpPr/>
          <p:nvPr/>
        </p:nvSpPr>
        <p:spPr>
          <a:xfrm>
            <a:off x="482032" y="3551265"/>
            <a:ext cx="1391015" cy="922592"/>
          </a:xfrm>
          <a:prstGeom prst="ellipse">
            <a:avLst/>
          </a:prstGeom>
          <a:solidFill>
            <a:schemeClr val="bg1">
              <a:alpha val="63572"/>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a:cs typeface="Arial"/>
              </a:rPr>
              <a:t>Chronic ↑CO</a:t>
            </a:r>
            <a:r>
              <a:rPr lang="en-US" baseline="-25000" dirty="0">
                <a:solidFill>
                  <a:schemeClr val="tx1"/>
                </a:solidFill>
                <a:latin typeface="Arial"/>
                <a:cs typeface="Arial"/>
              </a:rPr>
              <a:t>2</a:t>
            </a:r>
            <a:r>
              <a:rPr lang="en-US" dirty="0">
                <a:solidFill>
                  <a:schemeClr val="tx1"/>
                </a:solidFill>
                <a:latin typeface="Arial"/>
                <a:cs typeface="Arial"/>
              </a:rPr>
              <a:t>  COPD</a:t>
            </a:r>
          </a:p>
        </p:txBody>
      </p:sp>
      <p:sp>
        <p:nvSpPr>
          <p:cNvPr id="7" name="Oval 6">
            <a:extLst>
              <a:ext uri="{FF2B5EF4-FFF2-40B4-BE49-F238E27FC236}">
                <a16:creationId xmlns:a16="http://schemas.microsoft.com/office/drawing/2014/main" id="{9A17DE6F-F003-1094-4049-28D838807A4B}"/>
              </a:ext>
            </a:extLst>
          </p:cNvPr>
          <p:cNvSpPr/>
          <p:nvPr/>
        </p:nvSpPr>
        <p:spPr>
          <a:xfrm>
            <a:off x="4573900" y="3551264"/>
            <a:ext cx="1653466" cy="1161480"/>
          </a:xfrm>
          <a:prstGeom prst="ellipse">
            <a:avLst/>
          </a:prstGeom>
          <a:solidFill>
            <a:schemeClr val="bg1">
              <a:alpha val="63572"/>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a:cs typeface="Arial"/>
              </a:rPr>
              <a:t>Obesity </a:t>
            </a:r>
            <a:r>
              <a:rPr lang="en-US" dirty="0" err="1">
                <a:solidFill>
                  <a:schemeClr val="tx1"/>
                </a:solidFill>
                <a:latin typeface="Arial"/>
                <a:cs typeface="Arial"/>
              </a:rPr>
              <a:t>Hypovent</a:t>
            </a:r>
            <a:endParaRPr lang="en-US" dirty="0">
              <a:solidFill>
                <a:schemeClr val="tx1"/>
              </a:solidFill>
              <a:latin typeface="Arial"/>
              <a:cs typeface="Arial"/>
            </a:endParaRPr>
          </a:p>
        </p:txBody>
      </p:sp>
      <p:sp>
        <p:nvSpPr>
          <p:cNvPr id="8" name="Oval 7">
            <a:extLst>
              <a:ext uri="{FF2B5EF4-FFF2-40B4-BE49-F238E27FC236}">
                <a16:creationId xmlns:a16="http://schemas.microsoft.com/office/drawing/2014/main" id="{0E255DE7-788A-F7D0-F6CB-8F08DD9C69DA}"/>
              </a:ext>
            </a:extLst>
          </p:cNvPr>
          <p:cNvSpPr/>
          <p:nvPr/>
        </p:nvSpPr>
        <p:spPr>
          <a:xfrm>
            <a:off x="3442834" y="5137812"/>
            <a:ext cx="917775" cy="779880"/>
          </a:xfrm>
          <a:prstGeom prst="ellipse">
            <a:avLst/>
          </a:prstGeom>
          <a:solidFill>
            <a:schemeClr val="bg1">
              <a:alpha val="63572"/>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a:cs typeface="Arial"/>
              </a:rPr>
              <a:t>ALS</a:t>
            </a:r>
          </a:p>
        </p:txBody>
      </p:sp>
      <p:pic>
        <p:nvPicPr>
          <p:cNvPr id="9" name="Picture 8">
            <a:extLst>
              <a:ext uri="{FF2B5EF4-FFF2-40B4-BE49-F238E27FC236}">
                <a16:creationId xmlns:a16="http://schemas.microsoft.com/office/drawing/2014/main" id="{303BB3C9-E554-BBD4-B058-2FFADE24CDCA}"/>
              </a:ext>
            </a:extLst>
          </p:cNvPr>
          <p:cNvPicPr>
            <a:picLocks noChangeAspect="1"/>
          </p:cNvPicPr>
          <p:nvPr/>
        </p:nvPicPr>
        <p:blipFill>
          <a:blip r:embed="rId3"/>
          <a:stretch>
            <a:fillRect/>
          </a:stretch>
        </p:blipFill>
        <p:spPr>
          <a:xfrm>
            <a:off x="6417485" y="2363126"/>
            <a:ext cx="5180592" cy="4129749"/>
          </a:xfrm>
          <a:prstGeom prst="rect">
            <a:avLst/>
          </a:prstGeom>
        </p:spPr>
      </p:pic>
      <p:sp>
        <p:nvSpPr>
          <p:cNvPr id="10" name="Rectangle 9">
            <a:extLst>
              <a:ext uri="{FF2B5EF4-FFF2-40B4-BE49-F238E27FC236}">
                <a16:creationId xmlns:a16="http://schemas.microsoft.com/office/drawing/2014/main" id="{6470CB59-BFA9-454D-B96E-D00456E73A1C}"/>
              </a:ext>
            </a:extLst>
          </p:cNvPr>
          <p:cNvSpPr/>
          <p:nvPr/>
        </p:nvSpPr>
        <p:spPr>
          <a:xfrm>
            <a:off x="838200" y="1689100"/>
            <a:ext cx="1524000" cy="38100"/>
          </a:xfrm>
          <a:prstGeom prst="rect">
            <a:avLst/>
          </a:prstGeom>
          <a:solidFill>
            <a:srgbClr val="FBAE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41522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CC818-1AD1-2468-DE2D-B105D4E29D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8678F4-F5EB-FC8F-7BA0-12437A9A68A1}"/>
              </a:ext>
            </a:extLst>
          </p:cNvPr>
          <p:cNvSpPr>
            <a:spLocks noGrp="1"/>
          </p:cNvSpPr>
          <p:nvPr>
            <p:ph type="title"/>
          </p:nvPr>
        </p:nvSpPr>
        <p:spPr/>
        <p:txBody>
          <a:bodyPr>
            <a:normAutofit/>
          </a:bodyPr>
          <a:lstStyle/>
          <a:p>
            <a:r>
              <a:rPr lang="en-US" sz="3200" dirty="0">
                <a:solidFill>
                  <a:srgbClr val="110057"/>
                </a:solidFill>
                <a:latin typeface="Arial"/>
                <a:cs typeface="Arial"/>
              </a:rPr>
              <a:t>Two problems: </a:t>
            </a:r>
          </a:p>
        </p:txBody>
      </p:sp>
      <p:sp>
        <p:nvSpPr>
          <p:cNvPr id="33" name="Content Placeholder 32">
            <a:extLst>
              <a:ext uri="{FF2B5EF4-FFF2-40B4-BE49-F238E27FC236}">
                <a16:creationId xmlns:a16="http://schemas.microsoft.com/office/drawing/2014/main" id="{207E8755-C10A-1705-53F6-65769BB7545B}"/>
              </a:ext>
            </a:extLst>
          </p:cNvPr>
          <p:cNvSpPr>
            <a:spLocks noGrp="1"/>
          </p:cNvSpPr>
          <p:nvPr>
            <p:ph idx="1"/>
          </p:nvPr>
        </p:nvSpPr>
        <p:spPr/>
        <p:txBody>
          <a:bodyPr/>
          <a:lstStyle/>
          <a:p>
            <a:endParaRPr lang="en-US"/>
          </a:p>
        </p:txBody>
      </p:sp>
      <p:sp>
        <p:nvSpPr>
          <p:cNvPr id="4" name="Title 1">
            <a:extLst>
              <a:ext uri="{FF2B5EF4-FFF2-40B4-BE49-F238E27FC236}">
                <a16:creationId xmlns:a16="http://schemas.microsoft.com/office/drawing/2014/main" id="{661E6C8A-56C2-436C-ABFC-1541150EDCAF}"/>
              </a:ext>
            </a:extLst>
          </p:cNvPr>
          <p:cNvSpPr txBox="1">
            <a:spLocks/>
          </p:cNvSpPr>
          <p:nvPr/>
        </p:nvSpPr>
        <p:spPr>
          <a:xfrm>
            <a:off x="838200" y="1376392"/>
            <a:ext cx="1122790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200" dirty="0">
                <a:solidFill>
                  <a:srgbClr val="110057"/>
                </a:solidFill>
                <a:latin typeface="Arial"/>
                <a:cs typeface="Arial"/>
              </a:rPr>
              <a:t>2. Hypercapnic respiratory failure often </a:t>
            </a:r>
            <a:r>
              <a:rPr lang="en-US" sz="2200" b="1" dirty="0">
                <a:solidFill>
                  <a:srgbClr val="110057"/>
                </a:solidFill>
                <a:latin typeface="Arial"/>
                <a:cs typeface="Arial"/>
              </a:rPr>
              <a:t>precedes diagnosis </a:t>
            </a:r>
            <a:r>
              <a:rPr lang="en-US" sz="2200" dirty="0">
                <a:solidFill>
                  <a:srgbClr val="110057"/>
                </a:solidFill>
                <a:latin typeface="Arial"/>
                <a:cs typeface="Arial"/>
              </a:rPr>
              <a:t>of the causative disease</a:t>
            </a:r>
          </a:p>
        </p:txBody>
      </p:sp>
      <p:sp>
        <p:nvSpPr>
          <p:cNvPr id="5" name="Rounded Rectangle 4">
            <a:extLst>
              <a:ext uri="{FF2B5EF4-FFF2-40B4-BE49-F238E27FC236}">
                <a16:creationId xmlns:a16="http://schemas.microsoft.com/office/drawing/2014/main" id="{47869855-E2A5-3A19-BBFE-06B0FF145D94}"/>
              </a:ext>
            </a:extLst>
          </p:cNvPr>
          <p:cNvSpPr/>
          <p:nvPr/>
        </p:nvSpPr>
        <p:spPr>
          <a:xfrm>
            <a:off x="932047" y="3551277"/>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Arial"/>
                <a:cs typeface="Arial"/>
              </a:rPr>
              <a:t>Outpatient Diagnosis</a:t>
            </a:r>
          </a:p>
        </p:txBody>
      </p:sp>
      <p:sp>
        <p:nvSpPr>
          <p:cNvPr id="6" name="Rounded Rectangle 5">
            <a:extLst>
              <a:ext uri="{FF2B5EF4-FFF2-40B4-BE49-F238E27FC236}">
                <a16:creationId xmlns:a16="http://schemas.microsoft.com/office/drawing/2014/main" id="{7A07658C-D1DD-08D3-0CDF-D1A98416B496}"/>
              </a:ext>
            </a:extLst>
          </p:cNvPr>
          <p:cNvSpPr/>
          <p:nvPr/>
        </p:nvSpPr>
        <p:spPr>
          <a:xfrm>
            <a:off x="3145475" y="3551277"/>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Arial"/>
                <a:cs typeface="Arial"/>
              </a:rPr>
              <a:t>Disease Worsens or exacerbates</a:t>
            </a:r>
          </a:p>
        </p:txBody>
      </p:sp>
      <p:sp>
        <p:nvSpPr>
          <p:cNvPr id="7" name="Rounded Rectangle 6">
            <a:extLst>
              <a:ext uri="{FF2B5EF4-FFF2-40B4-BE49-F238E27FC236}">
                <a16:creationId xmlns:a16="http://schemas.microsoft.com/office/drawing/2014/main" id="{4A18BFE2-49B6-16D5-5E3F-AFF9075027A8}"/>
              </a:ext>
            </a:extLst>
          </p:cNvPr>
          <p:cNvSpPr/>
          <p:nvPr/>
        </p:nvSpPr>
        <p:spPr>
          <a:xfrm>
            <a:off x="5358903" y="3551277"/>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Arial"/>
                <a:cs typeface="Arial"/>
              </a:rPr>
              <a:t>Hypercapnic Resp. Failure</a:t>
            </a:r>
          </a:p>
        </p:txBody>
      </p:sp>
      <p:sp>
        <p:nvSpPr>
          <p:cNvPr id="8" name="Rounded Rectangle 7">
            <a:extLst>
              <a:ext uri="{FF2B5EF4-FFF2-40B4-BE49-F238E27FC236}">
                <a16:creationId xmlns:a16="http://schemas.microsoft.com/office/drawing/2014/main" id="{7E650787-7BEF-E620-95A7-6BC13F345E3B}"/>
              </a:ext>
            </a:extLst>
          </p:cNvPr>
          <p:cNvSpPr/>
          <p:nvPr/>
        </p:nvSpPr>
        <p:spPr>
          <a:xfrm>
            <a:off x="7572331" y="3551277"/>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Arial"/>
                <a:cs typeface="Arial"/>
              </a:rPr>
              <a:t>Stabilized</a:t>
            </a:r>
          </a:p>
        </p:txBody>
      </p:sp>
      <p:sp>
        <p:nvSpPr>
          <p:cNvPr id="9" name="Rounded Rectangle 8">
            <a:extLst>
              <a:ext uri="{FF2B5EF4-FFF2-40B4-BE49-F238E27FC236}">
                <a16:creationId xmlns:a16="http://schemas.microsoft.com/office/drawing/2014/main" id="{44C80241-3415-1C66-68F0-1FAD4CB6887B}"/>
              </a:ext>
            </a:extLst>
          </p:cNvPr>
          <p:cNvSpPr/>
          <p:nvPr/>
        </p:nvSpPr>
        <p:spPr>
          <a:xfrm>
            <a:off x="3145475" y="4574545"/>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Arial"/>
                <a:cs typeface="Arial"/>
              </a:rPr>
              <a:t>No established Diagnosis</a:t>
            </a:r>
          </a:p>
        </p:txBody>
      </p:sp>
      <p:sp>
        <p:nvSpPr>
          <p:cNvPr id="10" name="Rounded Rectangle 9">
            <a:extLst>
              <a:ext uri="{FF2B5EF4-FFF2-40B4-BE49-F238E27FC236}">
                <a16:creationId xmlns:a16="http://schemas.microsoft.com/office/drawing/2014/main" id="{3716CB53-59F8-6D3D-4516-733D6CFF3CA9}"/>
              </a:ext>
            </a:extLst>
          </p:cNvPr>
          <p:cNvSpPr/>
          <p:nvPr/>
        </p:nvSpPr>
        <p:spPr>
          <a:xfrm>
            <a:off x="5380672" y="4574545"/>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Arial"/>
                <a:cs typeface="Arial"/>
              </a:rPr>
              <a:t>Presentation with hypercapnia</a:t>
            </a:r>
          </a:p>
        </p:txBody>
      </p:sp>
      <p:sp>
        <p:nvSpPr>
          <p:cNvPr id="11" name="Rounded Rectangle 10">
            <a:extLst>
              <a:ext uri="{FF2B5EF4-FFF2-40B4-BE49-F238E27FC236}">
                <a16:creationId xmlns:a16="http://schemas.microsoft.com/office/drawing/2014/main" id="{5805CF8C-863B-54FD-F427-B60F83F599A8}"/>
              </a:ext>
            </a:extLst>
          </p:cNvPr>
          <p:cNvSpPr/>
          <p:nvPr/>
        </p:nvSpPr>
        <p:spPr>
          <a:xfrm>
            <a:off x="7594100" y="4574545"/>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Arial"/>
                <a:cs typeface="Arial"/>
              </a:rPr>
              <a:t>Stabilized; outpt. workup ordered</a:t>
            </a:r>
          </a:p>
        </p:txBody>
      </p:sp>
      <p:sp>
        <p:nvSpPr>
          <p:cNvPr id="12" name="Rounded Rectangle 11">
            <a:extLst>
              <a:ext uri="{FF2B5EF4-FFF2-40B4-BE49-F238E27FC236}">
                <a16:creationId xmlns:a16="http://schemas.microsoft.com/office/drawing/2014/main" id="{C871DA37-690A-B44A-7E13-BC76A8453F20}"/>
              </a:ext>
            </a:extLst>
          </p:cNvPr>
          <p:cNvSpPr/>
          <p:nvPr/>
        </p:nvSpPr>
        <p:spPr>
          <a:xfrm>
            <a:off x="9807528" y="4574545"/>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C00000"/>
                </a:solidFill>
                <a:latin typeface="Arial"/>
                <a:cs typeface="Arial"/>
              </a:rPr>
              <a:t>Initial outpt. management?</a:t>
            </a:r>
          </a:p>
        </p:txBody>
      </p:sp>
      <p:sp>
        <p:nvSpPr>
          <p:cNvPr id="13" name="Right Arrow 12">
            <a:extLst>
              <a:ext uri="{FF2B5EF4-FFF2-40B4-BE49-F238E27FC236}">
                <a16:creationId xmlns:a16="http://schemas.microsoft.com/office/drawing/2014/main" id="{AC711301-49AB-7061-FBF1-164120A224DC}"/>
              </a:ext>
            </a:extLst>
          </p:cNvPr>
          <p:cNvSpPr/>
          <p:nvPr/>
        </p:nvSpPr>
        <p:spPr>
          <a:xfrm>
            <a:off x="5068616" y="4726946"/>
            <a:ext cx="326570" cy="348342"/>
          </a:xfrm>
          <a:prstGeom prst="rightArrow">
            <a:avLst/>
          </a:prstGeom>
          <a:solidFill>
            <a:schemeClr val="bg1"/>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a:extLst>
              <a:ext uri="{FF2B5EF4-FFF2-40B4-BE49-F238E27FC236}">
                <a16:creationId xmlns:a16="http://schemas.microsoft.com/office/drawing/2014/main" id="{AA50D715-1420-6BD1-E6E9-BEB2AB2EC400}"/>
              </a:ext>
            </a:extLst>
          </p:cNvPr>
          <p:cNvSpPr/>
          <p:nvPr/>
        </p:nvSpPr>
        <p:spPr>
          <a:xfrm>
            <a:off x="7282043" y="4734206"/>
            <a:ext cx="326570" cy="348342"/>
          </a:xfrm>
          <a:prstGeom prst="rightArrow">
            <a:avLst/>
          </a:prstGeom>
          <a:solidFill>
            <a:schemeClr val="bg1"/>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F4F3F232-D702-C17C-F175-26CBC9E8514B}"/>
              </a:ext>
            </a:extLst>
          </p:cNvPr>
          <p:cNvSpPr/>
          <p:nvPr/>
        </p:nvSpPr>
        <p:spPr>
          <a:xfrm>
            <a:off x="9480958" y="4719692"/>
            <a:ext cx="326570" cy="348342"/>
          </a:xfrm>
          <a:prstGeom prst="rightArrow">
            <a:avLst/>
          </a:prstGeom>
          <a:solidFill>
            <a:schemeClr val="bg1"/>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a:extLst>
              <a:ext uri="{FF2B5EF4-FFF2-40B4-BE49-F238E27FC236}">
                <a16:creationId xmlns:a16="http://schemas.microsoft.com/office/drawing/2014/main" id="{5E7BAF2A-50E1-E892-14F5-142DE202C3B4}"/>
              </a:ext>
            </a:extLst>
          </p:cNvPr>
          <p:cNvSpPr/>
          <p:nvPr/>
        </p:nvSpPr>
        <p:spPr>
          <a:xfrm>
            <a:off x="2818905" y="3732701"/>
            <a:ext cx="326570" cy="348342"/>
          </a:xfrm>
          <a:prstGeom prst="rightArrow">
            <a:avLst/>
          </a:prstGeom>
          <a:solidFill>
            <a:schemeClr val="bg1"/>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Arrow 16">
            <a:extLst>
              <a:ext uri="{FF2B5EF4-FFF2-40B4-BE49-F238E27FC236}">
                <a16:creationId xmlns:a16="http://schemas.microsoft.com/office/drawing/2014/main" id="{DC5DC868-BCC2-3540-1AA3-0F7C3E5CD781}"/>
              </a:ext>
            </a:extLst>
          </p:cNvPr>
          <p:cNvSpPr/>
          <p:nvPr/>
        </p:nvSpPr>
        <p:spPr>
          <a:xfrm>
            <a:off x="5017818" y="3739961"/>
            <a:ext cx="326570" cy="348342"/>
          </a:xfrm>
          <a:prstGeom prst="rightArrow">
            <a:avLst/>
          </a:prstGeom>
          <a:solidFill>
            <a:schemeClr val="bg1"/>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a:extLst>
              <a:ext uri="{FF2B5EF4-FFF2-40B4-BE49-F238E27FC236}">
                <a16:creationId xmlns:a16="http://schemas.microsoft.com/office/drawing/2014/main" id="{1EE5F366-D576-9C0C-749F-B1C11499922C}"/>
              </a:ext>
            </a:extLst>
          </p:cNvPr>
          <p:cNvSpPr/>
          <p:nvPr/>
        </p:nvSpPr>
        <p:spPr>
          <a:xfrm>
            <a:off x="7245761" y="3725447"/>
            <a:ext cx="326570" cy="348342"/>
          </a:xfrm>
          <a:prstGeom prst="rightArrow">
            <a:avLst/>
          </a:prstGeom>
          <a:solidFill>
            <a:schemeClr val="bg1"/>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Graphic 18" descr="Woman with solid fill">
            <a:extLst>
              <a:ext uri="{FF2B5EF4-FFF2-40B4-BE49-F238E27FC236}">
                <a16:creationId xmlns:a16="http://schemas.microsoft.com/office/drawing/2014/main" id="{492D9DA7-47F7-8C31-0A6B-51A5A751A5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3763" y="3308141"/>
            <a:ext cx="914400" cy="914400"/>
          </a:xfrm>
          <a:prstGeom prst="rect">
            <a:avLst/>
          </a:prstGeom>
        </p:spPr>
      </p:pic>
      <p:pic>
        <p:nvPicPr>
          <p:cNvPr id="20" name="Graphic 19" descr="Woman with solid fill">
            <a:extLst>
              <a:ext uri="{FF2B5EF4-FFF2-40B4-BE49-F238E27FC236}">
                <a16:creationId xmlns:a16="http://schemas.microsoft.com/office/drawing/2014/main" id="{EFA1DE35-6C6D-B555-5C94-8E50EBDBA11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990" y="4491125"/>
            <a:ext cx="914400" cy="914400"/>
          </a:xfrm>
          <a:prstGeom prst="rect">
            <a:avLst/>
          </a:prstGeom>
        </p:spPr>
      </p:pic>
      <p:pic>
        <p:nvPicPr>
          <p:cNvPr id="21" name="Graphic 20" descr="Lungs outline">
            <a:extLst>
              <a:ext uri="{FF2B5EF4-FFF2-40B4-BE49-F238E27FC236}">
                <a16:creationId xmlns:a16="http://schemas.microsoft.com/office/drawing/2014/main" id="{1F87F982-AEC8-4515-A22E-0B1BA71D24D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18276" y="2582443"/>
            <a:ext cx="914400" cy="914400"/>
          </a:xfrm>
          <a:prstGeom prst="rect">
            <a:avLst/>
          </a:prstGeom>
        </p:spPr>
      </p:pic>
      <p:pic>
        <p:nvPicPr>
          <p:cNvPr id="22" name="Graphic 21" descr="Hospital outline">
            <a:extLst>
              <a:ext uri="{FF2B5EF4-FFF2-40B4-BE49-F238E27FC236}">
                <a16:creationId xmlns:a16="http://schemas.microsoft.com/office/drawing/2014/main" id="{75E850EE-C0A5-0A46-D422-60D52D56617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45132" y="5300272"/>
            <a:ext cx="914400" cy="914400"/>
          </a:xfrm>
          <a:prstGeom prst="rect">
            <a:avLst/>
          </a:prstGeom>
        </p:spPr>
      </p:pic>
      <p:pic>
        <p:nvPicPr>
          <p:cNvPr id="23" name="Graphic 22" descr="Hospital outline">
            <a:extLst>
              <a:ext uri="{FF2B5EF4-FFF2-40B4-BE49-F238E27FC236}">
                <a16:creationId xmlns:a16="http://schemas.microsoft.com/office/drawing/2014/main" id="{8271855F-31E4-436A-85E5-0031EFEB06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45132" y="2535276"/>
            <a:ext cx="914400" cy="914400"/>
          </a:xfrm>
          <a:prstGeom prst="rect">
            <a:avLst/>
          </a:prstGeom>
        </p:spPr>
      </p:pic>
      <p:pic>
        <p:nvPicPr>
          <p:cNvPr id="24" name="Graphic 23" descr="Lungs with virus outline">
            <a:extLst>
              <a:ext uri="{FF2B5EF4-FFF2-40B4-BE49-F238E27FC236}">
                <a16:creationId xmlns:a16="http://schemas.microsoft.com/office/drawing/2014/main" id="{6C18E0A1-F583-74EA-731A-FC5D65CFE68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559133" y="2607849"/>
            <a:ext cx="914400" cy="914400"/>
          </a:xfrm>
          <a:prstGeom prst="rect">
            <a:avLst/>
          </a:prstGeom>
        </p:spPr>
      </p:pic>
      <p:sp>
        <p:nvSpPr>
          <p:cNvPr id="25" name="Rounded Rectangle 24">
            <a:extLst>
              <a:ext uri="{FF2B5EF4-FFF2-40B4-BE49-F238E27FC236}">
                <a16:creationId xmlns:a16="http://schemas.microsoft.com/office/drawing/2014/main" id="{99A337AB-EC1A-D78A-CB9F-4AEA33C2F2A4}"/>
              </a:ext>
            </a:extLst>
          </p:cNvPr>
          <p:cNvSpPr/>
          <p:nvPr/>
        </p:nvSpPr>
        <p:spPr>
          <a:xfrm>
            <a:off x="9843815" y="3565786"/>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Arial"/>
                <a:cs typeface="Arial"/>
              </a:rPr>
              <a:t>Management as per guideline</a:t>
            </a:r>
          </a:p>
        </p:txBody>
      </p:sp>
      <p:sp>
        <p:nvSpPr>
          <p:cNvPr id="26" name="Right Arrow 25">
            <a:extLst>
              <a:ext uri="{FF2B5EF4-FFF2-40B4-BE49-F238E27FC236}">
                <a16:creationId xmlns:a16="http://schemas.microsoft.com/office/drawing/2014/main" id="{034EF873-DBE5-AFB1-7E2E-F50A8D740CAA}"/>
              </a:ext>
            </a:extLst>
          </p:cNvPr>
          <p:cNvSpPr/>
          <p:nvPr/>
        </p:nvSpPr>
        <p:spPr>
          <a:xfrm>
            <a:off x="9488217" y="3739956"/>
            <a:ext cx="326570" cy="348342"/>
          </a:xfrm>
          <a:prstGeom prst="rightArrow">
            <a:avLst/>
          </a:prstGeom>
          <a:solidFill>
            <a:schemeClr val="bg1"/>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Graphic 26" descr="Lungs with virus outline">
            <a:extLst>
              <a:ext uri="{FF2B5EF4-FFF2-40B4-BE49-F238E27FC236}">
                <a16:creationId xmlns:a16="http://schemas.microsoft.com/office/drawing/2014/main" id="{B3E7846B-88E3-79BA-C717-F2438EEB325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97015" y="5318381"/>
            <a:ext cx="914400" cy="914400"/>
          </a:xfrm>
          <a:prstGeom prst="rect">
            <a:avLst/>
          </a:prstGeom>
        </p:spPr>
      </p:pic>
      <p:sp>
        <p:nvSpPr>
          <p:cNvPr id="28" name="Right Arrow 27">
            <a:extLst>
              <a:ext uri="{FF2B5EF4-FFF2-40B4-BE49-F238E27FC236}">
                <a16:creationId xmlns:a16="http://schemas.microsoft.com/office/drawing/2014/main" id="{7081F4B8-5B8F-8A85-681B-837888E95188}"/>
              </a:ext>
            </a:extLst>
          </p:cNvPr>
          <p:cNvSpPr/>
          <p:nvPr/>
        </p:nvSpPr>
        <p:spPr>
          <a:xfrm rot="2403410">
            <a:off x="9425319" y="5156221"/>
            <a:ext cx="326570" cy="348342"/>
          </a:xfrm>
          <a:prstGeom prst="rightArrow">
            <a:avLst/>
          </a:prstGeom>
          <a:solidFill>
            <a:schemeClr val="bg1"/>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a:extLst>
              <a:ext uri="{FF2B5EF4-FFF2-40B4-BE49-F238E27FC236}">
                <a16:creationId xmlns:a16="http://schemas.microsoft.com/office/drawing/2014/main" id="{2DD74632-7B62-A7F0-D3C5-024AF2EE952D}"/>
              </a:ext>
            </a:extLst>
          </p:cNvPr>
          <p:cNvSpPr/>
          <p:nvPr/>
        </p:nvSpPr>
        <p:spPr>
          <a:xfrm>
            <a:off x="9829302" y="5365573"/>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C00000"/>
                </a:solidFill>
                <a:latin typeface="Arial"/>
                <a:cs typeface="Arial"/>
              </a:rPr>
              <a:t>Transition in care</a:t>
            </a:r>
          </a:p>
        </p:txBody>
      </p:sp>
      <p:pic>
        <p:nvPicPr>
          <p:cNvPr id="30" name="Graphic 29" descr="Checklist outline">
            <a:extLst>
              <a:ext uri="{FF2B5EF4-FFF2-40B4-BE49-F238E27FC236}">
                <a16:creationId xmlns:a16="http://schemas.microsoft.com/office/drawing/2014/main" id="{9212926F-2FF8-D29E-6278-3CD8131E4D9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271988" y="2535264"/>
            <a:ext cx="914400" cy="914400"/>
          </a:xfrm>
          <a:prstGeom prst="rect">
            <a:avLst/>
          </a:prstGeom>
        </p:spPr>
      </p:pic>
      <p:pic>
        <p:nvPicPr>
          <p:cNvPr id="31" name="Graphic 30" descr="No sign with solid fill">
            <a:extLst>
              <a:ext uri="{FF2B5EF4-FFF2-40B4-BE49-F238E27FC236}">
                <a16:creationId xmlns:a16="http://schemas.microsoft.com/office/drawing/2014/main" id="{0A3ECE76-655D-E2F4-4DCC-A7C504456B0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342683" y="4476611"/>
            <a:ext cx="914400" cy="914400"/>
          </a:xfrm>
          <a:prstGeom prst="rect">
            <a:avLst/>
          </a:prstGeom>
        </p:spPr>
      </p:pic>
      <p:sp>
        <p:nvSpPr>
          <p:cNvPr id="32" name="TextBox 31">
            <a:extLst>
              <a:ext uri="{FF2B5EF4-FFF2-40B4-BE49-F238E27FC236}">
                <a16:creationId xmlns:a16="http://schemas.microsoft.com/office/drawing/2014/main" id="{DF47CD8A-96EE-4814-A711-5FCCE87C516F}"/>
              </a:ext>
            </a:extLst>
          </p:cNvPr>
          <p:cNvSpPr txBox="1"/>
          <p:nvPr/>
        </p:nvSpPr>
        <p:spPr>
          <a:xfrm>
            <a:off x="8199464" y="5649384"/>
            <a:ext cx="2039260" cy="369332"/>
          </a:xfrm>
          <a:prstGeom prst="rect">
            <a:avLst/>
          </a:prstGeom>
          <a:noFill/>
        </p:spPr>
        <p:txBody>
          <a:bodyPr wrap="square" rtlCol="0">
            <a:spAutoFit/>
          </a:bodyPr>
          <a:lstStyle/>
          <a:p>
            <a:pPr algn="ctr"/>
            <a:r>
              <a:rPr lang="en-US" b="1" dirty="0">
                <a:solidFill>
                  <a:srgbClr val="C00000"/>
                </a:solidFill>
                <a:latin typeface="Arial"/>
                <a:cs typeface="Arial"/>
              </a:rPr>
              <a:t>Reliable?</a:t>
            </a:r>
          </a:p>
        </p:txBody>
      </p:sp>
      <p:sp>
        <p:nvSpPr>
          <p:cNvPr id="3" name="Rectangle 2">
            <a:extLst>
              <a:ext uri="{FF2B5EF4-FFF2-40B4-BE49-F238E27FC236}">
                <a16:creationId xmlns:a16="http://schemas.microsoft.com/office/drawing/2014/main" id="{3DFDCDF9-0C8E-CB4B-A952-0E05BE31DA39}"/>
              </a:ext>
            </a:extLst>
          </p:cNvPr>
          <p:cNvSpPr/>
          <p:nvPr/>
        </p:nvSpPr>
        <p:spPr>
          <a:xfrm>
            <a:off x="838200" y="1689100"/>
            <a:ext cx="1524000" cy="38100"/>
          </a:xfrm>
          <a:prstGeom prst="rect">
            <a:avLst/>
          </a:prstGeom>
          <a:solidFill>
            <a:srgbClr val="FBAE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7652007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B7B821E-138A-7F11-38CA-AF62F026E0E0}"/>
              </a:ext>
            </a:extLst>
          </p:cNvPr>
          <p:cNvSpPr>
            <a:spLocks noGrp="1"/>
          </p:cNvSpPr>
          <p:nvPr>
            <p:ph type="title"/>
          </p:nvPr>
        </p:nvSpPr>
        <p:spPr/>
        <p:txBody>
          <a:bodyPr>
            <a:normAutofit/>
          </a:bodyPr>
          <a:lstStyle/>
          <a:p>
            <a:r>
              <a:rPr lang="en-US" sz="3200" b="1" dirty="0">
                <a:solidFill>
                  <a:srgbClr val="110057"/>
                </a:solidFill>
                <a:latin typeface="Arial"/>
                <a:cs typeface="Arial"/>
              </a:rPr>
              <a:t>Low</a:t>
            </a:r>
            <a:r>
              <a:rPr lang="en-US" sz="3200" dirty="0">
                <a:solidFill>
                  <a:srgbClr val="110057"/>
                </a:solidFill>
                <a:latin typeface="Arial"/>
                <a:cs typeface="Arial"/>
              </a:rPr>
              <a:t> diagnostic testing rates </a:t>
            </a:r>
          </a:p>
        </p:txBody>
      </p:sp>
      <p:sp>
        <p:nvSpPr>
          <p:cNvPr id="15" name="Content Placeholder 14">
            <a:extLst>
              <a:ext uri="{FF2B5EF4-FFF2-40B4-BE49-F238E27FC236}">
                <a16:creationId xmlns:a16="http://schemas.microsoft.com/office/drawing/2014/main" id="{7F42157B-4C2F-2FEA-7C8C-50B655271D3A}"/>
              </a:ext>
            </a:extLst>
          </p:cNvPr>
          <p:cNvSpPr>
            <a:spLocks noGrp="1"/>
          </p:cNvSpPr>
          <p:nvPr>
            <p:ph idx="1"/>
          </p:nvPr>
        </p:nvSpPr>
        <p:spPr/>
        <p:txBody>
          <a:bodyPr/>
          <a:lstStyle/>
          <a:p>
            <a:endParaRPr lang="en-US"/>
          </a:p>
        </p:txBody>
      </p:sp>
      <p:sp>
        <p:nvSpPr>
          <p:cNvPr id="5" name="Text Placeholder 2">
            <a:extLst>
              <a:ext uri="{FF2B5EF4-FFF2-40B4-BE49-F238E27FC236}">
                <a16:creationId xmlns:a16="http://schemas.microsoft.com/office/drawing/2014/main" id="{22E45B84-35BF-E341-AF2A-68796BBCD4A4}"/>
              </a:ext>
            </a:extLst>
          </p:cNvPr>
          <p:cNvSpPr txBox="1">
            <a:spLocks/>
          </p:cNvSpPr>
          <p:nvPr/>
        </p:nvSpPr>
        <p:spPr>
          <a:xfrm>
            <a:off x="667398" y="1767783"/>
            <a:ext cx="11227903" cy="38839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latin typeface="Arial"/>
                <a:cs typeface="Arial"/>
              </a:rPr>
              <a:t>Testing for most common causes of hypercapnia (e.g. spirometry, sleep testing) occurs </a:t>
            </a:r>
            <a:r>
              <a:rPr lang="en-US" sz="2200" b="1" dirty="0">
                <a:latin typeface="Arial"/>
                <a:cs typeface="Arial"/>
              </a:rPr>
              <a:t>after hospitalization</a:t>
            </a:r>
            <a:r>
              <a:rPr lang="en-US" sz="2200" dirty="0">
                <a:latin typeface="Arial"/>
                <a:cs typeface="Arial"/>
              </a:rPr>
              <a:t>. </a:t>
            </a:r>
          </a:p>
          <a:p>
            <a:pPr marL="0" indent="0">
              <a:buFont typeface="Arial" panose="020B0604020202020204" pitchFamily="34" charset="0"/>
              <a:buNone/>
            </a:pPr>
            <a:r>
              <a:rPr lang="en-US" sz="2200" dirty="0">
                <a:latin typeface="Arial"/>
                <a:cs typeface="Arial"/>
              </a:rPr>
              <a:t>Diagnostics require special resources, referrals, and high patient engagement; </a:t>
            </a:r>
            <a:r>
              <a:rPr lang="en-US" sz="2200" b="1" dirty="0">
                <a:latin typeface="Arial"/>
                <a:cs typeface="Arial"/>
              </a:rPr>
              <a:t>barriers may reduce workup completion rates</a:t>
            </a:r>
            <a:r>
              <a:rPr lang="en-US" sz="2200" dirty="0">
                <a:latin typeface="Arial"/>
                <a:cs typeface="Arial"/>
              </a:rPr>
              <a:t>.</a:t>
            </a:r>
          </a:p>
          <a:p>
            <a:pPr marL="0" indent="0">
              <a:buFont typeface="Arial" panose="020B0604020202020204" pitchFamily="34" charset="0"/>
              <a:buNone/>
            </a:pPr>
            <a:r>
              <a:rPr lang="en-US" sz="2200" dirty="0">
                <a:latin typeface="Arial"/>
                <a:cs typeface="Arial"/>
              </a:rPr>
              <a:t>Workup should, presumably, include tests for the commonest causes. </a:t>
            </a:r>
          </a:p>
        </p:txBody>
      </p:sp>
      <p:grpSp>
        <p:nvGrpSpPr>
          <p:cNvPr id="6" name="Group 5">
            <a:extLst>
              <a:ext uri="{FF2B5EF4-FFF2-40B4-BE49-F238E27FC236}">
                <a16:creationId xmlns:a16="http://schemas.microsoft.com/office/drawing/2014/main" id="{F9E8B830-9A79-4C1A-E668-E2B9FC7C6DC8}"/>
              </a:ext>
            </a:extLst>
          </p:cNvPr>
          <p:cNvGrpSpPr/>
          <p:nvPr/>
        </p:nvGrpSpPr>
        <p:grpSpPr>
          <a:xfrm>
            <a:off x="1799772" y="4270109"/>
            <a:ext cx="8527142" cy="1143714"/>
            <a:chOff x="1799772" y="4502333"/>
            <a:chExt cx="8527142" cy="1143714"/>
          </a:xfrm>
        </p:grpSpPr>
        <p:sp>
          <p:nvSpPr>
            <p:cNvPr id="7" name="Rounded Rectangle 6">
              <a:extLst>
                <a:ext uri="{FF2B5EF4-FFF2-40B4-BE49-F238E27FC236}">
                  <a16:creationId xmlns:a16="http://schemas.microsoft.com/office/drawing/2014/main" id="{3FDF63A7-5AD6-609F-D0E2-6382A478C4E1}"/>
                </a:ext>
              </a:extLst>
            </p:cNvPr>
            <p:cNvSpPr/>
            <p:nvPr/>
          </p:nvSpPr>
          <p:spPr>
            <a:xfrm>
              <a:off x="1799772" y="4992904"/>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rebuchet MS" panose="020B0703020202090204" pitchFamily="34" charset="0"/>
                </a:rPr>
                <a:t>Identified Hypercapnia</a:t>
              </a:r>
            </a:p>
          </p:txBody>
        </p:sp>
        <p:sp>
          <p:nvSpPr>
            <p:cNvPr id="8" name="Rounded Rectangle 7">
              <a:extLst>
                <a:ext uri="{FF2B5EF4-FFF2-40B4-BE49-F238E27FC236}">
                  <a16:creationId xmlns:a16="http://schemas.microsoft.com/office/drawing/2014/main" id="{114F7568-AA9B-078B-8435-497D39768B78}"/>
                </a:ext>
              </a:extLst>
            </p:cNvPr>
            <p:cNvSpPr/>
            <p:nvPr/>
          </p:nvSpPr>
          <p:spPr>
            <a:xfrm>
              <a:off x="4013200" y="4992904"/>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Trebuchet MS" panose="020B0703020202090204" pitchFamily="34" charset="0"/>
                </a:rPr>
                <a:t>Appropriate diagnostic testing</a:t>
              </a:r>
            </a:p>
          </p:txBody>
        </p:sp>
        <p:sp>
          <p:nvSpPr>
            <p:cNvPr id="9" name="Rounded Rectangle 8">
              <a:extLst>
                <a:ext uri="{FF2B5EF4-FFF2-40B4-BE49-F238E27FC236}">
                  <a16:creationId xmlns:a16="http://schemas.microsoft.com/office/drawing/2014/main" id="{CAE02047-AEFA-52F7-2F61-BE584B5B416F}"/>
                </a:ext>
              </a:extLst>
            </p:cNvPr>
            <p:cNvSpPr/>
            <p:nvPr/>
          </p:nvSpPr>
          <p:spPr>
            <a:xfrm>
              <a:off x="6226628" y="4992904"/>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700" dirty="0">
                  <a:latin typeface="Trebuchet MS" panose="020B0703020202090204" pitchFamily="34" charset="0"/>
                </a:rPr>
                <a:t>± Qualification for treatments</a:t>
              </a:r>
            </a:p>
          </p:txBody>
        </p:sp>
        <p:sp>
          <p:nvSpPr>
            <p:cNvPr id="10" name="Rounded Rectangle 9">
              <a:extLst>
                <a:ext uri="{FF2B5EF4-FFF2-40B4-BE49-F238E27FC236}">
                  <a16:creationId xmlns:a16="http://schemas.microsoft.com/office/drawing/2014/main" id="{80873168-AFDF-882C-FFEF-2EB653AC3F45}"/>
                </a:ext>
              </a:extLst>
            </p:cNvPr>
            <p:cNvSpPr/>
            <p:nvPr/>
          </p:nvSpPr>
          <p:spPr>
            <a:xfrm>
              <a:off x="8440056" y="4992904"/>
              <a:ext cx="1886858" cy="653143"/>
            </a:xfrm>
            <a:prstGeom prst="roundRect">
              <a:avLst/>
            </a:prstGeom>
            <a:ln w="635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rebuchet MS" panose="020B0703020202090204" pitchFamily="34" charset="0"/>
                </a:rPr>
                <a:t>Effective management</a:t>
              </a:r>
            </a:p>
          </p:txBody>
        </p:sp>
        <p:sp>
          <p:nvSpPr>
            <p:cNvPr id="11" name="Right Arrow 10">
              <a:extLst>
                <a:ext uri="{FF2B5EF4-FFF2-40B4-BE49-F238E27FC236}">
                  <a16:creationId xmlns:a16="http://schemas.microsoft.com/office/drawing/2014/main" id="{7E76642E-68F1-6E5A-834A-AA5A34F51EE4}"/>
                </a:ext>
              </a:extLst>
            </p:cNvPr>
            <p:cNvSpPr/>
            <p:nvPr/>
          </p:nvSpPr>
          <p:spPr>
            <a:xfrm>
              <a:off x="3686630" y="5174328"/>
              <a:ext cx="326570" cy="348342"/>
            </a:xfrm>
            <a:prstGeom prst="rightArrow">
              <a:avLst/>
            </a:prstGeom>
            <a:solidFill>
              <a:schemeClr val="bg1"/>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a:extLst>
                <a:ext uri="{FF2B5EF4-FFF2-40B4-BE49-F238E27FC236}">
                  <a16:creationId xmlns:a16="http://schemas.microsoft.com/office/drawing/2014/main" id="{AD1E0F29-2712-FBC7-5C90-06EDD67CC6BD}"/>
                </a:ext>
              </a:extLst>
            </p:cNvPr>
            <p:cNvSpPr/>
            <p:nvPr/>
          </p:nvSpPr>
          <p:spPr>
            <a:xfrm>
              <a:off x="5885543" y="5181588"/>
              <a:ext cx="326570" cy="348342"/>
            </a:xfrm>
            <a:prstGeom prst="rightArrow">
              <a:avLst/>
            </a:prstGeom>
            <a:solidFill>
              <a:schemeClr val="bg1"/>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a:extLst>
                <a:ext uri="{FF2B5EF4-FFF2-40B4-BE49-F238E27FC236}">
                  <a16:creationId xmlns:a16="http://schemas.microsoft.com/office/drawing/2014/main" id="{FEE4D641-D5B9-35F7-D7F2-0F8AE4EC459C}"/>
                </a:ext>
              </a:extLst>
            </p:cNvPr>
            <p:cNvSpPr/>
            <p:nvPr/>
          </p:nvSpPr>
          <p:spPr>
            <a:xfrm>
              <a:off x="8113486" y="5167074"/>
              <a:ext cx="326570" cy="348342"/>
            </a:xfrm>
            <a:prstGeom prst="rightArrow">
              <a:avLst/>
            </a:prstGeom>
            <a:solidFill>
              <a:schemeClr val="bg1"/>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Question Mark with solid fill">
              <a:extLst>
                <a:ext uri="{FF2B5EF4-FFF2-40B4-BE49-F238E27FC236}">
                  <a16:creationId xmlns:a16="http://schemas.microsoft.com/office/drawing/2014/main" id="{EB606A4A-83A2-05D3-0D8A-FEAF4E523BA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31664" y="4502333"/>
              <a:ext cx="420905" cy="420905"/>
            </a:xfrm>
            <a:prstGeom prst="rect">
              <a:avLst/>
            </a:prstGeom>
          </p:spPr>
        </p:pic>
      </p:grpSp>
      <p:sp>
        <p:nvSpPr>
          <p:cNvPr id="3" name="Rectangle 2">
            <a:extLst>
              <a:ext uri="{FF2B5EF4-FFF2-40B4-BE49-F238E27FC236}">
                <a16:creationId xmlns:a16="http://schemas.microsoft.com/office/drawing/2014/main" id="{4CC80B5E-2C88-E44E-AAB4-925F06A715CD}"/>
              </a:ext>
            </a:extLst>
          </p:cNvPr>
          <p:cNvSpPr/>
          <p:nvPr/>
        </p:nvSpPr>
        <p:spPr>
          <a:xfrm>
            <a:off x="838200" y="1689100"/>
            <a:ext cx="1524000" cy="38100"/>
          </a:xfrm>
          <a:prstGeom prst="rect">
            <a:avLst/>
          </a:prstGeom>
          <a:solidFill>
            <a:srgbClr val="FBAE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3044443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551F7-E6D1-7853-38B4-028D6B9C00B5}"/>
              </a:ext>
            </a:extLst>
          </p:cNvPr>
          <p:cNvSpPr>
            <a:spLocks noGrp="1"/>
          </p:cNvSpPr>
          <p:nvPr>
            <p:ph type="title"/>
          </p:nvPr>
        </p:nvSpPr>
        <p:spPr/>
        <p:txBody>
          <a:bodyPr>
            <a:normAutofit/>
          </a:bodyPr>
          <a:lstStyle/>
          <a:p>
            <a:r>
              <a:rPr lang="en-US" sz="3200">
                <a:solidFill>
                  <a:srgbClr val="110057"/>
                </a:solidFill>
                <a:latin typeface="Arial"/>
                <a:cs typeface="Arial"/>
              </a:rPr>
              <a:t>How Often Does Testing Actually Happen?</a:t>
            </a:r>
          </a:p>
        </p:txBody>
      </p:sp>
      <p:sp>
        <p:nvSpPr>
          <p:cNvPr id="9" name="Content Placeholder 8">
            <a:extLst>
              <a:ext uri="{FF2B5EF4-FFF2-40B4-BE49-F238E27FC236}">
                <a16:creationId xmlns:a16="http://schemas.microsoft.com/office/drawing/2014/main" id="{C6BB38F4-28FB-1F5E-824D-F192B94FFA02}"/>
              </a:ext>
            </a:extLst>
          </p:cNvPr>
          <p:cNvSpPr>
            <a:spLocks noGrp="1"/>
          </p:cNvSpPr>
          <p:nvPr>
            <p:ph idx="1"/>
          </p:nvPr>
        </p:nvSpPr>
        <p:spPr/>
        <p:txBody>
          <a:bodyPr/>
          <a:lstStyle/>
          <a:p>
            <a:endParaRPr lang="en-US"/>
          </a:p>
        </p:txBody>
      </p:sp>
      <p:sp>
        <p:nvSpPr>
          <p:cNvPr id="4" name="Text Placeholder 2">
            <a:extLst>
              <a:ext uri="{FF2B5EF4-FFF2-40B4-BE49-F238E27FC236}">
                <a16:creationId xmlns:a16="http://schemas.microsoft.com/office/drawing/2014/main" id="{FCB5EA9A-EF17-6807-1158-3EA842B87565}"/>
              </a:ext>
            </a:extLst>
          </p:cNvPr>
          <p:cNvSpPr txBox="1">
            <a:spLocks/>
          </p:cNvSpPr>
          <p:nvPr/>
        </p:nvSpPr>
        <p:spPr>
          <a:xfrm>
            <a:off x="667398" y="1824435"/>
            <a:ext cx="10910086" cy="38839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latin typeface="Arial"/>
                <a:cs typeface="Arial"/>
              </a:rPr>
              <a:t>Utah All-Payer Claims Database: all hospitalizations statewide, 2015–2019</a:t>
            </a:r>
          </a:p>
          <a:p>
            <a:pPr marL="0" indent="0">
              <a:buNone/>
            </a:pPr>
            <a:r>
              <a:rPr lang="en-US" sz="2000" dirty="0">
                <a:latin typeface="Arial"/>
                <a:cs typeface="Arial"/>
              </a:rPr>
              <a:t>Identified patients with hypercapnic respiratory failure by ICD-10-CM codes</a:t>
            </a:r>
          </a:p>
        </p:txBody>
      </p:sp>
      <p:pic>
        <p:nvPicPr>
          <p:cNvPr id="5" name="Picture 4">
            <a:extLst>
              <a:ext uri="{FF2B5EF4-FFF2-40B4-BE49-F238E27FC236}">
                <a16:creationId xmlns:a16="http://schemas.microsoft.com/office/drawing/2014/main" id="{0AE25911-0ABD-47CB-9DB7-76F510021CF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355999" y="385205"/>
            <a:ext cx="1029766" cy="1325563"/>
          </a:xfrm>
          <a:prstGeom prst="rect">
            <a:avLst/>
          </a:prstGeom>
        </p:spPr>
      </p:pic>
      <p:pic>
        <p:nvPicPr>
          <p:cNvPr id="6" name="Graphic 5">
            <a:extLst>
              <a:ext uri="{FF2B5EF4-FFF2-40B4-BE49-F238E27FC236}">
                <a16:creationId xmlns:a16="http://schemas.microsoft.com/office/drawing/2014/main" id="{F3E3598F-4A71-A13E-FD33-3C4D5D291961}"/>
              </a:ext>
            </a:extLst>
          </p:cNvPr>
          <p:cNvPicPr>
            <a:picLocks noChangeAspect="1"/>
          </p:cNvPicPr>
          <p:nvPr/>
        </p:nvPicPr>
        <p:blipFill>
          <a:blip>
            <a:extLst>
              <a:ext uri="{96DAC541-7B7A-43D3-8B79-37D633B846F1}">
                <asvg:svgBlip xmlns:asvg="http://schemas.microsoft.com/office/drawing/2016/SVG/main" r:embed="rId4"/>
              </a:ext>
            </a:extLst>
          </a:blip>
          <a:srcRect t="2351" b="2351"/>
          <a:stretch/>
        </p:blipFill>
        <p:spPr>
          <a:xfrm>
            <a:off x="2220233" y="2693860"/>
            <a:ext cx="7144992" cy="3939823"/>
          </a:xfrm>
          <a:prstGeom prst="rect">
            <a:avLst/>
          </a:prstGeom>
        </p:spPr>
      </p:pic>
      <p:sp>
        <p:nvSpPr>
          <p:cNvPr id="7" name="TextBox 6">
            <a:extLst>
              <a:ext uri="{FF2B5EF4-FFF2-40B4-BE49-F238E27FC236}">
                <a16:creationId xmlns:a16="http://schemas.microsoft.com/office/drawing/2014/main" id="{4A1D5F64-CFE9-CB91-59D3-D6F2F30FF68D}"/>
              </a:ext>
            </a:extLst>
          </p:cNvPr>
          <p:cNvSpPr txBox="1"/>
          <p:nvPr/>
        </p:nvSpPr>
        <p:spPr>
          <a:xfrm>
            <a:off x="8547618" y="473908"/>
            <a:ext cx="2897126" cy="1107996"/>
          </a:xfrm>
          <a:prstGeom prst="rect">
            <a:avLst/>
          </a:prstGeom>
          <a:noFill/>
        </p:spPr>
        <p:txBody>
          <a:bodyPr wrap="square">
            <a:spAutoFit/>
          </a:bodyPr>
          <a:lstStyle/>
          <a:p>
            <a:r>
              <a:rPr lang="en-US" sz="2200" b="0" i="0" u="none" strike="noStrike" dirty="0">
                <a:solidFill>
                  <a:srgbClr val="000000"/>
                </a:solidFill>
                <a:effectLst/>
                <a:latin typeface="Arial"/>
                <a:cs typeface="Arial"/>
              </a:rPr>
              <a:t>CO₂-PATH (Post-</a:t>
            </a:r>
            <a:r>
              <a:rPr lang="en-US" sz="2200" dirty="0">
                <a:solidFill>
                  <a:srgbClr val="000000"/>
                </a:solidFill>
                <a:latin typeface="Arial"/>
                <a:cs typeface="Arial"/>
              </a:rPr>
              <a:t>A</a:t>
            </a:r>
            <a:r>
              <a:rPr lang="en-US" sz="2200" b="0" i="0" u="none" strike="noStrike" dirty="0">
                <a:solidFill>
                  <a:srgbClr val="000000"/>
                </a:solidFill>
                <a:effectLst/>
                <a:latin typeface="Arial"/>
                <a:cs typeface="Arial"/>
              </a:rPr>
              <a:t>cute Trajectories of Hypercapnia) Cohort</a:t>
            </a:r>
            <a:endParaRPr lang="en-US" sz="2200" dirty="0">
              <a:latin typeface="Arial"/>
              <a:cs typeface="Arial"/>
            </a:endParaRPr>
          </a:p>
        </p:txBody>
      </p:sp>
      <p:sp>
        <p:nvSpPr>
          <p:cNvPr id="8" name="Rectangle 7">
            <a:extLst>
              <a:ext uri="{FF2B5EF4-FFF2-40B4-BE49-F238E27FC236}">
                <a16:creationId xmlns:a16="http://schemas.microsoft.com/office/drawing/2014/main" id="{4C233252-7B45-3541-BE94-37DF37FC5AA4}"/>
              </a:ext>
            </a:extLst>
          </p:cNvPr>
          <p:cNvSpPr/>
          <p:nvPr/>
        </p:nvSpPr>
        <p:spPr>
          <a:xfrm>
            <a:off x="838200" y="1689100"/>
            <a:ext cx="1524000" cy="38100"/>
          </a:xfrm>
          <a:prstGeom prst="rect">
            <a:avLst/>
          </a:prstGeom>
          <a:solidFill>
            <a:srgbClr val="FBAE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41034111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233B1-2A43-5B8D-D4A5-E82B973B83C3}"/>
              </a:ext>
            </a:extLst>
          </p:cNvPr>
          <p:cNvSpPr>
            <a:spLocks noGrp="1"/>
          </p:cNvSpPr>
          <p:nvPr>
            <p:ph type="title"/>
          </p:nvPr>
        </p:nvSpPr>
        <p:spPr/>
        <p:txBody>
          <a:bodyPr>
            <a:normAutofit/>
          </a:bodyPr>
          <a:lstStyle/>
          <a:p>
            <a:r>
              <a:rPr lang="en-US" sz="3200">
                <a:solidFill>
                  <a:srgbClr val="110057"/>
                </a:solidFill>
                <a:latin typeface="Arial"/>
                <a:cs typeface="Arial"/>
              </a:rPr>
              <a:t>How Did We Get Here?</a:t>
            </a:r>
          </a:p>
        </p:txBody>
      </p:sp>
      <p:sp>
        <p:nvSpPr>
          <p:cNvPr id="3" name="Content Placeholder 2">
            <a:extLst>
              <a:ext uri="{FF2B5EF4-FFF2-40B4-BE49-F238E27FC236}">
                <a16:creationId xmlns:a16="http://schemas.microsoft.com/office/drawing/2014/main" id="{63069A49-A70C-6D7F-6242-B32AA0C2E6DD}"/>
              </a:ext>
            </a:extLst>
          </p:cNvPr>
          <p:cNvSpPr>
            <a:spLocks noGrp="1"/>
          </p:cNvSpPr>
          <p:nvPr>
            <p:ph idx="1"/>
          </p:nvPr>
        </p:nvSpPr>
        <p:spPr/>
        <p:txBody>
          <a:bodyPr>
            <a:normAutofit/>
          </a:bodyPr>
          <a:lstStyle/>
          <a:p>
            <a:pPr marL="0" indent="0">
              <a:buNone/>
            </a:pPr>
            <a:r>
              <a:rPr lang="en-US" sz="2000" b="1" dirty="0">
                <a:latin typeface="Arial"/>
                <a:cs typeface="Arial"/>
              </a:rPr>
              <a:t>1940s–50s</a:t>
            </a:r>
            <a:r>
              <a:rPr lang="en-US" sz="2000" dirty="0">
                <a:latin typeface="Arial"/>
                <a:cs typeface="Arial"/>
              </a:rPr>
              <a:t>  Physiology of CO</a:t>
            </a:r>
            <a:r>
              <a:rPr lang="en-US" sz="2000" baseline="-25000" dirty="0">
                <a:latin typeface="Arial"/>
                <a:cs typeface="Arial"/>
              </a:rPr>
              <a:t>2</a:t>
            </a:r>
            <a:r>
              <a:rPr lang="en-US" sz="2000" dirty="0">
                <a:latin typeface="Arial"/>
                <a:cs typeface="Arial"/>
              </a:rPr>
              <a:t> retention first described (as told by Hannah Wunsch)</a:t>
            </a:r>
          </a:p>
          <a:p>
            <a:pPr marL="0" indent="0">
              <a:buNone/>
            </a:pPr>
            <a:r>
              <a:rPr lang="en-US" sz="2000" b="1" dirty="0">
                <a:latin typeface="Arial"/>
                <a:cs typeface="Arial"/>
              </a:rPr>
              <a:t>1960s</a:t>
            </a:r>
            <a:r>
              <a:rPr lang="en-US" sz="2000" dirty="0">
                <a:latin typeface="Arial"/>
                <a:cs typeface="Arial"/>
              </a:rPr>
              <a:t>  Polio survivors need lifelong ventilation → respiratory centers (iron lungs)</a:t>
            </a:r>
          </a:p>
          <a:p>
            <a:pPr marL="0" indent="0">
              <a:buNone/>
            </a:pPr>
            <a:r>
              <a:rPr lang="en-US" sz="2000" b="1" dirty="0">
                <a:latin typeface="Arial"/>
                <a:cs typeface="Arial"/>
              </a:rPr>
              <a:t>1960</a:t>
            </a:r>
            <a:r>
              <a:rPr lang="en-US" sz="2000" dirty="0">
                <a:latin typeface="Arial"/>
                <a:cs typeface="Arial"/>
              </a:rPr>
              <a:t>  March of Dimes closes respiratory centers (funding problems)</a:t>
            </a:r>
          </a:p>
          <a:p>
            <a:pPr marL="0" indent="0">
              <a:buNone/>
            </a:pPr>
            <a:r>
              <a:rPr lang="en-US" sz="2000" b="1" dirty="0">
                <a:latin typeface="Arial"/>
                <a:cs typeface="Arial"/>
              </a:rPr>
              <a:t>1970s</a:t>
            </a:r>
            <a:r>
              <a:rPr lang="en-US" sz="2000" dirty="0">
                <a:latin typeface="Arial"/>
                <a:cs typeface="Arial"/>
              </a:rPr>
              <a:t>  Care transfers to CMS → tracheostomy + home mechanical ventilators become norm</a:t>
            </a:r>
          </a:p>
          <a:p>
            <a:pPr marL="0" indent="0">
              <a:buNone/>
            </a:pPr>
            <a:r>
              <a:rPr lang="en-US" sz="2000" b="1" dirty="0">
                <a:latin typeface="Arial"/>
                <a:cs typeface="Arial"/>
              </a:rPr>
              <a:t>1981</a:t>
            </a:r>
            <a:r>
              <a:rPr lang="en-US" sz="2000" dirty="0">
                <a:latin typeface="Arial"/>
                <a:cs typeface="Arial"/>
              </a:rPr>
              <a:t>  CPAP invented for OSA → later adapted as BPAP for other conditions</a:t>
            </a:r>
          </a:p>
          <a:p>
            <a:pPr marL="0" indent="0">
              <a:buNone/>
            </a:pPr>
            <a:r>
              <a:rPr lang="en-US" sz="2000" b="1" dirty="0">
                <a:latin typeface="Arial"/>
                <a:cs typeface="Arial"/>
              </a:rPr>
              <a:t>1990s</a:t>
            </a:r>
            <a:r>
              <a:rPr lang="en-US" sz="2000" dirty="0">
                <a:latin typeface="Arial"/>
                <a:cs typeface="Arial"/>
              </a:rPr>
              <a:t>  HMVs, hypoventilation devices, and SDB devices converge technologically</a:t>
            </a:r>
          </a:p>
          <a:p>
            <a:pPr marL="0" indent="0">
              <a:buNone/>
            </a:pPr>
            <a:r>
              <a:rPr lang="en-US" sz="2000" b="1" dirty="0">
                <a:latin typeface="Arial"/>
                <a:cs typeface="Arial"/>
              </a:rPr>
              <a:t>1998</a:t>
            </a:r>
            <a:r>
              <a:rPr lang="en-US" sz="2000" dirty="0">
                <a:latin typeface="Arial"/>
                <a:cs typeface="Arial"/>
              </a:rPr>
              <a:t>  CMS creates "Respiratory Assist Device" (RAD) category; NCD written</a:t>
            </a:r>
          </a:p>
          <a:p>
            <a:pPr marL="0" indent="0">
              <a:buNone/>
            </a:pPr>
            <a:r>
              <a:rPr lang="en-US" sz="2000" b="1" dirty="0">
                <a:latin typeface="Arial"/>
                <a:cs typeface="Arial"/>
              </a:rPr>
              <a:t>2025</a:t>
            </a:r>
            <a:r>
              <a:rPr lang="en-US" sz="2000" dirty="0">
                <a:latin typeface="Arial"/>
                <a:cs typeface="Arial"/>
              </a:rPr>
              <a:t>  Same 1998 NCD still governs BPAP qualification</a:t>
            </a:r>
          </a:p>
          <a:p>
            <a:pPr marL="0" indent="0">
              <a:buNone/>
            </a:pPr>
            <a:endParaRPr lang="en-US" sz="1400" dirty="0">
              <a:latin typeface="Arial"/>
              <a:cs typeface="Arial"/>
            </a:endParaRPr>
          </a:p>
          <a:p>
            <a:pPr marL="0" indent="0">
              <a:buNone/>
            </a:pPr>
            <a:r>
              <a:rPr lang="en-US" sz="2000" i="1" dirty="0">
                <a:latin typeface="Arial"/>
                <a:cs typeface="Arial"/>
              </a:rPr>
              <a:t>The rules were written for iron lungs — not for BPAP.</a:t>
            </a:r>
          </a:p>
        </p:txBody>
      </p:sp>
      <p:sp>
        <p:nvSpPr>
          <p:cNvPr id="5" name="Rectangle 4">
            <a:extLst>
              <a:ext uri="{FF2B5EF4-FFF2-40B4-BE49-F238E27FC236}">
                <a16:creationId xmlns:a16="http://schemas.microsoft.com/office/drawing/2014/main" id="{34A88BAD-732B-D84D-8CCB-C7BFDA362EA4}"/>
              </a:ext>
            </a:extLst>
          </p:cNvPr>
          <p:cNvSpPr/>
          <p:nvPr/>
        </p:nvSpPr>
        <p:spPr>
          <a:xfrm>
            <a:off x="838200" y="1689100"/>
            <a:ext cx="1524000" cy="38100"/>
          </a:xfrm>
          <a:prstGeom prst="rect">
            <a:avLst/>
          </a:prstGeom>
          <a:solidFill>
            <a:srgbClr val="FBAE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2683840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8">
            <a:extLst>
              <a:ext uri="{FF2B5EF4-FFF2-40B4-BE49-F238E27FC236}">
                <a16:creationId xmlns:a16="http://schemas.microsoft.com/office/drawing/2014/main" id="{4B5B4CA9-F868-ACD0-3928-04CE5E52F474}"/>
              </a:ext>
            </a:extLst>
          </p:cNvPr>
          <p:cNvSpPr/>
          <p:nvPr/>
        </p:nvSpPr>
        <p:spPr>
          <a:xfrm>
            <a:off x="707929" y="525563"/>
            <a:ext cx="1828800" cy="1253613"/>
          </a:xfrm>
          <a:prstGeom prst="roundRect">
            <a:avLst/>
          </a:prstGeom>
          <a:noFill/>
          <a:ln w="444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tx1"/>
                </a:solidFill>
              </a:rPr>
              <a:t>Goal PaCO</a:t>
            </a:r>
            <a:r>
              <a:rPr lang="en-US" sz="4000" b="1" baseline="-25000" dirty="0">
                <a:solidFill>
                  <a:schemeClr val="tx1"/>
                </a:solidFill>
              </a:rPr>
              <a:t>2</a:t>
            </a:r>
          </a:p>
        </p:txBody>
      </p:sp>
      <p:grpSp>
        <p:nvGrpSpPr>
          <p:cNvPr id="5" name="Group 4">
            <a:extLst>
              <a:ext uri="{FF2B5EF4-FFF2-40B4-BE49-F238E27FC236}">
                <a16:creationId xmlns:a16="http://schemas.microsoft.com/office/drawing/2014/main" id="{A45C9452-8DA9-0926-22DA-E21D1C6BB132}"/>
              </a:ext>
            </a:extLst>
          </p:cNvPr>
          <p:cNvGrpSpPr/>
          <p:nvPr/>
        </p:nvGrpSpPr>
        <p:grpSpPr>
          <a:xfrm>
            <a:off x="2861189" y="863405"/>
            <a:ext cx="7939481" cy="655964"/>
            <a:chOff x="1616761" y="1832910"/>
            <a:chExt cx="7939481" cy="655964"/>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AC3D510-E2EF-4072-4937-025E093D2A4A}"/>
                    </a:ext>
                  </a:extLst>
                </p:cNvPr>
                <p:cNvSpPr txBox="1"/>
                <p:nvPr/>
              </p:nvSpPr>
              <p:spPr>
                <a:xfrm>
                  <a:off x="1616761" y="1832910"/>
                  <a:ext cx="7939481" cy="5751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𝑹𝒆𝒒𝒖𝒊𝒓𝒆𝒅</m:t>
                        </m:r>
                        <m:r>
                          <a:rPr lang="en-US" b="1" i="1" smtClean="0">
                            <a:latin typeface="Cambria Math" panose="02040503050406030204" pitchFamily="18" charset="0"/>
                          </a:rPr>
                          <m:t> </m:t>
                        </m:r>
                        <m:r>
                          <a:rPr lang="en-US" b="1" i="1" smtClean="0">
                            <a:latin typeface="Cambria Math" panose="02040503050406030204" pitchFamily="18" charset="0"/>
                          </a:rPr>
                          <m:t>𝑽𝒆𝒏𝒕𝒊𝒍𝒂𝒕𝒊𝒐𝒏</m:t>
                        </m:r>
                        <m:r>
                          <a:rPr lang="en-US" b="1"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𝑉𝑒𝑛𝑡𝑖𝑙𝑎𝑡𝑖𝑜𝑛</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𝑊𝑎𝑠𝑡𝑒𝑑</m:t>
                        </m:r>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𝑇𝑖𝑠𝑠𝑢𝑒</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𝑃𝑟𝑜𝑑𝑢𝑐𝑡𝑖𝑜𝑛</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𝑜𝑓</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𝐶𝑂</m:t>
                            </m:r>
                            <m:r>
                              <a:rPr lang="en-US" b="0" i="1" baseline="-25000" smtClean="0">
                                <a:latin typeface="Cambria Math" panose="02040503050406030204" pitchFamily="18" charset="0"/>
                                <a:ea typeface="Cambria Math" panose="02040503050406030204" pitchFamily="18" charset="0"/>
                              </a:rPr>
                              <m:t>2</m:t>
                            </m:r>
                          </m:num>
                          <m:den>
                            <m:r>
                              <a:rPr lang="en-US" b="0" i="1" smtClean="0">
                                <a:latin typeface="Cambria Math" panose="02040503050406030204" pitchFamily="18" charset="0"/>
                                <a:ea typeface="Cambria Math" panose="02040503050406030204" pitchFamily="18" charset="0"/>
                              </a:rPr>
                              <m:t>𝑃𝑎𝐶𝑂</m:t>
                            </m:r>
                            <m:r>
                              <a:rPr lang="en-US" b="0" i="1" baseline="-25000"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𝑇𝑎𝑟𝑔𝑒𝑡</m:t>
                            </m:r>
                            <m:r>
                              <a:rPr lang="en-US" b="0" i="1" baseline="30000" smtClean="0">
                                <a:latin typeface="Cambria Math" panose="02040503050406030204" pitchFamily="18" charset="0"/>
                                <a:ea typeface="Cambria Math" panose="02040503050406030204" pitchFamily="18" charset="0"/>
                              </a:rPr>
                              <m:t>∗</m:t>
                            </m:r>
                          </m:den>
                        </m:f>
                      </m:oMath>
                    </m:oMathPara>
                  </a14:m>
                  <a:endParaRPr lang="en-US" dirty="0"/>
                </a:p>
              </p:txBody>
            </p:sp>
          </mc:Choice>
          <mc:Fallback xmlns="">
            <p:sp>
              <p:nvSpPr>
                <p:cNvPr id="6" name="TextBox 5">
                  <a:extLst>
                    <a:ext uri="{FF2B5EF4-FFF2-40B4-BE49-F238E27FC236}">
                      <a16:creationId xmlns:a16="http://schemas.microsoft.com/office/drawing/2014/main" id="{4AC3D510-E2EF-4072-4937-025E093D2A4A}"/>
                    </a:ext>
                  </a:extLst>
                </p:cNvPr>
                <p:cNvSpPr txBox="1">
                  <a:spLocks noRot="1" noChangeAspect="1" noMove="1" noResize="1" noEditPoints="1" noAdjustHandles="1" noChangeArrowheads="1" noChangeShapeType="1" noTextEdit="1"/>
                </p:cNvSpPr>
                <p:nvPr/>
              </p:nvSpPr>
              <p:spPr>
                <a:xfrm>
                  <a:off x="1616761" y="1832910"/>
                  <a:ext cx="7939481" cy="575157"/>
                </a:xfrm>
                <a:prstGeom prst="rect">
                  <a:avLst/>
                </a:prstGeom>
                <a:blipFill>
                  <a:blip r:embed="rId3"/>
                  <a:stretch>
                    <a:fillRect t="-8696" b="-19565"/>
                  </a:stretch>
                </a:blipFill>
              </p:spPr>
              <p:txBody>
                <a:bodyPr/>
                <a:lstStyle/>
                <a:p>
                  <a:r>
                    <a:rPr lang="en-US">
                      <a:noFill/>
                    </a:rPr>
                    <a:t> </a:t>
                  </a:r>
                </a:p>
              </p:txBody>
            </p:sp>
          </mc:Fallback>
        </mc:AlternateContent>
        <p:sp>
          <p:nvSpPr>
            <p:cNvPr id="9" name="Rectangle: Rounded Corners 8">
              <a:extLst>
                <a:ext uri="{FF2B5EF4-FFF2-40B4-BE49-F238E27FC236}">
                  <a16:creationId xmlns:a16="http://schemas.microsoft.com/office/drawing/2014/main" id="{5B41E4C2-2B76-0BE0-48A8-1106110F9E01}"/>
                </a:ext>
              </a:extLst>
            </p:cNvPr>
            <p:cNvSpPr/>
            <p:nvPr/>
          </p:nvSpPr>
          <p:spPr>
            <a:xfrm>
              <a:off x="7252894" y="2128137"/>
              <a:ext cx="1609285" cy="360737"/>
            </a:xfrm>
            <a:prstGeom prst="roundRect">
              <a:avLst/>
            </a:prstGeom>
            <a:noFill/>
            <a:ln w="444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highlight>
                  <a:srgbClr val="008000"/>
                </a:highlight>
              </a:endParaRPr>
            </a:p>
          </p:txBody>
        </p:sp>
      </p:grpSp>
      <p:sp>
        <p:nvSpPr>
          <p:cNvPr id="10" name="TextBox 9">
            <a:extLst>
              <a:ext uri="{FF2B5EF4-FFF2-40B4-BE49-F238E27FC236}">
                <a16:creationId xmlns:a16="http://schemas.microsoft.com/office/drawing/2014/main" id="{62EF6DE8-F58C-724C-F6A1-FEB32F572B4E}"/>
              </a:ext>
            </a:extLst>
          </p:cNvPr>
          <p:cNvSpPr txBox="1"/>
          <p:nvPr/>
        </p:nvSpPr>
        <p:spPr>
          <a:xfrm>
            <a:off x="1061884" y="2123765"/>
            <a:ext cx="7875639" cy="3816429"/>
          </a:xfrm>
          <a:prstGeom prst="rect">
            <a:avLst/>
          </a:prstGeom>
          <a:noFill/>
        </p:spPr>
        <p:txBody>
          <a:bodyPr wrap="square" rtlCol="0">
            <a:spAutoFit/>
          </a:bodyPr>
          <a:lstStyle/>
          <a:p>
            <a:r>
              <a:rPr lang="en-US" sz="2200" dirty="0"/>
              <a:t>Q: Why is the goal PaCO</a:t>
            </a:r>
            <a:r>
              <a:rPr lang="en-US" sz="2200" baseline="-25000" dirty="0"/>
              <a:t>2</a:t>
            </a:r>
            <a:r>
              <a:rPr lang="en-US" sz="2200" dirty="0"/>
              <a:t> roughly 40 mmHg, and not higher?</a:t>
            </a:r>
          </a:p>
          <a:p>
            <a:endParaRPr lang="en-US" sz="2200" dirty="0"/>
          </a:p>
          <a:p>
            <a:r>
              <a:rPr lang="en-US" sz="2200" dirty="0"/>
              <a:t>pH can be maintained at any PaCO</a:t>
            </a:r>
            <a:r>
              <a:rPr lang="en-US" sz="2200" baseline="-25000" dirty="0"/>
              <a:t>2</a:t>
            </a:r>
            <a:r>
              <a:rPr lang="en-US" sz="2200" dirty="0"/>
              <a:t> with a certain HCO</a:t>
            </a:r>
            <a:r>
              <a:rPr lang="en-US" sz="2200" baseline="-25000" dirty="0"/>
              <a:t>3</a:t>
            </a:r>
            <a:r>
              <a:rPr lang="en-US" sz="2200" baseline="30000" dirty="0"/>
              <a:t>-</a:t>
            </a:r>
            <a:endParaRPr lang="en-US" sz="2200" dirty="0"/>
          </a:p>
          <a:p>
            <a:endParaRPr lang="en-US" sz="2200" dirty="0"/>
          </a:p>
          <a:p>
            <a:pPr marL="285750" indent="-285750">
              <a:buFont typeface="Arial" panose="020B0604020202020204" pitchFamily="34" charset="0"/>
              <a:buChar char="•"/>
            </a:pPr>
            <a:r>
              <a:rPr lang="en-US" sz="2200" dirty="0"/>
              <a:t>The process of adaptation is poorly understood… likely relates to the cost of less oxygen buffer vs. costs of breathing </a:t>
            </a:r>
          </a:p>
          <a:p>
            <a:endParaRPr lang="en-US" sz="2200" dirty="0"/>
          </a:p>
          <a:p>
            <a:r>
              <a:rPr lang="en-US" sz="2200" dirty="0"/>
              <a:t>Persistent severe hypercapnia is</a:t>
            </a:r>
            <a:r>
              <a:rPr lang="en-US" sz="2200" b="1" dirty="0"/>
              <a:t> only possible since</a:t>
            </a:r>
            <a:r>
              <a:rPr lang="en-US" sz="2200" dirty="0"/>
              <a:t> supp O</a:t>
            </a:r>
            <a:r>
              <a:rPr lang="en-US" sz="2200" baseline="-25000" dirty="0"/>
              <a:t>2</a:t>
            </a:r>
            <a:r>
              <a:rPr lang="en-US" sz="2200" dirty="0"/>
              <a:t> </a:t>
            </a:r>
          </a:p>
          <a:p>
            <a:endParaRPr lang="en-US" sz="2200" dirty="0"/>
          </a:p>
          <a:p>
            <a:r>
              <a:rPr lang="en-US" sz="2200" dirty="0"/>
              <a:t>Coma in polio (1952) was “</a:t>
            </a:r>
            <a:r>
              <a:rPr lang="en-US" sz="2200" dirty="0" err="1"/>
              <a:t>cerebrelia</a:t>
            </a:r>
            <a:r>
              <a:rPr lang="en-US" sz="2200" dirty="0"/>
              <a:t>” - thought to be viral encephalitis – actually discovered to be hypercapnic RF. </a:t>
            </a:r>
          </a:p>
        </p:txBody>
      </p:sp>
      <p:pic>
        <p:nvPicPr>
          <p:cNvPr id="11" name="Picture 2" descr="The Autumn Ghost: How the Battle Against a Polio Epidemic Revolutionized  Modern Medical Care: Wunsch, Hannah: 9781771649452: Amazon.com: Books">
            <a:extLst>
              <a:ext uri="{FF2B5EF4-FFF2-40B4-BE49-F238E27FC236}">
                <a16:creationId xmlns:a16="http://schemas.microsoft.com/office/drawing/2014/main" id="{E03AC9D4-45F9-590B-3869-2ECF3958A7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80586" y="2115776"/>
            <a:ext cx="2478587" cy="3716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35732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6D484-9718-FDBF-27E5-4971B32923CD}"/>
              </a:ext>
            </a:extLst>
          </p:cNvPr>
          <p:cNvSpPr>
            <a:spLocks noGrp="1"/>
          </p:cNvSpPr>
          <p:nvPr>
            <p:ph type="title"/>
          </p:nvPr>
        </p:nvSpPr>
        <p:spPr/>
        <p:txBody>
          <a:bodyPr/>
          <a:lstStyle/>
          <a:p>
            <a:r>
              <a:rPr lang="en-US">
                <a:solidFill>
                  <a:srgbClr val="110057"/>
                </a:solidFill>
                <a:latin typeface="Arial"/>
                <a:cs typeface="Arial"/>
              </a:rPr>
              <a:t>RAD vs. HMV: A Regulatory Distinction Born from Convergence</a:t>
            </a:r>
          </a:p>
        </p:txBody>
      </p:sp>
      <p:sp>
        <p:nvSpPr>
          <p:cNvPr id="3" name="Content Placeholder 2">
            <a:extLst>
              <a:ext uri="{FF2B5EF4-FFF2-40B4-BE49-F238E27FC236}">
                <a16:creationId xmlns:a16="http://schemas.microsoft.com/office/drawing/2014/main" id="{C3178B04-1524-C5FC-6E2E-A19992D9FD93}"/>
              </a:ext>
            </a:extLst>
          </p:cNvPr>
          <p:cNvSpPr>
            <a:spLocks noGrp="1"/>
          </p:cNvSpPr>
          <p:nvPr>
            <p:ph idx="1"/>
          </p:nvPr>
        </p:nvSpPr>
        <p:spPr/>
        <p:txBody>
          <a:bodyPr>
            <a:normAutofit lnSpcReduction="10000"/>
          </a:bodyPr>
          <a:lstStyle/>
          <a:p>
            <a:pPr marL="0" indent="0">
              <a:buNone/>
            </a:pPr>
            <a:r>
              <a:rPr lang="en-US" sz="2000" b="1" dirty="0">
                <a:latin typeface="Arial"/>
                <a:cs typeface="Arial"/>
              </a:rPr>
              <a:t>The conundrum:</a:t>
            </a:r>
          </a:p>
          <a:p>
            <a:pPr marL="0" indent="0">
              <a:buNone/>
            </a:pPr>
            <a:r>
              <a:rPr lang="en-US" sz="2000" dirty="0">
                <a:latin typeface="Arial"/>
                <a:cs typeface="Arial"/>
              </a:rPr>
              <a:t>Home mechanical ventilators (from hospital vents, life-support devices)</a:t>
            </a:r>
          </a:p>
          <a:p>
            <a:pPr marL="0" indent="0">
              <a:buNone/>
            </a:pPr>
            <a:r>
              <a:rPr lang="en-US" sz="2000" dirty="0">
                <a:latin typeface="Arial"/>
                <a:cs typeface="Arial"/>
              </a:rPr>
              <a:t>PAP devices (from CPAP for OSA, adapted to treat hypoventilation)</a:t>
            </a:r>
          </a:p>
          <a:p>
            <a:pPr marL="0" indent="0">
              <a:buNone/>
            </a:pPr>
            <a:r>
              <a:rPr lang="en-US" sz="2000" dirty="0">
                <a:latin typeface="Arial"/>
                <a:cs typeface="Arial"/>
              </a:rPr>
              <a:t>…were technologically converging into overlapping devices.</a:t>
            </a:r>
          </a:p>
          <a:p>
            <a:pPr marL="0" indent="0">
              <a:buNone/>
            </a:pPr>
            <a:endParaRPr lang="en-US" sz="1400" dirty="0">
              <a:latin typeface="Arial"/>
              <a:cs typeface="Arial"/>
            </a:endParaRPr>
          </a:p>
          <a:p>
            <a:pPr marL="0" indent="0">
              <a:buNone/>
            </a:pPr>
            <a:r>
              <a:rPr lang="en-US" sz="2000" b="1" dirty="0">
                <a:latin typeface="Arial"/>
                <a:cs typeface="Arial"/>
              </a:rPr>
              <a:t>CMS solution (1998): new category — "Respiratory Assist Device" (RAD)</a:t>
            </a:r>
          </a:p>
          <a:p>
            <a:pPr marL="0" indent="0">
              <a:buNone/>
            </a:pPr>
            <a:endParaRPr lang="en-US" sz="1400" dirty="0">
              <a:latin typeface="Arial"/>
              <a:cs typeface="Arial"/>
            </a:endParaRPr>
          </a:p>
          <a:p>
            <a:r>
              <a:rPr lang="en-US" sz="2000" b="1" dirty="0">
                <a:latin typeface="Arial"/>
                <a:cs typeface="Arial"/>
              </a:rPr>
              <a:t>RADs</a:t>
            </a:r>
            <a:r>
              <a:rPr lang="en-US" sz="2000" dirty="0">
                <a:latin typeface="Arial"/>
                <a:cs typeface="Arial"/>
              </a:rPr>
              <a:t> = bilevel devices ± backup rate; evolved from CPAP</a:t>
            </a:r>
          </a:p>
          <a:p>
            <a:r>
              <a:rPr lang="en-US" sz="2000" b="1" dirty="0">
                <a:latin typeface="Arial"/>
                <a:cs typeface="Arial"/>
              </a:rPr>
              <a:t>HMVs</a:t>
            </a:r>
            <a:r>
              <a:rPr lang="en-US" sz="2000" dirty="0">
                <a:latin typeface="Arial"/>
                <a:cs typeface="Arial"/>
              </a:rPr>
              <a:t> = evolved from hospital ventilators; designed as life-support</a:t>
            </a:r>
          </a:p>
          <a:p>
            <a:pPr marL="0" indent="0">
              <a:buNone/>
            </a:pPr>
            <a:endParaRPr lang="en-US" sz="1400" dirty="0">
              <a:latin typeface="Arial"/>
              <a:cs typeface="Arial"/>
            </a:endParaRPr>
          </a:p>
          <a:p>
            <a:pPr marL="0" indent="0">
              <a:buNone/>
            </a:pPr>
            <a:r>
              <a:rPr lang="en-US" sz="2000" dirty="0">
                <a:latin typeface="Arial"/>
                <a:cs typeface="Arial"/>
              </a:rPr>
              <a:t>Each got its own NCD with distinct qualification pathways — </a:t>
            </a:r>
          </a:p>
          <a:p>
            <a:pPr marL="0" indent="0">
              <a:buNone/>
            </a:pPr>
            <a:r>
              <a:rPr lang="en-US" sz="2000" dirty="0">
                <a:latin typeface="Arial"/>
                <a:cs typeface="Arial"/>
              </a:rPr>
              <a:t>written in a very different clinical milieu than today.</a:t>
            </a:r>
          </a:p>
        </p:txBody>
      </p:sp>
      <p:sp>
        <p:nvSpPr>
          <p:cNvPr id="4" name="Rectangle 3">
            <a:extLst>
              <a:ext uri="{FF2B5EF4-FFF2-40B4-BE49-F238E27FC236}">
                <a16:creationId xmlns:a16="http://schemas.microsoft.com/office/drawing/2014/main" id="{A27790B2-7F56-2C4E-9C6C-47780B617D6C}"/>
              </a:ext>
            </a:extLst>
          </p:cNvPr>
          <p:cNvSpPr/>
          <p:nvPr/>
        </p:nvSpPr>
        <p:spPr>
          <a:xfrm>
            <a:off x="838200" y="1689100"/>
            <a:ext cx="1524000" cy="38100"/>
          </a:xfrm>
          <a:prstGeom prst="rect">
            <a:avLst/>
          </a:prstGeom>
          <a:solidFill>
            <a:srgbClr val="FBAE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40702771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F7D409F-2ED2-ED49-B0CE-E4E8E6B95291}"/>
              </a:ext>
            </a:extLst>
          </p:cNvPr>
          <p:cNvGraphicFramePr>
            <a:graphicFrameLocks noGrp="1"/>
          </p:cNvGraphicFramePr>
          <p:nvPr>
            <p:extLst>
              <p:ext uri="{D42A27DB-BD31-4B8C-83A1-F6EECF244321}">
                <p14:modId xmlns:p14="http://schemas.microsoft.com/office/powerpoint/2010/main" val="1679699541"/>
              </p:ext>
            </p:extLst>
          </p:nvPr>
        </p:nvGraphicFramePr>
        <p:xfrm>
          <a:off x="508000" y="1651000"/>
          <a:ext cx="11175999" cy="4826000"/>
        </p:xfrm>
        <a:graphic>
          <a:graphicData uri="http://schemas.openxmlformats.org/drawingml/2006/table">
            <a:tbl>
              <a:tblPr firstRow="1" bandRow="1">
                <a:tableStyleId>{5C22544A-7EE6-4342-B048-85BDC9FD1C3A}</a:tableStyleId>
              </a:tblPr>
              <a:tblGrid>
                <a:gridCol w="3725333">
                  <a:extLst>
                    <a:ext uri="{9D8B030D-6E8A-4147-A177-3AD203B41FA5}">
                      <a16:colId xmlns:a16="http://schemas.microsoft.com/office/drawing/2014/main" val="2934454443"/>
                    </a:ext>
                  </a:extLst>
                </a:gridCol>
                <a:gridCol w="3725333">
                  <a:extLst>
                    <a:ext uri="{9D8B030D-6E8A-4147-A177-3AD203B41FA5}">
                      <a16:colId xmlns:a16="http://schemas.microsoft.com/office/drawing/2014/main" val="949371560"/>
                    </a:ext>
                  </a:extLst>
                </a:gridCol>
                <a:gridCol w="3725333">
                  <a:extLst>
                    <a:ext uri="{9D8B030D-6E8A-4147-A177-3AD203B41FA5}">
                      <a16:colId xmlns:a16="http://schemas.microsoft.com/office/drawing/2014/main" val="559698660"/>
                    </a:ext>
                  </a:extLst>
                </a:gridCol>
              </a:tblGrid>
              <a:tr h="603250">
                <a:tc>
                  <a:txBody>
                    <a:bodyPr/>
                    <a:lstStyle/>
                    <a:p>
                      <a:pPr algn="ctr"/>
                      <a:endParaRPr lang="en-US" sz="1600" b="1">
                        <a:solidFill>
                          <a:srgbClr val="FFFFFF"/>
                        </a:solidFill>
                        <a:latin typeface="Arial"/>
                        <a:cs typeface="Arial"/>
                      </a:endParaRPr>
                    </a:p>
                  </a:txBody>
                  <a:tcPr anchor="ctr">
                    <a:solidFill>
                      <a:srgbClr val="110057"/>
                    </a:solidFill>
                  </a:tcPr>
                </a:tc>
                <a:tc>
                  <a:txBody>
                    <a:bodyPr/>
                    <a:lstStyle/>
                    <a:p>
                      <a:pPr algn="ctr"/>
                      <a:r>
                        <a:rPr lang="en-US" sz="1600" b="1">
                          <a:solidFill>
                            <a:srgbClr val="FFFFFF"/>
                          </a:solidFill>
                          <a:latin typeface="Arial"/>
                          <a:cs typeface="Arial"/>
                        </a:rPr>
                        <a:t>RAD</a:t>
                      </a:r>
                    </a:p>
                  </a:txBody>
                  <a:tcPr anchor="ctr">
                    <a:solidFill>
                      <a:srgbClr val="110057"/>
                    </a:solidFill>
                  </a:tcPr>
                </a:tc>
                <a:tc>
                  <a:txBody>
                    <a:bodyPr/>
                    <a:lstStyle/>
                    <a:p>
                      <a:pPr algn="ctr"/>
                      <a:r>
                        <a:rPr lang="en-US" sz="1600" b="1">
                          <a:solidFill>
                            <a:srgbClr val="FFFFFF"/>
                          </a:solidFill>
                          <a:latin typeface="Arial"/>
                          <a:cs typeface="Arial"/>
                        </a:rPr>
                        <a:t>HMV</a:t>
                      </a:r>
                    </a:p>
                  </a:txBody>
                  <a:tcPr anchor="ctr">
                    <a:solidFill>
                      <a:srgbClr val="110057"/>
                    </a:solidFill>
                  </a:tcPr>
                </a:tc>
                <a:extLst>
                  <a:ext uri="{0D108BD9-81ED-4DB2-BD59-A6C34878D82A}">
                    <a16:rowId xmlns:a16="http://schemas.microsoft.com/office/drawing/2014/main" val="1754242940"/>
                  </a:ext>
                </a:extLst>
              </a:tr>
              <a:tr h="603250">
                <a:tc>
                  <a:txBody>
                    <a:bodyPr/>
                    <a:lstStyle/>
                    <a:p>
                      <a:pPr algn="l"/>
                      <a:r>
                        <a:rPr lang="en-US" sz="1400" b="1">
                          <a:solidFill>
                            <a:srgbClr val="110057"/>
                          </a:solidFill>
                          <a:latin typeface="Arial"/>
                          <a:cs typeface="Arial"/>
                        </a:rPr>
                        <a:t>What it is</a:t>
                      </a:r>
                    </a:p>
                  </a:txBody>
                  <a:tcPr anchor="ctr">
                    <a:solidFill>
                      <a:srgbClr val="FFFFFF"/>
                    </a:solidFill>
                  </a:tcPr>
                </a:tc>
                <a:tc>
                  <a:txBody>
                    <a:bodyPr/>
                    <a:lstStyle/>
                    <a:p>
                      <a:pPr algn="ctr"/>
                      <a:r>
                        <a:rPr lang="en-US" sz="1400">
                          <a:solidFill>
                            <a:srgbClr val="110057"/>
                          </a:solidFill>
                          <a:latin typeface="Arial"/>
                          <a:cs typeface="Arial"/>
                        </a:rPr>
                        <a:t>Bilevel PAP ± backup rate</a:t>
                      </a:r>
                    </a:p>
                  </a:txBody>
                  <a:tcPr anchor="ctr">
                    <a:solidFill>
                      <a:srgbClr val="FFFFFF"/>
                    </a:solidFill>
                  </a:tcPr>
                </a:tc>
                <a:tc>
                  <a:txBody>
                    <a:bodyPr/>
                    <a:lstStyle/>
                    <a:p>
                      <a:pPr algn="ctr"/>
                      <a:r>
                        <a:rPr lang="en-US" sz="1400">
                          <a:solidFill>
                            <a:srgbClr val="110057"/>
                          </a:solidFill>
                          <a:latin typeface="Arial"/>
                          <a:cs typeface="Arial"/>
                        </a:rPr>
                        <a:t>Home mechanical ventilator (life-support)</a:t>
                      </a:r>
                    </a:p>
                  </a:txBody>
                  <a:tcPr anchor="ctr">
                    <a:solidFill>
                      <a:srgbClr val="FFFFFF"/>
                    </a:solidFill>
                  </a:tcPr>
                </a:tc>
                <a:extLst>
                  <a:ext uri="{0D108BD9-81ED-4DB2-BD59-A6C34878D82A}">
                    <a16:rowId xmlns:a16="http://schemas.microsoft.com/office/drawing/2014/main" val="437339896"/>
                  </a:ext>
                </a:extLst>
              </a:tr>
              <a:tr h="603250">
                <a:tc>
                  <a:txBody>
                    <a:bodyPr/>
                    <a:lstStyle/>
                    <a:p>
                      <a:pPr algn="l"/>
                      <a:r>
                        <a:rPr lang="en-US" sz="1400" b="1">
                          <a:solidFill>
                            <a:srgbClr val="110057"/>
                          </a:solidFill>
                          <a:latin typeface="Arial"/>
                          <a:cs typeface="Arial"/>
                        </a:rPr>
                        <a:t>HCPCS</a:t>
                      </a:r>
                    </a:p>
                  </a:txBody>
                  <a:tcPr anchor="ctr">
                    <a:solidFill>
                      <a:srgbClr val="F7F5F9"/>
                    </a:solidFill>
                  </a:tcPr>
                </a:tc>
                <a:tc>
                  <a:txBody>
                    <a:bodyPr/>
                    <a:lstStyle/>
                    <a:p>
                      <a:pPr algn="ctr"/>
                      <a:r>
                        <a:rPr lang="en-US" sz="1400">
                          <a:solidFill>
                            <a:srgbClr val="110057"/>
                          </a:solidFill>
                          <a:latin typeface="Arial"/>
                          <a:cs typeface="Arial"/>
                        </a:rPr>
                        <a:t>E0470 / E0471</a:t>
                      </a:r>
                    </a:p>
                  </a:txBody>
                  <a:tcPr anchor="ctr">
                    <a:solidFill>
                      <a:srgbClr val="F7F5F9"/>
                    </a:solidFill>
                  </a:tcPr>
                </a:tc>
                <a:tc>
                  <a:txBody>
                    <a:bodyPr/>
                    <a:lstStyle/>
                    <a:p>
                      <a:pPr algn="ctr"/>
                      <a:r>
                        <a:rPr lang="en-US" sz="1400">
                          <a:solidFill>
                            <a:srgbClr val="110057"/>
                          </a:solidFill>
                          <a:latin typeface="Arial"/>
                          <a:cs typeface="Arial"/>
                        </a:rPr>
                        <a:t>E0465 / E0466 / E0467</a:t>
                      </a:r>
                    </a:p>
                  </a:txBody>
                  <a:tcPr anchor="ctr">
                    <a:solidFill>
                      <a:srgbClr val="F7F5F9"/>
                    </a:solidFill>
                  </a:tcPr>
                </a:tc>
                <a:extLst>
                  <a:ext uri="{0D108BD9-81ED-4DB2-BD59-A6C34878D82A}">
                    <a16:rowId xmlns:a16="http://schemas.microsoft.com/office/drawing/2014/main" val="1099798433"/>
                  </a:ext>
                </a:extLst>
              </a:tr>
              <a:tr h="603250">
                <a:tc>
                  <a:txBody>
                    <a:bodyPr/>
                    <a:lstStyle/>
                    <a:p>
                      <a:pPr algn="l"/>
                      <a:r>
                        <a:rPr lang="en-US" sz="1400" b="1">
                          <a:solidFill>
                            <a:srgbClr val="110057"/>
                          </a:solidFill>
                          <a:latin typeface="Arial"/>
                          <a:cs typeface="Arial"/>
                        </a:rPr>
                        <a:t>Examples</a:t>
                      </a:r>
                    </a:p>
                  </a:txBody>
                  <a:tcPr anchor="ctr">
                    <a:solidFill>
                      <a:srgbClr val="FFFFFF"/>
                    </a:solidFill>
                  </a:tcPr>
                </a:tc>
                <a:tc>
                  <a:txBody>
                    <a:bodyPr/>
                    <a:lstStyle/>
                    <a:p>
                      <a:pPr algn="ctr"/>
                      <a:r>
                        <a:rPr lang="en-US" sz="1400">
                          <a:solidFill>
                            <a:srgbClr val="110057"/>
                          </a:solidFill>
                          <a:latin typeface="Arial"/>
                          <a:cs typeface="Arial"/>
                        </a:rPr>
                        <a:t>BPAP, BPAP-ST, VAPS</a:t>
                      </a:r>
                    </a:p>
                  </a:txBody>
                  <a:tcPr anchor="ctr">
                    <a:solidFill>
                      <a:srgbClr val="FFFFFF"/>
                    </a:solidFill>
                  </a:tcPr>
                </a:tc>
                <a:tc>
                  <a:txBody>
                    <a:bodyPr/>
                    <a:lstStyle/>
                    <a:p>
                      <a:pPr algn="ctr"/>
                      <a:r>
                        <a:rPr lang="en-US" sz="1400">
                          <a:solidFill>
                            <a:srgbClr val="110057"/>
                          </a:solidFill>
                          <a:latin typeface="Arial"/>
                          <a:cs typeface="Arial"/>
                        </a:rPr>
                        <a:t>Trilogy, Astral, VOCSN</a:t>
                      </a:r>
                    </a:p>
                  </a:txBody>
                  <a:tcPr anchor="ctr">
                    <a:solidFill>
                      <a:srgbClr val="FFFFFF"/>
                    </a:solidFill>
                  </a:tcPr>
                </a:tc>
                <a:extLst>
                  <a:ext uri="{0D108BD9-81ED-4DB2-BD59-A6C34878D82A}">
                    <a16:rowId xmlns:a16="http://schemas.microsoft.com/office/drawing/2014/main" val="600014481"/>
                  </a:ext>
                </a:extLst>
              </a:tr>
              <a:tr h="603250">
                <a:tc>
                  <a:txBody>
                    <a:bodyPr/>
                    <a:lstStyle/>
                    <a:p>
                      <a:pPr algn="l"/>
                      <a:r>
                        <a:rPr lang="en-US" sz="1400" b="1">
                          <a:solidFill>
                            <a:srgbClr val="110057"/>
                          </a:solidFill>
                          <a:latin typeface="Arial"/>
                          <a:cs typeface="Arial"/>
                        </a:rPr>
                        <a:t>Max pressure</a:t>
                      </a:r>
                    </a:p>
                  </a:txBody>
                  <a:tcPr anchor="ctr">
                    <a:solidFill>
                      <a:srgbClr val="F7F5F9"/>
                    </a:solidFill>
                  </a:tcPr>
                </a:tc>
                <a:tc>
                  <a:txBody>
                    <a:bodyPr/>
                    <a:lstStyle/>
                    <a:p>
                      <a:pPr algn="ctr"/>
                      <a:r>
                        <a:rPr lang="en-US" sz="1400">
                          <a:solidFill>
                            <a:srgbClr val="110057"/>
                          </a:solidFill>
                          <a:latin typeface="Arial"/>
                          <a:cs typeface="Arial"/>
                        </a:rPr>
                        <a:t>~25–30 cmH₂O</a:t>
                      </a:r>
                    </a:p>
                  </a:txBody>
                  <a:tcPr anchor="ctr">
                    <a:solidFill>
                      <a:srgbClr val="F7F5F9"/>
                    </a:solidFill>
                  </a:tcPr>
                </a:tc>
                <a:tc>
                  <a:txBody>
                    <a:bodyPr/>
                    <a:lstStyle/>
                    <a:p>
                      <a:pPr algn="ctr"/>
                      <a:r>
                        <a:rPr lang="en-US" sz="1400">
                          <a:solidFill>
                            <a:srgbClr val="110057"/>
                          </a:solidFill>
                          <a:latin typeface="Arial"/>
                          <a:cs typeface="Arial"/>
                        </a:rPr>
                        <a:t>~50–60 cmH₂O</a:t>
                      </a:r>
                    </a:p>
                  </a:txBody>
                  <a:tcPr anchor="ctr">
                    <a:solidFill>
                      <a:srgbClr val="F7F5F9"/>
                    </a:solidFill>
                  </a:tcPr>
                </a:tc>
                <a:extLst>
                  <a:ext uri="{0D108BD9-81ED-4DB2-BD59-A6C34878D82A}">
                    <a16:rowId xmlns:a16="http://schemas.microsoft.com/office/drawing/2014/main" val="411748762"/>
                  </a:ext>
                </a:extLst>
              </a:tr>
              <a:tr h="603250">
                <a:tc>
                  <a:txBody>
                    <a:bodyPr/>
                    <a:lstStyle/>
                    <a:p>
                      <a:pPr algn="l"/>
                      <a:r>
                        <a:rPr lang="en-US" sz="1400" b="1">
                          <a:solidFill>
                            <a:srgbClr val="110057"/>
                          </a:solidFill>
                          <a:latin typeface="Arial"/>
                          <a:cs typeface="Arial"/>
                        </a:rPr>
                        <a:t>Payment</a:t>
                      </a:r>
                    </a:p>
                  </a:txBody>
                  <a:tcPr anchor="ctr">
                    <a:solidFill>
                      <a:srgbClr val="FFFFFF"/>
                    </a:solidFill>
                  </a:tcPr>
                </a:tc>
                <a:tc>
                  <a:txBody>
                    <a:bodyPr/>
                    <a:lstStyle/>
                    <a:p>
                      <a:pPr algn="ctr"/>
                      <a:r>
                        <a:rPr lang="en-US" sz="1400">
                          <a:solidFill>
                            <a:srgbClr val="110057"/>
                          </a:solidFill>
                          <a:latin typeface="Arial"/>
                          <a:cs typeface="Arial"/>
                        </a:rPr>
                        <a:t>Rent-to-own (13 mo)</a:t>
                      </a:r>
                    </a:p>
                  </a:txBody>
                  <a:tcPr anchor="ctr">
                    <a:solidFill>
                      <a:srgbClr val="FFFFFF"/>
                    </a:solidFill>
                  </a:tcPr>
                </a:tc>
                <a:tc>
                  <a:txBody>
                    <a:bodyPr/>
                    <a:lstStyle/>
                    <a:p>
                      <a:pPr algn="ctr"/>
                      <a:r>
                        <a:rPr lang="en-US" sz="1400">
                          <a:solidFill>
                            <a:srgbClr val="110057"/>
                          </a:solidFill>
                          <a:latin typeface="Arial"/>
                          <a:cs typeface="Arial"/>
                        </a:rPr>
                        <a:t>Monthly rental (indefinite)</a:t>
                      </a:r>
                    </a:p>
                  </a:txBody>
                  <a:tcPr anchor="ctr">
                    <a:solidFill>
                      <a:srgbClr val="FFFFFF"/>
                    </a:solidFill>
                  </a:tcPr>
                </a:tc>
                <a:extLst>
                  <a:ext uri="{0D108BD9-81ED-4DB2-BD59-A6C34878D82A}">
                    <a16:rowId xmlns:a16="http://schemas.microsoft.com/office/drawing/2014/main" val="1124980155"/>
                  </a:ext>
                </a:extLst>
              </a:tr>
              <a:tr h="603250">
                <a:tc>
                  <a:txBody>
                    <a:bodyPr/>
                    <a:lstStyle/>
                    <a:p>
                      <a:pPr algn="l"/>
                      <a:r>
                        <a:rPr lang="en-US" sz="1400" b="1">
                          <a:solidFill>
                            <a:srgbClr val="110057"/>
                          </a:solidFill>
                          <a:latin typeface="Arial"/>
                          <a:cs typeface="Arial"/>
                        </a:rPr>
                        <a:t>Home RT</a:t>
                      </a:r>
                    </a:p>
                  </a:txBody>
                  <a:tcPr anchor="ctr">
                    <a:solidFill>
                      <a:srgbClr val="F7F5F9"/>
                    </a:solidFill>
                  </a:tcPr>
                </a:tc>
                <a:tc>
                  <a:txBody>
                    <a:bodyPr/>
                    <a:lstStyle/>
                    <a:p>
                      <a:pPr algn="ctr"/>
                      <a:r>
                        <a:rPr lang="en-US" sz="1400">
                          <a:solidFill>
                            <a:srgbClr val="110057"/>
                          </a:solidFill>
                          <a:latin typeface="Arial"/>
                          <a:cs typeface="Arial"/>
                        </a:rPr>
                        <a:t>No</a:t>
                      </a:r>
                    </a:p>
                  </a:txBody>
                  <a:tcPr anchor="ctr">
                    <a:solidFill>
                      <a:srgbClr val="F7F5F9"/>
                    </a:solidFill>
                  </a:tcPr>
                </a:tc>
                <a:tc>
                  <a:txBody>
                    <a:bodyPr/>
                    <a:lstStyle/>
                    <a:p>
                      <a:pPr algn="ctr"/>
                      <a:r>
                        <a:rPr lang="en-US" sz="1400">
                          <a:solidFill>
                            <a:srgbClr val="110057"/>
                          </a:solidFill>
                          <a:latin typeface="Arial"/>
                          <a:cs typeface="Arial"/>
                        </a:rPr>
                        <a:t>Yes — included in FSS</a:t>
                      </a:r>
                    </a:p>
                  </a:txBody>
                  <a:tcPr anchor="ctr">
                    <a:solidFill>
                      <a:srgbClr val="F7F5F9"/>
                    </a:solidFill>
                  </a:tcPr>
                </a:tc>
                <a:extLst>
                  <a:ext uri="{0D108BD9-81ED-4DB2-BD59-A6C34878D82A}">
                    <a16:rowId xmlns:a16="http://schemas.microsoft.com/office/drawing/2014/main" val="3436182361"/>
                  </a:ext>
                </a:extLst>
              </a:tr>
              <a:tr h="603250">
                <a:tc>
                  <a:txBody>
                    <a:bodyPr/>
                    <a:lstStyle/>
                    <a:p>
                      <a:pPr algn="l"/>
                      <a:r>
                        <a:rPr lang="en-US" sz="1400" b="1">
                          <a:solidFill>
                            <a:srgbClr val="110057"/>
                          </a:solidFill>
                          <a:latin typeface="Arial"/>
                          <a:cs typeface="Arial"/>
                        </a:rPr>
                        <a:t>Key difference</a:t>
                      </a:r>
                    </a:p>
                  </a:txBody>
                  <a:tcPr anchor="ctr">
                    <a:solidFill>
                      <a:srgbClr val="FFFFFF"/>
                    </a:solidFill>
                  </a:tcPr>
                </a:tc>
                <a:tc>
                  <a:txBody>
                    <a:bodyPr/>
                    <a:lstStyle/>
                    <a:p>
                      <a:pPr algn="ctr"/>
                      <a:r>
                        <a:rPr lang="en-US" sz="1400">
                          <a:solidFill>
                            <a:srgbClr val="110057"/>
                          </a:solidFill>
                          <a:latin typeface="Arial"/>
                          <a:cs typeface="Arial"/>
                        </a:rPr>
                        <a:t>No home support after purchase</a:t>
                      </a:r>
                    </a:p>
                  </a:txBody>
                  <a:tcPr anchor="ctr">
                    <a:solidFill>
                      <a:srgbClr val="FFFFFF"/>
                    </a:solidFill>
                  </a:tcPr>
                </a:tc>
                <a:tc>
                  <a:txBody>
                    <a:bodyPr/>
                    <a:lstStyle/>
                    <a:p>
                      <a:pPr algn="ctr"/>
                      <a:r>
                        <a:rPr lang="en-US" sz="1400">
                          <a:solidFill>
                            <a:srgbClr val="110057"/>
                          </a:solidFill>
                          <a:latin typeface="Arial"/>
                          <a:cs typeface="Arial"/>
                        </a:rPr>
                        <a:t>All-inclusive: device + supplies + RT</a:t>
                      </a:r>
                    </a:p>
                  </a:txBody>
                  <a:tcPr anchor="ctr">
                    <a:solidFill>
                      <a:srgbClr val="FFFFFF"/>
                    </a:solidFill>
                  </a:tcPr>
                </a:tc>
                <a:extLst>
                  <a:ext uri="{0D108BD9-81ED-4DB2-BD59-A6C34878D82A}">
                    <a16:rowId xmlns:a16="http://schemas.microsoft.com/office/drawing/2014/main" val="2805308352"/>
                  </a:ext>
                </a:extLst>
              </a:tr>
            </a:tbl>
          </a:graphicData>
        </a:graphic>
      </p:graphicFrame>
      <p:sp>
        <p:nvSpPr>
          <p:cNvPr id="5" name="TextBox 4">
            <a:extLst>
              <a:ext uri="{FF2B5EF4-FFF2-40B4-BE49-F238E27FC236}">
                <a16:creationId xmlns:a16="http://schemas.microsoft.com/office/drawing/2014/main" id="{E92AC5CD-BA07-F742-B1CD-7789D66B7B23}"/>
              </a:ext>
            </a:extLst>
          </p:cNvPr>
          <p:cNvSpPr txBox="1"/>
          <p:nvPr/>
        </p:nvSpPr>
        <p:spPr>
          <a:xfrm>
            <a:off x="838200" y="368300"/>
            <a:ext cx="10515600" cy="1016000"/>
          </a:xfrm>
          <a:prstGeom prst="rect">
            <a:avLst/>
          </a:prstGeom>
          <a:noFill/>
        </p:spPr>
        <p:txBody>
          <a:bodyPr vertOverflow="overflow" vert="horz" wrap="square" rtlCol="0" anchor="t">
            <a:noAutofit/>
          </a:bodyPr>
          <a:lstStyle/>
          <a:p>
            <a:pPr algn="l"/>
            <a:r>
              <a:rPr lang="en-US" sz="3200">
                <a:solidFill>
                  <a:srgbClr val="110057"/>
                </a:solidFill>
                <a:latin typeface="Arial"/>
                <a:cs typeface="Arial"/>
              </a:rPr>
              <a:t>Home NIV Devices: RAD vs. HMV</a:t>
            </a:r>
          </a:p>
        </p:txBody>
      </p:sp>
      <p:sp>
        <p:nvSpPr>
          <p:cNvPr id="7" name="Title 6">
            <a:extLst>
              <a:ext uri="{FF2B5EF4-FFF2-40B4-BE49-F238E27FC236}">
                <a16:creationId xmlns:a16="http://schemas.microsoft.com/office/drawing/2014/main" id="{BC2F4853-757A-3D98-395A-05609F8D4F2A}"/>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3166507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5B9C9-9C3D-26B3-6174-FAA9E626670D}"/>
              </a:ext>
            </a:extLst>
          </p:cNvPr>
          <p:cNvSpPr>
            <a:spLocks noGrp="1"/>
          </p:cNvSpPr>
          <p:nvPr>
            <p:ph type="title"/>
          </p:nvPr>
        </p:nvSpPr>
        <p:spPr/>
        <p:txBody>
          <a:bodyPr>
            <a:normAutofit/>
          </a:bodyPr>
          <a:lstStyle/>
          <a:p>
            <a:r>
              <a:rPr lang="en-US" sz="3200" dirty="0">
                <a:solidFill>
                  <a:srgbClr val="110057"/>
                </a:solidFill>
                <a:latin typeface="Arial"/>
                <a:cs typeface="Arial"/>
              </a:rPr>
              <a:t>Devices for home </a:t>
            </a:r>
            <a:r>
              <a:rPr lang="en-US" sz="3200" b="1" dirty="0">
                <a:solidFill>
                  <a:srgbClr val="110057"/>
                </a:solidFill>
                <a:latin typeface="Arial"/>
                <a:cs typeface="Arial"/>
              </a:rPr>
              <a:t>non-invasive ventilation</a:t>
            </a:r>
            <a:r>
              <a:rPr lang="en-US" sz="3200" dirty="0">
                <a:solidFill>
                  <a:srgbClr val="110057"/>
                </a:solidFill>
                <a:latin typeface="Arial"/>
                <a:cs typeface="Arial"/>
              </a:rPr>
              <a:t>: </a:t>
            </a:r>
          </a:p>
        </p:txBody>
      </p:sp>
      <p:sp>
        <p:nvSpPr>
          <p:cNvPr id="5" name="Content Placeholder 4">
            <a:extLst>
              <a:ext uri="{FF2B5EF4-FFF2-40B4-BE49-F238E27FC236}">
                <a16:creationId xmlns:a16="http://schemas.microsoft.com/office/drawing/2014/main" id="{74C0D99E-B4F6-7788-A747-7ABE0EBF4F1B}"/>
              </a:ext>
            </a:extLst>
          </p:cNvPr>
          <p:cNvSpPr>
            <a:spLocks noGrp="1"/>
          </p:cNvSpPr>
          <p:nvPr>
            <p:ph idx="1"/>
          </p:nvPr>
        </p:nvSpPr>
        <p:spPr/>
        <p:txBody>
          <a:bodyPr/>
          <a:lstStyle/>
          <a:p>
            <a:endParaRPr lang="en-US"/>
          </a:p>
        </p:txBody>
      </p:sp>
      <p:graphicFrame>
        <p:nvGraphicFramePr>
          <p:cNvPr id="4" name="Table 3">
            <a:extLst>
              <a:ext uri="{FF2B5EF4-FFF2-40B4-BE49-F238E27FC236}">
                <a16:creationId xmlns:a16="http://schemas.microsoft.com/office/drawing/2014/main" id="{000C6BDF-EA39-8D25-52ED-7D1169D16F8E}"/>
              </a:ext>
            </a:extLst>
          </p:cNvPr>
          <p:cNvGraphicFramePr>
            <a:graphicFrameLocks noGrp="1"/>
          </p:cNvGraphicFramePr>
          <p:nvPr>
            <p:extLst>
              <p:ext uri="{D42A27DB-BD31-4B8C-83A1-F6EECF244321}">
                <p14:modId xmlns:p14="http://schemas.microsoft.com/office/powerpoint/2010/main" val="3828143316"/>
              </p:ext>
            </p:extLst>
          </p:nvPr>
        </p:nvGraphicFramePr>
        <p:xfrm>
          <a:off x="838200" y="1530316"/>
          <a:ext cx="10282084" cy="5106050"/>
        </p:xfrm>
        <a:graphic>
          <a:graphicData uri="http://schemas.openxmlformats.org/drawingml/2006/table">
            <a:tbl>
              <a:tblPr firstRow="1" bandRow="1">
                <a:tableStyleId>{616DA210-FB5B-4158-B5E0-FEB733F419BA}</a:tableStyleId>
              </a:tblPr>
              <a:tblGrid>
                <a:gridCol w="5141042">
                  <a:extLst>
                    <a:ext uri="{9D8B030D-6E8A-4147-A177-3AD203B41FA5}">
                      <a16:colId xmlns:a16="http://schemas.microsoft.com/office/drawing/2014/main" val="3233920914"/>
                    </a:ext>
                  </a:extLst>
                </a:gridCol>
                <a:gridCol w="5141042">
                  <a:extLst>
                    <a:ext uri="{9D8B030D-6E8A-4147-A177-3AD203B41FA5}">
                      <a16:colId xmlns:a16="http://schemas.microsoft.com/office/drawing/2014/main" val="2535432573"/>
                    </a:ext>
                  </a:extLst>
                </a:gridCol>
              </a:tblGrid>
              <a:tr h="424546">
                <a:tc>
                  <a:txBody>
                    <a:bodyPr/>
                    <a:lstStyle/>
                    <a:p>
                      <a:r>
                        <a:rPr lang="en-US" sz="2200" dirty="0"/>
                        <a:t>Respiratory Assist Devices (RAD)</a:t>
                      </a:r>
                    </a:p>
                  </a:txBody>
                  <a:tcPr/>
                </a:tc>
                <a:tc>
                  <a:txBody>
                    <a:bodyPr/>
                    <a:lstStyle/>
                    <a:p>
                      <a:r>
                        <a:rPr lang="en-US" sz="2200" dirty="0"/>
                        <a:t>Home Mechanical Ventilator (HMV)</a:t>
                      </a:r>
                    </a:p>
                  </a:txBody>
                  <a:tcPr/>
                </a:tc>
                <a:extLst>
                  <a:ext uri="{0D108BD9-81ED-4DB2-BD59-A6C34878D82A}">
                    <a16:rowId xmlns:a16="http://schemas.microsoft.com/office/drawing/2014/main" val="2292716891"/>
                  </a:ext>
                </a:extLst>
              </a:tr>
              <a:tr h="640540">
                <a:tc>
                  <a:txBody>
                    <a:bodyPr/>
                    <a:lstStyle/>
                    <a:p>
                      <a:r>
                        <a:rPr lang="en-US" sz="2200" b="0" kern="1200" dirty="0">
                          <a:solidFill>
                            <a:schemeClr val="dk1"/>
                          </a:solidFill>
                          <a:effectLst/>
                        </a:rPr>
                        <a:t>HCPCS code E470 (spontaneous) or E0471 (backup rate)</a:t>
                      </a:r>
                      <a:endParaRPr lang="en-US" sz="2200" dirty="0"/>
                    </a:p>
                  </a:txBody>
                  <a:tcPr/>
                </a:tc>
                <a:tc>
                  <a:txBody>
                    <a:bodyPr/>
                    <a:lstStyle/>
                    <a:p>
                      <a:r>
                        <a:rPr lang="en-US" sz="2200" b="0" kern="1200" dirty="0">
                          <a:solidFill>
                            <a:schemeClr val="dk1"/>
                          </a:solidFill>
                          <a:effectLst/>
                        </a:rPr>
                        <a:t>HCPCS code E0465, E0466*, E0467</a:t>
                      </a:r>
                      <a:endParaRPr lang="en-US" sz="2200" dirty="0"/>
                    </a:p>
                  </a:txBody>
                  <a:tcPr/>
                </a:tc>
                <a:extLst>
                  <a:ext uri="{0D108BD9-81ED-4DB2-BD59-A6C34878D82A}">
                    <a16:rowId xmlns:a16="http://schemas.microsoft.com/office/drawing/2014/main" val="618322521"/>
                  </a:ext>
                </a:extLst>
              </a:tr>
              <a:tr h="0">
                <a:tc>
                  <a:txBody>
                    <a:bodyPr/>
                    <a:lstStyle/>
                    <a:p>
                      <a:r>
                        <a:rPr lang="en-US" sz="2200" dirty="0"/>
                        <a:t>BPAP, BPAP-ST, VAPS</a:t>
                      </a:r>
                    </a:p>
                  </a:txBody>
                  <a:tcPr/>
                </a:tc>
                <a:tc>
                  <a:txBody>
                    <a:bodyPr/>
                    <a:lstStyle/>
                    <a:p>
                      <a:r>
                        <a:rPr lang="en-US" sz="2200" dirty="0"/>
                        <a:t>Add: Adjustable EPAP (AVAPS-AE), mouthpiece vent, HFNO, trach vent.</a:t>
                      </a:r>
                    </a:p>
                  </a:txBody>
                  <a:tcPr/>
                </a:tc>
                <a:extLst>
                  <a:ext uri="{0D108BD9-81ED-4DB2-BD59-A6C34878D82A}">
                    <a16:rowId xmlns:a16="http://schemas.microsoft.com/office/drawing/2014/main" val="204803612"/>
                  </a:ext>
                </a:extLst>
              </a:tr>
              <a:tr h="478666">
                <a:tc>
                  <a:txBody>
                    <a:bodyPr/>
                    <a:lstStyle/>
                    <a:p>
                      <a:r>
                        <a:rPr lang="en-US" sz="2200" dirty="0"/>
                        <a:t>Pressure max ~25-30 cmH</a:t>
                      </a:r>
                      <a:r>
                        <a:rPr lang="en-US" sz="2200" baseline="-25000" dirty="0"/>
                        <a:t>2</a:t>
                      </a:r>
                      <a:r>
                        <a:rPr lang="en-US" sz="2200" dirty="0"/>
                        <a:t>O </a:t>
                      </a:r>
                    </a:p>
                  </a:txBody>
                  <a:tcPr/>
                </a:tc>
                <a:tc>
                  <a:txBody>
                    <a:bodyPr/>
                    <a:lstStyle/>
                    <a:p>
                      <a:r>
                        <a:rPr lang="en-US" sz="2200" dirty="0"/>
                        <a:t>Pressure max ~50-60 cmH</a:t>
                      </a:r>
                      <a:r>
                        <a:rPr lang="en-US" sz="2200" baseline="-25000" dirty="0"/>
                        <a:t>2</a:t>
                      </a:r>
                      <a:r>
                        <a:rPr lang="en-US" sz="2200" dirty="0"/>
                        <a:t>O</a:t>
                      </a:r>
                    </a:p>
                  </a:txBody>
                  <a:tcPr/>
                </a:tc>
                <a:extLst>
                  <a:ext uri="{0D108BD9-81ED-4DB2-BD59-A6C34878D82A}">
                    <a16:rowId xmlns:a16="http://schemas.microsoft.com/office/drawing/2014/main" val="3538990558"/>
                  </a:ext>
                </a:extLst>
              </a:tr>
              <a:tr h="478666">
                <a:tc>
                  <a:txBody>
                    <a:bodyPr/>
                    <a:lstStyle/>
                    <a:p>
                      <a:r>
                        <a:rPr lang="en-US" sz="2200" dirty="0"/>
                        <a:t>Requires outlet</a:t>
                      </a:r>
                    </a:p>
                  </a:txBody>
                  <a:tcPr/>
                </a:tc>
                <a:tc>
                  <a:txBody>
                    <a:bodyPr/>
                    <a:lstStyle/>
                    <a:p>
                      <a:r>
                        <a:rPr lang="en-US" sz="2200" dirty="0"/>
                        <a:t>Battery power</a:t>
                      </a:r>
                    </a:p>
                  </a:txBody>
                  <a:tcPr/>
                </a:tc>
                <a:extLst>
                  <a:ext uri="{0D108BD9-81ED-4DB2-BD59-A6C34878D82A}">
                    <a16:rowId xmlns:a16="http://schemas.microsoft.com/office/drawing/2014/main" val="1100764549"/>
                  </a:ext>
                </a:extLst>
              </a:tr>
              <a:tr h="478666">
                <a:tc>
                  <a:txBody>
                    <a:bodyPr/>
                    <a:lstStyle/>
                    <a:p>
                      <a:r>
                        <a:rPr lang="en-US" sz="2200" dirty="0"/>
                        <a:t>Remote setting adjustment</a:t>
                      </a:r>
                    </a:p>
                  </a:txBody>
                  <a:tcPr/>
                </a:tc>
                <a:tc>
                  <a:txBody>
                    <a:bodyPr/>
                    <a:lstStyle/>
                    <a:p>
                      <a:r>
                        <a:rPr lang="en-US" sz="2200" dirty="0"/>
                        <a:t>No remote setting adjustment</a:t>
                      </a:r>
                    </a:p>
                  </a:txBody>
                  <a:tcPr/>
                </a:tc>
                <a:extLst>
                  <a:ext uri="{0D108BD9-81ED-4DB2-BD59-A6C34878D82A}">
                    <a16:rowId xmlns:a16="http://schemas.microsoft.com/office/drawing/2014/main" val="3946695601"/>
                  </a:ext>
                </a:extLst>
              </a:tr>
              <a:tr h="0">
                <a:tc>
                  <a:txBody>
                    <a:bodyPr/>
                    <a:lstStyle/>
                    <a:p>
                      <a:r>
                        <a:rPr lang="en-US" sz="2200" dirty="0"/>
                        <a:t>E.g. </a:t>
                      </a:r>
                      <a:r>
                        <a:rPr lang="en-US" sz="2200" dirty="0" err="1"/>
                        <a:t>Aircurve</a:t>
                      </a:r>
                      <a:r>
                        <a:rPr lang="en-US" sz="2200" dirty="0"/>
                        <a:t> ST, </a:t>
                      </a:r>
                      <a:r>
                        <a:rPr lang="en-US" sz="2200" dirty="0" err="1"/>
                        <a:t>Aircurve</a:t>
                      </a:r>
                      <a:r>
                        <a:rPr lang="en-US" sz="2200" dirty="0"/>
                        <a:t> STA, Luna G3</a:t>
                      </a:r>
                    </a:p>
                  </a:txBody>
                  <a:tcPr/>
                </a:tc>
                <a:tc>
                  <a:txBody>
                    <a:bodyPr/>
                    <a:lstStyle/>
                    <a:p>
                      <a:r>
                        <a:rPr lang="en-US" sz="2200" dirty="0"/>
                        <a:t>Trilogy (EVO), Astral , Vivo, Luisa, VOCSN</a:t>
                      </a:r>
                    </a:p>
                  </a:txBody>
                  <a:tcPr/>
                </a:tc>
                <a:extLst>
                  <a:ext uri="{0D108BD9-81ED-4DB2-BD59-A6C34878D82A}">
                    <a16:rowId xmlns:a16="http://schemas.microsoft.com/office/drawing/2014/main" val="729250132"/>
                  </a:ext>
                </a:extLst>
              </a:tr>
              <a:tr h="478666">
                <a:tc>
                  <a:txBody>
                    <a:bodyPr/>
                    <a:lstStyle/>
                    <a:p>
                      <a:r>
                        <a:rPr lang="en-US" sz="2200" dirty="0"/>
                        <a:t>Rent-to-own</a:t>
                      </a:r>
                    </a:p>
                  </a:txBody>
                  <a:tcPr/>
                </a:tc>
                <a:tc>
                  <a:txBody>
                    <a:bodyPr/>
                    <a:lstStyle/>
                    <a:p>
                      <a:r>
                        <a:rPr lang="en-US" sz="2200" dirty="0"/>
                        <a:t>Rent</a:t>
                      </a:r>
                    </a:p>
                  </a:txBody>
                  <a:tcPr/>
                </a:tc>
                <a:extLst>
                  <a:ext uri="{0D108BD9-81ED-4DB2-BD59-A6C34878D82A}">
                    <a16:rowId xmlns:a16="http://schemas.microsoft.com/office/drawing/2014/main" val="1930636291"/>
                  </a:ext>
                </a:extLst>
              </a:tr>
              <a:tr h="478666">
                <a:tc>
                  <a:txBody>
                    <a:bodyPr/>
                    <a:lstStyle/>
                    <a:p>
                      <a:r>
                        <a:rPr lang="en-US" sz="2200" dirty="0"/>
                        <a:t>No home support</a:t>
                      </a:r>
                    </a:p>
                  </a:txBody>
                  <a:tcPr/>
                </a:tc>
                <a:tc>
                  <a:txBody>
                    <a:bodyPr/>
                    <a:lstStyle/>
                    <a:p>
                      <a:r>
                        <a:rPr lang="en-US" sz="2200" dirty="0"/>
                        <a:t>Home RT support</a:t>
                      </a:r>
                    </a:p>
                  </a:txBody>
                  <a:tcPr/>
                </a:tc>
                <a:extLst>
                  <a:ext uri="{0D108BD9-81ED-4DB2-BD59-A6C34878D82A}">
                    <a16:rowId xmlns:a16="http://schemas.microsoft.com/office/drawing/2014/main" val="1584859181"/>
                  </a:ext>
                </a:extLst>
              </a:tr>
            </a:tbl>
          </a:graphicData>
        </a:graphic>
      </p:graphicFrame>
      <p:sp>
        <p:nvSpPr>
          <p:cNvPr id="8" name="Rounded Rectangle 7">
            <a:extLst>
              <a:ext uri="{FF2B5EF4-FFF2-40B4-BE49-F238E27FC236}">
                <a16:creationId xmlns:a16="http://schemas.microsoft.com/office/drawing/2014/main" id="{5D397090-DAF0-1773-D1AB-B48151BA4A2C}"/>
              </a:ext>
            </a:extLst>
          </p:cNvPr>
          <p:cNvSpPr/>
          <p:nvPr/>
        </p:nvSpPr>
        <p:spPr>
          <a:xfrm>
            <a:off x="9935500" y="3429000"/>
            <a:ext cx="2045110" cy="136422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200" dirty="0">
                <a:latin typeface="Arial"/>
                <a:cs typeface="Arial"/>
              </a:rPr>
              <a:t>Mean IPAP in contemporary COPD trials mid 20s. </a:t>
            </a:r>
          </a:p>
        </p:txBody>
      </p:sp>
    </p:spTree>
    <p:extLst>
      <p:ext uri="{BB962C8B-B14F-4D97-AF65-F5344CB8AC3E}">
        <p14:creationId xmlns:p14="http://schemas.microsoft.com/office/powerpoint/2010/main" val="20025452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CB12E-8400-A955-7448-6031DB7EF204}"/>
              </a:ext>
            </a:extLst>
          </p:cNvPr>
          <p:cNvSpPr>
            <a:spLocks noGrp="1"/>
          </p:cNvSpPr>
          <p:nvPr>
            <p:ph type="title"/>
          </p:nvPr>
        </p:nvSpPr>
        <p:spPr/>
        <p:txBody>
          <a:bodyPr>
            <a:normAutofit/>
          </a:bodyPr>
          <a:lstStyle/>
          <a:p>
            <a:r>
              <a:rPr lang="en-US" sz="3200" dirty="0">
                <a:solidFill>
                  <a:srgbClr val="110057"/>
                </a:solidFill>
                <a:latin typeface="Arial"/>
                <a:cs typeface="Arial"/>
              </a:rPr>
              <a:t>Prior National Coverage Determination: </a:t>
            </a:r>
            <a:r>
              <a:rPr lang="en-US" sz="3200" b="1" dirty="0">
                <a:solidFill>
                  <a:srgbClr val="110057"/>
                </a:solidFill>
                <a:latin typeface="Arial"/>
                <a:cs typeface="Arial"/>
              </a:rPr>
              <a:t>RADs</a:t>
            </a:r>
          </a:p>
        </p:txBody>
      </p:sp>
      <p:sp>
        <p:nvSpPr>
          <p:cNvPr id="3" name="Content Placeholder 2">
            <a:extLst>
              <a:ext uri="{FF2B5EF4-FFF2-40B4-BE49-F238E27FC236}">
                <a16:creationId xmlns:a16="http://schemas.microsoft.com/office/drawing/2014/main" id="{57C3359B-CC93-F1A2-D766-50E9F0F3D26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99B96C06-1281-3C19-5E31-298BFA20BF17}"/>
              </a:ext>
            </a:extLst>
          </p:cNvPr>
          <p:cNvPicPr>
            <a:picLocks noChangeAspect="1"/>
          </p:cNvPicPr>
          <p:nvPr/>
        </p:nvPicPr>
        <p:blipFill>
          <a:blip r:embed="rId2"/>
          <a:stretch>
            <a:fillRect/>
          </a:stretch>
        </p:blipFill>
        <p:spPr>
          <a:xfrm>
            <a:off x="35789" y="1690688"/>
            <a:ext cx="6060211" cy="4625125"/>
          </a:xfrm>
          <a:prstGeom prst="rect">
            <a:avLst/>
          </a:prstGeom>
        </p:spPr>
      </p:pic>
      <p:pic>
        <p:nvPicPr>
          <p:cNvPr id="5" name="Picture 4">
            <a:extLst>
              <a:ext uri="{FF2B5EF4-FFF2-40B4-BE49-F238E27FC236}">
                <a16:creationId xmlns:a16="http://schemas.microsoft.com/office/drawing/2014/main" id="{049604D9-AB20-8224-057B-0376EA91CBB2}"/>
              </a:ext>
            </a:extLst>
          </p:cNvPr>
          <p:cNvPicPr>
            <a:picLocks noChangeAspect="1"/>
          </p:cNvPicPr>
          <p:nvPr/>
        </p:nvPicPr>
        <p:blipFill>
          <a:blip r:embed="rId3"/>
          <a:stretch>
            <a:fillRect/>
          </a:stretch>
        </p:blipFill>
        <p:spPr>
          <a:xfrm>
            <a:off x="6037008" y="2828725"/>
            <a:ext cx="6096000" cy="2225523"/>
          </a:xfrm>
          <a:prstGeom prst="rect">
            <a:avLst/>
          </a:prstGeom>
        </p:spPr>
      </p:pic>
    </p:spTree>
    <p:extLst>
      <p:ext uri="{BB962C8B-B14F-4D97-AF65-F5344CB8AC3E}">
        <p14:creationId xmlns:p14="http://schemas.microsoft.com/office/powerpoint/2010/main" val="32333308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31E8C-346B-81AB-210D-AEA9794399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26B8EC-63CC-21A4-09A6-81F230202EE2}"/>
              </a:ext>
            </a:extLst>
          </p:cNvPr>
          <p:cNvSpPr>
            <a:spLocks noGrp="1"/>
          </p:cNvSpPr>
          <p:nvPr>
            <p:ph type="title"/>
          </p:nvPr>
        </p:nvSpPr>
        <p:spPr/>
        <p:txBody>
          <a:bodyPr>
            <a:normAutofit/>
          </a:bodyPr>
          <a:lstStyle/>
          <a:p>
            <a:r>
              <a:rPr lang="en-US" sz="3200" dirty="0">
                <a:solidFill>
                  <a:srgbClr val="110057"/>
                </a:solidFill>
                <a:latin typeface="Arial"/>
                <a:cs typeface="Arial"/>
              </a:rPr>
              <a:t>Prior National Coverage Determination: </a:t>
            </a:r>
            <a:r>
              <a:rPr lang="en-US" sz="3200" b="1" dirty="0">
                <a:solidFill>
                  <a:srgbClr val="110057"/>
                </a:solidFill>
                <a:latin typeface="Arial"/>
                <a:cs typeface="Arial"/>
              </a:rPr>
              <a:t>HMVs</a:t>
            </a:r>
          </a:p>
        </p:txBody>
      </p:sp>
      <p:sp>
        <p:nvSpPr>
          <p:cNvPr id="3" name="Content Placeholder 2">
            <a:extLst>
              <a:ext uri="{FF2B5EF4-FFF2-40B4-BE49-F238E27FC236}">
                <a16:creationId xmlns:a16="http://schemas.microsoft.com/office/drawing/2014/main" id="{6832091F-1641-8FDE-48F8-89F160C9B629}"/>
              </a:ext>
            </a:extLst>
          </p:cNvPr>
          <p:cNvSpPr>
            <a:spLocks noGrp="1"/>
          </p:cNvSpPr>
          <p:nvPr>
            <p:ph idx="1"/>
          </p:nvPr>
        </p:nvSpPr>
        <p:spPr/>
        <p:txBody>
          <a:bodyPr>
            <a:normAutofit/>
          </a:bodyPr>
          <a:lstStyle/>
          <a:p>
            <a:pPr marL="0" indent="0">
              <a:buNone/>
            </a:pPr>
            <a:r>
              <a:rPr lang="en-US" sz="2200" dirty="0">
                <a:latin typeface="Arial"/>
                <a:cs typeface="Arial"/>
              </a:rPr>
              <a:t>Patient has a NMD, Thoracic Restrictive Disease, or Chronic Respiratory Failure from COPD </a:t>
            </a:r>
          </a:p>
          <a:p>
            <a:pPr marL="0" indent="0">
              <a:buNone/>
            </a:pPr>
            <a:r>
              <a:rPr lang="en-US" sz="2200" dirty="0">
                <a:latin typeface="Arial"/>
                <a:cs typeface="Arial"/>
              </a:rPr>
              <a:t>Where </a:t>
            </a:r>
            <a:r>
              <a:rPr lang="en-US" sz="2200" u="sng" dirty="0">
                <a:latin typeface="Arial"/>
                <a:cs typeface="Arial"/>
              </a:rPr>
              <a:t>“the condition is life-threatening where interruption of respiratory support would quickly lead to serious harm or death.” </a:t>
            </a:r>
          </a:p>
          <a:p>
            <a:r>
              <a:rPr lang="en-US" sz="2200" dirty="0">
                <a:latin typeface="Arial"/>
                <a:cs typeface="Arial"/>
              </a:rPr>
              <a:t>Unlike RADs, no definitions of medical conditions or what constitutes life-threatening were given</a:t>
            </a:r>
          </a:p>
        </p:txBody>
      </p:sp>
      <p:sp>
        <p:nvSpPr>
          <p:cNvPr id="5" name="Rectangle 4">
            <a:extLst>
              <a:ext uri="{FF2B5EF4-FFF2-40B4-BE49-F238E27FC236}">
                <a16:creationId xmlns:a16="http://schemas.microsoft.com/office/drawing/2014/main" id="{DEF90047-3A03-7548-807D-0310E2CD9002}"/>
              </a:ext>
            </a:extLst>
          </p:cNvPr>
          <p:cNvSpPr/>
          <p:nvPr/>
        </p:nvSpPr>
        <p:spPr>
          <a:xfrm>
            <a:off x="838200" y="1689100"/>
            <a:ext cx="1524000" cy="38100"/>
          </a:xfrm>
          <a:prstGeom prst="rect">
            <a:avLst/>
          </a:prstGeom>
          <a:solidFill>
            <a:srgbClr val="FBAE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7225226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FBBC6-7326-759A-8973-EED6C38DC8D6}"/>
              </a:ext>
            </a:extLst>
          </p:cNvPr>
          <p:cNvSpPr>
            <a:spLocks noGrp="1"/>
          </p:cNvSpPr>
          <p:nvPr>
            <p:ph type="title"/>
          </p:nvPr>
        </p:nvSpPr>
        <p:spPr/>
        <p:txBody>
          <a:bodyPr/>
          <a:lstStyle/>
          <a:p>
            <a:r>
              <a:rPr lang="en-US">
                <a:solidFill>
                  <a:srgbClr val="110057"/>
                </a:solidFill>
                <a:latin typeface="Arial"/>
                <a:cs typeface="Arial"/>
              </a:rPr>
              <a:t>Where Does the Money Come From?</a:t>
            </a:r>
          </a:p>
        </p:txBody>
      </p:sp>
      <p:sp>
        <p:nvSpPr>
          <p:cNvPr id="3" name="Content Placeholder 2">
            <a:extLst>
              <a:ext uri="{FF2B5EF4-FFF2-40B4-BE49-F238E27FC236}">
                <a16:creationId xmlns:a16="http://schemas.microsoft.com/office/drawing/2014/main" id="{FD4D3122-6688-AB7C-CD82-DE18D0FB0A13}"/>
              </a:ext>
            </a:extLst>
          </p:cNvPr>
          <p:cNvSpPr>
            <a:spLocks noGrp="1"/>
          </p:cNvSpPr>
          <p:nvPr>
            <p:ph idx="1"/>
          </p:nvPr>
        </p:nvSpPr>
        <p:spPr/>
        <p:txBody>
          <a:bodyPr>
            <a:normAutofit fontScale="92500" lnSpcReduction="20000"/>
          </a:bodyPr>
          <a:lstStyle/>
          <a:p>
            <a:pPr marL="0" indent="0">
              <a:buNone/>
            </a:pPr>
            <a:r>
              <a:rPr lang="en-US" sz="2000" b="1" dirty="0">
                <a:latin typeface="Arial"/>
                <a:cs typeface="Arial"/>
              </a:rPr>
              <a:t>HMVs: Frequent and Substantial Servicing (FSS) payment</a:t>
            </a:r>
          </a:p>
          <a:p>
            <a:r>
              <a:rPr lang="en-US" sz="2000" dirty="0">
                <a:latin typeface="Arial"/>
                <a:cs typeface="Arial"/>
              </a:rPr>
              <a:t>Monthly rental — all-inclusive: device + supplies + maintenance + home RT services</a:t>
            </a:r>
          </a:p>
          <a:p>
            <a:r>
              <a:rPr lang="en-US" sz="2000" dirty="0">
                <a:latin typeface="Arial"/>
                <a:cs typeface="Arial"/>
              </a:rPr>
              <a:t>Payments continue indefinitely (no rent-to-own)</a:t>
            </a:r>
          </a:p>
          <a:p>
            <a:pPr marL="0" indent="0">
              <a:buNone/>
            </a:pPr>
            <a:endParaRPr lang="en-US" sz="1400" dirty="0">
              <a:latin typeface="Arial"/>
              <a:cs typeface="Arial"/>
            </a:endParaRPr>
          </a:p>
          <a:p>
            <a:pPr marL="0" indent="0">
              <a:buNone/>
            </a:pPr>
            <a:r>
              <a:rPr lang="en-US" sz="2000" b="1" dirty="0">
                <a:latin typeface="Arial"/>
                <a:cs typeface="Arial"/>
              </a:rPr>
              <a:t>RADs: Rent-to-own (capped rental)</a:t>
            </a:r>
          </a:p>
          <a:p>
            <a:r>
              <a:rPr lang="en-US" sz="2000" dirty="0">
                <a:latin typeface="Arial"/>
                <a:cs typeface="Arial"/>
              </a:rPr>
              <a:t>13 months of rental → ownership transfers to patient</a:t>
            </a:r>
          </a:p>
          <a:p>
            <a:r>
              <a:rPr lang="en-US" sz="2000" dirty="0">
                <a:latin typeface="Arial"/>
                <a:cs typeface="Arial"/>
              </a:rPr>
              <a:t>No home RT support, no ongoing supplies coverage</a:t>
            </a:r>
          </a:p>
          <a:p>
            <a:pPr marL="0" indent="0">
              <a:buNone/>
            </a:pPr>
            <a:endParaRPr lang="en-US" sz="1400" dirty="0">
              <a:latin typeface="Arial"/>
              <a:cs typeface="Arial"/>
            </a:endParaRPr>
          </a:p>
          <a:p>
            <a:pPr marL="0" indent="0">
              <a:buNone/>
            </a:pPr>
            <a:r>
              <a:rPr lang="en-US" sz="2000" b="1" dirty="0">
                <a:latin typeface="Arial"/>
                <a:cs typeface="Arial"/>
              </a:rPr>
              <a:t>The scale:</a:t>
            </a:r>
          </a:p>
          <a:p>
            <a:r>
              <a:rPr lang="en-US" sz="2000" dirty="0">
                <a:latin typeface="Arial"/>
                <a:cs typeface="Arial"/>
              </a:rPr>
              <a:t>Medicare NIV charges reached $424.4 million in 2018</a:t>
            </a:r>
          </a:p>
          <a:p>
            <a:r>
              <a:rPr lang="en-US" sz="2000" dirty="0">
                <a:latin typeface="Arial"/>
                <a:cs typeface="Arial"/>
              </a:rPr>
              <a:t>OIG found CMS overpaid ~$86.6M on HMV (E0466) vs. non-Medicare rates (2016–18)</a:t>
            </a:r>
          </a:p>
          <a:p>
            <a:pPr marL="0" indent="0">
              <a:buNone/>
            </a:pPr>
            <a:endParaRPr lang="en-US" sz="1400" dirty="0">
              <a:latin typeface="Arial"/>
              <a:cs typeface="Arial"/>
            </a:endParaRPr>
          </a:p>
          <a:p>
            <a:pPr marL="0" indent="0">
              <a:buNone/>
            </a:pPr>
            <a:r>
              <a:rPr lang="en-US" sz="2000" i="1" dirty="0">
                <a:latin typeface="Arial"/>
                <a:cs typeface="Arial"/>
              </a:rPr>
              <a:t>Current Medicare guidelines do not reflect modernization that other payers and countries have employed.</a:t>
            </a:r>
          </a:p>
        </p:txBody>
      </p:sp>
    </p:spTree>
    <p:extLst>
      <p:ext uri="{BB962C8B-B14F-4D97-AF65-F5344CB8AC3E}">
        <p14:creationId xmlns:p14="http://schemas.microsoft.com/office/powerpoint/2010/main" val="37497055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C78A1-AE0C-484B-80DD-2F50877C3E88}"/>
              </a:ext>
            </a:extLst>
          </p:cNvPr>
          <p:cNvSpPr>
            <a:spLocks noGrp="1"/>
          </p:cNvSpPr>
          <p:nvPr>
            <p:ph type="title"/>
          </p:nvPr>
        </p:nvSpPr>
        <p:spPr/>
        <p:txBody>
          <a:bodyPr>
            <a:normAutofit/>
          </a:bodyPr>
          <a:lstStyle/>
          <a:p>
            <a:r>
              <a:rPr lang="en-US" sz="3200">
                <a:solidFill>
                  <a:srgbClr val="110057"/>
                </a:solidFill>
                <a:latin typeface="Arial"/>
                <a:cs typeface="Arial"/>
              </a:rPr>
              <a:t>The Discharge Paradox</a:t>
            </a:r>
          </a:p>
        </p:txBody>
      </p:sp>
      <p:sp>
        <p:nvSpPr>
          <p:cNvPr id="3" name="Content Placeholder 2">
            <a:extLst>
              <a:ext uri="{FF2B5EF4-FFF2-40B4-BE49-F238E27FC236}">
                <a16:creationId xmlns:a16="http://schemas.microsoft.com/office/drawing/2014/main" id="{4EE57778-3BCB-9E08-7118-4EC9B44B96B3}"/>
              </a:ext>
            </a:extLst>
          </p:cNvPr>
          <p:cNvSpPr>
            <a:spLocks noGrp="1"/>
          </p:cNvSpPr>
          <p:nvPr>
            <p:ph idx="1"/>
          </p:nvPr>
        </p:nvSpPr>
        <p:spPr/>
        <p:txBody>
          <a:bodyPr>
            <a:normAutofit/>
          </a:bodyPr>
          <a:lstStyle/>
          <a:p>
            <a:pPr marL="0" indent="0">
              <a:buNone/>
            </a:pPr>
            <a:r>
              <a:rPr lang="en-US" sz="2200" b="1" dirty="0">
                <a:latin typeface="Arial"/>
                <a:cs typeface="Arial"/>
              </a:rPr>
              <a:t>ATS Guidelines (strong recommendation):</a:t>
            </a:r>
          </a:p>
          <a:p>
            <a:r>
              <a:rPr lang="en-US" sz="2200" dirty="0">
                <a:latin typeface="Arial"/>
                <a:cs typeface="Arial"/>
              </a:rPr>
              <a:t>Discharge with empiric NIV in hospitalized patients with OHS</a:t>
            </a:r>
          </a:p>
          <a:p>
            <a:pPr marL="0" indent="0">
              <a:buNone/>
            </a:pPr>
            <a:endParaRPr lang="en-US" sz="1400" dirty="0">
              <a:latin typeface="Arial"/>
              <a:cs typeface="Arial"/>
            </a:endParaRPr>
          </a:p>
          <a:p>
            <a:pPr marL="0" indent="0">
              <a:buNone/>
            </a:pPr>
            <a:r>
              <a:rPr lang="en-US" sz="2200" b="1" dirty="0">
                <a:latin typeface="Arial"/>
                <a:cs typeface="Arial"/>
              </a:rPr>
              <a:t>Reality:</a:t>
            </a:r>
          </a:p>
          <a:p>
            <a:r>
              <a:rPr lang="en-US" sz="2200" dirty="0">
                <a:latin typeface="Arial"/>
                <a:cs typeface="Arial"/>
              </a:rPr>
              <a:t>No such thing as a "loaner" BPAP</a:t>
            </a:r>
          </a:p>
          <a:p>
            <a:r>
              <a:rPr lang="en-US" sz="2200" dirty="0">
                <a:latin typeface="Arial"/>
                <a:cs typeface="Arial"/>
              </a:rPr>
              <a:t>Qualification requires testing that takes days to weeks</a:t>
            </a:r>
          </a:p>
          <a:p>
            <a:r>
              <a:rPr lang="en-US" sz="2200" dirty="0">
                <a:latin typeface="Arial"/>
                <a:cs typeface="Arial"/>
              </a:rPr>
              <a:t>Patient goes home on O</a:t>
            </a:r>
            <a:r>
              <a:rPr lang="en-US" sz="2200" baseline="-25000" dirty="0">
                <a:latin typeface="Arial"/>
                <a:cs typeface="Arial"/>
              </a:rPr>
              <a:t>2</a:t>
            </a:r>
            <a:r>
              <a:rPr lang="en-US" sz="2200" dirty="0">
                <a:latin typeface="Arial"/>
                <a:cs typeface="Arial"/>
              </a:rPr>
              <a:t> alone — or doesn't go home at all</a:t>
            </a:r>
          </a:p>
          <a:p>
            <a:pPr marL="0" indent="0">
              <a:buNone/>
            </a:pPr>
            <a:endParaRPr lang="en-US" sz="1400" dirty="0">
              <a:latin typeface="Arial"/>
              <a:cs typeface="Arial"/>
            </a:endParaRPr>
          </a:p>
          <a:p>
            <a:pPr marL="0" indent="0">
              <a:buNone/>
            </a:pPr>
            <a:r>
              <a:rPr lang="en-US" sz="2200" i="1" dirty="0">
                <a:latin typeface="Arial"/>
                <a:cs typeface="Arial"/>
              </a:rPr>
              <a:t>The evidence says "send them home with BPAP" — the system says "you can't."</a:t>
            </a:r>
          </a:p>
        </p:txBody>
      </p:sp>
      <p:sp>
        <p:nvSpPr>
          <p:cNvPr id="5" name="Rectangle 4">
            <a:extLst>
              <a:ext uri="{FF2B5EF4-FFF2-40B4-BE49-F238E27FC236}">
                <a16:creationId xmlns:a16="http://schemas.microsoft.com/office/drawing/2014/main" id="{DFBDD65F-E910-1442-8B02-2F78CC61344F}"/>
              </a:ext>
            </a:extLst>
          </p:cNvPr>
          <p:cNvSpPr/>
          <p:nvPr/>
        </p:nvSpPr>
        <p:spPr>
          <a:xfrm>
            <a:off x="838200" y="1689100"/>
            <a:ext cx="1524000" cy="38100"/>
          </a:xfrm>
          <a:prstGeom prst="rect">
            <a:avLst/>
          </a:prstGeom>
          <a:solidFill>
            <a:srgbClr val="FBAE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9851418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55AA3-181A-2950-1978-560D6C4D9290}"/>
              </a:ext>
            </a:extLst>
          </p:cNvPr>
          <p:cNvSpPr>
            <a:spLocks noGrp="1"/>
          </p:cNvSpPr>
          <p:nvPr>
            <p:ph type="title"/>
          </p:nvPr>
        </p:nvSpPr>
        <p:spPr/>
        <p:txBody>
          <a:bodyPr/>
          <a:lstStyle/>
          <a:p>
            <a:r>
              <a:rPr lang="en-US">
                <a:solidFill>
                  <a:srgbClr val="110057"/>
                </a:solidFill>
                <a:latin typeface="Arial"/>
                <a:cs typeface="Arial"/>
              </a:rPr>
              <a:t>The Qualification Maze</a:t>
            </a:r>
          </a:p>
        </p:txBody>
      </p:sp>
      <p:sp>
        <p:nvSpPr>
          <p:cNvPr id="3" name="Content Placeholder 2">
            <a:extLst>
              <a:ext uri="{FF2B5EF4-FFF2-40B4-BE49-F238E27FC236}">
                <a16:creationId xmlns:a16="http://schemas.microsoft.com/office/drawing/2014/main" id="{DD20250A-4224-8FE4-6400-396980A91CA7}"/>
              </a:ext>
            </a:extLst>
          </p:cNvPr>
          <p:cNvSpPr>
            <a:spLocks noGrp="1"/>
          </p:cNvSpPr>
          <p:nvPr>
            <p:ph idx="1"/>
          </p:nvPr>
        </p:nvSpPr>
        <p:spPr/>
        <p:txBody>
          <a:bodyPr>
            <a:normAutofit lnSpcReduction="10000"/>
          </a:bodyPr>
          <a:lstStyle/>
          <a:p>
            <a:pPr marL="0" indent="0">
              <a:buNone/>
            </a:pPr>
            <a:r>
              <a:rPr lang="en-US" sz="1800" b="1" dirty="0">
                <a:latin typeface="Arial"/>
                <a:cs typeface="Arial"/>
              </a:rPr>
              <a:t>To qualify a patient for a RAD, the provider must:</a:t>
            </a:r>
          </a:p>
          <a:p>
            <a:pPr marL="0" indent="0">
              <a:buNone/>
            </a:pPr>
            <a:endParaRPr lang="en-US" sz="1400" dirty="0">
              <a:latin typeface="Arial"/>
              <a:cs typeface="Arial"/>
            </a:endParaRPr>
          </a:p>
          <a:p>
            <a:r>
              <a:rPr lang="en-US" sz="1800" dirty="0">
                <a:latin typeface="Arial"/>
                <a:cs typeface="Arial"/>
              </a:rPr>
              <a:t>1. Determine likely diagnosis: OSA, COPD, CSA, restrictive thoracic disease (NMD or thoracic cage abnormality), or hypoventilation</a:t>
            </a:r>
          </a:p>
          <a:p>
            <a:r>
              <a:rPr lang="en-US" sz="1800" dirty="0">
                <a:latin typeface="Arial"/>
                <a:cs typeface="Arial"/>
              </a:rPr>
              <a:t>2. Proceed with focused testing for that specific diagnosis:</a:t>
            </a:r>
          </a:p>
          <a:p>
            <a:pPr lvl="1"/>
            <a:r>
              <a:rPr lang="en-US" sz="1800" dirty="0">
                <a:latin typeface="Arial"/>
                <a:cs typeface="Arial"/>
              </a:rPr>
              <a:t>Polysomnography or home sleep apnea testing</a:t>
            </a:r>
          </a:p>
          <a:p>
            <a:pPr lvl="1"/>
            <a:r>
              <a:rPr lang="en-US" sz="1800" dirty="0">
                <a:latin typeface="Arial"/>
                <a:cs typeface="Arial"/>
              </a:rPr>
              <a:t>Overnight oximetry</a:t>
            </a:r>
          </a:p>
          <a:p>
            <a:pPr lvl="1"/>
            <a:r>
              <a:rPr lang="en-US" sz="1800" dirty="0">
                <a:latin typeface="Arial"/>
                <a:cs typeface="Arial"/>
              </a:rPr>
              <a:t>Spirometry</a:t>
            </a:r>
          </a:p>
          <a:p>
            <a:pPr lvl="1"/>
            <a:r>
              <a:rPr lang="en-US" sz="1800" dirty="0">
                <a:latin typeface="Arial"/>
                <a:cs typeface="Arial"/>
              </a:rPr>
              <a:t>Arterial blood gas (PaCO</a:t>
            </a:r>
            <a:r>
              <a:rPr lang="en-US" sz="1800" baseline="-25000" dirty="0">
                <a:latin typeface="Arial"/>
                <a:cs typeface="Arial"/>
              </a:rPr>
              <a:t>2</a:t>
            </a:r>
            <a:r>
              <a:rPr lang="en-US" sz="1800" dirty="0">
                <a:latin typeface="Arial"/>
                <a:cs typeface="Arial"/>
              </a:rPr>
              <a:t>)</a:t>
            </a:r>
          </a:p>
          <a:p>
            <a:pPr marL="0" indent="0">
              <a:buNone/>
            </a:pPr>
            <a:endParaRPr lang="en-US" sz="1400" dirty="0">
              <a:latin typeface="Arial"/>
              <a:cs typeface="Arial"/>
            </a:endParaRPr>
          </a:p>
          <a:p>
            <a:pPr marL="0" indent="0">
              <a:buNone/>
            </a:pPr>
            <a:r>
              <a:rPr lang="en-US" sz="1800" b="1" dirty="0">
                <a:latin typeface="Arial"/>
                <a:cs typeface="Arial"/>
              </a:rPr>
              <a:t>The paradox:</a:t>
            </a:r>
          </a:p>
          <a:p>
            <a:r>
              <a:rPr lang="en-US" sz="1800" dirty="0">
                <a:latin typeface="Arial"/>
                <a:cs typeface="Arial"/>
              </a:rPr>
              <a:t>The COPD pathway requires nocturnal oximetry — clinically irrelevant for many patients</a:t>
            </a:r>
          </a:p>
          <a:p>
            <a:r>
              <a:rPr lang="en-US" sz="1800" dirty="0">
                <a:latin typeface="Arial"/>
                <a:cs typeface="Arial"/>
              </a:rPr>
              <a:t>The HMV NCD is so old and vague that it's often </a:t>
            </a:r>
            <a:r>
              <a:rPr lang="en-US" sz="1800" i="1" dirty="0">
                <a:latin typeface="Arial"/>
                <a:cs typeface="Arial"/>
              </a:rPr>
              <a:t>paradoxically easier</a:t>
            </a:r>
            <a:r>
              <a:rPr lang="en-US" sz="1800" dirty="0">
                <a:latin typeface="Arial"/>
                <a:cs typeface="Arial"/>
              </a:rPr>
              <a:t> to qualify for than a RAD</a:t>
            </a:r>
          </a:p>
          <a:p>
            <a:r>
              <a:rPr lang="en-US" sz="1800" dirty="0">
                <a:latin typeface="Arial"/>
                <a:cs typeface="Arial"/>
              </a:rPr>
              <a:t>These 1998 guidelines have not been updated to reflect the current evidence base</a:t>
            </a:r>
          </a:p>
        </p:txBody>
      </p:sp>
      <p:sp>
        <p:nvSpPr>
          <p:cNvPr id="5" name="Rectangle 4">
            <a:extLst>
              <a:ext uri="{FF2B5EF4-FFF2-40B4-BE49-F238E27FC236}">
                <a16:creationId xmlns:a16="http://schemas.microsoft.com/office/drawing/2014/main" id="{300D3283-E731-4849-8B7D-FB2800052612}"/>
              </a:ext>
            </a:extLst>
          </p:cNvPr>
          <p:cNvSpPr/>
          <p:nvPr/>
        </p:nvSpPr>
        <p:spPr>
          <a:xfrm>
            <a:off x="838200" y="1689100"/>
            <a:ext cx="1524000" cy="38100"/>
          </a:xfrm>
          <a:prstGeom prst="rect">
            <a:avLst/>
          </a:prstGeom>
          <a:solidFill>
            <a:srgbClr val="FBAE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42229376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54EEB-457F-8A38-4886-3BE50D107D2B}"/>
              </a:ext>
            </a:extLst>
          </p:cNvPr>
          <p:cNvSpPr>
            <a:spLocks noGrp="1"/>
          </p:cNvSpPr>
          <p:nvPr>
            <p:ph type="title"/>
          </p:nvPr>
        </p:nvSpPr>
        <p:spPr/>
        <p:txBody>
          <a:bodyPr>
            <a:normAutofit/>
          </a:bodyPr>
          <a:lstStyle/>
          <a:p>
            <a:r>
              <a:rPr lang="en-US" sz="3200">
                <a:solidFill>
                  <a:srgbClr val="110057"/>
                </a:solidFill>
                <a:latin typeface="Arial"/>
                <a:cs typeface="Arial"/>
              </a:rPr>
              <a:t>What We're Learning — And What's Changing</a:t>
            </a:r>
          </a:p>
        </p:txBody>
      </p:sp>
      <p:sp>
        <p:nvSpPr>
          <p:cNvPr id="3" name="Content Placeholder 2">
            <a:extLst>
              <a:ext uri="{FF2B5EF4-FFF2-40B4-BE49-F238E27FC236}">
                <a16:creationId xmlns:a16="http://schemas.microsoft.com/office/drawing/2014/main" id="{D223AE18-9F79-A232-2B1B-8FB7B15FA48B}"/>
              </a:ext>
            </a:extLst>
          </p:cNvPr>
          <p:cNvSpPr>
            <a:spLocks noGrp="1"/>
          </p:cNvSpPr>
          <p:nvPr>
            <p:ph idx="1"/>
          </p:nvPr>
        </p:nvSpPr>
        <p:spPr/>
        <p:txBody>
          <a:bodyPr>
            <a:normAutofit/>
          </a:bodyPr>
          <a:lstStyle/>
          <a:p>
            <a:pPr marL="0" indent="0">
              <a:buNone/>
            </a:pPr>
            <a:r>
              <a:rPr lang="en-US" sz="2200" b="1" dirty="0">
                <a:latin typeface="Arial"/>
                <a:cs typeface="Arial"/>
              </a:rPr>
              <a:t>Benchmarking the problem statewide</a:t>
            </a:r>
          </a:p>
          <a:p>
            <a:pPr lvl="1"/>
            <a:r>
              <a:rPr lang="en-US" sz="2000" dirty="0">
                <a:latin typeface="Arial"/>
                <a:cs typeface="Arial"/>
              </a:rPr>
              <a:t>How often are patients with hypercapnic respiratory failure getting tested?</a:t>
            </a:r>
          </a:p>
          <a:p>
            <a:pPr lvl="1"/>
            <a:r>
              <a:rPr lang="en-US" sz="2000" dirty="0">
                <a:latin typeface="Arial"/>
                <a:cs typeface="Arial"/>
              </a:rPr>
              <a:t>What are the readmission, ED return, and mortality rates across Utah?</a:t>
            </a:r>
          </a:p>
          <a:p>
            <a:pPr lvl="1"/>
            <a:r>
              <a:rPr lang="en-US" sz="2000" dirty="0">
                <a:latin typeface="Arial"/>
                <a:cs typeface="Arial"/>
              </a:rPr>
              <a:t>Using Utah Population Database + All-Payer Claims (CO₂-PATH Cohort)</a:t>
            </a:r>
          </a:p>
          <a:p>
            <a:pPr marL="0" indent="0">
              <a:buNone/>
            </a:pPr>
            <a:endParaRPr lang="en-US" sz="1400" dirty="0">
              <a:latin typeface="Arial"/>
              <a:cs typeface="Arial"/>
            </a:endParaRPr>
          </a:p>
          <a:p>
            <a:pPr marL="0" indent="0">
              <a:buNone/>
            </a:pPr>
            <a:r>
              <a:rPr lang="en-US" sz="2200" b="1" dirty="0">
                <a:latin typeface="Arial"/>
                <a:cs typeface="Arial"/>
              </a:rPr>
              <a:t>Moving toward risk-based (not diagnosis-based) referral</a:t>
            </a:r>
          </a:p>
          <a:p>
            <a:pPr lvl="1"/>
            <a:r>
              <a:rPr lang="en-US" sz="2000" dirty="0">
                <a:latin typeface="Arial"/>
                <a:cs typeface="Arial"/>
              </a:rPr>
              <a:t>Expedite workup and empiric management for high-risk patients</a:t>
            </a:r>
          </a:p>
          <a:p>
            <a:pPr lvl="1"/>
            <a:r>
              <a:rPr lang="en-US" sz="2000" dirty="0">
                <a:latin typeface="Arial"/>
                <a:cs typeface="Arial"/>
              </a:rPr>
              <a:t>Risk stratification via Select Health claims (AIM-HIGH project)</a:t>
            </a:r>
          </a:p>
          <a:p>
            <a:pPr marL="0" indent="0">
              <a:buNone/>
            </a:pPr>
            <a:endParaRPr lang="en-US" sz="1400" dirty="0">
              <a:latin typeface="Arial"/>
              <a:cs typeface="Arial"/>
            </a:endParaRPr>
          </a:p>
          <a:p>
            <a:pPr marL="0" indent="0">
              <a:buNone/>
            </a:pPr>
            <a:r>
              <a:rPr lang="en-US" sz="2200" b="1" dirty="0">
                <a:latin typeface="Arial"/>
                <a:cs typeface="Arial"/>
              </a:rPr>
              <a:t>New NCD guidelines (2025) — finally modernizing RAD qualification</a:t>
            </a:r>
          </a:p>
          <a:p>
            <a:pPr lvl="1"/>
            <a:r>
              <a:rPr lang="en-US" sz="2000" dirty="0">
                <a:latin typeface="Arial"/>
                <a:cs typeface="Arial"/>
              </a:rPr>
              <a:t>No longer requires PFTs for non-OSA hypercapnia qualification</a:t>
            </a:r>
          </a:p>
          <a:p>
            <a:pPr lvl="1"/>
            <a:r>
              <a:rPr lang="en-US" sz="2000" dirty="0">
                <a:latin typeface="Arial"/>
                <a:cs typeface="Arial"/>
              </a:rPr>
              <a:t>Discharge pathway now has its own qualification track</a:t>
            </a:r>
          </a:p>
        </p:txBody>
      </p:sp>
      <p:sp>
        <p:nvSpPr>
          <p:cNvPr id="5" name="Rectangle 4">
            <a:extLst>
              <a:ext uri="{FF2B5EF4-FFF2-40B4-BE49-F238E27FC236}">
                <a16:creationId xmlns:a16="http://schemas.microsoft.com/office/drawing/2014/main" id="{3C2E4432-0DE0-4E4C-B49B-D0AA3CBD17C9}"/>
              </a:ext>
            </a:extLst>
          </p:cNvPr>
          <p:cNvSpPr/>
          <p:nvPr/>
        </p:nvSpPr>
        <p:spPr>
          <a:xfrm>
            <a:off x="838200" y="1689100"/>
            <a:ext cx="1524000" cy="38100"/>
          </a:xfrm>
          <a:prstGeom prst="rect">
            <a:avLst/>
          </a:prstGeom>
          <a:solidFill>
            <a:srgbClr val="FBAE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8952233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96423-415C-1694-A10D-AC4DA1BB85F7}"/>
              </a:ext>
            </a:extLst>
          </p:cNvPr>
          <p:cNvSpPr>
            <a:spLocks noGrp="1"/>
          </p:cNvSpPr>
          <p:nvPr>
            <p:ph type="title"/>
          </p:nvPr>
        </p:nvSpPr>
        <p:spPr/>
        <p:txBody>
          <a:bodyPr>
            <a:normAutofit/>
          </a:bodyPr>
          <a:lstStyle/>
          <a:p>
            <a:r>
              <a:rPr lang="en-US" sz="3200">
                <a:solidFill>
                  <a:srgbClr val="110057"/>
                </a:solidFill>
                <a:latin typeface="Arial"/>
                <a:cs typeface="Arial"/>
              </a:rPr>
              <a:t>Emerging Role of GLP-1 Receptor Agonists</a:t>
            </a:r>
          </a:p>
        </p:txBody>
      </p:sp>
      <p:sp>
        <p:nvSpPr>
          <p:cNvPr id="3" name="Content Placeholder 2">
            <a:extLst>
              <a:ext uri="{FF2B5EF4-FFF2-40B4-BE49-F238E27FC236}">
                <a16:creationId xmlns:a16="http://schemas.microsoft.com/office/drawing/2014/main" id="{7E288244-7F03-92E0-2CE7-C9D0A96497E2}"/>
              </a:ext>
            </a:extLst>
          </p:cNvPr>
          <p:cNvSpPr>
            <a:spLocks noGrp="1"/>
          </p:cNvSpPr>
          <p:nvPr>
            <p:ph idx="1"/>
          </p:nvPr>
        </p:nvSpPr>
        <p:spPr/>
        <p:txBody>
          <a:bodyPr>
            <a:spAutoFit/>
          </a:bodyPr>
          <a:lstStyle/>
          <a:p>
            <a:pPr marL="0" indent="0">
              <a:buNone/>
            </a:pPr>
            <a:r>
              <a:rPr lang="en-US" sz="2000" b="1" dirty="0">
                <a:latin typeface="Arial"/>
                <a:cs typeface="Arial"/>
              </a:rPr>
              <a:t>Weight Loss Improves OSA</a:t>
            </a:r>
          </a:p>
          <a:p>
            <a:r>
              <a:rPr lang="en-US" sz="1800" dirty="0">
                <a:latin typeface="Arial"/>
                <a:cs typeface="Arial"/>
              </a:rPr>
              <a:t>~0.45 AHI events/hr reduction per 1% body weight lost</a:t>
            </a:r>
          </a:p>
          <a:p>
            <a:pPr lvl="1"/>
            <a:r>
              <a:rPr lang="en-US" sz="1600" i="1" dirty="0">
                <a:solidFill>
                  <a:srgbClr val="555555"/>
                </a:solidFill>
                <a:latin typeface="Arial"/>
                <a:cs typeface="Arial"/>
              </a:rPr>
              <a:t>Locke et al. Obes Rev. 2024; meta-analysis of 10 trials, n=854</a:t>
            </a:r>
          </a:p>
          <a:p>
            <a:pPr marL="0" indent="0">
              <a:buNone/>
            </a:pPr>
            <a:endParaRPr lang="en-US" sz="1000" dirty="0">
              <a:latin typeface="Arial"/>
              <a:cs typeface="Arial"/>
            </a:endParaRPr>
          </a:p>
          <a:p>
            <a:pPr marL="0" indent="0">
              <a:buNone/>
            </a:pPr>
            <a:r>
              <a:rPr lang="en-US" sz="2000" b="1" dirty="0">
                <a:latin typeface="Arial"/>
                <a:cs typeface="Arial"/>
              </a:rPr>
              <a:t>SURMOUNT-OSA Trial (n=469; two phase 3 RCTs)</a:t>
            </a:r>
          </a:p>
          <a:p>
            <a:r>
              <a:rPr lang="en-US" sz="1800" dirty="0">
                <a:latin typeface="Arial"/>
                <a:cs typeface="Arial"/>
              </a:rPr>
              <a:t>Tirzepatide: AHI −29.3 events/hr vs −5.5 placebo at 52 wk</a:t>
            </a:r>
          </a:p>
          <a:p>
            <a:r>
              <a:rPr lang="en-US" sz="1800" dirty="0">
                <a:latin typeface="Arial"/>
                <a:cs typeface="Arial"/>
              </a:rPr>
              <a:t>Also reduced body weight, hypoxic burden, hsCRP, systolic BP</a:t>
            </a:r>
          </a:p>
          <a:p>
            <a:pPr lvl="1"/>
            <a:r>
              <a:rPr lang="en-US" sz="1600" i="1" dirty="0">
                <a:solidFill>
                  <a:srgbClr val="555555"/>
                </a:solidFill>
                <a:latin typeface="Arial"/>
                <a:cs typeface="Arial"/>
              </a:rPr>
              <a:t>Malhotra et al. N Engl J Med. 2024;391(13):1193–1205</a:t>
            </a:r>
          </a:p>
          <a:p>
            <a:pPr marL="0" indent="0">
              <a:buNone/>
            </a:pPr>
            <a:endParaRPr lang="en-US" sz="1000" dirty="0">
              <a:latin typeface="Arial"/>
              <a:cs typeface="Arial"/>
            </a:endParaRPr>
          </a:p>
          <a:p>
            <a:pPr marL="0" indent="0">
              <a:buNone/>
            </a:pPr>
            <a:r>
              <a:rPr lang="en-US" sz="2000" b="1" dirty="0">
                <a:latin typeface="Arial"/>
                <a:cs typeface="Arial"/>
              </a:rPr>
              <a:t>OSA’s Role in Hypercapnia</a:t>
            </a:r>
          </a:p>
          <a:p>
            <a:r>
              <a:rPr lang="en-US" sz="1800" dirty="0">
                <a:latin typeface="Arial"/>
                <a:cs typeface="Arial"/>
              </a:rPr>
              <a:t>OSA is prevalent but under-diagnosed in hypercapnic patients</a:t>
            </a:r>
          </a:p>
          <a:p>
            <a:r>
              <a:rPr lang="en-US" sz="1800" dirty="0">
                <a:latin typeface="Arial"/>
                <a:cs typeface="Arial"/>
              </a:rPr>
              <a:t>Benefit of GLP-1 RAs depends on causal contribution of OSA</a:t>
            </a:r>
          </a:p>
          <a:p>
            <a:pPr lvl="1"/>
            <a:r>
              <a:rPr lang="en-US" sz="1600" i="1" dirty="0">
                <a:solidFill>
                  <a:srgbClr val="555555"/>
                </a:solidFill>
                <a:latin typeface="Arial"/>
                <a:cs typeface="Arial"/>
              </a:rPr>
              <a:t>Locke, Brown, Sundar. Sleep Med Clin. 2024;19(2):339–356</a:t>
            </a:r>
          </a:p>
        </p:txBody>
      </p:sp>
      <p:sp>
        <p:nvSpPr>
          <p:cNvPr id="5" name="Rectangle 4">
            <a:extLst>
              <a:ext uri="{FF2B5EF4-FFF2-40B4-BE49-F238E27FC236}">
                <a16:creationId xmlns:a16="http://schemas.microsoft.com/office/drawing/2014/main" id="{5AD80EE9-675F-7B41-9362-4C6337CF27C4}"/>
              </a:ext>
            </a:extLst>
          </p:cNvPr>
          <p:cNvSpPr/>
          <p:nvPr/>
        </p:nvSpPr>
        <p:spPr>
          <a:xfrm>
            <a:off x="838200" y="1689100"/>
            <a:ext cx="1524000" cy="38100"/>
          </a:xfrm>
          <a:prstGeom prst="rect">
            <a:avLst/>
          </a:prstGeom>
          <a:solidFill>
            <a:srgbClr val="FBAE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7625506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196FE-4D60-8B80-A1DE-81C25B2B80CF}"/>
              </a:ext>
            </a:extLst>
          </p:cNvPr>
          <p:cNvSpPr>
            <a:spLocks noGrp="1"/>
          </p:cNvSpPr>
          <p:nvPr>
            <p:ph type="title"/>
          </p:nvPr>
        </p:nvSpPr>
        <p:spPr/>
        <p:txBody>
          <a:bodyPr/>
          <a:lstStyle/>
          <a:p>
            <a:r>
              <a:rPr lang="en-US" sz="3200" dirty="0">
                <a:solidFill>
                  <a:srgbClr val="110057"/>
                </a:solidFill>
                <a:latin typeface="Arial"/>
                <a:cs typeface="Arial"/>
              </a:rPr>
              <a:t>Summary</a:t>
            </a:r>
          </a:p>
        </p:txBody>
      </p:sp>
      <p:sp>
        <p:nvSpPr>
          <p:cNvPr id="3" name="Content Placeholder 2">
            <a:extLst>
              <a:ext uri="{FF2B5EF4-FFF2-40B4-BE49-F238E27FC236}">
                <a16:creationId xmlns:a16="http://schemas.microsoft.com/office/drawing/2014/main" id="{6144C973-30E2-C6F4-5AC1-1BF48A160480}"/>
              </a:ext>
            </a:extLst>
          </p:cNvPr>
          <p:cNvSpPr>
            <a:spLocks noGrp="1"/>
          </p:cNvSpPr>
          <p:nvPr>
            <p:ph idx="1"/>
          </p:nvPr>
        </p:nvSpPr>
        <p:spPr/>
        <p:txBody>
          <a:bodyPr/>
          <a:lstStyle/>
          <a:p>
            <a:pPr marL="342900" indent="-342900">
              <a:lnSpc>
                <a:spcPts val="2200"/>
              </a:lnSpc>
              <a:spcAft>
                <a:spcPts val="600"/>
              </a:spcAft>
              <a:buNone/>
            </a:pPr>
            <a:r>
              <a:rPr lang="en-US" sz="1800" b="1" dirty="0">
                <a:solidFill>
                  <a:srgbClr val="FBAE40"/>
                </a:solidFill>
                <a:latin typeface="Arial"/>
                <a:cs typeface="Arial"/>
              </a:rPr>
              <a:t>01   </a:t>
            </a:r>
            <a:r>
              <a:rPr lang="en-US" sz="1800" dirty="0">
                <a:solidFill>
                  <a:srgbClr val="110057"/>
                </a:solidFill>
                <a:latin typeface="Arial"/>
                <a:cs typeface="Arial"/>
              </a:rPr>
              <a:t>OHS is a diagnosis of exclusion. </a:t>
            </a:r>
            <a:r>
              <a:rPr lang="en-US" sz="1800" b="1" dirty="0">
                <a:solidFill>
                  <a:srgbClr val="110057"/>
                </a:solidFill>
                <a:latin typeface="Arial"/>
                <a:cs typeface="Arial"/>
              </a:rPr>
              <a:t>“Obesity-related respiratory failure”</a:t>
            </a:r>
            <a:r>
              <a:rPr lang="en-US" sz="1800" dirty="0">
                <a:solidFill>
                  <a:srgbClr val="110057"/>
                </a:solidFill>
                <a:latin typeface="Arial"/>
                <a:cs typeface="Arial"/>
              </a:rPr>
              <a:t> is a more practical clinical framework.</a:t>
            </a:r>
          </a:p>
          <a:p>
            <a:pPr marL="342900" indent="-342900">
              <a:lnSpc>
                <a:spcPts val="2200"/>
              </a:lnSpc>
              <a:spcAft>
                <a:spcPts val="600"/>
              </a:spcAft>
              <a:buNone/>
            </a:pPr>
            <a:r>
              <a:rPr lang="en-US" sz="1800" b="1" dirty="0">
                <a:solidFill>
                  <a:srgbClr val="FBAE40"/>
                </a:solidFill>
                <a:latin typeface="Arial"/>
                <a:cs typeface="Arial"/>
              </a:rPr>
              <a:t>02   </a:t>
            </a:r>
            <a:r>
              <a:rPr lang="en-US" sz="1800" dirty="0">
                <a:solidFill>
                  <a:srgbClr val="110057"/>
                </a:solidFill>
                <a:latin typeface="Arial"/>
                <a:cs typeface="Arial"/>
              </a:rPr>
              <a:t>It is </a:t>
            </a:r>
            <a:r>
              <a:rPr lang="en-US" sz="1800" b="1" dirty="0">
                <a:solidFill>
                  <a:srgbClr val="110057"/>
                </a:solidFill>
                <a:latin typeface="Arial"/>
                <a:cs typeface="Arial"/>
              </a:rPr>
              <a:t>common, deadly, and under-recognized.</a:t>
            </a:r>
            <a:r>
              <a:rPr lang="en-US" sz="1800" dirty="0">
                <a:solidFill>
                  <a:srgbClr val="110057"/>
                </a:solidFill>
                <a:latin typeface="Arial"/>
                <a:cs typeface="Arial"/>
              </a:rPr>
              <a:t> Use hypoxemia and elevated HCO</a:t>
            </a:r>
            <a:r>
              <a:rPr lang="en-US" sz="1800" baseline="-25000" dirty="0">
                <a:solidFill>
                  <a:srgbClr val="110057"/>
                </a:solidFill>
                <a:latin typeface="Arial"/>
                <a:cs typeface="Arial"/>
              </a:rPr>
              <a:t>3</a:t>
            </a:r>
            <a:r>
              <a:rPr lang="en-US" sz="1800" dirty="0">
                <a:solidFill>
                  <a:srgbClr val="110057"/>
                </a:solidFill>
                <a:latin typeface="Arial"/>
                <a:cs typeface="Arial"/>
              </a:rPr>
              <a:t> to trigger workup. Frequently mislabeled as COPD or asthma.</a:t>
            </a:r>
          </a:p>
          <a:p>
            <a:pPr marL="342900" indent="-342900">
              <a:lnSpc>
                <a:spcPts val="2200"/>
              </a:lnSpc>
              <a:spcAft>
                <a:spcPts val="600"/>
              </a:spcAft>
              <a:buNone/>
            </a:pPr>
            <a:r>
              <a:rPr lang="en-US" sz="1800" b="1" dirty="0">
                <a:solidFill>
                  <a:srgbClr val="FBAE40"/>
                </a:solidFill>
                <a:latin typeface="Arial"/>
                <a:cs typeface="Arial"/>
              </a:rPr>
              <a:t>03   </a:t>
            </a:r>
            <a:r>
              <a:rPr lang="en-US" sz="1800" dirty="0">
                <a:solidFill>
                  <a:srgbClr val="110057"/>
                </a:solidFill>
                <a:latin typeface="Arial"/>
                <a:cs typeface="Arial"/>
              </a:rPr>
              <a:t>Discharging on BPAP is hard: </a:t>
            </a:r>
            <a:r>
              <a:rPr lang="en-US" sz="1800" b="1" dirty="0">
                <a:solidFill>
                  <a:srgbClr val="110057"/>
                </a:solidFill>
                <a:latin typeface="Arial"/>
                <a:cs typeface="Arial"/>
              </a:rPr>
              <a:t>outdated NCDs, device categories, and payment structures</a:t>
            </a:r>
            <a:r>
              <a:rPr lang="en-US" sz="1800" dirty="0">
                <a:solidFill>
                  <a:srgbClr val="110057"/>
                </a:solidFill>
                <a:latin typeface="Arial"/>
                <a:cs typeface="Arial"/>
              </a:rPr>
              <a:t> create a qualification maze — but these are changing.</a:t>
            </a:r>
          </a:p>
          <a:p>
            <a:pPr marL="342900" indent="-342900">
              <a:lnSpc>
                <a:spcPts val="2200"/>
              </a:lnSpc>
              <a:buNone/>
            </a:pPr>
            <a:r>
              <a:rPr lang="en-US" sz="1800" b="1" dirty="0">
                <a:solidFill>
                  <a:srgbClr val="FBAE40"/>
                </a:solidFill>
                <a:latin typeface="Arial"/>
                <a:cs typeface="Arial"/>
              </a:rPr>
              <a:t>04   </a:t>
            </a:r>
            <a:r>
              <a:rPr lang="en-US" sz="1800" b="1" dirty="0">
                <a:solidFill>
                  <a:srgbClr val="110057"/>
                </a:solidFill>
                <a:latin typeface="Arial"/>
                <a:cs typeface="Arial"/>
              </a:rPr>
              <a:t>GLP-1 receptor agonists</a:t>
            </a:r>
            <a:r>
              <a:rPr lang="en-US" sz="1800" dirty="0">
                <a:solidFill>
                  <a:srgbClr val="110057"/>
                </a:solidFill>
                <a:latin typeface="Arial"/>
                <a:cs typeface="Arial"/>
              </a:rPr>
              <a:t> are an emerging tool — weight loss may improve or resolve the underlying respiratory failure, but data are sparse.</a:t>
            </a:r>
          </a:p>
        </p:txBody>
      </p:sp>
      <p:sp>
        <p:nvSpPr>
          <p:cNvPr id="4" name="Rectangle 3">
            <a:extLst>
              <a:ext uri="{FF2B5EF4-FFF2-40B4-BE49-F238E27FC236}">
                <a16:creationId xmlns:a16="http://schemas.microsoft.com/office/drawing/2014/main" id="{20547FF2-E97B-0B49-829B-24A46217755C}"/>
              </a:ext>
            </a:extLst>
          </p:cNvPr>
          <p:cNvSpPr/>
          <p:nvPr/>
        </p:nvSpPr>
        <p:spPr>
          <a:xfrm>
            <a:off x="838200" y="1689100"/>
            <a:ext cx="1524000" cy="38100"/>
          </a:xfrm>
          <a:prstGeom prst="rect">
            <a:avLst/>
          </a:prstGeom>
          <a:solidFill>
            <a:srgbClr val="FBAE4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6100011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5020FDCE-418F-FB44-B204-2BA56A92A969}"/>
              </a:ext>
            </a:extLst>
          </p:cNvPr>
          <p:cNvSpPr txBox="1">
            <a:spLocks/>
          </p:cNvSpPr>
          <p:nvPr/>
        </p:nvSpPr>
        <p:spPr>
          <a:xfrm>
            <a:off x="698500" y="1193800"/>
            <a:ext cx="5461000" cy="3017173"/>
          </a:xfrm>
          <a:prstGeom prst="rect">
            <a:avLst/>
          </a:prstGeom>
        </p:spPr>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spcAft>
                <a:spcPts val="500"/>
              </a:spcAft>
              <a:buNone/>
            </a:pPr>
            <a:r>
              <a:rPr lang="en-US" sz="1600" b="1" dirty="0">
                <a:solidFill>
                  <a:srgbClr val="110057"/>
                </a:solidFill>
                <a:latin typeface="Arial"/>
                <a:cs typeface="Arial"/>
              </a:rPr>
              <a:t>Research Funding</a:t>
            </a:r>
          </a:p>
          <a:p>
            <a:pPr marL="171450" indent="-171450">
              <a:lnSpc>
                <a:spcPct val="115000"/>
              </a:lnSpc>
              <a:spcBef>
                <a:spcPts val="0"/>
              </a:spcBef>
              <a:spcAft>
                <a:spcPts val="200"/>
              </a:spcAft>
              <a:buFont typeface="Arial"/>
              <a:buChar char="•"/>
            </a:pPr>
            <a:r>
              <a:rPr lang="en-US" sz="1400" dirty="0">
                <a:solidFill>
                  <a:srgbClr val="333333"/>
                </a:solidFill>
                <a:latin typeface="Arial"/>
                <a:cs typeface="Arial"/>
              </a:rPr>
              <a:t>Intermountain Foundation</a:t>
            </a:r>
          </a:p>
          <a:p>
            <a:pPr marL="171450" indent="-171450">
              <a:lnSpc>
                <a:spcPct val="115000"/>
              </a:lnSpc>
              <a:spcBef>
                <a:spcPts val="0"/>
              </a:spcBef>
              <a:spcAft>
                <a:spcPts val="200"/>
              </a:spcAft>
              <a:buFont typeface="Arial"/>
              <a:buChar char="•"/>
            </a:pPr>
            <a:r>
              <a:rPr lang="en-US" sz="1400" dirty="0">
                <a:solidFill>
                  <a:srgbClr val="333333"/>
                </a:solidFill>
                <a:latin typeface="Arial"/>
                <a:cs typeface="Arial"/>
              </a:rPr>
              <a:t>ATS ASPIRE Fellowship</a:t>
            </a:r>
          </a:p>
          <a:p>
            <a:pPr marL="171450" indent="-171450">
              <a:lnSpc>
                <a:spcPct val="115000"/>
              </a:lnSpc>
              <a:spcBef>
                <a:spcPts val="0"/>
              </a:spcBef>
              <a:spcAft>
                <a:spcPts val="200"/>
              </a:spcAft>
              <a:buFont typeface="Arial"/>
              <a:buChar char="•"/>
            </a:pPr>
            <a:r>
              <a:rPr lang="en-US" sz="1400" dirty="0">
                <a:solidFill>
                  <a:srgbClr val="333333"/>
                </a:solidFill>
                <a:latin typeface="Arial"/>
                <a:cs typeface="Arial"/>
              </a:rPr>
              <a:t>NIH/NHLBI T32 — University of Utah PCCM</a:t>
            </a:r>
          </a:p>
          <a:p>
            <a:pPr marL="171450" indent="-171450">
              <a:lnSpc>
                <a:spcPct val="115000"/>
              </a:lnSpc>
              <a:spcBef>
                <a:spcPts val="0"/>
              </a:spcBef>
              <a:spcAft>
                <a:spcPts val="200"/>
              </a:spcAft>
              <a:buFont typeface="Arial"/>
              <a:buChar char="•"/>
            </a:pPr>
            <a:r>
              <a:rPr lang="en-US" sz="1400" dirty="0">
                <a:solidFill>
                  <a:srgbClr val="333333"/>
                </a:solidFill>
                <a:latin typeface="Arial"/>
                <a:cs typeface="Arial"/>
              </a:rPr>
              <a:t>Utah Population Database</a:t>
            </a:r>
          </a:p>
          <a:p>
            <a:pPr marL="400050" lvl="1" indent="-171450">
              <a:lnSpc>
                <a:spcPct val="115000"/>
              </a:lnSpc>
              <a:spcBef>
                <a:spcPts val="0"/>
              </a:spcBef>
              <a:spcAft>
                <a:spcPts val="100"/>
              </a:spcAft>
              <a:buFont typeface="Arial"/>
              <a:buChar char="–"/>
            </a:pPr>
            <a:r>
              <a:rPr lang="en-US" sz="1400" dirty="0">
                <a:solidFill>
                  <a:srgbClr val="666666"/>
                </a:solidFill>
                <a:latin typeface="Arial"/>
                <a:cs typeface="Arial"/>
              </a:rPr>
              <a:t>U of Utah Huntsman Cancer Institute</a:t>
            </a:r>
          </a:p>
          <a:p>
            <a:pPr marL="400050" lvl="1" indent="-171450">
              <a:lnSpc>
                <a:spcPct val="115000"/>
              </a:lnSpc>
              <a:spcBef>
                <a:spcPts val="0"/>
              </a:spcBef>
              <a:spcAft>
                <a:spcPts val="200"/>
              </a:spcAft>
              <a:buFont typeface="Arial"/>
              <a:buChar char="–"/>
            </a:pPr>
            <a:r>
              <a:rPr lang="en-US" sz="1400" dirty="0">
                <a:solidFill>
                  <a:srgbClr val="666666"/>
                </a:solidFill>
                <a:latin typeface="Arial"/>
                <a:cs typeface="Arial"/>
              </a:rPr>
              <a:t>NCI Cancer Center Support (P30 CA2014)</a:t>
            </a:r>
          </a:p>
          <a:p>
            <a:pPr marL="0" indent="0">
              <a:lnSpc>
                <a:spcPct val="115000"/>
              </a:lnSpc>
              <a:spcBef>
                <a:spcPts val="800"/>
              </a:spcBef>
              <a:spcAft>
                <a:spcPts val="500"/>
              </a:spcAft>
              <a:buNone/>
            </a:pPr>
            <a:r>
              <a:rPr lang="en-US" sz="1600" b="1" dirty="0">
                <a:solidFill>
                  <a:srgbClr val="110057"/>
                </a:solidFill>
                <a:latin typeface="Arial"/>
                <a:cs typeface="Arial"/>
              </a:rPr>
              <a:t>Clinical Support</a:t>
            </a:r>
          </a:p>
          <a:p>
            <a:pPr marL="171450" indent="-171450">
              <a:lnSpc>
                <a:spcPct val="115000"/>
              </a:lnSpc>
              <a:spcBef>
                <a:spcPts val="0"/>
              </a:spcBef>
              <a:spcAft>
                <a:spcPts val="200"/>
              </a:spcAft>
              <a:buFont typeface="Arial"/>
              <a:buChar char="•"/>
            </a:pPr>
            <a:r>
              <a:rPr lang="en-US" sz="1400" dirty="0">
                <a:solidFill>
                  <a:srgbClr val="333333"/>
                </a:solidFill>
                <a:latin typeface="Arial"/>
                <a:cs typeface="Arial"/>
              </a:rPr>
              <a:t>Claire Davies &amp; Megan Hepworth (PDNs)</a:t>
            </a:r>
          </a:p>
          <a:p>
            <a:pPr marL="171450" indent="-171450">
              <a:lnSpc>
                <a:spcPct val="115000"/>
              </a:lnSpc>
              <a:spcBef>
                <a:spcPts val="0"/>
              </a:spcBef>
              <a:spcAft>
                <a:spcPts val="200"/>
              </a:spcAft>
              <a:buFont typeface="Arial"/>
              <a:buChar char="•"/>
            </a:pPr>
            <a:r>
              <a:rPr lang="en-US" sz="1400" dirty="0">
                <a:solidFill>
                  <a:srgbClr val="333333"/>
                </a:solidFill>
                <a:latin typeface="Arial"/>
                <a:cs typeface="Arial"/>
              </a:rPr>
              <a:t>Schmidt Chest Clinic</a:t>
            </a:r>
          </a:p>
        </p:txBody>
      </p:sp>
      <p:sp>
        <p:nvSpPr>
          <p:cNvPr id="5" name="Content Placeholder 3">
            <a:extLst>
              <a:ext uri="{FF2B5EF4-FFF2-40B4-BE49-F238E27FC236}">
                <a16:creationId xmlns:a16="http://schemas.microsoft.com/office/drawing/2014/main" id="{CDC1D30B-BFE4-87B2-E7E7-957AF18F9C65}"/>
              </a:ext>
            </a:extLst>
          </p:cNvPr>
          <p:cNvSpPr txBox="1">
            <a:spLocks/>
          </p:cNvSpPr>
          <p:nvPr/>
        </p:nvSpPr>
        <p:spPr>
          <a:xfrm>
            <a:off x="6096000" y="1193800"/>
            <a:ext cx="5588000" cy="3921523"/>
          </a:xfrm>
          <a:prstGeom prst="rect">
            <a:avLst/>
          </a:prstGeom>
        </p:spPr>
        <p:txBody>
          <a:bodyPr>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spcBef>
                <a:spcPts val="0"/>
              </a:spcBef>
              <a:spcAft>
                <a:spcPts val="500"/>
              </a:spcAft>
              <a:buNone/>
            </a:pPr>
            <a:r>
              <a:rPr lang="en-US" sz="1600" b="1" dirty="0">
                <a:solidFill>
                  <a:srgbClr val="110057"/>
                </a:solidFill>
                <a:latin typeface="Arial"/>
                <a:cs typeface="Arial"/>
              </a:rPr>
              <a:t>Collaborators</a:t>
            </a:r>
          </a:p>
          <a:p>
            <a:pPr marL="0" indent="0">
              <a:lnSpc>
                <a:spcPct val="115000"/>
              </a:lnSpc>
              <a:spcBef>
                <a:spcPts val="0"/>
              </a:spcBef>
              <a:spcAft>
                <a:spcPts val="100"/>
              </a:spcAft>
              <a:buNone/>
            </a:pPr>
            <a:r>
              <a:rPr lang="en-US" sz="1400" b="1" dirty="0">
                <a:solidFill>
                  <a:srgbClr val="110057"/>
                </a:solidFill>
                <a:latin typeface="Arial"/>
                <a:cs typeface="Arial"/>
              </a:rPr>
              <a:t>Intermountain Health</a:t>
            </a:r>
          </a:p>
          <a:p>
            <a:pPr marL="171450" indent="-171450">
              <a:lnSpc>
                <a:spcPct val="115000"/>
              </a:lnSpc>
              <a:spcBef>
                <a:spcPts val="0"/>
              </a:spcBef>
              <a:spcAft>
                <a:spcPts val="50"/>
              </a:spcAft>
              <a:buFont typeface="Arial"/>
              <a:buChar char="•"/>
            </a:pPr>
            <a:r>
              <a:rPr lang="en-US" sz="1400" dirty="0">
                <a:solidFill>
                  <a:srgbClr val="333333"/>
                </a:solidFill>
                <a:latin typeface="Arial"/>
                <a:cs typeface="Arial"/>
              </a:rPr>
              <a:t>Ithan Peltan, MD MSc</a:t>
            </a:r>
          </a:p>
          <a:p>
            <a:pPr marL="171450" indent="-171450">
              <a:lnSpc>
                <a:spcPct val="115000"/>
              </a:lnSpc>
              <a:spcBef>
                <a:spcPts val="0"/>
              </a:spcBef>
              <a:spcAft>
                <a:spcPts val="300"/>
              </a:spcAft>
              <a:buFont typeface="Arial"/>
              <a:buChar char="•"/>
            </a:pPr>
            <a:r>
              <a:rPr lang="en-US" sz="1400" dirty="0">
                <a:solidFill>
                  <a:srgbClr val="333333"/>
                </a:solidFill>
                <a:latin typeface="Arial"/>
                <a:cs typeface="Arial"/>
              </a:rPr>
              <a:t>Sam Brown, MD MSc</a:t>
            </a:r>
          </a:p>
          <a:p>
            <a:pPr marL="0" indent="0">
              <a:lnSpc>
                <a:spcPct val="115000"/>
              </a:lnSpc>
              <a:spcBef>
                <a:spcPts val="0"/>
              </a:spcBef>
              <a:spcAft>
                <a:spcPts val="100"/>
              </a:spcAft>
              <a:buNone/>
            </a:pPr>
            <a:r>
              <a:rPr lang="en-US" sz="1400" b="1" dirty="0">
                <a:solidFill>
                  <a:srgbClr val="110057"/>
                </a:solidFill>
                <a:latin typeface="Arial"/>
                <a:cs typeface="Arial"/>
              </a:rPr>
              <a:t>Select Health</a:t>
            </a:r>
          </a:p>
          <a:p>
            <a:pPr marL="171450" indent="-171450">
              <a:lnSpc>
                <a:spcPct val="115000"/>
              </a:lnSpc>
              <a:spcBef>
                <a:spcPts val="0"/>
              </a:spcBef>
              <a:spcAft>
                <a:spcPts val="50"/>
              </a:spcAft>
              <a:buFont typeface="Arial"/>
              <a:buChar char="•"/>
            </a:pPr>
            <a:r>
              <a:rPr lang="en-US" sz="1400" dirty="0">
                <a:solidFill>
                  <a:srgbClr val="333333"/>
                </a:solidFill>
                <a:latin typeface="Arial"/>
                <a:cs typeface="Arial"/>
              </a:rPr>
              <a:t>Rylan Fowers, PhD  •  David Hedges, PhD</a:t>
            </a:r>
          </a:p>
          <a:p>
            <a:pPr marL="0" indent="0">
              <a:lnSpc>
                <a:spcPct val="115000"/>
              </a:lnSpc>
              <a:spcBef>
                <a:spcPts val="300"/>
              </a:spcBef>
              <a:spcAft>
                <a:spcPts val="100"/>
              </a:spcAft>
              <a:buNone/>
            </a:pPr>
            <a:r>
              <a:rPr lang="en-US" sz="1400" b="1" dirty="0">
                <a:solidFill>
                  <a:srgbClr val="110057"/>
                </a:solidFill>
                <a:latin typeface="Arial"/>
                <a:cs typeface="Arial"/>
              </a:rPr>
              <a:t>Utah Population Database</a:t>
            </a:r>
          </a:p>
          <a:p>
            <a:pPr marL="171450" indent="-171450">
              <a:lnSpc>
                <a:spcPct val="115000"/>
              </a:lnSpc>
              <a:spcBef>
                <a:spcPts val="0"/>
              </a:spcBef>
              <a:spcAft>
                <a:spcPts val="50"/>
              </a:spcAft>
              <a:buFont typeface="Arial"/>
              <a:buChar char="•"/>
            </a:pPr>
            <a:r>
              <a:rPr lang="en-US" sz="1400" dirty="0">
                <a:solidFill>
                  <a:srgbClr val="333333"/>
                </a:solidFill>
                <a:latin typeface="Arial"/>
                <a:cs typeface="Arial"/>
              </a:rPr>
              <a:t>Myke Madsen, MStat  •  Marie Gibson, CCRP</a:t>
            </a:r>
          </a:p>
          <a:p>
            <a:pPr marL="0" indent="0">
              <a:lnSpc>
                <a:spcPct val="115000"/>
              </a:lnSpc>
              <a:spcBef>
                <a:spcPts val="300"/>
              </a:spcBef>
              <a:spcAft>
                <a:spcPts val="100"/>
              </a:spcAft>
              <a:buNone/>
            </a:pPr>
            <a:r>
              <a:rPr lang="en-US" sz="1400" b="1" dirty="0">
                <a:solidFill>
                  <a:srgbClr val="110057"/>
                </a:solidFill>
                <a:latin typeface="Arial"/>
                <a:cs typeface="Arial"/>
              </a:rPr>
              <a:t>University of Utah</a:t>
            </a:r>
          </a:p>
          <a:p>
            <a:pPr marL="171450" indent="-171450">
              <a:lnSpc>
                <a:spcPct val="115000"/>
              </a:lnSpc>
              <a:spcBef>
                <a:spcPts val="0"/>
              </a:spcBef>
              <a:spcAft>
                <a:spcPts val="50"/>
              </a:spcAft>
              <a:buFont typeface="Arial"/>
              <a:buChar char="•"/>
            </a:pPr>
            <a:r>
              <a:rPr lang="en-US" sz="1400" dirty="0">
                <a:solidFill>
                  <a:srgbClr val="333333"/>
                </a:solidFill>
                <a:latin typeface="Arial"/>
                <a:cs typeface="Arial"/>
              </a:rPr>
              <a:t>Ram Gouripeddi, MBBS MSc</a:t>
            </a:r>
          </a:p>
          <a:p>
            <a:pPr marL="171450" indent="-171450">
              <a:lnSpc>
                <a:spcPct val="115000"/>
              </a:lnSpc>
              <a:spcBef>
                <a:spcPts val="0"/>
              </a:spcBef>
              <a:spcAft>
                <a:spcPts val="50"/>
              </a:spcAft>
              <a:buFont typeface="Arial"/>
              <a:buChar char="•"/>
            </a:pPr>
            <a:r>
              <a:rPr lang="en-US" sz="1400" dirty="0">
                <a:solidFill>
                  <a:srgbClr val="333333"/>
                </a:solidFill>
                <a:latin typeface="Arial"/>
                <a:cs typeface="Arial"/>
              </a:rPr>
              <a:t>Jeanette Brown, MD PhD</a:t>
            </a:r>
          </a:p>
          <a:p>
            <a:pPr marL="171450" indent="-171450">
              <a:lnSpc>
                <a:spcPct val="115000"/>
              </a:lnSpc>
              <a:spcBef>
                <a:spcPts val="0"/>
              </a:spcBef>
              <a:spcAft>
                <a:spcPts val="300"/>
              </a:spcAft>
              <a:buFont typeface="Arial"/>
              <a:buChar char="•"/>
            </a:pPr>
            <a:r>
              <a:rPr lang="en-US" sz="1400" dirty="0">
                <a:solidFill>
                  <a:srgbClr val="333333"/>
                </a:solidFill>
                <a:latin typeface="Arial"/>
                <a:cs typeface="Arial"/>
              </a:rPr>
              <a:t>Joseph Finkelstein, MD PhD</a:t>
            </a:r>
          </a:p>
          <a:p>
            <a:pPr marL="0" indent="0">
              <a:lnSpc>
                <a:spcPct val="115000"/>
              </a:lnSpc>
              <a:spcBef>
                <a:spcPts val="0"/>
              </a:spcBef>
              <a:spcAft>
                <a:spcPts val="100"/>
              </a:spcAft>
              <a:buNone/>
            </a:pPr>
            <a:r>
              <a:rPr lang="en-US" sz="1400" b="1" dirty="0">
                <a:solidFill>
                  <a:srgbClr val="110057"/>
                </a:solidFill>
                <a:latin typeface="Arial"/>
                <a:cs typeface="Arial"/>
              </a:rPr>
              <a:t>UC Davis</a:t>
            </a:r>
          </a:p>
          <a:p>
            <a:pPr marL="171450" indent="-171450">
              <a:lnSpc>
                <a:spcPct val="115000"/>
              </a:lnSpc>
              <a:spcBef>
                <a:spcPts val="0"/>
              </a:spcBef>
              <a:spcAft>
                <a:spcPts val="0"/>
              </a:spcAft>
              <a:buFont typeface="Arial"/>
              <a:buChar char="•"/>
            </a:pPr>
            <a:r>
              <a:rPr lang="en-US" sz="1400" dirty="0">
                <a:solidFill>
                  <a:srgbClr val="333333"/>
                </a:solidFill>
                <a:latin typeface="Arial"/>
                <a:cs typeface="Arial"/>
              </a:rPr>
              <a:t>Krishna Sundar, MD</a:t>
            </a:r>
          </a:p>
        </p:txBody>
      </p:sp>
      <p:pic>
        <p:nvPicPr>
          <p:cNvPr id="6" name="Graphic 5">
            <a:extLst>
              <a:ext uri="{FF2B5EF4-FFF2-40B4-BE49-F238E27FC236}">
                <a16:creationId xmlns:a16="http://schemas.microsoft.com/office/drawing/2014/main" id="{253D0738-529D-E98F-A328-9465AD6D8C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6000" y="5969000"/>
            <a:ext cx="1651000" cy="698500"/>
          </a:xfrm>
          <a:prstGeom prst="rect">
            <a:avLst/>
          </a:prstGeom>
        </p:spPr>
      </p:pic>
      <p:pic>
        <p:nvPicPr>
          <p:cNvPr id="7" name="Picture 10" descr="Anastasia Prokofyeva">
            <a:extLst>
              <a:ext uri="{FF2B5EF4-FFF2-40B4-BE49-F238E27FC236}">
                <a16:creationId xmlns:a16="http://schemas.microsoft.com/office/drawing/2014/main" id="{6C6C6B13-3EC7-9100-7226-AF03284ACE56}"/>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4889500" y="6096000"/>
            <a:ext cx="1460500" cy="3556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descr="Anastasia Prokofyeva">
            <a:extLst>
              <a:ext uri="{FF2B5EF4-FFF2-40B4-BE49-F238E27FC236}">
                <a16:creationId xmlns:a16="http://schemas.microsoft.com/office/drawing/2014/main" id="{FA048BE3-D6A5-BB07-AC3E-2E917A9C8A50}"/>
              </a:ext>
            </a:extLst>
          </p:cNvPr>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a:stretch/>
        </p:blipFill>
        <p:spPr bwMode="auto">
          <a:xfrm>
            <a:off x="6858000" y="6045200"/>
            <a:ext cx="1397000" cy="4826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2" descr="UC Davis Logo and symbol, meaning, history, PNG, brand">
            <a:extLst>
              <a:ext uri="{FF2B5EF4-FFF2-40B4-BE49-F238E27FC236}">
                <a16:creationId xmlns:a16="http://schemas.microsoft.com/office/drawing/2014/main" id="{6CF85AB3-1958-1C50-F93A-CAC5F4E7D7AE}"/>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8826500" y="5969000"/>
            <a:ext cx="1079500" cy="609600"/>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1">
            <a:extLst>
              <a:ext uri="{FF2B5EF4-FFF2-40B4-BE49-F238E27FC236}">
                <a16:creationId xmlns:a16="http://schemas.microsoft.com/office/drawing/2014/main" id="{C66FB9DF-5CA4-F7EF-3AA2-274EDAE008AA}"/>
              </a:ext>
            </a:extLst>
          </p:cNvPr>
          <p:cNvSpPr>
            <a:spLocks noGrp="1"/>
          </p:cNvSpPr>
          <p:nvPr>
            <p:ph type="title"/>
          </p:nvPr>
        </p:nvSpPr>
        <p:spPr/>
        <p:txBody>
          <a:bodyPr>
            <a:normAutofit/>
          </a:bodyPr>
          <a:lstStyle/>
          <a:p>
            <a:pPr marL="0" indent="0">
              <a:buNone/>
            </a:pPr>
            <a:r>
              <a:rPr lang="en-US" sz="2800" b="1" dirty="0">
                <a:solidFill>
                  <a:srgbClr val="110057"/>
                </a:solidFill>
                <a:latin typeface="Arial"/>
                <a:cs typeface="Arial"/>
              </a:rPr>
              <a:t>Acknowledgments</a:t>
            </a:r>
          </a:p>
        </p:txBody>
      </p:sp>
      <p:sp>
        <p:nvSpPr>
          <p:cNvPr id="12" name="Content Placeholder 11">
            <a:extLst>
              <a:ext uri="{FF2B5EF4-FFF2-40B4-BE49-F238E27FC236}">
                <a16:creationId xmlns:a16="http://schemas.microsoft.com/office/drawing/2014/main" id="{534F7CF3-F163-CF33-E6BD-4A5D58B69AE5}"/>
              </a:ext>
            </a:extLst>
          </p:cNvPr>
          <p:cNvSpPr>
            <a:spLocks noGrp="1"/>
          </p:cNvSpPr>
          <p:nvPr>
            <p:ph idx="1"/>
          </p:nvPr>
        </p:nvSpPr>
        <p:spPr/>
        <p:txBody>
          <a:bodyPr/>
          <a:lstStyle/>
          <a:p>
            <a:endParaRPr lang="en-US"/>
          </a:p>
        </p:txBody>
      </p:sp>
      <p:pic>
        <p:nvPicPr>
          <p:cNvPr id="2" name="Picture 1">
            <a:extLst>
              <a:ext uri="{FF2B5EF4-FFF2-40B4-BE49-F238E27FC236}">
                <a16:creationId xmlns:a16="http://schemas.microsoft.com/office/drawing/2014/main" id="{FA91F544-55D8-60B3-45B1-108ED04153C3}"/>
              </a:ext>
            </a:extLst>
          </p:cNvPr>
          <p:cNvPicPr>
            <a:picLocks noChangeAspect="1"/>
          </p:cNvPicPr>
          <p:nvPr/>
        </p:nvPicPr>
        <p:blipFill>
          <a:blip r:embed="rId7"/>
          <a:stretch>
            <a:fillRect/>
          </a:stretch>
        </p:blipFill>
        <p:spPr>
          <a:xfrm>
            <a:off x="3175000" y="6045200"/>
            <a:ext cx="1206500" cy="558800"/>
          </a:xfrm>
          <a:prstGeom prst="rect">
            <a:avLst/>
          </a:prstGeom>
        </p:spPr>
      </p:pic>
      <p:pic>
        <p:nvPicPr>
          <p:cNvPr id="3" name="Picture 2">
            <a:extLst>
              <a:ext uri="{FF2B5EF4-FFF2-40B4-BE49-F238E27FC236}">
                <a16:creationId xmlns:a16="http://schemas.microsoft.com/office/drawing/2014/main" id="{F95FC9FB-E8E7-6856-DBFA-649CC5ED1E60}"/>
              </a:ext>
            </a:extLst>
          </p:cNvPr>
          <p:cNvPicPr>
            <a:picLocks noChangeAspect="1"/>
          </p:cNvPicPr>
          <p:nvPr/>
        </p:nvPicPr>
        <p:blipFill>
          <a:blip r:embed="rId8"/>
          <a:stretch>
            <a:fillRect/>
          </a:stretch>
        </p:blipFill>
        <p:spPr>
          <a:xfrm>
            <a:off x="10858500" y="177800"/>
            <a:ext cx="698500" cy="698500"/>
          </a:xfrm>
          <a:prstGeom prst="rect">
            <a:avLst/>
          </a:prstGeom>
        </p:spPr>
      </p:pic>
      <p:sp>
        <p:nvSpPr>
          <p:cNvPr id="11" name="Content Placeholder 2">
            <a:extLst>
              <a:ext uri="{FF2B5EF4-FFF2-40B4-BE49-F238E27FC236}">
                <a16:creationId xmlns:a16="http://schemas.microsoft.com/office/drawing/2014/main" id="{21C622E0-5212-73FA-A54B-2C2A2DE357B1}"/>
              </a:ext>
            </a:extLst>
          </p:cNvPr>
          <p:cNvSpPr txBox="1">
            <a:spLocks/>
          </p:cNvSpPr>
          <p:nvPr/>
        </p:nvSpPr>
        <p:spPr>
          <a:xfrm>
            <a:off x="10642600" y="914400"/>
            <a:ext cx="1397000" cy="254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900" dirty="0">
                <a:solidFill>
                  <a:srgbClr val="888888"/>
                </a:solidFill>
                <a:latin typeface="Arial"/>
                <a:cs typeface="Arial"/>
              </a:rPr>
              <a:t>Scan for resources</a:t>
            </a:r>
          </a:p>
        </p:txBody>
      </p:sp>
      <p:sp>
        <p:nvSpPr>
          <p:cNvPr id="100" name="AccentLine"/>
          <p:cNvSpPr/>
          <p:nvPr/>
        </p:nvSpPr>
        <p:spPr>
          <a:xfrm>
            <a:off x="635000" y="1041400"/>
            <a:ext cx="10922000" cy="0"/>
          </a:xfrm>
          <a:prstGeom prst="line">
            <a:avLst/>
          </a:prstGeom>
          <a:ln w="12700">
            <a:solidFill>
              <a:srgbClr val="110057"/>
            </a:solidFill>
          </a:ln>
        </p:spPr>
        <p:txBody>
          <a:bodyPr/>
          <a:lstStyle/>
          <a:p>
            <a:endParaRPr lang="en-US"/>
          </a:p>
        </p:txBody>
      </p:sp>
      <p:sp>
        <p:nvSpPr>
          <p:cNvPr id="101" name="ContactInfo"/>
          <p:cNvSpPr txBox="1"/>
          <p:nvPr/>
        </p:nvSpPr>
        <p:spPr>
          <a:xfrm>
            <a:off x="635000" y="660400"/>
            <a:ext cx="6350000" cy="338554"/>
          </a:xfrm>
          <a:prstGeom prst="rect">
            <a:avLst/>
          </a:prstGeom>
          <a:noFill/>
        </p:spPr>
        <p:txBody>
          <a:bodyPr wrap="square" rtlCol="0">
            <a:spAutoFit/>
          </a:bodyPr>
          <a:lstStyle/>
          <a:p>
            <a:pPr marL="0" indent="0">
              <a:buNone/>
            </a:pPr>
            <a:r>
              <a:rPr lang="en-US" sz="1600" dirty="0">
                <a:solidFill>
                  <a:srgbClr val="444444"/>
                </a:solidFill>
                <a:latin typeface="Arial"/>
                <a:cs typeface="Arial"/>
              </a:rPr>
              <a:t>Contact: brian.locke@imail.org  |  EHR Message</a:t>
            </a:r>
          </a:p>
        </p:txBody>
      </p:sp>
      <p:sp>
        <p:nvSpPr>
          <p:cNvPr id="102" name="BottomBar"/>
          <p:cNvSpPr/>
          <p:nvPr/>
        </p:nvSpPr>
        <p:spPr>
          <a:xfrm>
            <a:off x="635000" y="5816600"/>
            <a:ext cx="10922000" cy="0"/>
          </a:xfrm>
          <a:prstGeom prst="line">
            <a:avLst/>
          </a:prstGeom>
          <a:ln w="9525">
            <a:solidFill>
              <a:srgbClr val="CCCCCC"/>
            </a:solidFill>
          </a:ln>
        </p:spPr>
        <p:txBody>
          <a:bodyPr/>
          <a:lstStyle/>
          <a:p>
            <a:endParaRPr lang="en-US"/>
          </a:p>
        </p:txBody>
      </p:sp>
    </p:spTree>
    <p:extLst>
      <p:ext uri="{BB962C8B-B14F-4D97-AF65-F5344CB8AC3E}">
        <p14:creationId xmlns:p14="http://schemas.microsoft.com/office/powerpoint/2010/main" val="62080569"/>
      </p:ext>
    </p:extLst>
  </p:cSld>
  <p:clrMapOvr>
    <a:masterClrMapping/>
  </p:clrMapOvr>
</p:sld>
</file>

<file path=ppt/theme/theme1.xml><?xml version="1.0" encoding="utf-8"?>
<a:theme xmlns:a="http://schemas.openxmlformats.org/drawingml/2006/main" name="Office Theme">
  <a:themeElements>
    <a:clrScheme name="Intermountain Health">
      <a:dk1>
        <a:srgbClr val="110057"/>
      </a:dk1>
      <a:lt1>
        <a:srgbClr val="FFFFFF"/>
      </a:lt1>
      <a:dk2>
        <a:srgbClr val="4A00E2"/>
      </a:dk2>
      <a:lt2>
        <a:srgbClr val="F7F5F9"/>
      </a:lt2>
      <a:accent1>
        <a:srgbClr val="110057"/>
      </a:accent1>
      <a:accent2>
        <a:srgbClr val="4A00E2"/>
      </a:accent2>
      <a:accent3>
        <a:srgbClr val="FF0044"/>
      </a:accent3>
      <a:accent4>
        <a:srgbClr val="7CAFD0"/>
      </a:accent4>
      <a:accent5>
        <a:srgbClr val="FF5D55"/>
      </a:accent5>
      <a:accent6>
        <a:srgbClr val="FFBCB9"/>
      </a:accent6>
      <a:hlink>
        <a:srgbClr val="110057"/>
      </a:hlink>
      <a:folHlink>
        <a:srgbClr val="4A00E2"/>
      </a:folHlink>
    </a:clrScheme>
    <a:fontScheme name="Intermountain Health">
      <a:majorFont>
        <a:latin typeface="Arial"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 dockstate="right" visibility="0" width="350" row="0">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C0DFD0EC-DB28-6E42-8750-A4B42AB3FD42}">
  <we:reference id="wa200000113" version="1.0.0.0" store="en-US" storeType="OMEX"/>
  <we:alternateReferences>
    <we:reference id="wa200000113" version="1.0.0.0" store="en-US"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9B48D85D-ABA3-EE41-81D7-A4D3100239D8}">
  <we:reference id="wa104051163" version="1.2.0.3" store="en-US" storeType="OMEX"/>
  <we:alternateReferences>
    <we:reference id="WA104051163" version="1.2.0.3" store=""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35DCE9D1-2985-D841-9C4F-A7C238A3C6B2}">
  <we:reference id="wa200010001" version="1.0.0.0" store="en-US" storeType="OMEX"/>
  <we:alternateReferences>
    <we:reference id="wa200010001" version="1.0.0.0" store="en-US"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5240</TotalTime>
  <Words>7157</Words>
  <Application>Microsoft Macintosh PowerPoint</Application>
  <PresentationFormat>Widescreen</PresentationFormat>
  <Paragraphs>532</Paragraphs>
  <Slides>40</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Aptos</vt:lpstr>
      <vt:lpstr>Arial</vt:lpstr>
      <vt:lpstr>Calibri</vt:lpstr>
      <vt:lpstr>Cambria Math</vt:lpstr>
      <vt:lpstr>Trebuchet MS</vt:lpstr>
      <vt:lpstr>Wingdings</vt:lpstr>
      <vt:lpstr>Office Theme</vt:lpstr>
      <vt:lpstr>PowerPoint Presentation</vt:lpstr>
      <vt:lpstr>Learning Objectives</vt:lpstr>
      <vt:lpstr>Obesity Hypoventilation Syndrome (OHS)</vt:lpstr>
      <vt:lpstr>Requirement of Sleep Disordered Breathing?</vt:lpstr>
      <vt:lpstr>PowerPoint Presentation</vt:lpstr>
      <vt:lpstr>PowerPoint Presentation</vt:lpstr>
      <vt:lpstr>PowerPoint Presentation</vt:lpstr>
      <vt:lpstr>PowerPoint Presentation</vt:lpstr>
      <vt:lpstr>Hypercapnia in SLC</vt:lpstr>
      <vt:lpstr>PowerPoint Presentation</vt:lpstr>
      <vt:lpstr>What Is Hypercapnic Respiratory Failure?</vt:lpstr>
      <vt:lpstr>However, it’s often not just hypercapnia</vt:lpstr>
      <vt:lpstr>PowerPoint Presentation</vt:lpstr>
      <vt:lpstr>Misdiagnosis Pitfalls in Obese Patients</vt:lpstr>
      <vt:lpstr>PowerPoint Presentation</vt:lpstr>
      <vt:lpstr>Hypercapnic Respiratory Failure is Common</vt:lpstr>
      <vt:lpstr> Hypercapnic Respiratory Failure is Prognostically Important </vt:lpstr>
      <vt:lpstr> Therapeutic options exist:  </vt:lpstr>
      <vt:lpstr> Therapeutic options exist:  </vt:lpstr>
      <vt:lpstr>Obesity-related respiratory failure is common, deadly, &amp; under-recognized</vt:lpstr>
      <vt:lpstr>How to Spot It: Clinical Screening Pearls</vt:lpstr>
      <vt:lpstr>Why is the discharge with BPAP so hard?</vt:lpstr>
      <vt:lpstr>Two problems: </vt:lpstr>
      <vt:lpstr>Two problems: </vt:lpstr>
      <vt:lpstr>Low diagnostic testing rates </vt:lpstr>
      <vt:lpstr>How Often Does Testing Actually Happen?</vt:lpstr>
      <vt:lpstr>How Did We Get Here?</vt:lpstr>
      <vt:lpstr>PowerPoint Presentation</vt:lpstr>
      <vt:lpstr>RAD vs. HMV: A Regulatory Distinction Born from Convergence</vt:lpstr>
      <vt:lpstr>PowerPoint Presentation</vt:lpstr>
      <vt:lpstr>Devices for home non-invasive ventilation: </vt:lpstr>
      <vt:lpstr>Prior National Coverage Determination: RADs</vt:lpstr>
      <vt:lpstr>Prior National Coverage Determination: HMVs</vt:lpstr>
      <vt:lpstr>Where Does the Money Come From?</vt:lpstr>
      <vt:lpstr>The Discharge Paradox</vt:lpstr>
      <vt:lpstr>The Qualification Maze</vt:lpstr>
      <vt:lpstr>What We're Learning — And What's Changing</vt:lpstr>
      <vt:lpstr>Emerging Role of GLP-1 Receptor Agonists</vt:lpstr>
      <vt:lpstr>Summary</vt:lpstr>
      <vt:lpstr>Acknowledgments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Brian Locke</dc:creator>
  <cp:lastModifiedBy>Brian Locke</cp:lastModifiedBy>
  <cp:revision>23</cp:revision>
  <dcterms:created xsi:type="dcterms:W3CDTF">2025-08-09T21:24:58Z</dcterms:created>
  <dcterms:modified xsi:type="dcterms:W3CDTF">2026-03-13T14:33:15Z</dcterms:modified>
</cp:coreProperties>
</file>