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3"/>
  </p:notesMasterIdLst>
  <p:sldIdLst>
    <p:sldId id="849" r:id="rId2"/>
    <p:sldId id="766" r:id="rId3"/>
    <p:sldId id="820" r:id="rId4"/>
    <p:sldId id="791" r:id="rId5"/>
    <p:sldId id="822" r:id="rId6"/>
    <p:sldId id="730" r:id="rId7"/>
    <p:sldId id="806" r:id="rId8"/>
    <p:sldId id="848" r:id="rId9"/>
    <p:sldId id="748" r:id="rId10"/>
    <p:sldId id="262" r:id="rId11"/>
    <p:sldId id="878" r:id="rId12"/>
    <p:sldId id="813" r:id="rId13"/>
    <p:sldId id="784" r:id="rId14"/>
    <p:sldId id="850" r:id="rId15"/>
    <p:sldId id="851" r:id="rId16"/>
    <p:sldId id="816" r:id="rId17"/>
    <p:sldId id="854" r:id="rId18"/>
    <p:sldId id="855" r:id="rId19"/>
    <p:sldId id="754" r:id="rId20"/>
    <p:sldId id="819" r:id="rId21"/>
    <p:sldId id="750" r:id="rId22"/>
    <p:sldId id="869" r:id="rId23"/>
    <p:sldId id="699" r:id="rId24"/>
    <p:sldId id="700" r:id="rId25"/>
    <p:sldId id="736" r:id="rId26"/>
    <p:sldId id="861" r:id="rId27"/>
    <p:sldId id="865" r:id="rId28"/>
    <p:sldId id="864" r:id="rId29"/>
    <p:sldId id="742" r:id="rId30"/>
    <p:sldId id="744" r:id="rId31"/>
    <p:sldId id="712" r:id="rId32"/>
    <p:sldId id="708" r:id="rId33"/>
    <p:sldId id="746" r:id="rId34"/>
    <p:sldId id="877" r:id="rId35"/>
    <p:sldId id="872" r:id="rId36"/>
    <p:sldId id="833" r:id="rId37"/>
    <p:sldId id="752" r:id="rId38"/>
    <p:sldId id="867" r:id="rId39"/>
    <p:sldId id="782" r:id="rId40"/>
    <p:sldId id="835" r:id="rId41"/>
    <p:sldId id="876"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60"/>
    <p:restoredTop sz="80272"/>
  </p:normalViewPr>
  <p:slideViewPr>
    <p:cSldViewPr snapToGrid="0">
      <p:cViewPr varScale="1">
        <p:scale>
          <a:sx n="87" d="100"/>
          <a:sy n="87" d="100"/>
        </p:scale>
        <p:origin x="440"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harts/_rels/chart1.xml.rels><?xml version="1.0" encoding="UTF-8" standalone="yes"?>
<Relationships xmlns="http://schemas.openxmlformats.org/package/2006/relationships"><Relationship Id="rId1" Type="http://schemas.openxmlformats.org/officeDocument/2006/relationships/oleObject" Target="file:////Users/reblocke/Box/Residency%20Personal%20Files/Scholarly%20Work/Locke%20Research%20Projects/Presentations%20and%20Articles/Graphs%20for%20Hypercapnia-Hypoxemia.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400" b="1">
                <a:solidFill>
                  <a:srgbClr val="000000"/>
                </a:solidFill>
                <a:latin typeface="Arial"/>
              </a:defRPr>
            </a:pPr>
            <a:r>
              <a:rPr lang="en-US" sz="1400" b="1" dirty="0">
                <a:solidFill>
                  <a:srgbClr val="000000"/>
                </a:solidFill>
                <a:latin typeface="Arial"/>
              </a:rPr>
              <a:t>PaCO</a:t>
            </a:r>
            <a:r>
              <a:rPr lang="en-US" sz="1400" b="1" baseline="-25000" dirty="0">
                <a:solidFill>
                  <a:srgbClr val="000000"/>
                </a:solidFill>
                <a:latin typeface="Arial"/>
              </a:rPr>
              <a:t>2</a:t>
            </a:r>
            <a:r>
              <a:rPr lang="en-US" sz="1400" b="1" dirty="0">
                <a:solidFill>
                  <a:srgbClr val="000000"/>
                </a:solidFill>
                <a:latin typeface="Arial"/>
              </a:rPr>
              <a:t> threshold for hypoxemia by age</a:t>
            </a:r>
          </a:p>
        </c:rich>
      </c:tx>
      <c:overlay val="0"/>
      <c:spPr>
        <a:noFill/>
        <a:ln>
          <a:noFill/>
        </a:ln>
        <a:effectLst/>
      </c:spPr>
    </c:title>
    <c:autoTitleDeleted val="0"/>
    <c:plotArea>
      <c:layout/>
      <c:lineChart>
        <c:grouping val="standard"/>
        <c:varyColors val="0"/>
        <c:ser>
          <c:idx val="0"/>
          <c:order val="0"/>
          <c:tx>
            <c:v>PaCO2 at 4500 ft</c:v>
          </c:tx>
          <c:spPr>
            <a:ln w="28575" cap="rnd">
              <a:solidFill>
                <a:srgbClr val="0070C0"/>
              </a:solidFill>
              <a:round/>
            </a:ln>
            <a:effectLst/>
          </c:spPr>
          <c:marker>
            <c:symbol val="none"/>
          </c:marker>
          <c:cat>
            <c:numRef>
              <c:f>Sheet1!$A$2:$A$10</c:f>
              <c:numCache>
                <c:formatCode>General</c:formatCode>
                <c:ptCount val="9"/>
                <c:pt idx="0">
                  <c:v>10</c:v>
                </c:pt>
                <c:pt idx="1">
                  <c:v>20</c:v>
                </c:pt>
                <c:pt idx="2">
                  <c:v>30</c:v>
                </c:pt>
                <c:pt idx="3">
                  <c:v>40</c:v>
                </c:pt>
                <c:pt idx="4">
                  <c:v>50</c:v>
                </c:pt>
                <c:pt idx="5">
                  <c:v>60</c:v>
                </c:pt>
                <c:pt idx="6">
                  <c:v>70</c:v>
                </c:pt>
                <c:pt idx="7">
                  <c:v>80</c:v>
                </c:pt>
                <c:pt idx="8">
                  <c:v>90</c:v>
                </c:pt>
              </c:numCache>
            </c:numRef>
          </c:cat>
          <c:val>
            <c:numRef>
              <c:f>Sheet1!$B$2:$B$10</c:f>
              <c:numCache>
                <c:formatCode>General</c:formatCode>
                <c:ptCount val="9"/>
                <c:pt idx="0">
                  <c:v>56.27</c:v>
                </c:pt>
                <c:pt idx="1">
                  <c:v>54.370000000000005</c:v>
                </c:pt>
                <c:pt idx="2">
                  <c:v>52.47</c:v>
                </c:pt>
                <c:pt idx="3">
                  <c:v>50.57</c:v>
                </c:pt>
                <c:pt idx="4">
                  <c:v>48.67</c:v>
                </c:pt>
                <c:pt idx="5">
                  <c:v>46.77</c:v>
                </c:pt>
                <c:pt idx="6">
                  <c:v>44.870000000000005</c:v>
                </c:pt>
                <c:pt idx="7">
                  <c:v>42.97</c:v>
                </c:pt>
                <c:pt idx="8">
                  <c:v>41.07</c:v>
                </c:pt>
              </c:numCache>
            </c:numRef>
          </c:val>
          <c:smooth val="0"/>
          <c:extLst>
            <c:ext xmlns:c16="http://schemas.microsoft.com/office/drawing/2014/chart" uri="{C3380CC4-5D6E-409C-BE32-E72D297353CC}">
              <c16:uniqueId val="{00000000-5FB2-8C46-A36E-F5F5A482529F}"/>
            </c:ext>
          </c:extLst>
        </c:ser>
        <c:ser>
          <c:idx val="1"/>
          <c:order val="1"/>
          <c:tx>
            <c:v>PaCO2 at Sea Level</c:v>
          </c:tx>
          <c:spPr>
            <a:ln w="28575" cap="rnd">
              <a:solidFill>
                <a:srgbClr val="FF4444"/>
              </a:solidFill>
              <a:round/>
            </a:ln>
            <a:effectLst/>
          </c:spPr>
          <c:marker>
            <c:symbol val="none"/>
          </c:marker>
          <c:cat>
            <c:numRef>
              <c:f>Sheet1!$A$2:$A$10</c:f>
              <c:numCache>
                <c:formatCode>General</c:formatCode>
                <c:ptCount val="9"/>
                <c:pt idx="0">
                  <c:v>10</c:v>
                </c:pt>
                <c:pt idx="1">
                  <c:v>20</c:v>
                </c:pt>
                <c:pt idx="2">
                  <c:v>30</c:v>
                </c:pt>
                <c:pt idx="3">
                  <c:v>40</c:v>
                </c:pt>
                <c:pt idx="4">
                  <c:v>50</c:v>
                </c:pt>
                <c:pt idx="5">
                  <c:v>60</c:v>
                </c:pt>
                <c:pt idx="6">
                  <c:v>70</c:v>
                </c:pt>
                <c:pt idx="7">
                  <c:v>80</c:v>
                </c:pt>
                <c:pt idx="8">
                  <c:v>90</c:v>
                </c:pt>
              </c:numCache>
            </c:numRef>
          </c:cat>
          <c:val>
            <c:numRef>
              <c:f>Sheet1!$C$2:$C$10</c:f>
              <c:numCache>
                <c:formatCode>General</c:formatCode>
                <c:ptCount val="9"/>
                <c:pt idx="0">
                  <c:v>74.05</c:v>
                </c:pt>
                <c:pt idx="1">
                  <c:v>72.150000000000006</c:v>
                </c:pt>
                <c:pt idx="2">
                  <c:v>70.25</c:v>
                </c:pt>
                <c:pt idx="3">
                  <c:v>68.350000000000009</c:v>
                </c:pt>
                <c:pt idx="4">
                  <c:v>66.45</c:v>
                </c:pt>
                <c:pt idx="5">
                  <c:v>64.55</c:v>
                </c:pt>
                <c:pt idx="6">
                  <c:v>62.650000000000006</c:v>
                </c:pt>
                <c:pt idx="7">
                  <c:v>60.75</c:v>
                </c:pt>
                <c:pt idx="8">
                  <c:v>58.85</c:v>
                </c:pt>
              </c:numCache>
            </c:numRef>
          </c:val>
          <c:smooth val="0"/>
          <c:extLst>
            <c:ext xmlns:c16="http://schemas.microsoft.com/office/drawing/2014/chart" uri="{C3380CC4-5D6E-409C-BE32-E72D297353CC}">
              <c16:uniqueId val="{00000001-5FB2-8C46-A36E-F5F5A482529F}"/>
            </c:ext>
          </c:extLst>
        </c:ser>
        <c:dLbls>
          <c:showLegendKey val="0"/>
          <c:showVal val="0"/>
          <c:showCatName val="0"/>
          <c:showSerName val="0"/>
          <c:showPercent val="0"/>
          <c:showBubbleSize val="0"/>
        </c:dLbls>
        <c:smooth val="0"/>
        <c:axId val="70877135"/>
        <c:axId val="66826063"/>
      </c:lineChart>
      <c:catAx>
        <c:axId val="70877135"/>
        <c:scaling>
          <c:orientation val="minMax"/>
        </c:scaling>
        <c:delete val="0"/>
        <c:axPos val="b"/>
        <c:title>
          <c:tx>
            <c:rich>
              <a:bodyPr rot="0" spcFirstLastPara="1" vertOverflow="ellipsis" vert="horz" wrap="square" anchor="ctr" anchorCtr="1"/>
              <a:lstStyle/>
              <a:p>
                <a:pPr>
                  <a:defRPr sz="1100">
                    <a:solidFill>
                      <a:srgbClr val="000000"/>
                    </a:solidFill>
                    <a:latin typeface="Arial"/>
                  </a:defRPr>
                </a:pPr>
                <a:r>
                  <a:rPr lang="en-US" sz="1100" dirty="0">
                    <a:solidFill>
                      <a:srgbClr val="000000"/>
                    </a:solidFill>
                    <a:latin typeface="Arial"/>
                  </a:rPr>
                  <a:t>Age (years)</a:t>
                </a:r>
              </a:p>
            </c:rich>
          </c:tx>
          <c:overlay val="0"/>
          <c:spPr>
            <a:noFill/>
            <a:ln>
              <a:noFill/>
            </a:ln>
            <a:effectLst/>
          </c:spPr>
        </c:title>
        <c:numFmt formatCode="General" sourceLinked="1"/>
        <c:majorTickMark val="out"/>
        <c:minorTickMark val="none"/>
        <c:tickLblPos val="nextTo"/>
        <c:spPr>
          <a:noFill/>
          <a:ln w="9525" cap="flat" cmpd="sng" algn="ctr">
            <a:solidFill>
              <a:srgbClr val="000000"/>
            </a:solidFill>
            <a:round/>
          </a:ln>
          <a:effectLst/>
        </c:spPr>
        <c:txPr>
          <a:bodyPr rot="-60000000" spcFirstLastPara="1" vertOverflow="ellipsis" vert="horz" wrap="square" anchor="ctr" anchorCtr="1"/>
          <a:lstStyle/>
          <a:p>
            <a:pPr>
              <a:defRPr sz="1800" b="0" i="0" u="none" strike="noStrike" kern="1200" baseline="0">
                <a:solidFill>
                  <a:srgbClr val="000000"/>
                </a:solidFill>
                <a:latin typeface="Arial"/>
                <a:ea typeface="+mn-ea"/>
                <a:cs typeface="+mn-cs"/>
              </a:defRPr>
            </a:pPr>
            <a:endParaRPr lang="en-US"/>
          </a:p>
        </c:txPr>
        <c:crossAx val="66826063"/>
        <c:crosses val="autoZero"/>
        <c:auto val="1"/>
        <c:lblAlgn val="ctr"/>
        <c:lblOffset val="100"/>
        <c:noMultiLvlLbl val="0"/>
      </c:catAx>
      <c:valAx>
        <c:axId val="66826063"/>
        <c:scaling>
          <c:orientation val="minMax"/>
        </c:scaling>
        <c:delete val="0"/>
        <c:axPos val="l"/>
        <c:majorGridlines>
          <c:spPr>
            <a:ln w="9525" cap="flat" cmpd="sng" algn="ctr">
              <a:solidFill>
                <a:srgbClr val="000000"/>
              </a:solidFill>
              <a:round/>
            </a:ln>
            <a:effectLst/>
          </c:spPr>
        </c:majorGridlines>
        <c:title>
          <c:tx>
            <c:rich>
              <a:bodyPr rot="-5400000" spcFirstLastPara="1" vertOverflow="ellipsis" vert="horz" wrap="square" anchor="ctr" anchorCtr="1"/>
              <a:lstStyle/>
              <a:p>
                <a:pPr>
                  <a:defRPr sz="1100">
                    <a:solidFill>
                      <a:srgbClr val="000000"/>
                    </a:solidFill>
                    <a:latin typeface="Arial"/>
                  </a:defRPr>
                </a:pPr>
                <a:r>
                  <a:rPr lang="en-US" sz="1100" dirty="0">
                    <a:solidFill>
                      <a:srgbClr val="000000"/>
                    </a:solidFill>
                    <a:latin typeface="Arial"/>
                  </a:rPr>
                  <a:t>PaCO</a:t>
                </a:r>
                <a:r>
                  <a:rPr lang="en-US" sz="1100" baseline="-25000" dirty="0">
                    <a:solidFill>
                      <a:srgbClr val="000000"/>
                    </a:solidFill>
                    <a:latin typeface="Arial"/>
                  </a:rPr>
                  <a:t>2</a:t>
                </a:r>
                <a:r>
                  <a:rPr lang="en-US" sz="1100" dirty="0">
                    <a:solidFill>
                      <a:srgbClr val="000000"/>
                    </a:solidFill>
                    <a:latin typeface="Arial"/>
                  </a:rPr>
                  <a:t> for hypoxemia (mmHg)</a:t>
                </a:r>
              </a:p>
            </c:rich>
          </c:tx>
          <c:overlay val="0"/>
          <c:spPr>
            <a:noFill/>
            <a:ln>
              <a:noFill/>
            </a:ln>
            <a:effectLst/>
          </c:spPr>
        </c:title>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rgbClr val="000000"/>
                </a:solidFill>
                <a:latin typeface="Arial"/>
                <a:ea typeface="+mn-ea"/>
                <a:cs typeface="+mn-cs"/>
              </a:defRPr>
            </a:pPr>
            <a:endParaRPr lang="en-US"/>
          </a:p>
        </c:txPr>
        <c:crossAx val="70877135"/>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00" b="0" i="0" u="none" strike="noStrike" kern="1200" baseline="0">
              <a:solidFill>
                <a:srgbClr val="000000"/>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43F77F-9A3C-E740-9DB0-E9D6C9A5452C}" type="datetimeFigureOut">
              <a:rPr lang="en-US" smtClean="0"/>
              <a:t>3/9/26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4F0C85-FC02-4C4E-8B1A-6BB950A69184}" type="slidenum">
              <a:rPr lang="en-US" smtClean="0"/>
              <a:t>‹#›</a:t>
            </a:fld>
            <a:endParaRPr lang="en-US"/>
          </a:p>
        </p:txBody>
      </p:sp>
    </p:spTree>
    <p:extLst>
      <p:ext uri="{BB962C8B-B14F-4D97-AF65-F5344CB8AC3E}">
        <p14:creationId xmlns:p14="http://schemas.microsoft.com/office/powerpoint/2010/main" val="4071300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journals.physiology.org/doi/full/10.1152/japplphysiol.00809.2003#REF92"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Transcript of the talk: (dictated, forgive errors)</a:t>
            </a:r>
          </a:p>
          <a:p>
            <a:endParaRPr lang="en-US" dirty="0"/>
          </a:p>
          <a:p>
            <a:r>
              <a:rPr lang="en-US" dirty="0"/>
              <a:t>My name is Brian Locke. I’m an assistant professor working in the Shock Trauma ICU and the Schmidt Chest Clinic, and today I’m giving an update on hypercapnic respiratory failure. I have a conflict of interest with a local startup doing machine learning unrelated to this talk. I want to acknowledge support from the American Thoracic Society, the NIH, and our Pulmonary and Critical Care Medicine seed grant, and to thank the Utah Population Database and its funders. For those following along in </a:t>
            </a:r>
            <a:r>
              <a:rPr lang="en-US" dirty="0" err="1"/>
              <a:t>NotebookLM</a:t>
            </a:r>
            <a:r>
              <a:rPr lang="en-US" dirty="0"/>
              <a:t>, Google’s large language model environment, I’ve uploaded key literature so you can query or review the synthesized notes while we go.</a:t>
            </a:r>
          </a:p>
          <a:p>
            <a:br>
              <a:rPr lang="en-US" dirty="0"/>
            </a:br>
            <a:endParaRPr lang="en-US" dirty="0"/>
          </a:p>
          <a:p>
            <a:r>
              <a:rPr lang="en-US" dirty="0"/>
              <a:t>I’ll start with background and the current state of hypercapnic respiratory failure, move to what we’re doing clinically and in research, and end with new CMS national coverage determinations for respiratory assist devices and home mechanical ventilators—changes most private payers will soon mirror—so we can discuss how to qualify patients for devices.</a:t>
            </a:r>
          </a:p>
          <a:p>
            <a:br>
              <a:rPr lang="en-US" dirty="0"/>
            </a:br>
            <a:endParaRPr lang="en-US" dirty="0"/>
          </a:p>
          <a:p>
            <a:r>
              <a:rPr lang="en-US" dirty="0"/>
              <a:t>First, definitions. Hypercapnic respiratory failure is a syndrome—the pattern of signs and symptoms that accompany a CO₂ level that is too high—reflecting failed homeostasis: an imbalance between tissue CO₂ production and alveolar ventilation that allows </a:t>
            </a:r>
            <a:r>
              <a:rPr lang="en-US" dirty="0" err="1"/>
              <a:t>PaCO</a:t>
            </a:r>
            <a:r>
              <a:rPr lang="en-US" dirty="0"/>
              <a:t>₂ to rise. Hypercapnia itself is a finding defined against the distribution of normal values. Because “normal” shifts with altitude, the threshold for abnormality is lower here than at sea level; using 41–42 mmHg in Salt Lake City is appropriate. Payers don’t adjust coverage criteria for elevation, which may not matter for borderline cases clinically, but it matters for how we interpret a clinic </a:t>
            </a:r>
            <a:r>
              <a:rPr lang="en-US" dirty="0" err="1"/>
              <a:t>PaCO</a:t>
            </a:r>
            <a:r>
              <a:rPr lang="en-US" dirty="0"/>
              <a:t>₂ of 43–44 mmHg locally—that’s abnormal. Although one might imagine adding criteria (for example, excluding cases where elevated </a:t>
            </a:r>
            <a:r>
              <a:rPr lang="en-US" dirty="0" err="1"/>
              <a:t>PaCO</a:t>
            </a:r>
            <a:r>
              <a:rPr lang="en-US" dirty="0"/>
              <a:t>₂ is a proportional response to metabolic alkalosis—what I’d call “respiratory success”), </a:t>
            </a:r>
            <a:r>
              <a:rPr lang="en-US" dirty="0" err="1"/>
              <a:t>TriNetX</a:t>
            </a:r>
            <a:r>
              <a:rPr lang="en-US" dirty="0"/>
              <a:t> data suggest isolated, compensatory hypercapnia is rare. In practice, the syndrome is defined by a high CO₂.</a:t>
            </a:r>
          </a:p>
          <a:p>
            <a:br>
              <a:rPr lang="en-US" dirty="0"/>
            </a:br>
            <a:endParaRPr lang="en-US" dirty="0"/>
          </a:p>
          <a:p>
            <a:r>
              <a:rPr lang="en-US" dirty="0"/>
              <a:t>I prefer the term ventilatory failure because homeostasis can fail without overt hypercapnia when the physiologic context calls for a lower </a:t>
            </a:r>
            <a:r>
              <a:rPr lang="en-US" dirty="0" err="1"/>
              <a:t>PaCO</a:t>
            </a:r>
            <a:r>
              <a:rPr lang="en-US" dirty="0"/>
              <a:t>₂. The framework I use is supply versus demand: can the patient sustain the ventilation the situation requires? Demand depends on three variables: the dead-space fraction (the portion of each breath wasted for CO₂ exchange), tissue CO₂ production, and the target </a:t>
            </a:r>
            <a:r>
              <a:rPr lang="en-US" dirty="0" err="1"/>
              <a:t>PaCO</a:t>
            </a:r>
            <a:r>
              <a:rPr lang="en-US" dirty="0"/>
              <a:t>₂ appropriate to the situation. If dead space increases, required ventilation rises. If CO₂ production rises, required ventilation rises proportionally. If the target </a:t>
            </a:r>
            <a:r>
              <a:rPr lang="en-US" dirty="0" err="1"/>
              <a:t>PaCO</a:t>
            </a:r>
            <a:r>
              <a:rPr lang="en-US" dirty="0"/>
              <a:t>₂ is lower, required ventilation climbs nonlinearly.</a:t>
            </a:r>
          </a:p>
          <a:p>
            <a:br>
              <a:rPr lang="en-US" dirty="0"/>
            </a:br>
            <a:endParaRPr lang="en-US" dirty="0"/>
          </a:p>
          <a:p>
            <a:r>
              <a:rPr lang="en-US" dirty="0"/>
              <a:t>Supply—the maximal sustainable ventilation—depends on respiratory muscle capacity and mechanical advantage, the stability of respiratory control, and the loads on the system. Loads include resistive loads (like breathing through a straw), elastic loads (inflating a stiff lung or chest wall), and, in many acute settings, threshold and inertial loads. Opioids and sleep alter control stability; COPD with hyperinflation, neuromuscular disease, and pleural or chest wall disease alter mechanics. Patients whose chronic loads push them close to their sustainable limit have little physiologic reserve. Think of a person with COPD whose FEV₁ is well under a liter: a small increase in demand can precipitate failure. Those are the patients who need close attention, as highlighted by prior work in this area.</a:t>
            </a:r>
          </a:p>
          <a:p>
            <a:br>
              <a:rPr lang="en-US" dirty="0"/>
            </a:br>
            <a:endParaRPr lang="en-US" dirty="0"/>
          </a:p>
          <a:p>
            <a:r>
              <a:rPr lang="en-US" dirty="0"/>
              <a:t>It’s worth dwelling on the goal </a:t>
            </a:r>
            <a:r>
              <a:rPr lang="en-US" dirty="0" err="1"/>
              <a:t>PaCO</a:t>
            </a:r>
            <a:r>
              <a:rPr lang="en-US" dirty="0"/>
              <a:t>₂. Mathematically, a higher </a:t>
            </a:r>
            <a:r>
              <a:rPr lang="en-US" dirty="0" err="1"/>
              <a:t>PaCO</a:t>
            </a:r>
            <a:r>
              <a:rPr lang="en-US" dirty="0"/>
              <a:t>₂ target lowers required ventilation, which can seem counterintuitive. Elevated CO₂ signals a response to some underlying stress, but from a mechanics standpoint, higher alveolar CO₂ allows each exhaled breath to carry a higher CO₂ concentration, reducing the total ventilation needed to maintain steady state. That’s the rationale for permissive hypercapnia in lung-protective ventilation: allowing </a:t>
            </a:r>
            <a:r>
              <a:rPr lang="en-US" dirty="0" err="1"/>
              <a:t>PaCO</a:t>
            </a:r>
            <a:r>
              <a:rPr lang="en-US" dirty="0"/>
              <a:t>₂ to rise lets us reduce ventilatory pressures. Evidence from ECMO cohorts and from patients with kidney injury suggests that for a given CO₂ rise, lack of metabolic compensation portends worse outcomes in ARDS, partly reflecting multi-organ failure and partly the ongoing mechanical stress on lungs. This raises a question: if higher </a:t>
            </a:r>
            <a:r>
              <a:rPr lang="en-US" dirty="0" err="1"/>
              <a:t>PaCO</a:t>
            </a:r>
            <a:r>
              <a:rPr lang="en-US" dirty="0"/>
              <a:t>₂ lowers ventilatory work and pH can be maintained at any </a:t>
            </a:r>
            <a:r>
              <a:rPr lang="en-US" dirty="0" err="1"/>
              <a:t>PaCO</a:t>
            </a:r>
            <a:r>
              <a:rPr lang="en-US" dirty="0"/>
              <a:t>₂ with sufficient bicarbonate, why isn’t the set point much higher—why not a </a:t>
            </a:r>
            <a:r>
              <a:rPr lang="en-US" dirty="0" err="1"/>
              <a:t>PaCO</a:t>
            </a:r>
            <a:r>
              <a:rPr lang="en-US" dirty="0"/>
              <a:t>₂ of 90 with a bicarbonate of 45? The answer likely lies in oxygen. By the alveolar gas equation, CO₂ “occupies space” that would otherwise contribute to alveolar oxygen; at room air (</a:t>
            </a:r>
            <a:r>
              <a:rPr lang="en-US" dirty="0" err="1"/>
              <a:t>FiO</a:t>
            </a:r>
            <a:r>
              <a:rPr lang="en-US" dirty="0"/>
              <a:t>₂ 0.21), a higher </a:t>
            </a:r>
            <a:r>
              <a:rPr lang="en-US" dirty="0" err="1"/>
              <a:t>PaCO</a:t>
            </a:r>
            <a:r>
              <a:rPr lang="en-US" dirty="0"/>
              <a:t>₂ erodes the oxygenation buffer. The transition from acute to chronic hypercapnia seems to involve a control-system calculation that balances the effort of breathing against the cost of reduced oxygen margin. In chronic respiratory failure, the old “can’t breathe/won’t breathe” dichotomy doesn’t help.</a:t>
            </a:r>
          </a:p>
          <a:p>
            <a:br>
              <a:rPr lang="en-US" dirty="0"/>
            </a:br>
            <a:endParaRPr lang="en-US" dirty="0"/>
          </a:p>
          <a:p>
            <a:r>
              <a:rPr lang="en-US" dirty="0"/>
              <a:t>Severe hypercapnia as a survivable state is relatively new in medicine. Before supplemental oxygen, significant hypercapnia generally meant death. Only about 75 years ago did clinicians begin to recognize and treat it. Hannah Wunsch’s The Autumn Ghost recounts how, during the early polio epidemics, somnolence and unresponsiveness were attributed to encephalitis (“</a:t>
            </a:r>
            <a:r>
              <a:rPr lang="en-US" dirty="0" err="1"/>
              <a:t>cerebrelia</a:t>
            </a:r>
            <a:r>
              <a:rPr lang="en-US" dirty="0"/>
              <a:t>”) until clinicians provided manual positive-pressure breaths and patients woke up—revealing CO₂ retention as the true cause and inaugurating modern critical care.</a:t>
            </a:r>
          </a:p>
          <a:p>
            <a:br>
              <a:rPr lang="en-US" dirty="0"/>
            </a:br>
            <a:endParaRPr lang="en-US" dirty="0"/>
          </a:p>
          <a:p>
            <a:r>
              <a:rPr lang="en-US" dirty="0"/>
              <a:t>I argue that hypercapnic respiratory failure management is a large, solvable, and neglected problem. On scale: an Australian study in the Blue Journal estimated a population-standardized period prevalence of </a:t>
            </a:r>
            <a:r>
              <a:rPr lang="en-US" dirty="0" err="1"/>
              <a:t>PaCO</a:t>
            </a:r>
            <a:r>
              <a:rPr lang="en-US" dirty="0"/>
              <a:t>₂ ≥45 mmHg (excluding iatrogenic causes) of 150 per 100,000 person-years—higher than decompensated cirrhosis in the United States, which is roughly 100 per 100,000. A limitation is that not every patient with hypercapnia gets a blood gas, so ascertainment is imperfect. The only study I know that checked blood gases without clinical indication—a 2005 Denver VA study of consecutive admissions with BMI ≥35—found elevation-adjusted hypercapnia in about a third of patients, with only about one in ten recognized clinically.</a:t>
            </a:r>
          </a:p>
          <a:p>
            <a:br>
              <a:rPr lang="en-US" dirty="0"/>
            </a:br>
            <a:endParaRPr lang="en-US" dirty="0"/>
          </a:p>
          <a:p>
            <a:r>
              <a:rPr lang="en-US" dirty="0"/>
              <a:t>Our group used the Utah Population Database to estimate pre‑COVID yearly period prevalence of ICD codes for hypercapnic respiratory failure in Utah; there were about 4,000–5,000 codes per year across five primary codes, which normalizes to roughly 150 per 100,000—again, in that same ballpark. </a:t>
            </a:r>
            <a:r>
              <a:rPr lang="en-US" dirty="0" err="1"/>
              <a:t>TriNetX</a:t>
            </a:r>
            <a:r>
              <a:rPr lang="en-US" dirty="0"/>
              <a:t> analyses help interpret this: among patients with hypercapnia on blood gas, about a third in the ED and about 40% in inpatient settings receive an ICD code for hypercapnic respiratory failure, suggesting code-based counts may underestimate the true burden by up to a factor of three.</a:t>
            </a:r>
          </a:p>
          <a:p>
            <a:br>
              <a:rPr lang="en-US" dirty="0"/>
            </a:br>
            <a:endParaRPr lang="en-US" dirty="0"/>
          </a:p>
          <a:p>
            <a:r>
              <a:rPr lang="en-US" dirty="0"/>
              <a:t>Outcomes are concerning across etiologies. A single-center study from Vermont of inpatients with an ICD code for hypercapnic respiratory failure showed a 30‑day readmission rate of about 25%, similar to heart failure and higher than myocardial infarction, with two-thirds readmitted for recurrent hypercapnia. In the Michigan health system, even compensated hypercapnia on blood gas was associated with increased mortality; a </a:t>
            </a:r>
            <a:r>
              <a:rPr lang="en-US" dirty="0" err="1"/>
              <a:t>PaCO</a:t>
            </a:r>
            <a:r>
              <a:rPr lang="en-US" dirty="0"/>
              <a:t>₂ in the 50–65 mmHg range carried a risk roughly comparable to decompensated cirrhosis, with higher </a:t>
            </a:r>
            <a:r>
              <a:rPr lang="en-US" dirty="0" err="1"/>
              <a:t>PaCO</a:t>
            </a:r>
            <a:r>
              <a:rPr lang="en-US" dirty="0"/>
              <a:t>₂ worse and milder elevations somewhat better. In </a:t>
            </a:r>
            <a:r>
              <a:rPr lang="en-US" dirty="0" err="1"/>
              <a:t>TriNetX</a:t>
            </a:r>
            <a:r>
              <a:rPr lang="en-US" dirty="0"/>
              <a:t> data, among about 30,000 patients with hypercapnic respiratory failure codes (mean age ~65), two‑month mortality was 20% and climbed to about 30% by nine months.</a:t>
            </a:r>
          </a:p>
          <a:p>
            <a:br>
              <a:rPr lang="en-US" dirty="0"/>
            </a:br>
            <a:endParaRPr lang="en-US" dirty="0"/>
          </a:p>
          <a:p>
            <a:r>
              <a:rPr lang="en-US" dirty="0"/>
              <a:t>These patients are also expensive to care for. Office of Inspector General reports document dramatic growth in use of home mechanical ventilators and noninvasive respiratory assist devices beginning around 2013, with more than a hundred‑fold increases relative to 2009 baselines. Comprehensive cost estimates are lacking, which is why one of our first seed‑grant projects is an economic analysis linking Intermountain Health records to Select Health claims. We call this AIM‑HIGH (Artificial Intelligence for Modifiable Health Indicators in Groups with High Needs), starting with hypercapnic respiratory failure and extending to other high‑utilization conditions, using machine learning to identify patients at risk and intervene.</a:t>
            </a:r>
          </a:p>
          <a:p>
            <a:br>
              <a:rPr lang="en-US" dirty="0"/>
            </a:br>
            <a:endParaRPr lang="en-US" dirty="0"/>
          </a:p>
          <a:p>
            <a:r>
              <a:rPr lang="en-US" dirty="0"/>
              <a:t>Therapeutic options exist, although the evidence base is uneven. Guidelines for obesity hypoventilation recommend treatment despite surprisingly low levels of evidence. There are randomized trials in neuromuscular weakness (and in cystic fibrosis, though not discussed today), and there is a dozen‑plus trials of long‑term noninvasive ventilation in chronic stable hypercapnic respiratory failure that are generally supportive when done appropriately. It is not all NIV. Weight‑loss interventions matter for the sleep‑disordered breathing component of hypercapnia. The FDA has approved </a:t>
            </a:r>
            <a:r>
              <a:rPr lang="en-US" dirty="0" err="1"/>
              <a:t>tirzepatide</a:t>
            </a:r>
            <a:r>
              <a:rPr lang="en-US" dirty="0"/>
              <a:t> for obstructive sleep apnea, and our meta‑analysis shows a dose‑dependent improvement in OSA with both surgical and medical weight loss. Although we don’t yet know the exact fraction of hypercapnia attributable to sleep apnea, several cohorts that systematically tested ICU survivors of hypercapnic respiratory failure found that the majority had moderate to severe OSA. Even outside strict OHS definitions, sleep apnea likely plays a substantial causal role that we systematically miss without testing.</a:t>
            </a:r>
          </a:p>
          <a:p>
            <a:br>
              <a:rPr lang="en-US" dirty="0"/>
            </a:br>
            <a:endParaRPr lang="en-US" dirty="0"/>
          </a:p>
          <a:p>
            <a:r>
              <a:rPr lang="en-US" dirty="0"/>
              <a:t>These needs have prompted a movement to formalize a subspecialty in chronic respiratory failure. An </a:t>
            </a:r>
            <a:r>
              <a:rPr lang="en-US" dirty="0" err="1"/>
              <a:t>AnnalsATS</a:t>
            </a:r>
            <a:r>
              <a:rPr lang="en-US" dirty="0"/>
              <a:t> piece last year makes the case: roughly 300 clinicians nationwide specialize in managing chronic respiratory failure—far too few for current needs—and care requires both device expertise and structured processes around DME ordering and respiratory therapy support. Subspecialty designation could solidify a research paradigm and allow us to advocate for structural changes.</a:t>
            </a:r>
          </a:p>
          <a:p>
            <a:br>
              <a:rPr lang="en-US" dirty="0"/>
            </a:br>
            <a:endParaRPr lang="en-US" dirty="0"/>
          </a:p>
          <a:p>
            <a:r>
              <a:rPr lang="en-US" dirty="0"/>
              <a:t>Two evidence gaps hinder effective care. First, real patients usually have multiple contributing causes for hypercapnia, but most trials target single‑cause cohorts. Trials of hypercapnic COPD often enroll patients with average BMIs around 25 and exclude comorbid sleep apnea; the definition of OHS, in turn, excludes patients with even modest contributions from heart failure or COPD. What should we do for someone with COPD, heart failure, and sleep‑disordered breathing? The evidence rarely applies cleanly, so we extrapolate. Second, the evidence presupposes a definitive diagnosis, whereas in practice hypercapnic respiratory failure often precedes the diagnosis of the causative condition. Patients are admitted without prior spirometry, sleep testing, or sometimes even an established outpatient relationship; they’re stabilized and discharged; testing is ordered but often not completed; and care transitions create opportunities to fall through the cracks.</a:t>
            </a:r>
          </a:p>
          <a:p>
            <a:br>
              <a:rPr lang="en-US" dirty="0"/>
            </a:br>
            <a:endParaRPr lang="en-US" dirty="0"/>
          </a:p>
          <a:p>
            <a:r>
              <a:rPr lang="en-US" dirty="0"/>
              <a:t>We examined statewide testing patterns using the Utah Population Database and the All‑Payer Claims Database (covering ~90% of commercially insured patients and ~70% of other care from 2015–2019). Among patients with inpatient or ED encounters coded for hypercapnic respiratory failure, roughly two‑thirds had an echocardiogram in the five years before the index event, but only about one in three had spirometry and about one in five had sleep testing. In the year after the event—including the index hospitalization—about half received an echocardiogram, but only ~one in eight had spirometry and ~one in ten had sleep testing. These figures likely underestimate testing only slightly (e.g., in‑migrants), and they underscore a system‑level gap. Our CO₂‑PATH cohort (Post‑Acute Trajectories of Hypercapnia) is designed to define the denominator rigorously, follow trajectories after discharge, benchmark testing and outcomes across the state, and, crucially, help distinguish frailty markers from ventilatory targets that can alter risk.</a:t>
            </a:r>
          </a:p>
          <a:p>
            <a:br>
              <a:rPr lang="en-US" dirty="0"/>
            </a:br>
            <a:endParaRPr lang="en-US" dirty="0"/>
          </a:p>
          <a:p>
            <a:r>
              <a:rPr lang="en-US" dirty="0"/>
              <a:t>The usual post‑discharge workflow helps explain low completion rates. An inpatient team prescribes a home mechanical ventilator; the DME company receives the order and sends a respiratory therapist to set up equipment and educate the family; referrals go to PDNs and to pulmonary clinic; PFTs are typically ordered before the pulmonary visit; sleep referrals are placed and often misunderstood by patients who presented with daytime dyspnea. Many steps occur before any specialist discussion, and each step can derail. This argues for two parallel efforts: measure how the system is performing now (CO₂‑PATH) and move toward risk‑based referrals and early empiric management when indicated.</a:t>
            </a:r>
          </a:p>
          <a:p>
            <a:br>
              <a:rPr lang="en-US" dirty="0"/>
            </a:br>
            <a:endParaRPr lang="en-US" dirty="0"/>
          </a:p>
          <a:p>
            <a:r>
              <a:rPr lang="en-US" dirty="0"/>
              <a:t>Based on ICD counts, I estimate 5,000–6,000 hypercapnic respiratory failure cases present to acute care or ED settings within Intermountain annually. Not all require specialty care—some are transient, iatrogenic, or manageable in primary or general pulmonary care—but we need to identify the subset at high risk of readmission if we don’t intervene. AIM‑HIGH, which links Intermountain clinical data with Select Health claims, is designed to stratify that risk and target resources.</a:t>
            </a:r>
          </a:p>
          <a:p>
            <a:br>
              <a:rPr lang="en-US" dirty="0"/>
            </a:br>
            <a:endParaRPr lang="en-US" dirty="0"/>
          </a:p>
          <a:p>
            <a:r>
              <a:rPr lang="en-US" dirty="0"/>
              <a:t>In the Schmidt Clinic, I spend most of my time managing chronic respiratory failure. Our three main referral streams are high‑risk post‑discharge patients via the pulmonary disease navigators (Claire Davies and Megan Hepworth), internal referrals for potential NIV starts, and a neuromuscular clinic. We don’t have an ALS center at Intermountain, so those patients go to the university, but other neuromuscular patients come to our clinic. We could accept more referrals from PM&amp;R, post‑acute facilities, and patients initially triaged to sleep clinics for suspected OHS who are ultimately determined not to have a primary sleep‑breathing disorder. Much of this care can be handled remotely. Device downloads provide rich information; paired with video visits, we can deliver high‑fidelity care and potentially expand our geographic reach.</a:t>
            </a:r>
          </a:p>
          <a:p>
            <a:br>
              <a:rPr lang="en-US" dirty="0"/>
            </a:br>
            <a:endParaRPr lang="en-US" dirty="0"/>
          </a:p>
          <a:p>
            <a:r>
              <a:rPr lang="en-US" dirty="0"/>
              <a:t>To close, I want to clarify device categories and the new coverage rules. “Respiratory assist device” is a term coined when CPAP for sleep apnea and hospital ventilators had distinct roles; CMS wanted to avoid paying for home ventilators for the entire sleep apnea population. The community adopted “RAD” to signal that these were not ventilators. The technology has matured: modern RADs can do bilevel, backup rates, and volume‑assured pressure support (volume‑targeted pressure support). Some capabilities still require a home mechanical ventilator, such as AVAPS‑AE (volume assurance with adjustable EPAP) and other advanced modes used in severe disease. RADs typically cap maximum inspiratory pressures around 30 cm H₂O, which sounds high until you recall that contemporary COPD NIV trials have mean IPAPs in the mid‑20s and about a quarter of patients above 30. RAD settings can be changed remotely; HMV settings generally cannot. RADs are capped‑rental and eventually owned by the patient; HMVs fall under frequent‑and‑substantial‑servicing rental and include bundled respiratory therapy support.</a:t>
            </a:r>
          </a:p>
          <a:p>
            <a:br>
              <a:rPr lang="en-US" dirty="0"/>
            </a:br>
            <a:endParaRPr lang="en-US" dirty="0"/>
          </a:p>
          <a:p>
            <a:r>
              <a:rPr lang="en-US" dirty="0"/>
              <a:t>Historically, RAD qualification pathways were fragmented (restrictive thoracic disorders, hypercapnic COPD, hypoventilation), with requirements that often didn’t match the indication—for example, obligate nocturnal hypoxemia in COPD candidates. CMS recently approved a new national coverage determination. Neuromuscular criteria are unchanged: a qualifying diagnosis plus either hypercapnia, nocturnal hypoxemia, or spirometry criteria. The COPD bucket is now effectively “all chronic respiratory failure,” which is confusing but pragmatic. There are two paths: outpatient and discharge. The outpatient path doesn’t require PFTs; it does require stable daytime </a:t>
            </a:r>
            <a:r>
              <a:rPr lang="en-US" dirty="0" err="1"/>
              <a:t>PaCO</a:t>
            </a:r>
            <a:r>
              <a:rPr lang="en-US" dirty="0"/>
              <a:t>₂ ≥52 mmHg and a determination that sleep apnea isn’t the sole cause (not necessarily proven by polysomnography or nocturnal oximetry). The discharge path requires full RAD settings documented within 24 hours of discharge and a clinical judgment that the device is needed to avoid symptoms or rapid CO₂ rise. Both paths now include re‑qualification every six months, including average use of at least five hours per 24 hours and documented improvement in CO₂, exacerbations, or symptoms—which will increase clinic volume and require workflow adjustments.</a:t>
            </a:r>
          </a:p>
          <a:p>
            <a:br>
              <a:rPr lang="en-US" dirty="0"/>
            </a:br>
            <a:endParaRPr lang="en-US" dirty="0"/>
          </a:p>
          <a:p>
            <a:r>
              <a:rPr lang="en-US" dirty="0"/>
              <a:t>HMV previously had an easier bar: a qualifying condition plus a statement that interruption of support would quickly lead to serious harm or death. That disparity helped drive HMV use upward, not always because patients needed ventilators, but because RAD qualification was onerous. Under the updated rules, neuromuscular indications for HMV are unchanged. For non‑neuromuscular chronic respiratory failure, the outpatient path now requires meeting RAD criteria plus at least one additional need (an advanced mode, higher IPAP requirements, or failure of RAD), and in our setting, oxygen needs above roughly 36% (about 4 L/min) can also support the case when combined with one of those criteria. The discharge path hinges on documented inpatient use of the HMV within 24 hours and capabilities that exceed what a RAD can provide, with full settings documented. Ongoing follow‑up requirements align with those for RADs.</a:t>
            </a:r>
          </a:p>
          <a:p>
            <a:br>
              <a:rPr lang="en-US" dirty="0"/>
            </a:br>
            <a:endParaRPr lang="en-US" dirty="0"/>
          </a:p>
          <a:p>
            <a:r>
              <a:rPr lang="en-US" dirty="0"/>
              <a:t>If you’re interested in collaborating on hypercapnia research, have ideas about referrals, or want to discuss specific patients, please reach out in the EHR (soon via Epic) or by email. This is a team effort: our pulmonary disease navigators, Claire Davies and Megan Hepworth, do a tremendous amount of the day‑to‑day work, and our research partners span Intermountain, Select Health, the University of Utah, and UC Davis. I’m happy to take questions.</a:t>
            </a:r>
          </a:p>
          <a:p>
            <a:endParaRPr lang="en-US" dirty="0"/>
          </a:p>
        </p:txBody>
      </p:sp>
      <p:sp>
        <p:nvSpPr>
          <p:cNvPr id="4" name="Slide Number Placeholder 3"/>
          <p:cNvSpPr>
            <a:spLocks noGrp="1"/>
          </p:cNvSpPr>
          <p:nvPr>
            <p:ph type="sldNum" sz="quarter" idx="5"/>
          </p:nvPr>
        </p:nvSpPr>
        <p:spPr/>
        <p:txBody>
          <a:bodyPr/>
          <a:lstStyle/>
          <a:p>
            <a:fld id="{D9F161F6-7AD5-774A-B12A-C32F3626F083}" type="slidenum">
              <a:rPr lang="en-US" smtClean="0"/>
              <a:t>1</a:t>
            </a:fld>
            <a:endParaRPr lang="en-US"/>
          </a:p>
        </p:txBody>
      </p:sp>
    </p:spTree>
    <p:extLst>
      <p:ext uri="{BB962C8B-B14F-4D97-AF65-F5344CB8AC3E}">
        <p14:creationId xmlns:p14="http://schemas.microsoft.com/office/powerpoint/2010/main" val="32736449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5</a:t>
            </a:fld>
            <a:endParaRPr lang="en-US"/>
          </a:p>
        </p:txBody>
      </p:sp>
    </p:spTree>
    <p:extLst>
      <p:ext uri="{BB962C8B-B14F-4D97-AF65-F5344CB8AC3E}">
        <p14:creationId xmlns:p14="http://schemas.microsoft.com/office/powerpoint/2010/main" val="38791300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MOC Question: </a:t>
            </a:r>
          </a:p>
          <a:p>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In a 65-year-old patient with normally functioning lungs (assume a normal A–a gradient of 10 mmHg) who is breathing room air (FiO2 0.21) at Salt Lake City elevation (~4,000 ft; standard barometric pressure 656 mmHg. Using the simplified alveolar gas equation with PH2O 47 mmHg and respiratory quotient (RQ) 0.8), to what approximate PaCO2 would it need to rise before SpO2 is expected to drop below 90% (generally occurs when PaO2 is ~60 mmHg)? </a:t>
            </a:r>
          </a:p>
          <a:p>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A. 45 mmHg</a:t>
            </a:r>
          </a:p>
          <a:p>
            <a:r>
              <a:rPr lang="en-US" sz="1200" b="0" i="0" kern="1200" dirty="0">
                <a:solidFill>
                  <a:schemeClr val="tx1"/>
                </a:solidFill>
                <a:effectLst/>
                <a:latin typeface="+mn-lt"/>
                <a:ea typeface="+mn-ea"/>
                <a:cs typeface="+mn-cs"/>
              </a:rPr>
              <a:t>B. 55 mmHg</a:t>
            </a:r>
          </a:p>
          <a:p>
            <a:r>
              <a:rPr lang="en-US" sz="1200" b="0" i="0" kern="1200" dirty="0">
                <a:solidFill>
                  <a:schemeClr val="tx1"/>
                </a:solidFill>
                <a:effectLst/>
                <a:latin typeface="+mn-lt"/>
                <a:ea typeface="+mn-ea"/>
                <a:cs typeface="+mn-cs"/>
              </a:rPr>
              <a:t>C. 65 mmHg</a:t>
            </a:r>
          </a:p>
          <a:p>
            <a:r>
              <a:rPr lang="en-US" sz="1200" b="0" i="0" kern="1200" dirty="0">
                <a:solidFill>
                  <a:schemeClr val="tx1"/>
                </a:solidFill>
                <a:effectLst/>
                <a:latin typeface="+mn-lt"/>
                <a:ea typeface="+mn-ea"/>
                <a:cs typeface="+mn-cs"/>
              </a:rPr>
              <a:t>D. 75 mmHg</a:t>
            </a:r>
          </a:p>
          <a:p>
            <a:r>
              <a:rPr lang="en-US" sz="1200" b="0" i="0" kern="1200" dirty="0">
                <a:solidFill>
                  <a:schemeClr val="tx1"/>
                </a:solidFill>
                <a:effectLst/>
                <a:latin typeface="+mn-lt"/>
                <a:ea typeface="+mn-ea"/>
                <a:cs typeface="+mn-cs"/>
              </a:rPr>
              <a:t>E. 85 mmHg</a:t>
            </a:r>
          </a:p>
          <a:p>
            <a:r>
              <a:rPr lang="en-US" sz="1200" b="0" i="0" kern="1200" dirty="0">
                <a:solidFill>
                  <a:schemeClr val="tx1"/>
                </a:solidFill>
                <a:effectLst/>
                <a:latin typeface="+mn-lt"/>
                <a:ea typeface="+mn-ea"/>
                <a:cs typeface="+mn-cs"/>
              </a:rPr>
              <a:t>Correct answer: A. 45 mmHg</a:t>
            </a:r>
          </a:p>
          <a:p>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Rationale (with the math)</a:t>
            </a:r>
          </a:p>
          <a:p>
            <a:r>
              <a:rPr lang="en-US" sz="1200" b="0" i="0" kern="1200" dirty="0">
                <a:solidFill>
                  <a:schemeClr val="tx1"/>
                </a:solidFill>
                <a:effectLst/>
                <a:latin typeface="+mn-lt"/>
                <a:ea typeface="+mn-ea"/>
                <a:cs typeface="+mn-cs"/>
              </a:rPr>
              <a:t>Link SpO2 threshold to PaO2 threshold</a:t>
            </a:r>
          </a:p>
          <a:p>
            <a:r>
              <a:rPr lang="en-US" sz="1200" b="0" i="0" kern="1200" dirty="0">
                <a:solidFill>
                  <a:schemeClr val="tx1"/>
                </a:solidFill>
                <a:effectLst/>
                <a:latin typeface="+mn-lt"/>
                <a:ea typeface="+mn-ea"/>
                <a:cs typeface="+mn-cs"/>
              </a:rPr>
              <a:t>An SpO2 of ~90% corresponds to a PaO2 of ~60 mmHg on the standard oxyhemoglobin dissociation curve.  </a:t>
            </a:r>
          </a:p>
          <a:p>
            <a:r>
              <a:rPr lang="en-US" sz="1200" b="0" i="0" kern="1200" dirty="0">
                <a:solidFill>
                  <a:schemeClr val="tx1"/>
                </a:solidFill>
                <a:effectLst/>
                <a:latin typeface="+mn-lt"/>
                <a:ea typeface="+mn-ea"/>
                <a:cs typeface="+mn-cs"/>
              </a:rPr>
              <a:t>At 4,000 feet, standard barometric pressure is ≈ 656 mmHg</a:t>
            </a:r>
          </a:p>
          <a:p>
            <a:r>
              <a:rPr lang="en-US" sz="1200" b="0" i="0" kern="1200" dirty="0">
                <a:solidFill>
                  <a:schemeClr val="tx1"/>
                </a:solidFill>
                <a:effectLst/>
                <a:latin typeface="+mn-lt"/>
                <a:ea typeface="+mn-ea"/>
                <a:cs typeface="+mn-cs"/>
              </a:rPr>
              <a:t>Calculate inspired (humidified) oxygen partial pressure (PiO2)</a:t>
            </a:r>
          </a:p>
          <a:p>
            <a:r>
              <a:rPr lang="en-US" sz="1200" b="0" i="0" kern="1200" dirty="0">
                <a:solidFill>
                  <a:schemeClr val="tx1"/>
                </a:solidFill>
                <a:effectLst/>
                <a:latin typeface="+mn-lt"/>
                <a:ea typeface="+mn-ea"/>
                <a:cs typeface="+mn-cs"/>
              </a:rPr>
              <a:t>PiO2 = FiO2 × (Pb − PH2O)</a:t>
            </a:r>
          </a:p>
          <a:p>
            <a:r>
              <a:rPr lang="en-US" sz="1200" b="0" i="0" kern="1200" dirty="0">
                <a:solidFill>
                  <a:schemeClr val="tx1"/>
                </a:solidFill>
                <a:effectLst/>
                <a:latin typeface="+mn-lt"/>
                <a:ea typeface="+mn-ea"/>
                <a:cs typeface="+mn-cs"/>
              </a:rPr>
              <a:t>PiO2 = 0.21 × (656 − 47)</a:t>
            </a:r>
          </a:p>
          <a:p>
            <a:r>
              <a:rPr lang="en-US" sz="1200" b="0" i="0" kern="1200" dirty="0">
                <a:solidFill>
                  <a:schemeClr val="tx1"/>
                </a:solidFill>
                <a:effectLst/>
                <a:latin typeface="+mn-lt"/>
                <a:ea typeface="+mn-ea"/>
                <a:cs typeface="+mn-cs"/>
              </a:rPr>
              <a:t>PiO2 = 0.21 × 609</a:t>
            </a:r>
          </a:p>
          <a:p>
            <a:r>
              <a:rPr lang="en-US" sz="1200" b="0" i="0" kern="1200" dirty="0">
                <a:solidFill>
                  <a:schemeClr val="tx1"/>
                </a:solidFill>
                <a:effectLst/>
                <a:latin typeface="+mn-lt"/>
                <a:ea typeface="+mn-ea"/>
                <a:cs typeface="+mn-cs"/>
              </a:rPr>
              <a:t>PiO2 ≈ 128 mmHg</a:t>
            </a:r>
          </a:p>
          <a:p>
            <a:r>
              <a:rPr lang="en-US" sz="1200" b="0" i="0" kern="1200" dirty="0">
                <a:solidFill>
                  <a:schemeClr val="tx1"/>
                </a:solidFill>
                <a:effectLst/>
                <a:latin typeface="+mn-lt"/>
                <a:ea typeface="+mn-ea"/>
                <a:cs typeface="+mn-cs"/>
              </a:rPr>
              <a:t>Use the simplified alveolar gas equation (normal lungs: PaCO2 ≈ PACO2)</a:t>
            </a:r>
          </a:p>
          <a:p>
            <a:r>
              <a:rPr lang="en-US" sz="1200" b="0" i="0" kern="1200" dirty="0">
                <a:solidFill>
                  <a:schemeClr val="tx1"/>
                </a:solidFill>
                <a:effectLst/>
                <a:latin typeface="+mn-lt"/>
                <a:ea typeface="+mn-ea"/>
                <a:cs typeface="+mn-cs"/>
              </a:rPr>
              <a:t>PAO2 = FiO2 × (Pb − PH2O) − (PaCO2 / RQ)  </a:t>
            </a:r>
          </a:p>
          <a:p>
            <a:r>
              <a:rPr lang="en-US" sz="1200" b="0" i="0" kern="1200" dirty="0">
                <a:solidFill>
                  <a:schemeClr val="tx1"/>
                </a:solidFill>
                <a:effectLst/>
                <a:latin typeface="+mn-lt"/>
                <a:ea typeface="+mn-ea"/>
                <a:cs typeface="+mn-cs"/>
              </a:rPr>
              <a:t>So, at this altitude on room air:</a:t>
            </a:r>
          </a:p>
          <a:p>
            <a:r>
              <a:rPr lang="en-US" sz="1200" b="0" i="0" kern="1200" dirty="0">
                <a:solidFill>
                  <a:schemeClr val="tx1"/>
                </a:solidFill>
                <a:effectLst/>
                <a:latin typeface="+mn-lt"/>
                <a:ea typeface="+mn-ea"/>
                <a:cs typeface="+mn-cs"/>
              </a:rPr>
              <a:t>PAO2 ≈ 128 − (PaCO2 / 0.8)</a:t>
            </a:r>
          </a:p>
          <a:p>
            <a:r>
              <a:rPr lang="en-US" sz="1200" b="0" i="0" kern="1200" dirty="0">
                <a:solidFill>
                  <a:schemeClr val="tx1"/>
                </a:solidFill>
                <a:effectLst/>
                <a:latin typeface="+mn-lt"/>
                <a:ea typeface="+mn-ea"/>
                <a:cs typeface="+mn-cs"/>
              </a:rPr>
              <a:t>PAO2 ≈ 128 − 1.25 × PaCO2</a:t>
            </a:r>
          </a:p>
          <a:p>
            <a:r>
              <a:rPr lang="en-US" sz="1200" b="0" i="0" kern="1200" dirty="0">
                <a:solidFill>
                  <a:schemeClr val="tx1"/>
                </a:solidFill>
                <a:effectLst/>
                <a:latin typeface="+mn-lt"/>
                <a:ea typeface="+mn-ea"/>
                <a:cs typeface="+mn-cs"/>
              </a:rPr>
              <a:t>Convert PaO2 target (60 mmHg) into an alveolar (PAO2) target using the assumed normal A–a gradient</a:t>
            </a:r>
          </a:p>
          <a:p>
            <a:r>
              <a:rPr lang="en-US" sz="1200" b="0" i="0" kern="1200" dirty="0">
                <a:solidFill>
                  <a:schemeClr val="tx1"/>
                </a:solidFill>
                <a:effectLst/>
                <a:latin typeface="+mn-lt"/>
                <a:ea typeface="+mn-ea"/>
                <a:cs typeface="+mn-cs"/>
              </a:rPr>
              <a:t>PaO2 = PAO2 − (A–a)</a:t>
            </a:r>
          </a:p>
          <a:p>
            <a:r>
              <a:rPr lang="en-US" sz="1200" b="0" i="0" kern="1200" dirty="0">
                <a:solidFill>
                  <a:schemeClr val="tx1"/>
                </a:solidFill>
                <a:effectLst/>
                <a:latin typeface="+mn-lt"/>
                <a:ea typeface="+mn-ea"/>
                <a:cs typeface="+mn-cs"/>
              </a:rPr>
              <a:t>60 = PAO2 − 10</a:t>
            </a:r>
          </a:p>
          <a:p>
            <a:r>
              <a:rPr lang="en-US" sz="1200" b="0" i="0" kern="1200" dirty="0">
                <a:solidFill>
                  <a:schemeClr val="tx1"/>
                </a:solidFill>
                <a:effectLst/>
                <a:latin typeface="+mn-lt"/>
                <a:ea typeface="+mn-ea"/>
                <a:cs typeface="+mn-cs"/>
              </a:rPr>
              <a:t>Therefore, PAO2 ≈ 70 mmHg</a:t>
            </a:r>
          </a:p>
          <a:p>
            <a:r>
              <a:rPr lang="en-US" sz="1200" b="0" i="0" kern="1200" dirty="0">
                <a:solidFill>
                  <a:schemeClr val="tx1"/>
                </a:solidFill>
                <a:effectLst/>
                <a:latin typeface="+mn-lt"/>
                <a:ea typeface="+mn-ea"/>
                <a:cs typeface="+mn-cs"/>
              </a:rPr>
              <a:t>Solve for PaCO2 at the point where PAO2 ≈ 70 mmHg</a:t>
            </a:r>
          </a:p>
          <a:p>
            <a:r>
              <a:rPr lang="en-US" sz="1200" b="0" i="0" kern="1200" dirty="0">
                <a:solidFill>
                  <a:schemeClr val="tx1"/>
                </a:solidFill>
                <a:effectLst/>
                <a:latin typeface="+mn-lt"/>
                <a:ea typeface="+mn-ea"/>
                <a:cs typeface="+mn-cs"/>
              </a:rPr>
              <a:t>70 = 128 − (PaCO2 / 0.8)</a:t>
            </a:r>
          </a:p>
          <a:p>
            <a:r>
              <a:rPr lang="en-US" sz="1200" b="0" i="0" kern="1200" dirty="0">
                <a:solidFill>
                  <a:schemeClr val="tx1"/>
                </a:solidFill>
                <a:effectLst/>
                <a:latin typeface="+mn-lt"/>
                <a:ea typeface="+mn-ea"/>
                <a:cs typeface="+mn-cs"/>
              </a:rPr>
              <a:t>PaCO2 / 0.8 = 128 − 70 = 58</a:t>
            </a:r>
          </a:p>
          <a:p>
            <a:r>
              <a:rPr lang="en-US" sz="1200" b="0" i="0" kern="1200" dirty="0">
                <a:solidFill>
                  <a:schemeClr val="tx1"/>
                </a:solidFill>
                <a:effectLst/>
                <a:latin typeface="+mn-lt"/>
                <a:ea typeface="+mn-ea"/>
                <a:cs typeface="+mn-cs"/>
              </a:rPr>
              <a:t>PaCO2 = 58 × 0.8 = 46.4 mmHg</a:t>
            </a:r>
          </a:p>
          <a:p>
            <a:r>
              <a:rPr lang="en-US" sz="1200" b="0" i="0" kern="1200" dirty="0">
                <a:solidFill>
                  <a:schemeClr val="tx1"/>
                </a:solidFill>
                <a:effectLst/>
                <a:latin typeface="+mn-lt"/>
                <a:ea typeface="+mn-ea"/>
                <a:cs typeface="+mn-cs"/>
              </a:rPr>
              <a:t>Conclusion: PaCO2 would need to rise to ~46 mmHg for SpO2 to be expected to fall below 90%, given the stated assumptions. At our elevation, even mild elevations in PaCO2 lead to hypoxemia, regardless whether additional lung pathology is present.</a:t>
            </a: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Hendrix JM, Burns B. Alveolar Gas Equation. </a:t>
            </a:r>
            <a:r>
              <a:rPr lang="en-US" sz="1200" b="0" i="0" kern="1200" dirty="0" err="1">
                <a:solidFill>
                  <a:schemeClr val="tx1"/>
                </a:solidFill>
                <a:effectLst/>
                <a:latin typeface="+mn-lt"/>
                <a:ea typeface="+mn-ea"/>
                <a:cs typeface="+mn-cs"/>
              </a:rPr>
              <a:t>StatPearls</a:t>
            </a:r>
            <a:r>
              <a:rPr lang="en-US" sz="1200" b="0" i="0" kern="1200" dirty="0">
                <a:solidFill>
                  <a:schemeClr val="tx1"/>
                </a:solidFill>
                <a:effectLst/>
                <a:latin typeface="+mn-lt"/>
                <a:ea typeface="+mn-ea"/>
                <a:cs typeface="+mn-cs"/>
              </a:rPr>
              <a:t> [Internet]. Updated Sep 11, 2024.</a:t>
            </a:r>
          </a:p>
          <a:p>
            <a:r>
              <a:rPr lang="en-US" sz="1200" b="0" i="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7</a:t>
            </a:fld>
            <a:endParaRPr lang="en-US"/>
          </a:p>
        </p:txBody>
      </p:sp>
    </p:spTree>
    <p:extLst>
      <p:ext uri="{BB962C8B-B14F-4D97-AF65-F5344CB8AC3E}">
        <p14:creationId xmlns:p14="http://schemas.microsoft.com/office/powerpoint/2010/main" val="21735719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also makes sense why these people might be so frail and prone to readmission… as your PaCO2 goes up, your buffer goes down. In fact, that’s probably why we’re evolved to hyperventilate with altitude. – called </a:t>
            </a:r>
            <a:r>
              <a:rPr lang="en-US" sz="1200" b="0" i="0" kern="1200" dirty="0">
                <a:solidFill>
                  <a:schemeClr val="tx1"/>
                </a:solidFill>
                <a:effectLst/>
                <a:latin typeface="+mn-lt"/>
                <a:ea typeface="+mn-ea"/>
                <a:cs typeface="+mn-cs"/>
              </a:rPr>
              <a:t>referred to as “ventilatory acclimatization” (</a:t>
            </a:r>
            <a:r>
              <a:rPr lang="en-US" sz="1200" b="0" i="0" u="none" strike="noStrike" kern="1200" dirty="0">
                <a:solidFill>
                  <a:schemeClr val="tx1"/>
                </a:solidFill>
                <a:effectLst/>
                <a:latin typeface="+mn-lt"/>
                <a:ea typeface="+mn-ea"/>
                <a:cs typeface="+mn-cs"/>
                <a:hlinkClick r:id="rId3"/>
              </a:rPr>
              <a:t>92</a:t>
            </a:r>
            <a:r>
              <a:rPr lang="en-US" sz="1200" b="0" i="0" kern="1200" dirty="0">
                <a:solidFill>
                  <a:schemeClr val="tx1"/>
                </a:solidFill>
                <a:effectLst/>
                <a:latin typeface="+mn-lt"/>
                <a:ea typeface="+mn-ea"/>
                <a:cs typeface="+mn-cs"/>
              </a:rPr>
              <a:t>).</a:t>
            </a:r>
          </a:p>
          <a:p>
            <a:endParaRPr lang="en-US" dirty="0"/>
          </a:p>
          <a:p>
            <a:pPr marL="285750" indent="-285750">
              <a:buFont typeface="Arial" panose="020B0604020202020204" pitchFamily="34" charset="0"/>
              <a:buChar char="•"/>
            </a:pPr>
            <a:r>
              <a:rPr lang="en-US" dirty="0"/>
              <a:t>SpO2 &lt;90% catches people’s attention</a:t>
            </a:r>
          </a:p>
          <a:p>
            <a:pPr marL="285750" indent="-285750">
              <a:buFont typeface="Arial" panose="020B0604020202020204" pitchFamily="34" charset="0"/>
              <a:buChar char="•"/>
            </a:pPr>
            <a:r>
              <a:rPr lang="en-US" dirty="0"/>
              <a:t>Corresponds to a PaO2 of ~55 mmHg (depending exactly on the individual’s oxygen hemoglobin dissociation curve. </a:t>
            </a:r>
          </a:p>
          <a:p>
            <a:pPr marL="285750" indent="-285750">
              <a:buFont typeface="Arial" panose="020B0604020202020204" pitchFamily="34" charset="0"/>
              <a:buChar char="•"/>
            </a:pPr>
            <a:r>
              <a:rPr lang="en-US" dirty="0"/>
              <a:t>Normal A-a gradient? 4 + (0.25 * Age) </a:t>
            </a:r>
          </a:p>
          <a:p>
            <a:pPr marL="742950" lvl="1" indent="-285750">
              <a:buFont typeface="Arial" panose="020B0604020202020204" pitchFamily="34" charset="0"/>
              <a:buChar char="•"/>
            </a:pPr>
            <a:r>
              <a:rPr lang="en-US" dirty="0"/>
              <a:t>Critical PAO2 = paO2 + (Normal A-a gradient)</a:t>
            </a:r>
          </a:p>
          <a:p>
            <a:pPr marL="742950" lvl="1" indent="-285750">
              <a:buFont typeface="Arial" panose="020B0604020202020204" pitchFamily="34" charset="0"/>
              <a:buChar char="•"/>
            </a:pPr>
            <a:r>
              <a:rPr lang="en-US" dirty="0"/>
              <a:t>Critical PAO2 = 51 + 0.25 * Age</a:t>
            </a:r>
          </a:p>
          <a:p>
            <a:pPr marL="742950" lvl="1" indent="-285750">
              <a:buFont typeface="Arial" panose="020B0604020202020204" pitchFamily="34" charset="0"/>
              <a:buChar char="•"/>
            </a:pPr>
            <a:endParaRPr lang="en-US" dirty="0"/>
          </a:p>
          <a:p>
            <a:r>
              <a:rPr lang="en-US" sz="1200" dirty="0"/>
              <a:t>PA</a:t>
            </a:r>
            <a:r>
              <a:rPr lang="en-US" sz="1200" baseline="-25000" dirty="0"/>
              <a:t>O2</a:t>
            </a:r>
            <a:r>
              <a:rPr lang="en-US" sz="1200" dirty="0"/>
              <a:t> = (</a:t>
            </a:r>
            <a:r>
              <a:rPr lang="en-US" sz="1200" dirty="0" err="1"/>
              <a:t>P</a:t>
            </a:r>
            <a:r>
              <a:rPr lang="en-US" sz="1200" baseline="-25000" dirty="0" err="1"/>
              <a:t>atm</a:t>
            </a:r>
            <a:r>
              <a:rPr lang="en-US" sz="1200" dirty="0"/>
              <a:t> – P</a:t>
            </a:r>
            <a:r>
              <a:rPr lang="en-US" sz="1200" baseline="-25000" dirty="0"/>
              <a:t>H2O</a:t>
            </a:r>
            <a:r>
              <a:rPr lang="en-US" sz="1200" dirty="0"/>
              <a:t>) * Fi</a:t>
            </a:r>
            <a:r>
              <a:rPr lang="en-US" sz="1200" baseline="-25000" dirty="0"/>
              <a:t>O2</a:t>
            </a:r>
            <a:r>
              <a:rPr lang="en-US" sz="1200" dirty="0"/>
              <a:t> – (Pa</a:t>
            </a:r>
            <a:r>
              <a:rPr lang="en-US" sz="1200" baseline="-25000" dirty="0"/>
              <a:t>CO2</a:t>
            </a:r>
            <a:r>
              <a:rPr lang="en-US" sz="1200" dirty="0"/>
              <a:t> / RQ) + Fi</a:t>
            </a:r>
            <a:r>
              <a:rPr lang="en-US" sz="1200" baseline="-25000" dirty="0"/>
              <a:t>O2</a:t>
            </a:r>
            <a:r>
              <a:rPr lang="en-US" sz="1200" dirty="0"/>
              <a:t> * Pa</a:t>
            </a:r>
            <a:r>
              <a:rPr lang="en-US" sz="1200" baseline="-25000" dirty="0"/>
              <a:t>CO2</a:t>
            </a:r>
            <a:r>
              <a:rPr lang="en-US" sz="1200" dirty="0"/>
              <a:t> * (1-RQ)/RQ</a:t>
            </a:r>
          </a:p>
          <a:p>
            <a:r>
              <a:rPr lang="en-US" sz="1200" dirty="0"/>
              <a:t>PA</a:t>
            </a:r>
            <a:r>
              <a:rPr lang="en-US" sz="1200" baseline="-25000" dirty="0"/>
              <a:t>O2</a:t>
            </a:r>
            <a:r>
              <a:rPr lang="en-US" sz="1200" dirty="0"/>
              <a:t> = (650 – 47) * 0.21 – (Pa</a:t>
            </a:r>
            <a:r>
              <a:rPr lang="en-US" sz="1200" baseline="-25000" dirty="0"/>
              <a:t>CO2</a:t>
            </a:r>
            <a:r>
              <a:rPr lang="en-US" sz="1200" dirty="0"/>
              <a:t> / 0.8) + 0.21 * Pa</a:t>
            </a:r>
            <a:r>
              <a:rPr lang="en-US" sz="1200" baseline="-25000" dirty="0"/>
              <a:t>CO2</a:t>
            </a:r>
            <a:r>
              <a:rPr lang="en-US" sz="1200" dirty="0"/>
              <a:t> * (1-0.8)/0.8</a:t>
            </a:r>
          </a:p>
          <a:p>
            <a:r>
              <a:rPr lang="en-US" sz="1200" dirty="0"/>
              <a:t>PA</a:t>
            </a:r>
            <a:r>
              <a:rPr lang="en-US" sz="1200" baseline="-25000" dirty="0"/>
              <a:t>O2</a:t>
            </a:r>
            <a:r>
              <a:rPr lang="en-US" sz="1200" dirty="0"/>
              <a:t> = 126.63 – (Pa</a:t>
            </a:r>
            <a:r>
              <a:rPr lang="en-US" sz="1200" baseline="-25000" dirty="0"/>
              <a:t>CO2</a:t>
            </a:r>
            <a:r>
              <a:rPr lang="en-US" sz="1200" dirty="0"/>
              <a:t> / 0.8) + 0.05 * Pa</a:t>
            </a:r>
            <a:r>
              <a:rPr lang="en-US" sz="1200" baseline="-25000" dirty="0"/>
              <a:t>CO2</a:t>
            </a:r>
          </a:p>
          <a:p>
            <a:r>
              <a:rPr lang="en-US" sz="1200" dirty="0"/>
              <a:t>PA</a:t>
            </a:r>
            <a:r>
              <a:rPr lang="en-US" sz="1200" baseline="-25000" dirty="0"/>
              <a:t>O2</a:t>
            </a:r>
            <a:r>
              <a:rPr lang="en-US" sz="1200" dirty="0"/>
              <a:t> = 126.63 – 1.3 * Pa</a:t>
            </a:r>
            <a:r>
              <a:rPr lang="en-US" sz="1200" baseline="-25000" dirty="0"/>
              <a:t>CO2</a:t>
            </a:r>
          </a:p>
          <a:p>
            <a:pPr marL="742950" lvl="1" indent="-285750">
              <a:buFont typeface="Arial" panose="020B0604020202020204" pitchFamily="34" charset="0"/>
              <a:buChar char="•"/>
            </a:pPr>
            <a:endParaRPr lang="en-US" dirty="0"/>
          </a:p>
          <a:p>
            <a:r>
              <a:rPr lang="en-US" b="1" dirty="0"/>
              <a:t>At 4500 ft: </a:t>
            </a:r>
          </a:p>
          <a:p>
            <a:r>
              <a:rPr lang="en-US" b="1" dirty="0"/>
              <a:t>PaCO2 = 58.17 - 0.19 * Age</a:t>
            </a:r>
          </a:p>
          <a:p>
            <a:endParaRPr lang="en-US" b="1" dirty="0"/>
          </a:p>
          <a:p>
            <a:r>
              <a:rPr lang="en-US" b="1" dirty="0"/>
              <a:t>At seal Level: </a:t>
            </a:r>
          </a:p>
          <a:p>
            <a:r>
              <a:rPr lang="en-US" b="1" dirty="0"/>
              <a:t>PaCO2 = 75.95 – 0.19 * Age</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endParaRPr lang="en-US" dirty="0"/>
          </a:p>
          <a:p>
            <a:endParaRPr lang="en-US" dirty="0"/>
          </a:p>
        </p:txBody>
      </p:sp>
      <p:sp>
        <p:nvSpPr>
          <p:cNvPr id="4" name="Slide Number Placeholder 3"/>
          <p:cNvSpPr>
            <a:spLocks noGrp="1"/>
          </p:cNvSpPr>
          <p:nvPr>
            <p:ph type="sldNum" sz="quarter" idx="5"/>
          </p:nvPr>
        </p:nvSpPr>
        <p:spPr/>
        <p:txBody>
          <a:bodyPr/>
          <a:lstStyle/>
          <a:p>
            <a:fld id="{7403EE7C-1652-A945-8822-E1AE5A6DA30F}" type="slidenum">
              <a:rPr lang="en-US" smtClean="0"/>
              <a:t>8</a:t>
            </a:fld>
            <a:endParaRPr lang="en-US"/>
          </a:p>
        </p:txBody>
      </p:sp>
    </p:spTree>
    <p:extLst>
      <p:ext uri="{BB962C8B-B14F-4D97-AF65-F5344CB8AC3E}">
        <p14:creationId xmlns:p14="http://schemas.microsoft.com/office/powerpoint/2010/main" val="19739737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u="none" kern="1200" dirty="0">
                <a:solidFill>
                  <a:schemeClr val="tx1"/>
                </a:solidFill>
                <a:effectLst/>
                <a:latin typeface="+mn-lt"/>
                <a:ea typeface="+mn-ea"/>
                <a:cs typeface="+mn-cs"/>
              </a:rPr>
              <a:t>Nation-wide &lt;1% of hypercapnia is “hypercapnic respiratory success” per </a:t>
            </a:r>
            <a:r>
              <a:rPr lang="en-US" sz="1200" u="none" kern="1200" dirty="0" err="1">
                <a:solidFill>
                  <a:schemeClr val="tx1"/>
                </a:solidFill>
                <a:effectLst/>
                <a:latin typeface="+mn-lt"/>
                <a:ea typeface="+mn-ea"/>
                <a:cs typeface="+mn-cs"/>
              </a:rPr>
              <a:t>trinetx</a:t>
            </a:r>
            <a:r>
              <a:rPr lang="en-US" sz="1200" u="none" kern="1200" dirty="0">
                <a:solidFill>
                  <a:schemeClr val="tx1"/>
                </a:solidFill>
                <a:effectLst/>
                <a:latin typeface="+mn-lt"/>
                <a:ea typeface="+mn-ea"/>
                <a:cs typeface="+mn-cs"/>
              </a:rPr>
              <a:t> data</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9</a:t>
            </a:fld>
            <a:endParaRPr lang="en-US"/>
          </a:p>
        </p:txBody>
      </p:sp>
    </p:spTree>
    <p:extLst>
      <p:ext uri="{BB962C8B-B14F-4D97-AF65-F5344CB8AC3E}">
        <p14:creationId xmlns:p14="http://schemas.microsoft.com/office/powerpoint/2010/main" val="22443920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u="sng" kern="1200" dirty="0">
                <a:solidFill>
                  <a:schemeClr val="tx1"/>
                </a:solidFill>
                <a:effectLst/>
                <a:latin typeface="+mn-lt"/>
                <a:ea typeface="+mn-ea"/>
                <a:cs typeface="+mn-cs"/>
              </a:rPr>
              <a:t>How common is hypercapnic respiratory failure? </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 Chung et al estimate -</a:t>
            </a:r>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10</a:t>
            </a:fld>
            <a:endParaRPr lang="en-US"/>
          </a:p>
        </p:txBody>
      </p:sp>
    </p:spTree>
    <p:extLst>
      <p:ext uri="{BB962C8B-B14F-4D97-AF65-F5344CB8AC3E}">
        <p14:creationId xmlns:p14="http://schemas.microsoft.com/office/powerpoint/2010/main" val="6051993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u="sng" kern="1200" dirty="0">
                <a:solidFill>
                  <a:schemeClr val="tx1"/>
                </a:solidFill>
                <a:effectLst/>
                <a:latin typeface="+mn-lt"/>
                <a:ea typeface="+mn-ea"/>
                <a:cs typeface="+mn-cs"/>
              </a:rPr>
              <a:t>What are the consequences of having hypercapnic respiratory failure? </a:t>
            </a:r>
            <a:endParaRPr lang="en-US" sz="1200" kern="1200" dirty="0">
              <a:solidFill>
                <a:schemeClr val="tx1"/>
              </a:solidFill>
              <a:effectLst/>
              <a:latin typeface="+mn-lt"/>
              <a:ea typeface="+mn-ea"/>
              <a:cs typeface="+mn-cs"/>
            </a:endParaRPr>
          </a:p>
          <a:p>
            <a:br>
              <a:rPr lang="en-US" sz="120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11</a:t>
            </a:fld>
            <a:endParaRPr lang="en-US"/>
          </a:p>
        </p:txBody>
      </p:sp>
    </p:spTree>
    <p:extLst>
      <p:ext uri="{BB962C8B-B14F-4D97-AF65-F5344CB8AC3E}">
        <p14:creationId xmlns:p14="http://schemas.microsoft.com/office/powerpoint/2010/main" val="13433831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F4F0C85-FC02-4C4E-8B1A-6BB950A69184}" type="slidenum">
              <a:rPr lang="en-US" smtClean="0"/>
              <a:t>16</a:t>
            </a:fld>
            <a:endParaRPr lang="en-US"/>
          </a:p>
        </p:txBody>
      </p:sp>
    </p:spTree>
    <p:extLst>
      <p:ext uri="{BB962C8B-B14F-4D97-AF65-F5344CB8AC3E}">
        <p14:creationId xmlns:p14="http://schemas.microsoft.com/office/powerpoint/2010/main" val="2112914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17</a:t>
            </a:fld>
            <a:endParaRPr lang="en-US"/>
          </a:p>
        </p:txBody>
      </p:sp>
    </p:spTree>
    <p:extLst>
      <p:ext uri="{BB962C8B-B14F-4D97-AF65-F5344CB8AC3E}">
        <p14:creationId xmlns:p14="http://schemas.microsoft.com/office/powerpoint/2010/main" val="33732822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Hege makes the point about opiates – open question how much of a population impact this has on CHRONIC respiratory failure – for e.g. https://</a:t>
            </a:r>
            <a:r>
              <a:rPr lang="en-US" dirty="0" err="1"/>
              <a:t>pmc.ncbi.nlm.nih.gov</a:t>
            </a:r>
            <a:r>
              <a:rPr lang="en-US" dirty="0"/>
              <a:t>/articles/PMC10503117/ suggests not so much. </a:t>
            </a:r>
          </a:p>
          <a:p>
            <a:r>
              <a:rPr lang="en-US" dirty="0"/>
              <a:t>We are looking at this in the CO2-PATH cohort.</a:t>
            </a:r>
          </a:p>
        </p:txBody>
      </p:sp>
      <p:sp>
        <p:nvSpPr>
          <p:cNvPr id="4" name="Slide Number Placeholder 3"/>
          <p:cNvSpPr>
            <a:spLocks noGrp="1"/>
          </p:cNvSpPr>
          <p:nvPr>
            <p:ph type="sldNum" sz="quarter" idx="5"/>
          </p:nvPr>
        </p:nvSpPr>
        <p:spPr/>
        <p:txBody>
          <a:bodyPr/>
          <a:lstStyle/>
          <a:p>
            <a:fld id="{7F4F0C85-FC02-4C4E-8B1A-6BB950A69184}" type="slidenum">
              <a:rPr lang="en-US" smtClean="0"/>
              <a:t>19</a:t>
            </a:fld>
            <a:endParaRPr lang="en-US"/>
          </a:p>
        </p:txBody>
      </p:sp>
    </p:spTree>
    <p:extLst>
      <p:ext uri="{BB962C8B-B14F-4D97-AF65-F5344CB8AC3E}">
        <p14:creationId xmlns:p14="http://schemas.microsoft.com/office/powerpoint/2010/main" val="512790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E131E-07F3-5664-79C0-FDB531D95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595914-BACB-DBC9-2EEC-E9A62FF68E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7C25D0-3E9B-15BC-C3E2-B326440FDDA4}"/>
              </a:ext>
            </a:extLst>
          </p:cNvPr>
          <p:cNvSpPr>
            <a:spLocks noGrp="1"/>
          </p:cNvSpPr>
          <p:nvPr>
            <p:ph type="body" idx="1"/>
          </p:nvPr>
        </p:nvSpPr>
        <p:spPr/>
        <p:txBody>
          <a:bodyPr/>
          <a:lstStyle/>
          <a:p>
            <a:pPr marL="171450" indent="-171450">
              <a:buFontTx/>
              <a:buChar char="-"/>
            </a:pPr>
            <a:endParaRPr lang="en-US" dirty="0"/>
          </a:p>
        </p:txBody>
      </p:sp>
      <p:sp>
        <p:nvSpPr>
          <p:cNvPr id="4" name="Slide Number Placeholder 3">
            <a:extLst>
              <a:ext uri="{FF2B5EF4-FFF2-40B4-BE49-F238E27FC236}">
                <a16:creationId xmlns:a16="http://schemas.microsoft.com/office/drawing/2014/main" id="{5FBBA1CA-A056-27F6-9D71-C9F9F6B2D3DF}"/>
              </a:ext>
            </a:extLst>
          </p:cNvPr>
          <p:cNvSpPr>
            <a:spLocks noGrp="1"/>
          </p:cNvSpPr>
          <p:nvPr>
            <p:ph type="sldNum" sz="quarter" idx="5"/>
          </p:nvPr>
        </p:nvSpPr>
        <p:spPr/>
        <p:txBody>
          <a:bodyPr/>
          <a:lstStyle/>
          <a:p>
            <a:fld id="{7F4F0C85-FC02-4C4E-8B1A-6BB950A69184}" type="slidenum">
              <a:rPr lang="en-US" smtClean="0"/>
              <a:t>21</a:t>
            </a:fld>
            <a:endParaRPr lang="en-US"/>
          </a:p>
        </p:txBody>
      </p:sp>
    </p:spTree>
    <p:extLst>
      <p:ext uri="{BB962C8B-B14F-4D97-AF65-F5344CB8AC3E}">
        <p14:creationId xmlns:p14="http://schemas.microsoft.com/office/powerpoint/2010/main" val="20425201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D1DCE-ABE6-F683-F504-F77802768C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EF973D-96EB-FD63-BC61-517D5F4023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D05344-503A-DF9B-0EBE-3DB966FA2C14}"/>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2356D85D-AF4E-E4F3-0036-9406490C3155}"/>
              </a:ext>
            </a:extLst>
          </p:cNvPr>
          <p:cNvSpPr>
            <a:spLocks noGrp="1"/>
          </p:cNvSpPr>
          <p:nvPr>
            <p:ph type="sldNum" sz="quarter" idx="5"/>
          </p:nvPr>
        </p:nvSpPr>
        <p:spPr/>
        <p:txBody>
          <a:bodyPr/>
          <a:lstStyle/>
          <a:p>
            <a:fld id="{7F4F0C85-FC02-4C4E-8B1A-6BB950A69184}" type="slidenum">
              <a:rPr lang="en-US" smtClean="0"/>
              <a:t>22</a:t>
            </a:fld>
            <a:endParaRPr lang="en-US"/>
          </a:p>
        </p:txBody>
      </p:sp>
    </p:spTree>
    <p:extLst>
      <p:ext uri="{BB962C8B-B14F-4D97-AF65-F5344CB8AC3E}">
        <p14:creationId xmlns:p14="http://schemas.microsoft.com/office/powerpoint/2010/main" val="459515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23</a:t>
            </a:fld>
            <a:endParaRPr lang="en-US"/>
          </a:p>
        </p:txBody>
      </p:sp>
    </p:spTree>
    <p:extLst>
      <p:ext uri="{BB962C8B-B14F-4D97-AF65-F5344CB8AC3E}">
        <p14:creationId xmlns:p14="http://schemas.microsoft.com/office/powerpoint/2010/main" val="24025202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24</a:t>
            </a:fld>
            <a:endParaRPr lang="en-US"/>
          </a:p>
        </p:txBody>
      </p:sp>
    </p:spTree>
    <p:extLst>
      <p:ext uri="{BB962C8B-B14F-4D97-AF65-F5344CB8AC3E}">
        <p14:creationId xmlns:p14="http://schemas.microsoft.com/office/powerpoint/2010/main" val="11860218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Each breath with a higher PaCO2 will contain more CO2 particles -&gt; more efficient ventilation with higher blood CO2.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Ventilation is metabolically expensive- why not operate at a higher set point?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Hint: what is the evolutionary advantage of the goal PaCO</a:t>
            </a:r>
            <a:r>
              <a:rPr lang="en-US" sz="1200" baseline="-25000" dirty="0"/>
              <a:t>2</a:t>
            </a:r>
            <a:r>
              <a:rPr lang="en-US" sz="1200" dirty="0"/>
              <a:t> being lower in SLC (~33 mmHg) than sea level? </a:t>
            </a:r>
            <a:endParaRPr lang="en-US" dirty="0"/>
          </a:p>
          <a:p>
            <a:r>
              <a:rPr lang="en-US" sz="1200" dirty="0"/>
              <a:t>Consider: why does permissive hypercapnia work? (higher VE VCO2)</a:t>
            </a:r>
          </a:p>
          <a:p>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mere existence of chronic hypercapnic respiratory failure tells you its not immediately fatal.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Chronic can occur if: The ventilatory control system has decided to tolerate a higher PaCO2, either because the feedback mechanisms aren’t working (opiates) or it’s suboptimal to try to defend the CO2 level (</a:t>
            </a:r>
            <a:r>
              <a:rPr lang="en-US" sz="1200" kern="1200" dirty="0" err="1">
                <a:solidFill>
                  <a:schemeClr val="tx1"/>
                </a:solidFill>
                <a:effectLst/>
                <a:latin typeface="+mn-lt"/>
                <a:ea typeface="+mn-ea"/>
                <a:cs typeface="+mn-cs"/>
              </a:rPr>
              <a:t>ie</a:t>
            </a:r>
            <a:r>
              <a:rPr lang="en-US" sz="1200" kern="1200" dirty="0">
                <a:solidFill>
                  <a:schemeClr val="tx1"/>
                </a:solidFill>
                <a:effectLst/>
                <a:latin typeface="+mn-lt"/>
                <a:ea typeface="+mn-ea"/>
                <a:cs typeface="+mn-cs"/>
              </a:rPr>
              <a:t>. metabolically expensive – severe COPD or OHS)</a:t>
            </a:r>
          </a:p>
          <a:p>
            <a:endParaRPr lang="en-US" dirty="0"/>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27</a:t>
            </a:fld>
            <a:endParaRPr lang="en-US"/>
          </a:p>
        </p:txBody>
      </p:sp>
    </p:spTree>
    <p:extLst>
      <p:ext uri="{BB962C8B-B14F-4D97-AF65-F5344CB8AC3E}">
        <p14:creationId xmlns:p14="http://schemas.microsoft.com/office/powerpoint/2010/main" val="18640496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Use of a noninvasive ventilator in the home setting may be considered medically necessary when both of the following criteria are met (A. and B.):</a:t>
            </a:r>
          </a:p>
          <a:p>
            <a:r>
              <a:rPr lang="en-US" sz="1200" kern="1200" dirty="0">
                <a:solidFill>
                  <a:schemeClr val="tx1"/>
                </a:solidFill>
                <a:effectLst/>
                <a:latin typeface="+mn-lt"/>
                <a:ea typeface="+mn-ea"/>
                <a:cs typeface="+mn-cs"/>
              </a:rPr>
              <a:t>A. The device is being requested to treat any of the following</a:t>
            </a:r>
          </a:p>
          <a:p>
            <a:r>
              <a:rPr lang="en-US" sz="1200" kern="1200" dirty="0">
                <a:solidFill>
                  <a:schemeClr val="tx1"/>
                </a:solidFill>
                <a:effectLst/>
                <a:latin typeface="+mn-lt"/>
                <a:ea typeface="+mn-ea"/>
                <a:cs typeface="+mn-cs"/>
              </a:rPr>
              <a:t>Indications:</a:t>
            </a:r>
          </a:p>
          <a:p>
            <a:r>
              <a:rPr lang="en-US" sz="1200" kern="1200" dirty="0">
                <a:solidFill>
                  <a:schemeClr val="tx1"/>
                </a:solidFill>
                <a:effectLst/>
                <a:latin typeface="+mn-lt"/>
                <a:ea typeface="+mn-ea"/>
                <a:cs typeface="+mn-cs"/>
              </a:rPr>
              <a:t>1. Neuromuscular disease</a:t>
            </a:r>
          </a:p>
          <a:p>
            <a:r>
              <a:rPr lang="en-US" sz="1200" kern="1200" dirty="0">
                <a:solidFill>
                  <a:schemeClr val="tx1"/>
                </a:solidFill>
                <a:effectLst/>
                <a:latin typeface="+mn-lt"/>
                <a:ea typeface="+mn-ea"/>
                <a:cs typeface="+mn-cs"/>
              </a:rPr>
              <a:t>* 2. Thoracic restrictive disease</a:t>
            </a:r>
          </a:p>
          <a:p>
            <a:r>
              <a:rPr lang="en-US" sz="1200" kern="1200" dirty="0">
                <a:solidFill>
                  <a:schemeClr val="tx1"/>
                </a:solidFill>
                <a:effectLst/>
                <a:latin typeface="+mn-lt"/>
                <a:ea typeface="+mn-ea"/>
                <a:cs typeface="+mn-cs"/>
              </a:rPr>
              <a:t>3. Chronic respiratory failure consequent to chronic obstructive pulmonary disease.</a:t>
            </a:r>
          </a:p>
          <a:p>
            <a:r>
              <a:rPr lang="en-US" sz="1200" kern="1200" dirty="0">
                <a:solidFill>
                  <a:schemeClr val="tx1"/>
                </a:solidFill>
                <a:effectLst/>
                <a:latin typeface="+mn-lt"/>
                <a:ea typeface="+mn-ea"/>
                <a:cs typeface="+mn-cs"/>
              </a:rPr>
              <a:t>B. There is sufficient documentation in the medical record to support the condition is life-threatening where interruption of respiratory support would quickly lead to serious harm or death.</a:t>
            </a:r>
          </a:p>
          <a:p>
            <a:r>
              <a:rPr lang="en-US" sz="1200" kern="1200" dirty="0">
                <a:solidFill>
                  <a:schemeClr val="tx1"/>
                </a:solidFill>
                <a:effectLst/>
                <a:latin typeface="+mn-lt"/>
                <a:ea typeface="+mn-ea"/>
                <a:cs typeface="+mn-cs"/>
              </a:rPr>
              <a:t>Il. Use of a noninvasive ventilator in the home setting is considered not medically necessary when Criterion I. is not met, including but not limited to the following situations:</a:t>
            </a:r>
          </a:p>
          <a:p>
            <a:r>
              <a:rPr lang="en-US" sz="1200" kern="1200" dirty="0">
                <a:solidFill>
                  <a:schemeClr val="tx1"/>
                </a:solidFill>
                <a:effectLst/>
                <a:latin typeface="+mn-lt"/>
                <a:ea typeface="+mn-ea"/>
                <a:cs typeface="+mn-cs"/>
              </a:rPr>
              <a:t>﻿﻿﻿The patient's condition is such that treatment may be adequately provided by a bilevel positive airway pressure device</a:t>
            </a:r>
          </a:p>
          <a:p>
            <a:r>
              <a:rPr lang="en-US" sz="1200" kern="1200" dirty="0">
                <a:solidFill>
                  <a:schemeClr val="tx1"/>
                </a:solidFill>
                <a:effectLst/>
                <a:latin typeface="+mn-lt"/>
                <a:ea typeface="+mn-ea"/>
                <a:cs typeface="+mn-cs"/>
              </a:rPr>
              <a:t>﻿﻿﻿Severity of the patient's condition is not severe and life-threatening.</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There are no definitions for these medical conditions (Unlike the RAD criterion)</a:t>
            </a:r>
          </a:p>
          <a:p>
            <a:r>
              <a:rPr lang="en-US" sz="1200" kern="1200" dirty="0">
                <a:solidFill>
                  <a:schemeClr val="tx1"/>
                </a:solidFill>
                <a:effectLst/>
                <a:latin typeface="+mn-lt"/>
                <a:ea typeface="+mn-ea"/>
                <a:cs typeface="+mn-cs"/>
              </a:rPr>
              <a:t>﻿﻿"Adequately provided by bilevel" is not defined in the</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E0466 NCD</a:t>
            </a:r>
          </a:p>
          <a:p>
            <a:r>
              <a:rPr lang="en-US" sz="1200" kern="1200" dirty="0">
                <a:solidFill>
                  <a:schemeClr val="tx1"/>
                </a:solidFill>
                <a:effectLst/>
                <a:latin typeface="+mn-lt"/>
                <a:ea typeface="+mn-ea"/>
                <a:cs typeface="+mn-cs"/>
              </a:rPr>
              <a:t>• • ﻿﻿"Life threatening interruption" is not defined in the E0466</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NCD</a:t>
            </a: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31</a:t>
            </a:fld>
            <a:endParaRPr lang="en-US"/>
          </a:p>
        </p:txBody>
      </p:sp>
    </p:spTree>
    <p:extLst>
      <p:ext uri="{BB962C8B-B14F-4D97-AF65-F5344CB8AC3E}">
        <p14:creationId xmlns:p14="http://schemas.microsoft.com/office/powerpoint/2010/main" val="39002283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COPD is more of a vibe than a diagnosis now.  -&gt; prepare for huge amounts of confusion about diagnosis (already a big problem)</a:t>
            </a:r>
          </a:p>
          <a:p>
            <a:endParaRPr lang="en-US" dirty="0"/>
          </a:p>
          <a:p>
            <a:r>
              <a:rPr lang="en-US" dirty="0"/>
              <a:t>COPD pathway includes ILD, overlap, etc. … basically everything that isn’t OSA and NMD</a:t>
            </a:r>
          </a:p>
        </p:txBody>
      </p:sp>
      <p:sp>
        <p:nvSpPr>
          <p:cNvPr id="4" name="Slide Number Placeholder 3"/>
          <p:cNvSpPr>
            <a:spLocks noGrp="1"/>
          </p:cNvSpPr>
          <p:nvPr>
            <p:ph type="sldNum" sz="quarter" idx="5"/>
          </p:nvPr>
        </p:nvSpPr>
        <p:spPr/>
        <p:txBody>
          <a:bodyPr/>
          <a:lstStyle/>
          <a:p>
            <a:fld id="{7F4F0C85-FC02-4C4E-8B1A-6BB950A69184}" type="slidenum">
              <a:rPr lang="en-US" smtClean="0"/>
              <a:t>34</a:t>
            </a:fld>
            <a:endParaRPr lang="en-US"/>
          </a:p>
        </p:txBody>
      </p:sp>
    </p:spTree>
    <p:extLst>
      <p:ext uri="{BB962C8B-B14F-4D97-AF65-F5344CB8AC3E}">
        <p14:creationId xmlns:p14="http://schemas.microsoft.com/office/powerpoint/2010/main" val="13440640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grant-making schema: </a:t>
            </a:r>
          </a:p>
          <a:p>
            <a:pPr marL="171450" indent="-171450">
              <a:buFontTx/>
              <a:buChar char="-"/>
            </a:pPr>
            <a:r>
              <a:rPr lang="en-US" dirty="0"/>
              <a:t>How big is the problem</a:t>
            </a:r>
          </a:p>
          <a:p>
            <a:pPr marL="171450" indent="-171450">
              <a:buFontTx/>
              <a:buChar char="-"/>
            </a:pPr>
            <a:r>
              <a:rPr lang="en-US" dirty="0"/>
              <a:t>How solvable is it? </a:t>
            </a:r>
          </a:p>
          <a:p>
            <a:pPr marL="171450" indent="-171450">
              <a:buFontTx/>
              <a:buChar char="-"/>
            </a:pPr>
            <a:r>
              <a:rPr lang="en-US" dirty="0"/>
              <a:t>How many people are working to solve it?  (</a:t>
            </a:r>
            <a:r>
              <a:rPr lang="en-US" dirty="0" err="1"/>
              <a:t>ie</a:t>
            </a:r>
            <a:r>
              <a:rPr lang="en-US" dirty="0"/>
              <a:t> if we spend a bit more resources on this problem, will it make a difference?)</a:t>
            </a:r>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38</a:t>
            </a:fld>
            <a:endParaRPr lang="en-US"/>
          </a:p>
        </p:txBody>
      </p:sp>
    </p:spTree>
    <p:extLst>
      <p:ext uri="{BB962C8B-B14F-4D97-AF65-F5344CB8AC3E}">
        <p14:creationId xmlns:p14="http://schemas.microsoft.com/office/powerpoint/2010/main" val="3078341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40</a:t>
            </a:fld>
            <a:endParaRPr lang="en-US"/>
          </a:p>
        </p:txBody>
      </p:sp>
    </p:spTree>
    <p:extLst>
      <p:ext uri="{BB962C8B-B14F-4D97-AF65-F5344CB8AC3E}">
        <p14:creationId xmlns:p14="http://schemas.microsoft.com/office/powerpoint/2010/main" val="41793130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C5348-91FF-6C2E-FEC2-A4D06ACC1E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BB4C7B7-E89F-F4F0-807C-64BC84E7B2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5E20536-36D8-4517-7CBA-D1D1FE79AA6A}"/>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4F267A02-C6E7-9718-CF81-08A1D9DC46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37E473-F494-4E27-99C0-34A7224EE648}"/>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350701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13E5E-87FF-669F-CD7D-0F9A0A4C2FA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ECE7506-158E-D90F-7C22-96F88463A9E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684CAD-4E34-35ED-7479-C217BC4CF424}"/>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2B966E64-638E-9908-DD52-847A5E599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7DB6E3-CBDC-35EC-8B7A-D382270FFEC9}"/>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8196375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3CA8F-2DCA-3843-87D9-545D32C71B9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F607785-68F3-8D14-0473-201C157326A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55D7C5-69EB-BDF0-68F0-47385ECEAB14}"/>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BF497610-B8EB-655B-702E-90BCB36339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E839B-7B8A-171C-C48E-D074C316E5A0}"/>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090672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08C8A-4833-A169-AE97-84765B12E1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BEA08F-D104-669A-DBAA-8E18E5DB2E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EACF25B-E93F-8B3E-B55A-CA6BBD038DC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789BAB2-09BD-B5F3-C781-0CAA8B93B47C}"/>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6" name="Footer Placeholder 5">
            <a:extLst>
              <a:ext uri="{FF2B5EF4-FFF2-40B4-BE49-F238E27FC236}">
                <a16:creationId xmlns:a16="http://schemas.microsoft.com/office/drawing/2014/main" id="{CA08199A-76A8-F9C6-3CBE-B94069C3F2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F1A505F-DB9A-56C6-47D9-C7C21031B5F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8426641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B3D23-41D5-4BC3-1858-46F186F566D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0242BC-6CBD-BA1B-73EB-DEB6236102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339DD13-1EC5-8FA5-A585-795E20FA2F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0717523-1C91-FF9F-3E5E-D9E9CB5478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840271-BC78-7113-442B-7E800D70D8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CC412E-37C1-6F23-B888-5A5550A87767}"/>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8" name="Footer Placeholder 7">
            <a:extLst>
              <a:ext uri="{FF2B5EF4-FFF2-40B4-BE49-F238E27FC236}">
                <a16:creationId xmlns:a16="http://schemas.microsoft.com/office/drawing/2014/main" id="{7C1DAEB4-7FA6-4763-9630-004C576D8E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95CA12-92B0-C366-F5FF-87CC247FDD27}"/>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5226352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A9CA6-8559-C196-DB12-F8D9FD6B72B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4718351-13AC-869F-69B6-05626F93C1C5}"/>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4" name="Footer Placeholder 3">
            <a:extLst>
              <a:ext uri="{FF2B5EF4-FFF2-40B4-BE49-F238E27FC236}">
                <a16:creationId xmlns:a16="http://schemas.microsoft.com/office/drawing/2014/main" id="{FF2CF895-E559-CFE5-9F05-C3205D7995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15669C-783B-D7DC-4E0B-3238F9B4513F}"/>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529910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819D8A-437A-6967-C3A8-3C65A63AD2BC}"/>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3" name="Footer Placeholder 2">
            <a:extLst>
              <a:ext uri="{FF2B5EF4-FFF2-40B4-BE49-F238E27FC236}">
                <a16:creationId xmlns:a16="http://schemas.microsoft.com/office/drawing/2014/main" id="{0FFD7AEE-C060-E81C-9B7F-7EDD5875ED7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DD60FF4-0997-396D-873D-8FFA0B244D8D}"/>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125784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3E8D0-4D60-7EEF-DEC9-2EEC152F97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5D59E60-6E29-3269-21E1-2AE5E3D11E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4641270-F766-A002-ACE7-A288947BAA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E1C9E1-8F22-FAFC-D736-D36D59F582F1}"/>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6" name="Footer Placeholder 5">
            <a:extLst>
              <a:ext uri="{FF2B5EF4-FFF2-40B4-BE49-F238E27FC236}">
                <a16:creationId xmlns:a16="http://schemas.microsoft.com/office/drawing/2014/main" id="{9E2AEB03-65A7-A691-B57C-3451711970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AD322C-18A9-E0B2-C2FF-BA0E732822B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1740777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6C4D6-197F-000C-6AC9-EDD71C72D4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237D2BF-B6D9-F30C-3103-DE6BE2FE90E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9384A07-3318-090A-7317-30B9E5A242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AFF879-3FFD-ACB5-B7E1-99E787256AF8}"/>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6" name="Footer Placeholder 5">
            <a:extLst>
              <a:ext uri="{FF2B5EF4-FFF2-40B4-BE49-F238E27FC236}">
                <a16:creationId xmlns:a16="http://schemas.microsoft.com/office/drawing/2014/main" id="{7002E427-0147-39DA-E6F9-C401377B3E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C63E81-1FD0-4C8F-1567-D4F8698F3AA2}"/>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31107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B687-78D0-E8C2-CAF9-D106A47E7FC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1FB3F2-A480-DE47-AF7D-5AC821EC76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CA20EC-5A59-1252-989C-E16961F7EEED}"/>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F6715AE4-305A-141F-EAFB-6FAACDE4D0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55F7FE-1B7B-B2FA-ABC0-D2723703092A}"/>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735542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C9CA5E-75F2-933A-DB7F-33148E920B7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3FD5A6-F9DB-4951-59AC-E2DB6D45124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652A90-B6B6-9B79-25C0-073FD7053DAF}"/>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D35A74F2-473E-18FD-136F-19EC4C2F46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9115F1-5F18-09D3-DDC8-6A4F8376EFDC}"/>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587467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4D145F-B434-8F43-2809-AE977E4D2EF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D5F45D8-71D2-87F1-506E-3E629AF96C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77E5F3-CFBD-0583-3550-1C624EDFC0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CD3542C5-C1D2-E987-DA18-3467DE5222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DE4A7B8-F248-2A95-60D5-0FBFBE57040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E3790D0-B9BD-1747-B3D5-7F13B94238DC}" type="slidenum">
              <a:rPr lang="en-US" smtClean="0"/>
              <a:t>‹#›</a:t>
            </a:fld>
            <a:endParaRPr lang="en-US"/>
          </a:p>
        </p:txBody>
      </p:sp>
      <p:sp>
        <p:nvSpPr>
          <p:cNvPr id="100" name="IH Top Accent"/>
          <p:cNvSpPr/>
          <p:nvPr userDrawn="1"/>
        </p:nvSpPr>
        <p:spPr>
          <a:xfrm>
            <a:off x="0" y="0"/>
            <a:ext cx="182880" cy="6858000"/>
          </a:xfrm>
          <a:prstGeom prst="rect">
            <a:avLst/>
          </a:prstGeom>
          <a:gradFill>
            <a:gsLst>
              <a:gs pos="0">
                <a:srgbClr val="110057"/>
              </a:gs>
              <a:gs pos="50000">
                <a:srgbClr val="4A00E2"/>
              </a:gs>
              <a:gs pos="100000">
                <a:srgbClr val="FF0044"/>
              </a:gs>
            </a:gsLst>
            <a:lin ang="5400000" scaled="1"/>
          </a:gradFill>
          <a:ln>
            <a:noFill/>
          </a:ln>
        </p:spPr>
        <p:txBody>
          <a:bodyPr/>
          <a:lstStyle/>
          <a:p>
            <a:endParaRPr lang="en-US"/>
          </a:p>
        </p:txBody>
      </p:sp>
      <p:sp>
        <p:nvSpPr>
          <p:cNvPr id="101" name="IH Accent Bar"/>
          <p:cNvSpPr/>
          <p:nvPr userDrawn="1"/>
        </p:nvSpPr>
        <p:spPr>
          <a:xfrm>
            <a:off x="0" y="6662100"/>
            <a:ext cx="12192000" cy="91440"/>
          </a:xfrm>
          <a:prstGeom prst="rect">
            <a:avLst/>
          </a:prstGeom>
          <a:solidFill>
            <a:srgbClr val="4A00E2"/>
          </a:solidFill>
          <a:ln>
            <a:noFill/>
          </a:ln>
        </p:spPr>
        <p:txBody>
          <a:bodyPr/>
          <a:lstStyle/>
          <a:p>
            <a:endParaRPr lang="en-US"/>
          </a:p>
        </p:txBody>
      </p:sp>
      <p:sp>
        <p:nvSpPr>
          <p:cNvPr id="102" name="Accent Bar"/>
          <p:cNvSpPr/>
          <p:nvPr/>
        </p:nvSpPr>
        <p:spPr>
          <a:xfrm>
            <a:off x="0" y="6705600"/>
            <a:ext cx="12192000" cy="152400"/>
          </a:xfrm>
          <a:prstGeom prst="rect">
            <a:avLst/>
          </a:prstGeom>
          <a:solidFill>
            <a:srgbClr val="0D7377"/>
          </a:solidFill>
          <a:ln>
            <a:noFill/>
          </a:ln>
        </p:spPr>
        <p:txBody>
          <a:bodyPr/>
          <a:lstStyle/>
          <a:p>
            <a:endParaRPr lang="en-US"/>
          </a:p>
        </p:txBody>
      </p:sp>
      <p:sp>
        <p:nvSpPr>
          <p:cNvPr id="103" name="Top Accent"/>
          <p:cNvSpPr/>
          <p:nvPr/>
        </p:nvSpPr>
        <p:spPr>
          <a:xfrm>
            <a:off x="457200" y="1371600"/>
            <a:ext cx="101600" cy="27432"/>
          </a:xfrm>
          <a:prstGeom prst="rect">
            <a:avLst/>
          </a:prstGeom>
          <a:solidFill>
            <a:srgbClr val="0D7377"/>
          </a:solidFill>
          <a:ln>
            <a:noFill/>
          </a:ln>
        </p:spPr>
        <p:txBody>
          <a:bodyPr/>
          <a:lstStyle/>
          <a:p>
            <a:endParaRPr lang="en-US"/>
          </a:p>
        </p:txBody>
      </p:sp>
    </p:spTree>
    <p:extLst>
      <p:ext uri="{BB962C8B-B14F-4D97-AF65-F5344CB8AC3E}">
        <p14:creationId xmlns:p14="http://schemas.microsoft.com/office/powerpoint/2010/main" val="51633268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rgbClr val="110057"/>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10057"/>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10057"/>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10057"/>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tif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6.svg"/><Relationship Id="rId13" Type="http://schemas.openxmlformats.org/officeDocument/2006/relationships/image" Target="../media/image31.png"/><Relationship Id="rId3" Type="http://schemas.openxmlformats.org/officeDocument/2006/relationships/image" Target="../media/image21.png"/><Relationship Id="rId7" Type="http://schemas.openxmlformats.org/officeDocument/2006/relationships/image" Target="../media/image25.png"/><Relationship Id="rId12" Type="http://schemas.openxmlformats.org/officeDocument/2006/relationships/image" Target="../media/image30.svg"/><Relationship Id="rId2" Type="http://schemas.openxmlformats.org/officeDocument/2006/relationships/notesSlide" Target="../notesSlides/notesSlide14.xml"/><Relationship Id="rId16" Type="http://schemas.openxmlformats.org/officeDocument/2006/relationships/image" Target="../media/image34.svg"/><Relationship Id="rId1" Type="http://schemas.openxmlformats.org/officeDocument/2006/relationships/slideLayout" Target="../slideLayouts/slideLayout2.xml"/><Relationship Id="rId6" Type="http://schemas.openxmlformats.org/officeDocument/2006/relationships/image" Target="../media/image24.svg"/><Relationship Id="rId11" Type="http://schemas.openxmlformats.org/officeDocument/2006/relationships/image" Target="../media/image29.png"/><Relationship Id="rId5" Type="http://schemas.openxmlformats.org/officeDocument/2006/relationships/image" Target="../media/image23.png"/><Relationship Id="rId15" Type="http://schemas.openxmlformats.org/officeDocument/2006/relationships/image" Target="../media/image33.png"/><Relationship Id="rId10" Type="http://schemas.openxmlformats.org/officeDocument/2006/relationships/image" Target="../media/image28.svg"/><Relationship Id="rId4" Type="http://schemas.openxmlformats.org/officeDocument/2006/relationships/image" Target="../media/image22.svg"/><Relationship Id="rId9" Type="http://schemas.openxmlformats.org/officeDocument/2006/relationships/image" Target="../media/image27.png"/><Relationship Id="rId14" Type="http://schemas.openxmlformats.org/officeDocument/2006/relationships/image" Target="../media/image32.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jpeg"/><Relationship Id="rId4" Type="http://schemas.openxmlformats.org/officeDocument/2006/relationships/image" Target="../media/image39.svg"/><Relationship Id="rId9" Type="http://schemas.openxmlformats.org/officeDocument/2006/relationships/image" Target="../media/image4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2" name="Donut 1">
            <a:extLst>
              <a:ext uri="{FF2B5EF4-FFF2-40B4-BE49-F238E27FC236}">
                <a16:creationId xmlns:a16="http://schemas.microsoft.com/office/drawing/2014/main" id="{405DBE29-A1DA-044D-A8FE-376A430CFC0C}"/>
              </a:ext>
            </a:extLst>
          </p:cNvPr>
          <p:cNvSpPr/>
          <p:nvPr/>
        </p:nvSpPr>
        <p:spPr>
          <a:xfrm>
            <a:off x="6502400" y="1549400"/>
            <a:ext cx="2616200" cy="2616200"/>
          </a:xfrm>
          <a:prstGeom prst="donut">
            <a:avLst/>
          </a:prstGeom>
          <a:solidFill>
            <a:srgbClr val="3D006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solidFill>
                <a:schemeClr val="tx1"/>
              </a:solidFill>
            </a:endParaRPr>
          </a:p>
        </p:txBody>
      </p:sp>
      <p:sp>
        <p:nvSpPr>
          <p:cNvPr id="8" name="Rectangle 7">
            <a:extLst>
              <a:ext uri="{FF2B5EF4-FFF2-40B4-BE49-F238E27FC236}">
                <a16:creationId xmlns:a16="http://schemas.microsoft.com/office/drawing/2014/main" id="{0D7C7E54-13A1-E948-AC0F-7311E4319B16}"/>
              </a:ext>
            </a:extLst>
          </p:cNvPr>
          <p:cNvSpPr/>
          <p:nvPr/>
        </p:nvSpPr>
        <p:spPr>
          <a:xfrm>
            <a:off x="711200" y="3746500"/>
            <a:ext cx="2286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ounded Rectangle 8">
            <a:extLst>
              <a:ext uri="{FF2B5EF4-FFF2-40B4-BE49-F238E27FC236}">
                <a16:creationId xmlns:a16="http://schemas.microsoft.com/office/drawing/2014/main" id="{279C7261-7ADB-D742-9376-DC9FFA640E95}"/>
              </a:ext>
            </a:extLst>
          </p:cNvPr>
          <p:cNvSpPr/>
          <p:nvPr/>
        </p:nvSpPr>
        <p:spPr>
          <a:xfrm>
            <a:off x="711200" y="533400"/>
            <a:ext cx="2222500" cy="508000"/>
          </a:xfrm>
          <a:prstGeom prst="round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600" b="1">
                <a:solidFill>
                  <a:srgbClr val="110057"/>
                </a:solidFill>
                <a:latin typeface="Arial"/>
                <a:cs typeface="Arial"/>
              </a:rPr>
              <a:t>UTAH ACP 2026</a:t>
            </a:r>
          </a:p>
        </p:txBody>
      </p:sp>
      <p:sp>
        <p:nvSpPr>
          <p:cNvPr id="10" name="TextBox 9">
            <a:extLst>
              <a:ext uri="{FF2B5EF4-FFF2-40B4-BE49-F238E27FC236}">
                <a16:creationId xmlns:a16="http://schemas.microsoft.com/office/drawing/2014/main" id="{8B44A054-AFE2-FD44-9653-471FD6E0D8FE}"/>
              </a:ext>
            </a:extLst>
          </p:cNvPr>
          <p:cNvSpPr txBox="1"/>
          <p:nvPr/>
        </p:nvSpPr>
        <p:spPr>
          <a:xfrm>
            <a:off x="3149600" y="596900"/>
            <a:ext cx="2540000" cy="381000"/>
          </a:xfrm>
          <a:prstGeom prst="rect">
            <a:avLst/>
          </a:prstGeom>
          <a:noFill/>
        </p:spPr>
        <p:txBody>
          <a:bodyPr vertOverflow="overflow" vert="horz" wrap="square" rtlCol="0" anchor="t">
            <a:spAutoFit/>
          </a:bodyPr>
          <a:lstStyle/>
          <a:p>
            <a:pPr marL="0" indent="0">
              <a:buNone/>
            </a:pPr>
            <a:r>
              <a:rPr lang="en-US" sz="1400" dirty="0">
                <a:solidFill>
                  <a:srgbClr val="F7F5F9"/>
                </a:solidFill>
                <a:latin typeface="Arial"/>
              </a:rPr>
              <a:t>March 12, 2026</a:t>
            </a:r>
          </a:p>
        </p:txBody>
      </p:sp>
      <p:sp>
        <p:nvSpPr>
          <p:cNvPr id="11" name="TextBox 10">
            <a:extLst>
              <a:ext uri="{FF2B5EF4-FFF2-40B4-BE49-F238E27FC236}">
                <a16:creationId xmlns:a16="http://schemas.microsoft.com/office/drawing/2014/main" id="{19501550-A79C-6645-B3FA-40836A4D4485}"/>
              </a:ext>
            </a:extLst>
          </p:cNvPr>
          <p:cNvSpPr txBox="1"/>
          <p:nvPr/>
        </p:nvSpPr>
        <p:spPr>
          <a:xfrm>
            <a:off x="711200" y="1371600"/>
            <a:ext cx="6350000" cy="2286000"/>
          </a:xfrm>
          <a:prstGeom prst="rect">
            <a:avLst/>
          </a:prstGeom>
          <a:noFill/>
        </p:spPr>
        <p:txBody>
          <a:bodyPr vertOverflow="overflow" vert="horz" wrap="square" rtlCol="0" anchor="t">
            <a:noAutofit/>
          </a:bodyPr>
          <a:lstStyle/>
          <a:p>
            <a:pPr algn="l"/>
            <a:r>
              <a:rPr lang="en-US" sz="4000" b="1">
                <a:solidFill>
                  <a:srgbClr val="FFFFFF"/>
                </a:solidFill>
                <a:latin typeface="Arial"/>
                <a:cs typeface="Arial"/>
              </a:rPr>
              <a:t>Obesity-Related
Respiratory Failure</a:t>
            </a:r>
          </a:p>
        </p:txBody>
      </p:sp>
      <p:sp>
        <p:nvSpPr>
          <p:cNvPr id="12" name="TextBox 11">
            <a:extLst>
              <a:ext uri="{FF2B5EF4-FFF2-40B4-BE49-F238E27FC236}">
                <a16:creationId xmlns:a16="http://schemas.microsoft.com/office/drawing/2014/main" id="{AC770022-7282-2647-BEFE-3E4175C1921D}"/>
              </a:ext>
            </a:extLst>
          </p:cNvPr>
          <p:cNvSpPr txBox="1"/>
          <p:nvPr/>
        </p:nvSpPr>
        <p:spPr>
          <a:xfrm>
            <a:off x="711200" y="3835400"/>
            <a:ext cx="6350000" cy="457200"/>
          </a:xfrm>
          <a:prstGeom prst="rect">
            <a:avLst/>
          </a:prstGeom>
          <a:noFill/>
        </p:spPr>
        <p:txBody>
          <a:bodyPr vertOverflow="overflow" vert="horz" wrap="square" rtlCol="0" anchor="t">
            <a:spAutoFit/>
          </a:bodyPr>
          <a:lstStyle/>
          <a:p>
            <a:pPr algn="l"/>
            <a:r>
              <a:rPr lang="en-US" sz="1600" i="1">
                <a:solidFill>
                  <a:srgbClr val="FBAE40"/>
                </a:solidFill>
                <a:latin typeface="Arial"/>
                <a:cs typeface="Arial"/>
              </a:rPr>
              <a:t>What it is, who has it, &amp; why the discharge is so hard</a:t>
            </a:r>
          </a:p>
        </p:txBody>
      </p:sp>
      <p:sp>
        <p:nvSpPr>
          <p:cNvPr id="13" name="TextBox 12">
            <a:extLst>
              <a:ext uri="{FF2B5EF4-FFF2-40B4-BE49-F238E27FC236}">
                <a16:creationId xmlns:a16="http://schemas.microsoft.com/office/drawing/2014/main" id="{4BC751BC-7BF1-7042-A67A-41FFD870C960}"/>
              </a:ext>
            </a:extLst>
          </p:cNvPr>
          <p:cNvSpPr txBox="1"/>
          <p:nvPr/>
        </p:nvSpPr>
        <p:spPr>
          <a:xfrm>
            <a:off x="711200" y="4318000"/>
            <a:ext cx="6477000" cy="2413000"/>
          </a:xfrm>
          <a:prstGeom prst="rect">
            <a:avLst/>
          </a:prstGeom>
          <a:noFill/>
        </p:spPr>
        <p:txBody>
          <a:bodyPr vertOverflow="overflow" vert="horz" wrap="square" rtlCol="0" anchor="t">
            <a:noAutofit/>
          </a:bodyPr>
          <a:lstStyle/>
          <a:p>
            <a:pPr marL="0" indent="0">
              <a:lnSpc>
                <a:spcPts val="2200"/>
              </a:lnSpc>
              <a:spcAft>
                <a:spcPts val="200"/>
              </a:spcAft>
              <a:buNone/>
            </a:pPr>
            <a:r>
              <a:rPr lang="en-US" sz="1800" b="1" dirty="0">
                <a:solidFill>
                  <a:srgbClr val="FFFFFF"/>
                </a:solidFill>
                <a:latin typeface="Arial"/>
              </a:rPr>
              <a:t>Brian W Locke MD MSCI</a:t>
            </a:r>
          </a:p>
          <a:p>
            <a:pPr marL="0" indent="0">
              <a:lnSpc>
                <a:spcPts val="1600"/>
              </a:lnSpc>
              <a:spcAft>
                <a:spcPts val="400"/>
              </a:spcAft>
              <a:buNone/>
            </a:pPr>
            <a:r>
              <a:rPr lang="en-US" sz="1400" dirty="0">
                <a:solidFill>
                  <a:srgbClr val="F7F5F9"/>
                </a:solidFill>
                <a:latin typeface="Arial"/>
              </a:rPr>
              <a:t>Pulmonary &amp; Critical Care Medicine, Intermountain Medical Center</a:t>
            </a:r>
          </a:p>
          <a:p>
            <a:pPr marL="0" indent="0">
              <a:lnSpc>
                <a:spcPts val="1500"/>
              </a:lnSpc>
              <a:spcAft>
                <a:spcPts val="200"/>
              </a:spcAft>
              <a:buNone/>
            </a:pPr>
            <a:r>
              <a:rPr lang="en-US" sz="1400" b="1" dirty="0">
                <a:solidFill>
                  <a:srgbClr val="FBAE40"/>
                </a:solidFill>
                <a:latin typeface="Arial"/>
              </a:rPr>
              <a:t>COI:</a:t>
            </a:r>
            <a:r>
              <a:rPr lang="en-US" sz="1400" dirty="0">
                <a:solidFill>
                  <a:srgbClr val="F7F5F9"/>
                </a:solidFill>
                <a:latin typeface="Arial"/>
              </a:rPr>
              <a:t>  Mountain Biometrics (automated data harmonization) — unrelated to this work</a:t>
            </a:r>
          </a:p>
          <a:p>
            <a:pPr marL="0" indent="0">
              <a:lnSpc>
                <a:spcPts val="1500"/>
              </a:lnSpc>
              <a:spcAft>
                <a:spcPts val="100"/>
              </a:spcAft>
              <a:buNone/>
            </a:pPr>
            <a:r>
              <a:rPr lang="en-US" sz="1400" b="1" dirty="0">
                <a:solidFill>
                  <a:srgbClr val="FBAE40"/>
                </a:solidFill>
                <a:latin typeface="Arial"/>
              </a:rPr>
              <a:t>Funding:</a:t>
            </a:r>
          </a:p>
          <a:p>
            <a:pPr marL="171450" indent="-171450">
              <a:lnSpc>
                <a:spcPts val="1400"/>
              </a:lnSpc>
              <a:buFont typeface="Arial"/>
              <a:buChar char="•"/>
            </a:pPr>
            <a:r>
              <a:rPr lang="en-US" sz="1400" dirty="0">
                <a:solidFill>
                  <a:srgbClr val="F7F5F9"/>
                </a:solidFill>
                <a:latin typeface="Arial"/>
              </a:rPr>
              <a:t>ATS ASPIRE Fellowship</a:t>
            </a:r>
          </a:p>
          <a:p>
            <a:pPr marL="171450" indent="-171450">
              <a:lnSpc>
                <a:spcPts val="1400"/>
              </a:lnSpc>
              <a:buFont typeface="Arial"/>
              <a:buChar char="•"/>
            </a:pPr>
            <a:r>
              <a:rPr lang="en-US" sz="1400" dirty="0">
                <a:solidFill>
                  <a:srgbClr val="F7F5F9"/>
                </a:solidFill>
                <a:latin typeface="Arial"/>
              </a:rPr>
              <a:t>NIH NHLBI T32 — University of Utah PCCM</a:t>
            </a:r>
          </a:p>
          <a:p>
            <a:pPr marL="171450" indent="-171450">
              <a:lnSpc>
                <a:spcPts val="1400"/>
              </a:lnSpc>
              <a:buFont typeface="Arial"/>
              <a:buChar char="•"/>
            </a:pPr>
            <a:r>
              <a:rPr lang="en-US" sz="1400" dirty="0">
                <a:solidFill>
                  <a:srgbClr val="F7F5F9"/>
                </a:solidFill>
                <a:latin typeface="Arial"/>
              </a:rPr>
              <a:t>Intermountain PCCM Seed Grant: FUND-Hypercapnia</a:t>
            </a:r>
          </a:p>
          <a:p>
            <a:pPr marL="171450" indent="-171450">
              <a:lnSpc>
                <a:spcPts val="1400"/>
              </a:lnSpc>
              <a:buFont typeface="Arial"/>
              <a:buChar char="•"/>
            </a:pPr>
            <a:r>
              <a:rPr lang="en-US" sz="1400" dirty="0">
                <a:solidFill>
                  <a:srgbClr val="F7F5F9"/>
                </a:solidFill>
                <a:latin typeface="Arial"/>
              </a:rPr>
              <a:t>Utah Population Database via HCI &amp; HCI Cancer Center Support Grant P30 CA2014</a:t>
            </a:r>
          </a:p>
        </p:txBody>
      </p:sp>
      <p:sp>
        <p:nvSpPr>
          <p:cNvPr id="17" name="Shape 16">
            <a:extLst>
              <a:ext uri="{FF2B5EF4-FFF2-40B4-BE49-F238E27FC236}">
                <a16:creationId xmlns:a16="http://schemas.microsoft.com/office/drawing/2014/main" id="{E123EB56-01D2-7248-B525-FB86F3454652}"/>
              </a:ext>
            </a:extLst>
          </p:cNvPr>
          <p:cNvSpPr/>
          <p:nvPr/>
        </p:nvSpPr>
        <p:spPr>
          <a:xfrm>
            <a:off x="6731000" y="1778000"/>
            <a:ext cx="2159000" cy="2159000"/>
          </a:xfrm>
          <a:prstGeom prst="gear9">
            <a:avLst/>
          </a:prstGeom>
          <a:solidFill>
            <a:srgbClr val="7CAFD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Pulmonary</a:t>
            </a:r>
          </a:p>
        </p:txBody>
      </p:sp>
      <p:sp>
        <p:nvSpPr>
          <p:cNvPr id="18" name="Shape 17">
            <a:extLst>
              <a:ext uri="{FF2B5EF4-FFF2-40B4-BE49-F238E27FC236}">
                <a16:creationId xmlns:a16="http://schemas.microsoft.com/office/drawing/2014/main" id="{8CC55C0C-946C-E54C-B3E3-6D17B40CC6D7}"/>
              </a:ext>
            </a:extLst>
          </p:cNvPr>
          <p:cNvSpPr/>
          <p:nvPr/>
        </p:nvSpPr>
        <p:spPr>
          <a:xfrm>
            <a:off x="8255000" y="1778000"/>
            <a:ext cx="2159000" cy="2159000"/>
          </a:xfrm>
          <a:prstGeom prst="gear9">
            <a:avLst/>
          </a:prstGeom>
          <a:solidFill>
            <a:srgbClr val="FF5D5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Circulation</a:t>
            </a:r>
          </a:p>
        </p:txBody>
      </p:sp>
      <p:sp>
        <p:nvSpPr>
          <p:cNvPr id="19" name="Shape 18">
            <a:extLst>
              <a:ext uri="{FF2B5EF4-FFF2-40B4-BE49-F238E27FC236}">
                <a16:creationId xmlns:a16="http://schemas.microsoft.com/office/drawing/2014/main" id="{8C3D288B-F4B9-464B-9908-B691E7E79F7E}"/>
              </a:ext>
            </a:extLst>
          </p:cNvPr>
          <p:cNvSpPr/>
          <p:nvPr/>
        </p:nvSpPr>
        <p:spPr>
          <a:xfrm>
            <a:off x="9779000" y="1778000"/>
            <a:ext cx="2159000" cy="2159000"/>
          </a:xfrm>
          <a:prstGeom prst="gear6">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Muscle</a:t>
            </a:r>
          </a:p>
        </p:txBody>
      </p:sp>
      <p:sp>
        <p:nvSpPr>
          <p:cNvPr id="20" name="TextBox 19">
            <a:extLst>
              <a:ext uri="{FF2B5EF4-FFF2-40B4-BE49-F238E27FC236}">
                <a16:creationId xmlns:a16="http://schemas.microsoft.com/office/drawing/2014/main" id="{89A4FAF8-B2D4-1C4E-B3AC-07E5E0B708EC}"/>
              </a:ext>
            </a:extLst>
          </p:cNvPr>
          <p:cNvSpPr txBox="1"/>
          <p:nvPr/>
        </p:nvSpPr>
        <p:spPr>
          <a:xfrm>
            <a:off x="8255000" y="1371600"/>
            <a:ext cx="1524000" cy="355600"/>
          </a:xfrm>
          <a:prstGeom prst="rect">
            <a:avLst/>
          </a:prstGeom>
          <a:noFill/>
        </p:spPr>
        <p:txBody>
          <a:bodyPr vertOverflow="overflow" vert="horz" wrap="square" rtlCol="0" anchor="t">
            <a:noAutofit/>
          </a:bodyPr>
          <a:lstStyle/>
          <a:p>
            <a:pPr algn="ctr">
              <a:buNone/>
            </a:pPr>
            <a:r>
              <a:rPr lang="en-US" sz="1600" dirty="0">
                <a:solidFill>
                  <a:srgbClr val="7CAFD0"/>
                </a:solidFill>
                <a:latin typeface="Arial"/>
              </a:rPr>
              <a:t>O</a:t>
            </a:r>
            <a:r>
              <a:rPr lang="en-US" sz="1600" baseline="-25000" dirty="0">
                <a:solidFill>
                  <a:srgbClr val="7CAFD0"/>
                </a:solidFill>
                <a:latin typeface="Arial"/>
              </a:rPr>
              <a:t>2</a:t>
            </a:r>
            <a:r>
              <a:rPr lang="en-US" sz="1600" dirty="0">
                <a:solidFill>
                  <a:srgbClr val="7CAFD0"/>
                </a:solidFill>
                <a:latin typeface="Arial"/>
              </a:rPr>
              <a:t> →</a:t>
            </a:r>
          </a:p>
        </p:txBody>
      </p:sp>
      <p:sp>
        <p:nvSpPr>
          <p:cNvPr id="21" name="TextBox 20">
            <a:extLst>
              <a:ext uri="{FF2B5EF4-FFF2-40B4-BE49-F238E27FC236}">
                <a16:creationId xmlns:a16="http://schemas.microsoft.com/office/drawing/2014/main" id="{733335E3-B1A5-BC48-B661-E685018EF33A}"/>
              </a:ext>
            </a:extLst>
          </p:cNvPr>
          <p:cNvSpPr txBox="1"/>
          <p:nvPr/>
        </p:nvSpPr>
        <p:spPr>
          <a:xfrm>
            <a:off x="8001000" y="4038600"/>
            <a:ext cx="2032000" cy="355600"/>
          </a:xfrm>
          <a:prstGeom prst="rect">
            <a:avLst/>
          </a:prstGeom>
          <a:noFill/>
        </p:spPr>
        <p:txBody>
          <a:bodyPr vertOverflow="overflow" vert="horz" wrap="square" rtlCol="0" anchor="t">
            <a:noAutofit/>
          </a:bodyPr>
          <a:lstStyle/>
          <a:p>
            <a:pPr algn="ctr">
              <a:buNone/>
            </a:pPr>
            <a:r>
              <a:rPr lang="en-US" sz="1600" dirty="0">
                <a:solidFill>
                  <a:srgbClr val="FF5D55"/>
                </a:solidFill>
                <a:latin typeface="Arial"/>
              </a:rPr>
              <a:t>← CO</a:t>
            </a:r>
            <a:r>
              <a:rPr lang="en-US" sz="1600" baseline="-25000" dirty="0">
                <a:solidFill>
                  <a:srgbClr val="FF5D55"/>
                </a:solidFill>
                <a:latin typeface="Arial"/>
              </a:rPr>
              <a:t>2</a:t>
            </a:r>
            <a:r>
              <a:rPr lang="en-US" sz="1600" dirty="0">
                <a:solidFill>
                  <a:srgbClr val="FF5D55"/>
                </a:solidFill>
                <a:latin typeface="Arial"/>
              </a:rPr>
              <a:t> buildup</a:t>
            </a:r>
          </a:p>
        </p:txBody>
      </p:sp>
      <p:sp>
        <p:nvSpPr>
          <p:cNvPr id="22" name="TextBox 21">
            <a:extLst>
              <a:ext uri="{FF2B5EF4-FFF2-40B4-BE49-F238E27FC236}">
                <a16:creationId xmlns:a16="http://schemas.microsoft.com/office/drawing/2014/main" id="{C9993DB4-DD86-B34D-997D-92819E4B458C}"/>
              </a:ext>
            </a:extLst>
          </p:cNvPr>
          <p:cNvSpPr txBox="1"/>
          <p:nvPr/>
        </p:nvSpPr>
        <p:spPr>
          <a:xfrm>
            <a:off x="8001000" y="4381500"/>
            <a:ext cx="2540000" cy="279400"/>
          </a:xfrm>
          <a:prstGeom prst="rect">
            <a:avLst/>
          </a:prstGeom>
          <a:noFill/>
        </p:spPr>
        <p:txBody>
          <a:bodyPr vertOverflow="overflow" vert="horz" wrap="square" rtlCol="0" anchor="t">
            <a:spAutoFit/>
          </a:bodyPr>
          <a:lstStyle/>
          <a:p>
            <a:pPr algn="l"/>
            <a:r>
              <a:rPr lang="en-US" sz="1400" i="1">
                <a:solidFill>
                  <a:srgbClr val="FBAE40"/>
                </a:solidFill>
                <a:latin typeface="Arial"/>
                <a:cs typeface="Arial"/>
              </a:rPr>
              <a:t>adapted from Wasserman et al.</a:t>
            </a:r>
          </a:p>
        </p:txBody>
      </p:sp>
      <p:sp>
        <p:nvSpPr>
          <p:cNvPr id="7" name="Rectangle 6">
            <a:extLst>
              <a:ext uri="{FF2B5EF4-FFF2-40B4-BE49-F238E27FC236}">
                <a16:creationId xmlns:a16="http://schemas.microsoft.com/office/drawing/2014/main" id="{8C6F2588-1EA6-2045-93B8-B7FD7ADC5EBA}"/>
              </a:ext>
            </a:extLst>
          </p:cNvPr>
          <p:cNvSpPr/>
          <p:nvPr/>
        </p:nvSpPr>
        <p:spPr>
          <a:xfrm>
            <a:off x="0" y="0"/>
            <a:ext cx="101600" cy="68580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0615717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19A27-8BD6-E9B6-821B-F6E6FD00F6C4}"/>
              </a:ext>
            </a:extLst>
          </p:cNvPr>
          <p:cNvSpPr>
            <a:spLocks noGrp="1"/>
          </p:cNvSpPr>
          <p:nvPr>
            <p:ph type="title"/>
          </p:nvPr>
        </p:nvSpPr>
        <p:spPr/>
        <p:txBody>
          <a:bodyPr anchor="t">
            <a:normAutofit/>
          </a:bodyPr>
          <a:lstStyle/>
          <a:p>
            <a:r>
              <a:rPr lang="en-US" sz="3200" dirty="0">
                <a:solidFill>
                  <a:srgbClr val="110057"/>
                </a:solidFill>
                <a:latin typeface="Arial"/>
                <a:cs typeface="Arial"/>
              </a:rPr>
              <a:t>Learning Objectives</a:t>
            </a:r>
          </a:p>
        </p:txBody>
      </p:sp>
      <p:graphicFrame>
        <p:nvGraphicFramePr>
          <p:cNvPr id="5" name="Table 4">
            <a:extLst>
              <a:ext uri="{FF2B5EF4-FFF2-40B4-BE49-F238E27FC236}">
                <a16:creationId xmlns:a16="http://schemas.microsoft.com/office/drawing/2014/main" id="{C71E7C7A-C3E4-2C4B-AAB0-6A1F6DFBFB96}"/>
              </a:ext>
            </a:extLst>
          </p:cNvPr>
          <p:cNvGraphicFramePr>
            <a:graphicFrameLocks noGrp="1"/>
          </p:cNvGraphicFramePr>
          <p:nvPr>
            <p:extLst>
              <p:ext uri="{D42A27DB-BD31-4B8C-83A1-F6EECF244321}">
                <p14:modId xmlns:p14="http://schemas.microsoft.com/office/powerpoint/2010/main" val="3605132248"/>
              </p:ext>
            </p:extLst>
          </p:nvPr>
        </p:nvGraphicFramePr>
        <p:xfrm>
          <a:off x="838200" y="1524000"/>
          <a:ext cx="10515600" cy="4470400"/>
        </p:xfrm>
        <a:graphic>
          <a:graphicData uri="http://schemas.openxmlformats.org/drawingml/2006/table">
            <a:tbl>
              <a:tblPr firstRow="1" bandRow="1">
                <a:tableStyleId>{5C22544A-7EE6-4342-B048-85BDC9FD1C3A}</a:tableStyleId>
              </a:tblPr>
              <a:tblGrid>
                <a:gridCol w="762000">
                  <a:extLst>
                    <a:ext uri="{9D8B030D-6E8A-4147-A177-3AD203B41FA5}">
                      <a16:colId xmlns:a16="http://schemas.microsoft.com/office/drawing/2014/main" val="2996659140"/>
                    </a:ext>
                  </a:extLst>
                </a:gridCol>
                <a:gridCol w="9753600">
                  <a:extLst>
                    <a:ext uri="{9D8B030D-6E8A-4147-A177-3AD203B41FA5}">
                      <a16:colId xmlns:a16="http://schemas.microsoft.com/office/drawing/2014/main" val="3763406882"/>
                    </a:ext>
                  </a:extLst>
                </a:gridCol>
              </a:tblGrid>
              <a:tr h="1117600">
                <a:tc>
                  <a:txBody>
                    <a:bodyPr/>
                    <a:lstStyle/>
                    <a:p>
                      <a:pPr algn="ctr"/>
                      <a:r>
                        <a:rPr lang="en-US" sz="2200" b="1">
                          <a:solidFill>
                            <a:srgbClr val="FFFFFF"/>
                          </a:solidFill>
                          <a:latin typeface="Arial"/>
                          <a:cs typeface="Arial"/>
                        </a:rPr>
                        <a:t>01</a:t>
                      </a:r>
                    </a:p>
                  </a:txBody>
                  <a:tcPr anchor="ctr">
                    <a:solidFill>
                      <a:srgbClr val="110057"/>
                    </a:solidFill>
                  </a:tcPr>
                </a:tc>
                <a:tc>
                  <a:txBody>
                    <a:bodyPr/>
                    <a:lstStyle/>
                    <a:p>
                      <a:r>
                        <a:rPr lang="en-US" sz="1600" b="0">
                          <a:solidFill>
                            <a:srgbClr val="110057"/>
                          </a:solidFill>
                          <a:latin typeface="Arial"/>
                          <a:cs typeface="Arial"/>
                        </a:rPr>
                        <a:t>Define obesity hypoventilation syndrome and explain why "obesity-related respiratory failure" may be a more useful clinical framework</a:t>
                      </a:r>
                    </a:p>
                  </a:txBody>
                  <a:tcPr anchor="ctr">
                    <a:solidFill>
                      <a:srgbClr val="FFFFFF"/>
                    </a:solidFill>
                  </a:tcPr>
                </a:tc>
                <a:extLst>
                  <a:ext uri="{0D108BD9-81ED-4DB2-BD59-A6C34878D82A}">
                    <a16:rowId xmlns:a16="http://schemas.microsoft.com/office/drawing/2014/main" val="3900796696"/>
                  </a:ext>
                </a:extLst>
              </a:tr>
              <a:tr h="1117600">
                <a:tc>
                  <a:txBody>
                    <a:bodyPr/>
                    <a:lstStyle/>
                    <a:p>
                      <a:pPr algn="ctr"/>
                      <a:r>
                        <a:rPr lang="en-US" sz="2200" b="1">
                          <a:solidFill>
                            <a:srgbClr val="FFFFFF"/>
                          </a:solidFill>
                          <a:latin typeface="Arial"/>
                          <a:cs typeface="Arial"/>
                        </a:rPr>
                        <a:t>02</a:t>
                      </a:r>
                    </a:p>
                  </a:txBody>
                  <a:tcPr anchor="ctr">
                    <a:solidFill>
                      <a:srgbClr val="110057"/>
                    </a:solidFill>
                  </a:tcPr>
                </a:tc>
                <a:tc>
                  <a:txBody>
                    <a:bodyPr/>
                    <a:lstStyle/>
                    <a:p>
                      <a:r>
                        <a:rPr lang="en-US" sz="1600" b="0">
                          <a:solidFill>
                            <a:srgbClr val="110057"/>
                          </a:solidFill>
                          <a:latin typeface="Arial"/>
                          <a:cs typeface="Arial"/>
                        </a:rPr>
                        <a:t>Identify patients at risk for obesity-related respiratory failure — including common misdiagnoses</a:t>
                      </a:r>
                    </a:p>
                  </a:txBody>
                  <a:tcPr anchor="ctr">
                    <a:solidFill>
                      <a:srgbClr val="F7F5F9"/>
                    </a:solidFill>
                  </a:tcPr>
                </a:tc>
                <a:extLst>
                  <a:ext uri="{0D108BD9-81ED-4DB2-BD59-A6C34878D82A}">
                    <a16:rowId xmlns:a16="http://schemas.microsoft.com/office/drawing/2014/main" val="2750414466"/>
                  </a:ext>
                </a:extLst>
              </a:tr>
              <a:tr h="1117600">
                <a:tc>
                  <a:txBody>
                    <a:bodyPr/>
                    <a:lstStyle/>
                    <a:p>
                      <a:pPr algn="ctr"/>
                      <a:r>
                        <a:rPr lang="en-US" sz="2200" b="1">
                          <a:solidFill>
                            <a:srgbClr val="FFFFFF"/>
                          </a:solidFill>
                          <a:latin typeface="Arial"/>
                          <a:cs typeface="Arial"/>
                        </a:rPr>
                        <a:t>03</a:t>
                      </a:r>
                    </a:p>
                  </a:txBody>
                  <a:tcPr anchor="ctr">
                    <a:solidFill>
                      <a:srgbClr val="110057"/>
                    </a:solidFill>
                  </a:tcPr>
                </a:tc>
                <a:tc>
                  <a:txBody>
                    <a:bodyPr/>
                    <a:lstStyle/>
                    <a:p>
                      <a:r>
                        <a:rPr lang="en-US" sz="1600" b="0">
                          <a:solidFill>
                            <a:srgbClr val="110057"/>
                          </a:solidFill>
                          <a:latin typeface="Arial"/>
                          <a:cs typeface="Arial"/>
                        </a:rPr>
                        <a:t>Explain why discharging patients on BPAP is so difficult — including the historical and regulatory origins of device categories, qualification pathways, and payment structure</a:t>
                      </a:r>
                    </a:p>
                  </a:txBody>
                  <a:tcPr anchor="ctr">
                    <a:solidFill>
                      <a:srgbClr val="FFFFFF"/>
                    </a:solidFill>
                  </a:tcPr>
                </a:tc>
                <a:extLst>
                  <a:ext uri="{0D108BD9-81ED-4DB2-BD59-A6C34878D82A}">
                    <a16:rowId xmlns:a16="http://schemas.microsoft.com/office/drawing/2014/main" val="947864387"/>
                  </a:ext>
                </a:extLst>
              </a:tr>
              <a:tr h="1117600">
                <a:tc>
                  <a:txBody>
                    <a:bodyPr/>
                    <a:lstStyle/>
                    <a:p>
                      <a:pPr algn="ctr"/>
                      <a:r>
                        <a:rPr lang="en-US" sz="2200" b="1">
                          <a:solidFill>
                            <a:srgbClr val="FFFFFF"/>
                          </a:solidFill>
                          <a:latin typeface="Arial"/>
                          <a:cs typeface="Arial"/>
                        </a:rPr>
                        <a:t>04</a:t>
                      </a:r>
                    </a:p>
                  </a:txBody>
                  <a:tcPr anchor="ctr">
                    <a:solidFill>
                      <a:srgbClr val="110057"/>
                    </a:solidFill>
                  </a:tcPr>
                </a:tc>
                <a:tc>
                  <a:txBody>
                    <a:bodyPr/>
                    <a:lstStyle/>
                    <a:p>
                      <a:r>
                        <a:rPr lang="en-US" sz="1600" b="0">
                          <a:solidFill>
                            <a:srgbClr val="110057"/>
                          </a:solidFill>
                          <a:latin typeface="Arial"/>
                          <a:cs typeface="Arial"/>
                        </a:rPr>
                        <a:t>Discuss the emerging role of GLP-1 receptor agonists in obesity-related respiratory failure</a:t>
                      </a:r>
                    </a:p>
                  </a:txBody>
                  <a:tcPr anchor="ctr">
                    <a:solidFill>
                      <a:srgbClr val="F7F5F9"/>
                    </a:solidFill>
                  </a:tcPr>
                </a:tc>
                <a:extLst>
                  <a:ext uri="{0D108BD9-81ED-4DB2-BD59-A6C34878D82A}">
                    <a16:rowId xmlns:a16="http://schemas.microsoft.com/office/drawing/2014/main" val="4061326245"/>
                  </a:ext>
                </a:extLst>
              </a:tr>
            </a:tbl>
          </a:graphicData>
        </a:graphic>
      </p:graphicFrame>
      <p:sp>
        <p:nvSpPr>
          <p:cNvPr id="4" name="Rectangle 3">
            <a:extLst>
              <a:ext uri="{FF2B5EF4-FFF2-40B4-BE49-F238E27FC236}">
                <a16:creationId xmlns:a16="http://schemas.microsoft.com/office/drawing/2014/main" id="{D52BC562-B84B-304A-93D4-360A827C9541}"/>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185294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F53A0-8E29-0378-9368-E1BD248CC56A}"/>
              </a:ext>
            </a:extLst>
          </p:cNvPr>
          <p:cNvSpPr>
            <a:spLocks noGrp="1"/>
          </p:cNvSpPr>
          <p:nvPr>
            <p:ph type="title"/>
          </p:nvPr>
        </p:nvSpPr>
        <p:spPr/>
        <p:txBody>
          <a:bodyPr>
            <a:normAutofit/>
          </a:bodyPr>
          <a:lstStyle/>
          <a:p>
            <a:r>
              <a:rPr lang="en-US" sz="3200">
                <a:solidFill>
                  <a:srgbClr val="110057"/>
                </a:solidFill>
                <a:latin typeface="Arial"/>
                <a:cs typeface="Arial"/>
              </a:rPr>
              <a:t>Obesity Hypoventilation Syndrome (OHS)</a:t>
            </a:r>
          </a:p>
        </p:txBody>
      </p:sp>
      <p:sp>
        <p:nvSpPr>
          <p:cNvPr id="3" name="Content Placeholder 2">
            <a:extLst>
              <a:ext uri="{FF2B5EF4-FFF2-40B4-BE49-F238E27FC236}">
                <a16:creationId xmlns:a16="http://schemas.microsoft.com/office/drawing/2014/main" id="{E4DA9D86-93AE-A440-A982-4709BD2A9F0B}"/>
              </a:ext>
            </a:extLst>
          </p:cNvPr>
          <p:cNvSpPr>
            <a:spLocks noGrp="1"/>
          </p:cNvSpPr>
          <p:nvPr>
            <p:ph idx="1"/>
          </p:nvPr>
        </p:nvSpPr>
        <p:spPr/>
        <p:txBody>
          <a:bodyPr>
            <a:normAutofit/>
          </a:bodyPr>
          <a:lstStyle/>
          <a:p>
            <a:pPr marL="0" indent="0">
              <a:buNone/>
            </a:pPr>
            <a:r>
              <a:rPr lang="en-US" sz="2200" b="1" dirty="0">
                <a:solidFill>
                  <a:srgbClr val="110057"/>
                </a:solidFill>
                <a:latin typeface="Arial"/>
                <a:cs typeface="Arial"/>
              </a:rPr>
              <a:t>Textbook definition requires ALL of:</a:t>
            </a:r>
            <a:r>
              <a:rPr lang="en-US" sz="1800" dirty="0">
                <a:solidFill>
                  <a:srgbClr val="888888"/>
                </a:solidFill>
                <a:latin typeface="Arial"/>
                <a:cs typeface="Arial"/>
              </a:rPr>
              <a:t>  (know this for exams)</a:t>
            </a:r>
          </a:p>
          <a:p>
            <a:r>
              <a:rPr lang="en-US" sz="2200" dirty="0">
                <a:solidFill>
                  <a:srgbClr val="110057"/>
                </a:solidFill>
                <a:latin typeface="Arial"/>
                <a:cs typeface="Arial"/>
              </a:rPr>
              <a:t>Obesity (BMI ≥ 30 kg/m²)</a:t>
            </a:r>
          </a:p>
          <a:p>
            <a:r>
              <a:rPr lang="en-US" sz="2200" dirty="0">
                <a:solidFill>
                  <a:srgbClr val="110057"/>
                </a:solidFill>
                <a:latin typeface="Arial"/>
                <a:cs typeface="Arial"/>
              </a:rPr>
              <a:t>Daytime hypercapnia (PaCO</a:t>
            </a:r>
            <a:r>
              <a:rPr lang="en-US" sz="2200" baseline="-25000" dirty="0">
                <a:solidFill>
                  <a:srgbClr val="110057"/>
                </a:solidFill>
                <a:latin typeface="Arial"/>
                <a:cs typeface="Arial"/>
              </a:rPr>
              <a:t>2</a:t>
            </a:r>
            <a:r>
              <a:rPr lang="en-US" sz="2200" dirty="0">
                <a:solidFill>
                  <a:srgbClr val="110057"/>
                </a:solidFill>
                <a:latin typeface="Arial"/>
                <a:cs typeface="Arial"/>
              </a:rPr>
              <a:t> ≥ 45 mmHg at sea level)</a:t>
            </a:r>
          </a:p>
          <a:p>
            <a:r>
              <a:rPr lang="en-US" sz="2200" dirty="0">
                <a:solidFill>
                  <a:srgbClr val="FF5D55"/>
                </a:solidFill>
                <a:latin typeface="Arial"/>
                <a:cs typeface="Arial"/>
              </a:rPr>
              <a:t>Sleep-disordered breathing (OSA or sleep hypoventilation)</a:t>
            </a:r>
          </a:p>
          <a:p>
            <a:r>
              <a:rPr lang="en-US" sz="2200" dirty="0">
                <a:solidFill>
                  <a:srgbClr val="FF5D55"/>
                </a:solidFill>
                <a:latin typeface="Arial"/>
                <a:cs typeface="Arial"/>
              </a:rPr>
              <a:t>Exclusion of other causes of hypoventilation</a:t>
            </a:r>
          </a:p>
          <a:p>
            <a:pPr marL="0" indent="0">
              <a:buNone/>
            </a:pPr>
            <a:endParaRPr lang="en-US" sz="1200" dirty="0">
              <a:latin typeface="Arial"/>
              <a:cs typeface="Arial"/>
            </a:endParaRPr>
          </a:p>
          <a:p>
            <a:pPr marL="0" indent="0">
              <a:buNone/>
            </a:pPr>
            <a:r>
              <a:rPr lang="en-US" sz="2200" dirty="0">
                <a:solidFill>
                  <a:srgbClr val="110057"/>
                </a:solidFill>
                <a:latin typeface="Arial"/>
                <a:cs typeface="Arial"/>
              </a:rPr>
              <a:t>Those last two criteria are the problem in practice...</a:t>
            </a:r>
          </a:p>
        </p:txBody>
      </p:sp>
      <p:sp>
        <p:nvSpPr>
          <p:cNvPr id="5" name="Rectangle 4">
            <a:extLst>
              <a:ext uri="{FF2B5EF4-FFF2-40B4-BE49-F238E27FC236}">
                <a16:creationId xmlns:a16="http://schemas.microsoft.com/office/drawing/2014/main" id="{4E7F10E9-8CBD-284B-AF00-F10B7D3AEDB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8561160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45832-FF42-99F6-8A16-EF4EDCAF94D3}"/>
              </a:ext>
            </a:extLst>
          </p:cNvPr>
          <p:cNvSpPr>
            <a:spLocks noGrp="1"/>
          </p:cNvSpPr>
          <p:nvPr>
            <p:ph type="title"/>
          </p:nvPr>
        </p:nvSpPr>
        <p:spPr>
          <a:xfrm>
            <a:off x="508000" y="355600"/>
            <a:ext cx="11303000" cy="571500"/>
          </a:xfrm>
        </p:spPr>
        <p:txBody>
          <a:bodyPr>
            <a:noAutofit/>
          </a:bodyPr>
          <a:lstStyle/>
          <a:p>
            <a:pPr>
              <a:buNone/>
            </a:pPr>
            <a:r>
              <a:rPr lang="en-US" sz="2800" b="1" dirty="0">
                <a:solidFill>
                  <a:srgbClr val="110057"/>
                </a:solidFill>
                <a:latin typeface="Arial"/>
                <a:cs typeface="Arial"/>
              </a:rPr>
              <a:t>Requirement of Sleep Disordered Breathing?</a:t>
            </a:r>
          </a:p>
        </p:txBody>
      </p:sp>
      <p:sp>
        <p:nvSpPr>
          <p:cNvPr id="3" name="Content Placeholder 2">
            <a:extLst>
              <a:ext uri="{FF2B5EF4-FFF2-40B4-BE49-F238E27FC236}">
                <a16:creationId xmlns:a16="http://schemas.microsoft.com/office/drawing/2014/main" id="{26473EA6-0CC7-D3CA-530C-98778316775F}"/>
              </a:ext>
            </a:extLst>
          </p:cNvPr>
          <p:cNvSpPr>
            <a:spLocks noGrp="1"/>
          </p:cNvSpPr>
          <p:nvPr>
            <p:ph idx="1"/>
          </p:nvPr>
        </p:nvSpPr>
        <p:spPr>
          <a:xfrm>
            <a:off x="508000" y="1270000"/>
            <a:ext cx="5334000" cy="4445000"/>
          </a:xfrm>
        </p:spPr>
        <p:txBody>
          <a:bodyPr>
            <a:noAutofit/>
          </a:bodyPr>
          <a:lstStyle/>
          <a:p>
            <a:pPr marL="0" indent="0">
              <a:lnSpc>
                <a:spcPct val="110000"/>
              </a:lnSpc>
              <a:spcBef>
                <a:spcPts val="0"/>
              </a:spcBef>
              <a:spcAft>
                <a:spcPts val="600"/>
              </a:spcAft>
              <a:buNone/>
            </a:pPr>
            <a:r>
              <a:rPr lang="en-US" sz="1800" dirty="0">
                <a:solidFill>
                  <a:srgbClr val="110057"/>
                </a:solidFill>
                <a:latin typeface="Arial"/>
                <a:cs typeface="Arial"/>
              </a:rPr>
              <a:t>Either:  </a:t>
            </a:r>
          </a:p>
          <a:p>
            <a:pPr>
              <a:lnSpc>
                <a:spcPct val="110000"/>
              </a:lnSpc>
              <a:spcBef>
                <a:spcPts val="0"/>
              </a:spcBef>
              <a:spcAft>
                <a:spcPts val="600"/>
              </a:spcAft>
              <a:buFontTx/>
              <a:buChar char="-"/>
            </a:pPr>
            <a:r>
              <a:rPr lang="en-US" sz="1800" dirty="0">
                <a:solidFill>
                  <a:srgbClr val="110057"/>
                </a:solidFill>
                <a:latin typeface="Arial"/>
                <a:cs typeface="Arial"/>
              </a:rPr>
              <a:t>OSA (AHI over 5 /</a:t>
            </a:r>
            <a:r>
              <a:rPr lang="en-US" sz="1800" dirty="0" err="1">
                <a:solidFill>
                  <a:srgbClr val="110057"/>
                </a:solidFill>
                <a:latin typeface="Arial"/>
                <a:cs typeface="Arial"/>
              </a:rPr>
              <a:t>hr</a:t>
            </a:r>
            <a:r>
              <a:rPr lang="en-US" sz="1800" dirty="0">
                <a:solidFill>
                  <a:srgbClr val="110057"/>
                </a:solidFill>
                <a:latin typeface="Arial"/>
                <a:cs typeface="Arial"/>
              </a:rPr>
              <a:t> and symptoms, or 15/</a:t>
            </a:r>
            <a:r>
              <a:rPr lang="en-US" sz="1800" dirty="0" err="1">
                <a:solidFill>
                  <a:srgbClr val="110057"/>
                </a:solidFill>
                <a:latin typeface="Arial"/>
                <a:cs typeface="Arial"/>
              </a:rPr>
              <a:t>hr</a:t>
            </a:r>
            <a:r>
              <a:rPr lang="en-US" sz="1800" dirty="0">
                <a:latin typeface="Arial"/>
                <a:cs typeface="Arial"/>
              </a:rPr>
              <a:t>)</a:t>
            </a:r>
            <a:endParaRPr lang="en-US" sz="1800" dirty="0">
              <a:solidFill>
                <a:srgbClr val="110057"/>
              </a:solidFill>
              <a:latin typeface="Arial"/>
              <a:cs typeface="Arial"/>
            </a:endParaRPr>
          </a:p>
          <a:p>
            <a:pPr>
              <a:lnSpc>
                <a:spcPct val="110000"/>
              </a:lnSpc>
              <a:spcBef>
                <a:spcPts val="0"/>
              </a:spcBef>
              <a:spcAft>
                <a:spcPts val="600"/>
              </a:spcAft>
              <a:buFontTx/>
              <a:buChar char="-"/>
            </a:pPr>
            <a:r>
              <a:rPr lang="en-US" sz="1800" dirty="0">
                <a:solidFill>
                  <a:srgbClr val="110057"/>
                </a:solidFill>
                <a:latin typeface="Arial"/>
                <a:cs typeface="Arial"/>
              </a:rPr>
              <a:t>Sleep Hypoventilation (10 cmH</a:t>
            </a:r>
            <a:r>
              <a:rPr lang="en-US" sz="1800" baseline="-25000" dirty="0">
                <a:solidFill>
                  <a:srgbClr val="110057"/>
                </a:solidFill>
                <a:latin typeface="Arial"/>
                <a:cs typeface="Arial"/>
              </a:rPr>
              <a:t>2</a:t>
            </a:r>
            <a:r>
              <a:rPr lang="en-US" sz="1800" dirty="0">
                <a:solidFill>
                  <a:srgbClr val="110057"/>
                </a:solidFill>
                <a:latin typeface="Arial"/>
                <a:cs typeface="Arial"/>
              </a:rPr>
              <a:t>O rise of nocturnal CO</a:t>
            </a:r>
            <a:r>
              <a:rPr lang="en-US" sz="1800" baseline="-25000" dirty="0">
                <a:solidFill>
                  <a:srgbClr val="110057"/>
                </a:solidFill>
                <a:latin typeface="Arial"/>
                <a:cs typeface="Arial"/>
              </a:rPr>
              <a:t>2</a:t>
            </a:r>
            <a:r>
              <a:rPr lang="en-US" sz="1800" dirty="0">
                <a:solidFill>
                  <a:srgbClr val="110057"/>
                </a:solidFill>
                <a:latin typeface="Arial"/>
                <a:cs typeface="Arial"/>
              </a:rPr>
              <a:t> over 55 mmHg)</a:t>
            </a:r>
          </a:p>
          <a:p>
            <a:pPr marL="0" indent="0">
              <a:lnSpc>
                <a:spcPct val="110000"/>
              </a:lnSpc>
              <a:spcBef>
                <a:spcPts val="800"/>
              </a:spcBef>
              <a:spcAft>
                <a:spcPts val="400"/>
              </a:spcAft>
              <a:buNone/>
            </a:pPr>
            <a:r>
              <a:rPr lang="en-US" sz="1800" b="1" dirty="0">
                <a:solidFill>
                  <a:srgbClr val="4A00E2"/>
                </a:solidFill>
                <a:latin typeface="Arial"/>
                <a:cs typeface="Arial"/>
              </a:rPr>
              <a:t>Does it matter?</a:t>
            </a:r>
            <a:r>
              <a:rPr lang="en-US" sz="1800" dirty="0">
                <a:solidFill>
                  <a:srgbClr val="110057"/>
                </a:solidFill>
                <a:latin typeface="Arial"/>
                <a:cs typeface="Arial"/>
              </a:rPr>
              <a:t>  No</a:t>
            </a:r>
          </a:p>
          <a:p>
            <a:pPr marL="0" indent="0">
              <a:lnSpc>
                <a:spcPct val="110000"/>
              </a:lnSpc>
              <a:spcBef>
                <a:spcPts val="800"/>
              </a:spcBef>
              <a:spcAft>
                <a:spcPts val="0"/>
              </a:spcAft>
              <a:buNone/>
            </a:pPr>
            <a:r>
              <a:rPr lang="en-US" sz="1600" i="1" dirty="0">
                <a:solidFill>
                  <a:srgbClr val="4A00E2"/>
                </a:solidFill>
                <a:latin typeface="Arial"/>
                <a:cs typeface="Arial"/>
              </a:rPr>
              <a:t>If hypothetically, someone w/ BMI of 40 kg/m2 has an AHI of 4 and nocturnal CO</a:t>
            </a:r>
            <a:r>
              <a:rPr lang="en-US" sz="1600" i="1" baseline="-25000" dirty="0">
                <a:solidFill>
                  <a:srgbClr val="4A00E2"/>
                </a:solidFill>
                <a:latin typeface="Arial"/>
                <a:cs typeface="Arial"/>
              </a:rPr>
              <a:t>2</a:t>
            </a:r>
            <a:r>
              <a:rPr lang="en-US" sz="1600" i="1" dirty="0">
                <a:solidFill>
                  <a:srgbClr val="4A00E2"/>
                </a:solidFill>
                <a:latin typeface="Arial"/>
                <a:cs typeface="Arial"/>
              </a:rPr>
              <a:t> of 52 and daytime of 47… would they not have OHS?</a:t>
            </a:r>
          </a:p>
        </p:txBody>
      </p:sp>
      <p:pic>
        <p:nvPicPr>
          <p:cNvPr id="4" name="Picture 3">
            <a:extLst>
              <a:ext uri="{FF2B5EF4-FFF2-40B4-BE49-F238E27FC236}">
                <a16:creationId xmlns:a16="http://schemas.microsoft.com/office/drawing/2014/main" id="{F5B36F5F-2915-F3C7-0450-6A884AA72230}"/>
              </a:ext>
            </a:extLst>
          </p:cNvPr>
          <p:cNvPicPr>
            <a:picLocks noChangeAspect="1"/>
          </p:cNvPicPr>
          <p:nvPr/>
        </p:nvPicPr>
        <p:blipFill>
          <a:blip r:embed="rId2"/>
          <a:stretch>
            <a:fillRect/>
          </a:stretch>
        </p:blipFill>
        <p:spPr>
          <a:xfrm>
            <a:off x="6324600" y="1270000"/>
            <a:ext cx="5461000" cy="3492500"/>
          </a:xfrm>
          <a:prstGeom prst="rect">
            <a:avLst/>
          </a:prstGeom>
        </p:spPr>
      </p:pic>
      <p:sp>
        <p:nvSpPr>
          <p:cNvPr id="5" name="Content Placeholder 2">
            <a:extLst>
              <a:ext uri="{FF2B5EF4-FFF2-40B4-BE49-F238E27FC236}">
                <a16:creationId xmlns:a16="http://schemas.microsoft.com/office/drawing/2014/main" id="{BCA81919-5180-CCAC-CF81-5AB921807A5A}"/>
              </a:ext>
            </a:extLst>
          </p:cNvPr>
          <p:cNvSpPr txBox="1">
            <a:spLocks/>
          </p:cNvSpPr>
          <p:nvPr/>
        </p:nvSpPr>
        <p:spPr>
          <a:xfrm>
            <a:off x="6324600" y="4864100"/>
            <a:ext cx="5461000" cy="1016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10057"/>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10057"/>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10057"/>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9pPr>
          </a:lstStyle>
          <a:p>
            <a:pPr marL="0" indent="0">
              <a:spcBef>
                <a:spcPts val="0"/>
              </a:spcBef>
              <a:spcAft>
                <a:spcPts val="200"/>
              </a:spcAft>
              <a:buNone/>
            </a:pPr>
            <a:r>
              <a:rPr lang="en-US" sz="1600" b="1" dirty="0">
                <a:solidFill>
                  <a:srgbClr val="110057"/>
                </a:solidFill>
                <a:latin typeface="Arial"/>
                <a:cs typeface="Arial"/>
              </a:rPr>
              <a:t>How OSA Contributes to Hypercapnia</a:t>
            </a:r>
          </a:p>
          <a:p>
            <a:pPr marL="0" indent="0">
              <a:spcBef>
                <a:spcPts val="0"/>
              </a:spcBef>
              <a:buNone/>
            </a:pPr>
            <a:r>
              <a:rPr lang="en-US" sz="1400" i="1" dirty="0">
                <a:solidFill>
                  <a:srgbClr val="4A00E2"/>
                </a:solidFill>
                <a:latin typeface="Arial"/>
                <a:cs typeface="Arial"/>
              </a:rPr>
              <a:t>Berger et al, J Appl Physiol 88:257-264 (2000)</a:t>
            </a:r>
          </a:p>
        </p:txBody>
      </p:sp>
      <p:sp>
        <p:nvSpPr>
          <p:cNvPr id="6" name="Rectangle 5">
            <a:extLst>
              <a:ext uri="{FF2B5EF4-FFF2-40B4-BE49-F238E27FC236}">
                <a16:creationId xmlns:a16="http://schemas.microsoft.com/office/drawing/2014/main" id="{168CDFF0-A2CB-444B-A776-1402214A2312}"/>
              </a:ext>
            </a:extLst>
          </p:cNvPr>
          <p:cNvSpPr/>
          <p:nvPr/>
        </p:nvSpPr>
        <p:spPr>
          <a:xfrm>
            <a:off x="508000" y="990600"/>
            <a:ext cx="762000" cy="50800"/>
          </a:xfrm>
          <a:prstGeom prst="rect">
            <a:avLst/>
          </a:prstGeom>
          <a:solidFill>
            <a:srgbClr val="0D73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ectangle 6">
            <a:extLst>
              <a:ext uri="{FF2B5EF4-FFF2-40B4-BE49-F238E27FC236}">
                <a16:creationId xmlns:a16="http://schemas.microsoft.com/office/drawing/2014/main" id="{EAF4BB9C-F30D-004C-BCC7-7AD943744E5A}"/>
              </a:ext>
            </a:extLst>
          </p:cNvPr>
          <p:cNvSpPr/>
          <p:nvPr/>
        </p:nvSpPr>
        <p:spPr>
          <a:xfrm>
            <a:off x="6045200" y="1270000"/>
            <a:ext cx="19050" cy="4699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58257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0704AE-A77C-C149-B47D-8577CC7CDAB8}"/>
              </a:ext>
            </a:extLst>
          </p:cNvPr>
          <p:cNvSpPr txBox="1"/>
          <p:nvPr/>
        </p:nvSpPr>
        <p:spPr>
          <a:xfrm>
            <a:off x="508000" y="279400"/>
            <a:ext cx="11176000" cy="533400"/>
          </a:xfrm>
          <a:prstGeom prst="rect">
            <a:avLst/>
          </a:prstGeom>
          <a:noFill/>
        </p:spPr>
        <p:txBody>
          <a:bodyPr vertOverflow="overflow" vert="horz" wrap="square" rtlCol="0" anchor="t">
            <a:noAutofit/>
          </a:bodyPr>
          <a:lstStyle/>
          <a:p>
            <a:pPr algn="l"/>
            <a:r>
              <a:rPr lang="en-US" sz="2400" b="1">
                <a:solidFill>
                  <a:srgbClr val="110057"/>
                </a:solidFill>
                <a:latin typeface="Arial"/>
                <a:cs typeface="Arial"/>
              </a:rPr>
              <a:t>Exclusion of Other Causes Is Problematic</a:t>
            </a:r>
          </a:p>
        </p:txBody>
      </p:sp>
      <p:sp>
        <p:nvSpPr>
          <p:cNvPr id="3" name="Rectangle 2">
            <a:extLst>
              <a:ext uri="{FF2B5EF4-FFF2-40B4-BE49-F238E27FC236}">
                <a16:creationId xmlns:a16="http://schemas.microsoft.com/office/drawing/2014/main" id="{ABA060DF-C8D7-C348-AB53-38F02CDD7560}"/>
              </a:ext>
            </a:extLst>
          </p:cNvPr>
          <p:cNvSpPr/>
          <p:nvPr/>
        </p:nvSpPr>
        <p:spPr>
          <a:xfrm>
            <a:off x="508000" y="863600"/>
            <a:ext cx="762000" cy="38100"/>
          </a:xfrm>
          <a:prstGeom prst="rect">
            <a:avLst/>
          </a:prstGeom>
          <a:solidFill>
            <a:srgbClr val="0D73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6BF8E54C-1E05-6547-834E-AF23DEDAA3BC}"/>
              </a:ext>
            </a:extLst>
          </p:cNvPr>
          <p:cNvSpPr txBox="1"/>
          <p:nvPr/>
        </p:nvSpPr>
        <p:spPr>
          <a:xfrm>
            <a:off x="508000" y="1016000"/>
            <a:ext cx="5588000" cy="355600"/>
          </a:xfrm>
          <a:prstGeom prst="rect">
            <a:avLst/>
          </a:prstGeom>
          <a:noFill/>
        </p:spPr>
        <p:txBody>
          <a:bodyPr vertOverflow="overflow" vert="horz" wrap="square" rtlCol="0" anchor="t">
            <a:noAutofit/>
          </a:bodyPr>
          <a:lstStyle/>
          <a:p>
            <a:pPr algn="l"/>
            <a:r>
              <a:rPr lang="en-US" sz="1600" b="1">
                <a:solidFill>
                  <a:srgbClr val="4A00E2"/>
                </a:solidFill>
                <a:latin typeface="Arial"/>
                <a:cs typeface="Arial"/>
              </a:rPr>
              <a:t>Person at Timepoint A:</a:t>
            </a:r>
          </a:p>
        </p:txBody>
      </p:sp>
      <p:sp>
        <p:nvSpPr>
          <p:cNvPr id="5" name="TextBox 4">
            <a:extLst>
              <a:ext uri="{FF2B5EF4-FFF2-40B4-BE49-F238E27FC236}">
                <a16:creationId xmlns:a16="http://schemas.microsoft.com/office/drawing/2014/main" id="{3CBF369B-C1F7-1B4D-BF3F-8B648145450F}"/>
              </a:ext>
            </a:extLst>
          </p:cNvPr>
          <p:cNvSpPr txBox="1"/>
          <p:nvPr/>
        </p:nvSpPr>
        <p:spPr>
          <a:xfrm>
            <a:off x="508000" y="1397000"/>
            <a:ext cx="5588000" cy="355600"/>
          </a:xfrm>
          <a:prstGeom prst="rect">
            <a:avLst/>
          </a:prstGeom>
          <a:noFill/>
        </p:spPr>
        <p:txBody>
          <a:bodyPr vertOverflow="overflow" vert="horz" wrap="square" rtlCol="0" anchor="t">
            <a:noAutofit/>
          </a:bodyPr>
          <a:lstStyle/>
          <a:p>
            <a:pPr algn="l"/>
            <a:r>
              <a:rPr lang="en-US" sz="1600">
                <a:solidFill>
                  <a:srgbClr val="110057"/>
                </a:solidFill>
                <a:latin typeface="Arial"/>
                <a:cs typeface="Arial"/>
              </a:rPr>
              <a:t>BMI 40, AHI 15, ABG 7.45/50 (pCO₂)</a:t>
            </a:r>
          </a:p>
        </p:txBody>
      </p:sp>
      <p:sp>
        <p:nvSpPr>
          <p:cNvPr id="6" name="TextBox 5">
            <a:extLst>
              <a:ext uri="{FF2B5EF4-FFF2-40B4-BE49-F238E27FC236}">
                <a16:creationId xmlns:a16="http://schemas.microsoft.com/office/drawing/2014/main" id="{151AA8F0-9F1F-D648-BD11-326B67F05E8F}"/>
              </a:ext>
            </a:extLst>
          </p:cNvPr>
          <p:cNvSpPr txBox="1"/>
          <p:nvPr/>
        </p:nvSpPr>
        <p:spPr>
          <a:xfrm>
            <a:off x="508000" y="1803400"/>
            <a:ext cx="5588000" cy="355600"/>
          </a:xfrm>
          <a:prstGeom prst="rect">
            <a:avLst/>
          </a:prstGeom>
          <a:noFill/>
        </p:spPr>
        <p:txBody>
          <a:bodyPr vertOverflow="overflow" vert="horz" wrap="square" rtlCol="0" anchor="t">
            <a:noAutofit/>
          </a:bodyPr>
          <a:lstStyle/>
          <a:p>
            <a:pPr algn="l"/>
            <a:r>
              <a:rPr lang="en-US" sz="1600" b="1">
                <a:solidFill>
                  <a:srgbClr val="4A00E2"/>
                </a:solidFill>
                <a:latin typeface="Arial"/>
                <a:cs typeface="Arial"/>
              </a:rPr>
              <a:t>Person at Timepoint B:</a:t>
            </a:r>
          </a:p>
        </p:txBody>
      </p:sp>
      <p:sp>
        <p:nvSpPr>
          <p:cNvPr id="7" name="TextBox 6">
            <a:extLst>
              <a:ext uri="{FF2B5EF4-FFF2-40B4-BE49-F238E27FC236}">
                <a16:creationId xmlns:a16="http://schemas.microsoft.com/office/drawing/2014/main" id="{5AA11A3A-7D3D-D34F-98CB-23D6039BAA54}"/>
              </a:ext>
            </a:extLst>
          </p:cNvPr>
          <p:cNvSpPr txBox="1"/>
          <p:nvPr/>
        </p:nvSpPr>
        <p:spPr>
          <a:xfrm>
            <a:off x="508000" y="2184400"/>
            <a:ext cx="5588000" cy="355600"/>
          </a:xfrm>
          <a:prstGeom prst="rect">
            <a:avLst/>
          </a:prstGeom>
          <a:noFill/>
        </p:spPr>
        <p:txBody>
          <a:bodyPr vertOverflow="overflow" vert="horz" wrap="square" rtlCol="0" anchor="t">
            <a:noAutofit/>
          </a:bodyPr>
          <a:lstStyle/>
          <a:p>
            <a:pPr algn="l"/>
            <a:r>
              <a:rPr lang="en-US" sz="1600">
                <a:solidFill>
                  <a:srgbClr val="110057"/>
                </a:solidFill>
                <a:latin typeface="Arial"/>
                <a:cs typeface="Arial"/>
              </a:rPr>
              <a:t>Same values + H₂FPEF score suggesting HFpEF</a:t>
            </a:r>
          </a:p>
        </p:txBody>
      </p:sp>
      <p:sp>
        <p:nvSpPr>
          <p:cNvPr id="8" name="TextBox 7">
            <a:extLst>
              <a:ext uri="{FF2B5EF4-FFF2-40B4-BE49-F238E27FC236}">
                <a16:creationId xmlns:a16="http://schemas.microsoft.com/office/drawing/2014/main" id="{98CB32F8-EB5B-7F4F-8694-5D1485472A2B}"/>
              </a:ext>
            </a:extLst>
          </p:cNvPr>
          <p:cNvSpPr txBox="1"/>
          <p:nvPr/>
        </p:nvSpPr>
        <p:spPr>
          <a:xfrm>
            <a:off x="508000" y="2616200"/>
            <a:ext cx="5588000" cy="381000"/>
          </a:xfrm>
          <a:prstGeom prst="rect">
            <a:avLst/>
          </a:prstGeom>
          <a:noFill/>
        </p:spPr>
        <p:txBody>
          <a:bodyPr vertOverflow="overflow" vert="horz" wrap="square" rtlCol="0" anchor="t">
            <a:noAutofit/>
          </a:bodyPr>
          <a:lstStyle/>
          <a:p>
            <a:pPr algn="l"/>
            <a:r>
              <a:rPr lang="en-US" sz="1600" b="1" i="1">
                <a:solidFill>
                  <a:srgbClr val="FF0044"/>
                </a:solidFill>
                <a:latin typeface="Arial"/>
                <a:cs typeface="Arial"/>
              </a:rPr>
              <a:t>Did we just cure their OHS?</a:t>
            </a:r>
          </a:p>
        </p:txBody>
      </p:sp>
      <p:sp>
        <p:nvSpPr>
          <p:cNvPr id="9" name="TextBox 8">
            <a:extLst>
              <a:ext uri="{FF2B5EF4-FFF2-40B4-BE49-F238E27FC236}">
                <a16:creationId xmlns:a16="http://schemas.microsoft.com/office/drawing/2014/main" id="{5AA28CF5-AA19-824A-9E26-F803CC9A4FB9}"/>
              </a:ext>
            </a:extLst>
          </p:cNvPr>
          <p:cNvSpPr txBox="1"/>
          <p:nvPr/>
        </p:nvSpPr>
        <p:spPr>
          <a:xfrm>
            <a:off x="508000" y="3073400"/>
            <a:ext cx="5842000" cy="1397000"/>
          </a:xfrm>
          <a:prstGeom prst="rect">
            <a:avLst/>
          </a:prstGeom>
          <a:noFill/>
        </p:spPr>
        <p:txBody>
          <a:bodyPr vertOverflow="overflow" vert="horz" wrap="square" rtlCol="0" anchor="t">
            <a:noAutofit/>
          </a:bodyPr>
          <a:lstStyle/>
          <a:p>
            <a:pPr algn="l"/>
            <a:r>
              <a:rPr lang="en-US" sz="1600" dirty="0">
                <a:solidFill>
                  <a:srgbClr val="110057"/>
                </a:solidFill>
                <a:latin typeface="Arial"/>
                <a:cs typeface="Arial"/>
              </a:rPr>
              <a:t>Obviously not. </a:t>
            </a:r>
          </a:p>
          <a:p>
            <a:pPr algn="l"/>
            <a:endParaRPr lang="en-US" sz="1600" dirty="0">
              <a:solidFill>
                <a:srgbClr val="110057"/>
              </a:solidFill>
              <a:latin typeface="Arial"/>
              <a:cs typeface="Arial"/>
            </a:endParaRPr>
          </a:p>
          <a:p>
            <a:pPr algn="l"/>
            <a:r>
              <a:rPr lang="en-US" sz="1600" dirty="0">
                <a:solidFill>
                  <a:srgbClr val="110057"/>
                </a:solidFill>
                <a:latin typeface="Arial"/>
                <a:cs typeface="Arial"/>
              </a:rPr>
              <a:t>Operationalize this as "Is obesity having a substantial causal contribution to this patient’s hypercapnia?", not the exclusion of other causes.</a:t>
            </a:r>
          </a:p>
        </p:txBody>
      </p:sp>
      <p:sp>
        <p:nvSpPr>
          <p:cNvPr id="10" name="Rectangle 9">
            <a:extLst>
              <a:ext uri="{FF2B5EF4-FFF2-40B4-BE49-F238E27FC236}">
                <a16:creationId xmlns:a16="http://schemas.microsoft.com/office/drawing/2014/main" id="{275A3AF0-A5ED-4546-AEAD-BA9CD3872094}"/>
              </a:ext>
            </a:extLst>
          </p:cNvPr>
          <p:cNvSpPr/>
          <p:nvPr/>
        </p:nvSpPr>
        <p:spPr>
          <a:xfrm>
            <a:off x="6223000" y="952500"/>
            <a:ext cx="19050" cy="5080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32BE7C97-1845-0142-B620-B2A61E844D67}"/>
              </a:ext>
            </a:extLst>
          </p:cNvPr>
          <p:cNvSpPr txBox="1"/>
          <p:nvPr/>
        </p:nvSpPr>
        <p:spPr>
          <a:xfrm>
            <a:off x="6477000" y="952500"/>
            <a:ext cx="5334000" cy="355600"/>
          </a:xfrm>
          <a:prstGeom prst="rect">
            <a:avLst/>
          </a:prstGeom>
          <a:noFill/>
        </p:spPr>
        <p:txBody>
          <a:bodyPr vertOverflow="overflow" vert="horz" wrap="square" rtlCol="0" anchor="t">
            <a:noAutofit/>
          </a:bodyPr>
          <a:lstStyle/>
          <a:p>
            <a:pPr algn="l"/>
            <a:r>
              <a:rPr lang="en-US" b="1">
                <a:solidFill>
                  <a:srgbClr val="110057"/>
                </a:solidFill>
                <a:latin typeface="Arial"/>
                <a:cs typeface="Arial"/>
              </a:rPr>
              <a:t>Multi-Causal Model</a:t>
            </a:r>
          </a:p>
        </p:txBody>
      </p:sp>
      <p:sp>
        <p:nvSpPr>
          <p:cNvPr id="12" name="Oval 11">
            <a:extLst>
              <a:ext uri="{FF2B5EF4-FFF2-40B4-BE49-F238E27FC236}">
                <a16:creationId xmlns:a16="http://schemas.microsoft.com/office/drawing/2014/main" id="{3B586919-4D4F-EE45-A745-C8160572644F}"/>
              </a:ext>
            </a:extLst>
          </p:cNvPr>
          <p:cNvSpPr/>
          <p:nvPr/>
        </p:nvSpPr>
        <p:spPr>
          <a:xfrm>
            <a:off x="6477000" y="1397000"/>
            <a:ext cx="5207000" cy="2540000"/>
          </a:xfrm>
          <a:prstGeom prst="ellipse">
            <a:avLst/>
          </a:prstGeom>
          <a:solidFill>
            <a:srgbClr val="F7F5F9"/>
          </a:solidFill>
          <a:ln w="25400" cap="flat" cmpd="sng" algn="ctr">
            <a:solidFill>
              <a:srgbClr val="11005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r>
              <a:rPr lang="en-US" sz="1400" dirty="0">
                <a:solidFill>
                  <a:srgbClr val="110057"/>
                </a:solidFill>
                <a:latin typeface="Arial"/>
                <a:cs typeface="Arial"/>
              </a:rPr>
              <a:t>All Recognized Cases
(inc. multifactorial)</a:t>
            </a:r>
          </a:p>
        </p:txBody>
      </p:sp>
      <p:sp>
        <p:nvSpPr>
          <p:cNvPr id="13" name="Oval 12">
            <a:extLst>
              <a:ext uri="{FF2B5EF4-FFF2-40B4-BE49-F238E27FC236}">
                <a16:creationId xmlns:a16="http://schemas.microsoft.com/office/drawing/2014/main" id="{03827C73-9C3C-0240-8E05-1EBF89EA85CD}"/>
              </a:ext>
            </a:extLst>
          </p:cNvPr>
          <p:cNvSpPr/>
          <p:nvPr/>
        </p:nvSpPr>
        <p:spPr>
          <a:xfrm>
            <a:off x="7439025" y="2413000"/>
            <a:ext cx="1397000" cy="889000"/>
          </a:xfrm>
          <a:prstGeom prst="ellipse">
            <a:avLst/>
          </a:prstGeom>
          <a:solidFill>
            <a:srgbClr val="7CAFD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dirty="0">
                <a:solidFill>
                  <a:srgbClr val="FFFFFF"/>
                </a:solidFill>
                <a:latin typeface="Arial"/>
                <a:cs typeface="Arial"/>
              </a:rPr>
              <a:t>COPD</a:t>
            </a:r>
          </a:p>
        </p:txBody>
      </p:sp>
      <p:sp>
        <p:nvSpPr>
          <p:cNvPr id="14" name="Oval 13">
            <a:extLst>
              <a:ext uri="{FF2B5EF4-FFF2-40B4-BE49-F238E27FC236}">
                <a16:creationId xmlns:a16="http://schemas.microsoft.com/office/drawing/2014/main" id="{615540BE-79CA-7649-9063-9B50D77DD03B}"/>
              </a:ext>
            </a:extLst>
          </p:cNvPr>
          <p:cNvSpPr/>
          <p:nvPr/>
        </p:nvSpPr>
        <p:spPr>
          <a:xfrm>
            <a:off x="9588500" y="2413000"/>
            <a:ext cx="1651000" cy="952500"/>
          </a:xfrm>
          <a:prstGeom prst="ellipse">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dirty="0">
                <a:solidFill>
                  <a:srgbClr val="FFFFFF"/>
                </a:solidFill>
                <a:latin typeface="Arial"/>
                <a:cs typeface="Arial"/>
              </a:rPr>
              <a:t>Obesity
</a:t>
            </a:r>
            <a:r>
              <a:rPr lang="en-US" sz="1400" b="1" dirty="0" err="1">
                <a:solidFill>
                  <a:srgbClr val="FFFFFF"/>
                </a:solidFill>
                <a:latin typeface="Arial"/>
                <a:cs typeface="Arial"/>
              </a:rPr>
              <a:t>Hypovent</a:t>
            </a:r>
            <a:r>
              <a:rPr lang="en-US" sz="1400" b="1" dirty="0">
                <a:solidFill>
                  <a:srgbClr val="FFFFFF"/>
                </a:solidFill>
                <a:latin typeface="Arial"/>
                <a:cs typeface="Arial"/>
              </a:rPr>
              <a:t>.</a:t>
            </a:r>
          </a:p>
        </p:txBody>
      </p:sp>
      <p:sp>
        <p:nvSpPr>
          <p:cNvPr id="15" name="Oval 14">
            <a:extLst>
              <a:ext uri="{FF2B5EF4-FFF2-40B4-BE49-F238E27FC236}">
                <a16:creationId xmlns:a16="http://schemas.microsoft.com/office/drawing/2014/main" id="{5DFC163F-5EB2-E040-BD8D-233A6F0A21D3}"/>
              </a:ext>
            </a:extLst>
          </p:cNvPr>
          <p:cNvSpPr/>
          <p:nvPr/>
        </p:nvSpPr>
        <p:spPr>
          <a:xfrm>
            <a:off x="7874000" y="3136900"/>
            <a:ext cx="1397000" cy="736600"/>
          </a:xfrm>
          <a:prstGeom prst="ellipse">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dirty="0">
                <a:solidFill>
                  <a:srgbClr val="FFFFFF"/>
                </a:solidFill>
                <a:latin typeface="Arial"/>
                <a:cs typeface="Arial"/>
              </a:rPr>
              <a:t>HFpEF</a:t>
            </a:r>
          </a:p>
        </p:txBody>
      </p:sp>
      <p:sp>
        <p:nvSpPr>
          <p:cNvPr id="16" name="TextBox 15">
            <a:extLst>
              <a:ext uri="{FF2B5EF4-FFF2-40B4-BE49-F238E27FC236}">
                <a16:creationId xmlns:a16="http://schemas.microsoft.com/office/drawing/2014/main" id="{7D217A7C-C435-8343-B6CE-B09C13893510}"/>
              </a:ext>
            </a:extLst>
          </p:cNvPr>
          <p:cNvSpPr txBox="1"/>
          <p:nvPr/>
        </p:nvSpPr>
        <p:spPr>
          <a:xfrm>
            <a:off x="8890000" y="2374900"/>
            <a:ext cx="762000" cy="381000"/>
          </a:xfrm>
          <a:prstGeom prst="rect">
            <a:avLst/>
          </a:prstGeom>
          <a:noFill/>
        </p:spPr>
        <p:txBody>
          <a:bodyPr vertOverflow="overflow" vert="horz" wrap="square" rtlCol="0" anchor="t">
            <a:noAutofit/>
          </a:bodyPr>
          <a:lstStyle/>
          <a:p>
            <a:pPr algn="l"/>
            <a:r>
              <a:rPr lang="en-US" sz="2000" b="1" dirty="0">
                <a:solidFill>
                  <a:srgbClr val="FF0044"/>
                </a:solidFill>
                <a:latin typeface="Arial"/>
                <a:cs typeface="Arial"/>
              </a:rPr>
              <a:t>???</a:t>
            </a:r>
          </a:p>
        </p:txBody>
      </p:sp>
      <p:sp>
        <p:nvSpPr>
          <p:cNvPr id="17" name="TextBox 16">
            <a:extLst>
              <a:ext uri="{FF2B5EF4-FFF2-40B4-BE49-F238E27FC236}">
                <a16:creationId xmlns:a16="http://schemas.microsoft.com/office/drawing/2014/main" id="{8FCA4963-2988-8F4D-AABB-C28DD761F8B4}"/>
              </a:ext>
            </a:extLst>
          </p:cNvPr>
          <p:cNvSpPr txBox="1"/>
          <p:nvPr/>
        </p:nvSpPr>
        <p:spPr>
          <a:xfrm>
            <a:off x="6477000" y="4318000"/>
            <a:ext cx="5334000" cy="304800"/>
          </a:xfrm>
          <a:prstGeom prst="rect">
            <a:avLst/>
          </a:prstGeom>
          <a:noFill/>
        </p:spPr>
        <p:txBody>
          <a:bodyPr vertOverflow="overflow" vert="horz" wrap="square" rtlCol="0" anchor="t">
            <a:noAutofit/>
          </a:bodyPr>
          <a:lstStyle/>
          <a:p>
            <a:pPr algn="l"/>
            <a:r>
              <a:rPr lang="en-US" sz="1400" b="1">
                <a:solidFill>
                  <a:srgbClr val="110057"/>
                </a:solidFill>
                <a:latin typeface="Arial"/>
                <a:cs typeface="Arial"/>
              </a:rPr>
              <a:t>Disease contributions overlap &amp; vary</a:t>
            </a:r>
          </a:p>
        </p:txBody>
      </p:sp>
      <p:sp>
        <p:nvSpPr>
          <p:cNvPr id="18" name="TextBox 17">
            <a:extLst>
              <a:ext uri="{FF2B5EF4-FFF2-40B4-BE49-F238E27FC236}">
                <a16:creationId xmlns:a16="http://schemas.microsoft.com/office/drawing/2014/main" id="{27164B40-798E-8844-B2F6-42505877314E}"/>
              </a:ext>
            </a:extLst>
          </p:cNvPr>
          <p:cNvSpPr txBox="1"/>
          <p:nvPr/>
        </p:nvSpPr>
        <p:spPr>
          <a:xfrm>
            <a:off x="6477000" y="4699000"/>
            <a:ext cx="1016000" cy="254000"/>
          </a:xfrm>
          <a:prstGeom prst="rect">
            <a:avLst/>
          </a:prstGeom>
          <a:noFill/>
        </p:spPr>
        <p:txBody>
          <a:bodyPr vertOverflow="overflow" vert="horz" wrap="square" rtlCol="0" anchor="t">
            <a:noAutofit/>
          </a:bodyPr>
          <a:lstStyle/>
          <a:p>
            <a:pPr algn="l"/>
            <a:r>
              <a:rPr lang="en-US" sz="1400">
                <a:solidFill>
                  <a:srgbClr val="110057"/>
                </a:solidFill>
                <a:latin typeface="Arial"/>
                <a:cs typeface="Arial"/>
              </a:rPr>
              <a:t>Patient A</a:t>
            </a:r>
          </a:p>
        </p:txBody>
      </p:sp>
      <p:sp>
        <p:nvSpPr>
          <p:cNvPr id="19" name="Rectangle 18">
            <a:extLst>
              <a:ext uri="{FF2B5EF4-FFF2-40B4-BE49-F238E27FC236}">
                <a16:creationId xmlns:a16="http://schemas.microsoft.com/office/drawing/2014/main" id="{714EB8DD-0C23-064C-903D-DB09F2F22DCF}"/>
              </a:ext>
            </a:extLst>
          </p:cNvPr>
          <p:cNvSpPr/>
          <p:nvPr/>
        </p:nvSpPr>
        <p:spPr>
          <a:xfrm>
            <a:off x="7620000" y="4699000"/>
            <a:ext cx="2286000" cy="2540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20">
            <a:extLst>
              <a:ext uri="{FF2B5EF4-FFF2-40B4-BE49-F238E27FC236}">
                <a16:creationId xmlns:a16="http://schemas.microsoft.com/office/drawing/2014/main" id="{3035071C-43E0-554D-8578-53E778021182}"/>
              </a:ext>
            </a:extLst>
          </p:cNvPr>
          <p:cNvSpPr/>
          <p:nvPr/>
        </p:nvSpPr>
        <p:spPr>
          <a:xfrm>
            <a:off x="9906000" y="4699000"/>
            <a:ext cx="1778000" cy="254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F5A95082-D36A-5049-838B-480B2406BFDC}"/>
              </a:ext>
            </a:extLst>
          </p:cNvPr>
          <p:cNvSpPr txBox="1"/>
          <p:nvPr/>
        </p:nvSpPr>
        <p:spPr>
          <a:xfrm>
            <a:off x="6477000" y="5054600"/>
            <a:ext cx="1016000" cy="254000"/>
          </a:xfrm>
          <a:prstGeom prst="rect">
            <a:avLst/>
          </a:prstGeom>
          <a:noFill/>
        </p:spPr>
        <p:txBody>
          <a:bodyPr vertOverflow="overflow" vert="horz" wrap="square" rtlCol="0" anchor="t">
            <a:noAutofit/>
          </a:bodyPr>
          <a:lstStyle/>
          <a:p>
            <a:pPr algn="l"/>
            <a:r>
              <a:rPr lang="en-US" sz="1400">
                <a:solidFill>
                  <a:srgbClr val="110057"/>
                </a:solidFill>
                <a:latin typeface="Arial"/>
                <a:cs typeface="Arial"/>
              </a:rPr>
              <a:t>Patient B</a:t>
            </a:r>
          </a:p>
        </p:txBody>
      </p:sp>
      <p:sp>
        <p:nvSpPr>
          <p:cNvPr id="23" name="Rectangle 22">
            <a:extLst>
              <a:ext uri="{FF2B5EF4-FFF2-40B4-BE49-F238E27FC236}">
                <a16:creationId xmlns:a16="http://schemas.microsoft.com/office/drawing/2014/main" id="{556CFAF2-241C-EF48-8F93-B6CDDA34C96A}"/>
              </a:ext>
            </a:extLst>
          </p:cNvPr>
          <p:cNvSpPr/>
          <p:nvPr/>
        </p:nvSpPr>
        <p:spPr>
          <a:xfrm>
            <a:off x="7620000" y="5054600"/>
            <a:ext cx="2286000" cy="2540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ectangle 24">
            <a:extLst>
              <a:ext uri="{FF2B5EF4-FFF2-40B4-BE49-F238E27FC236}">
                <a16:creationId xmlns:a16="http://schemas.microsoft.com/office/drawing/2014/main" id="{0D67273C-1A1B-C64B-80B6-9EA57555F242}"/>
              </a:ext>
            </a:extLst>
          </p:cNvPr>
          <p:cNvSpPr/>
          <p:nvPr/>
        </p:nvSpPr>
        <p:spPr>
          <a:xfrm>
            <a:off x="9906000" y="5054600"/>
            <a:ext cx="889000" cy="254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A7EB5023-BD24-8D4C-8903-AFE74DF50519}"/>
              </a:ext>
            </a:extLst>
          </p:cNvPr>
          <p:cNvSpPr/>
          <p:nvPr/>
        </p:nvSpPr>
        <p:spPr>
          <a:xfrm>
            <a:off x="10795000" y="5054600"/>
            <a:ext cx="889000" cy="254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8373DCDE-77D4-5F42-9EC9-DEBC3AA53485}"/>
              </a:ext>
            </a:extLst>
          </p:cNvPr>
          <p:cNvSpPr txBox="1"/>
          <p:nvPr/>
        </p:nvSpPr>
        <p:spPr>
          <a:xfrm>
            <a:off x="7620000" y="5359400"/>
            <a:ext cx="4064000" cy="254000"/>
          </a:xfrm>
          <a:prstGeom prst="rect">
            <a:avLst/>
          </a:prstGeom>
          <a:noFill/>
        </p:spPr>
        <p:txBody>
          <a:bodyPr vertOverflow="overflow" vert="horz" wrap="square" rtlCol="0" anchor="t">
            <a:noAutofit/>
          </a:bodyPr>
          <a:lstStyle/>
          <a:p>
            <a:pPr>
              <a:buNone/>
            </a:pPr>
            <a:r>
              <a:rPr lang="en-US" sz="1400" dirty="0">
                <a:solidFill>
                  <a:srgbClr val="FF0044"/>
                </a:solidFill>
                <a:latin typeface="Arial"/>
              </a:rPr>
              <a:t>■ </a:t>
            </a:r>
            <a:r>
              <a:rPr lang="en-US" sz="1400" dirty="0">
                <a:solidFill>
                  <a:srgbClr val="110057"/>
                </a:solidFill>
                <a:latin typeface="Arial"/>
              </a:rPr>
              <a:t>Obesity   </a:t>
            </a:r>
            <a:r>
              <a:rPr lang="en-US" sz="1400" dirty="0">
                <a:solidFill>
                  <a:srgbClr val="4A00E2"/>
                </a:solidFill>
                <a:latin typeface="Arial"/>
              </a:rPr>
              <a:t>■ </a:t>
            </a:r>
            <a:r>
              <a:rPr lang="en-US" sz="1400" dirty="0">
                <a:solidFill>
                  <a:srgbClr val="110057"/>
                </a:solidFill>
                <a:latin typeface="Arial"/>
              </a:rPr>
              <a:t>HFpEF   </a:t>
            </a:r>
            <a:r>
              <a:rPr lang="en-US" sz="1400" dirty="0">
                <a:solidFill>
                  <a:srgbClr val="D0C8E0"/>
                </a:solidFill>
                <a:latin typeface="Arial"/>
              </a:rPr>
              <a:t>■ </a:t>
            </a:r>
            <a:r>
              <a:rPr lang="en-US" sz="1400" dirty="0">
                <a:solidFill>
                  <a:srgbClr val="110057"/>
                </a:solidFill>
                <a:latin typeface="Arial"/>
              </a:rPr>
              <a:t>Unknown</a:t>
            </a:r>
          </a:p>
        </p:txBody>
      </p:sp>
      <p:sp>
        <p:nvSpPr>
          <p:cNvPr id="28" name="Rounded Rectangle 27">
            <a:extLst>
              <a:ext uri="{FF2B5EF4-FFF2-40B4-BE49-F238E27FC236}">
                <a16:creationId xmlns:a16="http://schemas.microsoft.com/office/drawing/2014/main" id="{82B0C302-AD8F-7A4A-BCD3-1A0FFB4EFE09}"/>
              </a:ext>
            </a:extLst>
          </p:cNvPr>
          <p:cNvSpPr/>
          <p:nvPr/>
        </p:nvSpPr>
        <p:spPr>
          <a:xfrm>
            <a:off x="508000" y="5715000"/>
            <a:ext cx="11176000" cy="4064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Key: Obesity is a causal contributor — not defined by exclusion of other causes</a:t>
            </a:r>
          </a:p>
        </p:txBody>
      </p:sp>
      <p:sp>
        <p:nvSpPr>
          <p:cNvPr id="29" name="Oval 28">
            <a:extLst>
              <a:ext uri="{FF2B5EF4-FFF2-40B4-BE49-F238E27FC236}">
                <a16:creationId xmlns:a16="http://schemas.microsoft.com/office/drawing/2014/main" id="{7346C727-5CF9-A3BE-5955-B207AF2ECE26}"/>
              </a:ext>
            </a:extLst>
          </p:cNvPr>
          <p:cNvSpPr/>
          <p:nvPr/>
        </p:nvSpPr>
        <p:spPr>
          <a:xfrm>
            <a:off x="8483600" y="1689100"/>
            <a:ext cx="2819400" cy="1898650"/>
          </a:xfrm>
          <a:prstGeom prst="ellipse">
            <a:avLst/>
          </a:prstGeom>
          <a:noFill/>
          <a:ln w="25400" cap="flat" cmpd="sng" algn="ctr">
            <a:solidFill>
              <a:srgbClr val="110057"/>
            </a:solidFill>
            <a:prstDash val="dash"/>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endParaRPr lang="en-US" sz="1400" dirty="0">
              <a:solidFill>
                <a:srgbClr val="110057"/>
              </a:solidFill>
              <a:latin typeface="Arial"/>
              <a:cs typeface="Arial"/>
            </a:endParaRPr>
          </a:p>
        </p:txBody>
      </p:sp>
    </p:spTree>
    <p:extLst>
      <p:ext uri="{BB962C8B-B14F-4D97-AF65-F5344CB8AC3E}">
        <p14:creationId xmlns:p14="http://schemas.microsoft.com/office/powerpoint/2010/main" val="29463995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A48E580-A13F-614B-8B8D-4F34E72C1D30}"/>
              </a:ext>
            </a:extLst>
          </p:cNvPr>
          <p:cNvSpPr/>
          <p:nvPr/>
        </p:nvSpPr>
        <p:spPr>
          <a:xfrm>
            <a:off x="0" y="0"/>
            <a:ext cx="12192000" cy="6858000"/>
          </a:xfrm>
          <a:prstGeom prst="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5B62E621-43A2-DB49-A858-320FACFEFE9B}"/>
              </a:ext>
            </a:extLst>
          </p:cNvPr>
          <p:cNvSpPr txBox="1"/>
          <p:nvPr/>
        </p:nvSpPr>
        <p:spPr>
          <a:xfrm>
            <a:off x="762000" y="1968500"/>
            <a:ext cx="10668000" cy="571500"/>
          </a:xfrm>
          <a:prstGeom prst="rect">
            <a:avLst/>
          </a:prstGeom>
          <a:noFill/>
        </p:spPr>
        <p:txBody>
          <a:bodyPr vertOverflow="overflow" vert="horz" wrap="square" rtlCol="0" anchor="t">
            <a:noAutofit/>
          </a:bodyPr>
          <a:lstStyle/>
          <a:p>
            <a:pPr algn="l"/>
            <a:r>
              <a:rPr lang="en-US" sz="2400" i="1">
                <a:solidFill>
                  <a:srgbClr val="7CAFD0"/>
                </a:solidFill>
                <a:latin typeface="Arial"/>
                <a:cs typeface="Arial"/>
              </a:rPr>
              <a:t>A more useful mental model:</a:t>
            </a:r>
          </a:p>
        </p:txBody>
      </p:sp>
      <p:sp>
        <p:nvSpPr>
          <p:cNvPr id="5" name="Rectangle 4">
            <a:extLst>
              <a:ext uri="{FF2B5EF4-FFF2-40B4-BE49-F238E27FC236}">
                <a16:creationId xmlns:a16="http://schemas.microsoft.com/office/drawing/2014/main" id="{A9096819-1CBD-5340-AEDA-6A939192BBBE}"/>
              </a:ext>
            </a:extLst>
          </p:cNvPr>
          <p:cNvSpPr/>
          <p:nvPr/>
        </p:nvSpPr>
        <p:spPr>
          <a:xfrm>
            <a:off x="762000" y="2641600"/>
            <a:ext cx="1016000" cy="508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7EE7E4D0-5F67-7445-BA3E-11FFCB154562}"/>
              </a:ext>
            </a:extLst>
          </p:cNvPr>
          <p:cNvSpPr txBox="1"/>
          <p:nvPr/>
        </p:nvSpPr>
        <p:spPr>
          <a:xfrm>
            <a:off x="762000" y="2895600"/>
            <a:ext cx="8890000" cy="1714500"/>
          </a:xfrm>
          <a:prstGeom prst="rect">
            <a:avLst/>
          </a:prstGeom>
          <a:noFill/>
        </p:spPr>
        <p:txBody>
          <a:bodyPr vertOverflow="overflow" vert="horz" wrap="square" rtlCol="0" anchor="t">
            <a:noAutofit/>
          </a:bodyPr>
          <a:lstStyle/>
          <a:p>
            <a:pPr algn="l"/>
            <a:r>
              <a:rPr lang="en-US" sz="4800" b="1">
                <a:solidFill>
                  <a:srgbClr val="FFFFFF"/>
                </a:solidFill>
                <a:latin typeface="Arial"/>
                <a:cs typeface="Arial"/>
              </a:rPr>
              <a:t>"Obesity-Related
Respiratory Failure"</a:t>
            </a:r>
          </a:p>
        </p:txBody>
      </p:sp>
      <p:sp>
        <p:nvSpPr>
          <p:cNvPr id="7" name="Rectangle 6">
            <a:extLst>
              <a:ext uri="{FF2B5EF4-FFF2-40B4-BE49-F238E27FC236}">
                <a16:creationId xmlns:a16="http://schemas.microsoft.com/office/drawing/2014/main" id="{442F8E9C-80C6-924A-B206-A19E8A64226A}"/>
              </a:ext>
            </a:extLst>
          </p:cNvPr>
          <p:cNvSpPr/>
          <p:nvPr/>
        </p:nvSpPr>
        <p:spPr>
          <a:xfrm>
            <a:off x="762000" y="4800600"/>
            <a:ext cx="10668000" cy="127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2387553E-5D31-3A44-8A69-B7926EF869B9}"/>
              </a:ext>
            </a:extLst>
          </p:cNvPr>
          <p:cNvSpPr txBox="1"/>
          <p:nvPr/>
        </p:nvSpPr>
        <p:spPr>
          <a:xfrm>
            <a:off x="762000" y="5054600"/>
            <a:ext cx="6223000" cy="1016000"/>
          </a:xfrm>
          <a:prstGeom prst="rect">
            <a:avLst/>
          </a:prstGeom>
          <a:noFill/>
        </p:spPr>
        <p:txBody>
          <a:bodyPr vertOverflow="overflow" vert="horz" wrap="square" rtlCol="0" anchor="t">
            <a:noAutofit/>
          </a:bodyPr>
          <a:lstStyle/>
          <a:p>
            <a:pPr algn="l"/>
            <a:r>
              <a:rPr lang="en-US">
                <a:solidFill>
                  <a:srgbClr val="FFD6D3"/>
                </a:solidFill>
                <a:latin typeface="Arial"/>
                <a:cs typeface="Arial"/>
              </a:rPr>
              <a:t>Obesity is a primary driver of the respiratory failure, regardless of comorbidities</a:t>
            </a:r>
          </a:p>
        </p:txBody>
      </p:sp>
      <p:sp>
        <p:nvSpPr>
          <p:cNvPr id="9" name="Right Arrow 8">
            <a:extLst>
              <a:ext uri="{FF2B5EF4-FFF2-40B4-BE49-F238E27FC236}">
                <a16:creationId xmlns:a16="http://schemas.microsoft.com/office/drawing/2014/main" id="{DC1F4215-86AA-8847-8661-9CEA7F28EF18}"/>
              </a:ext>
            </a:extLst>
          </p:cNvPr>
          <p:cNvSpPr/>
          <p:nvPr/>
        </p:nvSpPr>
        <p:spPr>
          <a:xfrm>
            <a:off x="7239000" y="5384800"/>
            <a:ext cx="635000" cy="355600"/>
          </a:xfrm>
          <a:prstGeom prst="rightArrow">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425BCB6F-A30F-C94A-AB8B-CFC3302C2AA2}"/>
              </a:ext>
            </a:extLst>
          </p:cNvPr>
          <p:cNvSpPr txBox="1"/>
          <p:nvPr/>
        </p:nvSpPr>
        <p:spPr>
          <a:xfrm>
            <a:off x="8128000" y="5054600"/>
            <a:ext cx="3429000" cy="1016000"/>
          </a:xfrm>
          <a:prstGeom prst="rect">
            <a:avLst/>
          </a:prstGeom>
          <a:noFill/>
        </p:spPr>
        <p:txBody>
          <a:bodyPr vertOverflow="overflow" vert="horz" wrap="square" rtlCol="0" anchor="t">
            <a:noAutofit/>
          </a:bodyPr>
          <a:lstStyle/>
          <a:p>
            <a:pPr algn="l"/>
            <a:r>
              <a:rPr lang="en-US" sz="2000" b="1">
                <a:solidFill>
                  <a:srgbClr val="FFFFFF"/>
                </a:solidFill>
                <a:latin typeface="Arial"/>
                <a:cs typeface="Arial"/>
              </a:rPr>
              <a:t>Better management
implications</a:t>
            </a:r>
          </a:p>
        </p:txBody>
      </p:sp>
    </p:spTree>
    <p:extLst>
      <p:ext uri="{BB962C8B-B14F-4D97-AF65-F5344CB8AC3E}">
        <p14:creationId xmlns:p14="http://schemas.microsoft.com/office/powerpoint/2010/main" val="15855671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0FD6C98-4CB0-0F41-BC5B-34A6A2083E9B}"/>
              </a:ext>
            </a:extLst>
          </p:cNvPr>
          <p:cNvSpPr txBox="1"/>
          <p:nvPr/>
        </p:nvSpPr>
        <p:spPr>
          <a:xfrm>
            <a:off x="508000" y="254000"/>
            <a:ext cx="11176000" cy="482600"/>
          </a:xfrm>
          <a:prstGeom prst="rect">
            <a:avLst/>
          </a:prstGeom>
          <a:noFill/>
        </p:spPr>
        <p:txBody>
          <a:bodyPr vertOverflow="overflow" vert="horz" wrap="square" rtlCol="0" anchor="t">
            <a:noAutofit/>
          </a:bodyPr>
          <a:lstStyle/>
          <a:p>
            <a:pPr algn="l"/>
            <a:r>
              <a:rPr lang="en-US" sz="2600" b="1">
                <a:solidFill>
                  <a:srgbClr val="110057"/>
                </a:solidFill>
                <a:latin typeface="Arial"/>
                <a:cs typeface="Arial"/>
              </a:rPr>
              <a:t>MOC Question</a:t>
            </a:r>
          </a:p>
        </p:txBody>
      </p:sp>
      <p:sp>
        <p:nvSpPr>
          <p:cNvPr id="6" name="Rectangle 5">
            <a:extLst>
              <a:ext uri="{FF2B5EF4-FFF2-40B4-BE49-F238E27FC236}">
                <a16:creationId xmlns:a16="http://schemas.microsoft.com/office/drawing/2014/main" id="{59E364C5-D14B-1C4E-ADAE-638CCD19C11B}"/>
              </a:ext>
            </a:extLst>
          </p:cNvPr>
          <p:cNvSpPr/>
          <p:nvPr/>
        </p:nvSpPr>
        <p:spPr>
          <a:xfrm>
            <a:off x="508000" y="762000"/>
            <a:ext cx="762000" cy="38100"/>
          </a:xfrm>
          <a:prstGeom prst="rect">
            <a:avLst/>
          </a:prstGeom>
          <a:solidFill>
            <a:srgbClr val="0D73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ounded Rectangle 6">
            <a:extLst>
              <a:ext uri="{FF2B5EF4-FFF2-40B4-BE49-F238E27FC236}">
                <a16:creationId xmlns:a16="http://schemas.microsoft.com/office/drawing/2014/main" id="{2EE54F2B-542B-EC45-8EE2-CFDA1FAF1E65}"/>
              </a:ext>
            </a:extLst>
          </p:cNvPr>
          <p:cNvSpPr/>
          <p:nvPr/>
        </p:nvSpPr>
        <p:spPr>
          <a:xfrm>
            <a:off x="508000" y="914400"/>
            <a:ext cx="5461000" cy="1885215"/>
          </a:xfrm>
          <a:prstGeom prst="roundRect">
            <a:avLst/>
          </a:prstGeom>
          <a:solidFill>
            <a:srgbClr val="EEEAF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0516ACD3-18F3-DD42-AD0A-74B736E188A4}"/>
              </a:ext>
            </a:extLst>
          </p:cNvPr>
          <p:cNvSpPr txBox="1"/>
          <p:nvPr/>
        </p:nvSpPr>
        <p:spPr>
          <a:xfrm>
            <a:off x="698500" y="1016000"/>
            <a:ext cx="5207000" cy="1631216"/>
          </a:xfrm>
          <a:prstGeom prst="rect">
            <a:avLst/>
          </a:prstGeom>
          <a:noFill/>
        </p:spPr>
        <p:txBody>
          <a:bodyPr vertOverflow="overflow" vert="horz" wrap="square" rtlCol="0" anchor="t">
            <a:spAutoFit/>
          </a:bodyPr>
          <a:lstStyle/>
          <a:p>
            <a:pPr>
              <a:buNone/>
            </a:pPr>
            <a:r>
              <a:rPr lang="en-US" sz="1400" dirty="0">
                <a:solidFill>
                  <a:srgbClr val="110057"/>
                </a:solidFill>
                <a:latin typeface="Arial"/>
              </a:rPr>
              <a:t>In a 65-year-old patient with </a:t>
            </a:r>
            <a:r>
              <a:rPr lang="en-US" sz="1400" b="1" dirty="0">
                <a:solidFill>
                  <a:srgbClr val="110057"/>
                </a:solidFill>
                <a:latin typeface="Arial"/>
              </a:rPr>
              <a:t>normally functioning lungs</a:t>
            </a:r>
            <a:r>
              <a:rPr lang="en-US" sz="1400" dirty="0">
                <a:solidFill>
                  <a:srgbClr val="110057"/>
                </a:solidFill>
                <a:latin typeface="Arial"/>
              </a:rPr>
              <a:t> (normal A–a gradient of 10 mmHg) breathing </a:t>
            </a:r>
            <a:r>
              <a:rPr lang="en-US" sz="1400" b="1" dirty="0">
                <a:solidFill>
                  <a:srgbClr val="110057"/>
                </a:solidFill>
                <a:latin typeface="Arial"/>
              </a:rPr>
              <a:t>room air</a:t>
            </a:r>
            <a:r>
              <a:rPr lang="en-US" sz="1400" dirty="0">
                <a:solidFill>
                  <a:srgbClr val="110057"/>
                </a:solidFill>
                <a:latin typeface="Arial"/>
              </a:rPr>
              <a:t> (FiO</a:t>
            </a:r>
            <a:r>
              <a:rPr lang="en-US" sz="1400" baseline="-25000" dirty="0">
                <a:solidFill>
                  <a:srgbClr val="110057"/>
                </a:solidFill>
                <a:latin typeface="Arial"/>
              </a:rPr>
              <a:t>2</a:t>
            </a:r>
            <a:r>
              <a:rPr lang="en-US" sz="1400" dirty="0">
                <a:solidFill>
                  <a:srgbClr val="110057"/>
                </a:solidFill>
                <a:latin typeface="Arial"/>
              </a:rPr>
              <a:t> 0.21) at </a:t>
            </a:r>
            <a:r>
              <a:rPr lang="en-US" sz="1400" b="1" dirty="0">
                <a:solidFill>
                  <a:srgbClr val="110057"/>
                </a:solidFill>
                <a:latin typeface="Arial"/>
              </a:rPr>
              <a:t>Salt Lake City elevation</a:t>
            </a:r>
            <a:r>
              <a:rPr lang="en-US" sz="1400" dirty="0">
                <a:solidFill>
                  <a:srgbClr val="110057"/>
                </a:solidFill>
                <a:latin typeface="Arial"/>
              </a:rPr>
              <a:t> (~4,000 ft; P</a:t>
            </a:r>
            <a:r>
              <a:rPr lang="en-US" sz="1400" baseline="-25000" dirty="0">
                <a:solidFill>
                  <a:srgbClr val="110057"/>
                </a:solidFill>
                <a:latin typeface="Arial"/>
              </a:rPr>
              <a:t>b</a:t>
            </a:r>
            <a:r>
              <a:rPr lang="en-US" sz="1400" dirty="0">
                <a:solidFill>
                  <a:srgbClr val="110057"/>
                </a:solidFill>
                <a:latin typeface="Arial"/>
              </a:rPr>
              <a:t> 656 mmHg), using the simplified alveolar gas equation (PH</a:t>
            </a:r>
            <a:r>
              <a:rPr lang="en-US" sz="1400" baseline="-25000" dirty="0">
                <a:solidFill>
                  <a:srgbClr val="110057"/>
                </a:solidFill>
                <a:latin typeface="Arial"/>
              </a:rPr>
              <a:t>2</a:t>
            </a:r>
            <a:r>
              <a:rPr lang="en-US" sz="1400" dirty="0">
                <a:solidFill>
                  <a:srgbClr val="110057"/>
                </a:solidFill>
                <a:latin typeface="Arial"/>
              </a:rPr>
              <a:t>O 47 mmHg, RQ 0.8):</a:t>
            </a:r>
          </a:p>
          <a:p>
            <a:pPr>
              <a:buNone/>
            </a:pPr>
            <a:r>
              <a:rPr lang="en-US" sz="1500" b="1" i="1" dirty="0">
                <a:solidFill>
                  <a:srgbClr val="4A00E2"/>
                </a:solidFill>
                <a:latin typeface="Arial"/>
              </a:rPr>
              <a:t>To what approximate PaCO</a:t>
            </a:r>
            <a:r>
              <a:rPr lang="en-US" sz="1500" b="1" i="1" baseline="-25000" dirty="0">
                <a:solidFill>
                  <a:srgbClr val="4A00E2"/>
                </a:solidFill>
                <a:latin typeface="Arial"/>
              </a:rPr>
              <a:t>2</a:t>
            </a:r>
            <a:r>
              <a:rPr lang="en-US" sz="1500" b="1" i="1" dirty="0">
                <a:solidFill>
                  <a:srgbClr val="4A00E2"/>
                </a:solidFill>
                <a:latin typeface="Arial"/>
              </a:rPr>
              <a:t> would it need to rise before SpO</a:t>
            </a:r>
            <a:r>
              <a:rPr lang="en-US" sz="1500" b="1" i="1" baseline="-25000" dirty="0">
                <a:solidFill>
                  <a:srgbClr val="4A00E2"/>
                </a:solidFill>
                <a:latin typeface="Arial"/>
              </a:rPr>
              <a:t>2</a:t>
            </a:r>
            <a:r>
              <a:rPr lang="en-US" sz="1500" b="1" i="1" dirty="0">
                <a:solidFill>
                  <a:srgbClr val="4A00E2"/>
                </a:solidFill>
                <a:latin typeface="Arial"/>
              </a:rPr>
              <a:t> drops below 90% (PaO</a:t>
            </a:r>
            <a:r>
              <a:rPr lang="en-US" sz="1500" b="1" i="1" baseline="-25000" dirty="0">
                <a:solidFill>
                  <a:srgbClr val="4A00E2"/>
                </a:solidFill>
                <a:latin typeface="Arial"/>
              </a:rPr>
              <a:t>2</a:t>
            </a:r>
            <a:r>
              <a:rPr lang="en-US" sz="1500" b="1" i="1" dirty="0">
                <a:solidFill>
                  <a:srgbClr val="4A00E2"/>
                </a:solidFill>
                <a:latin typeface="Arial"/>
              </a:rPr>
              <a:t> ~60 mmHg)?</a:t>
            </a:r>
          </a:p>
        </p:txBody>
      </p:sp>
      <p:sp>
        <p:nvSpPr>
          <p:cNvPr id="2" name="Rounded Rectangle 1">
            <a:extLst>
              <a:ext uri="{FF2B5EF4-FFF2-40B4-BE49-F238E27FC236}">
                <a16:creationId xmlns:a16="http://schemas.microsoft.com/office/drawing/2014/main" id="{AB5D7BD4-3A75-994B-BB6F-7E95C9B539F3}"/>
              </a:ext>
            </a:extLst>
          </p:cNvPr>
          <p:cNvSpPr/>
          <p:nvPr/>
        </p:nvSpPr>
        <p:spPr>
          <a:xfrm>
            <a:off x="635000" y="2901215"/>
            <a:ext cx="5334000" cy="4318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A.  45 mmHg</a:t>
            </a:r>
          </a:p>
        </p:txBody>
      </p:sp>
      <p:sp>
        <p:nvSpPr>
          <p:cNvPr id="3" name="Rounded Rectangle 2">
            <a:extLst>
              <a:ext uri="{FF2B5EF4-FFF2-40B4-BE49-F238E27FC236}">
                <a16:creationId xmlns:a16="http://schemas.microsoft.com/office/drawing/2014/main" id="{15F94BF5-7FDE-734F-B241-077E52A89465}"/>
              </a:ext>
            </a:extLst>
          </p:cNvPr>
          <p:cNvSpPr/>
          <p:nvPr/>
        </p:nvSpPr>
        <p:spPr>
          <a:xfrm>
            <a:off x="635000" y="3345715"/>
            <a:ext cx="5334000" cy="4318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B.  55 mmHg</a:t>
            </a:r>
          </a:p>
        </p:txBody>
      </p:sp>
      <p:sp>
        <p:nvSpPr>
          <p:cNvPr id="4" name="Rounded Rectangle 3">
            <a:extLst>
              <a:ext uri="{FF2B5EF4-FFF2-40B4-BE49-F238E27FC236}">
                <a16:creationId xmlns:a16="http://schemas.microsoft.com/office/drawing/2014/main" id="{0A614D22-F6F7-6642-ACD2-1BE380BB70CE}"/>
              </a:ext>
            </a:extLst>
          </p:cNvPr>
          <p:cNvSpPr/>
          <p:nvPr/>
        </p:nvSpPr>
        <p:spPr>
          <a:xfrm>
            <a:off x="635000" y="3790215"/>
            <a:ext cx="5334000" cy="4318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C.  65 mmHg</a:t>
            </a:r>
          </a:p>
        </p:txBody>
      </p:sp>
      <p:sp>
        <p:nvSpPr>
          <p:cNvPr id="9" name="Rounded Rectangle 8">
            <a:extLst>
              <a:ext uri="{FF2B5EF4-FFF2-40B4-BE49-F238E27FC236}">
                <a16:creationId xmlns:a16="http://schemas.microsoft.com/office/drawing/2014/main" id="{C0294F4F-6D5C-4848-82A6-5D10555545B3}"/>
              </a:ext>
            </a:extLst>
          </p:cNvPr>
          <p:cNvSpPr/>
          <p:nvPr/>
        </p:nvSpPr>
        <p:spPr>
          <a:xfrm>
            <a:off x="635000" y="4234715"/>
            <a:ext cx="5334000" cy="4318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D.  75 mmHg</a:t>
            </a:r>
          </a:p>
        </p:txBody>
      </p:sp>
      <p:sp>
        <p:nvSpPr>
          <p:cNvPr id="10" name="Rounded Rectangle 9">
            <a:extLst>
              <a:ext uri="{FF2B5EF4-FFF2-40B4-BE49-F238E27FC236}">
                <a16:creationId xmlns:a16="http://schemas.microsoft.com/office/drawing/2014/main" id="{EF34B22A-595B-F34F-9161-3362006B8E9B}"/>
              </a:ext>
            </a:extLst>
          </p:cNvPr>
          <p:cNvSpPr/>
          <p:nvPr/>
        </p:nvSpPr>
        <p:spPr>
          <a:xfrm>
            <a:off x="635000" y="4679215"/>
            <a:ext cx="5334000" cy="4318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E.  85 mmHg</a:t>
            </a:r>
          </a:p>
        </p:txBody>
      </p:sp>
      <p:sp>
        <p:nvSpPr>
          <p:cNvPr id="11" name="Rounded Rectangle 10">
            <a:extLst>
              <a:ext uri="{FF2B5EF4-FFF2-40B4-BE49-F238E27FC236}">
                <a16:creationId xmlns:a16="http://schemas.microsoft.com/office/drawing/2014/main" id="{970AB020-61A6-5946-975E-289B2785374F}"/>
              </a:ext>
            </a:extLst>
          </p:cNvPr>
          <p:cNvSpPr/>
          <p:nvPr/>
        </p:nvSpPr>
        <p:spPr>
          <a:xfrm>
            <a:off x="508000" y="5562600"/>
            <a:ext cx="11176000" cy="5334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CFFA402C-CB7E-A24F-B3E1-34B59ABB751C}"/>
              </a:ext>
            </a:extLst>
          </p:cNvPr>
          <p:cNvSpPr txBox="1"/>
          <p:nvPr/>
        </p:nvSpPr>
        <p:spPr>
          <a:xfrm>
            <a:off x="698500" y="5613400"/>
            <a:ext cx="10795000" cy="431800"/>
          </a:xfrm>
          <a:prstGeom prst="rect">
            <a:avLst/>
          </a:prstGeom>
          <a:noFill/>
        </p:spPr>
        <p:txBody>
          <a:bodyPr vertOverflow="overflow" vert="horz" wrap="square" rtlCol="0" anchor="t">
            <a:noAutofit/>
          </a:bodyPr>
          <a:lstStyle/>
          <a:p>
            <a:pPr algn="ctr">
              <a:buNone/>
            </a:pPr>
            <a:r>
              <a:rPr lang="en-US" sz="1400" dirty="0">
                <a:solidFill>
                  <a:srgbClr val="D0C8E0"/>
                </a:solidFill>
                <a:latin typeface="Arial"/>
              </a:rPr>
              <a:t>Recall:  P</a:t>
            </a:r>
            <a:r>
              <a:rPr lang="en-US" sz="1400" baseline="-25000" dirty="0">
                <a:solidFill>
                  <a:srgbClr val="D0C8E0"/>
                </a:solidFill>
                <a:latin typeface="Arial"/>
              </a:rPr>
              <a:t>A</a:t>
            </a:r>
            <a:r>
              <a:rPr lang="en-US" sz="1400" dirty="0">
                <a:solidFill>
                  <a:srgbClr val="D0C8E0"/>
                </a:solidFill>
                <a:latin typeface="Arial"/>
              </a:rPr>
              <a:t>O</a:t>
            </a:r>
            <a:r>
              <a:rPr lang="en-US" sz="1400" baseline="-25000" dirty="0">
                <a:solidFill>
                  <a:srgbClr val="D0C8E0"/>
                </a:solidFill>
                <a:latin typeface="Arial"/>
              </a:rPr>
              <a:t>2</a:t>
            </a:r>
            <a:r>
              <a:rPr lang="en-US" sz="1400" dirty="0">
                <a:solidFill>
                  <a:srgbClr val="D0C8E0"/>
                </a:solidFill>
                <a:latin typeface="Arial"/>
              </a:rPr>
              <a:t> = FiO</a:t>
            </a:r>
            <a:r>
              <a:rPr lang="en-US" sz="1400" baseline="-25000" dirty="0">
                <a:solidFill>
                  <a:srgbClr val="D0C8E0"/>
                </a:solidFill>
                <a:latin typeface="Arial"/>
              </a:rPr>
              <a:t>2</a:t>
            </a:r>
            <a:r>
              <a:rPr lang="en-US" sz="1400" dirty="0">
                <a:solidFill>
                  <a:srgbClr val="D0C8E0"/>
                </a:solidFill>
                <a:latin typeface="Arial"/>
              </a:rPr>
              <a:t> × (P</a:t>
            </a:r>
            <a:r>
              <a:rPr lang="en-US" sz="1400" baseline="-25000" dirty="0">
                <a:solidFill>
                  <a:srgbClr val="D0C8E0"/>
                </a:solidFill>
                <a:latin typeface="Arial"/>
              </a:rPr>
              <a:t>b</a:t>
            </a:r>
            <a:r>
              <a:rPr lang="en-US" sz="1400" dirty="0">
                <a:solidFill>
                  <a:srgbClr val="D0C8E0"/>
                </a:solidFill>
                <a:latin typeface="Arial"/>
              </a:rPr>
              <a:t> − PH</a:t>
            </a:r>
            <a:r>
              <a:rPr lang="en-US" sz="1400" baseline="-25000" dirty="0">
                <a:solidFill>
                  <a:srgbClr val="D0C8E0"/>
                </a:solidFill>
                <a:latin typeface="Arial"/>
              </a:rPr>
              <a:t>2</a:t>
            </a:r>
            <a:r>
              <a:rPr lang="en-US" sz="1400" dirty="0">
                <a:solidFill>
                  <a:srgbClr val="D0C8E0"/>
                </a:solidFill>
                <a:latin typeface="Arial"/>
              </a:rPr>
              <a:t>O) − (PaCO</a:t>
            </a:r>
            <a:r>
              <a:rPr lang="en-US" sz="1400" baseline="-25000" dirty="0">
                <a:solidFill>
                  <a:srgbClr val="D0C8E0"/>
                </a:solidFill>
                <a:latin typeface="Arial"/>
              </a:rPr>
              <a:t>2</a:t>
            </a:r>
            <a:r>
              <a:rPr lang="en-US" sz="1400" dirty="0">
                <a:solidFill>
                  <a:srgbClr val="D0C8E0"/>
                </a:solidFill>
                <a:latin typeface="Arial"/>
              </a:rPr>
              <a:t> / RQ)       O</a:t>
            </a:r>
            <a:r>
              <a:rPr lang="en-US" sz="1400" baseline="-25000" dirty="0">
                <a:solidFill>
                  <a:srgbClr val="D0C8E0"/>
                </a:solidFill>
                <a:latin typeface="Arial"/>
              </a:rPr>
              <a:t>2</a:t>
            </a:r>
            <a:r>
              <a:rPr lang="en-US" sz="1400" dirty="0">
                <a:solidFill>
                  <a:srgbClr val="D0C8E0"/>
                </a:solidFill>
                <a:latin typeface="Arial"/>
              </a:rPr>
              <a:t> is </a:t>
            </a:r>
            <a:r>
              <a:rPr lang="en-US" sz="1400" b="1" dirty="0">
                <a:solidFill>
                  <a:srgbClr val="FFFFFF"/>
                </a:solidFill>
                <a:latin typeface="Arial"/>
              </a:rPr>
              <a:t>17.8 mmHg lower</a:t>
            </a:r>
            <a:r>
              <a:rPr lang="en-US" sz="1400" dirty="0">
                <a:solidFill>
                  <a:srgbClr val="D0C8E0"/>
                </a:solidFill>
                <a:latin typeface="Arial"/>
              </a:rPr>
              <a:t> at 4,500 ft</a:t>
            </a:r>
          </a:p>
        </p:txBody>
      </p:sp>
      <p:pic>
        <p:nvPicPr>
          <p:cNvPr id="2050" name="Picture 2" descr="Arterial Blood Gas (ABG) Interpretation | Springer Nature Link">
            <a:extLst>
              <a:ext uri="{FF2B5EF4-FFF2-40B4-BE49-F238E27FC236}">
                <a16:creationId xmlns:a16="http://schemas.microsoft.com/office/drawing/2014/main" id="{6B15F7F3-53CF-378B-7990-A0F027930F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23000" y="1447800"/>
            <a:ext cx="5461000" cy="3594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1990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9FD1B32C-69F2-9649-B6A7-672ABEA58AB8}"/>
              </a:ext>
            </a:extLst>
          </p:cNvPr>
          <p:cNvSpPr/>
          <p:nvPr/>
        </p:nvSpPr>
        <p:spPr>
          <a:xfrm>
            <a:off x="635000" y="5410200"/>
            <a:ext cx="5588000" cy="952500"/>
          </a:xfrm>
          <a:prstGeom prst="roundRect">
            <a:avLst/>
          </a:prstGeom>
          <a:solidFill>
            <a:srgbClr val="F5F3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grpSp>
        <p:nvGrpSpPr>
          <p:cNvPr id="2" name="Group 1">
            <a:extLst>
              <a:ext uri="{FF2B5EF4-FFF2-40B4-BE49-F238E27FC236}">
                <a16:creationId xmlns:a16="http://schemas.microsoft.com/office/drawing/2014/main" id="{E0B2A734-93B2-836E-C4CB-71BD5B1B02E7}"/>
              </a:ext>
            </a:extLst>
          </p:cNvPr>
          <p:cNvGrpSpPr/>
          <p:nvPr/>
        </p:nvGrpSpPr>
        <p:grpSpPr>
          <a:xfrm>
            <a:off x="6413500" y="254000"/>
            <a:ext cx="5651500" cy="5651500"/>
            <a:chOff x="501048" y="378940"/>
            <a:chExt cx="11386151" cy="6244281"/>
          </a:xfrm>
        </p:grpSpPr>
        <p:graphicFrame>
          <p:nvGraphicFramePr>
            <p:cNvPr id="4" name="Chart 3">
              <a:extLst>
                <a:ext uri="{FF2B5EF4-FFF2-40B4-BE49-F238E27FC236}">
                  <a16:creationId xmlns:a16="http://schemas.microsoft.com/office/drawing/2014/main" id="{57D2B7BE-0FC9-3344-AE58-83AD42304BBF}"/>
                </a:ext>
              </a:extLst>
            </p:cNvPr>
            <p:cNvGraphicFramePr>
              <a:graphicFrameLocks/>
            </p:cNvGraphicFramePr>
            <p:nvPr/>
          </p:nvGraphicFramePr>
          <p:xfrm>
            <a:off x="501048" y="378940"/>
            <a:ext cx="11386151" cy="6244281"/>
          </p:xfrm>
          <a:graphic>
            <a:graphicData uri="http://schemas.openxmlformats.org/drawingml/2006/chart">
              <c:chart xmlns:c="http://schemas.openxmlformats.org/drawingml/2006/chart" xmlns:r="http://schemas.openxmlformats.org/officeDocument/2006/relationships" r:id="rId3"/>
            </a:graphicData>
          </a:graphic>
        </p:graphicFrame>
        <p:cxnSp>
          <p:nvCxnSpPr>
            <p:cNvPr id="3" name="Straight Connector 2">
              <a:extLst>
                <a:ext uri="{FF2B5EF4-FFF2-40B4-BE49-F238E27FC236}">
                  <a16:creationId xmlns:a16="http://schemas.microsoft.com/office/drawing/2014/main" id="{6C092EFC-AFD0-8549-A8FC-13B4E80D8E5C}"/>
                </a:ext>
              </a:extLst>
            </p:cNvPr>
            <p:cNvCxnSpPr>
              <a:cxnSpLocks/>
            </p:cNvCxnSpPr>
            <p:nvPr/>
          </p:nvCxnSpPr>
          <p:spPr>
            <a:xfrm>
              <a:off x="2825989" y="3541962"/>
              <a:ext cx="4716525" cy="0"/>
            </a:xfrm>
            <a:prstGeom prst="line">
              <a:avLst/>
            </a:prstGeom>
            <a:ln w="123825">
              <a:solidFill>
                <a:srgbClr val="FF0000">
                  <a:alpha val="50000"/>
                </a:srgbClr>
              </a:solidFill>
            </a:ln>
          </p:spPr>
          <p:style>
            <a:lnRef idx="1">
              <a:schemeClr val="accent1"/>
            </a:lnRef>
            <a:fillRef idx="0">
              <a:schemeClr val="accent1"/>
            </a:fillRef>
            <a:effectRef idx="0">
              <a:schemeClr val="accent1"/>
            </a:effectRef>
            <a:fontRef idx="minor">
              <a:schemeClr val="tx1"/>
            </a:fontRef>
          </p:style>
        </p:cxnSp>
      </p:grpSp>
      <p:sp>
        <p:nvSpPr>
          <p:cNvPr id="6" name="TextBox 5">
            <a:extLst>
              <a:ext uri="{FF2B5EF4-FFF2-40B4-BE49-F238E27FC236}">
                <a16:creationId xmlns:a16="http://schemas.microsoft.com/office/drawing/2014/main" id="{3D3431E3-DD42-86D1-9E1A-98306ED1EA28}"/>
              </a:ext>
            </a:extLst>
          </p:cNvPr>
          <p:cNvSpPr txBox="1"/>
          <p:nvPr/>
        </p:nvSpPr>
        <p:spPr>
          <a:xfrm>
            <a:off x="635000" y="4953000"/>
            <a:ext cx="5588000" cy="355600"/>
          </a:xfrm>
          <a:prstGeom prst="rect">
            <a:avLst/>
          </a:prstGeom>
          <a:noFill/>
        </p:spPr>
        <p:txBody>
          <a:bodyPr wrap="square">
            <a:spAutoFit/>
          </a:bodyPr>
          <a:lstStyle/>
          <a:p>
            <a:r>
              <a:rPr lang="en-US" sz="1400" dirty="0">
                <a:solidFill>
                  <a:srgbClr val="110057"/>
                </a:solidFill>
                <a:latin typeface="Arial"/>
              </a:rPr>
              <a:t>P </a:t>
            </a:r>
            <a:r>
              <a:rPr lang="en-US" sz="1400" baseline="-25000" dirty="0">
                <a:solidFill>
                  <a:srgbClr val="110057"/>
                </a:solidFill>
                <a:latin typeface="Arial"/>
              </a:rPr>
              <a:t>A</a:t>
            </a:r>
            <a:r>
              <a:rPr lang="en-US" sz="1400" dirty="0">
                <a:solidFill>
                  <a:srgbClr val="110057"/>
                </a:solidFill>
                <a:latin typeface="Arial"/>
              </a:rPr>
              <a:t>O</a:t>
            </a:r>
            <a:r>
              <a:rPr lang="en-US" sz="1400" baseline="-25000" dirty="0">
                <a:solidFill>
                  <a:srgbClr val="110057"/>
                </a:solidFill>
                <a:latin typeface="Arial"/>
              </a:rPr>
              <a:t>2</a:t>
            </a:r>
            <a:r>
              <a:rPr lang="en-US" sz="1400" dirty="0">
                <a:solidFill>
                  <a:srgbClr val="110057"/>
                </a:solidFill>
                <a:latin typeface="Arial"/>
              </a:rPr>
              <a:t> = FiO</a:t>
            </a:r>
            <a:r>
              <a:rPr lang="en-US" sz="1400" baseline="-25000" dirty="0">
                <a:solidFill>
                  <a:srgbClr val="110057"/>
                </a:solidFill>
                <a:latin typeface="Arial"/>
              </a:rPr>
              <a:t>2</a:t>
            </a:r>
            <a:r>
              <a:rPr lang="en-US" sz="1400" dirty="0">
                <a:solidFill>
                  <a:srgbClr val="110057"/>
                </a:solidFill>
                <a:latin typeface="Arial"/>
              </a:rPr>
              <a:t> (</a:t>
            </a:r>
            <a:r>
              <a:rPr lang="en-US" sz="1400" b="1" i="1" dirty="0">
                <a:solidFill>
                  <a:srgbClr val="110057"/>
                </a:solidFill>
                <a:latin typeface="Arial"/>
              </a:rPr>
              <a:t>P</a:t>
            </a:r>
            <a:r>
              <a:rPr lang="en-US" sz="1400" b="1" i="1" baseline="-25000" dirty="0">
                <a:solidFill>
                  <a:srgbClr val="110057"/>
                </a:solidFill>
                <a:latin typeface="Arial"/>
              </a:rPr>
              <a:t>B</a:t>
            </a:r>
            <a:r>
              <a:rPr lang="en-US" sz="1400" dirty="0">
                <a:solidFill>
                  <a:srgbClr val="110057"/>
                </a:solidFill>
                <a:latin typeface="Arial"/>
              </a:rPr>
              <a:t>−47) − (</a:t>
            </a:r>
            <a:r>
              <a:rPr lang="en-US" sz="1400" b="1" dirty="0">
                <a:solidFill>
                  <a:srgbClr val="110057"/>
                </a:solidFill>
                <a:latin typeface="Arial"/>
              </a:rPr>
              <a:t>PaCO</a:t>
            </a:r>
            <a:r>
              <a:rPr lang="en-US" sz="1400" b="1" baseline="-25000" dirty="0">
                <a:solidFill>
                  <a:srgbClr val="110057"/>
                </a:solidFill>
                <a:latin typeface="Arial"/>
              </a:rPr>
              <a:t>2</a:t>
            </a:r>
            <a:r>
              <a:rPr lang="en-US" sz="1400" dirty="0">
                <a:solidFill>
                  <a:srgbClr val="110057"/>
                </a:solidFill>
                <a:latin typeface="Arial"/>
              </a:rPr>
              <a:t>/</a:t>
            </a:r>
            <a:r>
              <a:rPr lang="en-US" sz="1400" i="1" dirty="0">
                <a:solidFill>
                  <a:srgbClr val="110057"/>
                </a:solidFill>
                <a:latin typeface="Arial"/>
              </a:rPr>
              <a:t>R</a:t>
            </a:r>
            <a:r>
              <a:rPr lang="en-US" sz="1400" dirty="0">
                <a:solidFill>
                  <a:srgbClr val="110057"/>
                </a:solidFill>
                <a:latin typeface="Arial"/>
              </a:rPr>
              <a:t>)     O</a:t>
            </a:r>
            <a:r>
              <a:rPr lang="en-US" sz="1400" baseline="-25000" dirty="0">
                <a:solidFill>
                  <a:srgbClr val="110057"/>
                </a:solidFill>
                <a:latin typeface="Arial"/>
              </a:rPr>
              <a:t>2</a:t>
            </a:r>
            <a:r>
              <a:rPr lang="en-US" sz="1400" dirty="0">
                <a:solidFill>
                  <a:srgbClr val="110057"/>
                </a:solidFill>
                <a:latin typeface="Arial"/>
              </a:rPr>
              <a:t> is </a:t>
            </a:r>
            <a:r>
              <a:rPr lang="en-US" sz="1400" b="1" dirty="0">
                <a:solidFill>
                  <a:srgbClr val="FF0044"/>
                </a:solidFill>
                <a:latin typeface="Arial"/>
              </a:rPr>
              <a:t>17.8 mmHg lower</a:t>
            </a:r>
            <a:r>
              <a:rPr lang="en-US" sz="1400" dirty="0">
                <a:solidFill>
                  <a:srgbClr val="110057"/>
                </a:solidFill>
                <a:latin typeface="Arial"/>
              </a:rPr>
              <a:t> at 4,500 ft</a:t>
            </a:r>
          </a:p>
        </p:txBody>
      </p:sp>
      <p:sp>
        <p:nvSpPr>
          <p:cNvPr id="7" name="Title 1">
            <a:extLst>
              <a:ext uri="{FF2B5EF4-FFF2-40B4-BE49-F238E27FC236}">
                <a16:creationId xmlns:a16="http://schemas.microsoft.com/office/drawing/2014/main" id="{C7B14BE4-E361-8BD3-1480-FB6517A6F95F}"/>
              </a:ext>
            </a:extLst>
          </p:cNvPr>
          <p:cNvSpPr>
            <a:spLocks noGrp="1"/>
          </p:cNvSpPr>
          <p:nvPr>
            <p:ph type="title"/>
          </p:nvPr>
        </p:nvSpPr>
        <p:spPr>
          <a:xfrm>
            <a:off x="635000" y="254000"/>
            <a:ext cx="5588000" cy="406400"/>
          </a:xfrm>
        </p:spPr>
        <p:txBody>
          <a:bodyPr>
            <a:normAutofit/>
          </a:bodyPr>
          <a:lstStyle/>
          <a:p>
            <a:r>
              <a:rPr lang="en-US" sz="2200" b="1" dirty="0">
                <a:solidFill>
                  <a:srgbClr val="110057"/>
                </a:solidFill>
                <a:latin typeface="Arial"/>
              </a:rPr>
              <a:t>Hypercapnia in SLC</a:t>
            </a:r>
          </a:p>
        </p:txBody>
      </p:sp>
      <p:sp>
        <p:nvSpPr>
          <p:cNvPr id="5" name="TextBox 4">
            <a:extLst>
              <a:ext uri="{FF2B5EF4-FFF2-40B4-BE49-F238E27FC236}">
                <a16:creationId xmlns:a16="http://schemas.microsoft.com/office/drawing/2014/main" id="{3FC231D4-1CF5-DC49-9359-66DE1AACE713}"/>
              </a:ext>
            </a:extLst>
          </p:cNvPr>
          <p:cNvSpPr txBox="1"/>
          <p:nvPr/>
        </p:nvSpPr>
        <p:spPr>
          <a:xfrm>
            <a:off x="635000" y="1143000"/>
            <a:ext cx="5588000" cy="1384995"/>
          </a:xfrm>
          <a:prstGeom prst="rect">
            <a:avLst/>
          </a:prstGeom>
          <a:noFill/>
        </p:spPr>
        <p:txBody>
          <a:bodyPr vertOverflow="overflow" vert="horz" wrap="square" rtlCol="0" anchor="t">
            <a:spAutoFit/>
          </a:bodyPr>
          <a:lstStyle/>
          <a:p>
            <a:pPr>
              <a:buNone/>
            </a:pPr>
            <a:r>
              <a:rPr lang="en-US" sz="1400" b="1" dirty="0">
                <a:solidFill>
                  <a:srgbClr val="4A00E2"/>
                </a:solidFill>
                <a:latin typeface="Arial"/>
              </a:rPr>
              <a:t>1  SpO</a:t>
            </a:r>
            <a:r>
              <a:rPr lang="en-US" sz="1400" b="1" baseline="-25000" dirty="0">
                <a:solidFill>
                  <a:srgbClr val="4A00E2"/>
                </a:solidFill>
                <a:latin typeface="Arial"/>
              </a:rPr>
              <a:t>2</a:t>
            </a:r>
            <a:r>
              <a:rPr lang="en-US" sz="1400" b="1" dirty="0">
                <a:solidFill>
                  <a:srgbClr val="4A00E2"/>
                </a:solidFill>
                <a:latin typeface="Arial"/>
              </a:rPr>
              <a:t> → PaO</a:t>
            </a:r>
            <a:r>
              <a:rPr lang="en-US" sz="1400" b="1" baseline="-25000" dirty="0">
                <a:solidFill>
                  <a:srgbClr val="4A00E2"/>
                </a:solidFill>
                <a:latin typeface="Arial"/>
              </a:rPr>
              <a:t>2</a:t>
            </a:r>
            <a:r>
              <a:rPr lang="en-US" sz="1400" b="1" dirty="0">
                <a:solidFill>
                  <a:srgbClr val="4A00E2"/>
                </a:solidFill>
                <a:latin typeface="Arial"/>
              </a:rPr>
              <a:t>    </a:t>
            </a:r>
            <a:r>
              <a:rPr lang="en-US" sz="1400" dirty="0">
                <a:solidFill>
                  <a:srgbClr val="110057"/>
                </a:solidFill>
                <a:latin typeface="Arial"/>
              </a:rPr>
              <a:t>SpO</a:t>
            </a:r>
            <a:r>
              <a:rPr lang="en-US" sz="1400" baseline="-25000" dirty="0">
                <a:solidFill>
                  <a:srgbClr val="110057"/>
                </a:solidFill>
                <a:latin typeface="Arial"/>
              </a:rPr>
              <a:t>2</a:t>
            </a:r>
            <a:r>
              <a:rPr lang="en-US" sz="1400" dirty="0">
                <a:solidFill>
                  <a:srgbClr val="110057"/>
                </a:solidFill>
                <a:latin typeface="Arial"/>
              </a:rPr>
              <a:t> ~90% ≈ PaO</a:t>
            </a:r>
            <a:r>
              <a:rPr lang="en-US" sz="1400" baseline="-25000" dirty="0">
                <a:solidFill>
                  <a:srgbClr val="110057"/>
                </a:solidFill>
                <a:latin typeface="Arial"/>
              </a:rPr>
              <a:t>2</a:t>
            </a:r>
            <a:r>
              <a:rPr lang="en-US" sz="1400" dirty="0">
                <a:solidFill>
                  <a:srgbClr val="110057"/>
                </a:solidFill>
                <a:latin typeface="Arial"/>
              </a:rPr>
              <a:t> ~60 mmHg</a:t>
            </a:r>
          </a:p>
          <a:p>
            <a:pPr>
              <a:buNone/>
            </a:pPr>
            <a:r>
              <a:rPr lang="en-US" sz="1400" b="1" dirty="0">
                <a:solidFill>
                  <a:srgbClr val="4A00E2"/>
                </a:solidFill>
                <a:latin typeface="Arial"/>
              </a:rPr>
              <a:t>2  PiO</a:t>
            </a:r>
            <a:r>
              <a:rPr lang="en-US" sz="1400" b="1" baseline="-25000" dirty="0">
                <a:solidFill>
                  <a:srgbClr val="4A00E2"/>
                </a:solidFill>
                <a:latin typeface="Arial"/>
              </a:rPr>
              <a:t>2</a:t>
            </a:r>
            <a:r>
              <a:rPr lang="en-US" sz="1400" b="1" dirty="0">
                <a:solidFill>
                  <a:srgbClr val="4A00E2"/>
                </a:solidFill>
                <a:latin typeface="Arial"/>
              </a:rPr>
              <a:t> at altitude    </a:t>
            </a:r>
            <a:r>
              <a:rPr lang="en-US" sz="1400" dirty="0">
                <a:solidFill>
                  <a:srgbClr val="110057"/>
                </a:solidFill>
                <a:latin typeface="Arial"/>
              </a:rPr>
              <a:t>PiO</a:t>
            </a:r>
            <a:r>
              <a:rPr lang="en-US" sz="1400" baseline="-25000" dirty="0">
                <a:solidFill>
                  <a:srgbClr val="110057"/>
                </a:solidFill>
                <a:latin typeface="Arial"/>
              </a:rPr>
              <a:t>2</a:t>
            </a:r>
            <a:r>
              <a:rPr lang="en-US" sz="1400" dirty="0">
                <a:solidFill>
                  <a:srgbClr val="110057"/>
                </a:solidFill>
                <a:latin typeface="Arial"/>
              </a:rPr>
              <a:t> = 0.21 × (656 − 47) = </a:t>
            </a:r>
            <a:r>
              <a:rPr lang="en-US" sz="1400" b="1" dirty="0">
                <a:solidFill>
                  <a:srgbClr val="FF0044"/>
                </a:solidFill>
                <a:latin typeface="Arial"/>
              </a:rPr>
              <a:t>128 mmHg</a:t>
            </a:r>
          </a:p>
          <a:p>
            <a:pPr>
              <a:buNone/>
            </a:pPr>
            <a:r>
              <a:rPr lang="en-US" sz="1400" b="1" dirty="0">
                <a:solidFill>
                  <a:srgbClr val="4A00E2"/>
                </a:solidFill>
                <a:latin typeface="Arial"/>
              </a:rPr>
              <a:t>3  Alveolar gas eq.  </a:t>
            </a:r>
            <a:r>
              <a:rPr lang="en-US" sz="1400" dirty="0">
                <a:solidFill>
                  <a:srgbClr val="110057"/>
                </a:solidFill>
                <a:latin typeface="Arial"/>
              </a:rPr>
              <a:t>P</a:t>
            </a:r>
            <a:r>
              <a:rPr lang="en-US" sz="1400" baseline="-25000" dirty="0">
                <a:solidFill>
                  <a:srgbClr val="110057"/>
                </a:solidFill>
                <a:latin typeface="Arial"/>
              </a:rPr>
              <a:t>A</a:t>
            </a:r>
            <a:r>
              <a:rPr lang="en-US" sz="1400" dirty="0">
                <a:solidFill>
                  <a:srgbClr val="110057"/>
                </a:solidFill>
                <a:latin typeface="Arial"/>
              </a:rPr>
              <a:t>O</a:t>
            </a:r>
            <a:r>
              <a:rPr lang="en-US" sz="1400" baseline="-25000" dirty="0">
                <a:solidFill>
                  <a:srgbClr val="110057"/>
                </a:solidFill>
                <a:latin typeface="Arial"/>
              </a:rPr>
              <a:t>2</a:t>
            </a:r>
            <a:r>
              <a:rPr lang="en-US" sz="1400" dirty="0">
                <a:solidFill>
                  <a:srgbClr val="110057"/>
                </a:solidFill>
                <a:latin typeface="Arial"/>
              </a:rPr>
              <a:t> = 128 − 1.25 × PaCO</a:t>
            </a:r>
            <a:r>
              <a:rPr lang="en-US" sz="1400" baseline="-25000" dirty="0">
                <a:solidFill>
                  <a:srgbClr val="110057"/>
                </a:solidFill>
                <a:latin typeface="Arial"/>
              </a:rPr>
              <a:t>2</a:t>
            </a:r>
          </a:p>
          <a:p>
            <a:pPr marL="228600">
              <a:buNone/>
            </a:pPr>
            <a:r>
              <a:rPr lang="en-US" sz="1400" dirty="0">
                <a:solidFill>
                  <a:srgbClr val="110057"/>
                </a:solidFill>
                <a:latin typeface="Arial"/>
              </a:rPr>
              <a:t>Target: PaO</a:t>
            </a:r>
            <a:r>
              <a:rPr lang="en-US" sz="1400" baseline="-25000" dirty="0">
                <a:solidFill>
                  <a:srgbClr val="110057"/>
                </a:solidFill>
                <a:latin typeface="Arial"/>
              </a:rPr>
              <a:t>2</a:t>
            </a:r>
            <a:r>
              <a:rPr lang="en-US" sz="1400" dirty="0">
                <a:solidFill>
                  <a:srgbClr val="110057"/>
                </a:solidFill>
                <a:latin typeface="Arial"/>
              </a:rPr>
              <a:t> = P</a:t>
            </a:r>
            <a:r>
              <a:rPr lang="en-US" sz="1400" baseline="-25000" dirty="0">
                <a:solidFill>
                  <a:srgbClr val="110057"/>
                </a:solidFill>
                <a:latin typeface="Arial"/>
              </a:rPr>
              <a:t>A</a:t>
            </a:r>
            <a:r>
              <a:rPr lang="en-US" sz="1400" dirty="0">
                <a:solidFill>
                  <a:srgbClr val="110057"/>
                </a:solidFill>
                <a:latin typeface="Arial"/>
              </a:rPr>
              <a:t>O</a:t>
            </a:r>
            <a:r>
              <a:rPr lang="en-US" sz="1400" baseline="-25000" dirty="0">
                <a:solidFill>
                  <a:srgbClr val="110057"/>
                </a:solidFill>
                <a:latin typeface="Arial"/>
              </a:rPr>
              <a:t>2</a:t>
            </a:r>
            <a:r>
              <a:rPr lang="en-US" sz="1400" dirty="0">
                <a:solidFill>
                  <a:srgbClr val="110057"/>
                </a:solidFill>
                <a:latin typeface="Arial"/>
              </a:rPr>
              <a:t> − 10 = 60 → </a:t>
            </a:r>
            <a:r>
              <a:rPr lang="en-US" sz="1400" b="1" dirty="0">
                <a:solidFill>
                  <a:srgbClr val="FF0044"/>
                </a:solidFill>
                <a:latin typeface="Arial"/>
              </a:rPr>
              <a:t>P</a:t>
            </a:r>
            <a:r>
              <a:rPr lang="en-US" sz="1400" b="1" baseline="-25000" dirty="0">
                <a:solidFill>
                  <a:srgbClr val="FF0044"/>
                </a:solidFill>
                <a:latin typeface="Arial"/>
              </a:rPr>
              <a:t>A</a:t>
            </a:r>
            <a:r>
              <a:rPr lang="en-US" sz="1400" b="1" dirty="0">
                <a:solidFill>
                  <a:srgbClr val="FF0044"/>
                </a:solidFill>
                <a:latin typeface="Arial"/>
              </a:rPr>
              <a:t>O</a:t>
            </a:r>
            <a:r>
              <a:rPr lang="en-US" sz="1400" b="1" baseline="-25000" dirty="0">
                <a:solidFill>
                  <a:srgbClr val="FF0044"/>
                </a:solidFill>
                <a:latin typeface="Arial"/>
              </a:rPr>
              <a:t>2</a:t>
            </a:r>
            <a:r>
              <a:rPr lang="en-US" sz="1400" b="1" dirty="0">
                <a:solidFill>
                  <a:srgbClr val="FF0044"/>
                </a:solidFill>
                <a:latin typeface="Arial"/>
              </a:rPr>
              <a:t> = 70 mmHg</a:t>
            </a:r>
          </a:p>
          <a:p>
            <a:pPr>
              <a:buNone/>
            </a:pPr>
            <a:r>
              <a:rPr lang="en-US" sz="1400" b="1" dirty="0">
                <a:solidFill>
                  <a:srgbClr val="4A00E2"/>
                </a:solidFill>
                <a:latin typeface="Arial"/>
              </a:rPr>
              <a:t>4  Solve for PaCO</a:t>
            </a:r>
            <a:r>
              <a:rPr lang="en-US" sz="1400" b="1" baseline="-25000" dirty="0">
                <a:solidFill>
                  <a:srgbClr val="4A00E2"/>
                </a:solidFill>
                <a:latin typeface="Arial"/>
              </a:rPr>
              <a:t>2</a:t>
            </a:r>
            <a:r>
              <a:rPr lang="en-US" sz="1400" b="1" dirty="0">
                <a:solidFill>
                  <a:srgbClr val="4A00E2"/>
                </a:solidFill>
                <a:latin typeface="Arial"/>
              </a:rPr>
              <a:t>    </a:t>
            </a:r>
            <a:r>
              <a:rPr lang="en-US" sz="1400" dirty="0">
                <a:solidFill>
                  <a:srgbClr val="110057"/>
                </a:solidFill>
                <a:latin typeface="Arial"/>
              </a:rPr>
              <a:t>70 = 128 − (PaCO</a:t>
            </a:r>
            <a:r>
              <a:rPr lang="en-US" sz="1400" baseline="-25000" dirty="0">
                <a:solidFill>
                  <a:srgbClr val="110057"/>
                </a:solidFill>
                <a:latin typeface="Arial"/>
              </a:rPr>
              <a:t>2</a:t>
            </a:r>
            <a:r>
              <a:rPr lang="en-US" sz="1400" dirty="0">
                <a:solidFill>
                  <a:srgbClr val="110057"/>
                </a:solidFill>
                <a:latin typeface="Arial"/>
              </a:rPr>
              <a:t> / 0.8)</a:t>
            </a:r>
          </a:p>
          <a:p>
            <a:pPr marL="228600">
              <a:buNone/>
            </a:pPr>
            <a:r>
              <a:rPr lang="en-US" sz="1400" dirty="0">
                <a:solidFill>
                  <a:srgbClr val="110057"/>
                </a:solidFill>
                <a:latin typeface="Arial"/>
              </a:rPr>
              <a:t>PaCO</a:t>
            </a:r>
            <a:r>
              <a:rPr lang="en-US" sz="1400" baseline="-25000" dirty="0">
                <a:solidFill>
                  <a:srgbClr val="110057"/>
                </a:solidFill>
                <a:latin typeface="Arial"/>
              </a:rPr>
              <a:t>2</a:t>
            </a:r>
            <a:r>
              <a:rPr lang="en-US" sz="1400" dirty="0">
                <a:solidFill>
                  <a:srgbClr val="110057"/>
                </a:solidFill>
                <a:latin typeface="Arial"/>
              </a:rPr>
              <a:t> / 0.8 = 58  →  </a:t>
            </a:r>
            <a:r>
              <a:rPr lang="en-US" sz="1400" b="1" dirty="0">
                <a:solidFill>
                  <a:srgbClr val="FF0044"/>
                </a:solidFill>
                <a:latin typeface="Arial"/>
              </a:rPr>
              <a:t>PaCO</a:t>
            </a:r>
            <a:r>
              <a:rPr lang="en-US" sz="1400" b="1" baseline="-25000" dirty="0">
                <a:solidFill>
                  <a:srgbClr val="FF0044"/>
                </a:solidFill>
                <a:latin typeface="Arial"/>
              </a:rPr>
              <a:t>2</a:t>
            </a:r>
            <a:r>
              <a:rPr lang="en-US" sz="1400" b="1" dirty="0">
                <a:solidFill>
                  <a:srgbClr val="FF0044"/>
                </a:solidFill>
                <a:latin typeface="Arial"/>
              </a:rPr>
              <a:t> ≈ 46 mmHg</a:t>
            </a:r>
          </a:p>
        </p:txBody>
      </p:sp>
      <p:sp>
        <p:nvSpPr>
          <p:cNvPr id="9" name="Rounded Rectangle 8">
            <a:extLst>
              <a:ext uri="{FF2B5EF4-FFF2-40B4-BE49-F238E27FC236}">
                <a16:creationId xmlns:a16="http://schemas.microsoft.com/office/drawing/2014/main" id="{7DCA13B0-28AB-9242-81E7-BEF9691E019A}"/>
              </a:ext>
            </a:extLst>
          </p:cNvPr>
          <p:cNvSpPr/>
          <p:nvPr/>
        </p:nvSpPr>
        <p:spPr>
          <a:xfrm>
            <a:off x="635000" y="2692400"/>
            <a:ext cx="5588000" cy="20955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AF1E8553-F49E-5941-ABF1-F11B441F463E}"/>
              </a:ext>
            </a:extLst>
          </p:cNvPr>
          <p:cNvSpPr txBox="1"/>
          <p:nvPr/>
        </p:nvSpPr>
        <p:spPr>
          <a:xfrm>
            <a:off x="736600" y="2755900"/>
            <a:ext cx="5384800" cy="1968500"/>
          </a:xfrm>
          <a:prstGeom prst="rect">
            <a:avLst/>
          </a:prstGeom>
          <a:noFill/>
        </p:spPr>
        <p:txBody>
          <a:bodyPr vertOverflow="overflow" vert="horz" wrap="square" rtlCol="0" anchor="t">
            <a:spAutoFit/>
          </a:bodyPr>
          <a:lstStyle/>
          <a:p>
            <a:pPr>
              <a:buNone/>
            </a:pPr>
            <a:r>
              <a:rPr lang="en-US" sz="1400" b="1" dirty="0">
                <a:solidFill>
                  <a:srgbClr val="FFFFFF"/>
                </a:solidFill>
                <a:latin typeface="Arial"/>
              </a:rPr>
              <a:t>Clinical takeaway:</a:t>
            </a:r>
            <a:r>
              <a:rPr lang="en-US" sz="1400" dirty="0">
                <a:solidFill>
                  <a:srgbClr val="D0C8E0"/>
                </a:solidFill>
                <a:latin typeface="Arial"/>
              </a:rPr>
              <a:t>  At our elevation, even </a:t>
            </a:r>
            <a:r>
              <a:rPr lang="en-US" sz="1400" b="1" dirty="0">
                <a:solidFill>
                  <a:srgbClr val="FF0044"/>
                </a:solidFill>
                <a:latin typeface="Arial"/>
              </a:rPr>
              <a:t>mild elevations</a:t>
            </a:r>
            <a:r>
              <a:rPr lang="en-US" sz="1400" dirty="0">
                <a:solidFill>
                  <a:srgbClr val="D0C8E0"/>
                </a:solidFill>
                <a:latin typeface="Arial"/>
              </a:rPr>
              <a:t> in PaCO</a:t>
            </a:r>
            <a:r>
              <a:rPr lang="en-US" sz="1400" baseline="-25000" dirty="0">
                <a:solidFill>
                  <a:srgbClr val="D0C8E0"/>
                </a:solidFill>
                <a:latin typeface="Arial"/>
              </a:rPr>
              <a:t>2</a:t>
            </a:r>
            <a:r>
              <a:rPr lang="en-US" sz="1400" dirty="0">
                <a:solidFill>
                  <a:srgbClr val="D0C8E0"/>
                </a:solidFill>
                <a:latin typeface="Arial"/>
              </a:rPr>
              <a:t> lead to hypoxemia — regardless of additional lung pathology.</a:t>
            </a:r>
          </a:p>
          <a:p>
            <a:pPr>
              <a:buNone/>
            </a:pPr>
            <a:r>
              <a:rPr lang="en-US" sz="1400" dirty="0">
                <a:solidFill>
                  <a:srgbClr val="D0C8E0"/>
                </a:solidFill>
                <a:latin typeface="Arial"/>
              </a:rPr>
              <a:t>Normal PaCO</a:t>
            </a:r>
            <a:r>
              <a:rPr lang="en-US" sz="1400" baseline="-25000" dirty="0">
                <a:solidFill>
                  <a:srgbClr val="D0C8E0"/>
                </a:solidFill>
                <a:latin typeface="Arial"/>
              </a:rPr>
              <a:t>2</a:t>
            </a:r>
            <a:r>
              <a:rPr lang="en-US" sz="1400" dirty="0">
                <a:solidFill>
                  <a:srgbClr val="D0C8E0"/>
                </a:solidFill>
                <a:latin typeface="Arial"/>
              </a:rPr>
              <a:t> of 40 mmHg sits just 6 mmHg below the 46 mmHg threshold — minimal safety margin at altitude.</a:t>
            </a:r>
          </a:p>
          <a:p>
            <a:pPr>
              <a:buNone/>
            </a:pPr>
            <a:endParaRPr lang="en-US" sz="1400" dirty="0">
              <a:solidFill>
                <a:srgbClr val="D0C8E0"/>
              </a:solidFill>
              <a:latin typeface="Arial"/>
            </a:endParaRPr>
          </a:p>
          <a:p>
            <a:pPr>
              <a:buNone/>
            </a:pPr>
            <a:r>
              <a:rPr lang="en-US" sz="1400" dirty="0">
                <a:solidFill>
                  <a:srgbClr val="D0C8E0"/>
                </a:solidFill>
                <a:latin typeface="Arial"/>
              </a:rPr>
              <a:t>SpO</a:t>
            </a:r>
            <a:r>
              <a:rPr lang="en-US" sz="1400" baseline="-25000" dirty="0">
                <a:solidFill>
                  <a:srgbClr val="D0C8E0"/>
                </a:solidFill>
                <a:latin typeface="Arial"/>
              </a:rPr>
              <a:t>2</a:t>
            </a:r>
            <a:r>
              <a:rPr lang="en-US" sz="1400" dirty="0">
                <a:solidFill>
                  <a:srgbClr val="D0C8E0"/>
                </a:solidFill>
                <a:latin typeface="Arial"/>
              </a:rPr>
              <a:t> is routinely obtained; PaCO</a:t>
            </a:r>
            <a:r>
              <a:rPr lang="en-US" sz="1400" baseline="-25000" dirty="0">
                <a:solidFill>
                  <a:srgbClr val="D0C8E0"/>
                </a:solidFill>
                <a:latin typeface="Arial"/>
              </a:rPr>
              <a:t>2</a:t>
            </a:r>
            <a:r>
              <a:rPr lang="en-US" sz="1400" dirty="0">
                <a:solidFill>
                  <a:srgbClr val="D0C8E0"/>
                </a:solidFill>
                <a:latin typeface="Arial"/>
              </a:rPr>
              <a:t> (or TcCO</a:t>
            </a:r>
            <a:r>
              <a:rPr lang="en-US" sz="1400" baseline="-25000" dirty="0">
                <a:solidFill>
                  <a:srgbClr val="D0C8E0"/>
                </a:solidFill>
                <a:latin typeface="Arial"/>
              </a:rPr>
              <a:t>2</a:t>
            </a:r>
            <a:r>
              <a:rPr lang="en-US" sz="1400" dirty="0">
                <a:solidFill>
                  <a:srgbClr val="D0C8E0"/>
                </a:solidFill>
                <a:latin typeface="Arial"/>
              </a:rPr>
              <a:t>) is not → SLC enables earlier identification</a:t>
            </a:r>
          </a:p>
          <a:p>
            <a:pPr algn="r">
              <a:buNone/>
            </a:pPr>
            <a:r>
              <a:rPr lang="en-US" sz="1400" i="1" dirty="0">
                <a:solidFill>
                  <a:srgbClr val="8070A0"/>
                </a:solidFill>
                <a:latin typeface="Arial"/>
              </a:rPr>
              <a:t>Ref: Hendrix JM, Burns B. Alveolar Gas Equation. StatPearls. 2024.</a:t>
            </a:r>
          </a:p>
        </p:txBody>
      </p:sp>
      <p:sp>
        <p:nvSpPr>
          <p:cNvPr id="11" name="Rounded Rectangle 10">
            <a:extLst>
              <a:ext uri="{FF2B5EF4-FFF2-40B4-BE49-F238E27FC236}">
                <a16:creationId xmlns:a16="http://schemas.microsoft.com/office/drawing/2014/main" id="{2E780F14-CF61-C747-99DD-1A50398ECCAB}"/>
              </a:ext>
            </a:extLst>
          </p:cNvPr>
          <p:cNvSpPr/>
          <p:nvPr/>
        </p:nvSpPr>
        <p:spPr>
          <a:xfrm>
            <a:off x="635000" y="736600"/>
            <a:ext cx="2794000" cy="279400"/>
          </a:xfrm>
          <a:prstGeom prst="roundRect">
            <a:avLst/>
          </a:prstGeom>
          <a:solidFill>
            <a:srgbClr val="2D8C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r>
              <a:rPr lang="en-US" sz="1400" b="1" dirty="0">
                <a:solidFill>
                  <a:srgbClr val="FFFFFF"/>
                </a:solidFill>
                <a:latin typeface="Arial"/>
              </a:rPr>
              <a:t>✓  Correct: A. ~45 mmHg</a:t>
            </a:r>
          </a:p>
        </p:txBody>
      </p:sp>
      <p:sp>
        <p:nvSpPr>
          <p:cNvPr id="12" name="TextBox 11">
            <a:extLst>
              <a:ext uri="{FF2B5EF4-FFF2-40B4-BE49-F238E27FC236}">
                <a16:creationId xmlns:a16="http://schemas.microsoft.com/office/drawing/2014/main" id="{61E43815-17D5-9732-3398-7744541642EC}"/>
              </a:ext>
            </a:extLst>
          </p:cNvPr>
          <p:cNvSpPr txBox="1"/>
          <p:nvPr/>
        </p:nvSpPr>
        <p:spPr>
          <a:xfrm>
            <a:off x="736600" y="5486400"/>
            <a:ext cx="5384800" cy="954107"/>
          </a:xfrm>
          <a:prstGeom prst="rect">
            <a:avLst/>
          </a:prstGeom>
          <a:noFill/>
        </p:spPr>
        <p:txBody>
          <a:bodyPr wrap="square">
            <a:spAutoFit/>
          </a:bodyPr>
          <a:lstStyle/>
          <a:p>
            <a:pPr marL="0" indent="0">
              <a:buNone/>
            </a:pPr>
            <a:r>
              <a:rPr lang="en-US" sz="1400" b="1" dirty="0">
                <a:solidFill>
                  <a:srgbClr val="4A00E2"/>
                </a:solidFill>
                <a:latin typeface="Arial"/>
              </a:rPr>
              <a:t>💡 Why ~40 mmHg?  </a:t>
            </a:r>
            <a:r>
              <a:rPr lang="en-US" sz="1400" dirty="0">
                <a:solidFill>
                  <a:srgbClr val="444444"/>
                </a:solidFill>
                <a:latin typeface="Arial"/>
              </a:rPr>
              <a:t>pH can be maintained at any PaCO</a:t>
            </a:r>
            <a:r>
              <a:rPr lang="en-US" sz="1400" baseline="-25000" dirty="0">
                <a:solidFill>
                  <a:srgbClr val="444444"/>
                </a:solidFill>
                <a:latin typeface="Arial"/>
              </a:rPr>
              <a:t>2</a:t>
            </a:r>
            <a:r>
              <a:rPr lang="en-US" sz="1400" dirty="0">
                <a:solidFill>
                  <a:srgbClr val="444444"/>
                </a:solidFill>
                <a:latin typeface="Arial"/>
              </a:rPr>
              <a:t> with enough HCO</a:t>
            </a:r>
            <a:r>
              <a:rPr lang="en-US" sz="1400" baseline="-25000" dirty="0">
                <a:solidFill>
                  <a:srgbClr val="444444"/>
                </a:solidFill>
                <a:latin typeface="Arial"/>
              </a:rPr>
              <a:t>3</a:t>
            </a:r>
            <a:r>
              <a:rPr lang="en-US" sz="1400" baseline="30000" dirty="0">
                <a:solidFill>
                  <a:srgbClr val="444444"/>
                </a:solidFill>
                <a:latin typeface="Arial"/>
              </a:rPr>
              <a:t>−</a:t>
            </a:r>
            <a:r>
              <a:rPr lang="en-US" sz="1400" dirty="0">
                <a:solidFill>
                  <a:srgbClr val="444444"/>
                </a:solidFill>
                <a:latin typeface="Arial"/>
              </a:rPr>
              <a:t>, so why not tolerate higher CO</a:t>
            </a:r>
            <a:r>
              <a:rPr lang="en-US" sz="1400" baseline="-25000" dirty="0">
                <a:solidFill>
                  <a:srgbClr val="444444"/>
                </a:solidFill>
                <a:latin typeface="Arial"/>
              </a:rPr>
              <a:t>2</a:t>
            </a:r>
            <a:r>
              <a:rPr lang="en-US" sz="1400" dirty="0">
                <a:solidFill>
                  <a:srgbClr val="444444"/>
                </a:solidFill>
                <a:latin typeface="Arial"/>
              </a:rPr>
              <a:t>?</a:t>
            </a:r>
          </a:p>
          <a:p>
            <a:pPr marL="0" indent="0">
              <a:buNone/>
            </a:pPr>
            <a:r>
              <a:rPr lang="en-US" sz="1400" i="1" dirty="0">
                <a:solidFill>
                  <a:srgbClr val="777777"/>
                </a:solidFill>
                <a:latin typeface="Arial"/>
              </a:rPr>
              <a:t>Likely trade-off: less O</a:t>
            </a:r>
            <a:r>
              <a:rPr lang="en-US" sz="1400" i="1" baseline="-25000" dirty="0">
                <a:solidFill>
                  <a:srgbClr val="777777"/>
                </a:solidFill>
                <a:latin typeface="Arial"/>
              </a:rPr>
              <a:t>2</a:t>
            </a:r>
            <a:r>
              <a:rPr lang="en-US" sz="1400" i="1" dirty="0">
                <a:solidFill>
                  <a:srgbClr val="777777"/>
                </a:solidFill>
                <a:latin typeface="Arial"/>
              </a:rPr>
              <a:t> buffer vs. work of breathing — still poorly understood.</a:t>
            </a:r>
          </a:p>
        </p:txBody>
      </p:sp>
      <p:sp>
        <p:nvSpPr>
          <p:cNvPr id="8" name="Rectangle 7">
            <a:extLst>
              <a:ext uri="{FF2B5EF4-FFF2-40B4-BE49-F238E27FC236}">
                <a16:creationId xmlns:a16="http://schemas.microsoft.com/office/drawing/2014/main" id="{C85C22DD-02D3-C649-B577-20B3691E6905}"/>
              </a:ext>
            </a:extLst>
          </p:cNvPr>
          <p:cNvSpPr/>
          <p:nvPr/>
        </p:nvSpPr>
        <p:spPr>
          <a:xfrm>
            <a:off x="635000" y="5435600"/>
            <a:ext cx="38100" cy="9017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9991438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B96EC-2F6D-B68D-0846-D17C649D59E9}"/>
              </a:ext>
            </a:extLst>
          </p:cNvPr>
          <p:cNvSpPr>
            <a:spLocks noGrp="1"/>
          </p:cNvSpPr>
          <p:nvPr>
            <p:ph type="title"/>
          </p:nvPr>
        </p:nvSpPr>
        <p:spPr/>
        <p:txBody>
          <a:bodyPr>
            <a:normAutofit/>
          </a:bodyPr>
          <a:lstStyle/>
          <a:p>
            <a:r>
              <a:rPr lang="en-US" sz="3200">
                <a:solidFill>
                  <a:srgbClr val="110057"/>
                </a:solidFill>
                <a:latin typeface="Arial"/>
                <a:cs typeface="Arial"/>
              </a:rPr>
              <a:t>What Is Hypercapnic Respiratory Failure?</a:t>
            </a:r>
          </a:p>
        </p:txBody>
      </p:sp>
      <p:sp>
        <p:nvSpPr>
          <p:cNvPr id="3" name="Content Placeholder 2">
            <a:extLst>
              <a:ext uri="{FF2B5EF4-FFF2-40B4-BE49-F238E27FC236}">
                <a16:creationId xmlns:a16="http://schemas.microsoft.com/office/drawing/2014/main" id="{1F831E1A-EDAD-F0F9-2CBA-0BDD940B7500}"/>
              </a:ext>
            </a:extLst>
          </p:cNvPr>
          <p:cNvSpPr>
            <a:spLocks noGrp="1"/>
          </p:cNvSpPr>
          <p:nvPr>
            <p:ph idx="1"/>
          </p:nvPr>
        </p:nvSpPr>
        <p:spPr/>
        <p:txBody>
          <a:bodyPr>
            <a:normAutofit lnSpcReduction="10000"/>
          </a:bodyPr>
          <a:lstStyle/>
          <a:p>
            <a:pPr marL="0" indent="0">
              <a:buNone/>
            </a:pPr>
            <a:r>
              <a:rPr lang="en-US" sz="2200" b="1" dirty="0">
                <a:latin typeface="Arial"/>
                <a:cs typeface="Arial"/>
              </a:rPr>
              <a:t>Hypercapnia</a:t>
            </a:r>
            <a:r>
              <a:rPr lang="en-US" sz="2200" dirty="0">
                <a:latin typeface="Arial"/>
                <a:cs typeface="Arial"/>
              </a:rPr>
              <a:t> = PaCO</a:t>
            </a:r>
            <a:r>
              <a:rPr lang="en-US" sz="2200" baseline="-25000" dirty="0">
                <a:latin typeface="Arial"/>
                <a:cs typeface="Arial"/>
              </a:rPr>
              <a:t>2</a:t>
            </a:r>
            <a:r>
              <a:rPr lang="en-US" sz="2200" dirty="0">
                <a:latin typeface="Arial"/>
                <a:cs typeface="Arial"/>
              </a:rPr>
              <a:t> above expected range</a:t>
            </a:r>
          </a:p>
          <a:p>
            <a:r>
              <a:rPr lang="en-US" sz="2200" dirty="0">
                <a:latin typeface="Arial"/>
                <a:cs typeface="Arial"/>
              </a:rPr>
              <a:t>≥ 45 mmHg at sea level</a:t>
            </a:r>
          </a:p>
          <a:p>
            <a:r>
              <a:rPr lang="en-US" sz="2200" dirty="0">
                <a:latin typeface="Arial"/>
                <a:cs typeface="Arial"/>
              </a:rPr>
              <a:t>≥ 41–42 mmHg in Salt Lake City (elevation matters! Coders don’t know this though)</a:t>
            </a:r>
          </a:p>
          <a:p>
            <a:pPr marL="0" indent="0">
              <a:buNone/>
            </a:pPr>
            <a:endParaRPr lang="en-US" sz="1400" dirty="0">
              <a:latin typeface="Arial"/>
              <a:cs typeface="Arial"/>
            </a:endParaRPr>
          </a:p>
          <a:p>
            <a:pPr marL="0" indent="0">
              <a:buNone/>
            </a:pPr>
            <a:r>
              <a:rPr lang="en-US" sz="2200" b="1" dirty="0">
                <a:latin typeface="Arial"/>
                <a:cs typeface="Arial"/>
              </a:rPr>
              <a:t>Respiratory failure</a:t>
            </a:r>
            <a:r>
              <a:rPr lang="en-US" sz="2200" dirty="0">
                <a:latin typeface="Arial"/>
                <a:cs typeface="Arial"/>
              </a:rPr>
              <a:t> = failed homeostasis, not just a lab value</a:t>
            </a:r>
          </a:p>
          <a:p>
            <a:r>
              <a:rPr lang="en-US" sz="2200" dirty="0">
                <a:latin typeface="Arial"/>
                <a:cs typeface="Arial"/>
              </a:rPr>
              <a:t>Not explained by metabolic alkalosis (that's respiratory </a:t>
            </a:r>
            <a:r>
              <a:rPr lang="en-US" sz="2200" i="1" dirty="0">
                <a:latin typeface="Arial"/>
                <a:cs typeface="Arial"/>
              </a:rPr>
              <a:t>compensation</a:t>
            </a:r>
            <a:r>
              <a:rPr lang="en-US" sz="2200" dirty="0">
                <a:latin typeface="Arial"/>
                <a:cs typeface="Arial"/>
              </a:rPr>
              <a:t>, not failure)</a:t>
            </a:r>
          </a:p>
          <a:p>
            <a:pPr marL="0" indent="0">
              <a:buNone/>
            </a:pPr>
            <a:endParaRPr lang="en-US" sz="1400" dirty="0">
              <a:latin typeface="Arial"/>
              <a:cs typeface="Arial"/>
            </a:endParaRPr>
          </a:p>
          <a:p>
            <a:pPr marL="0" indent="0">
              <a:buNone/>
            </a:pPr>
            <a:r>
              <a:rPr lang="en-US" sz="2200" b="1" dirty="0">
                <a:latin typeface="Arial"/>
                <a:cs typeface="Arial"/>
              </a:rPr>
              <a:t>Key clinical point:</a:t>
            </a:r>
          </a:p>
          <a:p>
            <a:pPr marL="0" indent="0">
              <a:buNone/>
            </a:pPr>
            <a:r>
              <a:rPr lang="en-US" sz="2200" dirty="0">
                <a:latin typeface="Arial"/>
                <a:cs typeface="Arial"/>
              </a:rPr>
              <a:t>At our elevation, hypercapnia often presents as </a:t>
            </a:r>
            <a:r>
              <a:rPr lang="en-US" sz="2200" b="1" dirty="0">
                <a:latin typeface="Arial"/>
                <a:cs typeface="Arial"/>
              </a:rPr>
              <a:t>hypoxemia even with a normal A-a gradient</a:t>
            </a:r>
          </a:p>
          <a:p>
            <a:pPr marL="0" indent="0">
              <a:buNone/>
            </a:pPr>
            <a:r>
              <a:rPr lang="en-US" sz="2200" dirty="0">
                <a:latin typeface="Arial"/>
                <a:cs typeface="Arial"/>
              </a:rPr>
              <a:t>Someone severely hypercapnic will not be on room air at our elevation</a:t>
            </a:r>
          </a:p>
        </p:txBody>
      </p:sp>
      <p:sp>
        <p:nvSpPr>
          <p:cNvPr id="5" name="Rectangle 4">
            <a:extLst>
              <a:ext uri="{FF2B5EF4-FFF2-40B4-BE49-F238E27FC236}">
                <a16:creationId xmlns:a16="http://schemas.microsoft.com/office/drawing/2014/main" id="{67868893-1AF9-E541-A80A-150294909FC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2462626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9433D329-B92F-F455-B802-3964859B8008}"/>
              </a:ext>
            </a:extLst>
          </p:cNvPr>
          <p:cNvPicPr>
            <a:picLocks noChangeAspect="1"/>
          </p:cNvPicPr>
          <p:nvPr/>
        </p:nvPicPr>
        <p:blipFill>
          <a:blip r:embed="rId3"/>
          <a:stretch>
            <a:fillRect/>
          </a:stretch>
        </p:blipFill>
        <p:spPr>
          <a:xfrm>
            <a:off x="6436853" y="1907099"/>
            <a:ext cx="4684495" cy="4315489"/>
          </a:xfrm>
          <a:prstGeom prst="rect">
            <a:avLst/>
          </a:prstGeom>
        </p:spPr>
      </p:pic>
      <p:sp>
        <p:nvSpPr>
          <p:cNvPr id="2" name="Title 1">
            <a:extLst>
              <a:ext uri="{FF2B5EF4-FFF2-40B4-BE49-F238E27FC236}">
                <a16:creationId xmlns:a16="http://schemas.microsoft.com/office/drawing/2014/main" id="{190182E9-E588-0E8D-77EF-A26FCB8B7A00}"/>
              </a:ext>
            </a:extLst>
          </p:cNvPr>
          <p:cNvSpPr>
            <a:spLocks noGrp="1"/>
          </p:cNvSpPr>
          <p:nvPr>
            <p:ph type="title"/>
          </p:nvPr>
        </p:nvSpPr>
        <p:spPr/>
        <p:txBody>
          <a:bodyPr>
            <a:normAutofit/>
          </a:bodyPr>
          <a:lstStyle/>
          <a:p>
            <a:r>
              <a:rPr lang="en-US" sz="3200" dirty="0">
                <a:solidFill>
                  <a:srgbClr val="110057"/>
                </a:solidFill>
                <a:latin typeface="Arial"/>
                <a:cs typeface="Arial"/>
              </a:rPr>
              <a:t>Hypercapnic Respiratory Failure is </a:t>
            </a:r>
            <a:r>
              <a:rPr lang="en-US" sz="3200" b="1" dirty="0">
                <a:solidFill>
                  <a:srgbClr val="110057"/>
                </a:solidFill>
                <a:latin typeface="Arial"/>
                <a:cs typeface="Arial"/>
              </a:rPr>
              <a:t>Common</a:t>
            </a:r>
          </a:p>
        </p:txBody>
      </p:sp>
      <p:grpSp>
        <p:nvGrpSpPr>
          <p:cNvPr id="4" name="Group 3">
            <a:extLst>
              <a:ext uri="{FF2B5EF4-FFF2-40B4-BE49-F238E27FC236}">
                <a16:creationId xmlns:a16="http://schemas.microsoft.com/office/drawing/2014/main" id="{5BF550E8-9520-4A3A-F2EE-7588154AF83B}"/>
              </a:ext>
            </a:extLst>
          </p:cNvPr>
          <p:cNvGrpSpPr/>
          <p:nvPr/>
        </p:nvGrpSpPr>
        <p:grpSpPr>
          <a:xfrm>
            <a:off x="852947" y="1824079"/>
            <a:ext cx="6116601" cy="1988372"/>
            <a:chOff x="749300" y="1557716"/>
            <a:chExt cx="4902200" cy="1593597"/>
          </a:xfrm>
        </p:grpSpPr>
        <p:sp>
          <p:nvSpPr>
            <p:cNvPr id="5" name="Rectangle 4">
              <a:extLst>
                <a:ext uri="{FF2B5EF4-FFF2-40B4-BE49-F238E27FC236}">
                  <a16:creationId xmlns:a16="http://schemas.microsoft.com/office/drawing/2014/main" id="{43F31EB6-4978-DBAE-26DF-FB95C5F37610}"/>
                </a:ext>
              </a:extLst>
            </p:cNvPr>
            <p:cNvSpPr/>
            <p:nvPr/>
          </p:nvSpPr>
          <p:spPr>
            <a:xfrm>
              <a:off x="838200" y="2643625"/>
              <a:ext cx="4813300" cy="35956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ED4E74F1-2633-58E0-4847-A28BEE4265E2}"/>
                </a:ext>
              </a:extLst>
            </p:cNvPr>
            <p:cNvGrpSpPr/>
            <p:nvPr/>
          </p:nvGrpSpPr>
          <p:grpSpPr>
            <a:xfrm>
              <a:off x="749300" y="1557716"/>
              <a:ext cx="4749800" cy="1593597"/>
              <a:chOff x="361121" y="1542787"/>
              <a:chExt cx="7779579" cy="2610113"/>
            </a:xfrm>
          </p:grpSpPr>
          <p:sp>
            <p:nvSpPr>
              <p:cNvPr id="8" name="Rectangle 7">
                <a:extLst>
                  <a:ext uri="{FF2B5EF4-FFF2-40B4-BE49-F238E27FC236}">
                    <a16:creationId xmlns:a16="http://schemas.microsoft.com/office/drawing/2014/main" id="{435E38D6-A287-35BD-C611-95BB9C3ED29E}"/>
                  </a:ext>
                </a:extLst>
              </p:cNvPr>
              <p:cNvSpPr/>
              <p:nvPr/>
            </p:nvSpPr>
            <p:spPr>
              <a:xfrm>
                <a:off x="7594600" y="2425700"/>
                <a:ext cx="546100" cy="172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95207B05-ECFA-E51A-6478-E5B9C80A5574}"/>
                  </a:ext>
                </a:extLst>
              </p:cNvPr>
              <p:cNvPicPr>
                <a:picLocks noChangeAspect="1"/>
              </p:cNvPicPr>
              <p:nvPr/>
            </p:nvPicPr>
            <p:blipFill>
              <a:blip r:embed="rId4"/>
              <a:stretch>
                <a:fillRect/>
              </a:stretch>
            </p:blipFill>
            <p:spPr>
              <a:xfrm>
                <a:off x="361121" y="1542787"/>
                <a:ext cx="7672620" cy="2533913"/>
              </a:xfrm>
              <a:prstGeom prst="rect">
                <a:avLst/>
              </a:prstGeom>
            </p:spPr>
          </p:pic>
        </p:grpSp>
      </p:grpSp>
      <p:sp>
        <p:nvSpPr>
          <p:cNvPr id="9" name="Content Placeholder 2">
            <a:extLst>
              <a:ext uri="{FF2B5EF4-FFF2-40B4-BE49-F238E27FC236}">
                <a16:creationId xmlns:a16="http://schemas.microsoft.com/office/drawing/2014/main" id="{580E9E31-45BA-1B60-C604-1B2921CB82BD}"/>
              </a:ext>
            </a:extLst>
          </p:cNvPr>
          <p:cNvSpPr txBox="1">
            <a:spLocks/>
          </p:cNvSpPr>
          <p:nvPr/>
        </p:nvSpPr>
        <p:spPr>
          <a:xfrm>
            <a:off x="1176117" y="3827199"/>
            <a:ext cx="4929016" cy="267340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Population-standardized period prevalence of PaCO</a:t>
            </a:r>
            <a:r>
              <a:rPr lang="en-US" sz="2200" baseline="-25000" dirty="0">
                <a:latin typeface="Arial"/>
                <a:cs typeface="Arial"/>
              </a:rPr>
              <a:t>2</a:t>
            </a:r>
            <a:r>
              <a:rPr lang="en-US" sz="2200" dirty="0">
                <a:latin typeface="Arial"/>
                <a:cs typeface="Arial"/>
              </a:rPr>
              <a:t> ≥ 45 mmHg (excluding iatrogenic causes): </a:t>
            </a:r>
          </a:p>
          <a:p>
            <a:pPr marL="0" indent="0">
              <a:buFont typeface="Arial" panose="020B0604020202020204" pitchFamily="34" charset="0"/>
              <a:buNone/>
            </a:pPr>
            <a:r>
              <a:rPr lang="en-US" sz="2200" b="1" dirty="0">
                <a:latin typeface="Arial"/>
                <a:cs typeface="Arial"/>
              </a:rPr>
              <a:t>150* per 100,000 person/year</a:t>
            </a:r>
          </a:p>
          <a:p>
            <a:r>
              <a:rPr lang="en-US" sz="2200" dirty="0">
                <a:latin typeface="Arial"/>
                <a:cs typeface="Arial"/>
              </a:rPr>
              <a:t>Reference: Decompensated Cirrhosis </a:t>
            </a:r>
            <a:r>
              <a:rPr lang="en-US" sz="2200" dirty="0">
                <a:solidFill>
                  <a:srgbClr val="212121"/>
                </a:solidFill>
                <a:latin typeface="Arial"/>
                <a:cs typeface="Arial"/>
              </a:rPr>
              <a:t>94.9 (US, 2017) per 100,000 person-year</a:t>
            </a:r>
            <a:endParaRPr lang="en-US" sz="2200" dirty="0">
              <a:latin typeface="Arial"/>
              <a:cs typeface="Arial"/>
            </a:endParaRPr>
          </a:p>
          <a:p>
            <a:pPr marL="0" indent="0">
              <a:buFont typeface="Arial" panose="020B0604020202020204" pitchFamily="34" charset="0"/>
              <a:buNone/>
            </a:pPr>
            <a:endParaRPr lang="en-US" sz="2200" b="1" dirty="0">
              <a:latin typeface="Arial"/>
              <a:cs typeface="Arial"/>
            </a:endParaRPr>
          </a:p>
        </p:txBody>
      </p:sp>
      <p:sp>
        <p:nvSpPr>
          <p:cNvPr id="10" name="Rectangle 9">
            <a:extLst>
              <a:ext uri="{FF2B5EF4-FFF2-40B4-BE49-F238E27FC236}">
                <a16:creationId xmlns:a16="http://schemas.microsoft.com/office/drawing/2014/main" id="{C835B2C2-4DED-0C4E-BED1-DA80EB5AAD59}"/>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4052317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D0F2B6-553C-0A5E-B99D-F673EDA9E20E}"/>
              </a:ext>
            </a:extLst>
          </p:cNvPr>
          <p:cNvPicPr>
            <a:picLocks noChangeAspect="1"/>
          </p:cNvPicPr>
          <p:nvPr/>
        </p:nvPicPr>
        <p:blipFill>
          <a:blip r:embed="rId3"/>
          <a:stretch>
            <a:fillRect/>
          </a:stretch>
        </p:blipFill>
        <p:spPr>
          <a:xfrm>
            <a:off x="7264663" y="1886631"/>
            <a:ext cx="4797060" cy="3807408"/>
          </a:xfrm>
          <a:prstGeom prst="rect">
            <a:avLst/>
          </a:prstGeom>
        </p:spPr>
      </p:pic>
      <p:sp>
        <p:nvSpPr>
          <p:cNvPr id="2" name="Title 1">
            <a:extLst>
              <a:ext uri="{FF2B5EF4-FFF2-40B4-BE49-F238E27FC236}">
                <a16:creationId xmlns:a16="http://schemas.microsoft.com/office/drawing/2014/main" id="{830B5FD0-6820-89F8-C529-42FF1EC85D93}"/>
              </a:ext>
            </a:extLst>
          </p:cNvPr>
          <p:cNvSpPr>
            <a:spLocks noGrp="1"/>
          </p:cNvSpPr>
          <p:nvPr>
            <p:ph type="title"/>
          </p:nvPr>
        </p:nvSpPr>
        <p:spPr/>
        <p:txBody>
          <a:bodyPr>
            <a:noAutofit/>
          </a:bodyPr>
          <a:lstStyle/>
          <a:p>
            <a:r>
              <a:rPr lang="en-US" sz="3200" dirty="0">
                <a:solidFill>
                  <a:srgbClr val="110057"/>
                </a:solidFill>
                <a:latin typeface="Arial"/>
                <a:cs typeface="Arial"/>
              </a:rPr>
              <a:t>Hypercapnic Respiratory Failure is </a:t>
            </a:r>
            <a:r>
              <a:rPr lang="en-US" sz="3200" b="1" dirty="0">
                <a:solidFill>
                  <a:srgbClr val="110057"/>
                </a:solidFill>
                <a:latin typeface="Arial"/>
                <a:cs typeface="Arial"/>
              </a:rPr>
              <a:t>Prognostically Important</a:t>
            </a:r>
          </a:p>
        </p:txBody>
      </p:sp>
      <p:pic>
        <p:nvPicPr>
          <p:cNvPr id="4" name="Picture 3">
            <a:extLst>
              <a:ext uri="{FF2B5EF4-FFF2-40B4-BE49-F238E27FC236}">
                <a16:creationId xmlns:a16="http://schemas.microsoft.com/office/drawing/2014/main" id="{3099AB22-140D-F390-B284-36A62694F5B2}"/>
              </a:ext>
            </a:extLst>
          </p:cNvPr>
          <p:cNvPicPr>
            <a:picLocks noChangeAspect="1"/>
          </p:cNvPicPr>
          <p:nvPr/>
        </p:nvPicPr>
        <p:blipFill rotWithShape="1">
          <a:blip r:embed="rId4"/>
          <a:srcRect b="16898"/>
          <a:stretch/>
        </p:blipFill>
        <p:spPr>
          <a:xfrm>
            <a:off x="660143" y="1871784"/>
            <a:ext cx="6244276" cy="1918551"/>
          </a:xfrm>
          <a:prstGeom prst="rect">
            <a:avLst/>
          </a:prstGeom>
        </p:spPr>
      </p:pic>
      <p:sp>
        <p:nvSpPr>
          <p:cNvPr id="5" name="Content Placeholder 2">
            <a:extLst>
              <a:ext uri="{FF2B5EF4-FFF2-40B4-BE49-F238E27FC236}">
                <a16:creationId xmlns:a16="http://schemas.microsoft.com/office/drawing/2014/main" id="{7B78C5F4-1518-62BC-1F63-10AA9A50FEEB}"/>
              </a:ext>
            </a:extLst>
          </p:cNvPr>
          <p:cNvSpPr txBox="1">
            <a:spLocks/>
          </p:cNvSpPr>
          <p:nvPr/>
        </p:nvSpPr>
        <p:spPr>
          <a:xfrm>
            <a:off x="439994" y="4295100"/>
            <a:ext cx="6464425" cy="17753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Inpatient ICD code for Hypercapnic Respiratory Failure @ U of VT</a:t>
            </a:r>
          </a:p>
          <a:p>
            <a:r>
              <a:rPr lang="en-US" sz="2200" b="1" dirty="0">
                <a:latin typeface="Arial"/>
                <a:cs typeface="Arial"/>
              </a:rPr>
              <a:t>23% 30d readmission rate</a:t>
            </a:r>
          </a:p>
          <a:p>
            <a:pPr lvl="1"/>
            <a:r>
              <a:rPr lang="en-US" sz="2200" dirty="0">
                <a:latin typeface="Arial"/>
                <a:cs typeface="Arial"/>
              </a:rPr>
              <a:t>Same as CHF, more than MI</a:t>
            </a:r>
          </a:p>
          <a:p>
            <a:pPr lvl="1"/>
            <a:r>
              <a:rPr lang="en-US" sz="2200" dirty="0">
                <a:latin typeface="Arial"/>
                <a:cs typeface="Arial"/>
              </a:rPr>
              <a:t>Usually (66%) with recurrent hypercapnia</a:t>
            </a:r>
          </a:p>
        </p:txBody>
      </p:sp>
      <p:sp>
        <p:nvSpPr>
          <p:cNvPr id="7" name="Rectangle 6">
            <a:extLst>
              <a:ext uri="{FF2B5EF4-FFF2-40B4-BE49-F238E27FC236}">
                <a16:creationId xmlns:a16="http://schemas.microsoft.com/office/drawing/2014/main" id="{EAAB4FCE-8C74-814A-B160-B1837DBDAB78}"/>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2796034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02F236-CA52-974E-857A-8951D7CFA0CF}"/>
              </a:ext>
            </a:extLst>
          </p:cNvPr>
          <p:cNvSpPr txBox="1"/>
          <p:nvPr/>
        </p:nvSpPr>
        <p:spPr>
          <a:xfrm>
            <a:off x="762000" y="1016000"/>
            <a:ext cx="2540000" cy="381000"/>
          </a:xfrm>
          <a:prstGeom prst="rect">
            <a:avLst/>
          </a:prstGeom>
          <a:noFill/>
        </p:spPr>
        <p:txBody>
          <a:bodyPr vertOverflow="overflow" vert="horz" wrap="square" rtlCol="0" anchor="t">
            <a:noAutofit/>
          </a:bodyPr>
          <a:lstStyle/>
          <a:p>
            <a:pPr algn="l"/>
            <a:r>
              <a:rPr lang="en-US" sz="1400" b="1">
                <a:solidFill>
                  <a:srgbClr val="0D7377"/>
                </a:solidFill>
                <a:latin typeface="Arial"/>
                <a:cs typeface="Arial"/>
              </a:rPr>
              <a:t>DIAGNOSIS</a:t>
            </a:r>
          </a:p>
        </p:txBody>
      </p:sp>
      <p:sp>
        <p:nvSpPr>
          <p:cNvPr id="3" name="Rectangle 2">
            <a:extLst>
              <a:ext uri="{FF2B5EF4-FFF2-40B4-BE49-F238E27FC236}">
                <a16:creationId xmlns:a16="http://schemas.microsoft.com/office/drawing/2014/main" id="{7218646C-D0F0-6B42-B712-68982F91A328}"/>
              </a:ext>
            </a:extLst>
          </p:cNvPr>
          <p:cNvSpPr/>
          <p:nvPr/>
        </p:nvSpPr>
        <p:spPr>
          <a:xfrm>
            <a:off x="762000" y="1498600"/>
            <a:ext cx="1016000" cy="381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154FC06F-FFAC-124F-A3C0-B20571FECDA8}"/>
              </a:ext>
            </a:extLst>
          </p:cNvPr>
          <p:cNvSpPr txBox="1"/>
          <p:nvPr/>
        </p:nvSpPr>
        <p:spPr>
          <a:xfrm>
            <a:off x="762000" y="1778000"/>
            <a:ext cx="10668000" cy="1651000"/>
          </a:xfrm>
          <a:prstGeom prst="rect">
            <a:avLst/>
          </a:prstGeom>
          <a:noFill/>
        </p:spPr>
        <p:txBody>
          <a:bodyPr vertOverflow="overflow" vert="horz" wrap="square" rtlCol="0" anchor="t">
            <a:noAutofit/>
          </a:bodyPr>
          <a:lstStyle/>
          <a:p>
            <a:pPr>
              <a:buNone/>
            </a:pPr>
            <a:r>
              <a:rPr lang="en-US" sz="4000" dirty="0">
                <a:solidFill>
                  <a:srgbClr val="FFFFFF"/>
                </a:solidFill>
                <a:latin typeface="Arial"/>
              </a:rPr>
              <a:t>Don’t </a:t>
            </a:r>
            <a:r>
              <a:rPr lang="en-US" sz="4000" b="1" dirty="0">
                <a:solidFill>
                  <a:srgbClr val="FF0044"/>
                </a:solidFill>
                <a:latin typeface="Arial"/>
              </a:rPr>
              <a:t>Miss</a:t>
            </a:r>
            <a:r>
              <a:rPr lang="en-US" sz="4000" dirty="0">
                <a:solidFill>
                  <a:srgbClr val="FFFFFF"/>
                </a:solidFill>
                <a:latin typeface="Arial"/>
              </a:rPr>
              <a:t> It,</a:t>
            </a:r>
          </a:p>
          <a:p>
            <a:pPr>
              <a:buNone/>
            </a:pPr>
            <a:r>
              <a:rPr lang="en-US" sz="4000" dirty="0">
                <a:solidFill>
                  <a:srgbClr val="FFFFFF"/>
                </a:solidFill>
                <a:latin typeface="Arial"/>
              </a:rPr>
              <a:t>Don’t </a:t>
            </a:r>
            <a:r>
              <a:rPr lang="en-US" sz="4000" b="1" dirty="0">
                <a:solidFill>
                  <a:srgbClr val="FF0044"/>
                </a:solidFill>
                <a:latin typeface="Arial"/>
              </a:rPr>
              <a:t>Misattribute</a:t>
            </a:r>
            <a:r>
              <a:rPr lang="en-US" sz="4000" dirty="0">
                <a:solidFill>
                  <a:srgbClr val="FFFFFF"/>
                </a:solidFill>
                <a:latin typeface="Arial"/>
              </a:rPr>
              <a:t> It</a:t>
            </a:r>
          </a:p>
        </p:txBody>
      </p:sp>
      <p:sp>
        <p:nvSpPr>
          <p:cNvPr id="5" name="TextBox 4">
            <a:extLst>
              <a:ext uri="{FF2B5EF4-FFF2-40B4-BE49-F238E27FC236}">
                <a16:creationId xmlns:a16="http://schemas.microsoft.com/office/drawing/2014/main" id="{66B47533-A66F-694C-B40A-C54F5F4DC88E}"/>
              </a:ext>
            </a:extLst>
          </p:cNvPr>
          <p:cNvSpPr txBox="1"/>
          <p:nvPr/>
        </p:nvSpPr>
        <p:spPr>
          <a:xfrm>
            <a:off x="762000" y="3937000"/>
            <a:ext cx="10668000" cy="1524000"/>
          </a:xfrm>
          <a:prstGeom prst="rect">
            <a:avLst/>
          </a:prstGeom>
          <a:noFill/>
        </p:spPr>
        <p:txBody>
          <a:bodyPr vertOverflow="overflow" vert="horz" wrap="square" rtlCol="0" anchor="t">
            <a:noAutofit/>
          </a:bodyPr>
          <a:lstStyle/>
          <a:p>
            <a:pPr>
              <a:buNone/>
            </a:pPr>
            <a:r>
              <a:rPr lang="en-US" sz="1800" b="1" dirty="0">
                <a:solidFill>
                  <a:srgbClr val="0D7377"/>
                </a:solidFill>
                <a:latin typeface="Arial"/>
              </a:rPr>
              <a:t>1 </a:t>
            </a:r>
            <a:r>
              <a:rPr lang="en-US" sz="1800" dirty="0">
                <a:solidFill>
                  <a:srgbClr val="D0C8E0"/>
                </a:solidFill>
                <a:latin typeface="Arial"/>
              </a:rPr>
              <a:t>  Hypercapnia hides behind hypoxemia — especially at our elevation</a:t>
            </a:r>
          </a:p>
          <a:p>
            <a:pPr>
              <a:buNone/>
            </a:pPr>
            <a:r>
              <a:rPr lang="en-US" sz="1800" b="1" dirty="0">
                <a:solidFill>
                  <a:srgbClr val="0D7377"/>
                </a:solidFill>
                <a:latin typeface="Arial"/>
              </a:rPr>
              <a:t>2 </a:t>
            </a:r>
            <a:r>
              <a:rPr lang="en-US" sz="1800" dirty="0">
                <a:solidFill>
                  <a:srgbClr val="D0C8E0"/>
                </a:solidFill>
                <a:latin typeface="Arial"/>
              </a:rPr>
              <a:t>  “COPD” and “asthma” labels are often wrong — verify before you trust</a:t>
            </a:r>
          </a:p>
        </p:txBody>
      </p:sp>
    </p:spTree>
    <p:extLst>
      <p:ext uri="{BB962C8B-B14F-4D97-AF65-F5344CB8AC3E}">
        <p14:creationId xmlns:p14="http://schemas.microsoft.com/office/powerpoint/2010/main" val="2545015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394AE-0E48-E498-9D9D-39E14C83A0DA}"/>
              </a:ext>
            </a:extLst>
          </p:cNvPr>
          <p:cNvSpPr>
            <a:spLocks noGrp="1"/>
          </p:cNvSpPr>
          <p:nvPr>
            <p:ph type="title"/>
          </p:nvPr>
        </p:nvSpPr>
        <p:spPr/>
        <p:txBody>
          <a:bodyPr>
            <a:normAutofit/>
          </a:bodyPr>
          <a:lstStyle/>
          <a:p>
            <a:r>
              <a:rPr lang="en-US" sz="3200">
                <a:latin typeface="Arial"/>
                <a:cs typeface="Arial"/>
              </a:rPr>
              <a:t>How to Spot It: Clinical Screening Pearls</a:t>
            </a:r>
          </a:p>
        </p:txBody>
      </p:sp>
      <p:sp>
        <p:nvSpPr>
          <p:cNvPr id="3" name="Content Placeholder 2">
            <a:extLst>
              <a:ext uri="{FF2B5EF4-FFF2-40B4-BE49-F238E27FC236}">
                <a16:creationId xmlns:a16="http://schemas.microsoft.com/office/drawing/2014/main" id="{7A03A798-3CA4-42F8-DA29-A30FC39F3601}"/>
              </a:ext>
            </a:extLst>
          </p:cNvPr>
          <p:cNvSpPr>
            <a:spLocks noGrp="1"/>
          </p:cNvSpPr>
          <p:nvPr>
            <p:ph idx="1"/>
          </p:nvPr>
        </p:nvSpPr>
        <p:spPr>
          <a:xfrm>
            <a:off x="838200" y="1825625"/>
            <a:ext cx="10515600" cy="3261406"/>
          </a:xfrm>
        </p:spPr>
        <p:txBody>
          <a:bodyPr>
            <a:spAutoFit/>
          </a:bodyPr>
          <a:lstStyle/>
          <a:p>
            <a:pPr marL="0" indent="0">
              <a:buNone/>
            </a:pPr>
            <a:r>
              <a:rPr lang="en-US" sz="2200" b="1" dirty="0">
                <a:solidFill>
                  <a:srgbClr val="110057"/>
                </a:solidFill>
                <a:latin typeface="Arial"/>
                <a:cs typeface="Arial"/>
              </a:rPr>
              <a:t>Red flags that should trigger workup</a:t>
            </a:r>
          </a:p>
          <a:p>
            <a:r>
              <a:rPr lang="en-US" sz="2000" dirty="0">
                <a:latin typeface="Arial"/>
                <a:cs typeface="Arial"/>
              </a:rPr>
              <a:t>Unexplained hypoxemia in an obese patient</a:t>
            </a:r>
          </a:p>
          <a:p>
            <a:r>
              <a:rPr lang="en-US" sz="2000" dirty="0">
                <a:latin typeface="Arial"/>
                <a:cs typeface="Arial"/>
              </a:rPr>
              <a:t>Elevated serum bicarbonate (HCO</a:t>
            </a:r>
            <a:r>
              <a:rPr lang="en-US" sz="2000" baseline="-25000" dirty="0">
                <a:latin typeface="Arial"/>
                <a:cs typeface="Arial"/>
              </a:rPr>
              <a:t>3</a:t>
            </a:r>
            <a:r>
              <a:rPr lang="en-US" sz="2000" dirty="0">
                <a:latin typeface="Arial"/>
                <a:cs typeface="Arial"/>
              </a:rPr>
              <a:t>), ? compensation for chronic CO</a:t>
            </a:r>
            <a:r>
              <a:rPr lang="en-US" sz="2000" baseline="-25000" dirty="0">
                <a:latin typeface="Arial"/>
                <a:cs typeface="Arial"/>
              </a:rPr>
              <a:t>2</a:t>
            </a:r>
            <a:r>
              <a:rPr lang="en-US" sz="2000" dirty="0">
                <a:latin typeface="Arial"/>
                <a:cs typeface="Arial"/>
              </a:rPr>
              <a:t> retention</a:t>
            </a:r>
          </a:p>
          <a:p>
            <a:r>
              <a:rPr lang="en-US" sz="2000" dirty="0">
                <a:latin typeface="Arial"/>
                <a:cs typeface="Arial"/>
              </a:rPr>
              <a:t>Recurrent “COPD/Asthma/HF exacerbations” without a credible diagnostic support</a:t>
            </a:r>
            <a:endParaRPr lang="en-US" sz="1200" dirty="0">
              <a:latin typeface="Arial"/>
              <a:cs typeface="Arial"/>
            </a:endParaRPr>
          </a:p>
          <a:p>
            <a:pPr marL="0" indent="0">
              <a:buNone/>
            </a:pPr>
            <a:r>
              <a:rPr lang="en-US" sz="2200" b="1" dirty="0">
                <a:solidFill>
                  <a:srgbClr val="110057"/>
                </a:solidFill>
                <a:latin typeface="Arial"/>
                <a:cs typeface="Arial"/>
              </a:rPr>
              <a:t>Clinical approach</a:t>
            </a:r>
          </a:p>
          <a:p>
            <a:r>
              <a:rPr lang="en-US" sz="2000" dirty="0">
                <a:latin typeface="Arial"/>
                <a:cs typeface="Arial"/>
              </a:rPr>
              <a:t>Obtain a ABG or VBG confirm hypercapnia (*we’ll talk device qualification later)</a:t>
            </a:r>
          </a:p>
          <a:p>
            <a:r>
              <a:rPr lang="en-US" sz="2000" dirty="0">
                <a:latin typeface="Arial"/>
                <a:cs typeface="Arial"/>
              </a:rPr>
              <a:t>Skeptically evaluate for “explanatory” causes (true COPD, asthma, CHF)</a:t>
            </a:r>
          </a:p>
          <a:p>
            <a:r>
              <a:rPr lang="en-US" sz="2000" dirty="0">
                <a:latin typeface="Arial"/>
                <a:cs typeface="Arial"/>
              </a:rPr>
              <a:t>Many patients have </a:t>
            </a:r>
            <a:r>
              <a:rPr lang="en-US" sz="2000" b="1" dirty="0">
                <a:latin typeface="Arial"/>
                <a:cs typeface="Arial"/>
              </a:rPr>
              <a:t>multiple contributing conditions:</a:t>
            </a:r>
            <a:r>
              <a:rPr lang="en-US" sz="2000" dirty="0">
                <a:latin typeface="Arial"/>
                <a:cs typeface="Arial"/>
              </a:rPr>
              <a:t> obesity is often one of them</a:t>
            </a:r>
          </a:p>
        </p:txBody>
      </p:sp>
      <p:sp>
        <p:nvSpPr>
          <p:cNvPr id="4" name="Rectangle 3">
            <a:extLst>
              <a:ext uri="{FF2B5EF4-FFF2-40B4-BE49-F238E27FC236}">
                <a16:creationId xmlns:a16="http://schemas.microsoft.com/office/drawing/2014/main" id="{A410CEEF-31D2-CE41-9060-6C4717A7B315}"/>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00221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F568F-C9C4-AF54-C513-E389186183B9}"/>
              </a:ext>
            </a:extLst>
          </p:cNvPr>
          <p:cNvSpPr>
            <a:spLocks noGrp="1"/>
          </p:cNvSpPr>
          <p:nvPr>
            <p:ph type="title"/>
          </p:nvPr>
        </p:nvSpPr>
        <p:spPr/>
        <p:txBody>
          <a:bodyPr>
            <a:normAutofit/>
          </a:bodyPr>
          <a:lstStyle/>
          <a:p>
            <a:r>
              <a:rPr lang="en-US" sz="2800" b="1"/>
              <a:t>Using HCO₃⁻ and K⁺ to Identify Hypercapnia</a:t>
            </a:r>
          </a:p>
        </p:txBody>
      </p:sp>
      <p:sp>
        <p:nvSpPr>
          <p:cNvPr id="4" name="Rectangle 3">
            <a:extLst>
              <a:ext uri="{FF2B5EF4-FFF2-40B4-BE49-F238E27FC236}">
                <a16:creationId xmlns:a16="http://schemas.microsoft.com/office/drawing/2014/main" id="{C447E3AB-FF5D-3142-AE72-C1046D3BEE27}"/>
              </a:ext>
            </a:extLst>
          </p:cNvPr>
          <p:cNvSpPr/>
          <p:nvPr/>
        </p:nvSpPr>
        <p:spPr>
          <a:xfrm>
            <a:off x="838200" y="1625600"/>
            <a:ext cx="2540000" cy="38100"/>
          </a:xfrm>
          <a:prstGeom prst="rect">
            <a:avLst/>
          </a:prstGeom>
          <a:solidFill>
            <a:srgbClr val="2F549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9F7DC886-1F8C-6C4A-A053-6920667E9897}"/>
              </a:ext>
            </a:extLst>
          </p:cNvPr>
          <p:cNvSpPr txBox="1"/>
          <p:nvPr/>
        </p:nvSpPr>
        <p:spPr>
          <a:xfrm>
            <a:off x="838200" y="1803400"/>
            <a:ext cx="4762500" cy="2839239"/>
          </a:xfrm>
          <a:prstGeom prst="rect">
            <a:avLst/>
          </a:prstGeom>
          <a:noFill/>
        </p:spPr>
        <p:txBody>
          <a:bodyPr vertOverflow="overflow" vert="horz" wrap="square" rtlCol="0" anchor="t">
            <a:spAutoFit/>
          </a:bodyPr>
          <a:lstStyle/>
          <a:p>
            <a:pPr>
              <a:spcAft>
                <a:spcPts val="400"/>
              </a:spcAft>
              <a:buNone/>
            </a:pPr>
            <a:r>
              <a:rPr lang="en-US" sz="1600" b="1" dirty="0">
                <a:solidFill>
                  <a:srgbClr val="2F5496"/>
                </a:solidFill>
                <a:latin typeface="Arial"/>
              </a:rPr>
              <a:t>Interval Likelihood Ratios</a:t>
            </a:r>
          </a:p>
          <a:p>
            <a:pPr>
              <a:spcAft>
                <a:spcPts val="200"/>
              </a:spcAft>
              <a:buNone/>
            </a:pPr>
            <a:r>
              <a:rPr lang="en-US" sz="1400" dirty="0">
                <a:solidFill>
                  <a:srgbClr val="333333"/>
                </a:solidFill>
                <a:latin typeface="Arial"/>
              </a:rPr>
              <a:t>HCO₃⁻ alone (any K⁺):</a:t>
            </a:r>
          </a:p>
          <a:p>
            <a:pPr marL="228600" indent="-228600">
              <a:spcAft>
                <a:spcPts val="100"/>
              </a:spcAft>
              <a:buFont typeface="Arial"/>
              <a:buChar char="•"/>
            </a:pPr>
            <a:r>
              <a:rPr lang="en-US" sz="1400" dirty="0">
                <a:solidFill>
                  <a:srgbClr val="333333"/>
                </a:solidFill>
                <a:latin typeface="Arial"/>
              </a:rPr>
              <a:t>&lt;24: LR ~0.5 (halves odds)</a:t>
            </a:r>
          </a:p>
          <a:p>
            <a:pPr marL="228600" indent="-228600">
              <a:spcAft>
                <a:spcPts val="100"/>
              </a:spcAft>
              <a:buFont typeface="Arial"/>
              <a:buChar char="•"/>
            </a:pPr>
            <a:r>
              <a:rPr lang="en-US" sz="1400" dirty="0">
                <a:solidFill>
                  <a:srgbClr val="333333"/>
                </a:solidFill>
                <a:latin typeface="Arial"/>
              </a:rPr>
              <a:t>24–26: LR ~1 (neutral)</a:t>
            </a:r>
          </a:p>
          <a:p>
            <a:pPr marL="228600" indent="-228600">
              <a:spcAft>
                <a:spcPts val="100"/>
              </a:spcAft>
              <a:buFont typeface="Arial"/>
              <a:buChar char="•"/>
            </a:pPr>
            <a:r>
              <a:rPr lang="en-US" sz="1400" dirty="0">
                <a:solidFill>
                  <a:srgbClr val="333333"/>
                </a:solidFill>
                <a:latin typeface="Arial"/>
              </a:rPr>
              <a:t>27–29: LR ~2 (doubles odds)</a:t>
            </a:r>
          </a:p>
          <a:p>
            <a:pPr marL="228600" indent="-228600">
              <a:spcAft>
                <a:spcPts val="400"/>
              </a:spcAft>
              <a:buFont typeface="Arial"/>
              <a:buChar char="•"/>
            </a:pPr>
            <a:r>
              <a:rPr lang="en-US" sz="1400" dirty="0">
                <a:solidFill>
                  <a:srgbClr val="333333"/>
                </a:solidFill>
                <a:latin typeface="Arial"/>
              </a:rPr>
              <a:t>≥30: LR ~9 (strong evidence)</a:t>
            </a:r>
          </a:p>
          <a:p>
            <a:pPr>
              <a:spcAft>
                <a:spcPts val="200"/>
              </a:spcAft>
              <a:buNone/>
            </a:pPr>
            <a:r>
              <a:rPr lang="en-US" sz="1400" b="1" dirty="0">
                <a:solidFill>
                  <a:srgbClr val="2F5496"/>
                </a:solidFill>
                <a:latin typeface="Arial"/>
              </a:rPr>
              <a:t>K⁺ shifts LR by 3–3.5×</a:t>
            </a:r>
          </a:p>
          <a:p>
            <a:pPr marL="228600" indent="-228600">
              <a:spcAft>
                <a:spcPts val="100"/>
              </a:spcAft>
              <a:buFont typeface="Arial"/>
              <a:buChar char="•"/>
            </a:pPr>
            <a:r>
              <a:rPr lang="en-US" sz="1400" dirty="0">
                <a:solidFill>
                  <a:srgbClr val="333333"/>
                </a:solidFill>
                <a:latin typeface="Arial"/>
              </a:rPr>
              <a:t>HypoK → less likely hypercapnia</a:t>
            </a:r>
          </a:p>
          <a:p>
            <a:pPr marL="228600" indent="-228600">
              <a:spcAft>
                <a:spcPts val="500"/>
              </a:spcAft>
              <a:buFont typeface="Arial"/>
              <a:buChar char="•"/>
            </a:pPr>
            <a:r>
              <a:rPr lang="en-US" sz="1400" dirty="0">
                <a:solidFill>
                  <a:srgbClr val="333333"/>
                </a:solidFill>
                <a:latin typeface="Arial"/>
              </a:rPr>
              <a:t>HyperK → more likely hypercapnia</a:t>
            </a:r>
          </a:p>
          <a:p>
            <a:pPr>
              <a:buNone/>
            </a:pPr>
            <a:r>
              <a:rPr lang="en-US" sz="1400" i="1" dirty="0">
                <a:solidFill>
                  <a:srgbClr val="444444"/>
                </a:solidFill>
                <a:latin typeface="Arial"/>
              </a:rPr>
              <a:t>Locke et al. N=870,019 in nationally representative EHR data (TriNetX, 75 U.S. health systems, 2022); 203,399 with paired ABGs &amp; BMPs; 32% hypercapnic.</a:t>
            </a:r>
          </a:p>
        </p:txBody>
      </p:sp>
      <p:sp>
        <p:nvSpPr>
          <p:cNvPr id="7" name="TextBox 6">
            <a:extLst>
              <a:ext uri="{FF2B5EF4-FFF2-40B4-BE49-F238E27FC236}">
                <a16:creationId xmlns:a16="http://schemas.microsoft.com/office/drawing/2014/main" id="{772EC68F-62AA-3649-B082-ACED40F3B0C1}"/>
              </a:ext>
            </a:extLst>
          </p:cNvPr>
          <p:cNvSpPr txBox="1"/>
          <p:nvPr/>
        </p:nvSpPr>
        <p:spPr>
          <a:xfrm>
            <a:off x="5842000" y="1641172"/>
            <a:ext cx="6096000" cy="254000"/>
          </a:xfrm>
          <a:prstGeom prst="rect">
            <a:avLst/>
          </a:prstGeom>
          <a:noFill/>
        </p:spPr>
        <p:txBody>
          <a:bodyPr vertOverflow="overflow" vert="horz" wrap="square" rtlCol="0" anchor="t">
            <a:noAutofit/>
          </a:bodyPr>
          <a:lstStyle/>
          <a:p>
            <a:pPr algn="l"/>
            <a:r>
              <a:rPr lang="en-US" sz="1400" b="1" dirty="0">
                <a:solidFill>
                  <a:srgbClr val="2F5496"/>
                </a:solidFill>
                <a:latin typeface="Arial"/>
                <a:cs typeface="Arial"/>
              </a:rPr>
              <a:t>Figure 3: Joint Interval Likelihood Ratios</a:t>
            </a:r>
          </a:p>
        </p:txBody>
      </p:sp>
      <p:pic>
        <p:nvPicPr>
          <p:cNvPr id="3" name="Picture 2" descr="A chart with red and green squares&#10;&#10;Description automatically generated">
            <a:extLst>
              <a:ext uri="{FF2B5EF4-FFF2-40B4-BE49-F238E27FC236}">
                <a16:creationId xmlns:a16="http://schemas.microsoft.com/office/drawing/2014/main" id="{27808111-6474-877A-CC59-0D1EAC02B0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5447070" y="2027903"/>
            <a:ext cx="5906729" cy="3937819"/>
          </a:xfrm>
          <a:prstGeom prst="rect">
            <a:avLst/>
          </a:prstGeom>
          <a:noFill/>
          <a:ln>
            <a:noFill/>
          </a:ln>
        </p:spPr>
      </p:pic>
    </p:spTree>
    <p:extLst>
      <p:ext uri="{BB962C8B-B14F-4D97-AF65-F5344CB8AC3E}">
        <p14:creationId xmlns:p14="http://schemas.microsoft.com/office/powerpoint/2010/main" val="26912275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59F75-7B28-CF29-A795-AEB96034A8FB}"/>
              </a:ext>
            </a:extLst>
          </p:cNvPr>
          <p:cNvSpPr>
            <a:spLocks noGrp="1"/>
          </p:cNvSpPr>
          <p:nvPr>
            <p:ph type="title"/>
          </p:nvPr>
        </p:nvSpPr>
        <p:spPr/>
        <p:txBody>
          <a:bodyPr/>
          <a:lstStyle/>
          <a:p>
            <a:r>
              <a:rPr lang="en-US" sz="2800" dirty="0">
                <a:solidFill>
                  <a:srgbClr val="110057"/>
                </a:solidFill>
                <a:latin typeface="Arial"/>
                <a:cs typeface="Arial"/>
              </a:rPr>
              <a:t>It's Often Not Just Hypercapnia</a:t>
            </a:r>
          </a:p>
        </p:txBody>
      </p:sp>
      <p:sp>
        <p:nvSpPr>
          <p:cNvPr id="3" name="Content Placeholder 2">
            <a:extLst>
              <a:ext uri="{FF2B5EF4-FFF2-40B4-BE49-F238E27FC236}">
                <a16:creationId xmlns:a16="http://schemas.microsoft.com/office/drawing/2014/main" id="{010ECCD4-0FFD-5FEF-F67A-003328FF66F6}"/>
              </a:ext>
            </a:extLst>
          </p:cNvPr>
          <p:cNvSpPr>
            <a:spLocks noGrp="1"/>
          </p:cNvSpPr>
          <p:nvPr>
            <p:ph idx="1"/>
          </p:nvPr>
        </p:nvSpPr>
        <p:spPr>
          <a:xfrm>
            <a:off x="635000" y="1828800"/>
            <a:ext cx="5334000" cy="3642536"/>
          </a:xfrm>
        </p:spPr>
        <p:txBody>
          <a:bodyPr>
            <a:spAutoFit/>
          </a:bodyPr>
          <a:lstStyle/>
          <a:p>
            <a:pPr marL="0" indent="0">
              <a:buNone/>
            </a:pPr>
            <a:r>
              <a:rPr lang="en-US" sz="1600" b="1" dirty="0">
                <a:solidFill>
                  <a:srgbClr val="4A00E2"/>
                </a:solidFill>
                <a:latin typeface="Arial"/>
                <a:cs typeface="Arial"/>
              </a:rPr>
              <a:t>OHS itself causes:</a:t>
            </a:r>
          </a:p>
          <a:p>
            <a:pPr marL="228600" indent="-228600">
              <a:buFont typeface="Arial"/>
              <a:buChar char="•"/>
            </a:pPr>
            <a:r>
              <a:rPr lang="en-US" sz="1600" dirty="0">
                <a:solidFill>
                  <a:srgbClr val="110057"/>
                </a:solidFill>
                <a:latin typeface="Arial"/>
                <a:cs typeface="Arial"/>
              </a:rPr>
              <a:t>Hypercapnia</a:t>
            </a:r>
          </a:p>
          <a:p>
            <a:pPr marL="228600" indent="-228600">
              <a:buFont typeface="Arial"/>
              <a:buChar char="•"/>
            </a:pPr>
            <a:r>
              <a:rPr lang="en-US" sz="1600" dirty="0">
                <a:solidFill>
                  <a:srgbClr val="110057"/>
                </a:solidFill>
                <a:latin typeface="Arial"/>
                <a:cs typeface="Arial"/>
              </a:rPr>
              <a:t>Subsequent mild, correctable hypoxemia</a:t>
            </a:r>
          </a:p>
          <a:p>
            <a:pPr marL="0" indent="0">
              <a:buNone/>
            </a:pPr>
            <a:endParaRPr lang="en-US" sz="1400" dirty="0">
              <a:latin typeface="Arial"/>
              <a:cs typeface="Arial"/>
            </a:endParaRPr>
          </a:p>
          <a:p>
            <a:pPr marL="0" indent="0">
              <a:buNone/>
            </a:pPr>
            <a:r>
              <a:rPr lang="en-US" sz="1600" b="1" dirty="0">
                <a:solidFill>
                  <a:srgbClr val="FF0044"/>
                </a:solidFill>
                <a:latin typeface="Arial"/>
                <a:cs typeface="Arial"/>
              </a:rPr>
              <a:t>But the obesity also causes:</a:t>
            </a:r>
          </a:p>
          <a:p>
            <a:pPr marL="228600" indent="-228600">
              <a:buFont typeface="Arial"/>
              <a:buChar char="•"/>
            </a:pPr>
            <a:r>
              <a:rPr lang="en-US" sz="1600" dirty="0">
                <a:solidFill>
                  <a:srgbClr val="110057"/>
                </a:solidFill>
                <a:latin typeface="Arial"/>
                <a:cs typeface="Arial"/>
              </a:rPr>
              <a:t>Atelectasis (esp. LLL &amp; RLL)</a:t>
            </a:r>
          </a:p>
          <a:p>
            <a:pPr marL="228600" indent="-228600">
              <a:buFont typeface="Arial"/>
              <a:buChar char="•"/>
            </a:pPr>
            <a:r>
              <a:rPr lang="en-US" sz="1600" dirty="0">
                <a:solidFill>
                  <a:srgbClr val="110057"/>
                </a:solidFill>
                <a:latin typeface="Arial"/>
                <a:cs typeface="Arial"/>
              </a:rPr>
              <a:t>Observable on CXR (see patterns →)</a:t>
            </a:r>
          </a:p>
          <a:p>
            <a:pPr marL="228600" indent="-228600">
              <a:buFont typeface="Arial"/>
              <a:buChar char="•"/>
            </a:pPr>
            <a:r>
              <a:rPr lang="en-US" sz="1600" dirty="0">
                <a:solidFill>
                  <a:srgbClr val="110057"/>
                </a:solidFill>
                <a:latin typeface="Arial"/>
                <a:cs typeface="Arial"/>
              </a:rPr>
              <a:t>Shunts blood → </a:t>
            </a:r>
            <a:r>
              <a:rPr lang="en-US" sz="1600" b="1" dirty="0">
                <a:solidFill>
                  <a:srgbClr val="FF0044"/>
                </a:solidFill>
                <a:latin typeface="Arial"/>
                <a:cs typeface="Arial"/>
              </a:rPr>
              <a:t>much more refractory hypoxemia</a:t>
            </a:r>
          </a:p>
          <a:p>
            <a:pPr marL="0" indent="0">
              <a:buNone/>
            </a:pPr>
            <a:endParaRPr lang="en-US" sz="1400" dirty="0">
              <a:latin typeface="Arial"/>
              <a:cs typeface="Arial"/>
            </a:endParaRPr>
          </a:p>
          <a:p>
            <a:pPr marL="0" indent="0">
              <a:buNone/>
            </a:pPr>
            <a:r>
              <a:rPr lang="en-US" sz="1500" i="1" dirty="0">
                <a:solidFill>
                  <a:srgbClr val="110057"/>
                </a:solidFill>
                <a:latin typeface="Arial"/>
                <a:cs typeface="Arial"/>
              </a:rPr>
              <a:t>Abdominal adiposity compresses the lower lobes — looks almost normal on CXR but the shunt fraction can be significant</a:t>
            </a:r>
          </a:p>
        </p:txBody>
      </p:sp>
      <p:pic>
        <p:nvPicPr>
          <p:cNvPr id="1026" name="Picture 2">
            <a:extLst>
              <a:ext uri="{FF2B5EF4-FFF2-40B4-BE49-F238E27FC236}">
                <a16:creationId xmlns:a16="http://schemas.microsoft.com/office/drawing/2014/main" id="{7113FB95-F6FC-44CE-02D0-21AF5A2615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23000" y="1714500"/>
            <a:ext cx="5588000" cy="4191000"/>
          </a:xfrm>
          <a:prstGeom prst="rect">
            <a:avLst/>
          </a:prstGeom>
          <a:noFill/>
          <a:extLst>
            <a:ext uri="{909E8E84-426E-40DD-AFC4-6F175D3DCCD1}">
              <a14:hiddenFill xmlns:a14="http://schemas.microsoft.com/office/drawing/2010/main">
                <a:solidFill>
                  <a:srgbClr val="FFFFFF"/>
                </a:solidFill>
              </a14:hiddenFill>
            </a:ext>
          </a:extLst>
        </p:spPr>
      </p:pic>
      <p:sp>
        <p:nvSpPr>
          <p:cNvPr id="4" name="Rounded Rectangle 3">
            <a:extLst>
              <a:ext uri="{FF2B5EF4-FFF2-40B4-BE49-F238E27FC236}">
                <a16:creationId xmlns:a16="http://schemas.microsoft.com/office/drawing/2014/main" id="{0A735785-4374-E1E4-5E69-4F4A72D673EC}"/>
              </a:ext>
            </a:extLst>
          </p:cNvPr>
          <p:cNvSpPr/>
          <p:nvPr/>
        </p:nvSpPr>
        <p:spPr>
          <a:xfrm>
            <a:off x="6134512" y="4586749"/>
            <a:ext cx="5693697" cy="1372060"/>
          </a:xfrm>
          <a:prstGeom prst="round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937999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2481FE0-EE95-AA4C-9324-0CE3BF15B172}"/>
              </a:ext>
            </a:extLst>
          </p:cNvPr>
          <p:cNvSpPr txBox="1"/>
          <p:nvPr/>
        </p:nvSpPr>
        <p:spPr>
          <a:xfrm>
            <a:off x="762000" y="1270000"/>
            <a:ext cx="5080000" cy="381000"/>
          </a:xfrm>
          <a:prstGeom prst="rect">
            <a:avLst/>
          </a:prstGeom>
          <a:noFill/>
        </p:spPr>
        <p:txBody>
          <a:bodyPr vertOverflow="overflow" vert="horz" wrap="square" rtlCol="0" anchor="t">
            <a:noAutofit/>
          </a:bodyPr>
          <a:lstStyle/>
          <a:p>
            <a:pPr algn="l"/>
            <a:r>
              <a:rPr lang="en-US" sz="1400" b="1">
                <a:solidFill>
                  <a:srgbClr val="0D7377"/>
                </a:solidFill>
                <a:latin typeface="Arial"/>
                <a:cs typeface="Arial"/>
              </a:rPr>
              <a:t>DIAGNOSIS  ›  Goal 2</a:t>
            </a:r>
          </a:p>
        </p:txBody>
      </p:sp>
      <p:sp>
        <p:nvSpPr>
          <p:cNvPr id="5" name="Rectangle 4">
            <a:extLst>
              <a:ext uri="{FF2B5EF4-FFF2-40B4-BE49-F238E27FC236}">
                <a16:creationId xmlns:a16="http://schemas.microsoft.com/office/drawing/2014/main" id="{2D870888-5D45-394C-8F27-D1A6D6DFF965}"/>
              </a:ext>
            </a:extLst>
          </p:cNvPr>
          <p:cNvSpPr/>
          <p:nvPr/>
        </p:nvSpPr>
        <p:spPr>
          <a:xfrm>
            <a:off x="762000" y="1752600"/>
            <a:ext cx="1016000" cy="381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5A0627EC-DA8D-FD4E-8AF6-B6AF73B41BC6}"/>
              </a:ext>
            </a:extLst>
          </p:cNvPr>
          <p:cNvSpPr txBox="1"/>
          <p:nvPr/>
        </p:nvSpPr>
        <p:spPr>
          <a:xfrm>
            <a:off x="762000" y="2032000"/>
            <a:ext cx="10668000" cy="1270000"/>
          </a:xfrm>
          <a:prstGeom prst="rect">
            <a:avLst/>
          </a:prstGeom>
          <a:noFill/>
        </p:spPr>
        <p:txBody>
          <a:bodyPr vertOverflow="overflow" vert="horz" wrap="square" rtlCol="0" anchor="t">
            <a:noAutofit/>
          </a:bodyPr>
          <a:lstStyle/>
          <a:p>
            <a:pPr>
              <a:buNone/>
            </a:pPr>
            <a:r>
              <a:rPr lang="en-US" sz="3600" dirty="0">
                <a:solidFill>
                  <a:srgbClr val="FFFFFF"/>
                </a:solidFill>
                <a:latin typeface="Arial"/>
              </a:rPr>
              <a:t>Don’t </a:t>
            </a:r>
            <a:r>
              <a:rPr lang="en-US" sz="3600" b="1" dirty="0">
                <a:solidFill>
                  <a:srgbClr val="FF0044"/>
                </a:solidFill>
                <a:latin typeface="Arial"/>
              </a:rPr>
              <a:t>Misattribute</a:t>
            </a:r>
            <a:r>
              <a:rPr lang="en-US" sz="3600" dirty="0">
                <a:solidFill>
                  <a:srgbClr val="FFFFFF"/>
                </a:solidFill>
                <a:latin typeface="Arial"/>
              </a:rPr>
              <a:t> Hypercapnia</a:t>
            </a:r>
          </a:p>
        </p:txBody>
      </p:sp>
      <p:sp>
        <p:nvSpPr>
          <p:cNvPr id="7" name="TextBox 6">
            <a:extLst>
              <a:ext uri="{FF2B5EF4-FFF2-40B4-BE49-F238E27FC236}">
                <a16:creationId xmlns:a16="http://schemas.microsoft.com/office/drawing/2014/main" id="{9406D016-0BAB-A747-BD5A-83C44A5A1BAB}"/>
              </a:ext>
            </a:extLst>
          </p:cNvPr>
          <p:cNvSpPr txBox="1"/>
          <p:nvPr/>
        </p:nvSpPr>
        <p:spPr>
          <a:xfrm>
            <a:off x="762000" y="3683000"/>
            <a:ext cx="10668000" cy="1016000"/>
          </a:xfrm>
          <a:prstGeom prst="rect">
            <a:avLst/>
          </a:prstGeom>
          <a:noFill/>
        </p:spPr>
        <p:txBody>
          <a:bodyPr vertOverflow="overflow" vert="horz" wrap="square" rtlCol="0" anchor="t">
            <a:noAutofit/>
          </a:bodyPr>
          <a:lstStyle/>
          <a:p>
            <a:pPr>
              <a:buNone/>
            </a:pPr>
            <a:r>
              <a:rPr lang="en-US" sz="1800" dirty="0">
                <a:solidFill>
                  <a:srgbClr val="D0C8E0"/>
                </a:solidFill>
                <a:latin typeface="Arial"/>
              </a:rPr>
              <a:t>Missed diagnoses of “COPD” and “asthma” are common.</a:t>
            </a:r>
          </a:p>
          <a:p>
            <a:pPr>
              <a:buNone/>
            </a:pPr>
            <a:r>
              <a:rPr lang="en-US" sz="1800" dirty="0">
                <a:solidFill>
                  <a:srgbClr val="D0C8E0"/>
                </a:solidFill>
                <a:latin typeface="Arial"/>
              </a:rPr>
              <a:t>Most pre-existing diagnoses are inaccurate — only trust what you can </a:t>
            </a:r>
            <a:r>
              <a:rPr lang="en-US" sz="1800" b="1" dirty="0">
                <a:solidFill>
                  <a:srgbClr val="FFFFFF"/>
                </a:solidFill>
                <a:latin typeface="Arial"/>
              </a:rPr>
              <a:t>verify</a:t>
            </a:r>
            <a:r>
              <a:rPr lang="en-US" sz="1800" dirty="0">
                <a:solidFill>
                  <a:srgbClr val="D0C8E0"/>
                </a:solidFill>
                <a:latin typeface="Arial"/>
              </a:rPr>
              <a:t>.</a:t>
            </a:r>
          </a:p>
        </p:txBody>
      </p:sp>
      <p:sp>
        <p:nvSpPr>
          <p:cNvPr id="8" name="TextBox 7">
            <a:extLst>
              <a:ext uri="{FF2B5EF4-FFF2-40B4-BE49-F238E27FC236}">
                <a16:creationId xmlns:a16="http://schemas.microsoft.com/office/drawing/2014/main" id="{408FD6E5-8058-4748-8C2A-C07022DFFCCD}"/>
              </a:ext>
            </a:extLst>
          </p:cNvPr>
          <p:cNvSpPr txBox="1"/>
          <p:nvPr/>
        </p:nvSpPr>
        <p:spPr>
          <a:xfrm>
            <a:off x="762000" y="5080000"/>
            <a:ext cx="7620000" cy="762000"/>
          </a:xfrm>
          <a:prstGeom prst="rect">
            <a:avLst/>
          </a:prstGeom>
          <a:noFill/>
        </p:spPr>
        <p:txBody>
          <a:bodyPr vertOverflow="overflow" vert="horz" wrap="square" rtlCol="0" anchor="t">
            <a:noAutofit/>
          </a:bodyPr>
          <a:lstStyle/>
          <a:p>
            <a:pPr>
              <a:buNone/>
            </a:pPr>
            <a:r>
              <a:rPr lang="en-US" sz="1400" dirty="0">
                <a:solidFill>
                  <a:srgbClr val="0D7377"/>
                </a:solidFill>
                <a:latin typeface="Arial"/>
              </a:rPr>
              <a:t>✓  Goal 1: Don’t miss hypercapnia</a:t>
            </a:r>
          </a:p>
        </p:txBody>
      </p:sp>
    </p:spTree>
    <p:extLst>
      <p:ext uri="{BB962C8B-B14F-4D97-AF65-F5344CB8AC3E}">
        <p14:creationId xmlns:p14="http://schemas.microsoft.com/office/powerpoint/2010/main" val="22095765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7499E-3E48-7639-74A1-466336548C1F}"/>
              </a:ext>
            </a:extLst>
          </p:cNvPr>
          <p:cNvSpPr>
            <a:spLocks noGrp="1"/>
          </p:cNvSpPr>
          <p:nvPr>
            <p:ph type="title"/>
          </p:nvPr>
        </p:nvSpPr>
        <p:spPr/>
        <p:txBody>
          <a:bodyPr>
            <a:normAutofit/>
          </a:bodyPr>
          <a:lstStyle/>
          <a:p>
            <a:r>
              <a:rPr lang="en-US" sz="3200">
                <a:solidFill>
                  <a:srgbClr val="110057"/>
                </a:solidFill>
                <a:latin typeface="Arial"/>
                <a:cs typeface="Arial"/>
              </a:rPr>
              <a:t>Misdiagnosis Pitfalls in Obese Patients</a:t>
            </a:r>
          </a:p>
        </p:txBody>
      </p:sp>
      <p:sp>
        <p:nvSpPr>
          <p:cNvPr id="3" name="Content Placeholder 2">
            <a:extLst>
              <a:ext uri="{FF2B5EF4-FFF2-40B4-BE49-F238E27FC236}">
                <a16:creationId xmlns:a16="http://schemas.microsoft.com/office/drawing/2014/main" id="{CCF0D0AB-A0D4-0BC5-2B19-F41F3AC26002}"/>
              </a:ext>
            </a:extLst>
          </p:cNvPr>
          <p:cNvSpPr>
            <a:spLocks noGrp="1"/>
          </p:cNvSpPr>
          <p:nvPr>
            <p:ph idx="1"/>
          </p:nvPr>
        </p:nvSpPr>
        <p:spPr>
          <a:xfrm>
            <a:off x="838200" y="1825625"/>
            <a:ext cx="10515600" cy="2921000"/>
          </a:xfrm>
        </p:spPr>
        <p:txBody>
          <a:bodyPr>
            <a:noAutofit/>
          </a:bodyPr>
          <a:lstStyle/>
          <a:p>
            <a:pPr marL="0" indent="0">
              <a:buNone/>
            </a:pPr>
            <a:r>
              <a:rPr lang="en-US" sz="1800" b="1" dirty="0">
                <a:latin typeface="Arial"/>
                <a:cs typeface="Arial"/>
              </a:rPr>
              <a:t>"Asthma" in the obese patient</a:t>
            </a:r>
          </a:p>
          <a:p>
            <a:r>
              <a:rPr lang="en-US" sz="1600" dirty="0">
                <a:latin typeface="Arial"/>
                <a:cs typeface="Arial"/>
              </a:rPr>
              <a:t>Dyspnea + wheeze + obesity ≠ asthma; β-agonists / steroids prescribed empirically</a:t>
            </a:r>
          </a:p>
          <a:p>
            <a:pPr lvl="1"/>
            <a:r>
              <a:rPr lang="en-US" sz="1400" dirty="0">
                <a:latin typeface="Arial"/>
                <a:cs typeface="Arial"/>
              </a:rPr>
              <a:t>Tricky — obesity IS a real risk factor for asthma, and asthma IS a hard diagnosis</a:t>
            </a:r>
          </a:p>
          <a:p>
            <a:r>
              <a:rPr lang="en-US" sz="1600" dirty="0">
                <a:latin typeface="Arial"/>
                <a:cs typeface="Arial"/>
              </a:rPr>
              <a:t>Do symptoms vary day-to-day? Triggered by exposures? Substantially resolved with ICS?</a:t>
            </a:r>
          </a:p>
          <a:p>
            <a:pPr marL="0" indent="0">
              <a:buNone/>
            </a:pPr>
            <a:endParaRPr lang="en-US" sz="800" dirty="0">
              <a:latin typeface="Arial"/>
              <a:cs typeface="Arial"/>
            </a:endParaRPr>
          </a:p>
          <a:p>
            <a:pPr marL="0" indent="0">
              <a:buNone/>
            </a:pPr>
            <a:r>
              <a:rPr lang="en-US" sz="1800" b="1" dirty="0">
                <a:latin typeface="Arial"/>
                <a:cs typeface="Arial"/>
              </a:rPr>
              <a:t>"COPD" in the obese patient</a:t>
            </a:r>
          </a:p>
          <a:p>
            <a:r>
              <a:rPr lang="en-US" sz="1600" dirty="0">
                <a:latin typeface="Arial"/>
                <a:cs typeface="Arial"/>
              </a:rPr>
              <a:t>If no PFTs, do they have a reason for COPD? (smoking?)</a:t>
            </a:r>
          </a:p>
          <a:p>
            <a:r>
              <a:rPr lang="en-US" sz="1600" dirty="0">
                <a:latin typeface="Arial"/>
                <a:cs typeface="Arial"/>
              </a:rPr>
              <a:t>Do they have emphysema?</a:t>
            </a:r>
          </a:p>
        </p:txBody>
      </p:sp>
      <p:sp>
        <p:nvSpPr>
          <p:cNvPr id="5" name="Rectangle 4">
            <a:extLst>
              <a:ext uri="{FF2B5EF4-FFF2-40B4-BE49-F238E27FC236}">
                <a16:creationId xmlns:a16="http://schemas.microsoft.com/office/drawing/2014/main" id="{E6ED4955-D15D-F948-B47C-48B20323DC5F}"/>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Rectangle 3">
            <a:extLst>
              <a:ext uri="{FF2B5EF4-FFF2-40B4-BE49-F238E27FC236}">
                <a16:creationId xmlns:a16="http://schemas.microsoft.com/office/drawing/2014/main" id="{FDEACD5A-BB9D-D440-91F3-53ED2822ACB8}"/>
              </a:ext>
            </a:extLst>
          </p:cNvPr>
          <p:cNvSpPr/>
          <p:nvPr/>
        </p:nvSpPr>
        <p:spPr>
          <a:xfrm>
            <a:off x="838200" y="4800600"/>
            <a:ext cx="10515600" cy="1905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7CF0E7DC-4507-4C4D-AC11-00CCC8CCC2AD}"/>
              </a:ext>
            </a:extLst>
          </p:cNvPr>
          <p:cNvSpPr txBox="1"/>
          <p:nvPr/>
        </p:nvSpPr>
        <p:spPr>
          <a:xfrm>
            <a:off x="838200" y="4889500"/>
            <a:ext cx="5080000" cy="304800"/>
          </a:xfrm>
          <a:prstGeom prst="rect">
            <a:avLst/>
          </a:prstGeom>
          <a:noFill/>
        </p:spPr>
        <p:txBody>
          <a:bodyPr vertOverflow="overflow" vert="horz" wrap="square" rtlCol="0" anchor="t">
            <a:noAutofit/>
          </a:bodyPr>
          <a:lstStyle/>
          <a:p>
            <a:pPr algn="l"/>
            <a:r>
              <a:rPr lang="en-US" sz="1400" b="1">
                <a:solidFill>
                  <a:srgbClr val="110057"/>
                </a:solidFill>
                <a:latin typeface="Arial"/>
                <a:cs typeface="Arial"/>
              </a:rPr>
              <a:t>Disjunctive Syllogism (Process of Elimination)</a:t>
            </a:r>
          </a:p>
        </p:txBody>
      </p:sp>
      <p:sp>
        <p:nvSpPr>
          <p:cNvPr id="7" name="Rounded Rectangle 6">
            <a:extLst>
              <a:ext uri="{FF2B5EF4-FFF2-40B4-BE49-F238E27FC236}">
                <a16:creationId xmlns:a16="http://schemas.microsoft.com/office/drawing/2014/main" id="{F42AA324-EB7F-7F4A-BC22-B464AB56232D}"/>
              </a:ext>
            </a:extLst>
          </p:cNvPr>
          <p:cNvSpPr/>
          <p:nvPr/>
        </p:nvSpPr>
        <p:spPr>
          <a:xfrm>
            <a:off x="838200" y="5207000"/>
            <a:ext cx="6731000" cy="1206500"/>
          </a:xfrm>
          <a:prstGeom prst="roundRect">
            <a:avLst/>
          </a:prstGeom>
          <a:solidFill>
            <a:srgbClr val="F3F0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F7D73574-DEF1-EB49-9712-185B74CE1C8F}"/>
              </a:ext>
            </a:extLst>
          </p:cNvPr>
          <p:cNvSpPr txBox="1"/>
          <p:nvPr/>
        </p:nvSpPr>
        <p:spPr>
          <a:xfrm>
            <a:off x="965200" y="5270500"/>
            <a:ext cx="6477000" cy="759182"/>
          </a:xfrm>
          <a:prstGeom prst="rect">
            <a:avLst/>
          </a:prstGeom>
          <a:noFill/>
        </p:spPr>
        <p:txBody>
          <a:bodyPr vertOverflow="overflow" vert="horz" wrap="square" rtlCol="0" anchor="t">
            <a:spAutoFit/>
          </a:bodyPr>
          <a:lstStyle/>
          <a:p>
            <a:pPr marL="0" indent="0">
              <a:lnSpc>
                <a:spcPts val="1800"/>
              </a:lnSpc>
              <a:buNone/>
            </a:pPr>
            <a:r>
              <a:rPr lang="en-US" sz="1500" i="1" dirty="0">
                <a:solidFill>
                  <a:srgbClr val="4A00E2"/>
                </a:solidFill>
                <a:latin typeface="Arial"/>
              </a:rPr>
              <a:t>"When you have eliminated the impossible, whatever remains, however improbable, must be the truth."</a:t>
            </a:r>
          </a:p>
          <a:p>
            <a:pPr marL="0" indent="0" algn="r">
              <a:lnSpc>
                <a:spcPts val="1600"/>
              </a:lnSpc>
              <a:buNone/>
            </a:pPr>
            <a:r>
              <a:rPr lang="en-US" sz="1400" dirty="0">
                <a:solidFill>
                  <a:srgbClr val="888888"/>
                </a:solidFill>
                <a:latin typeface="Arial"/>
              </a:rPr>
              <a:t>— Sherlock Holmes, </a:t>
            </a:r>
            <a:r>
              <a:rPr lang="en-US" sz="1400" i="1" dirty="0">
                <a:solidFill>
                  <a:srgbClr val="888888"/>
                </a:solidFill>
                <a:latin typeface="Arial"/>
              </a:rPr>
              <a:t>The Sign of the Four</a:t>
            </a:r>
          </a:p>
        </p:txBody>
      </p:sp>
      <p:sp>
        <p:nvSpPr>
          <p:cNvPr id="9" name="TextBox 8">
            <a:extLst>
              <a:ext uri="{FF2B5EF4-FFF2-40B4-BE49-F238E27FC236}">
                <a16:creationId xmlns:a16="http://schemas.microsoft.com/office/drawing/2014/main" id="{50A0A4E4-FA2E-144F-961F-1BB17728B04E}"/>
              </a:ext>
            </a:extLst>
          </p:cNvPr>
          <p:cNvSpPr txBox="1"/>
          <p:nvPr/>
        </p:nvSpPr>
        <p:spPr>
          <a:xfrm>
            <a:off x="7747000" y="5207000"/>
            <a:ext cx="3606800" cy="1206500"/>
          </a:xfrm>
          <a:prstGeom prst="rect">
            <a:avLst/>
          </a:prstGeom>
          <a:noFill/>
        </p:spPr>
        <p:txBody>
          <a:bodyPr vertOverflow="overflow" vert="horz" wrap="square" rtlCol="0" anchor="t">
            <a:spAutoFit/>
          </a:bodyPr>
          <a:lstStyle/>
          <a:p>
            <a:pPr marL="0" indent="0">
              <a:lnSpc>
                <a:spcPts val="1800"/>
              </a:lnSpc>
              <a:spcAft>
                <a:spcPts val="200"/>
              </a:spcAft>
              <a:buNone/>
            </a:pPr>
            <a:r>
              <a:rPr lang="en-US" sz="1400" b="1" dirty="0">
                <a:solidFill>
                  <a:srgbClr val="110057"/>
                </a:solidFill>
                <a:latin typeface="Arial"/>
              </a:rPr>
              <a:t>In practice:</a:t>
            </a:r>
          </a:p>
          <a:p>
            <a:pPr marL="0" indent="0">
              <a:lnSpc>
                <a:spcPts val="1700"/>
              </a:lnSpc>
              <a:buNone/>
            </a:pPr>
            <a:r>
              <a:rPr lang="en-US" sz="1400" dirty="0">
                <a:solidFill>
                  <a:srgbClr val="333333"/>
                </a:solidFill>
                <a:latin typeface="Arial"/>
              </a:rPr>
              <a:t>If hypercapnia is confirmed, something caused it. If workup fails to support COPD, asthma, CHF </a:t>
            </a:r>
            <a:r>
              <a:rPr lang="en-US" sz="1400" dirty="0" err="1">
                <a:solidFill>
                  <a:srgbClr val="333333"/>
                </a:solidFill>
                <a:latin typeface="Arial"/>
              </a:rPr>
              <a:t>etc</a:t>
            </a:r>
            <a:r>
              <a:rPr lang="en-US" sz="1400" dirty="0">
                <a:solidFill>
                  <a:srgbClr val="333333"/>
                </a:solidFill>
                <a:latin typeface="Arial"/>
              </a:rPr>
              <a:t>… the remaining suspect (OHS) becomes the working diagnosis.</a:t>
            </a:r>
          </a:p>
        </p:txBody>
      </p:sp>
    </p:spTree>
    <p:extLst>
      <p:ext uri="{BB962C8B-B14F-4D97-AF65-F5344CB8AC3E}">
        <p14:creationId xmlns:p14="http://schemas.microsoft.com/office/powerpoint/2010/main" val="3687457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8C2-2490-76D9-6168-6A52EC70517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A13B1C5-5122-FC29-A423-56B555201DB1}"/>
              </a:ext>
            </a:extLst>
          </p:cNvPr>
          <p:cNvSpPr>
            <a:spLocks noGrp="1"/>
          </p:cNvSpPr>
          <p:nvPr>
            <p:ph type="title"/>
          </p:nvPr>
        </p:nvSpPr>
        <p:spPr/>
        <p:txBody>
          <a:bodyPr>
            <a:normAutofit/>
          </a:bodyPr>
          <a:lstStyle/>
          <a:p>
            <a:r>
              <a:rPr lang="en-US" sz="3200" b="1" dirty="0">
                <a:solidFill>
                  <a:srgbClr val="110057"/>
                </a:solidFill>
                <a:latin typeface="Arial"/>
                <a:cs typeface="Arial"/>
              </a:rPr>
              <a:t>Low</a:t>
            </a:r>
            <a:r>
              <a:rPr lang="en-US" sz="3200" dirty="0">
                <a:solidFill>
                  <a:srgbClr val="110057"/>
                </a:solidFill>
                <a:latin typeface="Arial"/>
                <a:cs typeface="Arial"/>
              </a:rPr>
              <a:t> diagnostic testing rates </a:t>
            </a:r>
          </a:p>
        </p:txBody>
      </p:sp>
      <p:sp>
        <p:nvSpPr>
          <p:cNvPr id="5" name="Text Placeholder 2">
            <a:extLst>
              <a:ext uri="{FF2B5EF4-FFF2-40B4-BE49-F238E27FC236}">
                <a16:creationId xmlns:a16="http://schemas.microsoft.com/office/drawing/2014/main" id="{B6D0A2B4-7913-67FC-231C-BB9104075734}"/>
              </a:ext>
            </a:extLst>
          </p:cNvPr>
          <p:cNvSpPr txBox="1">
            <a:spLocks/>
          </p:cNvSpPr>
          <p:nvPr/>
        </p:nvSpPr>
        <p:spPr>
          <a:xfrm>
            <a:off x="667398" y="1767783"/>
            <a:ext cx="11227903" cy="3883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Testing for most common causes of hypercapnia (e.g. spirometry, sleep testing) occurs </a:t>
            </a:r>
            <a:r>
              <a:rPr lang="en-US" sz="2200" b="1" dirty="0">
                <a:latin typeface="Arial"/>
                <a:cs typeface="Arial"/>
              </a:rPr>
              <a:t>after hospitalization</a:t>
            </a:r>
            <a:r>
              <a:rPr lang="en-US" sz="2200" dirty="0">
                <a:latin typeface="Arial"/>
                <a:cs typeface="Arial"/>
              </a:rPr>
              <a:t>. </a:t>
            </a:r>
          </a:p>
          <a:p>
            <a:pPr marL="0" indent="0">
              <a:buFont typeface="Arial" panose="020B0604020202020204" pitchFamily="34" charset="0"/>
              <a:buNone/>
            </a:pPr>
            <a:r>
              <a:rPr lang="en-US" sz="2200" dirty="0">
                <a:latin typeface="Arial"/>
                <a:cs typeface="Arial"/>
              </a:rPr>
              <a:t>Diagnostics require special resources, referrals, and high patient engagement; </a:t>
            </a:r>
            <a:r>
              <a:rPr lang="en-US" sz="2200" b="1" dirty="0">
                <a:latin typeface="Arial"/>
                <a:cs typeface="Arial"/>
              </a:rPr>
              <a:t>barriers may reduce workup completion rates</a:t>
            </a:r>
            <a:r>
              <a:rPr lang="en-US" sz="2200" dirty="0">
                <a:latin typeface="Arial"/>
                <a:cs typeface="Arial"/>
              </a:rPr>
              <a:t>.</a:t>
            </a:r>
          </a:p>
          <a:p>
            <a:pPr marL="0" indent="0">
              <a:buFont typeface="Arial" panose="020B0604020202020204" pitchFamily="34" charset="0"/>
              <a:buNone/>
            </a:pPr>
            <a:r>
              <a:rPr lang="en-US" sz="2200" dirty="0">
                <a:latin typeface="Arial"/>
                <a:cs typeface="Arial"/>
              </a:rPr>
              <a:t>Workup should, presumably, include tests for the commonest causes. </a:t>
            </a:r>
          </a:p>
        </p:txBody>
      </p:sp>
      <p:grpSp>
        <p:nvGrpSpPr>
          <p:cNvPr id="6" name="Group 5">
            <a:extLst>
              <a:ext uri="{FF2B5EF4-FFF2-40B4-BE49-F238E27FC236}">
                <a16:creationId xmlns:a16="http://schemas.microsoft.com/office/drawing/2014/main" id="{18385ADE-E692-6156-9975-B60C2635BB73}"/>
              </a:ext>
            </a:extLst>
          </p:cNvPr>
          <p:cNvGrpSpPr/>
          <p:nvPr/>
        </p:nvGrpSpPr>
        <p:grpSpPr>
          <a:xfrm>
            <a:off x="1799772" y="4270109"/>
            <a:ext cx="8527142" cy="1143714"/>
            <a:chOff x="1799772" y="4502333"/>
            <a:chExt cx="8527142" cy="1143714"/>
          </a:xfrm>
        </p:grpSpPr>
        <p:sp>
          <p:nvSpPr>
            <p:cNvPr id="7" name="Rounded Rectangle 6">
              <a:extLst>
                <a:ext uri="{FF2B5EF4-FFF2-40B4-BE49-F238E27FC236}">
                  <a16:creationId xmlns:a16="http://schemas.microsoft.com/office/drawing/2014/main" id="{0D6244A7-BEDF-EEC6-C6EF-C51CE7893B62}"/>
                </a:ext>
              </a:extLst>
            </p:cNvPr>
            <p:cNvSpPr/>
            <p:nvPr/>
          </p:nvSpPr>
          <p:spPr>
            <a:xfrm>
              <a:off x="1799772"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rebuchet MS" panose="020B0703020202090204" pitchFamily="34" charset="0"/>
                </a:rPr>
                <a:t>Identified Hypercapnia</a:t>
              </a:r>
            </a:p>
          </p:txBody>
        </p:sp>
        <p:sp>
          <p:nvSpPr>
            <p:cNvPr id="8" name="Rounded Rectangle 7">
              <a:extLst>
                <a:ext uri="{FF2B5EF4-FFF2-40B4-BE49-F238E27FC236}">
                  <a16:creationId xmlns:a16="http://schemas.microsoft.com/office/drawing/2014/main" id="{AC638F63-7ADD-04F1-B58D-6260E4FF0B84}"/>
                </a:ext>
              </a:extLst>
            </p:cNvPr>
            <p:cNvSpPr/>
            <p:nvPr/>
          </p:nvSpPr>
          <p:spPr>
            <a:xfrm>
              <a:off x="4013200"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Trebuchet MS" panose="020B0703020202090204" pitchFamily="34" charset="0"/>
                </a:rPr>
                <a:t>Appropriate diagnostic testing</a:t>
              </a:r>
            </a:p>
          </p:txBody>
        </p:sp>
        <p:sp>
          <p:nvSpPr>
            <p:cNvPr id="9" name="Rounded Rectangle 8">
              <a:extLst>
                <a:ext uri="{FF2B5EF4-FFF2-40B4-BE49-F238E27FC236}">
                  <a16:creationId xmlns:a16="http://schemas.microsoft.com/office/drawing/2014/main" id="{0B058D7E-7F4D-39CC-A932-88B75FD3F4CD}"/>
                </a:ext>
              </a:extLst>
            </p:cNvPr>
            <p:cNvSpPr/>
            <p:nvPr/>
          </p:nvSpPr>
          <p:spPr>
            <a:xfrm>
              <a:off x="6226628"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700" dirty="0">
                  <a:latin typeface="Trebuchet MS" panose="020B0703020202090204" pitchFamily="34" charset="0"/>
                </a:rPr>
                <a:t>± Qualification for treatments</a:t>
              </a:r>
            </a:p>
          </p:txBody>
        </p:sp>
        <p:sp>
          <p:nvSpPr>
            <p:cNvPr id="10" name="Rounded Rectangle 9">
              <a:extLst>
                <a:ext uri="{FF2B5EF4-FFF2-40B4-BE49-F238E27FC236}">
                  <a16:creationId xmlns:a16="http://schemas.microsoft.com/office/drawing/2014/main" id="{81268FB0-7238-7A12-2D46-1597C1B91546}"/>
                </a:ext>
              </a:extLst>
            </p:cNvPr>
            <p:cNvSpPr/>
            <p:nvPr/>
          </p:nvSpPr>
          <p:spPr>
            <a:xfrm>
              <a:off x="8440056"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rebuchet MS" panose="020B0703020202090204" pitchFamily="34" charset="0"/>
                </a:rPr>
                <a:t>Effective management</a:t>
              </a:r>
            </a:p>
          </p:txBody>
        </p:sp>
        <p:sp>
          <p:nvSpPr>
            <p:cNvPr id="11" name="Right Arrow 10">
              <a:extLst>
                <a:ext uri="{FF2B5EF4-FFF2-40B4-BE49-F238E27FC236}">
                  <a16:creationId xmlns:a16="http://schemas.microsoft.com/office/drawing/2014/main" id="{6869C5E4-3246-A470-D75F-DD21159E5BA9}"/>
                </a:ext>
              </a:extLst>
            </p:cNvPr>
            <p:cNvSpPr/>
            <p:nvPr/>
          </p:nvSpPr>
          <p:spPr>
            <a:xfrm>
              <a:off x="3686630" y="5174328"/>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CC261769-9296-E63E-00D4-CE20A88A0D12}"/>
                </a:ext>
              </a:extLst>
            </p:cNvPr>
            <p:cNvSpPr/>
            <p:nvPr/>
          </p:nvSpPr>
          <p:spPr>
            <a:xfrm>
              <a:off x="5885543" y="5181588"/>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D0F77169-5A4B-7D61-A155-FFCA56331665}"/>
                </a:ext>
              </a:extLst>
            </p:cNvPr>
            <p:cNvSpPr/>
            <p:nvPr/>
          </p:nvSpPr>
          <p:spPr>
            <a:xfrm>
              <a:off x="8113486" y="5167074"/>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Question Mark with solid fill">
              <a:extLst>
                <a:ext uri="{FF2B5EF4-FFF2-40B4-BE49-F238E27FC236}">
                  <a16:creationId xmlns:a16="http://schemas.microsoft.com/office/drawing/2014/main" id="{19D6C95E-FFB7-E1D5-FD64-E11E176D219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731664" y="4502333"/>
              <a:ext cx="420905" cy="420905"/>
            </a:xfrm>
            <a:prstGeom prst="rect">
              <a:avLst/>
            </a:prstGeom>
          </p:spPr>
        </p:pic>
      </p:grpSp>
      <p:sp>
        <p:nvSpPr>
          <p:cNvPr id="3" name="Rectangle 2">
            <a:extLst>
              <a:ext uri="{FF2B5EF4-FFF2-40B4-BE49-F238E27FC236}">
                <a16:creationId xmlns:a16="http://schemas.microsoft.com/office/drawing/2014/main" id="{21649594-A52B-66A2-9E90-8CEC3899F47A}"/>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9112764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551F7-E6D1-7853-38B4-028D6B9C00B5}"/>
              </a:ext>
            </a:extLst>
          </p:cNvPr>
          <p:cNvSpPr>
            <a:spLocks noGrp="1"/>
          </p:cNvSpPr>
          <p:nvPr>
            <p:ph type="title"/>
          </p:nvPr>
        </p:nvSpPr>
        <p:spPr/>
        <p:txBody>
          <a:bodyPr>
            <a:normAutofit/>
          </a:bodyPr>
          <a:lstStyle/>
          <a:p>
            <a:r>
              <a:rPr lang="en-US" sz="3200">
                <a:solidFill>
                  <a:srgbClr val="110057"/>
                </a:solidFill>
                <a:latin typeface="Arial"/>
                <a:cs typeface="Arial"/>
              </a:rPr>
              <a:t>How Often Does Testing Actually Happen?</a:t>
            </a:r>
          </a:p>
        </p:txBody>
      </p:sp>
      <p:sp>
        <p:nvSpPr>
          <p:cNvPr id="4" name="Text Placeholder 2">
            <a:extLst>
              <a:ext uri="{FF2B5EF4-FFF2-40B4-BE49-F238E27FC236}">
                <a16:creationId xmlns:a16="http://schemas.microsoft.com/office/drawing/2014/main" id="{FCB5EA9A-EF17-6807-1158-3EA842B87565}"/>
              </a:ext>
            </a:extLst>
          </p:cNvPr>
          <p:cNvSpPr txBox="1">
            <a:spLocks/>
          </p:cNvSpPr>
          <p:nvPr/>
        </p:nvSpPr>
        <p:spPr>
          <a:xfrm>
            <a:off x="667398" y="1824435"/>
            <a:ext cx="10910086" cy="3883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latin typeface="Arial"/>
                <a:cs typeface="Arial"/>
              </a:rPr>
              <a:t>Utah All-Payer Claims Database: all hospitalizations statewide, 2015–2019</a:t>
            </a:r>
          </a:p>
          <a:p>
            <a:pPr marL="0" indent="0">
              <a:buNone/>
            </a:pPr>
            <a:r>
              <a:rPr lang="en-US" sz="2000" dirty="0">
                <a:latin typeface="Arial"/>
                <a:cs typeface="Arial"/>
              </a:rPr>
              <a:t>Identified patients with hypercapnic respiratory failure by ICD-10-CM codes</a:t>
            </a:r>
          </a:p>
        </p:txBody>
      </p:sp>
      <p:pic>
        <p:nvPicPr>
          <p:cNvPr id="5" name="Picture 4">
            <a:extLst>
              <a:ext uri="{FF2B5EF4-FFF2-40B4-BE49-F238E27FC236}">
                <a16:creationId xmlns:a16="http://schemas.microsoft.com/office/drawing/2014/main" id="{0AE25911-0ABD-47CB-9DB7-76F510021CFD}"/>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717492" y="3103614"/>
            <a:ext cx="1029766" cy="1325563"/>
          </a:xfrm>
          <a:prstGeom prst="rect">
            <a:avLst/>
          </a:prstGeom>
        </p:spPr>
      </p:pic>
      <p:pic>
        <p:nvPicPr>
          <p:cNvPr id="6" name="Graphic 5">
            <a:extLst>
              <a:ext uri="{FF2B5EF4-FFF2-40B4-BE49-F238E27FC236}">
                <a16:creationId xmlns:a16="http://schemas.microsoft.com/office/drawing/2014/main" id="{F3E3598F-4A71-A13E-FD33-3C4D5D291961}"/>
              </a:ext>
            </a:extLst>
          </p:cNvPr>
          <p:cNvPicPr>
            <a:picLocks noChangeAspect="1"/>
          </p:cNvPicPr>
          <p:nvPr/>
        </p:nvPicPr>
        <p:blipFill>
          <a:blip r:embed="rId4">
            <a:extLst>
              <a:ext uri="{96DAC541-7B7A-43D3-8B79-37D633B846F1}">
                <asvg:svgBlip xmlns:asvg="http://schemas.microsoft.com/office/drawing/2016/SVG/main" r:embed="rId5"/>
              </a:ext>
            </a:extLst>
          </a:blip>
          <a:srcRect t="2351" b="2351"/>
          <a:stretch/>
        </p:blipFill>
        <p:spPr>
          <a:xfrm>
            <a:off x="2220233" y="2693860"/>
            <a:ext cx="7144992" cy="3939823"/>
          </a:xfrm>
          <a:prstGeom prst="rect">
            <a:avLst/>
          </a:prstGeom>
        </p:spPr>
      </p:pic>
      <p:sp>
        <p:nvSpPr>
          <p:cNvPr id="7" name="TextBox 6">
            <a:extLst>
              <a:ext uri="{FF2B5EF4-FFF2-40B4-BE49-F238E27FC236}">
                <a16:creationId xmlns:a16="http://schemas.microsoft.com/office/drawing/2014/main" id="{4A1D5F64-CFE9-CB91-59D3-D6F2F30FF68D}"/>
              </a:ext>
            </a:extLst>
          </p:cNvPr>
          <p:cNvSpPr txBox="1"/>
          <p:nvPr/>
        </p:nvSpPr>
        <p:spPr>
          <a:xfrm>
            <a:off x="8960573" y="392277"/>
            <a:ext cx="2897126" cy="1107996"/>
          </a:xfrm>
          <a:prstGeom prst="rect">
            <a:avLst/>
          </a:prstGeom>
          <a:noFill/>
        </p:spPr>
        <p:txBody>
          <a:bodyPr wrap="square">
            <a:spAutoFit/>
          </a:bodyPr>
          <a:lstStyle/>
          <a:p>
            <a:r>
              <a:rPr lang="en-US" sz="2200" b="0" i="0" u="none" strike="noStrike" dirty="0">
                <a:solidFill>
                  <a:srgbClr val="000000"/>
                </a:solidFill>
                <a:effectLst/>
                <a:latin typeface="Arial"/>
                <a:cs typeface="Arial"/>
              </a:rPr>
              <a:t>CO₂-PATH (Post-</a:t>
            </a:r>
            <a:r>
              <a:rPr lang="en-US" sz="2200" dirty="0">
                <a:solidFill>
                  <a:srgbClr val="000000"/>
                </a:solidFill>
                <a:latin typeface="Arial"/>
                <a:cs typeface="Arial"/>
              </a:rPr>
              <a:t>A</a:t>
            </a:r>
            <a:r>
              <a:rPr lang="en-US" sz="2200" b="0" i="0" u="none" strike="noStrike" dirty="0">
                <a:solidFill>
                  <a:srgbClr val="000000"/>
                </a:solidFill>
                <a:effectLst/>
                <a:latin typeface="Arial"/>
                <a:cs typeface="Arial"/>
              </a:rPr>
              <a:t>cute Trajectories of Hypercapnia) Cohort</a:t>
            </a:r>
            <a:endParaRPr lang="en-US" sz="2200" dirty="0">
              <a:latin typeface="Arial"/>
              <a:cs typeface="Arial"/>
            </a:endParaRPr>
          </a:p>
        </p:txBody>
      </p:sp>
      <p:sp>
        <p:nvSpPr>
          <p:cNvPr id="8" name="Rectangle 7">
            <a:extLst>
              <a:ext uri="{FF2B5EF4-FFF2-40B4-BE49-F238E27FC236}">
                <a16:creationId xmlns:a16="http://schemas.microsoft.com/office/drawing/2014/main" id="{4C233252-7B45-3541-BE94-37DF37FC5AA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3057353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E2E9DB-F98D-534F-9FAB-EEAE78DA6FA6}"/>
              </a:ext>
            </a:extLst>
          </p:cNvPr>
          <p:cNvSpPr txBox="1"/>
          <p:nvPr/>
        </p:nvSpPr>
        <p:spPr>
          <a:xfrm>
            <a:off x="762000" y="762000"/>
            <a:ext cx="5080000" cy="381000"/>
          </a:xfrm>
          <a:prstGeom prst="rect">
            <a:avLst/>
          </a:prstGeom>
          <a:noFill/>
        </p:spPr>
        <p:txBody>
          <a:bodyPr vertOverflow="overflow" vert="horz" wrap="square" rtlCol="0" anchor="t">
            <a:noAutofit/>
          </a:bodyPr>
          <a:lstStyle/>
          <a:p>
            <a:pPr algn="l"/>
            <a:r>
              <a:rPr lang="en-US" sz="1400" b="1">
                <a:solidFill>
                  <a:srgbClr val="0D7377"/>
                </a:solidFill>
                <a:latin typeface="Arial"/>
                <a:cs typeface="Arial"/>
              </a:rPr>
              <a:t>DIAGNOSIS  ›  Recap</a:t>
            </a:r>
          </a:p>
        </p:txBody>
      </p:sp>
      <p:sp>
        <p:nvSpPr>
          <p:cNvPr id="3" name="Rectangle 2">
            <a:extLst>
              <a:ext uri="{FF2B5EF4-FFF2-40B4-BE49-F238E27FC236}">
                <a16:creationId xmlns:a16="http://schemas.microsoft.com/office/drawing/2014/main" id="{2D0AA241-74FE-1744-8B63-C18D313DE6C3}"/>
              </a:ext>
            </a:extLst>
          </p:cNvPr>
          <p:cNvSpPr/>
          <p:nvPr/>
        </p:nvSpPr>
        <p:spPr>
          <a:xfrm>
            <a:off x="762000" y="1244600"/>
            <a:ext cx="1016000" cy="381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474C78F1-5D77-7545-8425-E3B099E19608}"/>
              </a:ext>
            </a:extLst>
          </p:cNvPr>
          <p:cNvSpPr txBox="1"/>
          <p:nvPr/>
        </p:nvSpPr>
        <p:spPr>
          <a:xfrm>
            <a:off x="762000" y="1524000"/>
            <a:ext cx="10668000" cy="2540000"/>
          </a:xfrm>
          <a:prstGeom prst="rect">
            <a:avLst/>
          </a:prstGeom>
          <a:noFill/>
        </p:spPr>
        <p:txBody>
          <a:bodyPr vertOverflow="overflow" vert="horz" wrap="square" rtlCol="0" anchor="t">
            <a:noAutofit/>
          </a:bodyPr>
          <a:lstStyle/>
          <a:p>
            <a:pPr>
              <a:buNone/>
            </a:pPr>
            <a:r>
              <a:rPr lang="en-US" sz="2400" b="1" dirty="0">
                <a:solidFill>
                  <a:srgbClr val="0D7377"/>
                </a:solidFill>
                <a:latin typeface="Arial"/>
              </a:rPr>
              <a:t>✓</a:t>
            </a:r>
            <a:r>
              <a:rPr lang="en-US" sz="2400" dirty="0">
                <a:solidFill>
                  <a:srgbClr val="FFFFFF"/>
                </a:solidFill>
                <a:latin typeface="Arial"/>
              </a:rPr>
              <a:t>  Don’t </a:t>
            </a:r>
            <a:r>
              <a:rPr lang="en-US" sz="2400" b="1" dirty="0">
                <a:solidFill>
                  <a:srgbClr val="FF0044"/>
                </a:solidFill>
                <a:latin typeface="Arial"/>
              </a:rPr>
              <a:t>miss</a:t>
            </a:r>
            <a:r>
              <a:rPr lang="en-US" sz="2400" dirty="0">
                <a:solidFill>
                  <a:srgbClr val="FFFFFF"/>
                </a:solidFill>
                <a:latin typeface="Arial"/>
              </a:rPr>
              <a:t> hypercapnia</a:t>
            </a:r>
          </a:p>
          <a:p>
            <a:pPr marL="342900">
              <a:buNone/>
            </a:pPr>
            <a:r>
              <a:rPr lang="en-US" sz="1500" dirty="0">
                <a:solidFill>
                  <a:srgbClr val="D0C8E0"/>
                </a:solidFill>
                <a:latin typeface="Arial"/>
              </a:rPr>
              <a:t>At SLC elevation, even mild PaCO</a:t>
            </a:r>
            <a:r>
              <a:rPr lang="en-US" sz="1500" baseline="-25000" dirty="0">
                <a:solidFill>
                  <a:srgbClr val="D0C8E0"/>
                </a:solidFill>
                <a:latin typeface="Arial"/>
              </a:rPr>
              <a:t>2</a:t>
            </a:r>
            <a:r>
              <a:rPr lang="en-US" sz="1500" dirty="0">
                <a:solidFill>
                  <a:srgbClr val="D0C8E0"/>
                </a:solidFill>
                <a:latin typeface="Arial"/>
              </a:rPr>
              <a:t> elevation → hypoxemia. Atelectasis adds shunting on top.</a:t>
            </a:r>
          </a:p>
          <a:p>
            <a:pPr>
              <a:buNone/>
            </a:pPr>
            <a:r>
              <a:rPr lang="en-US" sz="2400" b="1" dirty="0">
                <a:solidFill>
                  <a:srgbClr val="0D7377"/>
                </a:solidFill>
                <a:latin typeface="Arial"/>
              </a:rPr>
              <a:t>✓</a:t>
            </a:r>
            <a:r>
              <a:rPr lang="en-US" sz="2400" dirty="0">
                <a:solidFill>
                  <a:srgbClr val="FFFFFF"/>
                </a:solidFill>
                <a:latin typeface="Arial"/>
              </a:rPr>
              <a:t>  Don’t </a:t>
            </a:r>
            <a:r>
              <a:rPr lang="en-US" sz="2400" b="1" dirty="0">
                <a:solidFill>
                  <a:srgbClr val="FF0044"/>
                </a:solidFill>
                <a:latin typeface="Arial"/>
              </a:rPr>
              <a:t>misattribute</a:t>
            </a:r>
            <a:r>
              <a:rPr lang="en-US" sz="2400" dirty="0">
                <a:solidFill>
                  <a:srgbClr val="FFFFFF"/>
                </a:solidFill>
                <a:latin typeface="Arial"/>
              </a:rPr>
              <a:t> hypercapnia</a:t>
            </a:r>
          </a:p>
          <a:p>
            <a:pPr marL="342900">
              <a:buNone/>
            </a:pPr>
            <a:r>
              <a:rPr lang="en-US" sz="1500" dirty="0">
                <a:solidFill>
                  <a:srgbClr val="D0C8E0"/>
                </a:solidFill>
                <a:latin typeface="Arial"/>
              </a:rPr>
              <a:t>“COPD” and “asthma” labels in obese patients are often wrong. Skeptically evaluate, not empiric treatment.</a:t>
            </a:r>
          </a:p>
        </p:txBody>
      </p:sp>
      <p:sp>
        <p:nvSpPr>
          <p:cNvPr id="5" name="TextBox 4">
            <a:extLst>
              <a:ext uri="{FF2B5EF4-FFF2-40B4-BE49-F238E27FC236}">
                <a16:creationId xmlns:a16="http://schemas.microsoft.com/office/drawing/2014/main" id="{416A7268-8AF6-C943-B02F-76D3C1C9382F}"/>
              </a:ext>
            </a:extLst>
          </p:cNvPr>
          <p:cNvSpPr txBox="1"/>
          <p:nvPr/>
        </p:nvSpPr>
        <p:spPr>
          <a:xfrm>
            <a:off x="762000" y="4699000"/>
            <a:ext cx="10668000" cy="1016000"/>
          </a:xfrm>
          <a:prstGeom prst="rect">
            <a:avLst/>
          </a:prstGeom>
          <a:noFill/>
        </p:spPr>
        <p:txBody>
          <a:bodyPr vertOverflow="overflow" vert="horz" wrap="square" rtlCol="0" anchor="t">
            <a:noAutofit/>
          </a:bodyPr>
          <a:lstStyle/>
          <a:p>
            <a:pPr>
              <a:buNone/>
            </a:pPr>
            <a:r>
              <a:rPr lang="en-US" sz="1800" dirty="0">
                <a:solidFill>
                  <a:srgbClr val="D0C8E0"/>
                </a:solidFill>
                <a:latin typeface="Arial"/>
              </a:rPr>
              <a:t>Next: What can we do about it?</a:t>
            </a:r>
          </a:p>
        </p:txBody>
      </p:sp>
    </p:spTree>
    <p:extLst>
      <p:ext uri="{BB962C8B-B14F-4D97-AF65-F5344CB8AC3E}">
        <p14:creationId xmlns:p14="http://schemas.microsoft.com/office/powerpoint/2010/main" val="26088331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662CD0-1534-4C4A-BE4C-7152393E32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DE3B4-BC36-698C-E574-2222DBB1E206}"/>
              </a:ext>
            </a:extLst>
          </p:cNvPr>
          <p:cNvSpPr>
            <a:spLocks noGrp="1"/>
          </p:cNvSpPr>
          <p:nvPr>
            <p:ph type="title"/>
          </p:nvPr>
        </p:nvSpPr>
        <p:spPr>
          <a:xfrm>
            <a:off x="838200" y="2267665"/>
            <a:ext cx="10515600" cy="1325563"/>
          </a:xfrm>
        </p:spPr>
        <p:txBody>
          <a:bodyPr vert="horz" lIns="91440" tIns="45720" rIns="91440" bIns="45720" rtlCol="0" anchor="b">
            <a:normAutofit fontScale="90000"/>
          </a:bodyPr>
          <a:lstStyle/>
          <a:p>
            <a:r>
              <a:rPr lang="en-US" sz="7400" b="1" dirty="0">
                <a:solidFill>
                  <a:srgbClr val="FFFFFF"/>
                </a:solidFill>
                <a:latin typeface="Arial"/>
                <a:cs typeface="Arial"/>
              </a:rPr>
              <a:t>Why is the discharge management so hard?</a:t>
            </a:r>
          </a:p>
        </p:txBody>
      </p:sp>
    </p:spTree>
    <p:extLst>
      <p:ext uri="{BB962C8B-B14F-4D97-AF65-F5344CB8AC3E}">
        <p14:creationId xmlns:p14="http://schemas.microsoft.com/office/powerpoint/2010/main" val="1815536335"/>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6EF26-D4D1-CD23-D1BE-B1D0C13B78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5A4827-DEDA-6C24-9913-3F761CA42593}"/>
              </a:ext>
            </a:extLst>
          </p:cNvPr>
          <p:cNvSpPr>
            <a:spLocks noGrp="1"/>
          </p:cNvSpPr>
          <p:nvPr>
            <p:ph type="title"/>
          </p:nvPr>
        </p:nvSpPr>
        <p:spPr>
          <a:xfrm>
            <a:off x="838200" y="355600"/>
            <a:ext cx="10515600" cy="762000"/>
          </a:xfrm>
        </p:spPr>
        <p:txBody>
          <a:bodyPr>
            <a:noAutofit/>
          </a:bodyPr>
          <a:lstStyle/>
          <a:p>
            <a:r>
              <a:rPr lang="en-US" sz="3200" dirty="0">
                <a:solidFill>
                  <a:srgbClr val="110057"/>
                </a:solidFill>
                <a:latin typeface="Arial"/>
                <a:cs typeface="Arial"/>
              </a:rPr>
              <a:t>Therapeutic options exist:</a:t>
            </a:r>
          </a:p>
        </p:txBody>
      </p:sp>
      <p:pic>
        <p:nvPicPr>
          <p:cNvPr id="3" name="Picture 2">
            <a:extLst>
              <a:ext uri="{FF2B5EF4-FFF2-40B4-BE49-F238E27FC236}">
                <a16:creationId xmlns:a16="http://schemas.microsoft.com/office/drawing/2014/main" id="{E7AE4D37-335B-E410-7DE2-F81ED3F4FA35}"/>
              </a:ext>
            </a:extLst>
          </p:cNvPr>
          <p:cNvPicPr>
            <a:picLocks noChangeAspect="1"/>
          </p:cNvPicPr>
          <p:nvPr/>
        </p:nvPicPr>
        <p:blipFill>
          <a:blip r:embed="rId3"/>
          <a:stretch>
            <a:fillRect/>
          </a:stretch>
        </p:blipFill>
        <p:spPr>
          <a:xfrm>
            <a:off x="825500" y="3555541"/>
            <a:ext cx="5207000" cy="1335876"/>
          </a:xfrm>
          <a:prstGeom prst="rect">
            <a:avLst/>
          </a:prstGeom>
          <a:ln w="12700">
            <a:solidFill>
              <a:srgbClr val="DDDDDD"/>
            </a:solidFill>
          </a:ln>
        </p:spPr>
      </p:pic>
      <p:pic>
        <p:nvPicPr>
          <p:cNvPr id="10" name="Picture 9">
            <a:extLst>
              <a:ext uri="{FF2B5EF4-FFF2-40B4-BE49-F238E27FC236}">
                <a16:creationId xmlns:a16="http://schemas.microsoft.com/office/drawing/2014/main" id="{3F679C0D-ACB2-1446-DAB4-FABC1DDC7456}"/>
              </a:ext>
            </a:extLst>
          </p:cNvPr>
          <p:cNvPicPr>
            <a:picLocks noChangeAspect="1"/>
          </p:cNvPicPr>
          <p:nvPr/>
        </p:nvPicPr>
        <p:blipFill>
          <a:blip r:embed="rId4"/>
          <a:stretch>
            <a:fillRect/>
          </a:stretch>
        </p:blipFill>
        <p:spPr>
          <a:xfrm>
            <a:off x="6159500" y="3568406"/>
            <a:ext cx="5207000" cy="1310147"/>
          </a:xfrm>
          <a:prstGeom prst="rect">
            <a:avLst/>
          </a:prstGeom>
          <a:ln w="12700">
            <a:solidFill>
              <a:srgbClr val="DDDDDD"/>
            </a:solidFill>
          </a:ln>
        </p:spPr>
      </p:pic>
      <p:pic>
        <p:nvPicPr>
          <p:cNvPr id="11" name="Picture 10">
            <a:extLst>
              <a:ext uri="{FF2B5EF4-FFF2-40B4-BE49-F238E27FC236}">
                <a16:creationId xmlns:a16="http://schemas.microsoft.com/office/drawing/2014/main" id="{61A9465D-3AE5-FB85-307C-C044F413F93B}"/>
              </a:ext>
            </a:extLst>
          </p:cNvPr>
          <p:cNvPicPr>
            <a:picLocks noChangeAspect="1"/>
          </p:cNvPicPr>
          <p:nvPr/>
        </p:nvPicPr>
        <p:blipFill>
          <a:blip r:embed="rId5"/>
          <a:stretch>
            <a:fillRect/>
          </a:stretch>
        </p:blipFill>
        <p:spPr>
          <a:xfrm>
            <a:off x="825500" y="5378473"/>
            <a:ext cx="5207000" cy="722003"/>
          </a:xfrm>
          <a:prstGeom prst="rect">
            <a:avLst/>
          </a:prstGeom>
          <a:ln w="12700">
            <a:solidFill>
              <a:srgbClr val="DDDDDD"/>
            </a:solidFill>
          </a:ln>
        </p:spPr>
      </p:pic>
      <p:pic>
        <p:nvPicPr>
          <p:cNvPr id="12" name="Picture 11">
            <a:extLst>
              <a:ext uri="{FF2B5EF4-FFF2-40B4-BE49-F238E27FC236}">
                <a16:creationId xmlns:a16="http://schemas.microsoft.com/office/drawing/2014/main" id="{B6B7BEA8-9680-748D-6D15-36B05B7A303F}"/>
              </a:ext>
            </a:extLst>
          </p:cNvPr>
          <p:cNvPicPr>
            <a:picLocks noChangeAspect="1"/>
          </p:cNvPicPr>
          <p:nvPr/>
        </p:nvPicPr>
        <p:blipFill>
          <a:blip r:embed="rId6"/>
          <a:stretch>
            <a:fillRect/>
          </a:stretch>
        </p:blipFill>
        <p:spPr>
          <a:xfrm>
            <a:off x="6159500" y="4993017"/>
            <a:ext cx="5207000" cy="1492913"/>
          </a:xfrm>
          <a:prstGeom prst="rect">
            <a:avLst/>
          </a:prstGeom>
          <a:ln w="12700">
            <a:solidFill>
              <a:srgbClr val="DDDDDD"/>
            </a:solidFill>
          </a:ln>
        </p:spPr>
      </p:pic>
      <p:pic>
        <p:nvPicPr>
          <p:cNvPr id="13" name="Picture 12">
            <a:extLst>
              <a:ext uri="{FF2B5EF4-FFF2-40B4-BE49-F238E27FC236}">
                <a16:creationId xmlns:a16="http://schemas.microsoft.com/office/drawing/2014/main" id="{294AD0D3-D790-BE5C-A6FF-E6E441EC4B19}"/>
              </a:ext>
            </a:extLst>
          </p:cNvPr>
          <p:cNvPicPr>
            <a:picLocks noChangeAspect="1"/>
          </p:cNvPicPr>
          <p:nvPr/>
        </p:nvPicPr>
        <p:blipFill>
          <a:blip r:embed="rId7"/>
          <a:stretch>
            <a:fillRect/>
          </a:stretch>
        </p:blipFill>
        <p:spPr>
          <a:xfrm>
            <a:off x="825500" y="1270000"/>
            <a:ext cx="10541000" cy="940501"/>
          </a:xfrm>
          <a:prstGeom prst="rect">
            <a:avLst/>
          </a:prstGeom>
          <a:ln w="12700">
            <a:solidFill>
              <a:srgbClr val="DDDDDD"/>
            </a:solidFill>
          </a:ln>
        </p:spPr>
      </p:pic>
      <p:pic>
        <p:nvPicPr>
          <p:cNvPr id="14" name="Picture 13">
            <a:extLst>
              <a:ext uri="{FF2B5EF4-FFF2-40B4-BE49-F238E27FC236}">
                <a16:creationId xmlns:a16="http://schemas.microsoft.com/office/drawing/2014/main" id="{C53BC480-1399-7E30-0866-898A187541E6}"/>
              </a:ext>
            </a:extLst>
          </p:cNvPr>
          <p:cNvPicPr>
            <a:picLocks noChangeAspect="1"/>
          </p:cNvPicPr>
          <p:nvPr/>
        </p:nvPicPr>
        <p:blipFill>
          <a:blip r:embed="rId8"/>
          <a:stretch>
            <a:fillRect/>
          </a:stretch>
        </p:blipFill>
        <p:spPr>
          <a:xfrm>
            <a:off x="825500" y="2312101"/>
            <a:ext cx="10541000" cy="1141839"/>
          </a:xfrm>
          <a:prstGeom prst="rect">
            <a:avLst/>
          </a:prstGeom>
          <a:ln w="12700">
            <a:solidFill>
              <a:srgbClr val="DDDDDD"/>
            </a:solidFill>
          </a:ln>
        </p:spPr>
      </p:pic>
      <p:sp>
        <p:nvSpPr>
          <p:cNvPr id="4" name="Rectangle 3">
            <a:extLst>
              <a:ext uri="{FF2B5EF4-FFF2-40B4-BE49-F238E27FC236}">
                <a16:creationId xmlns:a16="http://schemas.microsoft.com/office/drawing/2014/main" id="{2F4EE846-0F34-F842-9D45-2296BC26CB98}"/>
              </a:ext>
            </a:extLst>
          </p:cNvPr>
          <p:cNvSpPr/>
          <p:nvPr/>
        </p:nvSpPr>
        <p:spPr>
          <a:xfrm>
            <a:off x="838200" y="11430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8000911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437B3-3A54-88CE-4AE3-195B95F3FE60}"/>
              </a:ext>
            </a:extLst>
          </p:cNvPr>
          <p:cNvSpPr>
            <a:spLocks noGrp="1"/>
          </p:cNvSpPr>
          <p:nvPr>
            <p:ph type="title"/>
          </p:nvPr>
        </p:nvSpPr>
        <p:spPr/>
        <p:txBody>
          <a:bodyPr>
            <a:normAutofit/>
          </a:bodyPr>
          <a:lstStyle/>
          <a:p>
            <a:r>
              <a:rPr lang="en-US" sz="3200" dirty="0">
                <a:solidFill>
                  <a:srgbClr val="110057"/>
                </a:solidFill>
                <a:latin typeface="Arial"/>
                <a:cs typeface="Arial"/>
              </a:rPr>
              <a:t>Two problems: </a:t>
            </a:r>
          </a:p>
        </p:txBody>
      </p:sp>
      <p:sp>
        <p:nvSpPr>
          <p:cNvPr id="3" name="Content Placeholder 2">
            <a:extLst>
              <a:ext uri="{FF2B5EF4-FFF2-40B4-BE49-F238E27FC236}">
                <a16:creationId xmlns:a16="http://schemas.microsoft.com/office/drawing/2014/main" id="{3D7FDE4F-B799-2921-0008-FECF4FEACBB2}"/>
              </a:ext>
            </a:extLst>
          </p:cNvPr>
          <p:cNvSpPr>
            <a:spLocks noGrp="1"/>
          </p:cNvSpPr>
          <p:nvPr>
            <p:ph idx="1"/>
          </p:nvPr>
        </p:nvSpPr>
        <p:spPr/>
        <p:txBody>
          <a:bodyPr>
            <a:normAutofit/>
          </a:bodyPr>
          <a:lstStyle/>
          <a:p>
            <a:pPr marL="0" indent="0">
              <a:buNone/>
            </a:pPr>
            <a:r>
              <a:rPr lang="en-US" sz="2200" dirty="0">
                <a:latin typeface="Arial"/>
                <a:cs typeface="Arial"/>
              </a:rPr>
              <a:t>1. Patients in real life often have </a:t>
            </a:r>
            <a:r>
              <a:rPr lang="en-US" sz="2200" b="1" dirty="0">
                <a:latin typeface="Arial"/>
                <a:cs typeface="Arial"/>
              </a:rPr>
              <a:t>multiple contributing causes </a:t>
            </a:r>
            <a:r>
              <a:rPr lang="en-US" sz="2200" dirty="0">
                <a:latin typeface="Arial"/>
                <a:cs typeface="Arial"/>
              </a:rPr>
              <a:t>for their hypercapnia  </a:t>
            </a:r>
          </a:p>
        </p:txBody>
      </p:sp>
      <p:sp>
        <p:nvSpPr>
          <p:cNvPr id="4" name="Oval 3">
            <a:extLst>
              <a:ext uri="{FF2B5EF4-FFF2-40B4-BE49-F238E27FC236}">
                <a16:creationId xmlns:a16="http://schemas.microsoft.com/office/drawing/2014/main" id="{C99EE6C2-4E0C-F63C-FEC2-1C211DB1989F}"/>
              </a:ext>
            </a:extLst>
          </p:cNvPr>
          <p:cNvSpPr/>
          <p:nvPr/>
        </p:nvSpPr>
        <p:spPr>
          <a:xfrm>
            <a:off x="290304" y="3086964"/>
            <a:ext cx="6097685" cy="2638945"/>
          </a:xfrm>
          <a:prstGeom prst="ellipse">
            <a:avLst/>
          </a:prstGeom>
          <a:noFill/>
          <a:ln w="76200">
            <a:solidFill>
              <a:schemeClr val="bg2">
                <a:lumMod val="7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All Recognized Cases</a:t>
            </a:r>
          </a:p>
          <a:p>
            <a:pPr algn="ctr"/>
            <a:r>
              <a:rPr lang="en-US" dirty="0">
                <a:solidFill>
                  <a:schemeClr val="tx1"/>
                </a:solidFill>
                <a:latin typeface="Arial"/>
                <a:cs typeface="Arial"/>
              </a:rPr>
              <a:t>(Multifactorial Causes,</a:t>
            </a:r>
          </a:p>
          <a:p>
            <a:pPr algn="ctr"/>
            <a:r>
              <a:rPr lang="en-US" dirty="0">
                <a:solidFill>
                  <a:schemeClr val="tx1"/>
                </a:solidFill>
                <a:latin typeface="Arial"/>
                <a:cs typeface="Arial"/>
              </a:rPr>
              <a:t>Relapsing-Recurrent)</a:t>
            </a:r>
          </a:p>
        </p:txBody>
      </p:sp>
      <p:sp>
        <p:nvSpPr>
          <p:cNvPr id="5" name="TextBox 4">
            <a:extLst>
              <a:ext uri="{FF2B5EF4-FFF2-40B4-BE49-F238E27FC236}">
                <a16:creationId xmlns:a16="http://schemas.microsoft.com/office/drawing/2014/main" id="{00A7EB73-AC71-95CB-954B-E60B2138FEC8}"/>
              </a:ext>
            </a:extLst>
          </p:cNvPr>
          <p:cNvSpPr txBox="1"/>
          <p:nvPr/>
        </p:nvSpPr>
        <p:spPr>
          <a:xfrm>
            <a:off x="2419261" y="3228099"/>
            <a:ext cx="1149849" cy="646331"/>
          </a:xfrm>
          <a:prstGeom prst="rect">
            <a:avLst/>
          </a:prstGeom>
          <a:noFill/>
        </p:spPr>
        <p:txBody>
          <a:bodyPr wrap="square" rtlCol="0">
            <a:spAutoFit/>
          </a:bodyPr>
          <a:lstStyle/>
          <a:p>
            <a:r>
              <a:rPr lang="en-US" sz="3600" b="1" dirty="0">
                <a:solidFill>
                  <a:srgbClr val="C00000"/>
                </a:solidFill>
                <a:latin typeface="Arial"/>
                <a:cs typeface="Arial"/>
              </a:rPr>
              <a:t>???</a:t>
            </a:r>
          </a:p>
        </p:txBody>
      </p:sp>
      <p:sp>
        <p:nvSpPr>
          <p:cNvPr id="6" name="Oval 5">
            <a:extLst>
              <a:ext uri="{FF2B5EF4-FFF2-40B4-BE49-F238E27FC236}">
                <a16:creationId xmlns:a16="http://schemas.microsoft.com/office/drawing/2014/main" id="{F51282DD-D102-DD79-3386-825C771C46C9}"/>
              </a:ext>
            </a:extLst>
          </p:cNvPr>
          <p:cNvSpPr/>
          <p:nvPr/>
        </p:nvSpPr>
        <p:spPr>
          <a:xfrm>
            <a:off x="482032" y="3551265"/>
            <a:ext cx="1391015" cy="922592"/>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Chronic ↑CO</a:t>
            </a:r>
            <a:r>
              <a:rPr lang="en-US" baseline="-25000" dirty="0">
                <a:solidFill>
                  <a:schemeClr val="tx1"/>
                </a:solidFill>
                <a:latin typeface="Arial"/>
                <a:cs typeface="Arial"/>
              </a:rPr>
              <a:t>2</a:t>
            </a:r>
            <a:r>
              <a:rPr lang="en-US" dirty="0">
                <a:solidFill>
                  <a:schemeClr val="tx1"/>
                </a:solidFill>
                <a:latin typeface="Arial"/>
                <a:cs typeface="Arial"/>
              </a:rPr>
              <a:t>  COPD</a:t>
            </a:r>
          </a:p>
        </p:txBody>
      </p:sp>
      <p:sp>
        <p:nvSpPr>
          <p:cNvPr id="7" name="Oval 6">
            <a:extLst>
              <a:ext uri="{FF2B5EF4-FFF2-40B4-BE49-F238E27FC236}">
                <a16:creationId xmlns:a16="http://schemas.microsoft.com/office/drawing/2014/main" id="{9A17DE6F-F003-1094-4049-28D838807A4B}"/>
              </a:ext>
            </a:extLst>
          </p:cNvPr>
          <p:cNvSpPr/>
          <p:nvPr/>
        </p:nvSpPr>
        <p:spPr>
          <a:xfrm>
            <a:off x="4573900" y="3551264"/>
            <a:ext cx="1653466" cy="1161480"/>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Obesity </a:t>
            </a:r>
            <a:r>
              <a:rPr lang="en-US" dirty="0" err="1">
                <a:solidFill>
                  <a:schemeClr val="tx1"/>
                </a:solidFill>
                <a:latin typeface="Arial"/>
                <a:cs typeface="Arial"/>
              </a:rPr>
              <a:t>Hypovent</a:t>
            </a:r>
            <a:endParaRPr lang="en-US" dirty="0">
              <a:solidFill>
                <a:schemeClr val="tx1"/>
              </a:solidFill>
              <a:latin typeface="Arial"/>
              <a:cs typeface="Arial"/>
            </a:endParaRPr>
          </a:p>
        </p:txBody>
      </p:sp>
      <p:sp>
        <p:nvSpPr>
          <p:cNvPr id="8" name="Oval 7">
            <a:extLst>
              <a:ext uri="{FF2B5EF4-FFF2-40B4-BE49-F238E27FC236}">
                <a16:creationId xmlns:a16="http://schemas.microsoft.com/office/drawing/2014/main" id="{0E255DE7-788A-F7D0-F6CB-8F08DD9C69DA}"/>
              </a:ext>
            </a:extLst>
          </p:cNvPr>
          <p:cNvSpPr/>
          <p:nvPr/>
        </p:nvSpPr>
        <p:spPr>
          <a:xfrm>
            <a:off x="3442834" y="5137812"/>
            <a:ext cx="917775" cy="779880"/>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ALS</a:t>
            </a:r>
          </a:p>
        </p:txBody>
      </p:sp>
      <p:pic>
        <p:nvPicPr>
          <p:cNvPr id="9" name="Picture 8">
            <a:extLst>
              <a:ext uri="{FF2B5EF4-FFF2-40B4-BE49-F238E27FC236}">
                <a16:creationId xmlns:a16="http://schemas.microsoft.com/office/drawing/2014/main" id="{303BB3C9-E554-BBD4-B058-2FFADE24CDCA}"/>
              </a:ext>
            </a:extLst>
          </p:cNvPr>
          <p:cNvPicPr>
            <a:picLocks noChangeAspect="1"/>
          </p:cNvPicPr>
          <p:nvPr/>
        </p:nvPicPr>
        <p:blipFill>
          <a:blip r:embed="rId3"/>
          <a:stretch>
            <a:fillRect/>
          </a:stretch>
        </p:blipFill>
        <p:spPr>
          <a:xfrm>
            <a:off x="6417485" y="2363126"/>
            <a:ext cx="5180592" cy="4129749"/>
          </a:xfrm>
          <a:prstGeom prst="rect">
            <a:avLst/>
          </a:prstGeom>
        </p:spPr>
      </p:pic>
      <p:sp>
        <p:nvSpPr>
          <p:cNvPr id="10" name="Rectangle 9">
            <a:extLst>
              <a:ext uri="{FF2B5EF4-FFF2-40B4-BE49-F238E27FC236}">
                <a16:creationId xmlns:a16="http://schemas.microsoft.com/office/drawing/2014/main" id="{6470CB59-BFA9-454D-B96E-D00456E73A1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41522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CC818-1AD1-2468-DE2D-B105D4E29D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8678F4-F5EB-FC8F-7BA0-12437A9A68A1}"/>
              </a:ext>
            </a:extLst>
          </p:cNvPr>
          <p:cNvSpPr>
            <a:spLocks noGrp="1"/>
          </p:cNvSpPr>
          <p:nvPr>
            <p:ph type="title"/>
          </p:nvPr>
        </p:nvSpPr>
        <p:spPr/>
        <p:txBody>
          <a:bodyPr>
            <a:normAutofit/>
          </a:bodyPr>
          <a:lstStyle/>
          <a:p>
            <a:r>
              <a:rPr lang="en-US" sz="3200" dirty="0">
                <a:solidFill>
                  <a:srgbClr val="110057"/>
                </a:solidFill>
                <a:latin typeface="Arial"/>
                <a:cs typeface="Arial"/>
              </a:rPr>
              <a:t>Two problems: </a:t>
            </a:r>
          </a:p>
        </p:txBody>
      </p:sp>
      <p:sp>
        <p:nvSpPr>
          <p:cNvPr id="4" name="Title 1">
            <a:extLst>
              <a:ext uri="{FF2B5EF4-FFF2-40B4-BE49-F238E27FC236}">
                <a16:creationId xmlns:a16="http://schemas.microsoft.com/office/drawing/2014/main" id="{661E6C8A-56C2-436C-ABFC-1541150EDCAF}"/>
              </a:ext>
            </a:extLst>
          </p:cNvPr>
          <p:cNvSpPr txBox="1">
            <a:spLocks/>
          </p:cNvSpPr>
          <p:nvPr/>
        </p:nvSpPr>
        <p:spPr>
          <a:xfrm>
            <a:off x="838200" y="1376392"/>
            <a:ext cx="1122790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200" dirty="0">
                <a:solidFill>
                  <a:srgbClr val="110057"/>
                </a:solidFill>
                <a:latin typeface="Arial"/>
                <a:cs typeface="Arial"/>
              </a:rPr>
              <a:t>2. Hypercapnic respiratory failure often </a:t>
            </a:r>
            <a:r>
              <a:rPr lang="en-US" sz="2200" b="1" dirty="0">
                <a:solidFill>
                  <a:srgbClr val="110057"/>
                </a:solidFill>
                <a:latin typeface="Arial"/>
                <a:cs typeface="Arial"/>
              </a:rPr>
              <a:t>precedes diagnosis </a:t>
            </a:r>
            <a:r>
              <a:rPr lang="en-US" sz="2200" dirty="0">
                <a:solidFill>
                  <a:srgbClr val="110057"/>
                </a:solidFill>
                <a:latin typeface="Arial"/>
                <a:cs typeface="Arial"/>
              </a:rPr>
              <a:t>of the causative disease</a:t>
            </a:r>
          </a:p>
        </p:txBody>
      </p:sp>
      <p:sp>
        <p:nvSpPr>
          <p:cNvPr id="5" name="Rounded Rectangle 4">
            <a:extLst>
              <a:ext uri="{FF2B5EF4-FFF2-40B4-BE49-F238E27FC236}">
                <a16:creationId xmlns:a16="http://schemas.microsoft.com/office/drawing/2014/main" id="{47869855-E2A5-3A19-BBFE-06B0FF145D94}"/>
              </a:ext>
            </a:extLst>
          </p:cNvPr>
          <p:cNvSpPr/>
          <p:nvPr/>
        </p:nvSpPr>
        <p:spPr>
          <a:xfrm>
            <a:off x="932047"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Outpatient Diagnosis</a:t>
            </a:r>
          </a:p>
        </p:txBody>
      </p:sp>
      <p:sp>
        <p:nvSpPr>
          <p:cNvPr id="6" name="Rounded Rectangle 5">
            <a:extLst>
              <a:ext uri="{FF2B5EF4-FFF2-40B4-BE49-F238E27FC236}">
                <a16:creationId xmlns:a16="http://schemas.microsoft.com/office/drawing/2014/main" id="{7A07658C-D1DD-08D3-0CDF-D1A98416B496}"/>
              </a:ext>
            </a:extLst>
          </p:cNvPr>
          <p:cNvSpPr/>
          <p:nvPr/>
        </p:nvSpPr>
        <p:spPr>
          <a:xfrm>
            <a:off x="3145475"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Disease Worsens or exacerbates</a:t>
            </a:r>
          </a:p>
        </p:txBody>
      </p:sp>
      <p:sp>
        <p:nvSpPr>
          <p:cNvPr id="7" name="Rounded Rectangle 6">
            <a:extLst>
              <a:ext uri="{FF2B5EF4-FFF2-40B4-BE49-F238E27FC236}">
                <a16:creationId xmlns:a16="http://schemas.microsoft.com/office/drawing/2014/main" id="{4A18BFE2-49B6-16D5-5E3F-AFF9075027A8}"/>
              </a:ext>
            </a:extLst>
          </p:cNvPr>
          <p:cNvSpPr/>
          <p:nvPr/>
        </p:nvSpPr>
        <p:spPr>
          <a:xfrm>
            <a:off x="5358903"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Hypercapnic Resp. Failure</a:t>
            </a:r>
          </a:p>
        </p:txBody>
      </p:sp>
      <p:sp>
        <p:nvSpPr>
          <p:cNvPr id="8" name="Rounded Rectangle 7">
            <a:extLst>
              <a:ext uri="{FF2B5EF4-FFF2-40B4-BE49-F238E27FC236}">
                <a16:creationId xmlns:a16="http://schemas.microsoft.com/office/drawing/2014/main" id="{7E650787-7BEF-E620-95A7-6BC13F345E3B}"/>
              </a:ext>
            </a:extLst>
          </p:cNvPr>
          <p:cNvSpPr/>
          <p:nvPr/>
        </p:nvSpPr>
        <p:spPr>
          <a:xfrm>
            <a:off x="7572331"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Stabilized</a:t>
            </a:r>
          </a:p>
        </p:txBody>
      </p:sp>
      <p:sp>
        <p:nvSpPr>
          <p:cNvPr id="9" name="Rounded Rectangle 8">
            <a:extLst>
              <a:ext uri="{FF2B5EF4-FFF2-40B4-BE49-F238E27FC236}">
                <a16:creationId xmlns:a16="http://schemas.microsoft.com/office/drawing/2014/main" id="{44C80241-3415-1C66-68F0-1FAD4CB6887B}"/>
              </a:ext>
            </a:extLst>
          </p:cNvPr>
          <p:cNvSpPr/>
          <p:nvPr/>
        </p:nvSpPr>
        <p:spPr>
          <a:xfrm>
            <a:off x="3145475"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No established Diagnosis</a:t>
            </a:r>
          </a:p>
        </p:txBody>
      </p:sp>
      <p:sp>
        <p:nvSpPr>
          <p:cNvPr id="10" name="Rounded Rectangle 9">
            <a:extLst>
              <a:ext uri="{FF2B5EF4-FFF2-40B4-BE49-F238E27FC236}">
                <a16:creationId xmlns:a16="http://schemas.microsoft.com/office/drawing/2014/main" id="{3716CB53-59F8-6D3D-4516-733D6CFF3CA9}"/>
              </a:ext>
            </a:extLst>
          </p:cNvPr>
          <p:cNvSpPr/>
          <p:nvPr/>
        </p:nvSpPr>
        <p:spPr>
          <a:xfrm>
            <a:off x="5380672"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Presentation with hypercapnia</a:t>
            </a:r>
          </a:p>
        </p:txBody>
      </p:sp>
      <p:sp>
        <p:nvSpPr>
          <p:cNvPr id="11" name="Rounded Rectangle 10">
            <a:extLst>
              <a:ext uri="{FF2B5EF4-FFF2-40B4-BE49-F238E27FC236}">
                <a16:creationId xmlns:a16="http://schemas.microsoft.com/office/drawing/2014/main" id="{5805CF8C-863B-54FD-F427-B60F83F599A8}"/>
              </a:ext>
            </a:extLst>
          </p:cNvPr>
          <p:cNvSpPr/>
          <p:nvPr/>
        </p:nvSpPr>
        <p:spPr>
          <a:xfrm>
            <a:off x="7594100"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Stabilized; outpt. workup ordered</a:t>
            </a:r>
          </a:p>
        </p:txBody>
      </p:sp>
      <p:sp>
        <p:nvSpPr>
          <p:cNvPr id="12" name="Rounded Rectangle 11">
            <a:extLst>
              <a:ext uri="{FF2B5EF4-FFF2-40B4-BE49-F238E27FC236}">
                <a16:creationId xmlns:a16="http://schemas.microsoft.com/office/drawing/2014/main" id="{C871DA37-690A-B44A-7E13-BC76A8453F20}"/>
              </a:ext>
            </a:extLst>
          </p:cNvPr>
          <p:cNvSpPr/>
          <p:nvPr/>
        </p:nvSpPr>
        <p:spPr>
          <a:xfrm>
            <a:off x="9807528"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solidFill>
                  <a:srgbClr val="C00000"/>
                </a:solidFill>
                <a:latin typeface="Arial"/>
                <a:cs typeface="Arial"/>
              </a:rPr>
              <a:t>Initial outpt. management?</a:t>
            </a:r>
          </a:p>
        </p:txBody>
      </p:sp>
      <p:sp>
        <p:nvSpPr>
          <p:cNvPr id="13" name="Right Arrow 12">
            <a:extLst>
              <a:ext uri="{FF2B5EF4-FFF2-40B4-BE49-F238E27FC236}">
                <a16:creationId xmlns:a16="http://schemas.microsoft.com/office/drawing/2014/main" id="{AC711301-49AB-7061-FBF1-164120A224DC}"/>
              </a:ext>
            </a:extLst>
          </p:cNvPr>
          <p:cNvSpPr/>
          <p:nvPr/>
        </p:nvSpPr>
        <p:spPr>
          <a:xfrm>
            <a:off x="5068616" y="472694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AA50D715-1420-6BD1-E6E9-BEB2AB2EC400}"/>
              </a:ext>
            </a:extLst>
          </p:cNvPr>
          <p:cNvSpPr/>
          <p:nvPr/>
        </p:nvSpPr>
        <p:spPr>
          <a:xfrm>
            <a:off x="7282043" y="473420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F4F3F232-D702-C17C-F175-26CBC9E8514B}"/>
              </a:ext>
            </a:extLst>
          </p:cNvPr>
          <p:cNvSpPr/>
          <p:nvPr/>
        </p:nvSpPr>
        <p:spPr>
          <a:xfrm>
            <a:off x="9480958" y="4719692"/>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E7BAF2A-50E1-E892-14F5-142DE202C3B4}"/>
              </a:ext>
            </a:extLst>
          </p:cNvPr>
          <p:cNvSpPr/>
          <p:nvPr/>
        </p:nvSpPr>
        <p:spPr>
          <a:xfrm>
            <a:off x="2818905" y="373270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DC5DC868-BCC2-3540-1AA3-0F7C3E5CD781}"/>
              </a:ext>
            </a:extLst>
          </p:cNvPr>
          <p:cNvSpPr/>
          <p:nvPr/>
        </p:nvSpPr>
        <p:spPr>
          <a:xfrm>
            <a:off x="5017818" y="373996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1EE5F366-D576-9C0C-749F-B1C11499922C}"/>
              </a:ext>
            </a:extLst>
          </p:cNvPr>
          <p:cNvSpPr/>
          <p:nvPr/>
        </p:nvSpPr>
        <p:spPr>
          <a:xfrm>
            <a:off x="7245761" y="3725447"/>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Graphic 18" descr="Woman with solid fill">
            <a:extLst>
              <a:ext uri="{FF2B5EF4-FFF2-40B4-BE49-F238E27FC236}">
                <a16:creationId xmlns:a16="http://schemas.microsoft.com/office/drawing/2014/main" id="{492D9DA7-47F7-8C31-0A6B-51A5A751A5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3763" y="3308141"/>
            <a:ext cx="914400" cy="914400"/>
          </a:xfrm>
          <a:prstGeom prst="rect">
            <a:avLst/>
          </a:prstGeom>
        </p:spPr>
      </p:pic>
      <p:pic>
        <p:nvPicPr>
          <p:cNvPr id="20" name="Graphic 19" descr="Woman with solid fill">
            <a:extLst>
              <a:ext uri="{FF2B5EF4-FFF2-40B4-BE49-F238E27FC236}">
                <a16:creationId xmlns:a16="http://schemas.microsoft.com/office/drawing/2014/main" id="{EFA1DE35-6C6D-B555-5C94-8E50EBDBA11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1990" y="4491125"/>
            <a:ext cx="914400" cy="914400"/>
          </a:xfrm>
          <a:prstGeom prst="rect">
            <a:avLst/>
          </a:prstGeom>
        </p:spPr>
      </p:pic>
      <p:pic>
        <p:nvPicPr>
          <p:cNvPr id="21" name="Graphic 20" descr="Lungs outline">
            <a:extLst>
              <a:ext uri="{FF2B5EF4-FFF2-40B4-BE49-F238E27FC236}">
                <a16:creationId xmlns:a16="http://schemas.microsoft.com/office/drawing/2014/main" id="{1F87F982-AEC8-4515-A22E-0B1BA71D24D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418276" y="2582443"/>
            <a:ext cx="914400" cy="914400"/>
          </a:xfrm>
          <a:prstGeom prst="rect">
            <a:avLst/>
          </a:prstGeom>
        </p:spPr>
      </p:pic>
      <p:pic>
        <p:nvPicPr>
          <p:cNvPr id="22" name="Graphic 21" descr="Hospital outline">
            <a:extLst>
              <a:ext uri="{FF2B5EF4-FFF2-40B4-BE49-F238E27FC236}">
                <a16:creationId xmlns:a16="http://schemas.microsoft.com/office/drawing/2014/main" id="{75E850EE-C0A5-0A46-D422-60D52D56617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845132" y="5300272"/>
            <a:ext cx="914400" cy="914400"/>
          </a:xfrm>
          <a:prstGeom prst="rect">
            <a:avLst/>
          </a:prstGeom>
        </p:spPr>
      </p:pic>
      <p:pic>
        <p:nvPicPr>
          <p:cNvPr id="23" name="Graphic 22" descr="Hospital outline">
            <a:extLst>
              <a:ext uri="{FF2B5EF4-FFF2-40B4-BE49-F238E27FC236}">
                <a16:creationId xmlns:a16="http://schemas.microsoft.com/office/drawing/2014/main" id="{8271855F-31E4-436A-85E5-0031EFEB0629}"/>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845132" y="2535276"/>
            <a:ext cx="914400" cy="914400"/>
          </a:xfrm>
          <a:prstGeom prst="rect">
            <a:avLst/>
          </a:prstGeom>
        </p:spPr>
      </p:pic>
      <p:pic>
        <p:nvPicPr>
          <p:cNvPr id="24" name="Graphic 23" descr="Lungs with virus outline">
            <a:extLst>
              <a:ext uri="{FF2B5EF4-FFF2-40B4-BE49-F238E27FC236}">
                <a16:creationId xmlns:a16="http://schemas.microsoft.com/office/drawing/2014/main" id="{6C18E0A1-F583-74EA-731A-FC5D65CFE68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559133" y="2607849"/>
            <a:ext cx="914400" cy="914400"/>
          </a:xfrm>
          <a:prstGeom prst="rect">
            <a:avLst/>
          </a:prstGeom>
        </p:spPr>
      </p:pic>
      <p:sp>
        <p:nvSpPr>
          <p:cNvPr id="25" name="Rounded Rectangle 24">
            <a:extLst>
              <a:ext uri="{FF2B5EF4-FFF2-40B4-BE49-F238E27FC236}">
                <a16:creationId xmlns:a16="http://schemas.microsoft.com/office/drawing/2014/main" id="{99A337AB-EC1A-D78A-CB9F-4AEA33C2F2A4}"/>
              </a:ext>
            </a:extLst>
          </p:cNvPr>
          <p:cNvSpPr/>
          <p:nvPr/>
        </p:nvSpPr>
        <p:spPr>
          <a:xfrm>
            <a:off x="9843815" y="3565786"/>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Management as per guideline</a:t>
            </a:r>
          </a:p>
        </p:txBody>
      </p:sp>
      <p:sp>
        <p:nvSpPr>
          <p:cNvPr id="26" name="Right Arrow 25">
            <a:extLst>
              <a:ext uri="{FF2B5EF4-FFF2-40B4-BE49-F238E27FC236}">
                <a16:creationId xmlns:a16="http://schemas.microsoft.com/office/drawing/2014/main" id="{034EF873-DBE5-AFB1-7E2E-F50A8D740CAA}"/>
              </a:ext>
            </a:extLst>
          </p:cNvPr>
          <p:cNvSpPr/>
          <p:nvPr/>
        </p:nvSpPr>
        <p:spPr>
          <a:xfrm>
            <a:off x="9488217" y="373995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Graphic 26" descr="Lungs with virus outline">
            <a:extLst>
              <a:ext uri="{FF2B5EF4-FFF2-40B4-BE49-F238E27FC236}">
                <a16:creationId xmlns:a16="http://schemas.microsoft.com/office/drawing/2014/main" id="{B3E7846B-88E3-79BA-C717-F2438EEB325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697015" y="5318381"/>
            <a:ext cx="914400" cy="914400"/>
          </a:xfrm>
          <a:prstGeom prst="rect">
            <a:avLst/>
          </a:prstGeom>
        </p:spPr>
      </p:pic>
      <p:sp>
        <p:nvSpPr>
          <p:cNvPr id="28" name="Right Arrow 27">
            <a:extLst>
              <a:ext uri="{FF2B5EF4-FFF2-40B4-BE49-F238E27FC236}">
                <a16:creationId xmlns:a16="http://schemas.microsoft.com/office/drawing/2014/main" id="{7081F4B8-5B8F-8A85-681B-837888E95188}"/>
              </a:ext>
            </a:extLst>
          </p:cNvPr>
          <p:cNvSpPr/>
          <p:nvPr/>
        </p:nvSpPr>
        <p:spPr>
          <a:xfrm rot="2403410">
            <a:off x="9425319" y="515622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2DD74632-7B62-A7F0-D3C5-024AF2EE952D}"/>
              </a:ext>
            </a:extLst>
          </p:cNvPr>
          <p:cNvSpPr/>
          <p:nvPr/>
        </p:nvSpPr>
        <p:spPr>
          <a:xfrm>
            <a:off x="9829302" y="5365573"/>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solidFill>
                  <a:srgbClr val="C00000"/>
                </a:solidFill>
                <a:latin typeface="Arial"/>
                <a:cs typeface="Arial"/>
              </a:rPr>
              <a:t>Transition in care</a:t>
            </a:r>
          </a:p>
        </p:txBody>
      </p:sp>
      <p:pic>
        <p:nvPicPr>
          <p:cNvPr id="30" name="Graphic 29" descr="Checklist outline">
            <a:extLst>
              <a:ext uri="{FF2B5EF4-FFF2-40B4-BE49-F238E27FC236}">
                <a16:creationId xmlns:a16="http://schemas.microsoft.com/office/drawing/2014/main" id="{9212926F-2FF8-D29E-6278-3CD8131E4D9C}"/>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271988" y="2535264"/>
            <a:ext cx="914400" cy="914400"/>
          </a:xfrm>
          <a:prstGeom prst="rect">
            <a:avLst/>
          </a:prstGeom>
        </p:spPr>
      </p:pic>
      <p:pic>
        <p:nvPicPr>
          <p:cNvPr id="31" name="Graphic 30" descr="No sign with solid fill">
            <a:extLst>
              <a:ext uri="{FF2B5EF4-FFF2-40B4-BE49-F238E27FC236}">
                <a16:creationId xmlns:a16="http://schemas.microsoft.com/office/drawing/2014/main" id="{0A3ECE76-655D-E2F4-4DCC-A7C504456B0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342683" y="4476611"/>
            <a:ext cx="914400" cy="914400"/>
          </a:xfrm>
          <a:prstGeom prst="rect">
            <a:avLst/>
          </a:prstGeom>
        </p:spPr>
      </p:pic>
      <p:sp>
        <p:nvSpPr>
          <p:cNvPr id="32" name="TextBox 31">
            <a:extLst>
              <a:ext uri="{FF2B5EF4-FFF2-40B4-BE49-F238E27FC236}">
                <a16:creationId xmlns:a16="http://schemas.microsoft.com/office/drawing/2014/main" id="{DF47CD8A-96EE-4814-A711-5FCCE87C516F}"/>
              </a:ext>
            </a:extLst>
          </p:cNvPr>
          <p:cNvSpPr txBox="1"/>
          <p:nvPr/>
        </p:nvSpPr>
        <p:spPr>
          <a:xfrm>
            <a:off x="8199464" y="5649384"/>
            <a:ext cx="2039260" cy="369332"/>
          </a:xfrm>
          <a:prstGeom prst="rect">
            <a:avLst/>
          </a:prstGeom>
          <a:noFill/>
        </p:spPr>
        <p:txBody>
          <a:bodyPr wrap="square" rtlCol="0">
            <a:spAutoFit/>
          </a:bodyPr>
          <a:lstStyle/>
          <a:p>
            <a:pPr algn="ctr"/>
            <a:r>
              <a:rPr lang="en-US" b="1" dirty="0">
                <a:solidFill>
                  <a:srgbClr val="C00000"/>
                </a:solidFill>
                <a:latin typeface="Arial"/>
                <a:cs typeface="Arial"/>
              </a:rPr>
              <a:t>Reliable?</a:t>
            </a:r>
          </a:p>
        </p:txBody>
      </p:sp>
      <p:sp>
        <p:nvSpPr>
          <p:cNvPr id="3" name="Rectangle 2">
            <a:extLst>
              <a:ext uri="{FF2B5EF4-FFF2-40B4-BE49-F238E27FC236}">
                <a16:creationId xmlns:a16="http://schemas.microsoft.com/office/drawing/2014/main" id="{3DFDCDF9-0C8E-CB4B-A952-0E05BE31DA39}"/>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6571303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0C78A1-AE0C-484B-80DD-2F50877C3E88}"/>
              </a:ext>
            </a:extLst>
          </p:cNvPr>
          <p:cNvSpPr>
            <a:spLocks noGrp="1"/>
          </p:cNvSpPr>
          <p:nvPr>
            <p:ph type="title"/>
          </p:nvPr>
        </p:nvSpPr>
        <p:spPr/>
        <p:txBody>
          <a:bodyPr>
            <a:normAutofit/>
          </a:bodyPr>
          <a:lstStyle/>
          <a:p>
            <a:r>
              <a:rPr lang="en-US" sz="3200">
                <a:solidFill>
                  <a:srgbClr val="110057"/>
                </a:solidFill>
                <a:latin typeface="Arial"/>
                <a:cs typeface="Arial"/>
              </a:rPr>
              <a:t>The Discharge Paradox</a:t>
            </a:r>
          </a:p>
        </p:txBody>
      </p:sp>
      <p:sp>
        <p:nvSpPr>
          <p:cNvPr id="3" name="Content Placeholder 2">
            <a:extLst>
              <a:ext uri="{FF2B5EF4-FFF2-40B4-BE49-F238E27FC236}">
                <a16:creationId xmlns:a16="http://schemas.microsoft.com/office/drawing/2014/main" id="{4EE57778-3BCB-9E08-7118-4EC9B44B96B3}"/>
              </a:ext>
            </a:extLst>
          </p:cNvPr>
          <p:cNvSpPr>
            <a:spLocks noGrp="1"/>
          </p:cNvSpPr>
          <p:nvPr>
            <p:ph idx="1"/>
          </p:nvPr>
        </p:nvSpPr>
        <p:spPr/>
        <p:txBody>
          <a:bodyPr>
            <a:normAutofit/>
          </a:bodyPr>
          <a:lstStyle/>
          <a:p>
            <a:pPr marL="0" indent="0">
              <a:buNone/>
            </a:pPr>
            <a:r>
              <a:rPr lang="en-US" sz="2200" b="1" dirty="0">
                <a:latin typeface="Arial"/>
                <a:cs typeface="Arial"/>
              </a:rPr>
              <a:t>ATS Guidelines (strong* recommendation </a:t>
            </a:r>
            <a:r>
              <a:rPr lang="en-US" sz="2200" i="1" dirty="0">
                <a:latin typeface="Arial"/>
                <a:cs typeface="Arial"/>
              </a:rPr>
              <a:t>[the evidence isn’t actually strong]</a:t>
            </a:r>
            <a:r>
              <a:rPr lang="en-US" sz="2200" b="1" dirty="0">
                <a:latin typeface="Arial"/>
                <a:cs typeface="Arial"/>
              </a:rPr>
              <a:t>):</a:t>
            </a:r>
          </a:p>
          <a:p>
            <a:r>
              <a:rPr lang="en-US" sz="2200" dirty="0">
                <a:latin typeface="Arial"/>
                <a:cs typeface="Arial"/>
              </a:rPr>
              <a:t>Discharge with empiric NIV in hospitalized patients with OHS</a:t>
            </a:r>
          </a:p>
          <a:p>
            <a:pPr marL="0" indent="0">
              <a:buNone/>
            </a:pPr>
            <a:endParaRPr lang="en-US" sz="1400" dirty="0">
              <a:latin typeface="Arial"/>
              <a:cs typeface="Arial"/>
            </a:endParaRPr>
          </a:p>
          <a:p>
            <a:pPr marL="0" indent="0">
              <a:buNone/>
            </a:pPr>
            <a:r>
              <a:rPr lang="en-US" sz="2200" b="1" dirty="0">
                <a:latin typeface="Arial"/>
                <a:cs typeface="Arial"/>
              </a:rPr>
              <a:t>Reality:</a:t>
            </a:r>
          </a:p>
          <a:p>
            <a:r>
              <a:rPr lang="en-US" sz="2200" dirty="0">
                <a:latin typeface="Arial"/>
                <a:cs typeface="Arial"/>
              </a:rPr>
              <a:t>No such thing as a "loaner" BPAP - </a:t>
            </a:r>
            <a:r>
              <a:rPr lang="en-US" sz="2200" b="1" dirty="0">
                <a:latin typeface="Arial"/>
                <a:cs typeface="Arial"/>
              </a:rPr>
              <a:t>forbidden</a:t>
            </a:r>
          </a:p>
          <a:p>
            <a:r>
              <a:rPr lang="en-US" sz="2200" dirty="0">
                <a:latin typeface="Arial"/>
                <a:cs typeface="Arial"/>
              </a:rPr>
              <a:t>Qualification requires testing that takes days to weeks, who owns </a:t>
            </a:r>
          </a:p>
          <a:p>
            <a:r>
              <a:rPr lang="en-US" sz="2200" dirty="0">
                <a:latin typeface="Arial"/>
                <a:cs typeface="Arial"/>
              </a:rPr>
              <a:t>Patient goes home on O</a:t>
            </a:r>
            <a:r>
              <a:rPr lang="en-US" sz="2200" baseline="-25000" dirty="0">
                <a:latin typeface="Arial"/>
                <a:cs typeface="Arial"/>
              </a:rPr>
              <a:t>2</a:t>
            </a:r>
            <a:r>
              <a:rPr lang="en-US" sz="2200" dirty="0">
                <a:latin typeface="Arial"/>
                <a:cs typeface="Arial"/>
              </a:rPr>
              <a:t> alone — or doesn't go home at all. Not </a:t>
            </a:r>
          </a:p>
          <a:p>
            <a:pPr marL="0" indent="0">
              <a:buNone/>
            </a:pPr>
            <a:endParaRPr lang="en-US" sz="1400" dirty="0">
              <a:latin typeface="Arial"/>
              <a:cs typeface="Arial"/>
            </a:endParaRPr>
          </a:p>
          <a:p>
            <a:pPr marL="0" indent="0">
              <a:buNone/>
            </a:pPr>
            <a:r>
              <a:rPr lang="en-US" sz="2200" i="1" dirty="0">
                <a:latin typeface="Arial"/>
                <a:cs typeface="Arial"/>
              </a:rPr>
              <a:t>The evidence says "send them home with BPAP" — the system says "you can't."</a:t>
            </a:r>
          </a:p>
        </p:txBody>
      </p:sp>
      <p:sp>
        <p:nvSpPr>
          <p:cNvPr id="5" name="Rectangle 4">
            <a:extLst>
              <a:ext uri="{FF2B5EF4-FFF2-40B4-BE49-F238E27FC236}">
                <a16:creationId xmlns:a16="http://schemas.microsoft.com/office/drawing/2014/main" id="{DFBDD65F-E910-1442-8B02-2F78CC61344F}"/>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393343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B7B821E-138A-7F11-38CA-AF62F026E0E0}"/>
              </a:ext>
            </a:extLst>
          </p:cNvPr>
          <p:cNvSpPr>
            <a:spLocks noGrp="1"/>
          </p:cNvSpPr>
          <p:nvPr>
            <p:ph type="title"/>
          </p:nvPr>
        </p:nvSpPr>
        <p:spPr/>
        <p:txBody>
          <a:bodyPr>
            <a:normAutofit/>
          </a:bodyPr>
          <a:lstStyle/>
          <a:p>
            <a:r>
              <a:rPr lang="en-US" sz="2400" b="1" dirty="0">
                <a:solidFill>
                  <a:srgbClr val="110057"/>
                </a:solidFill>
                <a:latin typeface="Arial"/>
                <a:cs typeface="Arial"/>
              </a:rPr>
              <a:t>Post-discharge diagnostic workflow: many opportunities to de-rail</a:t>
            </a:r>
          </a:p>
        </p:txBody>
      </p:sp>
      <p:sp>
        <p:nvSpPr>
          <p:cNvPr id="3" name="Rectangle 2">
            <a:extLst>
              <a:ext uri="{FF2B5EF4-FFF2-40B4-BE49-F238E27FC236}">
                <a16:creationId xmlns:a16="http://schemas.microsoft.com/office/drawing/2014/main" id="{4CC80B5E-2C88-E44E-AAB4-925F06A715CD}"/>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0" name="B50"/>
          <p:cNvSpPr/>
          <p:nvPr/>
        </p:nvSpPr>
        <p:spPr>
          <a:xfrm>
            <a:off x="838200" y="1879600"/>
            <a:ext cx="1143000" cy="2844800"/>
          </a:xfrm>
          <a:prstGeom prst="roundRect">
            <a:avLst>
              <a:gd name="adj" fmla="val 12000"/>
            </a:avLst>
          </a:prstGeom>
          <a:solidFill>
            <a:srgbClr val="110057"/>
          </a:solidFill>
          <a:ln w="0">
            <a:noFill/>
          </a:ln>
        </p:spPr>
        <p:txBody>
          <a:bodyPr wrap="square" lIns="27432" tIns="27432" rIns="27432" bIns="27432" anchor="ctr"/>
          <a:lstStyle/>
          <a:p>
            <a:pPr algn="ctr">
              <a:lnSpc>
                <a:spcPts val="1500"/>
              </a:lnSpc>
              <a:buNone/>
            </a:pPr>
            <a:r>
              <a:rPr lang="en-US" sz="1400" b="1" dirty="0">
                <a:solidFill>
                  <a:srgbClr val="FFFFFF"/>
                </a:solidFill>
                <a:latin typeface="Arial"/>
              </a:rPr>
              <a:t>Discharge</a:t>
            </a:r>
          </a:p>
          <a:p>
            <a:pPr algn="ctr">
              <a:lnSpc>
                <a:spcPts val="1500"/>
              </a:lnSpc>
              <a:buNone/>
            </a:pPr>
            <a:r>
              <a:rPr lang="en-US" sz="1400" b="1" dirty="0">
                <a:solidFill>
                  <a:srgbClr val="FFFFFF"/>
                </a:solidFill>
                <a:latin typeface="Arial"/>
              </a:rPr>
              <a:t>after</a:t>
            </a:r>
          </a:p>
          <a:p>
            <a:pPr algn="ctr">
              <a:lnSpc>
                <a:spcPts val="1500"/>
              </a:lnSpc>
              <a:buNone/>
            </a:pPr>
            <a:r>
              <a:rPr lang="en-US" sz="1400" b="1" dirty="0">
                <a:solidFill>
                  <a:srgbClr val="FFFFFF"/>
                </a:solidFill>
                <a:latin typeface="Arial"/>
              </a:rPr>
              <a:t>Hyper-</a:t>
            </a:r>
          </a:p>
          <a:p>
            <a:pPr algn="ctr">
              <a:lnSpc>
                <a:spcPts val="1500"/>
              </a:lnSpc>
              <a:buNone/>
            </a:pPr>
            <a:r>
              <a:rPr lang="en-US" sz="1400" b="1" dirty="0">
                <a:solidFill>
                  <a:srgbClr val="FFFFFF"/>
                </a:solidFill>
                <a:latin typeface="Arial"/>
              </a:rPr>
              <a:t>capnia</a:t>
            </a:r>
          </a:p>
        </p:txBody>
      </p:sp>
      <p:sp>
        <p:nvSpPr>
          <p:cNvPr id="51" name="A51"/>
          <p:cNvSpPr/>
          <p:nvPr/>
        </p:nvSpPr>
        <p:spPr>
          <a:xfrm>
            <a:off x="1930400" y="2108200"/>
            <a:ext cx="152400" cy="101600"/>
          </a:xfrm>
          <a:prstGeom prst="rightArrow">
            <a:avLst/>
          </a:prstGeom>
          <a:solidFill>
            <a:srgbClr val="888888"/>
          </a:solidFill>
          <a:ln w="0">
            <a:noFill/>
          </a:ln>
        </p:spPr>
        <p:txBody>
          <a:bodyPr/>
          <a:lstStyle/>
          <a:p>
            <a:endParaRPr lang="en-US"/>
          </a:p>
        </p:txBody>
      </p:sp>
      <p:sp>
        <p:nvSpPr>
          <p:cNvPr id="52" name="A52"/>
          <p:cNvSpPr/>
          <p:nvPr/>
        </p:nvSpPr>
        <p:spPr>
          <a:xfrm>
            <a:off x="1930400" y="2870200"/>
            <a:ext cx="152400" cy="101600"/>
          </a:xfrm>
          <a:prstGeom prst="rightArrow">
            <a:avLst/>
          </a:prstGeom>
          <a:solidFill>
            <a:srgbClr val="888888"/>
          </a:solidFill>
          <a:ln w="0">
            <a:noFill/>
          </a:ln>
        </p:spPr>
        <p:txBody>
          <a:bodyPr/>
          <a:lstStyle/>
          <a:p>
            <a:endParaRPr lang="en-US"/>
          </a:p>
        </p:txBody>
      </p:sp>
      <p:sp>
        <p:nvSpPr>
          <p:cNvPr id="53" name="A53"/>
          <p:cNvSpPr/>
          <p:nvPr/>
        </p:nvSpPr>
        <p:spPr>
          <a:xfrm>
            <a:off x="1930400" y="3632200"/>
            <a:ext cx="152400" cy="101600"/>
          </a:xfrm>
          <a:prstGeom prst="rightArrow">
            <a:avLst/>
          </a:prstGeom>
          <a:solidFill>
            <a:srgbClr val="888888"/>
          </a:solidFill>
          <a:ln w="0">
            <a:noFill/>
          </a:ln>
        </p:spPr>
        <p:txBody>
          <a:bodyPr/>
          <a:lstStyle/>
          <a:p>
            <a:endParaRPr lang="en-US"/>
          </a:p>
        </p:txBody>
      </p:sp>
      <p:sp>
        <p:nvSpPr>
          <p:cNvPr id="54" name="A54"/>
          <p:cNvSpPr/>
          <p:nvPr/>
        </p:nvSpPr>
        <p:spPr>
          <a:xfrm>
            <a:off x="1930400" y="4394200"/>
            <a:ext cx="152400" cy="101600"/>
          </a:xfrm>
          <a:prstGeom prst="rightArrow">
            <a:avLst/>
          </a:prstGeom>
          <a:solidFill>
            <a:srgbClr val="888888"/>
          </a:solidFill>
          <a:ln w="0">
            <a:noFill/>
          </a:ln>
        </p:spPr>
        <p:txBody>
          <a:bodyPr/>
          <a:lstStyle/>
          <a:p>
            <a:endParaRPr lang="en-US"/>
          </a:p>
        </p:txBody>
      </p:sp>
      <p:sp>
        <p:nvSpPr>
          <p:cNvPr id="55" name="L55"/>
          <p:cNvSpPr/>
          <p:nvPr/>
        </p:nvSpPr>
        <p:spPr>
          <a:xfrm>
            <a:off x="2057400" y="1727200"/>
            <a:ext cx="1143000" cy="152400"/>
          </a:xfrm>
          <a:prstGeom prst="rect">
            <a:avLst/>
          </a:prstGeom>
          <a:noFill/>
          <a:ln w="0">
            <a:noFill/>
          </a:ln>
        </p:spPr>
        <p:txBody>
          <a:bodyPr wrap="square" lIns="0" tIns="0" rIns="0" bIns="0" anchor="ctr"/>
          <a:lstStyle/>
          <a:p>
            <a:pPr algn="l">
              <a:buNone/>
            </a:pPr>
            <a:r>
              <a:rPr lang="en-US" sz="1400" b="1" dirty="0">
                <a:solidFill>
                  <a:srgbClr val="6B3FA0"/>
                </a:solidFill>
                <a:latin typeface="Arial"/>
              </a:rPr>
              <a:t>HMV / DME</a:t>
            </a:r>
          </a:p>
        </p:txBody>
      </p:sp>
      <p:sp>
        <p:nvSpPr>
          <p:cNvPr id="56" name="B56"/>
          <p:cNvSpPr/>
          <p:nvPr/>
        </p:nvSpPr>
        <p:spPr>
          <a:xfrm>
            <a:off x="2057400" y="1879600"/>
            <a:ext cx="1460500" cy="558800"/>
          </a:xfrm>
          <a:prstGeom prst="roundRect">
            <a:avLst>
              <a:gd name="adj" fmla="val 12000"/>
            </a:avLst>
          </a:prstGeom>
          <a:solidFill>
            <a:srgbClr val="E8E1F5"/>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Prescribe HMV*</a:t>
            </a:r>
          </a:p>
        </p:txBody>
      </p:sp>
      <p:sp>
        <p:nvSpPr>
          <p:cNvPr id="57" name="A57"/>
          <p:cNvSpPr/>
          <p:nvPr/>
        </p:nvSpPr>
        <p:spPr>
          <a:xfrm>
            <a:off x="3543300" y="2108200"/>
            <a:ext cx="152400" cy="101600"/>
          </a:xfrm>
          <a:prstGeom prst="rightArrow">
            <a:avLst/>
          </a:prstGeom>
          <a:solidFill>
            <a:srgbClr val="9B8BBF"/>
          </a:solidFill>
          <a:ln w="0">
            <a:noFill/>
          </a:ln>
        </p:spPr>
        <p:txBody>
          <a:bodyPr/>
          <a:lstStyle/>
          <a:p>
            <a:endParaRPr lang="en-US"/>
          </a:p>
        </p:txBody>
      </p:sp>
      <p:sp>
        <p:nvSpPr>
          <p:cNvPr id="58" name="B58"/>
          <p:cNvSpPr/>
          <p:nvPr/>
        </p:nvSpPr>
        <p:spPr>
          <a:xfrm>
            <a:off x="3746500" y="1879600"/>
            <a:ext cx="1460500" cy="558800"/>
          </a:xfrm>
          <a:prstGeom prst="roundRect">
            <a:avLst>
              <a:gd name="adj" fmla="val 12000"/>
            </a:avLst>
          </a:prstGeom>
          <a:solidFill>
            <a:srgbClr val="E8E1F5"/>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DME Receives</a:t>
            </a:r>
          </a:p>
          <a:p>
            <a:pPr algn="ctr">
              <a:lnSpc>
                <a:spcPts val="1400"/>
              </a:lnSpc>
              <a:buNone/>
            </a:pPr>
            <a:r>
              <a:rPr lang="en-US" sz="1400" dirty="0">
                <a:solidFill>
                  <a:srgbClr val="333333"/>
                </a:solidFill>
                <a:latin typeface="Arial"/>
              </a:rPr>
              <a:t>Order</a:t>
            </a:r>
          </a:p>
        </p:txBody>
      </p:sp>
      <p:sp>
        <p:nvSpPr>
          <p:cNvPr id="59" name="A59"/>
          <p:cNvSpPr/>
          <p:nvPr/>
        </p:nvSpPr>
        <p:spPr>
          <a:xfrm>
            <a:off x="5232400" y="2108200"/>
            <a:ext cx="152400" cy="101600"/>
          </a:xfrm>
          <a:prstGeom prst="rightArrow">
            <a:avLst/>
          </a:prstGeom>
          <a:solidFill>
            <a:srgbClr val="9B8BBF"/>
          </a:solidFill>
          <a:ln w="0">
            <a:noFill/>
          </a:ln>
        </p:spPr>
        <p:txBody>
          <a:bodyPr/>
          <a:lstStyle/>
          <a:p>
            <a:endParaRPr lang="en-US"/>
          </a:p>
        </p:txBody>
      </p:sp>
      <p:sp>
        <p:nvSpPr>
          <p:cNvPr id="60" name="B60"/>
          <p:cNvSpPr/>
          <p:nvPr/>
        </p:nvSpPr>
        <p:spPr>
          <a:xfrm>
            <a:off x="5435600" y="1879600"/>
            <a:ext cx="1460500" cy="558800"/>
          </a:xfrm>
          <a:prstGeom prst="roundRect">
            <a:avLst>
              <a:gd name="adj" fmla="val 12000"/>
            </a:avLst>
          </a:prstGeom>
          <a:solidFill>
            <a:srgbClr val="E8E1F5"/>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RT Setup &amp;</a:t>
            </a:r>
          </a:p>
          <a:p>
            <a:pPr algn="ctr">
              <a:lnSpc>
                <a:spcPts val="1400"/>
              </a:lnSpc>
              <a:buNone/>
            </a:pPr>
            <a:r>
              <a:rPr lang="en-US" sz="1400" dirty="0">
                <a:solidFill>
                  <a:srgbClr val="333333"/>
                </a:solidFill>
                <a:latin typeface="Arial"/>
              </a:rPr>
              <a:t>Education</a:t>
            </a:r>
          </a:p>
        </p:txBody>
      </p:sp>
      <p:sp>
        <p:nvSpPr>
          <p:cNvPr id="61" name="A61"/>
          <p:cNvSpPr/>
          <p:nvPr/>
        </p:nvSpPr>
        <p:spPr>
          <a:xfrm>
            <a:off x="6921500" y="2108200"/>
            <a:ext cx="152400" cy="101600"/>
          </a:xfrm>
          <a:prstGeom prst="rightArrow">
            <a:avLst/>
          </a:prstGeom>
          <a:solidFill>
            <a:srgbClr val="9B8BBF"/>
          </a:solidFill>
          <a:ln w="0">
            <a:noFill/>
          </a:ln>
        </p:spPr>
        <p:txBody>
          <a:bodyPr/>
          <a:lstStyle/>
          <a:p>
            <a:endParaRPr lang="en-US"/>
          </a:p>
        </p:txBody>
      </p:sp>
      <p:sp>
        <p:nvSpPr>
          <p:cNvPr id="62" name="B62"/>
          <p:cNvSpPr/>
          <p:nvPr/>
        </p:nvSpPr>
        <p:spPr>
          <a:xfrm>
            <a:off x="7124700" y="1879600"/>
            <a:ext cx="1460500" cy="558800"/>
          </a:xfrm>
          <a:prstGeom prst="roundRect">
            <a:avLst>
              <a:gd name="adj" fmla="val 12000"/>
            </a:avLst>
          </a:prstGeom>
          <a:solidFill>
            <a:srgbClr val="E8E1F5"/>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Ongoing DME</a:t>
            </a:r>
          </a:p>
          <a:p>
            <a:pPr algn="ctr">
              <a:lnSpc>
                <a:spcPts val="1400"/>
              </a:lnSpc>
              <a:buNone/>
            </a:pPr>
            <a:r>
              <a:rPr lang="en-US" sz="1400" dirty="0">
                <a:solidFill>
                  <a:srgbClr val="333333"/>
                </a:solidFill>
                <a:latin typeface="Arial"/>
              </a:rPr>
              <a:t>Mgmt</a:t>
            </a:r>
          </a:p>
        </p:txBody>
      </p:sp>
      <p:sp>
        <p:nvSpPr>
          <p:cNvPr id="63" name="L63"/>
          <p:cNvSpPr/>
          <p:nvPr/>
        </p:nvSpPr>
        <p:spPr>
          <a:xfrm>
            <a:off x="2057400" y="2489200"/>
            <a:ext cx="1270000" cy="152400"/>
          </a:xfrm>
          <a:prstGeom prst="rect">
            <a:avLst/>
          </a:prstGeom>
          <a:noFill/>
          <a:ln w="0">
            <a:noFill/>
          </a:ln>
        </p:spPr>
        <p:txBody>
          <a:bodyPr wrap="square" lIns="0" tIns="0" rIns="0" bIns="0" anchor="ctr"/>
          <a:lstStyle/>
          <a:p>
            <a:pPr algn="l">
              <a:buNone/>
            </a:pPr>
            <a:r>
              <a:rPr lang="en-US" sz="1400" b="1" dirty="0">
                <a:solidFill>
                  <a:srgbClr val="2E7D32"/>
                </a:solidFill>
                <a:latin typeface="Arial"/>
              </a:rPr>
              <a:t>Pulmonary</a:t>
            </a:r>
          </a:p>
        </p:txBody>
      </p:sp>
      <p:sp>
        <p:nvSpPr>
          <p:cNvPr id="64" name="B64"/>
          <p:cNvSpPr/>
          <p:nvPr/>
        </p:nvSpPr>
        <p:spPr>
          <a:xfrm>
            <a:off x="2057400" y="2641600"/>
            <a:ext cx="1460500" cy="558800"/>
          </a:xfrm>
          <a:prstGeom prst="roundRect">
            <a:avLst>
              <a:gd name="adj" fmla="val 12000"/>
            </a:avLst>
          </a:prstGeom>
          <a:solidFill>
            <a:srgbClr val="E8F5E9"/>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Refer to</a:t>
            </a:r>
          </a:p>
          <a:p>
            <a:pPr algn="ctr">
              <a:lnSpc>
                <a:spcPts val="1400"/>
              </a:lnSpc>
              <a:buNone/>
            </a:pPr>
            <a:r>
              <a:rPr lang="en-US" sz="1400" dirty="0">
                <a:solidFill>
                  <a:srgbClr val="333333"/>
                </a:solidFill>
                <a:latin typeface="Arial"/>
              </a:rPr>
              <a:t>Pulmonary</a:t>
            </a:r>
          </a:p>
        </p:txBody>
      </p:sp>
      <p:sp>
        <p:nvSpPr>
          <p:cNvPr id="65" name="A65"/>
          <p:cNvSpPr/>
          <p:nvPr/>
        </p:nvSpPr>
        <p:spPr>
          <a:xfrm>
            <a:off x="3543300" y="2870200"/>
            <a:ext cx="152400" cy="101600"/>
          </a:xfrm>
          <a:prstGeom prst="rightArrow">
            <a:avLst/>
          </a:prstGeom>
          <a:solidFill>
            <a:srgbClr val="66BB6A"/>
          </a:solidFill>
          <a:ln w="0">
            <a:noFill/>
          </a:ln>
        </p:spPr>
        <p:txBody>
          <a:bodyPr/>
          <a:lstStyle/>
          <a:p>
            <a:endParaRPr lang="en-US"/>
          </a:p>
        </p:txBody>
      </p:sp>
      <p:sp>
        <p:nvSpPr>
          <p:cNvPr id="66" name="B66"/>
          <p:cNvSpPr/>
          <p:nvPr/>
        </p:nvSpPr>
        <p:spPr>
          <a:xfrm>
            <a:off x="3746500" y="2641600"/>
            <a:ext cx="1460500" cy="558800"/>
          </a:xfrm>
          <a:prstGeom prst="roundRect">
            <a:avLst>
              <a:gd name="adj" fmla="val 12000"/>
            </a:avLst>
          </a:prstGeom>
          <a:solidFill>
            <a:srgbClr val="E8F5E9"/>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Schedule</a:t>
            </a:r>
          </a:p>
          <a:p>
            <a:pPr algn="ctr">
              <a:lnSpc>
                <a:spcPts val="1400"/>
              </a:lnSpc>
              <a:buNone/>
            </a:pPr>
            <a:r>
              <a:rPr lang="en-US" sz="1400" dirty="0">
                <a:solidFill>
                  <a:srgbClr val="333333"/>
                </a:solidFill>
                <a:latin typeface="Arial"/>
              </a:rPr>
              <a:t>Pulm Appt</a:t>
            </a:r>
          </a:p>
        </p:txBody>
      </p:sp>
      <p:sp>
        <p:nvSpPr>
          <p:cNvPr id="67" name="A67"/>
          <p:cNvSpPr/>
          <p:nvPr/>
        </p:nvSpPr>
        <p:spPr>
          <a:xfrm>
            <a:off x="5232400" y="2870200"/>
            <a:ext cx="152400" cy="101600"/>
          </a:xfrm>
          <a:prstGeom prst="rightArrow">
            <a:avLst/>
          </a:prstGeom>
          <a:solidFill>
            <a:srgbClr val="66BB6A"/>
          </a:solidFill>
          <a:ln w="0">
            <a:noFill/>
          </a:ln>
        </p:spPr>
        <p:txBody>
          <a:bodyPr/>
          <a:lstStyle/>
          <a:p>
            <a:endParaRPr lang="en-US"/>
          </a:p>
        </p:txBody>
      </p:sp>
      <p:sp>
        <p:nvSpPr>
          <p:cNvPr id="68" name="B68"/>
          <p:cNvSpPr/>
          <p:nvPr/>
        </p:nvSpPr>
        <p:spPr>
          <a:xfrm>
            <a:off x="5435600" y="2641600"/>
            <a:ext cx="1460500" cy="558800"/>
          </a:xfrm>
          <a:prstGeom prst="roundRect">
            <a:avLst>
              <a:gd name="adj" fmla="val 12000"/>
            </a:avLst>
          </a:prstGeom>
          <a:solidFill>
            <a:srgbClr val="E8F5E9"/>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PFTs Before</a:t>
            </a:r>
          </a:p>
          <a:p>
            <a:pPr algn="ctr">
              <a:lnSpc>
                <a:spcPts val="1400"/>
              </a:lnSpc>
              <a:buNone/>
            </a:pPr>
            <a:r>
              <a:rPr lang="en-US" sz="1400" dirty="0">
                <a:solidFill>
                  <a:srgbClr val="333333"/>
                </a:solidFill>
                <a:latin typeface="Arial"/>
              </a:rPr>
              <a:t>Visit</a:t>
            </a:r>
          </a:p>
        </p:txBody>
      </p:sp>
      <p:sp>
        <p:nvSpPr>
          <p:cNvPr id="69" name="A69"/>
          <p:cNvSpPr/>
          <p:nvPr/>
        </p:nvSpPr>
        <p:spPr>
          <a:xfrm>
            <a:off x="6921500" y="2870200"/>
            <a:ext cx="152400" cy="101600"/>
          </a:xfrm>
          <a:prstGeom prst="rightArrow">
            <a:avLst/>
          </a:prstGeom>
          <a:solidFill>
            <a:srgbClr val="66BB6A"/>
          </a:solidFill>
          <a:ln w="0">
            <a:noFill/>
          </a:ln>
        </p:spPr>
        <p:txBody>
          <a:bodyPr/>
          <a:lstStyle/>
          <a:p>
            <a:endParaRPr lang="en-US"/>
          </a:p>
        </p:txBody>
      </p:sp>
      <p:sp>
        <p:nvSpPr>
          <p:cNvPr id="70" name="B70"/>
          <p:cNvSpPr/>
          <p:nvPr/>
        </p:nvSpPr>
        <p:spPr>
          <a:xfrm>
            <a:off x="7124700" y="2641600"/>
            <a:ext cx="1460500" cy="558800"/>
          </a:xfrm>
          <a:prstGeom prst="roundRect">
            <a:avLst>
              <a:gd name="adj" fmla="val 12000"/>
            </a:avLst>
          </a:prstGeom>
          <a:solidFill>
            <a:srgbClr val="E8F5E9"/>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Discuss w/</a:t>
            </a:r>
          </a:p>
          <a:p>
            <a:pPr algn="ctr">
              <a:lnSpc>
                <a:spcPts val="1400"/>
              </a:lnSpc>
              <a:buNone/>
            </a:pPr>
            <a:r>
              <a:rPr lang="en-US" sz="1400" dirty="0">
                <a:solidFill>
                  <a:srgbClr val="333333"/>
                </a:solidFill>
                <a:latin typeface="Arial"/>
              </a:rPr>
              <a:t>Pulm Provider</a:t>
            </a:r>
          </a:p>
        </p:txBody>
      </p:sp>
      <p:sp>
        <p:nvSpPr>
          <p:cNvPr id="71" name="L71"/>
          <p:cNvSpPr/>
          <p:nvPr/>
        </p:nvSpPr>
        <p:spPr>
          <a:xfrm>
            <a:off x="2057400" y="3251200"/>
            <a:ext cx="1270000" cy="152400"/>
          </a:xfrm>
          <a:prstGeom prst="rect">
            <a:avLst/>
          </a:prstGeom>
          <a:noFill/>
          <a:ln w="0">
            <a:noFill/>
          </a:ln>
        </p:spPr>
        <p:txBody>
          <a:bodyPr wrap="square" lIns="0" tIns="0" rIns="0" bIns="0" anchor="ctr"/>
          <a:lstStyle/>
          <a:p>
            <a:pPr algn="l">
              <a:buNone/>
            </a:pPr>
            <a:r>
              <a:rPr lang="en-US" sz="1400" b="1" dirty="0">
                <a:solidFill>
                  <a:srgbClr val="1565C0"/>
                </a:solidFill>
                <a:latin typeface="Arial"/>
              </a:rPr>
              <a:t>Sleep</a:t>
            </a:r>
          </a:p>
        </p:txBody>
      </p:sp>
      <p:sp>
        <p:nvSpPr>
          <p:cNvPr id="72" name="B72"/>
          <p:cNvSpPr/>
          <p:nvPr/>
        </p:nvSpPr>
        <p:spPr>
          <a:xfrm>
            <a:off x="2057400" y="3403600"/>
            <a:ext cx="1460500" cy="558800"/>
          </a:xfrm>
          <a:prstGeom prst="roundRect">
            <a:avLst>
              <a:gd name="adj" fmla="val 12000"/>
            </a:avLst>
          </a:prstGeom>
          <a:solidFill>
            <a:srgbClr val="E3F2FD"/>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Order Sleep</a:t>
            </a:r>
          </a:p>
          <a:p>
            <a:pPr algn="ctr">
              <a:lnSpc>
                <a:spcPts val="1400"/>
              </a:lnSpc>
              <a:buNone/>
            </a:pPr>
            <a:r>
              <a:rPr lang="en-US" sz="1400" dirty="0">
                <a:solidFill>
                  <a:srgbClr val="333333"/>
                </a:solidFill>
                <a:latin typeface="Arial"/>
              </a:rPr>
              <a:t>Referral</a:t>
            </a:r>
          </a:p>
        </p:txBody>
      </p:sp>
      <p:sp>
        <p:nvSpPr>
          <p:cNvPr id="73" name="A73"/>
          <p:cNvSpPr/>
          <p:nvPr/>
        </p:nvSpPr>
        <p:spPr>
          <a:xfrm>
            <a:off x="3543300" y="3632200"/>
            <a:ext cx="152400" cy="101600"/>
          </a:xfrm>
          <a:prstGeom prst="rightArrow">
            <a:avLst/>
          </a:prstGeom>
          <a:solidFill>
            <a:srgbClr val="64B5F6"/>
          </a:solidFill>
          <a:ln w="0">
            <a:noFill/>
          </a:ln>
        </p:spPr>
        <p:txBody>
          <a:bodyPr/>
          <a:lstStyle/>
          <a:p>
            <a:endParaRPr lang="en-US"/>
          </a:p>
        </p:txBody>
      </p:sp>
      <p:sp>
        <p:nvSpPr>
          <p:cNvPr id="74" name="B74"/>
          <p:cNvSpPr/>
          <p:nvPr/>
        </p:nvSpPr>
        <p:spPr>
          <a:xfrm>
            <a:off x="3746500" y="3403600"/>
            <a:ext cx="1460500" cy="558800"/>
          </a:xfrm>
          <a:prstGeom prst="roundRect">
            <a:avLst>
              <a:gd name="adj" fmla="val 12000"/>
            </a:avLst>
          </a:prstGeom>
          <a:solidFill>
            <a:srgbClr val="E3F2FD"/>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Sleep Appt</a:t>
            </a:r>
          </a:p>
          <a:p>
            <a:pPr algn="ctr">
              <a:lnSpc>
                <a:spcPts val="1400"/>
              </a:lnSpc>
              <a:buNone/>
            </a:pPr>
            <a:r>
              <a:rPr lang="en-US" sz="1400" dirty="0">
                <a:solidFill>
                  <a:srgbClr val="333333"/>
                </a:solidFill>
                <a:latin typeface="Arial"/>
              </a:rPr>
              <a:t>Scheduled</a:t>
            </a:r>
          </a:p>
        </p:txBody>
      </p:sp>
      <p:sp>
        <p:nvSpPr>
          <p:cNvPr id="75" name="A75"/>
          <p:cNvSpPr/>
          <p:nvPr/>
        </p:nvSpPr>
        <p:spPr>
          <a:xfrm>
            <a:off x="5232400" y="3632200"/>
            <a:ext cx="152400" cy="101600"/>
          </a:xfrm>
          <a:prstGeom prst="rightArrow">
            <a:avLst/>
          </a:prstGeom>
          <a:solidFill>
            <a:srgbClr val="64B5F6"/>
          </a:solidFill>
          <a:ln w="0">
            <a:noFill/>
          </a:ln>
        </p:spPr>
        <p:txBody>
          <a:bodyPr/>
          <a:lstStyle/>
          <a:p>
            <a:endParaRPr lang="en-US"/>
          </a:p>
        </p:txBody>
      </p:sp>
      <p:sp>
        <p:nvSpPr>
          <p:cNvPr id="76" name="B76"/>
          <p:cNvSpPr/>
          <p:nvPr/>
        </p:nvSpPr>
        <p:spPr>
          <a:xfrm>
            <a:off x="5435600" y="3403600"/>
            <a:ext cx="1460500" cy="558800"/>
          </a:xfrm>
          <a:prstGeom prst="roundRect">
            <a:avLst>
              <a:gd name="adj" fmla="val 12000"/>
            </a:avLst>
          </a:prstGeom>
          <a:solidFill>
            <a:srgbClr val="E3F2FD"/>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In-lab PSG</a:t>
            </a:r>
          </a:p>
          <a:p>
            <a:pPr algn="ctr">
              <a:lnSpc>
                <a:spcPts val="1400"/>
              </a:lnSpc>
              <a:buNone/>
            </a:pPr>
            <a:r>
              <a:rPr lang="en-US" sz="1400" dirty="0">
                <a:solidFill>
                  <a:srgbClr val="333333"/>
                </a:solidFill>
                <a:latin typeface="Arial"/>
              </a:rPr>
              <a:t>Completed</a:t>
            </a:r>
          </a:p>
        </p:txBody>
      </p:sp>
      <p:sp>
        <p:nvSpPr>
          <p:cNvPr id="77" name="A77"/>
          <p:cNvSpPr/>
          <p:nvPr/>
        </p:nvSpPr>
        <p:spPr>
          <a:xfrm>
            <a:off x="6921500" y="3632200"/>
            <a:ext cx="152400" cy="101600"/>
          </a:xfrm>
          <a:prstGeom prst="rightArrow">
            <a:avLst/>
          </a:prstGeom>
          <a:solidFill>
            <a:srgbClr val="64B5F6"/>
          </a:solidFill>
          <a:ln w="0">
            <a:noFill/>
          </a:ln>
        </p:spPr>
        <p:txBody>
          <a:bodyPr/>
          <a:lstStyle/>
          <a:p>
            <a:endParaRPr lang="en-US"/>
          </a:p>
        </p:txBody>
      </p:sp>
      <p:sp>
        <p:nvSpPr>
          <p:cNvPr id="78" name="B78"/>
          <p:cNvSpPr/>
          <p:nvPr/>
        </p:nvSpPr>
        <p:spPr>
          <a:xfrm>
            <a:off x="7124700" y="3403600"/>
            <a:ext cx="1460500" cy="558800"/>
          </a:xfrm>
          <a:prstGeom prst="roundRect">
            <a:avLst>
              <a:gd name="adj" fmla="val 12000"/>
            </a:avLst>
          </a:prstGeom>
          <a:solidFill>
            <a:srgbClr val="E3F2FD"/>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Discuss w/</a:t>
            </a:r>
          </a:p>
          <a:p>
            <a:pPr algn="ctr">
              <a:lnSpc>
                <a:spcPts val="1400"/>
              </a:lnSpc>
              <a:buNone/>
            </a:pPr>
            <a:r>
              <a:rPr lang="en-US" sz="1400" dirty="0">
                <a:solidFill>
                  <a:srgbClr val="333333"/>
                </a:solidFill>
                <a:latin typeface="Arial"/>
              </a:rPr>
              <a:t>Sleep Provider</a:t>
            </a:r>
          </a:p>
        </p:txBody>
      </p:sp>
      <p:sp>
        <p:nvSpPr>
          <p:cNvPr id="79" name="L79"/>
          <p:cNvSpPr/>
          <p:nvPr/>
        </p:nvSpPr>
        <p:spPr>
          <a:xfrm>
            <a:off x="2057400" y="4013200"/>
            <a:ext cx="2286000" cy="152400"/>
          </a:xfrm>
          <a:prstGeom prst="rect">
            <a:avLst/>
          </a:prstGeom>
          <a:noFill/>
          <a:ln w="0">
            <a:noFill/>
          </a:ln>
        </p:spPr>
        <p:txBody>
          <a:bodyPr wrap="square" lIns="0" tIns="0" rIns="0" bIns="0" anchor="ctr"/>
          <a:lstStyle/>
          <a:p>
            <a:pPr algn="l">
              <a:buNone/>
            </a:pPr>
            <a:r>
              <a:rPr lang="en-US" sz="1400" b="1" dirty="0">
                <a:solidFill>
                  <a:srgbClr val="C62828"/>
                </a:solidFill>
                <a:latin typeface="Arial"/>
              </a:rPr>
              <a:t>Cardiology / Neuro / Other</a:t>
            </a:r>
          </a:p>
        </p:txBody>
      </p:sp>
      <p:sp>
        <p:nvSpPr>
          <p:cNvPr id="80" name="B80"/>
          <p:cNvSpPr/>
          <p:nvPr/>
        </p:nvSpPr>
        <p:spPr>
          <a:xfrm>
            <a:off x="2057400" y="4165600"/>
            <a:ext cx="1460500" cy="558800"/>
          </a:xfrm>
          <a:prstGeom prst="roundRect">
            <a:avLst>
              <a:gd name="adj" fmla="val 12000"/>
            </a:avLst>
          </a:prstGeom>
          <a:solidFill>
            <a:srgbClr val="FFEBEE"/>
          </a:solidFill>
          <a:ln w="0">
            <a:noFill/>
          </a:ln>
        </p:spPr>
        <p:txBody>
          <a:bodyPr wrap="square" lIns="36576" tIns="27432" rIns="36576" bIns="27432" anchor="ctr"/>
          <a:lstStyle/>
          <a:p>
            <a:pPr algn="ctr">
              <a:lnSpc>
                <a:spcPts val="1400"/>
              </a:lnSpc>
              <a:buNone/>
            </a:pPr>
            <a:r>
              <a:rPr lang="en-US" sz="1400" dirty="0">
                <a:solidFill>
                  <a:srgbClr val="C62828"/>
                </a:solidFill>
                <a:latin typeface="Arial"/>
              </a:rPr>
              <a:t>Referral</a:t>
            </a:r>
          </a:p>
          <a:p>
            <a:pPr algn="ctr">
              <a:lnSpc>
                <a:spcPts val="1400"/>
              </a:lnSpc>
              <a:buNone/>
            </a:pPr>
            <a:r>
              <a:rPr lang="en-US" sz="1400" dirty="0">
                <a:solidFill>
                  <a:srgbClr val="C62828"/>
                </a:solidFill>
                <a:latin typeface="Arial"/>
              </a:rPr>
              <a:t>Placed</a:t>
            </a:r>
          </a:p>
        </p:txBody>
      </p:sp>
      <p:sp>
        <p:nvSpPr>
          <p:cNvPr id="81" name="A81"/>
          <p:cNvSpPr/>
          <p:nvPr/>
        </p:nvSpPr>
        <p:spPr>
          <a:xfrm>
            <a:off x="3543300" y="4394200"/>
            <a:ext cx="152400" cy="101600"/>
          </a:xfrm>
          <a:prstGeom prst="rightArrow">
            <a:avLst/>
          </a:prstGeom>
          <a:solidFill>
            <a:srgbClr val="E57373"/>
          </a:solidFill>
          <a:ln w="0">
            <a:noFill/>
          </a:ln>
        </p:spPr>
        <p:txBody>
          <a:bodyPr/>
          <a:lstStyle/>
          <a:p>
            <a:endParaRPr lang="en-US"/>
          </a:p>
        </p:txBody>
      </p:sp>
      <p:sp>
        <p:nvSpPr>
          <p:cNvPr id="82" name="B82"/>
          <p:cNvSpPr/>
          <p:nvPr/>
        </p:nvSpPr>
        <p:spPr>
          <a:xfrm>
            <a:off x="3746500" y="4165600"/>
            <a:ext cx="1460500" cy="558800"/>
          </a:xfrm>
          <a:prstGeom prst="roundRect">
            <a:avLst>
              <a:gd name="adj" fmla="val 12000"/>
            </a:avLst>
          </a:prstGeom>
          <a:solidFill>
            <a:srgbClr val="FFEBEE"/>
          </a:solidFill>
          <a:ln w="0">
            <a:noFill/>
          </a:ln>
        </p:spPr>
        <p:txBody>
          <a:bodyPr wrap="square" lIns="36576" tIns="27432" rIns="36576" bIns="27432" anchor="ctr"/>
          <a:lstStyle/>
          <a:p>
            <a:pPr algn="ctr">
              <a:lnSpc>
                <a:spcPts val="1400"/>
              </a:lnSpc>
              <a:buNone/>
            </a:pPr>
            <a:r>
              <a:rPr lang="en-US" sz="1400" dirty="0">
                <a:solidFill>
                  <a:srgbClr val="C62828"/>
                </a:solidFill>
                <a:latin typeface="Arial"/>
              </a:rPr>
              <a:t>Specialist</a:t>
            </a:r>
          </a:p>
          <a:p>
            <a:pPr algn="ctr">
              <a:lnSpc>
                <a:spcPts val="1400"/>
              </a:lnSpc>
              <a:buNone/>
            </a:pPr>
            <a:r>
              <a:rPr lang="en-US" sz="1400" dirty="0">
                <a:solidFill>
                  <a:srgbClr val="C62828"/>
                </a:solidFill>
                <a:latin typeface="Arial"/>
              </a:rPr>
              <a:t>Workup</a:t>
            </a:r>
          </a:p>
        </p:txBody>
      </p:sp>
      <p:sp>
        <p:nvSpPr>
          <p:cNvPr id="83" name="A83"/>
          <p:cNvSpPr/>
          <p:nvPr/>
        </p:nvSpPr>
        <p:spPr>
          <a:xfrm>
            <a:off x="5232400" y="4394200"/>
            <a:ext cx="152400" cy="101600"/>
          </a:xfrm>
          <a:prstGeom prst="rightArrow">
            <a:avLst/>
          </a:prstGeom>
          <a:solidFill>
            <a:srgbClr val="E57373"/>
          </a:solidFill>
          <a:ln w="0">
            <a:noFill/>
          </a:ln>
        </p:spPr>
        <p:txBody>
          <a:bodyPr/>
          <a:lstStyle/>
          <a:p>
            <a:endParaRPr lang="en-US"/>
          </a:p>
        </p:txBody>
      </p:sp>
      <p:sp>
        <p:nvSpPr>
          <p:cNvPr id="84" name="B84"/>
          <p:cNvSpPr/>
          <p:nvPr/>
        </p:nvSpPr>
        <p:spPr>
          <a:xfrm>
            <a:off x="5435600" y="4165600"/>
            <a:ext cx="1460500" cy="558800"/>
          </a:xfrm>
          <a:prstGeom prst="roundRect">
            <a:avLst>
              <a:gd name="adj" fmla="val 12000"/>
            </a:avLst>
          </a:prstGeom>
          <a:solidFill>
            <a:srgbClr val="FFEBEE"/>
          </a:solidFill>
          <a:ln w="0">
            <a:noFill/>
          </a:ln>
        </p:spPr>
        <p:txBody>
          <a:bodyPr wrap="square" lIns="36576" tIns="27432" rIns="36576" bIns="27432" anchor="ctr"/>
          <a:lstStyle/>
          <a:p>
            <a:pPr algn="ctr">
              <a:lnSpc>
                <a:spcPts val="1400"/>
              </a:lnSpc>
              <a:buNone/>
            </a:pPr>
            <a:r>
              <a:rPr lang="en-US" sz="1400" dirty="0">
                <a:solidFill>
                  <a:srgbClr val="C62828"/>
                </a:solidFill>
                <a:latin typeface="Arial"/>
              </a:rPr>
              <a:t>Consultation</a:t>
            </a:r>
          </a:p>
          <a:p>
            <a:pPr algn="ctr">
              <a:lnSpc>
                <a:spcPts val="1400"/>
              </a:lnSpc>
              <a:buNone/>
            </a:pPr>
            <a:r>
              <a:rPr lang="en-US" sz="1400" dirty="0">
                <a:solidFill>
                  <a:srgbClr val="C62828"/>
                </a:solidFill>
                <a:latin typeface="Arial"/>
              </a:rPr>
              <a:t>Complete</a:t>
            </a:r>
          </a:p>
        </p:txBody>
      </p:sp>
      <p:sp>
        <p:nvSpPr>
          <p:cNvPr id="85" name="C85"/>
          <p:cNvSpPr/>
          <p:nvPr/>
        </p:nvSpPr>
        <p:spPr>
          <a:xfrm>
            <a:off x="838200" y="4826000"/>
            <a:ext cx="2476500" cy="406400"/>
          </a:xfrm>
          <a:prstGeom prst="roundRect">
            <a:avLst>
              <a:gd name="adj" fmla="val 15000"/>
            </a:avLst>
          </a:prstGeom>
          <a:solidFill>
            <a:srgbClr val="FFF3E0"/>
          </a:solidFill>
          <a:ln w="9525">
            <a:solidFill>
              <a:srgbClr val="E65100"/>
            </a:solidFill>
            <a:prstDash val="dash"/>
          </a:ln>
        </p:spPr>
        <p:txBody>
          <a:bodyPr wrap="square" lIns="36576" tIns="0" rIns="36576" bIns="0" anchor="ctr"/>
          <a:lstStyle/>
          <a:p>
            <a:pPr algn="ctr">
              <a:buNone/>
            </a:pPr>
            <a:r>
              <a:rPr lang="en-US" sz="1400" dirty="0">
                <a:solidFill>
                  <a:srgbClr val="BF360C"/>
                </a:solidFill>
                <a:latin typeface="Arial"/>
              </a:rPr>
              <a:t>⚠ Referral may not be placed</a:t>
            </a:r>
          </a:p>
        </p:txBody>
      </p:sp>
      <p:sp>
        <p:nvSpPr>
          <p:cNvPr id="86" name="C86"/>
          <p:cNvSpPr/>
          <p:nvPr/>
        </p:nvSpPr>
        <p:spPr>
          <a:xfrm>
            <a:off x="3429000" y="4826000"/>
            <a:ext cx="2476500" cy="406400"/>
          </a:xfrm>
          <a:prstGeom prst="roundRect">
            <a:avLst>
              <a:gd name="adj" fmla="val 15000"/>
            </a:avLst>
          </a:prstGeom>
          <a:solidFill>
            <a:srgbClr val="FFF3E0"/>
          </a:solidFill>
          <a:ln w="9525">
            <a:solidFill>
              <a:srgbClr val="E65100"/>
            </a:solidFill>
            <a:prstDash val="dash"/>
          </a:ln>
        </p:spPr>
        <p:txBody>
          <a:bodyPr wrap="square" lIns="36576" tIns="0" rIns="36576" bIns="0" anchor="ctr"/>
          <a:lstStyle/>
          <a:p>
            <a:pPr algn="ctr">
              <a:buNone/>
            </a:pPr>
            <a:r>
              <a:rPr lang="en-US" sz="1400" dirty="0">
                <a:solidFill>
                  <a:srgbClr val="BF360C"/>
                </a:solidFill>
                <a:latin typeface="Arial"/>
              </a:rPr>
              <a:t>⚠ Special resources required</a:t>
            </a:r>
          </a:p>
        </p:txBody>
      </p:sp>
      <p:sp>
        <p:nvSpPr>
          <p:cNvPr id="87" name="C87"/>
          <p:cNvSpPr/>
          <p:nvPr/>
        </p:nvSpPr>
        <p:spPr>
          <a:xfrm>
            <a:off x="6019800" y="4826000"/>
            <a:ext cx="2476500" cy="406400"/>
          </a:xfrm>
          <a:prstGeom prst="roundRect">
            <a:avLst>
              <a:gd name="adj" fmla="val 15000"/>
            </a:avLst>
          </a:prstGeom>
          <a:solidFill>
            <a:srgbClr val="FFF3E0"/>
          </a:solidFill>
          <a:ln w="9525">
            <a:solidFill>
              <a:srgbClr val="E65100"/>
            </a:solidFill>
            <a:prstDash val="dash"/>
          </a:ln>
        </p:spPr>
        <p:txBody>
          <a:bodyPr wrap="square" lIns="36576" tIns="0" rIns="36576" bIns="0" anchor="ctr"/>
          <a:lstStyle/>
          <a:p>
            <a:pPr algn="ctr">
              <a:buNone/>
            </a:pPr>
            <a:r>
              <a:rPr lang="en-US" sz="1400" dirty="0">
                <a:solidFill>
                  <a:srgbClr val="BF360C"/>
                </a:solidFill>
                <a:latin typeface="Arial"/>
              </a:rPr>
              <a:t>⚠ No single pathway owner</a:t>
            </a:r>
          </a:p>
        </p:txBody>
      </p:sp>
      <p:sp>
        <p:nvSpPr>
          <p:cNvPr id="88" name="C88"/>
          <p:cNvSpPr/>
          <p:nvPr/>
        </p:nvSpPr>
        <p:spPr>
          <a:xfrm>
            <a:off x="8610600" y="4826000"/>
            <a:ext cx="2476500" cy="406400"/>
          </a:xfrm>
          <a:prstGeom prst="roundRect">
            <a:avLst>
              <a:gd name="adj" fmla="val 15000"/>
            </a:avLst>
          </a:prstGeom>
          <a:solidFill>
            <a:srgbClr val="FFF3E0"/>
          </a:solidFill>
          <a:ln w="9525">
            <a:solidFill>
              <a:srgbClr val="E65100"/>
            </a:solidFill>
            <a:prstDash val="dash"/>
          </a:ln>
        </p:spPr>
        <p:txBody>
          <a:bodyPr wrap="square" lIns="36576" tIns="0" rIns="36576" bIns="0" anchor="ctr"/>
          <a:lstStyle/>
          <a:p>
            <a:pPr algn="ctr">
              <a:buNone/>
            </a:pPr>
            <a:r>
              <a:rPr lang="en-US" sz="1400" dirty="0">
                <a:solidFill>
                  <a:srgbClr val="BF360C"/>
                </a:solidFill>
                <a:latin typeface="Arial"/>
              </a:rPr>
              <a:t>⚠ Lost to follow-up</a:t>
            </a:r>
          </a:p>
        </p:txBody>
      </p:sp>
      <p:sp>
        <p:nvSpPr>
          <p:cNvPr id="89" name="Div"/>
          <p:cNvSpPr/>
          <p:nvPr/>
        </p:nvSpPr>
        <p:spPr>
          <a:xfrm>
            <a:off x="838200" y="5308600"/>
            <a:ext cx="10515600" cy="12700"/>
          </a:xfrm>
          <a:prstGeom prst="rect">
            <a:avLst/>
          </a:prstGeom>
          <a:solidFill>
            <a:srgbClr val="CCCCCC"/>
          </a:solidFill>
          <a:ln w="0">
            <a:noFill/>
          </a:ln>
        </p:spPr>
        <p:txBody>
          <a:bodyPr/>
          <a:lstStyle/>
          <a:p>
            <a:endParaRPr lang="en-US"/>
          </a:p>
        </p:txBody>
      </p:sp>
      <p:sp>
        <p:nvSpPr>
          <p:cNvPr id="90" name="L90"/>
          <p:cNvSpPr/>
          <p:nvPr/>
        </p:nvSpPr>
        <p:spPr>
          <a:xfrm>
            <a:off x="838200" y="5372100"/>
            <a:ext cx="3175000" cy="228600"/>
          </a:xfrm>
          <a:prstGeom prst="rect">
            <a:avLst/>
          </a:prstGeom>
          <a:noFill/>
          <a:ln w="0">
            <a:noFill/>
          </a:ln>
        </p:spPr>
        <p:txBody>
          <a:bodyPr wrap="square" lIns="0" tIns="0" rIns="0" bIns="0" anchor="ctr"/>
          <a:lstStyle/>
          <a:p>
            <a:pPr algn="l">
              <a:buNone/>
            </a:pPr>
            <a:r>
              <a:rPr lang="en-US" sz="1400" b="1" dirty="0">
                <a:solidFill>
                  <a:srgbClr val="110057"/>
                </a:solidFill>
                <a:latin typeface="Arial"/>
              </a:rPr>
              <a:t>So what can you do?</a:t>
            </a:r>
          </a:p>
        </p:txBody>
      </p:sp>
      <p:sp>
        <p:nvSpPr>
          <p:cNvPr id="91" name="Act1"/>
          <p:cNvSpPr/>
          <p:nvPr/>
        </p:nvSpPr>
        <p:spPr>
          <a:xfrm>
            <a:off x="838200" y="5626100"/>
            <a:ext cx="3365500" cy="1079500"/>
          </a:xfrm>
          <a:prstGeom prst="roundRect">
            <a:avLst>
              <a:gd name="adj" fmla="val 12000"/>
            </a:avLst>
          </a:prstGeom>
          <a:solidFill>
            <a:srgbClr val="EDE7F6"/>
          </a:solidFill>
          <a:ln w="0">
            <a:noFill/>
          </a:ln>
        </p:spPr>
        <p:txBody>
          <a:bodyPr wrap="square" lIns="54864" tIns="36576" rIns="54864" bIns="36576" anchor="ctr"/>
          <a:lstStyle/>
          <a:p>
            <a:pPr algn="l">
              <a:buNone/>
            </a:pPr>
            <a:r>
              <a:rPr lang="en-US" sz="1400" b="1" dirty="0">
                <a:solidFill>
                  <a:srgbClr val="110057"/>
                </a:solidFill>
                <a:latin typeface="Arial"/>
              </a:rPr>
              <a:t>Call or message me</a:t>
            </a:r>
          </a:p>
          <a:p>
            <a:pPr algn="l">
              <a:buNone/>
            </a:pPr>
            <a:r>
              <a:rPr lang="en-US" sz="1400" dirty="0">
                <a:solidFill>
                  <a:srgbClr val="444444"/>
                </a:solidFill>
                <a:latin typeface="Arial"/>
              </a:rPr>
              <a:t>(or JB in U of U setting)</a:t>
            </a:r>
          </a:p>
        </p:txBody>
      </p:sp>
      <p:sp>
        <p:nvSpPr>
          <p:cNvPr id="92" name="Act2"/>
          <p:cNvSpPr/>
          <p:nvPr/>
        </p:nvSpPr>
        <p:spPr>
          <a:xfrm>
            <a:off x="4305300" y="5626100"/>
            <a:ext cx="3365500" cy="1079500"/>
          </a:xfrm>
          <a:prstGeom prst="roundRect">
            <a:avLst>
              <a:gd name="adj" fmla="val 12000"/>
            </a:avLst>
          </a:prstGeom>
          <a:solidFill>
            <a:srgbClr val="E8F5E9"/>
          </a:solidFill>
          <a:ln w="0">
            <a:noFill/>
          </a:ln>
        </p:spPr>
        <p:txBody>
          <a:bodyPr wrap="square" lIns="54864" tIns="36576" rIns="54864" bIns="36576" anchor="ctr"/>
          <a:lstStyle/>
          <a:p>
            <a:pPr algn="l">
              <a:buNone/>
            </a:pPr>
            <a:r>
              <a:rPr lang="en-US" sz="1400" b="1" dirty="0">
                <a:solidFill>
                  <a:srgbClr val="1B5E20"/>
                </a:solidFill>
                <a:latin typeface="Arial"/>
              </a:rPr>
              <a:t>Consultative service</a:t>
            </a:r>
          </a:p>
          <a:p>
            <a:pPr algn="l">
              <a:buNone/>
            </a:pPr>
            <a:r>
              <a:rPr lang="en-US" sz="1400" dirty="0">
                <a:solidFill>
                  <a:srgbClr val="444444"/>
                </a:solidFill>
                <a:latin typeface="Arial"/>
              </a:rPr>
              <a:t>To clinic referral</a:t>
            </a:r>
          </a:p>
        </p:txBody>
      </p:sp>
      <p:sp>
        <p:nvSpPr>
          <p:cNvPr id="93" name="Act3"/>
          <p:cNvSpPr/>
          <p:nvPr/>
        </p:nvSpPr>
        <p:spPr>
          <a:xfrm>
            <a:off x="7772400" y="5626100"/>
            <a:ext cx="3365500" cy="1079500"/>
          </a:xfrm>
          <a:prstGeom prst="roundRect">
            <a:avLst>
              <a:gd name="adj" fmla="val 12000"/>
            </a:avLst>
          </a:prstGeom>
          <a:solidFill>
            <a:srgbClr val="E3F2FD"/>
          </a:solidFill>
          <a:ln w="0">
            <a:noFill/>
          </a:ln>
        </p:spPr>
        <p:txBody>
          <a:bodyPr wrap="square" lIns="54864" tIns="36576" rIns="54864" bIns="36576" anchor="ctr"/>
          <a:lstStyle/>
          <a:p>
            <a:pPr algn="l">
              <a:buNone/>
            </a:pPr>
            <a:r>
              <a:rPr lang="en-US" sz="1400" b="1" dirty="0">
                <a:solidFill>
                  <a:srgbClr val="0D47A1"/>
                </a:solidFill>
                <a:latin typeface="Arial"/>
              </a:rPr>
              <a:t>Pulm disease navigator (future)</a:t>
            </a:r>
          </a:p>
          <a:p>
            <a:pPr algn="l">
              <a:buNone/>
            </a:pPr>
            <a:r>
              <a:rPr lang="en-US" sz="1400" dirty="0">
                <a:solidFill>
                  <a:srgbClr val="444444"/>
                </a:solidFill>
                <a:latin typeface="Arial"/>
              </a:rPr>
              <a:t>Owns the full pathway</a:t>
            </a:r>
          </a:p>
        </p:txBody>
      </p:sp>
    </p:spTree>
    <p:extLst>
      <p:ext uri="{BB962C8B-B14F-4D97-AF65-F5344CB8AC3E}">
        <p14:creationId xmlns:p14="http://schemas.microsoft.com/office/powerpoint/2010/main" val="11044615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233B1-2A43-5B8D-D4A5-E82B973B83C3}"/>
              </a:ext>
            </a:extLst>
          </p:cNvPr>
          <p:cNvSpPr>
            <a:spLocks noGrp="1"/>
          </p:cNvSpPr>
          <p:nvPr>
            <p:ph type="title"/>
          </p:nvPr>
        </p:nvSpPr>
        <p:spPr/>
        <p:txBody>
          <a:bodyPr>
            <a:normAutofit/>
          </a:bodyPr>
          <a:lstStyle/>
          <a:p>
            <a:r>
              <a:rPr lang="en-US" sz="3200">
                <a:solidFill>
                  <a:srgbClr val="110057"/>
                </a:solidFill>
                <a:latin typeface="Arial"/>
                <a:cs typeface="Arial"/>
              </a:rPr>
              <a:t>How Did We Get Here?</a:t>
            </a:r>
          </a:p>
        </p:txBody>
      </p:sp>
      <p:sp>
        <p:nvSpPr>
          <p:cNvPr id="3" name="Content Placeholder 2">
            <a:extLst>
              <a:ext uri="{FF2B5EF4-FFF2-40B4-BE49-F238E27FC236}">
                <a16:creationId xmlns:a16="http://schemas.microsoft.com/office/drawing/2014/main" id="{63069A49-A70C-6D7F-6242-B32AA0C2E6DD}"/>
              </a:ext>
            </a:extLst>
          </p:cNvPr>
          <p:cNvSpPr>
            <a:spLocks noGrp="1"/>
          </p:cNvSpPr>
          <p:nvPr>
            <p:ph idx="1"/>
          </p:nvPr>
        </p:nvSpPr>
        <p:spPr>
          <a:xfrm>
            <a:off x="838200" y="1825625"/>
            <a:ext cx="8128000" cy="4375557"/>
          </a:xfrm>
        </p:spPr>
        <p:txBody>
          <a:bodyPr>
            <a:spAutoFit/>
          </a:bodyPr>
          <a:lstStyle/>
          <a:p>
            <a:pPr marL="0" indent="0">
              <a:buNone/>
            </a:pPr>
            <a:r>
              <a:rPr lang="en-US" sz="1800" b="1" dirty="0">
                <a:latin typeface="Arial"/>
                <a:cs typeface="Arial"/>
              </a:rPr>
              <a:t>1940s–50s</a:t>
            </a:r>
          </a:p>
          <a:p>
            <a:pPr marL="228600" indent="0">
              <a:buNone/>
            </a:pPr>
            <a:r>
              <a:rPr lang="en-US" sz="1600" dirty="0">
                <a:latin typeface="Arial"/>
                <a:cs typeface="Arial"/>
              </a:rPr>
              <a:t>CO</a:t>
            </a:r>
            <a:r>
              <a:rPr lang="en-US" sz="1600" baseline="-25000" dirty="0">
                <a:latin typeface="Arial"/>
                <a:cs typeface="Arial"/>
              </a:rPr>
              <a:t>2</a:t>
            </a:r>
            <a:r>
              <a:rPr lang="en-US" sz="1600" dirty="0">
                <a:latin typeface="Arial"/>
                <a:cs typeface="Arial"/>
              </a:rPr>
              <a:t> retention physiology first described during polio epidemics. Coma was "cerebrelia" — thought to be viral encephalitis — actually hypercapnic respiratory failure.</a:t>
            </a:r>
          </a:p>
          <a:p>
            <a:pPr indent="0">
              <a:buNone/>
            </a:pPr>
            <a:r>
              <a:rPr lang="en-US" sz="1600" dirty="0">
                <a:latin typeface="Arial"/>
                <a:cs typeface="Arial"/>
              </a:rPr>
              <a:t>	</a:t>
            </a:r>
            <a:r>
              <a:rPr lang="en-US" sz="1600" i="1" dirty="0">
                <a:solidFill>
                  <a:srgbClr val="555555"/>
                </a:solidFill>
                <a:cs typeface="Arial"/>
              </a:rPr>
              <a:t> Persistent severe hypercapnia is </a:t>
            </a:r>
            <a:r>
              <a:rPr lang="en-US" sz="1600" b="1" i="1" dirty="0">
                <a:solidFill>
                  <a:srgbClr val="555555"/>
                </a:solidFill>
                <a:cs typeface="Arial"/>
              </a:rPr>
              <a:t>only possible since</a:t>
            </a:r>
            <a:r>
              <a:rPr lang="en-US" sz="1600" i="1" dirty="0">
                <a:solidFill>
                  <a:srgbClr val="555555"/>
                </a:solidFill>
                <a:cs typeface="Arial"/>
              </a:rPr>
              <a:t> supplemental O</a:t>
            </a:r>
            <a:r>
              <a:rPr lang="en-US" sz="1600" i="1" baseline="-25000" dirty="0">
                <a:solidFill>
                  <a:srgbClr val="555555"/>
                </a:solidFill>
                <a:cs typeface="Arial"/>
              </a:rPr>
              <a:t>2</a:t>
            </a:r>
            <a:endParaRPr lang="en-US" sz="1600" dirty="0">
              <a:latin typeface="Arial"/>
              <a:cs typeface="Arial"/>
            </a:endParaRPr>
          </a:p>
          <a:p>
            <a:pPr marL="0" indent="0">
              <a:buNone/>
            </a:pPr>
            <a:endParaRPr lang="en-US" sz="800" dirty="0">
              <a:latin typeface="Arial"/>
              <a:cs typeface="Arial"/>
            </a:endParaRPr>
          </a:p>
          <a:p>
            <a:pPr marL="0" indent="0">
              <a:buNone/>
            </a:pPr>
            <a:r>
              <a:rPr lang="en-US" sz="1800" b="1" dirty="0">
                <a:latin typeface="Arial"/>
                <a:cs typeface="Arial"/>
              </a:rPr>
              <a:t>1960s</a:t>
            </a:r>
          </a:p>
          <a:p>
            <a:pPr marL="228600" indent="0">
              <a:buNone/>
            </a:pPr>
            <a:r>
              <a:rPr lang="en-US" sz="1600" dirty="0">
                <a:latin typeface="Arial"/>
                <a:cs typeface="Arial"/>
              </a:rPr>
              <a:t>Polio survivors need lifelong ventilation → March of Dimes respiratory centers (iron lungs). Centers close in 1960 (funding crisis).</a:t>
            </a:r>
          </a:p>
          <a:p>
            <a:pPr marL="0" indent="0">
              <a:buNone/>
            </a:pPr>
            <a:endParaRPr lang="en-US" sz="800" dirty="0">
              <a:latin typeface="Arial"/>
              <a:cs typeface="Arial"/>
            </a:endParaRPr>
          </a:p>
          <a:p>
            <a:pPr marL="0" indent="0">
              <a:buNone/>
            </a:pPr>
            <a:r>
              <a:rPr lang="en-US" sz="1800" b="1" dirty="0">
                <a:latin typeface="Arial"/>
                <a:cs typeface="Arial"/>
              </a:rPr>
              <a:t>1970s</a:t>
            </a:r>
          </a:p>
          <a:p>
            <a:pPr marL="228600" indent="0">
              <a:buNone/>
            </a:pPr>
            <a:r>
              <a:rPr lang="en-US" sz="1600" dirty="0">
                <a:latin typeface="Arial"/>
                <a:cs typeface="Arial"/>
              </a:rPr>
              <a:t>Care transfers to CMS → trach + home mechanical ventilators become norm. National Coverage Determination written for their use (not anticipated to last).</a:t>
            </a:r>
          </a:p>
          <a:p>
            <a:pPr marL="0" indent="0">
              <a:buNone/>
            </a:pPr>
            <a:endParaRPr lang="en-US" sz="800" dirty="0">
              <a:latin typeface="Arial"/>
              <a:cs typeface="Arial"/>
            </a:endParaRPr>
          </a:p>
          <a:p>
            <a:pPr marL="0" indent="0">
              <a:buNone/>
            </a:pPr>
            <a:endParaRPr lang="en-US" sz="1600" i="1" baseline="-25000" dirty="0">
              <a:solidFill>
                <a:srgbClr val="555555"/>
              </a:solidFill>
              <a:latin typeface="Arial"/>
              <a:cs typeface="Arial"/>
            </a:endParaRPr>
          </a:p>
        </p:txBody>
      </p:sp>
      <p:sp>
        <p:nvSpPr>
          <p:cNvPr id="5" name="Rectangle 4">
            <a:extLst>
              <a:ext uri="{FF2B5EF4-FFF2-40B4-BE49-F238E27FC236}">
                <a16:creationId xmlns:a16="http://schemas.microsoft.com/office/drawing/2014/main" id="{34A88BAD-732B-D84D-8CCB-C7BFDA362EA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6" name="Picture 2" descr="The Autumn Ghost: How the Battle Against a Polio Epidemic Revolutionized  Modern Medical Care: Wunsch, Hannah: 9781771649452: Amazon.com: Books">
            <a:extLst>
              <a:ext uri="{FF2B5EF4-FFF2-40B4-BE49-F238E27FC236}">
                <a16:creationId xmlns:a16="http://schemas.microsoft.com/office/drawing/2014/main" id="{41E39BB5-30C7-8952-BB5E-3694064E93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80586" y="2115776"/>
            <a:ext cx="2478587" cy="37165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674728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A6D484-9718-FDBF-27E5-4971B32923CD}"/>
              </a:ext>
            </a:extLst>
          </p:cNvPr>
          <p:cNvSpPr>
            <a:spLocks noGrp="1"/>
          </p:cNvSpPr>
          <p:nvPr>
            <p:ph type="title"/>
          </p:nvPr>
        </p:nvSpPr>
        <p:spPr/>
        <p:txBody>
          <a:bodyPr/>
          <a:lstStyle/>
          <a:p>
            <a:r>
              <a:rPr lang="en-US" sz="2800" dirty="0">
                <a:solidFill>
                  <a:srgbClr val="110057"/>
                </a:solidFill>
                <a:latin typeface="Arial"/>
                <a:cs typeface="Arial"/>
              </a:rPr>
              <a:t>1981–Present: CPAP → Convergence → Regulatory Split</a:t>
            </a:r>
          </a:p>
        </p:txBody>
      </p:sp>
      <p:sp>
        <p:nvSpPr>
          <p:cNvPr id="3" name="Content Placeholder 2">
            <a:extLst>
              <a:ext uri="{FF2B5EF4-FFF2-40B4-BE49-F238E27FC236}">
                <a16:creationId xmlns:a16="http://schemas.microsoft.com/office/drawing/2014/main" id="{C3178B04-1524-C5FC-6E2E-A19992D9FD93}"/>
              </a:ext>
            </a:extLst>
          </p:cNvPr>
          <p:cNvSpPr>
            <a:spLocks noGrp="1"/>
          </p:cNvSpPr>
          <p:nvPr>
            <p:ph idx="1"/>
          </p:nvPr>
        </p:nvSpPr>
        <p:spPr>
          <a:xfrm>
            <a:off x="838200" y="1825625"/>
            <a:ext cx="10515600" cy="4338624"/>
          </a:xfrm>
        </p:spPr>
        <p:txBody>
          <a:bodyPr>
            <a:spAutoFit/>
          </a:bodyPr>
          <a:lstStyle/>
          <a:p>
            <a:pPr marL="0" indent="0">
              <a:buNone/>
            </a:pPr>
            <a:r>
              <a:rPr lang="en-US" sz="1800" b="1" dirty="0">
                <a:latin typeface="Arial"/>
                <a:cs typeface="Arial"/>
              </a:rPr>
              <a:t>1981</a:t>
            </a:r>
            <a:r>
              <a:rPr lang="en-US" sz="1800" dirty="0">
                <a:latin typeface="Arial"/>
                <a:cs typeface="Arial"/>
              </a:rPr>
              <a:t>  CPAP invented for OSA → later adapted as BPAP for other conditions</a:t>
            </a:r>
          </a:p>
          <a:p>
            <a:pPr marL="0" indent="0">
              <a:buNone/>
            </a:pPr>
            <a:r>
              <a:rPr lang="en-US" sz="1800" b="1" dirty="0">
                <a:latin typeface="Arial"/>
                <a:cs typeface="Arial"/>
              </a:rPr>
              <a:t>1990s</a:t>
            </a:r>
            <a:r>
              <a:rPr lang="en-US" sz="1800" dirty="0">
                <a:latin typeface="Arial"/>
                <a:cs typeface="Arial"/>
              </a:rPr>
              <a:t>  HMVs, hypoventilation devices, and SDB devices converge technologically</a:t>
            </a:r>
          </a:p>
          <a:p>
            <a:pPr marL="0" indent="0">
              <a:buNone/>
            </a:pPr>
            <a:r>
              <a:rPr lang="en-US" sz="1800" b="1" dirty="0">
                <a:latin typeface="Arial"/>
                <a:cs typeface="Arial"/>
              </a:rPr>
              <a:t>1998</a:t>
            </a:r>
            <a:r>
              <a:rPr lang="en-US" sz="1800" dirty="0">
                <a:latin typeface="Arial"/>
                <a:cs typeface="Arial"/>
              </a:rPr>
              <a:t>  CMS creates "Respiratory Assist Device" (RAD) category to avoid tsunami of requests for home ventilators; NCD written</a:t>
            </a:r>
          </a:p>
          <a:p>
            <a:pPr marL="0" indent="0">
              <a:buNone/>
            </a:pPr>
            <a:r>
              <a:rPr lang="en-US" sz="1800" b="1" dirty="0">
                <a:latin typeface="Arial"/>
                <a:cs typeface="Arial"/>
              </a:rPr>
              <a:t>2025</a:t>
            </a:r>
            <a:r>
              <a:rPr lang="en-US" sz="1800" dirty="0">
                <a:latin typeface="Arial"/>
                <a:cs typeface="Arial"/>
              </a:rPr>
              <a:t>  Same 1998 NCD still governs BPAP qualification</a:t>
            </a:r>
          </a:p>
          <a:p>
            <a:pPr marL="0" indent="0">
              <a:buNone/>
            </a:pPr>
            <a:endParaRPr lang="en-US" sz="800" dirty="0">
              <a:latin typeface="Arial"/>
              <a:cs typeface="Arial"/>
            </a:endParaRPr>
          </a:p>
          <a:p>
            <a:pPr marL="0" indent="0">
              <a:buNone/>
            </a:pPr>
            <a:r>
              <a:rPr lang="en-US" sz="1800" b="1" dirty="0">
                <a:solidFill>
                  <a:srgbClr val="110057"/>
                </a:solidFill>
                <a:latin typeface="Arial"/>
                <a:cs typeface="Arial"/>
              </a:rPr>
              <a:t>The regulatory distinction today:</a:t>
            </a:r>
          </a:p>
          <a:p>
            <a:pPr>
              <a:buFont typeface="Arial"/>
              <a:buChar char="•"/>
            </a:pPr>
            <a:r>
              <a:rPr lang="en-US" sz="1800" b="1" dirty="0">
                <a:latin typeface="Arial"/>
                <a:cs typeface="Arial"/>
              </a:rPr>
              <a:t>PAP devices = </a:t>
            </a:r>
            <a:r>
              <a:rPr lang="en-US" sz="1800" dirty="0">
                <a:latin typeface="Arial"/>
                <a:cs typeface="Arial"/>
              </a:rPr>
              <a:t>treatment for sleep apnea; either constant or bilevel </a:t>
            </a:r>
            <a:r>
              <a:rPr lang="en-US" sz="1800" b="1" dirty="0">
                <a:latin typeface="Arial"/>
                <a:cs typeface="Arial"/>
              </a:rPr>
              <a:t> </a:t>
            </a:r>
          </a:p>
          <a:p>
            <a:pPr>
              <a:buFont typeface="Arial"/>
              <a:buChar char="•"/>
            </a:pPr>
            <a:r>
              <a:rPr lang="en-US" sz="1800" b="1" dirty="0">
                <a:latin typeface="Arial"/>
                <a:cs typeface="Arial"/>
              </a:rPr>
              <a:t>RADs</a:t>
            </a:r>
            <a:r>
              <a:rPr lang="en-US" sz="1800" dirty="0">
                <a:latin typeface="Arial"/>
                <a:cs typeface="Arial"/>
              </a:rPr>
              <a:t> = bilevel devices ± backup rate; evolved from CPAP</a:t>
            </a:r>
          </a:p>
          <a:p>
            <a:pPr>
              <a:buFont typeface="Arial"/>
              <a:buChar char="•"/>
            </a:pPr>
            <a:r>
              <a:rPr lang="en-US" sz="1800" b="1" dirty="0">
                <a:latin typeface="Arial"/>
                <a:cs typeface="Arial"/>
              </a:rPr>
              <a:t>HMVs</a:t>
            </a:r>
            <a:r>
              <a:rPr lang="en-US" sz="1800" dirty="0">
                <a:latin typeface="Arial"/>
                <a:cs typeface="Arial"/>
              </a:rPr>
              <a:t> = evolved from hospital ventilators; designed as life-support</a:t>
            </a:r>
          </a:p>
          <a:p>
            <a:pPr marL="0" indent="0">
              <a:buNone/>
            </a:pPr>
            <a:endParaRPr lang="en-US" sz="800" dirty="0">
              <a:latin typeface="Arial"/>
              <a:cs typeface="Arial"/>
            </a:endParaRPr>
          </a:p>
          <a:p>
            <a:pPr marL="0" indent="0">
              <a:buNone/>
            </a:pPr>
            <a:r>
              <a:rPr lang="en-US" sz="1800" dirty="0">
                <a:latin typeface="Arial"/>
                <a:cs typeface="Arial"/>
              </a:rPr>
              <a:t>Each got its own National Coverage Determination with distinct qualification pathways despite technological convergence</a:t>
            </a:r>
          </a:p>
        </p:txBody>
      </p:sp>
      <p:sp>
        <p:nvSpPr>
          <p:cNvPr id="4" name="Rectangle 3">
            <a:extLst>
              <a:ext uri="{FF2B5EF4-FFF2-40B4-BE49-F238E27FC236}">
                <a16:creationId xmlns:a16="http://schemas.microsoft.com/office/drawing/2014/main" id="{A27790B2-7F56-2C4E-9C6C-47780B617D6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1166182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C2F4853-757A-3D98-395A-05609F8D4F2A}"/>
              </a:ext>
            </a:extLst>
          </p:cNvPr>
          <p:cNvSpPr>
            <a:spLocks noGrp="1"/>
          </p:cNvSpPr>
          <p:nvPr>
            <p:ph type="title"/>
          </p:nvPr>
        </p:nvSpPr>
        <p:spPr>
          <a:xfrm>
            <a:off x="838200" y="368300"/>
            <a:ext cx="10515600" cy="889000"/>
          </a:xfrm>
        </p:spPr>
        <p:txBody>
          <a:bodyPr>
            <a:normAutofit/>
          </a:bodyPr>
          <a:lstStyle/>
          <a:p>
            <a:r>
              <a:rPr lang="en-US" sz="2400">
                <a:latin typeface="Arial"/>
                <a:cs typeface="Arial"/>
              </a:rPr>
              <a:t>Home NIV Devices: RAD vs. PAP vs. HMV</a:t>
            </a:r>
          </a:p>
        </p:txBody>
      </p:sp>
      <p:graphicFrame>
        <p:nvGraphicFramePr>
          <p:cNvPr id="3" name="Table 2">
            <a:extLst>
              <a:ext uri="{FF2B5EF4-FFF2-40B4-BE49-F238E27FC236}">
                <a16:creationId xmlns:a16="http://schemas.microsoft.com/office/drawing/2014/main" id="{35148F9D-6F89-1349-9588-D9D51B792C3B}"/>
              </a:ext>
            </a:extLst>
          </p:cNvPr>
          <p:cNvGraphicFramePr>
            <a:graphicFrameLocks noGrp="1"/>
          </p:cNvGraphicFramePr>
          <p:nvPr>
            <p:extLst>
              <p:ext uri="{D42A27DB-BD31-4B8C-83A1-F6EECF244321}">
                <p14:modId xmlns:p14="http://schemas.microsoft.com/office/powerpoint/2010/main" val="1104138497"/>
              </p:ext>
            </p:extLst>
          </p:nvPr>
        </p:nvGraphicFramePr>
        <p:xfrm>
          <a:off x="838200" y="1397000"/>
          <a:ext cx="10668000" cy="4800600"/>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077268383"/>
                    </a:ext>
                  </a:extLst>
                </a:gridCol>
                <a:gridCol w="3048000">
                  <a:extLst>
                    <a:ext uri="{9D8B030D-6E8A-4147-A177-3AD203B41FA5}">
                      <a16:colId xmlns:a16="http://schemas.microsoft.com/office/drawing/2014/main" val="2337357478"/>
                    </a:ext>
                  </a:extLst>
                </a:gridCol>
                <a:gridCol w="3048000">
                  <a:extLst>
                    <a:ext uri="{9D8B030D-6E8A-4147-A177-3AD203B41FA5}">
                      <a16:colId xmlns:a16="http://schemas.microsoft.com/office/drawing/2014/main" val="2235139196"/>
                    </a:ext>
                  </a:extLst>
                </a:gridCol>
                <a:gridCol w="3048000">
                  <a:extLst>
                    <a:ext uri="{9D8B030D-6E8A-4147-A177-3AD203B41FA5}">
                      <a16:colId xmlns:a16="http://schemas.microsoft.com/office/drawing/2014/main" val="2552559884"/>
                    </a:ext>
                  </a:extLst>
                </a:gridCol>
              </a:tblGrid>
              <a:tr h="330200">
                <a:tc>
                  <a:txBody>
                    <a:bodyPr/>
                    <a:lstStyle/>
                    <a:p>
                      <a:pPr algn="ctr"/>
                      <a:endParaRPr lang="en-US" sz="1400" b="1">
                        <a:solidFill>
                          <a:srgbClr val="FFFFFF"/>
                        </a:solidFill>
                        <a:latin typeface="Arial"/>
                        <a:cs typeface="Arial"/>
                      </a:endParaRPr>
                    </a:p>
                  </a:txBody>
                  <a:tcPr anchor="ctr">
                    <a:solidFill>
                      <a:srgbClr val="110057"/>
                    </a:solidFill>
                  </a:tcPr>
                </a:tc>
                <a:tc>
                  <a:txBody>
                    <a:bodyPr/>
                    <a:lstStyle/>
                    <a:p>
                      <a:pPr algn="ctr"/>
                      <a:r>
                        <a:rPr lang="en-US" sz="1400" b="1">
                          <a:solidFill>
                            <a:srgbClr val="FFFFFF"/>
                          </a:solidFill>
                          <a:latin typeface="Arial"/>
                          <a:cs typeface="Arial"/>
                        </a:rPr>
                        <a:t>PAP for Sleep Breathing</a:t>
                      </a:r>
                    </a:p>
                  </a:txBody>
                  <a:tcPr anchor="ctr">
                    <a:solidFill>
                      <a:srgbClr val="110057"/>
                    </a:solidFill>
                  </a:tcPr>
                </a:tc>
                <a:tc>
                  <a:txBody>
                    <a:bodyPr/>
                    <a:lstStyle/>
                    <a:p>
                      <a:pPr algn="ctr"/>
                      <a:r>
                        <a:rPr lang="en-US" sz="1400" b="1">
                          <a:solidFill>
                            <a:srgbClr val="FFFFFF"/>
                          </a:solidFill>
                          <a:latin typeface="Arial"/>
                          <a:cs typeface="Arial"/>
                        </a:rPr>
                        <a:t>RAD</a:t>
                      </a:r>
                    </a:p>
                  </a:txBody>
                  <a:tcPr anchor="ctr">
                    <a:solidFill>
                      <a:srgbClr val="110057"/>
                    </a:solidFill>
                  </a:tcPr>
                </a:tc>
                <a:tc>
                  <a:txBody>
                    <a:bodyPr/>
                    <a:lstStyle/>
                    <a:p>
                      <a:pPr algn="ctr"/>
                      <a:r>
                        <a:rPr lang="en-US" sz="1400" b="1">
                          <a:solidFill>
                            <a:srgbClr val="FFFFFF"/>
                          </a:solidFill>
                          <a:latin typeface="Arial"/>
                          <a:cs typeface="Arial"/>
                        </a:rPr>
                        <a:t>HMV</a:t>
                      </a:r>
                    </a:p>
                  </a:txBody>
                  <a:tcPr anchor="ctr">
                    <a:solidFill>
                      <a:srgbClr val="110057"/>
                    </a:solidFill>
                  </a:tcPr>
                </a:tc>
                <a:extLst>
                  <a:ext uri="{0D108BD9-81ED-4DB2-BD59-A6C34878D82A}">
                    <a16:rowId xmlns:a16="http://schemas.microsoft.com/office/drawing/2014/main" val="3673407298"/>
                  </a:ext>
                </a:extLst>
              </a:tr>
              <a:tr h="558800">
                <a:tc>
                  <a:txBody>
                    <a:bodyPr/>
                    <a:lstStyle/>
                    <a:p>
                      <a:r>
                        <a:rPr lang="en-US" sz="1400" b="1">
                          <a:solidFill>
                            <a:srgbClr val="333333"/>
                          </a:solidFill>
                          <a:latin typeface="Arial"/>
                          <a:cs typeface="Arial"/>
                        </a:rPr>
                        <a:t>What it is</a:t>
                      </a:r>
                    </a:p>
                  </a:txBody>
                  <a:tcPr anchor="ctr">
                    <a:solidFill>
                      <a:srgbClr val="E8E1F5"/>
                    </a:solidFill>
                  </a:tcPr>
                </a:tc>
                <a:tc>
                  <a:txBody>
                    <a:bodyPr/>
                    <a:lstStyle/>
                    <a:p>
                      <a:pPr algn="ctr"/>
                      <a:r>
                        <a:rPr lang="en-US" sz="1400">
                          <a:solidFill>
                            <a:srgbClr val="333333"/>
                          </a:solidFill>
                          <a:latin typeface="Arial"/>
                          <a:cs typeface="Arial"/>
                        </a:rPr>
                        <a:t>CPAP / BPAP
(for OSA / SDB)</a:t>
                      </a:r>
                      <a:endParaRPr lang="en-US" sz="1400" dirty="0">
                        <a:solidFill>
                          <a:srgbClr val="333333"/>
                        </a:solidFill>
                        <a:latin typeface="Arial"/>
                        <a:cs typeface="Arial"/>
                      </a:endParaRPr>
                    </a:p>
                  </a:txBody>
                  <a:tcPr anchor="ctr">
                    <a:solidFill>
                      <a:srgbClr val="FFFFFF"/>
                    </a:solidFill>
                  </a:tcPr>
                </a:tc>
                <a:tc>
                  <a:txBody>
                    <a:bodyPr/>
                    <a:lstStyle/>
                    <a:p>
                      <a:pPr algn="ctr"/>
                      <a:r>
                        <a:rPr lang="en-US" sz="1400">
                          <a:solidFill>
                            <a:srgbClr val="333333"/>
                          </a:solidFill>
                          <a:latin typeface="Arial"/>
                          <a:cs typeface="Arial"/>
                        </a:rPr>
                        <a:t>Bilevel PAP ± backup rate
(for hypoventilation)</a:t>
                      </a:r>
                    </a:p>
                  </a:txBody>
                  <a:tcPr anchor="ctr">
                    <a:solidFill>
                      <a:srgbClr val="FFFFFF"/>
                    </a:solidFill>
                  </a:tcPr>
                </a:tc>
                <a:tc>
                  <a:txBody>
                    <a:bodyPr/>
                    <a:lstStyle/>
                    <a:p>
                      <a:pPr algn="ctr"/>
                      <a:r>
                        <a:rPr lang="en-US" sz="1400">
                          <a:solidFill>
                            <a:srgbClr val="333333"/>
                          </a:solidFill>
                          <a:latin typeface="Arial"/>
                          <a:cs typeface="Arial"/>
                        </a:rPr>
                        <a:t>Home mechanical ventilator
(life-support)</a:t>
                      </a:r>
                    </a:p>
                  </a:txBody>
                  <a:tcPr anchor="ctr">
                    <a:solidFill>
                      <a:srgbClr val="FFFFFF"/>
                    </a:solidFill>
                  </a:tcPr>
                </a:tc>
                <a:extLst>
                  <a:ext uri="{0D108BD9-81ED-4DB2-BD59-A6C34878D82A}">
                    <a16:rowId xmlns:a16="http://schemas.microsoft.com/office/drawing/2014/main" val="2856432"/>
                  </a:ext>
                </a:extLst>
              </a:tr>
              <a:tr h="558800">
                <a:tc>
                  <a:txBody>
                    <a:bodyPr/>
                    <a:lstStyle/>
                    <a:p>
                      <a:r>
                        <a:rPr lang="en-US" sz="1400" b="1">
                          <a:solidFill>
                            <a:srgbClr val="333333"/>
                          </a:solidFill>
                          <a:latin typeface="Arial"/>
                          <a:cs typeface="Arial"/>
                        </a:rPr>
                        <a:t>HCPCS</a:t>
                      </a:r>
                    </a:p>
                  </a:txBody>
                  <a:tcPr anchor="ctr">
                    <a:solidFill>
                      <a:srgbClr val="E8E1F5"/>
                    </a:solidFill>
                  </a:tcPr>
                </a:tc>
                <a:tc>
                  <a:txBody>
                    <a:bodyPr/>
                    <a:lstStyle/>
                    <a:p>
                      <a:pPr algn="ctr"/>
                      <a:r>
                        <a:rPr lang="en-US" sz="1400">
                          <a:solidFill>
                            <a:srgbClr val="333333"/>
                          </a:solidFill>
                          <a:latin typeface="Arial"/>
                          <a:cs typeface="Arial"/>
                        </a:rPr>
                        <a:t>E0601 (CPAP)
E0470 / E0471 (BPAP)</a:t>
                      </a:r>
                    </a:p>
                  </a:txBody>
                  <a:tcPr anchor="ctr">
                    <a:solidFill>
                      <a:srgbClr val="FFFFFF"/>
                    </a:solidFill>
                  </a:tcPr>
                </a:tc>
                <a:tc>
                  <a:txBody>
                    <a:bodyPr/>
                    <a:lstStyle/>
                    <a:p>
                      <a:pPr algn="ctr"/>
                      <a:r>
                        <a:rPr lang="en-US" sz="1400">
                          <a:solidFill>
                            <a:srgbClr val="333333"/>
                          </a:solidFill>
                          <a:latin typeface="Arial"/>
                          <a:cs typeface="Arial"/>
                        </a:rPr>
                        <a:t>E0470 / E0471</a:t>
                      </a:r>
                    </a:p>
                  </a:txBody>
                  <a:tcPr anchor="ctr">
                    <a:solidFill>
                      <a:srgbClr val="FFFFFF"/>
                    </a:solidFill>
                  </a:tcPr>
                </a:tc>
                <a:tc>
                  <a:txBody>
                    <a:bodyPr/>
                    <a:lstStyle/>
                    <a:p>
                      <a:pPr algn="ctr"/>
                      <a:r>
                        <a:rPr lang="en-US" sz="1400">
                          <a:solidFill>
                            <a:srgbClr val="333333"/>
                          </a:solidFill>
                          <a:latin typeface="Arial"/>
                          <a:cs typeface="Arial"/>
                        </a:rPr>
                        <a:t>E0465 / E0466 / E0467</a:t>
                      </a:r>
                    </a:p>
                  </a:txBody>
                  <a:tcPr anchor="ctr">
                    <a:solidFill>
                      <a:srgbClr val="FFFFFF"/>
                    </a:solidFill>
                  </a:tcPr>
                </a:tc>
                <a:extLst>
                  <a:ext uri="{0D108BD9-81ED-4DB2-BD59-A6C34878D82A}">
                    <a16:rowId xmlns:a16="http://schemas.microsoft.com/office/drawing/2014/main" val="1368273405"/>
                  </a:ext>
                </a:extLst>
              </a:tr>
              <a:tr h="558800">
                <a:tc>
                  <a:txBody>
                    <a:bodyPr/>
                    <a:lstStyle/>
                    <a:p>
                      <a:r>
                        <a:rPr lang="en-US" sz="1400" b="1">
                          <a:solidFill>
                            <a:srgbClr val="333333"/>
                          </a:solidFill>
                          <a:latin typeface="Arial"/>
                          <a:cs typeface="Arial"/>
                        </a:rPr>
                        <a:t>Examples</a:t>
                      </a:r>
                    </a:p>
                  </a:txBody>
                  <a:tcPr anchor="ctr">
                    <a:solidFill>
                      <a:srgbClr val="E8E1F5"/>
                    </a:solidFill>
                  </a:tcPr>
                </a:tc>
                <a:tc>
                  <a:txBody>
                    <a:bodyPr/>
                    <a:lstStyle/>
                    <a:p>
                      <a:pPr algn="ctr"/>
                      <a:r>
                        <a:rPr lang="en-US" sz="1400">
                          <a:solidFill>
                            <a:srgbClr val="333333"/>
                          </a:solidFill>
                          <a:latin typeface="Arial"/>
                          <a:cs typeface="Arial"/>
                        </a:rPr>
                        <a:t>CPAP, AutoPAP, BPAP
(AirSense, DreamStation)</a:t>
                      </a:r>
                    </a:p>
                  </a:txBody>
                  <a:tcPr anchor="ctr">
                    <a:solidFill>
                      <a:srgbClr val="FFFFFF"/>
                    </a:solidFill>
                  </a:tcPr>
                </a:tc>
                <a:tc>
                  <a:txBody>
                    <a:bodyPr/>
                    <a:lstStyle/>
                    <a:p>
                      <a:pPr algn="ctr"/>
                      <a:r>
                        <a:rPr lang="en-US" sz="1400">
                          <a:solidFill>
                            <a:srgbClr val="333333"/>
                          </a:solidFill>
                          <a:latin typeface="Arial"/>
                          <a:cs typeface="Arial"/>
                        </a:rPr>
                        <a:t>BPAP-ST, VAPS
(Aircurve ST, Luna G3)</a:t>
                      </a:r>
                    </a:p>
                  </a:txBody>
                  <a:tcPr anchor="ctr">
                    <a:solidFill>
                      <a:srgbClr val="FFFFFF"/>
                    </a:solidFill>
                  </a:tcPr>
                </a:tc>
                <a:tc>
                  <a:txBody>
                    <a:bodyPr/>
                    <a:lstStyle/>
                    <a:p>
                      <a:pPr algn="ctr"/>
                      <a:r>
                        <a:rPr lang="en-US" sz="1400">
                          <a:solidFill>
                            <a:srgbClr val="333333"/>
                          </a:solidFill>
                          <a:latin typeface="Arial"/>
                          <a:cs typeface="Arial"/>
                        </a:rPr>
                        <a:t>Trilogy, Astral, VOCSN</a:t>
                      </a:r>
                    </a:p>
                  </a:txBody>
                  <a:tcPr anchor="ctr">
                    <a:solidFill>
                      <a:srgbClr val="FFFFFF"/>
                    </a:solidFill>
                  </a:tcPr>
                </a:tc>
                <a:extLst>
                  <a:ext uri="{0D108BD9-81ED-4DB2-BD59-A6C34878D82A}">
                    <a16:rowId xmlns:a16="http://schemas.microsoft.com/office/drawing/2014/main" val="622111743"/>
                  </a:ext>
                </a:extLst>
              </a:tr>
              <a:tr h="558800">
                <a:tc>
                  <a:txBody>
                    <a:bodyPr/>
                    <a:lstStyle/>
                    <a:p>
                      <a:r>
                        <a:rPr lang="en-US" sz="1400" b="1">
                          <a:solidFill>
                            <a:srgbClr val="333333"/>
                          </a:solidFill>
                          <a:latin typeface="Arial"/>
                          <a:cs typeface="Arial"/>
                        </a:rPr>
                        <a:t>Max pressure</a:t>
                      </a:r>
                    </a:p>
                  </a:txBody>
                  <a:tcPr anchor="ctr">
                    <a:solidFill>
                      <a:srgbClr val="E8E1F5"/>
                    </a:solidFill>
                  </a:tcPr>
                </a:tc>
                <a:tc>
                  <a:txBody>
                    <a:bodyPr/>
                    <a:lstStyle/>
                    <a:p>
                      <a:pPr algn="ctr"/>
                      <a:r>
                        <a:rPr lang="en-US" sz="1400">
                          <a:solidFill>
                            <a:srgbClr val="333333"/>
                          </a:solidFill>
                          <a:latin typeface="Arial"/>
                          <a:cs typeface="Arial"/>
                        </a:rPr>
                        <a:t>~20–25 cmH₂O</a:t>
                      </a:r>
                    </a:p>
                  </a:txBody>
                  <a:tcPr anchor="ctr">
                    <a:solidFill>
                      <a:srgbClr val="FFFFFF"/>
                    </a:solidFill>
                  </a:tcPr>
                </a:tc>
                <a:tc>
                  <a:txBody>
                    <a:bodyPr/>
                    <a:lstStyle/>
                    <a:p>
                      <a:pPr algn="ctr"/>
                      <a:r>
                        <a:rPr lang="en-US" sz="1400">
                          <a:solidFill>
                            <a:srgbClr val="333333"/>
                          </a:solidFill>
                          <a:latin typeface="Arial"/>
                          <a:cs typeface="Arial"/>
                        </a:rPr>
                        <a:t>~25–30 cmH₂O</a:t>
                      </a:r>
                    </a:p>
                  </a:txBody>
                  <a:tcPr anchor="ctr">
                    <a:solidFill>
                      <a:srgbClr val="FFFFFF"/>
                    </a:solidFill>
                  </a:tcPr>
                </a:tc>
                <a:tc>
                  <a:txBody>
                    <a:bodyPr/>
                    <a:lstStyle/>
                    <a:p>
                      <a:pPr algn="ctr"/>
                      <a:r>
                        <a:rPr lang="en-US" sz="1400">
                          <a:solidFill>
                            <a:srgbClr val="333333"/>
                          </a:solidFill>
                          <a:latin typeface="Arial"/>
                          <a:cs typeface="Arial"/>
                        </a:rPr>
                        <a:t>~50–60 cmH₂O</a:t>
                      </a:r>
                    </a:p>
                  </a:txBody>
                  <a:tcPr anchor="ctr">
                    <a:solidFill>
                      <a:srgbClr val="FFFFFF"/>
                    </a:solidFill>
                  </a:tcPr>
                </a:tc>
                <a:extLst>
                  <a:ext uri="{0D108BD9-81ED-4DB2-BD59-A6C34878D82A}">
                    <a16:rowId xmlns:a16="http://schemas.microsoft.com/office/drawing/2014/main" val="3195744494"/>
                  </a:ext>
                </a:extLst>
              </a:tr>
              <a:tr h="558800">
                <a:tc>
                  <a:txBody>
                    <a:bodyPr/>
                    <a:lstStyle/>
                    <a:p>
                      <a:r>
                        <a:rPr lang="en-US" sz="1400" b="1">
                          <a:solidFill>
                            <a:srgbClr val="333333"/>
                          </a:solidFill>
                          <a:latin typeface="Arial"/>
                          <a:cs typeface="Arial"/>
                        </a:rPr>
                        <a:t>Qualification</a:t>
                      </a:r>
                    </a:p>
                  </a:txBody>
                  <a:tcPr anchor="ctr">
                    <a:solidFill>
                      <a:srgbClr val="FFD54F"/>
                    </a:solidFill>
                  </a:tcPr>
                </a:tc>
                <a:tc>
                  <a:txBody>
                    <a:bodyPr/>
                    <a:lstStyle/>
                    <a:p>
                      <a:pPr algn="ctr"/>
                      <a:r>
                        <a:rPr lang="en-US" sz="1400" b="1">
                          <a:solidFill>
                            <a:srgbClr val="333333"/>
                          </a:solidFill>
                          <a:latin typeface="Arial"/>
                          <a:cs typeface="Arial"/>
                        </a:rPr>
                        <a:t>Diagnostic Sleep Study
(PSG or HSAT)</a:t>
                      </a:r>
                    </a:p>
                  </a:txBody>
                  <a:tcPr anchor="ctr">
                    <a:solidFill>
                      <a:srgbClr val="FFF8E1"/>
                    </a:solidFill>
                  </a:tcPr>
                </a:tc>
                <a:tc>
                  <a:txBody>
                    <a:bodyPr/>
                    <a:lstStyle/>
                    <a:p>
                      <a:pPr algn="ctr"/>
                      <a:r>
                        <a:rPr lang="en-US" sz="1400" b="1">
                          <a:solidFill>
                            <a:srgbClr val="333333"/>
                          </a:solidFill>
                          <a:latin typeface="Arial"/>
                          <a:cs typeface="Arial"/>
                        </a:rPr>
                        <a:t>RAD NCD pathway:
diagnosis + clinical criteria</a:t>
                      </a:r>
                      <a:endParaRPr lang="en-US" sz="1400" b="1" dirty="0">
                        <a:solidFill>
                          <a:srgbClr val="333333"/>
                        </a:solidFill>
                        <a:latin typeface="Arial"/>
                        <a:cs typeface="Arial"/>
                      </a:endParaRPr>
                    </a:p>
                  </a:txBody>
                  <a:tcPr anchor="ctr">
                    <a:solidFill>
                      <a:srgbClr val="FFF8E1"/>
                    </a:solidFill>
                  </a:tcPr>
                </a:tc>
                <a:tc>
                  <a:txBody>
                    <a:bodyPr/>
                    <a:lstStyle/>
                    <a:p>
                      <a:pPr algn="ctr"/>
                      <a:r>
                        <a:rPr lang="en-US" sz="1400" b="1">
                          <a:solidFill>
                            <a:srgbClr val="333333"/>
                          </a:solidFill>
                          <a:latin typeface="Arial"/>
                          <a:cs typeface="Arial"/>
                        </a:rPr>
                        <a:t>Clinician attestation +
qualifying diagnosis</a:t>
                      </a:r>
                    </a:p>
                  </a:txBody>
                  <a:tcPr anchor="ctr">
                    <a:solidFill>
                      <a:srgbClr val="FFF8E1"/>
                    </a:solidFill>
                  </a:tcPr>
                </a:tc>
                <a:extLst>
                  <a:ext uri="{0D108BD9-81ED-4DB2-BD59-A6C34878D82A}">
                    <a16:rowId xmlns:a16="http://schemas.microsoft.com/office/drawing/2014/main" val="2189778122"/>
                  </a:ext>
                </a:extLst>
              </a:tr>
              <a:tr h="558800">
                <a:tc>
                  <a:txBody>
                    <a:bodyPr/>
                    <a:lstStyle/>
                    <a:p>
                      <a:r>
                        <a:rPr lang="en-US" sz="1400" b="1">
                          <a:solidFill>
                            <a:srgbClr val="333333"/>
                          </a:solidFill>
                          <a:latin typeface="Arial"/>
                          <a:cs typeface="Arial"/>
                        </a:rPr>
                        <a:t>Payment</a:t>
                      </a:r>
                    </a:p>
                  </a:txBody>
                  <a:tcPr anchor="ctr">
                    <a:solidFill>
                      <a:srgbClr val="E8E1F5"/>
                    </a:solidFill>
                  </a:tcPr>
                </a:tc>
                <a:tc>
                  <a:txBody>
                    <a:bodyPr/>
                    <a:lstStyle/>
                    <a:p>
                      <a:pPr algn="ctr"/>
                      <a:r>
                        <a:rPr lang="en-US" sz="1400">
                          <a:solidFill>
                            <a:srgbClr val="333333"/>
                          </a:solidFill>
                          <a:latin typeface="Arial"/>
                          <a:cs typeface="Arial"/>
                        </a:rPr>
                        <a:t>Rent-to-own (13 mo)</a:t>
                      </a:r>
                    </a:p>
                  </a:txBody>
                  <a:tcPr anchor="ctr">
                    <a:solidFill>
                      <a:srgbClr val="FFFFFF"/>
                    </a:solidFill>
                  </a:tcPr>
                </a:tc>
                <a:tc>
                  <a:txBody>
                    <a:bodyPr/>
                    <a:lstStyle/>
                    <a:p>
                      <a:pPr algn="ctr"/>
                      <a:r>
                        <a:rPr lang="en-US" sz="1400">
                          <a:solidFill>
                            <a:srgbClr val="333333"/>
                          </a:solidFill>
                          <a:latin typeface="Arial"/>
                          <a:cs typeface="Arial"/>
                        </a:rPr>
                        <a:t>Rent-to-own (13 mo)</a:t>
                      </a:r>
                    </a:p>
                  </a:txBody>
                  <a:tcPr anchor="ctr">
                    <a:solidFill>
                      <a:srgbClr val="FFFFFF"/>
                    </a:solidFill>
                  </a:tcPr>
                </a:tc>
                <a:tc>
                  <a:txBody>
                    <a:bodyPr/>
                    <a:lstStyle/>
                    <a:p>
                      <a:pPr algn="ctr"/>
                      <a:r>
                        <a:rPr lang="en-US" sz="1400">
                          <a:solidFill>
                            <a:srgbClr val="333333"/>
                          </a:solidFill>
                          <a:latin typeface="Arial"/>
                          <a:cs typeface="Arial"/>
                        </a:rPr>
                        <a:t>Monthly rental (indefinite)</a:t>
                      </a:r>
                    </a:p>
                  </a:txBody>
                  <a:tcPr anchor="ctr">
                    <a:solidFill>
                      <a:srgbClr val="FFFFFF"/>
                    </a:solidFill>
                  </a:tcPr>
                </a:tc>
                <a:extLst>
                  <a:ext uri="{0D108BD9-81ED-4DB2-BD59-A6C34878D82A}">
                    <a16:rowId xmlns:a16="http://schemas.microsoft.com/office/drawing/2014/main" val="1165151650"/>
                  </a:ext>
                </a:extLst>
              </a:tr>
              <a:tr h="558800">
                <a:tc>
                  <a:txBody>
                    <a:bodyPr/>
                    <a:lstStyle/>
                    <a:p>
                      <a:r>
                        <a:rPr lang="en-US" sz="1400" b="1">
                          <a:solidFill>
                            <a:srgbClr val="333333"/>
                          </a:solidFill>
                          <a:latin typeface="Arial"/>
                          <a:cs typeface="Arial"/>
                        </a:rPr>
                        <a:t>Home RT</a:t>
                      </a:r>
                    </a:p>
                  </a:txBody>
                  <a:tcPr anchor="ctr">
                    <a:solidFill>
                      <a:srgbClr val="E8E1F5"/>
                    </a:solidFill>
                  </a:tcPr>
                </a:tc>
                <a:tc>
                  <a:txBody>
                    <a:bodyPr/>
                    <a:lstStyle/>
                    <a:p>
                      <a:pPr algn="ctr"/>
                      <a:r>
                        <a:rPr lang="en-US" sz="1400">
                          <a:solidFill>
                            <a:srgbClr val="333333"/>
                          </a:solidFill>
                          <a:latin typeface="Arial"/>
                          <a:cs typeface="Arial"/>
                        </a:rPr>
                        <a:t>No</a:t>
                      </a:r>
                    </a:p>
                  </a:txBody>
                  <a:tcPr anchor="ctr">
                    <a:solidFill>
                      <a:srgbClr val="FFFFFF"/>
                    </a:solidFill>
                  </a:tcPr>
                </a:tc>
                <a:tc>
                  <a:txBody>
                    <a:bodyPr/>
                    <a:lstStyle/>
                    <a:p>
                      <a:pPr algn="ctr"/>
                      <a:r>
                        <a:rPr lang="en-US" sz="1400">
                          <a:solidFill>
                            <a:srgbClr val="333333"/>
                          </a:solidFill>
                          <a:latin typeface="Arial"/>
                          <a:cs typeface="Arial"/>
                        </a:rPr>
                        <a:t>No</a:t>
                      </a:r>
                    </a:p>
                  </a:txBody>
                  <a:tcPr anchor="ctr">
                    <a:solidFill>
                      <a:srgbClr val="FFFFFF"/>
                    </a:solidFill>
                  </a:tcPr>
                </a:tc>
                <a:tc>
                  <a:txBody>
                    <a:bodyPr/>
                    <a:lstStyle/>
                    <a:p>
                      <a:pPr algn="ctr"/>
                      <a:r>
                        <a:rPr lang="en-US" sz="1400">
                          <a:solidFill>
                            <a:srgbClr val="333333"/>
                          </a:solidFill>
                          <a:latin typeface="Arial"/>
                          <a:cs typeface="Arial"/>
                        </a:rPr>
                        <a:t>Yes — included in FSS</a:t>
                      </a:r>
                    </a:p>
                  </a:txBody>
                  <a:tcPr anchor="ctr">
                    <a:solidFill>
                      <a:srgbClr val="FFFFFF"/>
                    </a:solidFill>
                  </a:tcPr>
                </a:tc>
                <a:extLst>
                  <a:ext uri="{0D108BD9-81ED-4DB2-BD59-A6C34878D82A}">
                    <a16:rowId xmlns:a16="http://schemas.microsoft.com/office/drawing/2014/main" val="3384078008"/>
                  </a:ext>
                </a:extLst>
              </a:tr>
              <a:tr h="558800">
                <a:tc>
                  <a:txBody>
                    <a:bodyPr/>
                    <a:lstStyle/>
                    <a:p>
                      <a:r>
                        <a:rPr lang="en-US" sz="1400" b="1">
                          <a:solidFill>
                            <a:srgbClr val="333333"/>
                          </a:solidFill>
                          <a:latin typeface="Arial"/>
                          <a:cs typeface="Arial"/>
                        </a:rPr>
                        <a:t>Key difference</a:t>
                      </a:r>
                    </a:p>
                  </a:txBody>
                  <a:tcPr anchor="ctr">
                    <a:solidFill>
                      <a:srgbClr val="E8E1F5"/>
                    </a:solidFill>
                  </a:tcPr>
                </a:tc>
                <a:tc>
                  <a:txBody>
                    <a:bodyPr/>
                    <a:lstStyle/>
                    <a:p>
                      <a:pPr algn="ctr"/>
                      <a:r>
                        <a:rPr lang="en-US" sz="1400">
                          <a:solidFill>
                            <a:srgbClr val="333333"/>
                          </a:solidFill>
                          <a:latin typeface="Arial"/>
                          <a:cs typeface="Arial"/>
                        </a:rPr>
                        <a:t>Most common device;
streamlined pathway</a:t>
                      </a:r>
                    </a:p>
                  </a:txBody>
                  <a:tcPr anchor="ctr">
                    <a:solidFill>
                      <a:srgbClr val="FFFFFF"/>
                    </a:solidFill>
                  </a:tcPr>
                </a:tc>
                <a:tc>
                  <a:txBody>
                    <a:bodyPr/>
                    <a:lstStyle/>
                    <a:p>
                      <a:pPr algn="ctr"/>
                      <a:r>
                        <a:rPr lang="en-US" sz="1400">
                          <a:solidFill>
                            <a:srgbClr val="333333"/>
                          </a:solidFill>
                          <a:latin typeface="Arial"/>
                          <a:cs typeface="Arial"/>
                        </a:rPr>
                        <a:t>No home support
after purchase</a:t>
                      </a:r>
                    </a:p>
                  </a:txBody>
                  <a:tcPr anchor="ctr">
                    <a:solidFill>
                      <a:srgbClr val="FFFFFF"/>
                    </a:solidFill>
                  </a:tcPr>
                </a:tc>
                <a:tc>
                  <a:txBody>
                    <a:bodyPr/>
                    <a:lstStyle/>
                    <a:p>
                      <a:pPr algn="ctr"/>
                      <a:r>
                        <a:rPr lang="en-US" sz="1400" dirty="0">
                          <a:solidFill>
                            <a:srgbClr val="333333"/>
                          </a:solidFill>
                          <a:latin typeface="Arial"/>
                          <a:cs typeface="Arial"/>
                        </a:rPr>
                        <a:t>All-inclusive: device +
supplies + RT visits</a:t>
                      </a:r>
                    </a:p>
                  </a:txBody>
                  <a:tcPr anchor="ctr">
                    <a:solidFill>
                      <a:srgbClr val="FFFFFF"/>
                    </a:solidFill>
                  </a:tcPr>
                </a:tc>
                <a:extLst>
                  <a:ext uri="{0D108BD9-81ED-4DB2-BD59-A6C34878D82A}">
                    <a16:rowId xmlns:a16="http://schemas.microsoft.com/office/drawing/2014/main" val="1590788360"/>
                  </a:ext>
                </a:extLst>
              </a:tr>
            </a:tbl>
          </a:graphicData>
        </a:graphic>
      </p:graphicFrame>
      <p:sp>
        <p:nvSpPr>
          <p:cNvPr id="6" name="Rectangle 5">
            <a:extLst>
              <a:ext uri="{FF2B5EF4-FFF2-40B4-BE49-F238E27FC236}">
                <a16:creationId xmlns:a16="http://schemas.microsoft.com/office/drawing/2014/main" id="{AC82F851-006F-2343-8E9C-F8A63B6B0A30}"/>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3166507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FBBC6-7326-759A-8973-EED6C38DC8D6}"/>
              </a:ext>
            </a:extLst>
          </p:cNvPr>
          <p:cNvSpPr>
            <a:spLocks noGrp="1"/>
          </p:cNvSpPr>
          <p:nvPr>
            <p:ph type="title"/>
          </p:nvPr>
        </p:nvSpPr>
        <p:spPr/>
        <p:txBody>
          <a:bodyPr/>
          <a:lstStyle/>
          <a:p>
            <a:r>
              <a:rPr lang="en-US">
                <a:solidFill>
                  <a:srgbClr val="110057"/>
                </a:solidFill>
                <a:latin typeface="Arial"/>
                <a:cs typeface="Arial"/>
              </a:rPr>
              <a:t>Where Does the Money Come From?</a:t>
            </a:r>
          </a:p>
        </p:txBody>
      </p:sp>
      <p:sp>
        <p:nvSpPr>
          <p:cNvPr id="3" name="Content Placeholder 2">
            <a:extLst>
              <a:ext uri="{FF2B5EF4-FFF2-40B4-BE49-F238E27FC236}">
                <a16:creationId xmlns:a16="http://schemas.microsoft.com/office/drawing/2014/main" id="{FD4D3122-6688-AB7C-CD82-DE18D0FB0A13}"/>
              </a:ext>
            </a:extLst>
          </p:cNvPr>
          <p:cNvSpPr>
            <a:spLocks noGrp="1"/>
          </p:cNvSpPr>
          <p:nvPr>
            <p:ph idx="1"/>
          </p:nvPr>
        </p:nvSpPr>
        <p:spPr/>
        <p:txBody>
          <a:bodyPr>
            <a:normAutofit fontScale="92500" lnSpcReduction="20000"/>
          </a:bodyPr>
          <a:lstStyle/>
          <a:p>
            <a:pPr marL="0" indent="0">
              <a:buNone/>
            </a:pPr>
            <a:r>
              <a:rPr lang="en-US" sz="2000" b="1" dirty="0">
                <a:latin typeface="Arial"/>
                <a:cs typeface="Arial"/>
              </a:rPr>
              <a:t>HMVs: Frequent and Substantial Servicing (FSS) payment</a:t>
            </a:r>
          </a:p>
          <a:p>
            <a:r>
              <a:rPr lang="en-US" sz="2000" dirty="0">
                <a:latin typeface="Arial"/>
                <a:cs typeface="Arial"/>
              </a:rPr>
              <a:t>Monthly rental — all-inclusive: device + supplies + maintenance + home RT services</a:t>
            </a:r>
          </a:p>
          <a:p>
            <a:r>
              <a:rPr lang="en-US" sz="2000" dirty="0">
                <a:latin typeface="Arial"/>
                <a:cs typeface="Arial"/>
              </a:rPr>
              <a:t>Payments continue indefinitely (no rent-to-own)</a:t>
            </a:r>
          </a:p>
          <a:p>
            <a:pPr marL="0" indent="0">
              <a:buNone/>
            </a:pPr>
            <a:endParaRPr lang="en-US" sz="1400" dirty="0">
              <a:latin typeface="Arial"/>
              <a:cs typeface="Arial"/>
            </a:endParaRPr>
          </a:p>
          <a:p>
            <a:pPr marL="0" indent="0">
              <a:buNone/>
            </a:pPr>
            <a:r>
              <a:rPr lang="en-US" sz="2000" b="1" dirty="0">
                <a:latin typeface="Arial"/>
                <a:cs typeface="Arial"/>
              </a:rPr>
              <a:t>RADs and PAP devices: Rent-to-own (capped rental)</a:t>
            </a:r>
          </a:p>
          <a:p>
            <a:r>
              <a:rPr lang="en-US" sz="2000" dirty="0">
                <a:latin typeface="Arial"/>
                <a:cs typeface="Arial"/>
              </a:rPr>
              <a:t>13 months of rental → ownership transfers to patient</a:t>
            </a:r>
          </a:p>
          <a:p>
            <a:r>
              <a:rPr lang="en-US" sz="2000" dirty="0">
                <a:latin typeface="Arial"/>
                <a:cs typeface="Arial"/>
              </a:rPr>
              <a:t>No home RT support, no ongoing supplies coverage</a:t>
            </a:r>
          </a:p>
          <a:p>
            <a:pPr marL="0" indent="0">
              <a:buNone/>
            </a:pPr>
            <a:endParaRPr lang="en-US" sz="1400" dirty="0">
              <a:latin typeface="Arial"/>
              <a:cs typeface="Arial"/>
            </a:endParaRPr>
          </a:p>
          <a:p>
            <a:pPr marL="0" indent="0">
              <a:buNone/>
            </a:pPr>
            <a:r>
              <a:rPr lang="en-US" sz="2000" b="1" dirty="0">
                <a:latin typeface="Arial"/>
                <a:cs typeface="Arial"/>
              </a:rPr>
              <a:t>The scale:</a:t>
            </a:r>
          </a:p>
          <a:p>
            <a:r>
              <a:rPr lang="en-US" sz="2000" dirty="0">
                <a:latin typeface="Arial"/>
                <a:cs typeface="Arial"/>
              </a:rPr>
              <a:t>Medicare NIV charges reached $424.4 million in 2018</a:t>
            </a:r>
          </a:p>
          <a:p>
            <a:r>
              <a:rPr lang="en-US" sz="2000" dirty="0">
                <a:latin typeface="Arial"/>
                <a:cs typeface="Arial"/>
              </a:rPr>
              <a:t>OIG found CMS overpaid ~$86.6M on HMV (E0466) vs. non-Medicare rates (2016–18)</a:t>
            </a:r>
          </a:p>
          <a:p>
            <a:pPr marL="0" indent="0">
              <a:buNone/>
            </a:pPr>
            <a:endParaRPr lang="en-US" sz="1400" dirty="0">
              <a:latin typeface="Arial"/>
              <a:cs typeface="Arial"/>
            </a:endParaRPr>
          </a:p>
          <a:p>
            <a:pPr marL="0" indent="0">
              <a:buNone/>
            </a:pPr>
            <a:r>
              <a:rPr lang="en-US" sz="2000" i="1" dirty="0">
                <a:latin typeface="Arial"/>
                <a:cs typeface="Arial"/>
              </a:rPr>
              <a:t>Current Medicare guidelines do not reflect modernization that other payers and countries have employed.</a:t>
            </a:r>
          </a:p>
        </p:txBody>
      </p:sp>
      <p:sp>
        <p:nvSpPr>
          <p:cNvPr id="4" name="Rectangle 3">
            <a:extLst>
              <a:ext uri="{FF2B5EF4-FFF2-40B4-BE49-F238E27FC236}">
                <a16:creationId xmlns:a16="http://schemas.microsoft.com/office/drawing/2014/main" id="{EBE5AA30-9C0E-9642-9326-3653F71B1C95}"/>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7497055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31E8C-346B-81AB-210D-AEA9794399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26B8EC-63CC-21A4-09A6-81F230202EE2}"/>
              </a:ext>
            </a:extLst>
          </p:cNvPr>
          <p:cNvSpPr>
            <a:spLocks noGrp="1"/>
          </p:cNvSpPr>
          <p:nvPr>
            <p:ph type="title"/>
          </p:nvPr>
        </p:nvSpPr>
        <p:spPr/>
        <p:txBody>
          <a:bodyPr>
            <a:normAutofit/>
          </a:bodyPr>
          <a:lstStyle/>
          <a:p>
            <a:r>
              <a:rPr lang="en-US" sz="3200" dirty="0">
                <a:solidFill>
                  <a:srgbClr val="110057"/>
                </a:solidFill>
                <a:latin typeface="Arial"/>
                <a:cs typeface="Arial"/>
              </a:rPr>
              <a:t>Prior National Coverage Determination: </a:t>
            </a:r>
            <a:r>
              <a:rPr lang="en-US" sz="3200" b="1" dirty="0">
                <a:solidFill>
                  <a:srgbClr val="110057"/>
                </a:solidFill>
                <a:latin typeface="Arial"/>
                <a:cs typeface="Arial"/>
              </a:rPr>
              <a:t>HMVs</a:t>
            </a:r>
          </a:p>
        </p:txBody>
      </p:sp>
      <p:sp>
        <p:nvSpPr>
          <p:cNvPr id="3" name="Content Placeholder 2">
            <a:extLst>
              <a:ext uri="{FF2B5EF4-FFF2-40B4-BE49-F238E27FC236}">
                <a16:creationId xmlns:a16="http://schemas.microsoft.com/office/drawing/2014/main" id="{6832091F-1641-8FDE-48F8-89F160C9B629}"/>
              </a:ext>
            </a:extLst>
          </p:cNvPr>
          <p:cNvSpPr>
            <a:spLocks noGrp="1"/>
          </p:cNvSpPr>
          <p:nvPr>
            <p:ph idx="1"/>
          </p:nvPr>
        </p:nvSpPr>
        <p:spPr/>
        <p:txBody>
          <a:bodyPr>
            <a:normAutofit/>
          </a:bodyPr>
          <a:lstStyle/>
          <a:p>
            <a:pPr marL="0" indent="0">
              <a:buNone/>
            </a:pPr>
            <a:r>
              <a:rPr lang="en-US" sz="2200" dirty="0">
                <a:latin typeface="Arial"/>
                <a:cs typeface="Arial"/>
              </a:rPr>
              <a:t>Patient has a NMD, Thoracic Restrictive Disease, or Chronic Respiratory Failure from COPD </a:t>
            </a:r>
          </a:p>
          <a:p>
            <a:pPr marL="0" indent="0">
              <a:buNone/>
            </a:pPr>
            <a:r>
              <a:rPr lang="en-US" sz="2200" dirty="0">
                <a:latin typeface="Arial"/>
                <a:cs typeface="Arial"/>
              </a:rPr>
              <a:t>Where </a:t>
            </a:r>
            <a:r>
              <a:rPr lang="en-US" sz="2200" u="sng" dirty="0">
                <a:latin typeface="Arial"/>
                <a:cs typeface="Arial"/>
              </a:rPr>
              <a:t>“the condition is life-threatening where interruption of respiratory support would quickly lead to serious harm or death.” </a:t>
            </a:r>
          </a:p>
          <a:p>
            <a:r>
              <a:rPr lang="en-US" sz="2200" dirty="0">
                <a:latin typeface="Arial"/>
                <a:cs typeface="Arial"/>
              </a:rPr>
              <a:t>Unlike RADs, no definitions of medical conditions or what constitutes life-threatening were given</a:t>
            </a:r>
          </a:p>
        </p:txBody>
      </p:sp>
      <p:sp>
        <p:nvSpPr>
          <p:cNvPr id="5" name="Rectangle 4">
            <a:extLst>
              <a:ext uri="{FF2B5EF4-FFF2-40B4-BE49-F238E27FC236}">
                <a16:creationId xmlns:a16="http://schemas.microsoft.com/office/drawing/2014/main" id="{DEF90047-3A03-7548-807D-0310E2CD900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7225226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CB12E-8400-A955-7448-6031DB7EF204}"/>
              </a:ext>
            </a:extLst>
          </p:cNvPr>
          <p:cNvSpPr>
            <a:spLocks noGrp="1"/>
          </p:cNvSpPr>
          <p:nvPr>
            <p:ph type="title"/>
          </p:nvPr>
        </p:nvSpPr>
        <p:spPr/>
        <p:txBody>
          <a:bodyPr>
            <a:normAutofit/>
          </a:bodyPr>
          <a:lstStyle/>
          <a:p>
            <a:r>
              <a:rPr lang="en-US" sz="3200" dirty="0">
                <a:latin typeface="Arial"/>
                <a:cs typeface="Arial"/>
              </a:rPr>
              <a:t>Old</a:t>
            </a:r>
            <a:r>
              <a:rPr lang="en-US" sz="3200" dirty="0">
                <a:solidFill>
                  <a:srgbClr val="110057"/>
                </a:solidFill>
                <a:latin typeface="Arial"/>
                <a:cs typeface="Arial"/>
              </a:rPr>
              <a:t> National Coverage Determination: </a:t>
            </a:r>
            <a:r>
              <a:rPr lang="en-US" sz="3200" b="1" dirty="0">
                <a:solidFill>
                  <a:srgbClr val="110057"/>
                </a:solidFill>
                <a:latin typeface="Arial"/>
                <a:cs typeface="Arial"/>
              </a:rPr>
              <a:t>RADs</a:t>
            </a:r>
          </a:p>
        </p:txBody>
      </p:sp>
      <p:pic>
        <p:nvPicPr>
          <p:cNvPr id="4" name="Picture 3">
            <a:extLst>
              <a:ext uri="{FF2B5EF4-FFF2-40B4-BE49-F238E27FC236}">
                <a16:creationId xmlns:a16="http://schemas.microsoft.com/office/drawing/2014/main" id="{99B96C06-1281-3C19-5E31-298BFA20BF17}"/>
              </a:ext>
            </a:extLst>
          </p:cNvPr>
          <p:cNvPicPr>
            <a:picLocks noChangeAspect="1"/>
          </p:cNvPicPr>
          <p:nvPr/>
        </p:nvPicPr>
        <p:blipFill>
          <a:blip r:embed="rId2"/>
          <a:stretch>
            <a:fillRect/>
          </a:stretch>
        </p:blipFill>
        <p:spPr>
          <a:xfrm>
            <a:off x="35789" y="1690688"/>
            <a:ext cx="6060211" cy="4625125"/>
          </a:xfrm>
          <a:prstGeom prst="rect">
            <a:avLst/>
          </a:prstGeom>
        </p:spPr>
      </p:pic>
      <p:pic>
        <p:nvPicPr>
          <p:cNvPr id="5" name="Picture 4">
            <a:extLst>
              <a:ext uri="{FF2B5EF4-FFF2-40B4-BE49-F238E27FC236}">
                <a16:creationId xmlns:a16="http://schemas.microsoft.com/office/drawing/2014/main" id="{049604D9-AB20-8224-057B-0376EA91CBB2}"/>
              </a:ext>
            </a:extLst>
          </p:cNvPr>
          <p:cNvPicPr>
            <a:picLocks noChangeAspect="1"/>
          </p:cNvPicPr>
          <p:nvPr/>
        </p:nvPicPr>
        <p:blipFill>
          <a:blip r:embed="rId3"/>
          <a:stretch>
            <a:fillRect/>
          </a:stretch>
        </p:blipFill>
        <p:spPr>
          <a:xfrm>
            <a:off x="6037008" y="2828725"/>
            <a:ext cx="6096000" cy="2225523"/>
          </a:xfrm>
          <a:prstGeom prst="rect">
            <a:avLst/>
          </a:prstGeom>
        </p:spPr>
      </p:pic>
      <p:sp>
        <p:nvSpPr>
          <p:cNvPr id="6" name="Rectangle 5">
            <a:extLst>
              <a:ext uri="{FF2B5EF4-FFF2-40B4-BE49-F238E27FC236}">
                <a16:creationId xmlns:a16="http://schemas.microsoft.com/office/drawing/2014/main" id="{BAF773EB-60A2-DC40-A85E-FE28DAF9609D}"/>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2333308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255AA3-181A-2950-1978-560D6C4D9290}"/>
              </a:ext>
            </a:extLst>
          </p:cNvPr>
          <p:cNvSpPr>
            <a:spLocks noGrp="1"/>
          </p:cNvSpPr>
          <p:nvPr>
            <p:ph type="title"/>
          </p:nvPr>
        </p:nvSpPr>
        <p:spPr/>
        <p:txBody>
          <a:bodyPr/>
          <a:lstStyle/>
          <a:p>
            <a:r>
              <a:rPr lang="en-US">
                <a:solidFill>
                  <a:srgbClr val="110057"/>
                </a:solidFill>
                <a:latin typeface="Arial"/>
                <a:cs typeface="Arial"/>
              </a:rPr>
              <a:t>The Qualification Maze</a:t>
            </a:r>
          </a:p>
        </p:txBody>
      </p:sp>
      <p:sp>
        <p:nvSpPr>
          <p:cNvPr id="3" name="Content Placeholder 2">
            <a:extLst>
              <a:ext uri="{FF2B5EF4-FFF2-40B4-BE49-F238E27FC236}">
                <a16:creationId xmlns:a16="http://schemas.microsoft.com/office/drawing/2014/main" id="{DD20250A-4224-8FE4-6400-396980A91CA7}"/>
              </a:ext>
            </a:extLst>
          </p:cNvPr>
          <p:cNvSpPr>
            <a:spLocks noGrp="1"/>
          </p:cNvSpPr>
          <p:nvPr>
            <p:ph idx="1"/>
          </p:nvPr>
        </p:nvSpPr>
        <p:spPr/>
        <p:txBody>
          <a:bodyPr>
            <a:normAutofit fontScale="92500" lnSpcReduction="10000"/>
          </a:bodyPr>
          <a:lstStyle/>
          <a:p>
            <a:pPr marL="0" indent="0">
              <a:buNone/>
            </a:pPr>
            <a:r>
              <a:rPr lang="en-US" sz="1800" b="1" dirty="0">
                <a:latin typeface="Arial"/>
                <a:cs typeface="Arial"/>
              </a:rPr>
              <a:t>To qualify a patient for a RAD, the provider must:</a:t>
            </a:r>
          </a:p>
          <a:p>
            <a:pPr marL="0" indent="0">
              <a:buNone/>
            </a:pPr>
            <a:endParaRPr lang="en-US" sz="1400" dirty="0">
              <a:latin typeface="Arial"/>
              <a:cs typeface="Arial"/>
            </a:endParaRPr>
          </a:p>
          <a:p>
            <a:r>
              <a:rPr lang="en-US" sz="1800" dirty="0">
                <a:latin typeface="Arial"/>
                <a:cs typeface="Arial"/>
              </a:rPr>
              <a:t>1. Determine likely diagnosis: OSA, COPD, CSA, restrictive thoracic disease (NMD or thoracic cage abnormality), or hypoventilation</a:t>
            </a:r>
          </a:p>
          <a:p>
            <a:r>
              <a:rPr lang="en-US" sz="1800" dirty="0">
                <a:latin typeface="Arial"/>
                <a:cs typeface="Arial"/>
              </a:rPr>
              <a:t>2. Proceed with focused testing for that specific diagnosis:</a:t>
            </a:r>
          </a:p>
          <a:p>
            <a:pPr lvl="1"/>
            <a:r>
              <a:rPr lang="en-US" sz="1800" dirty="0">
                <a:latin typeface="Arial"/>
                <a:cs typeface="Arial"/>
              </a:rPr>
              <a:t>Polysomnography or home sleep apnea testing</a:t>
            </a:r>
          </a:p>
          <a:p>
            <a:pPr lvl="1"/>
            <a:r>
              <a:rPr lang="en-US" sz="1800" dirty="0">
                <a:latin typeface="Arial"/>
                <a:cs typeface="Arial"/>
              </a:rPr>
              <a:t>Overnight oximetry</a:t>
            </a:r>
          </a:p>
          <a:p>
            <a:pPr lvl="1"/>
            <a:r>
              <a:rPr lang="en-US" sz="1800" dirty="0">
                <a:latin typeface="Arial"/>
                <a:cs typeface="Arial"/>
              </a:rPr>
              <a:t>Spirometry</a:t>
            </a:r>
          </a:p>
          <a:p>
            <a:pPr lvl="1"/>
            <a:r>
              <a:rPr lang="en-US" sz="1800" dirty="0">
                <a:latin typeface="Arial"/>
                <a:cs typeface="Arial"/>
              </a:rPr>
              <a:t>Arterial blood gas (PaCO</a:t>
            </a:r>
            <a:r>
              <a:rPr lang="en-US" sz="1800" baseline="-25000" dirty="0">
                <a:latin typeface="Arial"/>
                <a:cs typeface="Arial"/>
              </a:rPr>
              <a:t>2</a:t>
            </a:r>
            <a:r>
              <a:rPr lang="en-US" sz="1800" dirty="0">
                <a:latin typeface="Arial"/>
                <a:cs typeface="Arial"/>
              </a:rPr>
              <a:t>)</a:t>
            </a:r>
          </a:p>
          <a:p>
            <a:pPr marL="0" indent="0">
              <a:buNone/>
            </a:pPr>
            <a:endParaRPr lang="en-US" sz="1400" dirty="0">
              <a:latin typeface="Arial"/>
              <a:cs typeface="Arial"/>
            </a:endParaRPr>
          </a:p>
          <a:p>
            <a:pPr marL="0" indent="0">
              <a:buNone/>
            </a:pPr>
            <a:r>
              <a:rPr lang="en-US" sz="1800" b="1" dirty="0">
                <a:latin typeface="Arial"/>
                <a:cs typeface="Arial"/>
              </a:rPr>
              <a:t>The paradox:</a:t>
            </a:r>
          </a:p>
          <a:p>
            <a:r>
              <a:rPr lang="en-US" sz="1800" dirty="0">
                <a:latin typeface="Arial"/>
                <a:cs typeface="Arial"/>
              </a:rPr>
              <a:t>The COPD pathway requires nocturnal oximetry – not clinically relevant (30 years old!) </a:t>
            </a:r>
          </a:p>
          <a:p>
            <a:r>
              <a:rPr lang="en-US" sz="1800" dirty="0">
                <a:latin typeface="Arial"/>
                <a:cs typeface="Arial"/>
              </a:rPr>
              <a:t>The HMV NCD is so old and vague that it's often </a:t>
            </a:r>
            <a:r>
              <a:rPr lang="en-US" sz="1800" i="1" dirty="0">
                <a:latin typeface="Arial"/>
                <a:cs typeface="Arial"/>
              </a:rPr>
              <a:t>paradoxically easier</a:t>
            </a:r>
            <a:r>
              <a:rPr lang="en-US" sz="1800" dirty="0">
                <a:latin typeface="Arial"/>
                <a:cs typeface="Arial"/>
              </a:rPr>
              <a:t> to qualify for than a RAD </a:t>
            </a:r>
            <a:r>
              <a:rPr lang="en-US" sz="1800" b="1" dirty="0">
                <a:latin typeface="Arial"/>
                <a:cs typeface="Arial"/>
              </a:rPr>
              <a:t>($$$)</a:t>
            </a:r>
          </a:p>
          <a:p>
            <a:r>
              <a:rPr lang="en-US" sz="1800" dirty="0">
                <a:latin typeface="Arial"/>
                <a:cs typeface="Arial"/>
              </a:rPr>
              <a:t>These 1998 guidelines have not been updated to reflect the current evidence base,</a:t>
            </a:r>
            <a:r>
              <a:rPr lang="en-US" sz="1800" b="1" dirty="0">
                <a:latin typeface="Arial"/>
                <a:cs typeface="Arial"/>
              </a:rPr>
              <a:t> yet</a:t>
            </a:r>
          </a:p>
        </p:txBody>
      </p:sp>
      <p:sp>
        <p:nvSpPr>
          <p:cNvPr id="5" name="Rectangle 4">
            <a:extLst>
              <a:ext uri="{FF2B5EF4-FFF2-40B4-BE49-F238E27FC236}">
                <a16:creationId xmlns:a16="http://schemas.microsoft.com/office/drawing/2014/main" id="{300D3283-E731-4849-8B7D-FB280005261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2229376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B6DAB-DE79-43F4-0F77-FC69395D994A}"/>
              </a:ext>
            </a:extLst>
          </p:cNvPr>
          <p:cNvSpPr>
            <a:spLocks noGrp="1"/>
          </p:cNvSpPr>
          <p:nvPr>
            <p:ph type="title"/>
          </p:nvPr>
        </p:nvSpPr>
        <p:spPr>
          <a:xfrm>
            <a:off x="838200" y="317500"/>
            <a:ext cx="10515600" cy="952500"/>
          </a:xfrm>
        </p:spPr>
        <p:txBody>
          <a:bodyPr>
            <a:normAutofit/>
          </a:bodyPr>
          <a:lstStyle/>
          <a:p>
            <a:r>
              <a:rPr lang="en-US" sz="2600" dirty="0">
                <a:solidFill>
                  <a:srgbClr val="110057"/>
                </a:solidFill>
                <a:latin typeface="Arial"/>
                <a:cs typeface="Arial"/>
              </a:rPr>
              <a:t>What's Changing in the New Coverage Determinations for </a:t>
            </a:r>
            <a:r>
              <a:rPr lang="en-US" sz="2600" b="1" dirty="0">
                <a:solidFill>
                  <a:srgbClr val="110057"/>
                </a:solidFill>
                <a:latin typeface="Arial"/>
                <a:cs typeface="Arial"/>
              </a:rPr>
              <a:t>RADs</a:t>
            </a:r>
            <a:r>
              <a:rPr lang="en-US" sz="2600" dirty="0">
                <a:solidFill>
                  <a:srgbClr val="110057"/>
                </a:solidFill>
                <a:latin typeface="Arial"/>
                <a:cs typeface="Arial"/>
              </a:rPr>
              <a:t>?</a:t>
            </a:r>
          </a:p>
        </p:txBody>
      </p:sp>
      <p:sp>
        <p:nvSpPr>
          <p:cNvPr id="3" name="Content Placeholder 2">
            <a:extLst>
              <a:ext uri="{FF2B5EF4-FFF2-40B4-BE49-F238E27FC236}">
                <a16:creationId xmlns:a16="http://schemas.microsoft.com/office/drawing/2014/main" id="{1EBA77BA-EE07-70C6-0F58-2C871A2988BD}"/>
              </a:ext>
            </a:extLst>
          </p:cNvPr>
          <p:cNvSpPr>
            <a:spLocks noGrp="1"/>
          </p:cNvSpPr>
          <p:nvPr>
            <p:ph idx="1"/>
          </p:nvPr>
        </p:nvSpPr>
        <p:spPr>
          <a:xfrm>
            <a:off x="838200" y="1333500"/>
            <a:ext cx="10515600" cy="317500"/>
          </a:xfrm>
        </p:spPr>
        <p:txBody>
          <a:bodyPr>
            <a:normAutofit/>
          </a:bodyPr>
          <a:lstStyle/>
          <a:p>
            <a:pPr marL="0" indent="0">
              <a:buNone/>
            </a:pPr>
            <a:r>
              <a:rPr lang="en-US" sz="1600" i="1" dirty="0">
                <a:solidFill>
                  <a:srgbClr val="666666"/>
                </a:solidFill>
                <a:latin typeface="Arial"/>
                <a:cs typeface="Arial"/>
              </a:rPr>
              <a:t>NMD pathway: No change.  |  COPD / hypoventilation pathways: Updated below.</a:t>
            </a:r>
          </a:p>
        </p:txBody>
      </p:sp>
      <p:graphicFrame>
        <p:nvGraphicFramePr>
          <p:cNvPr id="4" name="Table 3">
            <a:extLst>
              <a:ext uri="{FF2B5EF4-FFF2-40B4-BE49-F238E27FC236}">
                <a16:creationId xmlns:a16="http://schemas.microsoft.com/office/drawing/2014/main" id="{358353AD-71D6-2D90-60BA-4C5CC5F527CC}"/>
              </a:ext>
            </a:extLst>
          </p:cNvPr>
          <p:cNvGraphicFramePr>
            <a:graphicFrameLocks noGrp="1"/>
          </p:cNvGraphicFramePr>
          <p:nvPr/>
        </p:nvGraphicFramePr>
        <p:xfrm>
          <a:off x="838200" y="1905000"/>
          <a:ext cx="10515600" cy="3239020"/>
        </p:xfrm>
        <a:graphic>
          <a:graphicData uri="http://schemas.openxmlformats.org/drawingml/2006/table">
            <a:tbl>
              <a:tblPr firstRow="1" bandRow="1">
                <a:tableStyleId>{616DA210-FB5B-4158-B5E0-FEB733F419BA}</a:tableStyleId>
              </a:tblPr>
              <a:tblGrid>
                <a:gridCol w="5257800">
                  <a:extLst>
                    <a:ext uri="{9D8B030D-6E8A-4147-A177-3AD203B41FA5}">
                      <a16:colId xmlns:a16="http://schemas.microsoft.com/office/drawing/2014/main" val="1121441303"/>
                    </a:ext>
                  </a:extLst>
                </a:gridCol>
                <a:gridCol w="5257800">
                  <a:extLst>
                    <a:ext uri="{9D8B030D-6E8A-4147-A177-3AD203B41FA5}">
                      <a16:colId xmlns:a16="http://schemas.microsoft.com/office/drawing/2014/main" val="2332607324"/>
                    </a:ext>
                  </a:extLst>
                </a:gridCol>
              </a:tblGrid>
              <a:tr h="381000">
                <a:tc>
                  <a:txBody>
                    <a:bodyPr/>
                    <a:lstStyle/>
                    <a:p>
                      <a:pPr algn="ctr"/>
                      <a:r>
                        <a:rPr lang="en-US" sz="1500" b="1">
                          <a:solidFill>
                            <a:srgbClr val="FFFFFF"/>
                          </a:solidFill>
                          <a:latin typeface="Arial"/>
                          <a:cs typeface="Arial"/>
                        </a:rPr>
                        <a:t>"COPD" — Outpatient</a:t>
                      </a:r>
                      <a:endParaRPr lang="en-US" sz="1500" b="1" dirty="0">
                        <a:solidFill>
                          <a:srgbClr val="FFFFFF"/>
                        </a:solidFill>
                        <a:latin typeface="Arial"/>
                        <a:cs typeface="Arial"/>
                      </a:endParaRPr>
                    </a:p>
                  </a:txBody>
                  <a:tcPr marL="115829" marR="115829" marT="57915" marB="57915" anchor="ctr">
                    <a:solidFill>
                      <a:srgbClr val="110057"/>
                    </a:solidFill>
                  </a:tcPr>
                </a:tc>
                <a:tc>
                  <a:txBody>
                    <a:bodyPr/>
                    <a:lstStyle/>
                    <a:p>
                      <a:pPr algn="ctr"/>
                      <a:r>
                        <a:rPr lang="en-US" sz="1500" b="1">
                          <a:solidFill>
                            <a:srgbClr val="FFFFFF"/>
                          </a:solidFill>
                          <a:latin typeface="Arial"/>
                          <a:cs typeface="Arial"/>
                        </a:rPr>
                        <a:t>"COPD" — On Discharge</a:t>
                      </a:r>
                      <a:endParaRPr lang="en-US" sz="1500" b="1" dirty="0">
                        <a:solidFill>
                          <a:srgbClr val="FFFFFF"/>
                        </a:solidFill>
                        <a:latin typeface="Arial"/>
                        <a:cs typeface="Arial"/>
                      </a:endParaRPr>
                    </a:p>
                  </a:txBody>
                  <a:tcPr marL="115829" marR="115829" marT="57915" marB="57915" anchor="ctr">
                    <a:solidFill>
                      <a:srgbClr val="110057"/>
                    </a:solidFill>
                  </a:tcPr>
                </a:tc>
                <a:extLst>
                  <a:ext uri="{0D108BD9-81ED-4DB2-BD59-A6C34878D82A}">
                    <a16:rowId xmlns:a16="http://schemas.microsoft.com/office/drawing/2014/main" val="2362220329"/>
                  </a:ext>
                </a:extLst>
              </a:tr>
              <a:tr h="711200">
                <a:tc>
                  <a:txBody>
                    <a:bodyPr/>
                    <a:lstStyle/>
                    <a:p>
                      <a:r>
                        <a:rPr lang="en-US" sz="1400">
                          <a:solidFill>
                            <a:srgbClr val="333333"/>
                          </a:solidFill>
                          <a:latin typeface="Arial"/>
                          <a:cs typeface="Arial"/>
                        </a:rPr>
                        <a:t>Chronic Respiratory Failure Dx
("COPD" includes all non-OSA hypercapnia)
No PFTs required</a:t>
                      </a:r>
                      <a:endParaRPr lang="en-US" sz="1400" b="1" dirty="0">
                        <a:solidFill>
                          <a:srgbClr val="333333"/>
                        </a:solidFill>
                        <a:latin typeface="Arial"/>
                        <a:cs typeface="Arial"/>
                      </a:endParaRPr>
                    </a:p>
                  </a:txBody>
                  <a:tcPr marL="115829" marR="115829" marT="57915" marB="57915" anchor="ctr">
                    <a:solidFill>
                      <a:srgbClr val="F5F0FA"/>
                    </a:solidFill>
                  </a:tcPr>
                </a:tc>
                <a:tc>
                  <a:txBody>
                    <a:bodyPr/>
                    <a:lstStyle/>
                    <a:p>
                      <a:r>
                        <a:rPr lang="en-US" sz="1400">
                          <a:solidFill>
                            <a:srgbClr val="333333"/>
                          </a:solidFill>
                          <a:latin typeface="Arial"/>
                          <a:cs typeface="Arial"/>
                        </a:rPr>
                        <a:t>Acute-on-Chronic Respiratory Failure Dx
No PFTs required</a:t>
                      </a:r>
                      <a:endParaRPr lang="en-US" sz="1400" b="1" dirty="0">
                        <a:solidFill>
                          <a:srgbClr val="333333"/>
                        </a:solidFill>
                        <a:latin typeface="Arial"/>
                        <a:cs typeface="Arial"/>
                      </a:endParaRPr>
                    </a:p>
                  </a:txBody>
                  <a:tcPr marL="115829" marR="115829" marT="57915" marB="57915" anchor="ctr">
                    <a:solidFill>
                      <a:srgbClr val="F5F0FA"/>
                    </a:solidFill>
                  </a:tcPr>
                </a:tc>
                <a:extLst>
                  <a:ext uri="{0D108BD9-81ED-4DB2-BD59-A6C34878D82A}">
                    <a16:rowId xmlns:a16="http://schemas.microsoft.com/office/drawing/2014/main" val="3695439708"/>
                  </a:ext>
                </a:extLst>
              </a:tr>
              <a:tr h="711200">
                <a:tc>
                  <a:txBody>
                    <a:bodyPr/>
                    <a:lstStyle/>
                    <a:p>
                      <a:r>
                        <a:rPr lang="en-US" sz="1400">
                          <a:solidFill>
                            <a:srgbClr val="333333"/>
                          </a:solidFill>
                          <a:latin typeface="Arial"/>
                          <a:cs typeface="Arial"/>
                        </a:rPr>
                        <a:t>PaCO₂ ≥ 52 mmHg
2+ weeks after hospitalization or without exacerbation of symptoms</a:t>
                      </a:r>
                      <a:endParaRPr lang="en-US" sz="1400" dirty="0">
                        <a:solidFill>
                          <a:srgbClr val="333333"/>
                        </a:solidFill>
                        <a:latin typeface="Arial"/>
                        <a:cs typeface="Arial"/>
                      </a:endParaRPr>
                    </a:p>
                  </a:txBody>
                  <a:tcPr marL="115829" marR="115829" marT="57915" marB="57915" anchor="ctr">
                    <a:solidFill>
                      <a:srgbClr val="FFFFFF"/>
                    </a:solidFill>
                  </a:tcPr>
                </a:tc>
                <a:tc>
                  <a:txBody>
                    <a:bodyPr/>
                    <a:lstStyle/>
                    <a:p>
                      <a:r>
                        <a:rPr lang="en-US" sz="1400">
                          <a:solidFill>
                            <a:srgbClr val="333333"/>
                          </a:solidFill>
                          <a:latin typeface="Arial"/>
                          <a:cs typeface="Arial"/>
                        </a:rPr>
                        <a:t>Document full RAD settings
within 24h of discharge</a:t>
                      </a:r>
                      <a:endParaRPr lang="en-US" sz="1400" dirty="0">
                        <a:solidFill>
                          <a:srgbClr val="333333"/>
                        </a:solidFill>
                        <a:latin typeface="Arial"/>
                        <a:cs typeface="Arial"/>
                      </a:endParaRPr>
                    </a:p>
                  </a:txBody>
                  <a:tcPr marL="115829" marR="115829" marT="57915" marB="57915" anchor="ctr">
                    <a:solidFill>
                      <a:srgbClr val="FFFFFF"/>
                    </a:solidFill>
                  </a:tcPr>
                </a:tc>
                <a:extLst>
                  <a:ext uri="{0D108BD9-81ED-4DB2-BD59-A6C34878D82A}">
                    <a16:rowId xmlns:a16="http://schemas.microsoft.com/office/drawing/2014/main" val="1407386061"/>
                  </a:ext>
                </a:extLst>
              </a:tr>
              <a:tr h="711200">
                <a:tc>
                  <a:txBody>
                    <a:bodyPr/>
                    <a:lstStyle/>
                    <a:p>
                      <a:r>
                        <a:rPr lang="en-US" sz="1400">
                          <a:solidFill>
                            <a:srgbClr val="333333"/>
                          </a:solidFill>
                          <a:latin typeface="Arial"/>
                          <a:cs typeface="Arial"/>
                        </a:rPr>
                        <a:t>Sleep apnea is not the sole cause
No PSG or overnight oximetry required</a:t>
                      </a:r>
                      <a:endParaRPr lang="en-US" sz="1400" b="1" dirty="0">
                        <a:solidFill>
                          <a:srgbClr val="333333"/>
                        </a:solidFill>
                        <a:latin typeface="Arial"/>
                        <a:cs typeface="Arial"/>
                      </a:endParaRPr>
                    </a:p>
                  </a:txBody>
                  <a:tcPr marL="115829" marR="115829" marT="57915" marB="57915" anchor="ctr">
                    <a:solidFill>
                      <a:srgbClr val="F5F0FA"/>
                    </a:solidFill>
                  </a:tcPr>
                </a:tc>
                <a:tc>
                  <a:txBody>
                    <a:bodyPr/>
                    <a:lstStyle/>
                    <a:p>
                      <a:r>
                        <a:rPr lang="en-US" sz="1400">
                          <a:solidFill>
                            <a:srgbClr val="333333"/>
                          </a:solidFill>
                          <a:latin typeface="Arial"/>
                          <a:cs typeface="Arial"/>
                        </a:rPr>
                        <a:t>RAD needed to avoid symptoms
or rapid PaCO₂ rise</a:t>
                      </a:r>
                      <a:endParaRPr lang="en-US" sz="1400" dirty="0">
                        <a:solidFill>
                          <a:srgbClr val="333333"/>
                        </a:solidFill>
                        <a:latin typeface="Arial"/>
                        <a:cs typeface="Arial"/>
                      </a:endParaRPr>
                    </a:p>
                  </a:txBody>
                  <a:tcPr marL="115829" marR="115829" marT="57915" marB="57915" anchor="ctr">
                    <a:solidFill>
                      <a:srgbClr val="F5F0FA"/>
                    </a:solidFill>
                  </a:tcPr>
                </a:tc>
                <a:extLst>
                  <a:ext uri="{0D108BD9-81ED-4DB2-BD59-A6C34878D82A}">
                    <a16:rowId xmlns:a16="http://schemas.microsoft.com/office/drawing/2014/main" val="1215961964"/>
                  </a:ext>
                </a:extLst>
              </a:tr>
              <a:tr h="635000">
                <a:tc gridSpan="2">
                  <a:txBody>
                    <a:bodyPr/>
                    <a:lstStyle/>
                    <a:p>
                      <a:r>
                        <a:rPr lang="en-US" sz="1400" b="1">
                          <a:solidFill>
                            <a:srgbClr val="333333"/>
                          </a:solidFill>
                          <a:latin typeface="Arial"/>
                          <a:cs typeface="Arial"/>
                        </a:rPr>
                        <a:t>Q6-month Continued Usage: confirm medically necessary, avg ≥5h/24hr usage, and improved CO₂, exacerbations, or symptoms</a:t>
                      </a:r>
                      <a:endParaRPr lang="en-US" sz="1400" b="1" dirty="0">
                        <a:solidFill>
                          <a:srgbClr val="333333"/>
                        </a:solidFill>
                        <a:latin typeface="Arial"/>
                        <a:cs typeface="Arial"/>
                      </a:endParaRPr>
                    </a:p>
                  </a:txBody>
                  <a:tcPr marL="115829" marR="115829" marT="57915" marB="57915">
                    <a:solidFill>
                      <a:srgbClr val="FFF8E1"/>
                    </a:solidFill>
                  </a:tcPr>
                </a:tc>
                <a:tc hMerge="1">
                  <a:txBody>
                    <a:bodyPr/>
                    <a:lstStyle/>
                    <a:p>
                      <a:endParaRPr lang="en-US" sz="2300" dirty="0"/>
                    </a:p>
                  </a:txBody>
                  <a:tcPr marL="115829" marR="115829" marT="57915" marB="57915"/>
                </a:tc>
                <a:extLst>
                  <a:ext uri="{0D108BD9-81ED-4DB2-BD59-A6C34878D82A}">
                    <a16:rowId xmlns:a16="http://schemas.microsoft.com/office/drawing/2014/main" val="2331355340"/>
                  </a:ext>
                </a:extLst>
              </a:tr>
            </a:tbl>
          </a:graphicData>
        </a:graphic>
      </p:graphicFrame>
      <p:sp>
        <p:nvSpPr>
          <p:cNvPr id="5" name="Rectangle 4">
            <a:extLst>
              <a:ext uri="{FF2B5EF4-FFF2-40B4-BE49-F238E27FC236}">
                <a16:creationId xmlns:a16="http://schemas.microsoft.com/office/drawing/2014/main" id="{11D6BE9A-742C-2C42-952A-FFFA00B179F6}"/>
              </a:ext>
            </a:extLst>
          </p:cNvPr>
          <p:cNvSpPr/>
          <p:nvPr/>
        </p:nvSpPr>
        <p:spPr>
          <a:xfrm>
            <a:off x="838200" y="17018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443010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458F9-7D14-C83E-9D3F-33B7677EEB5B}"/>
              </a:ext>
            </a:extLst>
          </p:cNvPr>
          <p:cNvSpPr>
            <a:spLocks noGrp="1"/>
          </p:cNvSpPr>
          <p:nvPr>
            <p:ph type="title"/>
          </p:nvPr>
        </p:nvSpPr>
        <p:spPr/>
        <p:txBody>
          <a:bodyPr/>
          <a:lstStyle/>
          <a:p>
            <a:r>
              <a:rPr lang="en-US" sz="3200" dirty="0">
                <a:solidFill>
                  <a:srgbClr val="110057"/>
                </a:solidFill>
                <a:latin typeface="Arial"/>
                <a:cs typeface="Arial"/>
              </a:rPr>
              <a:t>Section Take Home Points: Devices</a:t>
            </a:r>
          </a:p>
        </p:txBody>
      </p:sp>
      <p:sp>
        <p:nvSpPr>
          <p:cNvPr id="3" name="Content Placeholder 2">
            <a:extLst>
              <a:ext uri="{FF2B5EF4-FFF2-40B4-BE49-F238E27FC236}">
                <a16:creationId xmlns:a16="http://schemas.microsoft.com/office/drawing/2014/main" id="{9B41735A-E2FE-1DB5-15BA-538B1424A780}"/>
              </a:ext>
            </a:extLst>
          </p:cNvPr>
          <p:cNvSpPr>
            <a:spLocks noGrp="1"/>
          </p:cNvSpPr>
          <p:nvPr>
            <p:ph idx="1"/>
          </p:nvPr>
        </p:nvSpPr>
        <p:spPr>
          <a:xfrm>
            <a:off x="838200" y="1825625"/>
            <a:ext cx="10515600" cy="3921523"/>
          </a:xfrm>
        </p:spPr>
        <p:txBody>
          <a:bodyPr>
            <a:spAutoFit/>
          </a:bodyPr>
          <a:lstStyle/>
          <a:p>
            <a:pPr marL="342900" indent="-342900">
              <a:lnSpc>
                <a:spcPts val="2200"/>
              </a:lnSpc>
              <a:spcAft>
                <a:spcPts val="600"/>
              </a:spcAft>
              <a:buNone/>
            </a:pPr>
            <a:r>
              <a:rPr lang="en-US" sz="1800" b="1" dirty="0">
                <a:solidFill>
                  <a:srgbClr val="FBAE40"/>
                </a:solidFill>
                <a:latin typeface="Arial"/>
                <a:cs typeface="Arial"/>
              </a:rPr>
              <a:t>01   </a:t>
            </a:r>
            <a:r>
              <a:rPr lang="en-US" sz="1800" b="1" dirty="0">
                <a:solidFill>
                  <a:srgbClr val="110057"/>
                </a:solidFill>
                <a:latin typeface="Arial"/>
                <a:cs typeface="Arial"/>
              </a:rPr>
              <a:t>Separate the mode from the purpose.</a:t>
            </a:r>
            <a:r>
              <a:rPr lang="en-US" sz="1800" dirty="0">
                <a:solidFill>
                  <a:srgbClr val="110057"/>
                </a:solidFill>
                <a:latin typeface="Arial"/>
                <a:cs typeface="Arial"/>
              </a:rPr>
              <a:t> All three device categories (PAP, RAD, HMV) can deliver BPAP — what differs is the clinical intent: treat sleep-disordered breathing, treat hypoventilation, or provide life support.</a:t>
            </a:r>
          </a:p>
          <a:p>
            <a:pPr marL="342900" indent="-342900">
              <a:lnSpc>
                <a:spcPts val="2200"/>
              </a:lnSpc>
              <a:spcAft>
                <a:spcPts val="600"/>
              </a:spcAft>
              <a:buNone/>
            </a:pPr>
            <a:r>
              <a:rPr lang="en-US" sz="1800" b="1" dirty="0">
                <a:solidFill>
                  <a:srgbClr val="FBAE40"/>
                </a:solidFill>
                <a:latin typeface="Arial"/>
                <a:cs typeface="Arial"/>
              </a:rPr>
              <a:t>02   </a:t>
            </a:r>
            <a:r>
              <a:rPr lang="en-US" sz="1800" b="1" dirty="0">
                <a:solidFill>
                  <a:srgbClr val="110057"/>
                </a:solidFill>
                <a:latin typeface="Arial"/>
                <a:cs typeface="Arial"/>
              </a:rPr>
              <a:t>Prior sleep study? Use the PAP pathway.</a:t>
            </a:r>
            <a:r>
              <a:rPr lang="en-US" sz="1800" dirty="0">
                <a:solidFill>
                  <a:srgbClr val="110057"/>
                </a:solidFill>
                <a:latin typeface="Arial"/>
                <a:cs typeface="Arial"/>
              </a:rPr>
              <a:t> If the patient already has a diagnostic sleep study, you can often qualify them for the device functionality they need through the streamlined sleep PAP pathway.</a:t>
            </a:r>
          </a:p>
          <a:p>
            <a:pPr marL="342900" indent="-342900">
              <a:lnSpc>
                <a:spcPts val="2200"/>
              </a:lnSpc>
              <a:spcAft>
                <a:spcPts val="600"/>
              </a:spcAft>
              <a:buNone/>
            </a:pPr>
            <a:r>
              <a:rPr lang="en-US" sz="1800" b="1" dirty="0">
                <a:solidFill>
                  <a:srgbClr val="FBAE40"/>
                </a:solidFill>
                <a:latin typeface="Arial"/>
                <a:cs typeface="Arial"/>
              </a:rPr>
              <a:t>03   </a:t>
            </a:r>
            <a:r>
              <a:rPr lang="en-US" sz="1800" b="1" dirty="0">
                <a:solidFill>
                  <a:srgbClr val="110057"/>
                </a:solidFill>
                <a:latin typeface="Arial"/>
                <a:cs typeface="Arial"/>
              </a:rPr>
              <a:t>Will they fail without a machine? Consider HMV.</a:t>
            </a:r>
            <a:r>
              <a:rPr lang="en-US" sz="1800" dirty="0">
                <a:solidFill>
                  <a:srgbClr val="110057"/>
                </a:solidFill>
                <a:latin typeface="Arial"/>
                <a:cs typeface="Arial"/>
              </a:rPr>
              <a:t> A home mechanical ventilator can be used at least temporarily — qualification is straightforward, though cost is higher with ongoing rental.</a:t>
            </a:r>
          </a:p>
          <a:p>
            <a:pPr marL="342900" indent="-342900">
              <a:lnSpc>
                <a:spcPts val="2200"/>
              </a:lnSpc>
              <a:buAutoNum type="arabicPlain" startAt="4"/>
            </a:pPr>
            <a:r>
              <a:rPr lang="en-US" sz="1800" b="1" dirty="0">
                <a:solidFill>
                  <a:srgbClr val="110057"/>
                </a:solidFill>
                <a:latin typeface="Arial"/>
                <a:cs typeface="Arial"/>
              </a:rPr>
              <a:t>Everyone else? Navigate the RAD pathway.</a:t>
            </a:r>
            <a:r>
              <a:rPr lang="en-US" sz="1800" dirty="0">
                <a:solidFill>
                  <a:srgbClr val="110057"/>
                </a:solidFill>
                <a:latin typeface="Arial"/>
                <a:cs typeface="Arial"/>
              </a:rPr>
              <a:t> For patients without a prior sleep study who aren't acutely failing, you'll need the RAD NCD pathway.</a:t>
            </a:r>
          </a:p>
          <a:p>
            <a:pPr marL="0" indent="0">
              <a:lnSpc>
                <a:spcPts val="2200"/>
              </a:lnSpc>
              <a:buNone/>
            </a:pPr>
            <a:r>
              <a:rPr lang="en-US" sz="1800" dirty="0">
                <a:solidFill>
                  <a:srgbClr val="110057"/>
                </a:solidFill>
                <a:latin typeface="Arial"/>
                <a:cs typeface="Arial"/>
              </a:rPr>
              <a:t> Phone a friend.</a:t>
            </a:r>
          </a:p>
        </p:txBody>
      </p:sp>
      <p:sp>
        <p:nvSpPr>
          <p:cNvPr id="5" name="Rectangle 4">
            <a:extLst>
              <a:ext uri="{FF2B5EF4-FFF2-40B4-BE49-F238E27FC236}">
                <a16:creationId xmlns:a16="http://schemas.microsoft.com/office/drawing/2014/main" id="{E17FC26A-1D69-234C-910E-0853BBE443F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4227162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6423-415C-1694-A10D-AC4DA1BB85F7}"/>
              </a:ext>
            </a:extLst>
          </p:cNvPr>
          <p:cNvSpPr>
            <a:spLocks noGrp="1"/>
          </p:cNvSpPr>
          <p:nvPr>
            <p:ph type="title"/>
          </p:nvPr>
        </p:nvSpPr>
        <p:spPr/>
        <p:txBody>
          <a:bodyPr>
            <a:normAutofit/>
          </a:bodyPr>
          <a:lstStyle/>
          <a:p>
            <a:r>
              <a:rPr lang="en-US" sz="3200">
                <a:solidFill>
                  <a:srgbClr val="110057"/>
                </a:solidFill>
                <a:latin typeface="Arial"/>
                <a:cs typeface="Arial"/>
              </a:rPr>
              <a:t>Emerging Role of GLP-1 Receptor Agonists</a:t>
            </a:r>
          </a:p>
        </p:txBody>
      </p:sp>
      <p:sp>
        <p:nvSpPr>
          <p:cNvPr id="3" name="Content Placeholder 2">
            <a:extLst>
              <a:ext uri="{FF2B5EF4-FFF2-40B4-BE49-F238E27FC236}">
                <a16:creationId xmlns:a16="http://schemas.microsoft.com/office/drawing/2014/main" id="{7E288244-7F03-92E0-2CE7-C9D0A96497E2}"/>
              </a:ext>
            </a:extLst>
          </p:cNvPr>
          <p:cNvSpPr>
            <a:spLocks noGrp="1"/>
          </p:cNvSpPr>
          <p:nvPr>
            <p:ph idx="1"/>
          </p:nvPr>
        </p:nvSpPr>
        <p:spPr>
          <a:xfrm>
            <a:off x="838200" y="1825625"/>
            <a:ext cx="10515600" cy="4600234"/>
          </a:xfrm>
        </p:spPr>
        <p:txBody>
          <a:bodyPr>
            <a:spAutoFit/>
          </a:bodyPr>
          <a:lstStyle/>
          <a:p>
            <a:pPr marL="0" indent="0">
              <a:buNone/>
            </a:pPr>
            <a:r>
              <a:rPr lang="en-US" sz="2000" b="1" dirty="0">
                <a:latin typeface="Arial"/>
                <a:cs typeface="Arial"/>
              </a:rPr>
              <a:t>Weight Loss Improves OSA</a:t>
            </a:r>
          </a:p>
          <a:p>
            <a:r>
              <a:rPr lang="en-US" sz="1600" dirty="0">
                <a:latin typeface="Arial"/>
                <a:cs typeface="Arial"/>
              </a:rPr>
              <a:t>~0.45 AHI events/hr reduction per 1% body weight lost</a:t>
            </a:r>
          </a:p>
          <a:p>
            <a:pPr lvl="1"/>
            <a:r>
              <a:rPr lang="en-US" sz="1400" i="1" dirty="0">
                <a:solidFill>
                  <a:srgbClr val="555555"/>
                </a:solidFill>
                <a:latin typeface="Arial"/>
                <a:cs typeface="Arial"/>
              </a:rPr>
              <a:t>Locke et al. Obes Rev. 2024; meta-analysis of 10 trials, n=854</a:t>
            </a:r>
          </a:p>
          <a:p>
            <a:pPr marL="0" indent="0">
              <a:spcBef>
                <a:spcPts val="400"/>
              </a:spcBef>
              <a:buNone/>
            </a:pPr>
            <a:r>
              <a:rPr lang="en-US" sz="2000" b="1" dirty="0">
                <a:latin typeface="Arial"/>
                <a:cs typeface="Arial"/>
              </a:rPr>
              <a:t>SURMOUNT-OSA Trial (n=469; two phase 3 RCTs)</a:t>
            </a:r>
          </a:p>
          <a:p>
            <a:r>
              <a:rPr lang="en-US" sz="1600" dirty="0">
                <a:latin typeface="Arial"/>
                <a:cs typeface="Arial"/>
              </a:rPr>
              <a:t>Tirzepatide: AHI −29.3 events/hr vs −5.5 placebo at 52 wk</a:t>
            </a:r>
          </a:p>
          <a:p>
            <a:r>
              <a:rPr lang="en-US" sz="1600" dirty="0">
                <a:latin typeface="Arial"/>
                <a:cs typeface="Arial"/>
              </a:rPr>
              <a:t>Also reduced body weight, hypoxic burden, hsCRP, systolic BP</a:t>
            </a:r>
          </a:p>
          <a:p>
            <a:pPr lvl="1"/>
            <a:r>
              <a:rPr lang="en-US" sz="1400" i="1" dirty="0">
                <a:solidFill>
                  <a:srgbClr val="555555"/>
                </a:solidFill>
                <a:latin typeface="Arial"/>
                <a:cs typeface="Arial"/>
              </a:rPr>
              <a:t>Malhotra et al. N Engl J Med. 2024;391(13):1193–1205</a:t>
            </a:r>
          </a:p>
          <a:p>
            <a:pPr marL="0" indent="0">
              <a:spcBef>
                <a:spcPts val="400"/>
              </a:spcBef>
              <a:buNone/>
            </a:pPr>
            <a:r>
              <a:rPr lang="en-US" sz="2000" b="1" dirty="0">
                <a:latin typeface="Arial"/>
                <a:cs typeface="Arial"/>
              </a:rPr>
              <a:t>GLP-1 RA Benefit Depends on Causal Role of OSA in Hypercapnia</a:t>
            </a:r>
          </a:p>
          <a:p>
            <a:r>
              <a:rPr lang="en-US" sz="1600" dirty="0">
                <a:latin typeface="Arial"/>
                <a:cs typeface="Arial"/>
              </a:rPr>
              <a:t>OSA found in </a:t>
            </a:r>
            <a:r>
              <a:rPr lang="en-US" sz="1600" b="1" dirty="0">
                <a:latin typeface="Arial"/>
                <a:cs typeface="Arial"/>
              </a:rPr>
              <a:t>63–88%</a:t>
            </a:r>
            <a:r>
              <a:rPr lang="en-US" sz="1600" dirty="0">
                <a:latin typeface="Arial"/>
                <a:cs typeface="Arial"/>
              </a:rPr>
              <a:t> of ICU hypercapnic patients when sleep testing is performed (~5× the rate identified by clinician assessment)</a:t>
            </a:r>
          </a:p>
          <a:p>
            <a:r>
              <a:rPr lang="en-US" sz="1600" dirty="0">
                <a:latin typeface="Arial"/>
                <a:cs typeface="Arial"/>
              </a:rPr>
              <a:t>Most patients with hypercapnic respiratory failure have an FDA indication for GLP1ra, but coverage challenging. (Unpublished work)</a:t>
            </a:r>
          </a:p>
          <a:p>
            <a:r>
              <a:rPr lang="en-US" sz="1600" dirty="0">
                <a:latin typeface="Arial"/>
                <a:cs typeface="Arial"/>
              </a:rPr>
              <a:t>The extent that OSA is causal vs. epiphenomenal in many of these cases is not established</a:t>
            </a:r>
          </a:p>
          <a:p>
            <a:pPr lvl="1"/>
            <a:r>
              <a:rPr lang="en-US" sz="1400" i="1" dirty="0">
                <a:solidFill>
                  <a:srgbClr val="555555"/>
                </a:solidFill>
                <a:latin typeface="Arial"/>
                <a:cs typeface="Arial"/>
              </a:rPr>
              <a:t>Locke, Brown, Sundar. Sleep Med Clin. 2024;19(2):339–356</a:t>
            </a:r>
          </a:p>
          <a:p>
            <a:pPr lvl="1"/>
            <a:endParaRPr lang="en-US" sz="1400" i="1" dirty="0">
              <a:solidFill>
                <a:srgbClr val="555555"/>
              </a:solidFill>
              <a:latin typeface="Arial"/>
              <a:cs typeface="Arial"/>
            </a:endParaRPr>
          </a:p>
        </p:txBody>
      </p:sp>
      <p:sp>
        <p:nvSpPr>
          <p:cNvPr id="5" name="Rectangle 4">
            <a:extLst>
              <a:ext uri="{FF2B5EF4-FFF2-40B4-BE49-F238E27FC236}">
                <a16:creationId xmlns:a16="http://schemas.microsoft.com/office/drawing/2014/main" id="{5AD80EE9-675F-7B41-9362-4C6337CF27C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0920083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4EEB-457F-8A38-4886-3BE50D107D2B}"/>
              </a:ext>
            </a:extLst>
          </p:cNvPr>
          <p:cNvSpPr>
            <a:spLocks noGrp="1"/>
          </p:cNvSpPr>
          <p:nvPr>
            <p:ph type="title"/>
          </p:nvPr>
        </p:nvSpPr>
        <p:spPr/>
        <p:txBody>
          <a:bodyPr>
            <a:normAutofit/>
          </a:bodyPr>
          <a:lstStyle/>
          <a:p>
            <a:r>
              <a:rPr lang="en-US" sz="3200">
                <a:solidFill>
                  <a:srgbClr val="110057"/>
                </a:solidFill>
                <a:latin typeface="Arial"/>
                <a:cs typeface="Arial"/>
              </a:rPr>
              <a:t>What We're Learning — And What's Changing</a:t>
            </a:r>
          </a:p>
        </p:txBody>
      </p:sp>
      <p:sp>
        <p:nvSpPr>
          <p:cNvPr id="3" name="Content Placeholder 2">
            <a:extLst>
              <a:ext uri="{FF2B5EF4-FFF2-40B4-BE49-F238E27FC236}">
                <a16:creationId xmlns:a16="http://schemas.microsoft.com/office/drawing/2014/main" id="{D223AE18-9F79-A232-2B1B-8FB7B15FA48B}"/>
              </a:ext>
            </a:extLst>
          </p:cNvPr>
          <p:cNvSpPr>
            <a:spLocks noGrp="1"/>
          </p:cNvSpPr>
          <p:nvPr>
            <p:ph idx="1"/>
          </p:nvPr>
        </p:nvSpPr>
        <p:spPr/>
        <p:txBody>
          <a:bodyPr>
            <a:normAutofit/>
          </a:bodyPr>
          <a:lstStyle/>
          <a:p>
            <a:pPr marL="0" indent="0">
              <a:buNone/>
            </a:pPr>
            <a:r>
              <a:rPr lang="en-US" sz="2200" b="1" dirty="0">
                <a:latin typeface="Arial"/>
                <a:cs typeface="Arial"/>
              </a:rPr>
              <a:t>Benchmarking the problem statewide</a:t>
            </a:r>
          </a:p>
          <a:p>
            <a:pPr lvl="1"/>
            <a:r>
              <a:rPr lang="en-US" sz="2000" dirty="0">
                <a:latin typeface="Arial"/>
                <a:cs typeface="Arial"/>
              </a:rPr>
              <a:t>How often are patients with hypercapnic respiratory failure getting tested?</a:t>
            </a:r>
          </a:p>
          <a:p>
            <a:pPr lvl="1"/>
            <a:r>
              <a:rPr lang="en-US" sz="2000" dirty="0">
                <a:latin typeface="Arial"/>
                <a:cs typeface="Arial"/>
              </a:rPr>
              <a:t>What are the readmission, ED return, and mortality rates across Utah?</a:t>
            </a:r>
          </a:p>
          <a:p>
            <a:pPr lvl="1"/>
            <a:r>
              <a:rPr lang="en-US" sz="2000" dirty="0">
                <a:latin typeface="Arial"/>
                <a:cs typeface="Arial"/>
              </a:rPr>
              <a:t>Using Utah Population Database + All-Payer Claims (CO₂-PATH Cohort)</a:t>
            </a:r>
          </a:p>
          <a:p>
            <a:pPr marL="0" indent="0">
              <a:buNone/>
            </a:pPr>
            <a:endParaRPr lang="en-US" sz="1400" dirty="0">
              <a:latin typeface="Arial"/>
              <a:cs typeface="Arial"/>
            </a:endParaRPr>
          </a:p>
          <a:p>
            <a:pPr marL="0" indent="0">
              <a:buNone/>
            </a:pPr>
            <a:r>
              <a:rPr lang="en-US" sz="2200" b="1" dirty="0">
                <a:latin typeface="Arial"/>
                <a:cs typeface="Arial"/>
              </a:rPr>
              <a:t>Moving toward risk-based (not diagnosis-based) referral</a:t>
            </a:r>
          </a:p>
          <a:p>
            <a:pPr lvl="1"/>
            <a:r>
              <a:rPr lang="en-US" sz="2000" dirty="0">
                <a:latin typeface="Arial"/>
                <a:cs typeface="Arial"/>
              </a:rPr>
              <a:t>Expedite workup and empiric management for high-risk patients</a:t>
            </a:r>
          </a:p>
          <a:p>
            <a:pPr lvl="1"/>
            <a:r>
              <a:rPr lang="en-US" sz="2000" dirty="0">
                <a:latin typeface="Arial"/>
                <a:cs typeface="Arial"/>
              </a:rPr>
              <a:t>Risk stratification via Select Health claims (AIM-HIGH project)</a:t>
            </a:r>
          </a:p>
          <a:p>
            <a:pPr marL="0" indent="0">
              <a:buNone/>
            </a:pPr>
            <a:endParaRPr lang="en-US" sz="1400" dirty="0">
              <a:latin typeface="Arial"/>
              <a:cs typeface="Arial"/>
            </a:endParaRPr>
          </a:p>
          <a:p>
            <a:pPr marL="0" indent="0">
              <a:buNone/>
            </a:pPr>
            <a:r>
              <a:rPr lang="en-US" sz="2200" b="1" dirty="0">
                <a:latin typeface="Arial"/>
                <a:cs typeface="Arial"/>
              </a:rPr>
              <a:t>New NCD guidelines (2025) — finally modernizing RAD qualification</a:t>
            </a:r>
          </a:p>
          <a:p>
            <a:pPr lvl="1"/>
            <a:r>
              <a:rPr lang="en-US" sz="2000" dirty="0">
                <a:latin typeface="Arial"/>
                <a:cs typeface="Arial"/>
              </a:rPr>
              <a:t>No longer requires PFTs for non-OSA hypercapnia qualification</a:t>
            </a:r>
          </a:p>
          <a:p>
            <a:pPr lvl="1"/>
            <a:r>
              <a:rPr lang="en-US" sz="2000" dirty="0">
                <a:latin typeface="Arial"/>
                <a:cs typeface="Arial"/>
              </a:rPr>
              <a:t>Discharge pathway now has its own qualification track</a:t>
            </a:r>
          </a:p>
        </p:txBody>
      </p:sp>
      <p:sp>
        <p:nvSpPr>
          <p:cNvPr id="5" name="Rectangle 4">
            <a:extLst>
              <a:ext uri="{FF2B5EF4-FFF2-40B4-BE49-F238E27FC236}">
                <a16:creationId xmlns:a16="http://schemas.microsoft.com/office/drawing/2014/main" id="{3C2E4432-0DE0-4E4C-B49B-D0AA3CBD17C9}"/>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952233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8065B-EA31-69F4-8715-25B8057C0FFE}"/>
              </a:ext>
            </a:extLst>
          </p:cNvPr>
          <p:cNvSpPr>
            <a:spLocks noGrp="1"/>
          </p:cNvSpPr>
          <p:nvPr>
            <p:ph type="title"/>
          </p:nvPr>
        </p:nvSpPr>
        <p:spPr>
          <a:xfrm>
            <a:off x="838200" y="368300"/>
            <a:ext cx="10515600" cy="1320800"/>
          </a:xfrm>
        </p:spPr>
        <p:txBody>
          <a:bodyPr vert="horz" lIns="91440" tIns="45720" rIns="91440" bIns="45720" rtlCol="0" anchor="b">
            <a:normAutofit/>
          </a:bodyPr>
          <a:lstStyle/>
          <a:p>
            <a:r>
              <a:rPr lang="en-US" sz="3200" dirty="0">
                <a:solidFill>
                  <a:srgbClr val="110057"/>
                </a:solidFill>
                <a:latin typeface="Arial"/>
                <a:cs typeface="Arial"/>
              </a:rPr>
              <a:t>Take Home Point</a:t>
            </a:r>
          </a:p>
        </p:txBody>
      </p:sp>
      <p:sp>
        <p:nvSpPr>
          <p:cNvPr id="3" name="Rectangle 2">
            <a:extLst>
              <a:ext uri="{FF2B5EF4-FFF2-40B4-BE49-F238E27FC236}">
                <a16:creationId xmlns:a16="http://schemas.microsoft.com/office/drawing/2014/main" id="{34D64E74-0288-A840-9C0B-CF346AAAED0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8CBDE04C-D2B1-4649-B3F9-19B00DFD6CA2}"/>
              </a:ext>
            </a:extLst>
          </p:cNvPr>
          <p:cNvSpPr txBox="1"/>
          <p:nvPr/>
        </p:nvSpPr>
        <p:spPr>
          <a:xfrm>
            <a:off x="838200" y="2667000"/>
            <a:ext cx="10515600" cy="2292294"/>
          </a:xfrm>
          <a:prstGeom prst="rect">
            <a:avLst/>
          </a:prstGeom>
          <a:noFill/>
        </p:spPr>
        <p:txBody>
          <a:bodyPr vertOverflow="overflow" vert="horz" wrap="square" rtlCol="0" anchor="t">
            <a:spAutoFit/>
          </a:bodyPr>
          <a:lstStyle/>
          <a:p>
            <a:pPr marL="0" indent="0">
              <a:lnSpc>
                <a:spcPts val="3600"/>
              </a:lnSpc>
              <a:spcAft>
                <a:spcPts val="1200"/>
              </a:spcAft>
              <a:buNone/>
            </a:pPr>
            <a:r>
              <a:rPr lang="en-US" sz="2800" dirty="0">
                <a:solidFill>
                  <a:srgbClr val="110057"/>
                </a:solidFill>
                <a:latin typeface="Arial"/>
                <a:cs typeface="Arial"/>
              </a:rPr>
              <a:t>Obesity-related respiratory failure is </a:t>
            </a:r>
            <a:r>
              <a:rPr lang="en-US" sz="2800" b="1" dirty="0">
                <a:solidFill>
                  <a:srgbClr val="110057"/>
                </a:solidFill>
                <a:latin typeface="Arial"/>
                <a:cs typeface="Arial"/>
              </a:rPr>
              <a:t>common</a:t>
            </a:r>
            <a:r>
              <a:rPr lang="en-US" sz="2800" dirty="0">
                <a:solidFill>
                  <a:srgbClr val="110057"/>
                </a:solidFill>
                <a:latin typeface="Arial"/>
                <a:cs typeface="Arial"/>
              </a:rPr>
              <a:t>, </a:t>
            </a:r>
            <a:r>
              <a:rPr lang="en-US" sz="2800" b="1" dirty="0">
                <a:solidFill>
                  <a:srgbClr val="110057"/>
                </a:solidFill>
                <a:latin typeface="Arial"/>
                <a:cs typeface="Arial"/>
              </a:rPr>
              <a:t>morbid</a:t>
            </a:r>
            <a:r>
              <a:rPr lang="en-US" sz="2800" dirty="0">
                <a:solidFill>
                  <a:srgbClr val="110057"/>
                </a:solidFill>
                <a:latin typeface="Arial"/>
                <a:cs typeface="Arial"/>
              </a:rPr>
              <a:t>, </a:t>
            </a:r>
            <a:r>
              <a:rPr lang="en-US" sz="2800" b="1" dirty="0">
                <a:solidFill>
                  <a:srgbClr val="110057"/>
                </a:solidFill>
                <a:latin typeface="Arial"/>
                <a:cs typeface="Arial"/>
              </a:rPr>
              <a:t>under-recognized</a:t>
            </a:r>
            <a:r>
              <a:rPr lang="en-US" sz="2800" dirty="0">
                <a:solidFill>
                  <a:srgbClr val="110057"/>
                </a:solidFill>
                <a:latin typeface="Arial"/>
                <a:cs typeface="Arial"/>
              </a:rPr>
              <a:t>, and </a:t>
            </a:r>
            <a:r>
              <a:rPr lang="en-US" sz="2800" b="1" dirty="0">
                <a:solidFill>
                  <a:srgbClr val="110057"/>
                </a:solidFill>
                <a:latin typeface="Arial"/>
                <a:cs typeface="Arial"/>
              </a:rPr>
              <a:t>misattributed</a:t>
            </a:r>
            <a:r>
              <a:rPr lang="en-US" sz="2800" dirty="0">
                <a:solidFill>
                  <a:srgbClr val="110057"/>
                </a:solidFill>
                <a:latin typeface="Arial"/>
                <a:cs typeface="Arial"/>
              </a:rPr>
              <a:t>.</a:t>
            </a:r>
          </a:p>
          <a:p>
            <a:pPr marL="0" indent="0">
              <a:lnSpc>
                <a:spcPts val="2800"/>
              </a:lnSpc>
              <a:spcAft>
                <a:spcPts val="600"/>
              </a:spcAft>
              <a:buNone/>
            </a:pPr>
            <a:r>
              <a:rPr lang="en-US" sz="2000" dirty="0">
                <a:solidFill>
                  <a:srgbClr val="555555"/>
                </a:solidFill>
                <a:latin typeface="Arial"/>
                <a:cs typeface="Arial"/>
              </a:rPr>
              <a:t>The diagnosis is hiding in plain sight — look for hypoxemia and elevated HCO</a:t>
            </a:r>
            <a:r>
              <a:rPr lang="en-US" sz="2000" baseline="-25000" dirty="0">
                <a:solidFill>
                  <a:srgbClr val="555555"/>
                </a:solidFill>
                <a:latin typeface="Arial"/>
                <a:cs typeface="Arial"/>
              </a:rPr>
              <a:t>3</a:t>
            </a:r>
            <a:r>
              <a:rPr lang="en-US" sz="2000" dirty="0">
                <a:solidFill>
                  <a:srgbClr val="555555"/>
                </a:solidFill>
                <a:latin typeface="Arial"/>
                <a:cs typeface="Arial"/>
              </a:rPr>
              <a:t> in obese patients with unexplained respiratory failure.</a:t>
            </a:r>
          </a:p>
          <a:p>
            <a:pPr marL="0" indent="0">
              <a:lnSpc>
                <a:spcPts val="2800"/>
              </a:lnSpc>
              <a:buNone/>
            </a:pPr>
            <a:r>
              <a:rPr lang="en-US" sz="2000" dirty="0">
                <a:solidFill>
                  <a:srgbClr val="555555"/>
                </a:solidFill>
                <a:latin typeface="Arial"/>
                <a:cs typeface="Arial"/>
              </a:rPr>
              <a:t>Regulatory and workflow barriers are real — but navigable.</a:t>
            </a:r>
          </a:p>
        </p:txBody>
      </p:sp>
    </p:spTree>
    <p:extLst>
      <p:ext uri="{BB962C8B-B14F-4D97-AF65-F5344CB8AC3E}">
        <p14:creationId xmlns:p14="http://schemas.microsoft.com/office/powerpoint/2010/main" val="19472914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196FE-4D60-8B80-A1DE-81C25B2B80CF}"/>
              </a:ext>
            </a:extLst>
          </p:cNvPr>
          <p:cNvSpPr>
            <a:spLocks noGrp="1"/>
          </p:cNvSpPr>
          <p:nvPr>
            <p:ph type="title"/>
          </p:nvPr>
        </p:nvSpPr>
        <p:spPr/>
        <p:txBody>
          <a:bodyPr/>
          <a:lstStyle/>
          <a:p>
            <a:r>
              <a:rPr lang="en-US" sz="3200" dirty="0">
                <a:solidFill>
                  <a:srgbClr val="110057"/>
                </a:solidFill>
                <a:latin typeface="Arial"/>
                <a:cs typeface="Arial"/>
              </a:rPr>
              <a:t>Summary</a:t>
            </a:r>
          </a:p>
        </p:txBody>
      </p:sp>
      <p:sp>
        <p:nvSpPr>
          <p:cNvPr id="3" name="Content Placeholder 2">
            <a:extLst>
              <a:ext uri="{FF2B5EF4-FFF2-40B4-BE49-F238E27FC236}">
                <a16:creationId xmlns:a16="http://schemas.microsoft.com/office/drawing/2014/main" id="{6144C973-30E2-C6F4-5AC1-1BF48A160480}"/>
              </a:ext>
            </a:extLst>
          </p:cNvPr>
          <p:cNvSpPr>
            <a:spLocks noGrp="1"/>
          </p:cNvSpPr>
          <p:nvPr>
            <p:ph idx="1"/>
          </p:nvPr>
        </p:nvSpPr>
        <p:spPr/>
        <p:txBody>
          <a:bodyPr/>
          <a:lstStyle/>
          <a:p>
            <a:pPr marL="342900" indent="-342900">
              <a:lnSpc>
                <a:spcPts val="2200"/>
              </a:lnSpc>
              <a:spcAft>
                <a:spcPts val="600"/>
              </a:spcAft>
              <a:buNone/>
            </a:pPr>
            <a:r>
              <a:rPr lang="en-US" sz="1800" b="1" dirty="0">
                <a:solidFill>
                  <a:srgbClr val="FBAE40"/>
                </a:solidFill>
                <a:latin typeface="Arial"/>
                <a:cs typeface="Arial"/>
              </a:rPr>
              <a:t>01   </a:t>
            </a:r>
            <a:r>
              <a:rPr lang="en-US" sz="1800" dirty="0">
                <a:solidFill>
                  <a:srgbClr val="110057"/>
                </a:solidFill>
                <a:latin typeface="Arial"/>
                <a:cs typeface="Arial"/>
              </a:rPr>
              <a:t>OHS is a diagnosis of exclusion. </a:t>
            </a:r>
            <a:r>
              <a:rPr lang="en-US" sz="1800" b="1" dirty="0">
                <a:solidFill>
                  <a:srgbClr val="110057"/>
                </a:solidFill>
                <a:latin typeface="Arial"/>
                <a:cs typeface="Arial"/>
              </a:rPr>
              <a:t>“Obesity-related respiratory failure”</a:t>
            </a:r>
            <a:r>
              <a:rPr lang="en-US" sz="1800" dirty="0">
                <a:solidFill>
                  <a:srgbClr val="110057"/>
                </a:solidFill>
                <a:latin typeface="Arial"/>
                <a:cs typeface="Arial"/>
              </a:rPr>
              <a:t> is a more practical clinical framework.</a:t>
            </a:r>
          </a:p>
          <a:p>
            <a:pPr marL="342900" indent="-342900">
              <a:lnSpc>
                <a:spcPts val="2200"/>
              </a:lnSpc>
              <a:spcAft>
                <a:spcPts val="600"/>
              </a:spcAft>
              <a:buNone/>
            </a:pPr>
            <a:r>
              <a:rPr lang="en-US" sz="1800" b="1" dirty="0">
                <a:solidFill>
                  <a:srgbClr val="FBAE40"/>
                </a:solidFill>
                <a:latin typeface="Arial"/>
                <a:cs typeface="Arial"/>
              </a:rPr>
              <a:t>02   </a:t>
            </a:r>
            <a:r>
              <a:rPr lang="en-US" sz="1800" dirty="0">
                <a:solidFill>
                  <a:srgbClr val="110057"/>
                </a:solidFill>
                <a:latin typeface="Arial"/>
                <a:cs typeface="Arial"/>
              </a:rPr>
              <a:t>It is </a:t>
            </a:r>
            <a:r>
              <a:rPr lang="en-US" sz="1800" b="1" dirty="0">
                <a:solidFill>
                  <a:srgbClr val="110057"/>
                </a:solidFill>
                <a:latin typeface="Arial"/>
                <a:cs typeface="Arial"/>
              </a:rPr>
              <a:t>common, </a:t>
            </a:r>
            <a:r>
              <a:rPr lang="en-US" sz="1800" b="1" dirty="0">
                <a:latin typeface="Arial"/>
                <a:cs typeface="Arial"/>
              </a:rPr>
              <a:t>morbid</a:t>
            </a:r>
            <a:r>
              <a:rPr lang="en-US" sz="1800" b="1" dirty="0">
                <a:solidFill>
                  <a:srgbClr val="110057"/>
                </a:solidFill>
                <a:latin typeface="Arial"/>
                <a:cs typeface="Arial"/>
              </a:rPr>
              <a:t>, and under-recognized.</a:t>
            </a:r>
            <a:r>
              <a:rPr lang="en-US" sz="1800" dirty="0">
                <a:solidFill>
                  <a:srgbClr val="110057"/>
                </a:solidFill>
                <a:latin typeface="Arial"/>
                <a:cs typeface="Arial"/>
              </a:rPr>
              <a:t> Use hypoxemia and elevated HCO</a:t>
            </a:r>
            <a:r>
              <a:rPr lang="en-US" sz="1800" baseline="-25000" dirty="0">
                <a:solidFill>
                  <a:srgbClr val="110057"/>
                </a:solidFill>
                <a:latin typeface="Arial"/>
                <a:cs typeface="Arial"/>
              </a:rPr>
              <a:t>3</a:t>
            </a:r>
            <a:r>
              <a:rPr lang="en-US" sz="1800" dirty="0">
                <a:solidFill>
                  <a:srgbClr val="110057"/>
                </a:solidFill>
                <a:latin typeface="Arial"/>
                <a:cs typeface="Arial"/>
              </a:rPr>
              <a:t> to trigger workup. Attribute the </a:t>
            </a:r>
            <a:r>
              <a:rPr lang="en-US" sz="1800" dirty="0">
                <a:latin typeface="Arial"/>
                <a:cs typeface="Arial"/>
              </a:rPr>
              <a:t>cause via skeptical process of elimination. </a:t>
            </a:r>
            <a:endParaRPr lang="en-US" sz="1800" dirty="0">
              <a:solidFill>
                <a:srgbClr val="110057"/>
              </a:solidFill>
              <a:latin typeface="Arial"/>
              <a:cs typeface="Arial"/>
            </a:endParaRPr>
          </a:p>
          <a:p>
            <a:pPr marL="342900" indent="-342900">
              <a:lnSpc>
                <a:spcPts val="2200"/>
              </a:lnSpc>
              <a:spcAft>
                <a:spcPts val="600"/>
              </a:spcAft>
              <a:buNone/>
            </a:pPr>
            <a:r>
              <a:rPr lang="en-US" sz="1800" b="1" dirty="0">
                <a:solidFill>
                  <a:srgbClr val="FBAE40"/>
                </a:solidFill>
                <a:latin typeface="Arial"/>
                <a:cs typeface="Arial"/>
              </a:rPr>
              <a:t>03   </a:t>
            </a:r>
            <a:r>
              <a:rPr lang="en-US" sz="1800" dirty="0">
                <a:solidFill>
                  <a:srgbClr val="110057"/>
                </a:solidFill>
                <a:latin typeface="Arial"/>
                <a:cs typeface="Arial"/>
              </a:rPr>
              <a:t>Discharging on BPAP is hard: </a:t>
            </a:r>
            <a:r>
              <a:rPr lang="en-US" sz="1800" b="1" dirty="0">
                <a:solidFill>
                  <a:srgbClr val="110057"/>
                </a:solidFill>
                <a:latin typeface="Arial"/>
                <a:cs typeface="Arial"/>
              </a:rPr>
              <a:t>outdated NCDs, device categories, and payment structures</a:t>
            </a:r>
            <a:r>
              <a:rPr lang="en-US" sz="1800" dirty="0">
                <a:solidFill>
                  <a:srgbClr val="110057"/>
                </a:solidFill>
                <a:latin typeface="Arial"/>
                <a:cs typeface="Arial"/>
              </a:rPr>
              <a:t> create a qualification maze — but these are changing.</a:t>
            </a:r>
          </a:p>
          <a:p>
            <a:pPr marL="342900" indent="-342900">
              <a:lnSpc>
                <a:spcPts val="2200"/>
              </a:lnSpc>
              <a:buNone/>
            </a:pPr>
            <a:r>
              <a:rPr lang="en-US" sz="1800" b="1" dirty="0">
                <a:solidFill>
                  <a:srgbClr val="FBAE40"/>
                </a:solidFill>
                <a:latin typeface="Arial"/>
                <a:cs typeface="Arial"/>
              </a:rPr>
              <a:t>04   </a:t>
            </a:r>
            <a:r>
              <a:rPr lang="en-US" sz="1800" b="1" dirty="0">
                <a:solidFill>
                  <a:srgbClr val="110057"/>
                </a:solidFill>
                <a:latin typeface="Arial"/>
                <a:cs typeface="Arial"/>
              </a:rPr>
              <a:t>GLP-1 receptor agonists</a:t>
            </a:r>
            <a:r>
              <a:rPr lang="en-US" sz="1800" dirty="0">
                <a:solidFill>
                  <a:srgbClr val="110057"/>
                </a:solidFill>
                <a:latin typeface="Arial"/>
                <a:cs typeface="Arial"/>
              </a:rPr>
              <a:t> are an emerging tool — weight loss may improve or resolve the underlying respiratory failure, but data are sparse.</a:t>
            </a:r>
          </a:p>
        </p:txBody>
      </p:sp>
      <p:sp>
        <p:nvSpPr>
          <p:cNvPr id="4" name="Rectangle 3">
            <a:extLst>
              <a:ext uri="{FF2B5EF4-FFF2-40B4-BE49-F238E27FC236}">
                <a16:creationId xmlns:a16="http://schemas.microsoft.com/office/drawing/2014/main" id="{20547FF2-E97B-0B49-829B-24A46217755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100011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2">
            <a:extLst>
              <a:ext uri="{FF2B5EF4-FFF2-40B4-BE49-F238E27FC236}">
                <a16:creationId xmlns:a16="http://schemas.microsoft.com/office/drawing/2014/main" id="{5020FDCE-418F-FB44-B204-2BA56A92A969}"/>
              </a:ext>
            </a:extLst>
          </p:cNvPr>
          <p:cNvSpPr txBox="1">
            <a:spLocks/>
          </p:cNvSpPr>
          <p:nvPr/>
        </p:nvSpPr>
        <p:spPr>
          <a:xfrm>
            <a:off x="635000" y="1143000"/>
            <a:ext cx="5461000" cy="3017173"/>
          </a:xfrm>
          <a:prstGeom prst="rect">
            <a:avLst/>
          </a:prstGeom>
        </p:spPr>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5000"/>
              </a:lnSpc>
              <a:spcBef>
                <a:spcPts val="0"/>
              </a:spcBef>
              <a:spcAft>
                <a:spcPts val="500"/>
              </a:spcAft>
              <a:buNone/>
            </a:pPr>
            <a:r>
              <a:rPr lang="en-US" sz="1600" b="1" dirty="0">
                <a:solidFill>
                  <a:srgbClr val="110057"/>
                </a:solidFill>
                <a:latin typeface="Arial"/>
                <a:cs typeface="Arial"/>
              </a:rPr>
              <a:t>Research Funding</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Intermountain Foundation</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ATS ASPIRE Fellowship</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NIH/NHLBI T32 — University of Utah PCCM</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Utah Population Database</a:t>
            </a:r>
          </a:p>
          <a:p>
            <a:pPr marL="400050" lvl="1" indent="-171450">
              <a:lnSpc>
                <a:spcPct val="115000"/>
              </a:lnSpc>
              <a:spcBef>
                <a:spcPts val="0"/>
              </a:spcBef>
              <a:spcAft>
                <a:spcPts val="100"/>
              </a:spcAft>
              <a:buFont typeface="Arial"/>
              <a:buChar char="–"/>
            </a:pPr>
            <a:r>
              <a:rPr lang="en-US" sz="1400" dirty="0">
                <a:solidFill>
                  <a:srgbClr val="666666"/>
                </a:solidFill>
                <a:latin typeface="Arial"/>
                <a:cs typeface="Arial"/>
              </a:rPr>
              <a:t>U of Utah Huntsman Cancer Institute</a:t>
            </a:r>
          </a:p>
          <a:p>
            <a:pPr marL="400050" lvl="1" indent="-171450">
              <a:lnSpc>
                <a:spcPct val="115000"/>
              </a:lnSpc>
              <a:spcBef>
                <a:spcPts val="0"/>
              </a:spcBef>
              <a:spcAft>
                <a:spcPts val="200"/>
              </a:spcAft>
              <a:buFont typeface="Arial"/>
              <a:buChar char="–"/>
            </a:pPr>
            <a:r>
              <a:rPr lang="en-US" sz="1400" dirty="0">
                <a:solidFill>
                  <a:srgbClr val="666666"/>
                </a:solidFill>
                <a:latin typeface="Arial"/>
                <a:cs typeface="Arial"/>
              </a:rPr>
              <a:t>NCI Cancer Center Support (P30 CA2014)</a:t>
            </a:r>
          </a:p>
          <a:p>
            <a:pPr marL="0" indent="0">
              <a:lnSpc>
                <a:spcPct val="115000"/>
              </a:lnSpc>
              <a:spcBef>
                <a:spcPts val="800"/>
              </a:spcBef>
              <a:spcAft>
                <a:spcPts val="500"/>
              </a:spcAft>
              <a:buNone/>
            </a:pPr>
            <a:r>
              <a:rPr lang="en-US" sz="1600" b="1" dirty="0">
                <a:solidFill>
                  <a:srgbClr val="110057"/>
                </a:solidFill>
                <a:latin typeface="Arial"/>
                <a:cs typeface="Arial"/>
              </a:rPr>
              <a:t>Clinical Support</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Claire Davies &amp; Megan Hepworth (PDNs)</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Schmidt Chest Clinic</a:t>
            </a:r>
          </a:p>
        </p:txBody>
      </p:sp>
      <p:sp>
        <p:nvSpPr>
          <p:cNvPr id="5" name="Content Placeholder 3">
            <a:extLst>
              <a:ext uri="{FF2B5EF4-FFF2-40B4-BE49-F238E27FC236}">
                <a16:creationId xmlns:a16="http://schemas.microsoft.com/office/drawing/2014/main" id="{CDC1D30B-BFE4-87B2-E7E7-957AF18F9C65}"/>
              </a:ext>
            </a:extLst>
          </p:cNvPr>
          <p:cNvSpPr txBox="1">
            <a:spLocks/>
          </p:cNvSpPr>
          <p:nvPr/>
        </p:nvSpPr>
        <p:spPr>
          <a:xfrm>
            <a:off x="6350000" y="1143000"/>
            <a:ext cx="5588000" cy="4442691"/>
          </a:xfrm>
          <a:prstGeom prst="rect">
            <a:avLst/>
          </a:prstGeom>
        </p:spPr>
        <p:txBody>
          <a:bodyPr>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5000"/>
              </a:lnSpc>
              <a:spcBef>
                <a:spcPts val="0"/>
              </a:spcBef>
              <a:spcAft>
                <a:spcPts val="500"/>
              </a:spcAft>
              <a:buNone/>
            </a:pPr>
            <a:r>
              <a:rPr lang="en-US" sz="1600" b="1" dirty="0">
                <a:solidFill>
                  <a:srgbClr val="110057"/>
                </a:solidFill>
                <a:latin typeface="Arial"/>
                <a:cs typeface="Arial"/>
              </a:rPr>
              <a:t>Collaborators</a:t>
            </a:r>
          </a:p>
          <a:p>
            <a:pPr marL="0" indent="0">
              <a:lnSpc>
                <a:spcPct val="115000"/>
              </a:lnSpc>
              <a:spcBef>
                <a:spcPts val="0"/>
              </a:spcBef>
              <a:spcAft>
                <a:spcPts val="100"/>
              </a:spcAft>
              <a:buNone/>
            </a:pPr>
            <a:r>
              <a:rPr lang="en-US" sz="1400" b="1" dirty="0">
                <a:solidFill>
                  <a:srgbClr val="110057"/>
                </a:solidFill>
                <a:latin typeface="Arial"/>
                <a:cs typeface="Arial"/>
              </a:rPr>
              <a:t>Intermountain Health</a:t>
            </a:r>
          </a:p>
          <a:p>
            <a:pPr marL="171450" indent="-171450">
              <a:lnSpc>
                <a:spcPct val="115000"/>
              </a:lnSpc>
              <a:spcBef>
                <a:spcPts val="0"/>
              </a:spcBef>
              <a:spcAft>
                <a:spcPts val="50"/>
              </a:spcAft>
              <a:buFont typeface="Arial"/>
              <a:buChar char="•"/>
            </a:pPr>
            <a:r>
              <a:rPr lang="en-US" sz="1400" dirty="0">
                <a:solidFill>
                  <a:srgbClr val="333333"/>
                </a:solidFill>
                <a:latin typeface="Arial"/>
                <a:cs typeface="Arial"/>
              </a:rPr>
              <a:t>Ithan Peltan, MD MSc</a:t>
            </a:r>
          </a:p>
          <a:p>
            <a:pPr marL="171450" indent="-171450">
              <a:lnSpc>
                <a:spcPct val="115000"/>
              </a:lnSpc>
              <a:spcBef>
                <a:spcPts val="0"/>
              </a:spcBef>
              <a:spcAft>
                <a:spcPts val="50"/>
              </a:spcAft>
              <a:buFont typeface="Arial"/>
              <a:buChar char="•"/>
            </a:pPr>
            <a:r>
              <a:rPr lang="en-US" sz="1400" dirty="0">
                <a:solidFill>
                  <a:srgbClr val="333333"/>
                </a:solidFill>
                <a:latin typeface="Arial"/>
                <a:cs typeface="Arial"/>
              </a:rPr>
              <a:t>Sam Brown, MD MSc</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Holly Frost, MD PhD</a:t>
            </a:r>
          </a:p>
          <a:p>
            <a:pPr marL="0" indent="0">
              <a:lnSpc>
                <a:spcPct val="115000"/>
              </a:lnSpc>
              <a:spcBef>
                <a:spcPts val="0"/>
              </a:spcBef>
              <a:spcAft>
                <a:spcPts val="100"/>
              </a:spcAft>
              <a:buNone/>
            </a:pPr>
            <a:r>
              <a:rPr lang="en-US" sz="1400" b="1" dirty="0">
                <a:solidFill>
                  <a:srgbClr val="110057"/>
                </a:solidFill>
                <a:latin typeface="Arial"/>
                <a:cs typeface="Arial"/>
              </a:rPr>
              <a:t>Select Health</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Rylan Fowers, PhD  •  David Hedges, PhD</a:t>
            </a:r>
          </a:p>
          <a:p>
            <a:pPr marL="0" indent="0">
              <a:lnSpc>
                <a:spcPct val="115000"/>
              </a:lnSpc>
              <a:spcBef>
                <a:spcPts val="0"/>
              </a:spcBef>
              <a:spcAft>
                <a:spcPts val="100"/>
              </a:spcAft>
              <a:buNone/>
            </a:pPr>
            <a:r>
              <a:rPr lang="en-US" sz="1400" b="1" dirty="0">
                <a:solidFill>
                  <a:srgbClr val="110057"/>
                </a:solidFill>
                <a:latin typeface="Arial"/>
                <a:cs typeface="Arial"/>
              </a:rPr>
              <a:t>Utah Population Database</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Myke Madsen, MStat  •  Marie Gibson, CCRP</a:t>
            </a:r>
          </a:p>
          <a:p>
            <a:pPr marL="0" indent="0">
              <a:lnSpc>
                <a:spcPct val="115000"/>
              </a:lnSpc>
              <a:spcBef>
                <a:spcPts val="0"/>
              </a:spcBef>
              <a:spcAft>
                <a:spcPts val="100"/>
              </a:spcAft>
              <a:buNone/>
            </a:pPr>
            <a:r>
              <a:rPr lang="en-US" sz="1400" b="1" dirty="0">
                <a:solidFill>
                  <a:srgbClr val="110057"/>
                </a:solidFill>
                <a:latin typeface="Arial"/>
                <a:cs typeface="Arial"/>
              </a:rPr>
              <a:t>University of Utah</a:t>
            </a:r>
          </a:p>
          <a:p>
            <a:pPr marL="171450" indent="-171450">
              <a:lnSpc>
                <a:spcPct val="115000"/>
              </a:lnSpc>
              <a:spcBef>
                <a:spcPts val="0"/>
              </a:spcBef>
              <a:spcAft>
                <a:spcPts val="50"/>
              </a:spcAft>
              <a:buFont typeface="Arial"/>
              <a:buChar char="•"/>
            </a:pPr>
            <a:r>
              <a:rPr lang="en-US" sz="1400" dirty="0">
                <a:solidFill>
                  <a:srgbClr val="333333"/>
                </a:solidFill>
                <a:latin typeface="Arial"/>
                <a:cs typeface="Arial"/>
              </a:rPr>
              <a:t>Ram Gouripeddi, MBBS MSc</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Jeanette Brown, MD PhD</a:t>
            </a:r>
          </a:p>
          <a:p>
            <a:pPr marL="0" indent="0">
              <a:lnSpc>
                <a:spcPct val="115000"/>
              </a:lnSpc>
              <a:spcBef>
                <a:spcPts val="0"/>
              </a:spcBef>
              <a:spcAft>
                <a:spcPts val="100"/>
              </a:spcAft>
              <a:buNone/>
            </a:pPr>
            <a:r>
              <a:rPr lang="en-US" sz="1400" b="1" dirty="0">
                <a:solidFill>
                  <a:srgbClr val="110057"/>
                </a:solidFill>
                <a:latin typeface="Arial"/>
                <a:cs typeface="Arial"/>
              </a:rPr>
              <a:t>University of Arizona</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Joseph Finkelstein, MD PhD</a:t>
            </a:r>
          </a:p>
          <a:p>
            <a:pPr marL="0" indent="0">
              <a:lnSpc>
                <a:spcPct val="115000"/>
              </a:lnSpc>
              <a:spcBef>
                <a:spcPts val="0"/>
              </a:spcBef>
              <a:spcAft>
                <a:spcPts val="100"/>
              </a:spcAft>
              <a:buNone/>
            </a:pPr>
            <a:r>
              <a:rPr lang="en-US" sz="1400" b="1" dirty="0">
                <a:solidFill>
                  <a:srgbClr val="110057"/>
                </a:solidFill>
                <a:latin typeface="Arial"/>
                <a:cs typeface="Arial"/>
              </a:rPr>
              <a:t>UC Davis</a:t>
            </a:r>
          </a:p>
          <a:p>
            <a:pPr marL="171450" indent="-171450">
              <a:lnSpc>
                <a:spcPct val="115000"/>
              </a:lnSpc>
              <a:spcBef>
                <a:spcPts val="0"/>
              </a:spcBef>
              <a:spcAft>
                <a:spcPts val="0"/>
              </a:spcAft>
              <a:buFont typeface="Arial"/>
              <a:buChar char="•"/>
            </a:pPr>
            <a:r>
              <a:rPr lang="en-US" sz="1400" dirty="0">
                <a:solidFill>
                  <a:srgbClr val="333333"/>
                </a:solidFill>
                <a:latin typeface="Arial"/>
                <a:cs typeface="Arial"/>
              </a:rPr>
              <a:t>Krishna Sundar, MD</a:t>
            </a:r>
          </a:p>
        </p:txBody>
      </p:sp>
      <p:pic>
        <p:nvPicPr>
          <p:cNvPr id="6" name="Graphic 5">
            <a:extLst>
              <a:ext uri="{FF2B5EF4-FFF2-40B4-BE49-F238E27FC236}">
                <a16:creationId xmlns:a16="http://schemas.microsoft.com/office/drawing/2014/main" id="{253D0738-529D-E98F-A328-9465AD6D8C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35000" y="5943600"/>
            <a:ext cx="1651000" cy="698500"/>
          </a:xfrm>
          <a:prstGeom prst="rect">
            <a:avLst/>
          </a:prstGeom>
        </p:spPr>
      </p:pic>
      <p:pic>
        <p:nvPicPr>
          <p:cNvPr id="7" name="Picture 10" descr="Anastasia Prokofyeva">
            <a:extLst>
              <a:ext uri="{FF2B5EF4-FFF2-40B4-BE49-F238E27FC236}">
                <a16:creationId xmlns:a16="http://schemas.microsoft.com/office/drawing/2014/main" id="{6C6C6B13-3EC7-9100-7226-AF03284ACE56}"/>
              </a:ext>
            </a:extLst>
          </p:cNvPr>
          <p:cNvPicPr>
            <a:picLocks noChangeAspect="1" noChangeArrowheads="1"/>
          </p:cNvPicPr>
          <p:nvPr/>
        </p:nvPicPr>
        <p:blipFill rotWithShape="1">
          <a:blip r:embed="rId5" cstate="screen">
            <a:extLst>
              <a:ext uri="{28A0092B-C50C-407E-A947-70E740481C1C}">
                <a14:useLocalDpi xmlns:a14="http://schemas.microsoft.com/office/drawing/2010/main"/>
              </a:ext>
            </a:extLst>
          </a:blip>
          <a:srcRect/>
          <a:stretch/>
        </p:blipFill>
        <p:spPr bwMode="auto">
          <a:xfrm>
            <a:off x="3937000" y="6108700"/>
            <a:ext cx="1460500" cy="3556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0" descr="Anastasia Prokofyeva">
            <a:extLst>
              <a:ext uri="{FF2B5EF4-FFF2-40B4-BE49-F238E27FC236}">
                <a16:creationId xmlns:a16="http://schemas.microsoft.com/office/drawing/2014/main" id="{FA048BE3-D6A5-BB07-AC3E-2E917A9C8A50}"/>
              </a:ext>
            </a:extLst>
          </p:cNvPr>
          <p:cNvPicPr>
            <a:picLocks noChangeAspect="1" noChangeArrowheads="1"/>
          </p:cNvPicPr>
          <p:nvPr/>
        </p:nvPicPr>
        <p:blipFill rotWithShape="1">
          <a:blip r:embed="rId6" cstate="screen">
            <a:extLst>
              <a:ext uri="{28A0092B-C50C-407E-A947-70E740481C1C}">
                <a14:useLocalDpi xmlns:a14="http://schemas.microsoft.com/office/drawing/2010/main"/>
              </a:ext>
            </a:extLst>
          </a:blip>
          <a:srcRect/>
          <a:stretch/>
        </p:blipFill>
        <p:spPr bwMode="auto">
          <a:xfrm>
            <a:off x="5651500" y="6045200"/>
            <a:ext cx="1397000" cy="4826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2" descr="UC Davis Logo and symbol, meaning, history, PNG, brand">
            <a:extLst>
              <a:ext uri="{FF2B5EF4-FFF2-40B4-BE49-F238E27FC236}">
                <a16:creationId xmlns:a16="http://schemas.microsoft.com/office/drawing/2014/main" id="{6CF85AB3-1958-1C50-F93A-CAC5F4E7D7AE}"/>
              </a:ext>
            </a:extLst>
          </p:cNvPr>
          <p:cNvPicPr>
            <a:picLocks noChangeAspect="1" noChangeArrowheads="1"/>
          </p:cNvPicPr>
          <p:nvPr/>
        </p:nvPicPr>
        <p:blipFill>
          <a:blip r:embed="rId7" cstate="screen">
            <a:extLst>
              <a:ext uri="{28A0092B-C50C-407E-A947-70E740481C1C}">
                <a14:useLocalDpi xmlns:a14="http://schemas.microsoft.com/office/drawing/2010/main"/>
              </a:ext>
            </a:extLst>
          </a:blip>
          <a:srcRect/>
          <a:stretch>
            <a:fillRect/>
          </a:stretch>
        </p:blipFill>
        <p:spPr bwMode="auto">
          <a:xfrm>
            <a:off x="7302500" y="5981700"/>
            <a:ext cx="1079500" cy="609600"/>
          </a:xfrm>
          <a:prstGeom prst="rect">
            <a:avLst/>
          </a:prstGeom>
          <a:noFill/>
          <a:extLst>
            <a:ext uri="{909E8E84-426E-40DD-AFC4-6F175D3DCCD1}">
              <a14:hiddenFill xmlns:a14="http://schemas.microsoft.com/office/drawing/2010/main">
                <a:solidFill>
                  <a:srgbClr val="FFFFFF"/>
                </a:solidFill>
              </a14:hiddenFill>
            </a:ext>
          </a:extLst>
        </p:spPr>
      </p:pic>
      <p:sp>
        <p:nvSpPr>
          <p:cNvPr id="10" name="Title 1">
            <a:extLst>
              <a:ext uri="{FF2B5EF4-FFF2-40B4-BE49-F238E27FC236}">
                <a16:creationId xmlns:a16="http://schemas.microsoft.com/office/drawing/2014/main" id="{C66FB9DF-5CA4-F7EF-3AA2-274EDAE008AA}"/>
              </a:ext>
            </a:extLst>
          </p:cNvPr>
          <p:cNvSpPr>
            <a:spLocks noGrp="1"/>
          </p:cNvSpPr>
          <p:nvPr>
            <p:ph type="title"/>
          </p:nvPr>
        </p:nvSpPr>
        <p:spPr>
          <a:xfrm>
            <a:off x="635000" y="177800"/>
            <a:ext cx="9906000" cy="508000"/>
          </a:xfrm>
        </p:spPr>
        <p:txBody>
          <a:bodyPr>
            <a:normAutofit/>
          </a:bodyPr>
          <a:lstStyle/>
          <a:p>
            <a:pPr marL="0" indent="0">
              <a:buNone/>
            </a:pPr>
            <a:r>
              <a:rPr lang="en-US" sz="2800" b="1" dirty="0">
                <a:solidFill>
                  <a:srgbClr val="110057"/>
                </a:solidFill>
                <a:latin typeface="Arial"/>
                <a:cs typeface="Arial"/>
              </a:rPr>
              <a:t>Acknowledgments</a:t>
            </a:r>
          </a:p>
        </p:txBody>
      </p:sp>
      <p:pic>
        <p:nvPicPr>
          <p:cNvPr id="2" name="Picture 1">
            <a:extLst>
              <a:ext uri="{FF2B5EF4-FFF2-40B4-BE49-F238E27FC236}">
                <a16:creationId xmlns:a16="http://schemas.microsoft.com/office/drawing/2014/main" id="{FA91F544-55D8-60B3-45B1-108ED04153C3}"/>
              </a:ext>
            </a:extLst>
          </p:cNvPr>
          <p:cNvPicPr>
            <a:picLocks noChangeAspect="1"/>
          </p:cNvPicPr>
          <p:nvPr/>
        </p:nvPicPr>
        <p:blipFill>
          <a:blip r:embed="rId8"/>
          <a:stretch>
            <a:fillRect/>
          </a:stretch>
        </p:blipFill>
        <p:spPr>
          <a:xfrm>
            <a:off x="2476500" y="6007100"/>
            <a:ext cx="1206500" cy="558800"/>
          </a:xfrm>
          <a:prstGeom prst="rect">
            <a:avLst/>
          </a:prstGeom>
        </p:spPr>
      </p:pic>
      <p:pic>
        <p:nvPicPr>
          <p:cNvPr id="3" name="Picture 2">
            <a:extLst>
              <a:ext uri="{FF2B5EF4-FFF2-40B4-BE49-F238E27FC236}">
                <a16:creationId xmlns:a16="http://schemas.microsoft.com/office/drawing/2014/main" id="{F95FC9FB-E8E7-6856-DBFA-649CC5ED1E60}"/>
              </a:ext>
            </a:extLst>
          </p:cNvPr>
          <p:cNvPicPr>
            <a:picLocks noChangeAspect="1"/>
          </p:cNvPicPr>
          <p:nvPr/>
        </p:nvPicPr>
        <p:blipFill>
          <a:blip r:embed="rId9"/>
          <a:stretch>
            <a:fillRect/>
          </a:stretch>
        </p:blipFill>
        <p:spPr>
          <a:xfrm>
            <a:off x="10494298" y="244986"/>
            <a:ext cx="698500" cy="698500"/>
          </a:xfrm>
          <a:prstGeom prst="rect">
            <a:avLst/>
          </a:prstGeom>
        </p:spPr>
      </p:pic>
      <p:sp>
        <p:nvSpPr>
          <p:cNvPr id="11" name="Content Placeholder 2">
            <a:extLst>
              <a:ext uri="{FF2B5EF4-FFF2-40B4-BE49-F238E27FC236}">
                <a16:creationId xmlns:a16="http://schemas.microsoft.com/office/drawing/2014/main" id="{21C622E0-5212-73FA-A54B-2C2A2DE357B1}"/>
              </a:ext>
            </a:extLst>
          </p:cNvPr>
          <p:cNvSpPr txBox="1">
            <a:spLocks/>
          </p:cNvSpPr>
          <p:nvPr/>
        </p:nvSpPr>
        <p:spPr>
          <a:xfrm>
            <a:off x="9232489" y="420943"/>
            <a:ext cx="1397000" cy="254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400" dirty="0">
                <a:solidFill>
                  <a:srgbClr val="888888"/>
                </a:solidFill>
                <a:latin typeface="Arial"/>
                <a:cs typeface="Arial"/>
              </a:rPr>
              <a:t>Scan for resources</a:t>
            </a:r>
          </a:p>
        </p:txBody>
      </p:sp>
      <p:sp>
        <p:nvSpPr>
          <p:cNvPr id="100" name="AccentLine"/>
          <p:cNvSpPr/>
          <p:nvPr/>
        </p:nvSpPr>
        <p:spPr>
          <a:xfrm>
            <a:off x="635000" y="1041400"/>
            <a:ext cx="10922000" cy="0"/>
          </a:xfrm>
          <a:prstGeom prst="line">
            <a:avLst/>
          </a:prstGeom>
          <a:ln w="12700">
            <a:solidFill>
              <a:srgbClr val="110057"/>
            </a:solidFill>
          </a:ln>
        </p:spPr>
        <p:txBody>
          <a:bodyPr/>
          <a:lstStyle/>
          <a:p>
            <a:endParaRPr lang="en-US"/>
          </a:p>
        </p:txBody>
      </p:sp>
      <p:sp>
        <p:nvSpPr>
          <p:cNvPr id="101" name="ContactInfo"/>
          <p:cNvSpPr txBox="1"/>
          <p:nvPr/>
        </p:nvSpPr>
        <p:spPr>
          <a:xfrm>
            <a:off x="635000" y="711200"/>
            <a:ext cx="7284884" cy="338554"/>
          </a:xfrm>
          <a:prstGeom prst="rect">
            <a:avLst/>
          </a:prstGeom>
          <a:noFill/>
        </p:spPr>
        <p:txBody>
          <a:bodyPr wrap="square" rtlCol="0">
            <a:spAutoFit/>
          </a:bodyPr>
          <a:lstStyle/>
          <a:p>
            <a:pPr marL="0" indent="0">
              <a:buNone/>
            </a:pPr>
            <a:r>
              <a:rPr lang="en-US" sz="1600" dirty="0">
                <a:solidFill>
                  <a:srgbClr val="444444"/>
                </a:solidFill>
                <a:latin typeface="Arial"/>
                <a:cs typeface="Arial"/>
              </a:rPr>
              <a:t>Contact: brian.locke@imail.org  |  Epic/Teams Message (Intermountain)</a:t>
            </a:r>
          </a:p>
        </p:txBody>
      </p:sp>
      <p:sp>
        <p:nvSpPr>
          <p:cNvPr id="102" name="BottomBar"/>
          <p:cNvSpPr/>
          <p:nvPr/>
        </p:nvSpPr>
        <p:spPr>
          <a:xfrm>
            <a:off x="635000" y="5816600"/>
            <a:ext cx="10922000" cy="0"/>
          </a:xfrm>
          <a:prstGeom prst="line">
            <a:avLst/>
          </a:prstGeom>
          <a:ln w="9525">
            <a:solidFill>
              <a:srgbClr val="CCCCCC"/>
            </a:solidFill>
          </a:ln>
        </p:spPr>
        <p:txBody>
          <a:bodyPr/>
          <a:lstStyle/>
          <a:p>
            <a:endParaRPr lang="en-US"/>
          </a:p>
        </p:txBody>
      </p:sp>
      <p:pic>
        <p:nvPicPr>
          <p:cNvPr id="1026" name="Picture 2" descr="No photo description available.">
            <a:extLst>
              <a:ext uri="{FF2B5EF4-FFF2-40B4-BE49-F238E27FC236}">
                <a16:creationId xmlns:a16="http://schemas.microsoft.com/office/drawing/2014/main" id="{C6BD9693-EED2-125D-3335-8B6790B86B3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890000" y="5969000"/>
            <a:ext cx="635000" cy="63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38470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CD0C3-25A8-65AA-5E2E-8DD4C0C311CD}"/>
              </a:ext>
            </a:extLst>
          </p:cNvPr>
          <p:cNvSpPr>
            <a:spLocks noGrp="1"/>
          </p:cNvSpPr>
          <p:nvPr>
            <p:ph type="title"/>
          </p:nvPr>
        </p:nvSpPr>
        <p:spPr/>
        <p:txBody>
          <a:bodyPr>
            <a:normAutofit/>
          </a:bodyPr>
          <a:lstStyle/>
          <a:p>
            <a:r>
              <a:rPr lang="en-US" sz="3200">
                <a:latin typeface="Arial"/>
                <a:cs typeface="Arial"/>
              </a:rPr>
              <a:t>References</a:t>
            </a:r>
          </a:p>
        </p:txBody>
      </p:sp>
      <p:sp>
        <p:nvSpPr>
          <p:cNvPr id="3" name="Content Placeholder 2">
            <a:extLst>
              <a:ext uri="{FF2B5EF4-FFF2-40B4-BE49-F238E27FC236}">
                <a16:creationId xmlns:a16="http://schemas.microsoft.com/office/drawing/2014/main" id="{F0BE9EE1-5477-DA49-926F-55934BF31BF9}"/>
              </a:ext>
            </a:extLst>
          </p:cNvPr>
          <p:cNvSpPr>
            <a:spLocks noGrp="1"/>
          </p:cNvSpPr>
          <p:nvPr>
            <p:ph idx="1"/>
          </p:nvPr>
        </p:nvSpPr>
        <p:spPr>
          <a:xfrm>
            <a:off x="838200" y="1825625"/>
            <a:ext cx="10515600" cy="4760278"/>
          </a:xfrm>
        </p:spPr>
        <p:txBody>
          <a:bodyPr>
            <a:spAutoFit/>
          </a:bodyPr>
          <a:lstStyle/>
          <a:p>
            <a:pPr marL="228600" indent="-228600">
              <a:lnSpc>
                <a:spcPts val="1600"/>
              </a:lnSpc>
              <a:spcAft>
                <a:spcPts val="200"/>
              </a:spcAft>
              <a:buNone/>
            </a:pPr>
            <a:r>
              <a:rPr lang="en-US" sz="1400" dirty="0">
                <a:solidFill>
                  <a:srgbClr val="110057"/>
                </a:solidFill>
                <a:latin typeface="Arial"/>
                <a:cs typeface="Arial"/>
              </a:rPr>
              <a:t>1.  </a:t>
            </a:r>
            <a:r>
              <a:rPr lang="en-US" sz="1400" dirty="0">
                <a:solidFill>
                  <a:srgbClr val="333333"/>
                </a:solidFill>
                <a:latin typeface="Arial"/>
                <a:cs typeface="Arial"/>
              </a:rPr>
              <a:t>Wasserman K et al. </a:t>
            </a:r>
            <a:r>
              <a:rPr lang="en-US" sz="1400" i="1" dirty="0">
                <a:solidFill>
                  <a:srgbClr val="333333"/>
                </a:solidFill>
                <a:latin typeface="Arial"/>
                <a:cs typeface="Arial"/>
              </a:rPr>
              <a:t>Principles of Exercise Testing and Interpretation.</a:t>
            </a:r>
            <a:r>
              <a:rPr lang="en-US" sz="1400" dirty="0">
                <a:solidFill>
                  <a:srgbClr val="333333"/>
                </a:solidFill>
                <a:latin typeface="Arial"/>
                <a:cs typeface="Arial"/>
              </a:rPr>
              <a:t> Lippincott Williams &amp; Wilkins. [Slide 1]</a:t>
            </a:r>
          </a:p>
          <a:p>
            <a:pPr marL="228600" indent="-228600">
              <a:lnSpc>
                <a:spcPts val="1600"/>
              </a:lnSpc>
              <a:spcAft>
                <a:spcPts val="200"/>
              </a:spcAft>
              <a:buNone/>
            </a:pPr>
            <a:r>
              <a:rPr lang="en-US" sz="1400" dirty="0">
                <a:solidFill>
                  <a:srgbClr val="110057"/>
                </a:solidFill>
                <a:latin typeface="Arial"/>
                <a:cs typeface="Arial"/>
              </a:rPr>
              <a:t>2.  </a:t>
            </a:r>
            <a:r>
              <a:rPr lang="en-US" sz="1400" dirty="0">
                <a:solidFill>
                  <a:srgbClr val="333333"/>
                </a:solidFill>
                <a:latin typeface="Arial"/>
                <a:cs typeface="Arial"/>
              </a:rPr>
              <a:t>Berger KI et al. Mechanism of relief of tachypnea during pressure support ventilation. </a:t>
            </a:r>
            <a:r>
              <a:rPr lang="en-US" sz="1400" i="1" dirty="0">
                <a:solidFill>
                  <a:srgbClr val="333333"/>
                </a:solidFill>
                <a:latin typeface="Arial"/>
                <a:cs typeface="Arial"/>
              </a:rPr>
              <a:t>J Appl Physiol.</a:t>
            </a:r>
            <a:r>
              <a:rPr lang="en-US" sz="1400" dirty="0">
                <a:solidFill>
                  <a:srgbClr val="333333"/>
                </a:solidFill>
                <a:latin typeface="Arial"/>
                <a:cs typeface="Arial"/>
              </a:rPr>
              <a:t> 2000;88:257–264. [Slide 4]</a:t>
            </a:r>
          </a:p>
          <a:p>
            <a:pPr marL="228600" indent="-228600">
              <a:lnSpc>
                <a:spcPts val="1600"/>
              </a:lnSpc>
              <a:spcAft>
                <a:spcPts val="200"/>
              </a:spcAft>
              <a:buNone/>
            </a:pPr>
            <a:r>
              <a:rPr lang="en-US" sz="1400" dirty="0">
                <a:solidFill>
                  <a:srgbClr val="110057"/>
                </a:solidFill>
                <a:latin typeface="Arial"/>
                <a:cs typeface="Arial"/>
              </a:rPr>
              <a:t>3.  </a:t>
            </a:r>
            <a:r>
              <a:rPr lang="en-US" sz="1400" dirty="0">
                <a:solidFill>
                  <a:srgbClr val="333333"/>
                </a:solidFill>
                <a:latin typeface="Arial"/>
                <a:cs typeface="Arial"/>
              </a:rPr>
              <a:t>Locke BW et al. Epidemiology of hypercapnic respiratory failure [original research]. Utah All-Payer Claims Database, 2015–2019. [Slides 10, 19, 24]</a:t>
            </a:r>
          </a:p>
          <a:p>
            <a:pPr marL="228600" indent="-228600">
              <a:lnSpc>
                <a:spcPts val="1600"/>
              </a:lnSpc>
              <a:spcAft>
                <a:spcPts val="200"/>
              </a:spcAft>
              <a:buNone/>
            </a:pPr>
            <a:r>
              <a:rPr lang="en-US" sz="1400" dirty="0">
                <a:solidFill>
                  <a:srgbClr val="110057"/>
                </a:solidFill>
                <a:latin typeface="Arial"/>
                <a:cs typeface="Arial"/>
              </a:rPr>
              <a:t>4.  </a:t>
            </a:r>
            <a:r>
              <a:rPr lang="en-US" sz="1400" dirty="0">
                <a:solidFill>
                  <a:srgbClr val="333333"/>
                </a:solidFill>
                <a:latin typeface="Arial"/>
                <a:cs typeface="Arial"/>
              </a:rPr>
              <a:t>Locke BW et al. HCO</a:t>
            </a:r>
            <a:r>
              <a:rPr lang="en-US" sz="1400" baseline="-25000" dirty="0">
                <a:solidFill>
                  <a:srgbClr val="333333"/>
                </a:solidFill>
                <a:latin typeface="Arial"/>
                <a:cs typeface="Arial"/>
              </a:rPr>
              <a:t>3</a:t>
            </a:r>
            <a:r>
              <a:rPr lang="en-US" sz="1400" dirty="0">
                <a:solidFill>
                  <a:srgbClr val="333333"/>
                </a:solidFill>
                <a:latin typeface="Arial"/>
                <a:cs typeface="Arial"/>
              </a:rPr>
              <a:t> and K⁺ as screening markers for hypercapnia. N=870,019 (TriNetX, 75 US health systems, 2022). [Slide 14]</a:t>
            </a:r>
          </a:p>
          <a:p>
            <a:pPr marL="228600" indent="-228600">
              <a:lnSpc>
                <a:spcPts val="1600"/>
              </a:lnSpc>
              <a:spcAft>
                <a:spcPts val="200"/>
              </a:spcAft>
              <a:buNone/>
            </a:pPr>
            <a:r>
              <a:rPr lang="en-US" sz="1400" dirty="0">
                <a:solidFill>
                  <a:srgbClr val="110057"/>
                </a:solidFill>
                <a:latin typeface="Arial"/>
                <a:cs typeface="Arial"/>
              </a:rPr>
              <a:t>5.  </a:t>
            </a:r>
            <a:r>
              <a:rPr lang="en-US" sz="1400" dirty="0">
                <a:solidFill>
                  <a:srgbClr val="333333"/>
                </a:solidFill>
                <a:latin typeface="Arial"/>
                <a:cs typeface="Arial"/>
              </a:rPr>
              <a:t>Locke BW et al. Weight loss and OSA severity: a meta-analysis. </a:t>
            </a:r>
            <a:r>
              <a:rPr lang="en-US" sz="1400" i="1" dirty="0">
                <a:solidFill>
                  <a:srgbClr val="333333"/>
                </a:solidFill>
                <a:latin typeface="Arial"/>
                <a:cs typeface="Arial"/>
              </a:rPr>
              <a:t>Obes Rev.</a:t>
            </a:r>
            <a:r>
              <a:rPr lang="en-US" sz="1400" dirty="0">
                <a:solidFill>
                  <a:srgbClr val="333333"/>
                </a:solidFill>
                <a:latin typeface="Arial"/>
                <a:cs typeface="Arial"/>
              </a:rPr>
              <a:t> 2024; 10 trials, n=854. [Slide 36]</a:t>
            </a:r>
          </a:p>
          <a:p>
            <a:pPr marL="228600" indent="-228600">
              <a:lnSpc>
                <a:spcPts val="1600"/>
              </a:lnSpc>
              <a:spcAft>
                <a:spcPts val="200"/>
              </a:spcAft>
              <a:buNone/>
            </a:pPr>
            <a:r>
              <a:rPr lang="en-US" sz="1400" dirty="0">
                <a:solidFill>
                  <a:srgbClr val="110057"/>
                </a:solidFill>
                <a:latin typeface="Arial"/>
                <a:cs typeface="Arial"/>
              </a:rPr>
              <a:t>6.  </a:t>
            </a:r>
            <a:r>
              <a:rPr lang="en-US" sz="1400" dirty="0">
                <a:solidFill>
                  <a:srgbClr val="333333"/>
                </a:solidFill>
                <a:latin typeface="Arial"/>
                <a:cs typeface="Arial"/>
              </a:rPr>
              <a:t>Malhotra A et al. Tirzepatide for treatment of obstructive sleep apnea (SURMOUNT-OSA). </a:t>
            </a:r>
            <a:r>
              <a:rPr lang="en-US" sz="1400" i="1" dirty="0">
                <a:solidFill>
                  <a:srgbClr val="333333"/>
                </a:solidFill>
                <a:latin typeface="Arial"/>
                <a:cs typeface="Arial"/>
              </a:rPr>
              <a:t>N Engl J Med.</a:t>
            </a:r>
            <a:r>
              <a:rPr lang="en-US" sz="1400" dirty="0">
                <a:solidFill>
                  <a:srgbClr val="333333"/>
                </a:solidFill>
                <a:latin typeface="Arial"/>
                <a:cs typeface="Arial"/>
              </a:rPr>
              <a:t> 2024;391(13):1193–1205. [Slide 36]</a:t>
            </a:r>
          </a:p>
          <a:p>
            <a:pPr marL="228600" indent="-228600">
              <a:lnSpc>
                <a:spcPts val="1600"/>
              </a:lnSpc>
              <a:spcAft>
                <a:spcPts val="200"/>
              </a:spcAft>
              <a:buNone/>
            </a:pPr>
            <a:r>
              <a:rPr lang="en-US" sz="1400" dirty="0">
                <a:solidFill>
                  <a:srgbClr val="110057"/>
                </a:solidFill>
                <a:latin typeface="Arial"/>
                <a:cs typeface="Arial"/>
              </a:rPr>
              <a:t>7.  </a:t>
            </a:r>
            <a:r>
              <a:rPr lang="en-US" sz="1400" dirty="0">
                <a:solidFill>
                  <a:srgbClr val="333333"/>
                </a:solidFill>
                <a:latin typeface="Arial"/>
                <a:cs typeface="Arial"/>
              </a:rPr>
              <a:t>ATS Clinical Practice Guideline. Evaluation and management of obesity hypoventilation syndrome. </a:t>
            </a:r>
            <a:r>
              <a:rPr lang="en-US" sz="1400" i="1" dirty="0">
                <a:solidFill>
                  <a:srgbClr val="333333"/>
                </a:solidFill>
                <a:latin typeface="Arial"/>
                <a:cs typeface="Arial"/>
              </a:rPr>
              <a:t>Am J Respir Crit Care Med.</a:t>
            </a:r>
            <a:r>
              <a:rPr lang="en-US" sz="1400" dirty="0">
                <a:solidFill>
                  <a:srgbClr val="333333"/>
                </a:solidFill>
                <a:latin typeface="Arial"/>
                <a:cs typeface="Arial"/>
              </a:rPr>
              <a:t> [Slide 25]</a:t>
            </a:r>
          </a:p>
          <a:p>
            <a:pPr marL="228600" indent="-228600">
              <a:lnSpc>
                <a:spcPts val="1600"/>
              </a:lnSpc>
              <a:spcAft>
                <a:spcPts val="200"/>
              </a:spcAft>
              <a:buNone/>
            </a:pPr>
            <a:r>
              <a:rPr lang="en-US" sz="1400" dirty="0">
                <a:solidFill>
                  <a:srgbClr val="110057"/>
                </a:solidFill>
                <a:latin typeface="Arial"/>
                <a:cs typeface="Arial"/>
              </a:rPr>
              <a:t>8.  </a:t>
            </a:r>
            <a:r>
              <a:rPr lang="en-US" sz="1400" dirty="0">
                <a:solidFill>
                  <a:srgbClr val="333333"/>
                </a:solidFill>
                <a:latin typeface="Arial"/>
                <a:cs typeface="Arial"/>
              </a:rPr>
              <a:t>CMS National Coverage Determinations: RAD (E0470/E0471), HMV (E0465/E0466/E0467). [Slides 31–34]</a:t>
            </a:r>
          </a:p>
          <a:p>
            <a:pPr marL="228600" indent="-228600">
              <a:lnSpc>
                <a:spcPts val="1600"/>
              </a:lnSpc>
              <a:spcAft>
                <a:spcPts val="200"/>
              </a:spcAft>
              <a:buNone/>
            </a:pPr>
            <a:r>
              <a:rPr lang="en-US" sz="1400" dirty="0">
                <a:solidFill>
                  <a:srgbClr val="110057"/>
                </a:solidFill>
                <a:latin typeface="Arial"/>
                <a:cs typeface="Arial"/>
              </a:rPr>
              <a:t>9.  </a:t>
            </a:r>
            <a:r>
              <a:rPr lang="en-US" sz="1400" dirty="0">
                <a:solidFill>
                  <a:srgbClr val="333333"/>
                </a:solidFill>
                <a:latin typeface="Arial"/>
                <a:cs typeface="Arial"/>
              </a:rPr>
              <a:t>OIG Report: Medicare overpaid ~$86.6M on HMV (E0466) vs. non-Medicare rates, 2016–2018. Medicare NIV charges $424.4M (2018). [Slide 30]</a:t>
            </a:r>
          </a:p>
          <a:p>
            <a:pPr marL="228600" indent="-228600">
              <a:lnSpc>
                <a:spcPts val="1600"/>
              </a:lnSpc>
              <a:buNone/>
            </a:pPr>
            <a:r>
              <a:rPr lang="en-US" sz="1400" dirty="0">
                <a:solidFill>
                  <a:srgbClr val="110057"/>
                </a:solidFill>
                <a:latin typeface="Arial"/>
                <a:cs typeface="Arial"/>
              </a:rPr>
              <a:t>10. </a:t>
            </a:r>
            <a:r>
              <a:rPr lang="en-US" sz="1400" dirty="0">
                <a:solidFill>
                  <a:srgbClr val="333333"/>
                </a:solidFill>
                <a:latin typeface="Arial"/>
                <a:cs typeface="Arial"/>
              </a:rPr>
              <a:t>Utah Population Database (UPDB) &amp; Utah All-Payer Claims Database (APCD). Statewide population-based data, 2015–2019. [Slides 19, 37]</a:t>
            </a:r>
          </a:p>
        </p:txBody>
      </p:sp>
      <p:sp>
        <p:nvSpPr>
          <p:cNvPr id="4" name="Rectangle 3">
            <a:extLst>
              <a:ext uri="{FF2B5EF4-FFF2-40B4-BE49-F238E27FC236}">
                <a16:creationId xmlns:a16="http://schemas.microsoft.com/office/drawing/2014/main" id="{780F6EC3-6D0B-444C-8374-C43278419C3B}"/>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63522921"/>
      </p:ext>
    </p:extLst>
  </p:cSld>
  <p:clrMapOvr>
    <a:masterClrMapping/>
  </p:clrMapOvr>
</p:sld>
</file>

<file path=ppt/theme/theme1.xml><?xml version="1.0" encoding="utf-8"?>
<a:theme xmlns:a="http://schemas.openxmlformats.org/drawingml/2006/main" name="Office Theme">
  <a:themeElements>
    <a:clrScheme name="Intermountain Health">
      <a:dk1>
        <a:srgbClr val="110057"/>
      </a:dk1>
      <a:lt1>
        <a:srgbClr val="FFFFFF"/>
      </a:lt1>
      <a:dk2>
        <a:srgbClr val="4A00E2"/>
      </a:dk2>
      <a:lt2>
        <a:srgbClr val="F7F5F9"/>
      </a:lt2>
      <a:accent1>
        <a:srgbClr val="110057"/>
      </a:accent1>
      <a:accent2>
        <a:srgbClr val="4A00E2"/>
      </a:accent2>
      <a:accent3>
        <a:srgbClr val="FF0044"/>
      </a:accent3>
      <a:accent4>
        <a:srgbClr val="7CAFD0"/>
      </a:accent4>
      <a:accent5>
        <a:srgbClr val="FF5D55"/>
      </a:accent5>
      <a:accent6>
        <a:srgbClr val="FFBCB9"/>
      </a:accent6>
      <a:hlink>
        <a:srgbClr val="110057"/>
      </a:hlink>
      <a:folHlink>
        <a:srgbClr val="4A00E2"/>
      </a:folHlink>
    </a:clrScheme>
    <a:fontScheme name="Intermountain Health">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C0DFD0EC-DB28-6E42-8750-A4B42AB3FD42}">
  <we:reference id="wa200000113" version="1.0.0.0" store="en-US" storeType="OMEX"/>
  <we:alternateReferences>
    <we:reference id="wa200000113" version="1.0.0.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9B48D85D-ABA3-EE41-81D7-A4D3100239D8}">
  <we:reference id="wa104051163" version="1.2.0.3" store="en-US" storeType="OMEX"/>
  <we:alternateReferences>
    <we:reference id="WA104051163" version="1.2.0.3" store=""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35DCE9D1-2985-D841-9C4F-A7C238A3C6B2}">
  <we:reference id="wa200010001" version="1.0.0.0" store="en-US" storeType="OMEX"/>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5680</TotalTime>
  <Words>8048</Words>
  <Application>Microsoft Macintosh PowerPoint</Application>
  <PresentationFormat>Widescreen</PresentationFormat>
  <Paragraphs>614</Paragraphs>
  <Slides>41</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Aptos</vt:lpstr>
      <vt:lpstr>Arial</vt:lpstr>
      <vt:lpstr>Trebuchet MS</vt:lpstr>
      <vt:lpstr>Office Theme</vt:lpstr>
      <vt:lpstr>PowerPoint Presentation</vt:lpstr>
      <vt:lpstr>Learning Objectives</vt:lpstr>
      <vt:lpstr>Obesity Hypoventilation Syndrome (OHS)</vt:lpstr>
      <vt:lpstr>Requirement of Sleep Disordered Breathing?</vt:lpstr>
      <vt:lpstr>PowerPoint Presentation</vt:lpstr>
      <vt:lpstr>PowerPoint Presentation</vt:lpstr>
      <vt:lpstr>PowerPoint Presentation</vt:lpstr>
      <vt:lpstr>Hypercapnia in SLC</vt:lpstr>
      <vt:lpstr>What Is Hypercapnic Respiratory Failure?</vt:lpstr>
      <vt:lpstr>Hypercapnic Respiratory Failure is Common</vt:lpstr>
      <vt:lpstr>Hypercapnic Respiratory Failure is Prognostically Important</vt:lpstr>
      <vt:lpstr>PowerPoint Presentation</vt:lpstr>
      <vt:lpstr>How to Spot It: Clinical Screening Pearls</vt:lpstr>
      <vt:lpstr>Using HCO₃⁻ and K⁺ to Identify Hypercapnia</vt:lpstr>
      <vt:lpstr>It's Often Not Just Hypercapnia</vt:lpstr>
      <vt:lpstr>PowerPoint Presentation</vt:lpstr>
      <vt:lpstr>Misdiagnosis Pitfalls in Obese Patients</vt:lpstr>
      <vt:lpstr>Low diagnostic testing rates </vt:lpstr>
      <vt:lpstr>How Often Does Testing Actually Happen?</vt:lpstr>
      <vt:lpstr>PowerPoint Presentation</vt:lpstr>
      <vt:lpstr>Why is the discharge management so hard?</vt:lpstr>
      <vt:lpstr>Therapeutic options exist:</vt:lpstr>
      <vt:lpstr>Two problems: </vt:lpstr>
      <vt:lpstr>Two problems: </vt:lpstr>
      <vt:lpstr>The Discharge Paradox</vt:lpstr>
      <vt:lpstr>Post-discharge diagnostic workflow: many opportunities to de-rail</vt:lpstr>
      <vt:lpstr>How Did We Get Here?</vt:lpstr>
      <vt:lpstr>1981–Present: CPAP → Convergence → Regulatory Split</vt:lpstr>
      <vt:lpstr>Home NIV Devices: RAD vs. PAP vs. HMV</vt:lpstr>
      <vt:lpstr>Where Does the Money Come From?</vt:lpstr>
      <vt:lpstr>Prior National Coverage Determination: HMVs</vt:lpstr>
      <vt:lpstr>Old National Coverage Determination: RADs</vt:lpstr>
      <vt:lpstr>The Qualification Maze</vt:lpstr>
      <vt:lpstr>What's Changing in the New Coverage Determinations for RADs?</vt:lpstr>
      <vt:lpstr>Section Take Home Points: Devices</vt:lpstr>
      <vt:lpstr>Emerging Role of GLP-1 Receptor Agonists</vt:lpstr>
      <vt:lpstr>What We're Learning — And What's Changing</vt:lpstr>
      <vt:lpstr>Take Home Point</vt:lpstr>
      <vt:lpstr>Summary</vt:lpstr>
      <vt:lpstr>Acknowledgments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Brian Locke</dc:creator>
  <cp:lastModifiedBy>Brian Locke</cp:lastModifiedBy>
  <cp:revision>24</cp:revision>
  <dcterms:created xsi:type="dcterms:W3CDTF">2025-08-09T21:24:58Z</dcterms:created>
  <dcterms:modified xsi:type="dcterms:W3CDTF">2026-03-10T01:39:48Z</dcterms:modified>
</cp:coreProperties>
</file>